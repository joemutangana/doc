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633" r:id="rId2"/>
    <p:sldId id="634" r:id="rId3"/>
    <p:sldId id="635" r:id="rId4"/>
    <p:sldId id="636" r:id="rId5"/>
    <p:sldId id="637" r:id="rId6"/>
    <p:sldId id="638" r:id="rId7"/>
    <p:sldId id="639" r:id="rId8"/>
    <p:sldId id="640" r:id="rId9"/>
    <p:sldId id="641" r:id="rId10"/>
    <p:sldId id="642" r:id="rId11"/>
    <p:sldId id="643" r:id="rId12"/>
    <p:sldId id="644" r:id="rId13"/>
    <p:sldId id="645" r:id="rId14"/>
    <p:sldId id="646" r:id="rId15"/>
    <p:sldId id="647" r:id="rId16"/>
    <p:sldId id="648" r:id="rId17"/>
    <p:sldId id="649" r:id="rId18"/>
    <p:sldId id="650" r:id="rId19"/>
    <p:sldId id="651" r:id="rId20"/>
    <p:sldId id="652" r:id="rId21"/>
    <p:sldId id="653" r:id="rId22"/>
    <p:sldId id="654" r:id="rId23"/>
    <p:sldId id="655" r:id="rId24"/>
    <p:sldId id="656" r:id="rId25"/>
    <p:sldId id="657" r:id="rId26"/>
    <p:sldId id="658" r:id="rId27"/>
    <p:sldId id="659" r:id="rId28"/>
    <p:sldId id="660" r:id="rId29"/>
    <p:sldId id="661" r:id="rId30"/>
    <p:sldId id="662" r:id="rId31"/>
    <p:sldId id="663" r:id="rId32"/>
    <p:sldId id="664" r:id="rId33"/>
    <p:sldId id="665" r:id="rId34"/>
    <p:sldId id="666" r:id="rId35"/>
    <p:sldId id="667" r:id="rId36"/>
    <p:sldId id="668" r:id="rId37"/>
    <p:sldId id="669"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3"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BF3B6-89C1-4384-9D96-2B6C8DA31F8B}" type="datetimeFigureOut">
              <a:rPr lang="fr-BE" smtClean="0"/>
              <a:t>29-04-20</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5BFF-854C-4C03-8DA4-39880DA9A8C1}" type="slidenum">
              <a:rPr lang="fr-BE" smtClean="0"/>
              <a:t>‹#›</a:t>
            </a:fld>
            <a:endParaRPr lang="fr-BE"/>
          </a:p>
        </p:txBody>
      </p:sp>
    </p:spTree>
    <p:extLst>
      <p:ext uri="{BB962C8B-B14F-4D97-AF65-F5344CB8AC3E}">
        <p14:creationId xmlns:p14="http://schemas.microsoft.com/office/powerpoint/2010/main" val="246722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Slide Image Placeholder 1">
            <a:extLst>
              <a:ext uri="{FF2B5EF4-FFF2-40B4-BE49-F238E27FC236}">
                <a16:creationId xmlns:a16="http://schemas.microsoft.com/office/drawing/2014/main" id="{A7E79F90-C3DC-4C38-9310-585707216C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1315" name="Notes Placeholder 2">
            <a:extLst>
              <a:ext uri="{FF2B5EF4-FFF2-40B4-BE49-F238E27FC236}">
                <a16:creationId xmlns:a16="http://schemas.microsoft.com/office/drawing/2014/main" id="{FA766037-743B-481C-9B65-0557C13BF5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ninth British-expedition attempt to scale the height of Everest, the world</a:t>
            </a:r>
            <a:r>
              <a:rPr lang="en-US" altLang="en-US"/>
              <a:t>’</a:t>
            </a:r>
            <a:r>
              <a:rPr lang="en-US" altLang="fr-FR"/>
              <a:t>s highest mountain, took place in May 1953. Led by John Hunt, the climbers were paired into teams, and Tom Bourdillon and his partner, Charles Evans, came to within 300 feet of the peak. Oxygen problems forced their return to camp, but by creating a trail and leaving behind equipment, they facilitated the successful ascent by Edmund Hillary and Tensing Norgay. For the millions of people celebrating the coronation of Queen Elizabeth II on June 2, 1953, this news added a frenzy of exhilaration to the already excited populace.</a:t>
            </a:r>
          </a:p>
          <a:p>
            <a:pPr eaLnBrk="1" hangingPunct="1">
              <a:spcBef>
                <a:spcPct val="0"/>
              </a:spcBef>
            </a:pPr>
            <a:r>
              <a:rPr lang="en-US" altLang="fr-FR"/>
              <a:t>For several years this first ascent of Everest was labeled a </a:t>
            </a:r>
            <a:r>
              <a:rPr lang="en-US" altLang="en-US"/>
              <a:t>“</a:t>
            </a:r>
            <a:r>
              <a:rPr lang="en-US" altLang="fr-FR"/>
              <a:t>team effort,</a:t>
            </a:r>
            <a:r>
              <a:rPr lang="en-US" altLang="en-US"/>
              <a:t>”</a:t>
            </a:r>
            <a:r>
              <a:rPr lang="en-US" altLang="fr-FR"/>
              <a:t> with </a:t>
            </a:r>
            <a:r>
              <a:rPr lang="en-US" altLang="en-US"/>
              <a:t>“</a:t>
            </a:r>
            <a:r>
              <a:rPr lang="en-US" altLang="fr-FR"/>
              <a:t>we reached the top together</a:t>
            </a:r>
            <a:r>
              <a:rPr lang="en-US" altLang="en-US"/>
              <a:t>”</a:t>
            </a:r>
            <a:r>
              <a:rPr lang="en-US" altLang="fr-FR"/>
              <a:t> being the news release. A few years later, however, Tensing said that </a:t>
            </a:r>
            <a:r>
              <a:rPr lang="en-US" altLang="en-US"/>
              <a:t>“</a:t>
            </a:r>
            <a:r>
              <a:rPr lang="en-US" altLang="fr-FR"/>
              <a:t>only the truth is good enough for Everest,</a:t>
            </a:r>
            <a:r>
              <a:rPr lang="en-US" altLang="en-US"/>
              <a:t>”</a:t>
            </a:r>
            <a:r>
              <a:rPr lang="en-US" altLang="fr-FR"/>
              <a:t> and then indicated that Hillary had put his foot on the peak first. Such honesty speaks to the integrity of Tensing Norgay. </a:t>
            </a:r>
          </a:p>
          <a:p>
            <a:pPr eaLnBrk="1" hangingPunct="1">
              <a:spcBef>
                <a:spcPct val="0"/>
              </a:spcBef>
            </a:pPr>
            <a:endParaRPr lang="en-US" altLang="fr-FR"/>
          </a:p>
        </p:txBody>
      </p:sp>
      <p:sp>
        <p:nvSpPr>
          <p:cNvPr id="781316" name="Slide Number Placeholder 3">
            <a:extLst>
              <a:ext uri="{FF2B5EF4-FFF2-40B4-BE49-F238E27FC236}">
                <a16:creationId xmlns:a16="http://schemas.microsoft.com/office/drawing/2014/main" id="{77F148F9-F55B-47B8-B2C2-4AC45024A9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C8BB647-2C5C-4C8A-8F66-37AFC0D68E60}" type="slidenum">
              <a:rPr lang="en-US" altLang="fr-FR">
                <a:latin typeface="Calibri" panose="020F0502020204030204" pitchFamily="34" charset="0"/>
                <a:ea typeface="MS PGothic" panose="020B0600070205080204" pitchFamily="34" charset="-128"/>
              </a:rPr>
              <a:pPr/>
              <a:t>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Slide Image Placeholder 1">
            <a:extLst>
              <a:ext uri="{FF2B5EF4-FFF2-40B4-BE49-F238E27FC236}">
                <a16:creationId xmlns:a16="http://schemas.microsoft.com/office/drawing/2014/main" id="{57071F25-7B57-4C3D-B357-9491197D6E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3363" name="Notes Placeholder 2">
            <a:extLst>
              <a:ext uri="{FF2B5EF4-FFF2-40B4-BE49-F238E27FC236}">
                <a16:creationId xmlns:a16="http://schemas.microsoft.com/office/drawing/2014/main" id="{893615A4-BEDA-4205-9791-966F7CFE07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Integrity—as strange as it may seem—is also an essential factor in the prescription for the vital and exuberant celebration of health. It</a:t>
            </a:r>
            <a:r>
              <a:rPr lang="en-US" altLang="en-US"/>
              <a:t>’</a:t>
            </a:r>
            <a:r>
              <a:rPr lang="en-US" altLang="fr-FR"/>
              <a:t>s a motivational ingredient that is very much at work in the implementation of health practices.	</a:t>
            </a:r>
          </a:p>
          <a:p>
            <a:pPr eaLnBrk="1" hangingPunct="1">
              <a:spcBef>
                <a:spcPct val="0"/>
              </a:spcBef>
            </a:pPr>
            <a:r>
              <a:rPr lang="en-US" altLang="fr-FR"/>
              <a:t>The distinction between integrity and simple honesty at times may be unclear. Integrity is a concordance in the life between theory and practice. It</a:t>
            </a:r>
            <a:r>
              <a:rPr lang="en-US" altLang="en-US"/>
              <a:t>’</a:t>
            </a:r>
            <a:r>
              <a:rPr lang="en-US" altLang="fr-FR"/>
              <a:t>s the transparency and trustworthiness that should characterize our every action. When there is a difference between what we say and what we do, we demonstrate a need for integrity.</a:t>
            </a:r>
          </a:p>
          <a:p>
            <a:pPr eaLnBrk="1" hangingPunct="1">
              <a:spcBef>
                <a:spcPct val="0"/>
              </a:spcBef>
            </a:pPr>
            <a:endParaRPr lang="en-US" altLang="fr-FR"/>
          </a:p>
        </p:txBody>
      </p:sp>
      <p:sp>
        <p:nvSpPr>
          <p:cNvPr id="783364" name="Slide Number Placeholder 3">
            <a:extLst>
              <a:ext uri="{FF2B5EF4-FFF2-40B4-BE49-F238E27FC236}">
                <a16:creationId xmlns:a16="http://schemas.microsoft.com/office/drawing/2014/main" id="{1AFCD1E2-25A2-47AA-89D3-A2D08B08AB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3790BB3-A1AE-4936-8612-A2F00816B836}"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Slide Image Placeholder 1">
            <a:extLst>
              <a:ext uri="{FF2B5EF4-FFF2-40B4-BE49-F238E27FC236}">
                <a16:creationId xmlns:a16="http://schemas.microsoft.com/office/drawing/2014/main" id="{4B62CE4C-515D-4815-8860-BD60B1CC60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5411" name="Notes Placeholder 2">
            <a:extLst>
              <a:ext uri="{FF2B5EF4-FFF2-40B4-BE49-F238E27FC236}">
                <a16:creationId xmlns:a16="http://schemas.microsoft.com/office/drawing/2014/main" id="{21B11FFF-1D8F-4EB9-A146-5FB31A05A9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 the Yahoo Web site forum </a:t>
            </a:r>
            <a:r>
              <a:rPr lang="en-US" altLang="en-US"/>
              <a:t>“</a:t>
            </a:r>
            <a:r>
              <a:rPr lang="en-US" altLang="fr-FR"/>
              <a:t>Yahoo Answers,</a:t>
            </a:r>
            <a:r>
              <a:rPr lang="en-US" altLang="en-US"/>
              <a:t>”</a:t>
            </a:r>
            <a:r>
              <a:rPr lang="en-US" altLang="fr-FR"/>
              <a:t> questions were raised on the meaning of honesty and integrity and the difference between the two. Among the answers were these two:</a:t>
            </a:r>
          </a:p>
          <a:p>
            <a:pPr eaLnBrk="1" hangingPunct="1">
              <a:spcBef>
                <a:spcPct val="0"/>
              </a:spcBef>
            </a:pPr>
            <a:r>
              <a:rPr lang="en-US" altLang="en-US"/>
              <a:t>“</a:t>
            </a:r>
            <a:r>
              <a:rPr lang="en-US" altLang="fr-FR"/>
              <a:t>Honesty means that whatever you</a:t>
            </a:r>
            <a:r>
              <a:rPr lang="en-US" altLang="en-US"/>
              <a:t>’</a:t>
            </a:r>
            <a:r>
              <a:rPr lang="en-US" altLang="fr-FR"/>
              <a:t>ve done—good or bad—you speak the truth about it. In other words, you don</a:t>
            </a:r>
            <a:r>
              <a:rPr lang="en-US" altLang="en-US"/>
              <a:t>’</a:t>
            </a:r>
            <a:r>
              <a:rPr lang="en-US" altLang="fr-FR"/>
              <a:t>t lie.</a:t>
            </a:r>
            <a:r>
              <a:rPr lang="en-US" altLang="en-US"/>
              <a:t>”</a:t>
            </a:r>
            <a:r>
              <a:rPr lang="en-US" altLang="fr-FR"/>
              <a:t>	</a:t>
            </a:r>
          </a:p>
          <a:p>
            <a:pPr eaLnBrk="1" hangingPunct="1">
              <a:spcBef>
                <a:spcPct val="0"/>
              </a:spcBef>
            </a:pPr>
            <a:r>
              <a:rPr lang="en-US" altLang="en-US"/>
              <a:t>“</a:t>
            </a:r>
            <a:r>
              <a:rPr lang="en-US" altLang="ja-JP" b="1"/>
              <a:t>Integrity means that you adhere to a moral conviction or code of honor that won</a:t>
            </a:r>
            <a:r>
              <a:rPr lang="en-US" altLang="en-US" b="1"/>
              <a:t>’</a:t>
            </a:r>
            <a:r>
              <a:rPr lang="en-US" altLang="ja-JP" b="1"/>
              <a:t>t allow you to do certain things that you feel would debase you.</a:t>
            </a:r>
            <a:r>
              <a:rPr lang="en-US" altLang="en-US" b="1"/>
              <a:t>”</a:t>
            </a:r>
            <a:r>
              <a:rPr lang="en-US" altLang="ja-JP"/>
              <a:t>	</a:t>
            </a:r>
          </a:p>
          <a:p>
            <a:pPr eaLnBrk="1" hangingPunct="1">
              <a:spcBef>
                <a:spcPct val="0"/>
              </a:spcBef>
            </a:pPr>
            <a:r>
              <a:rPr lang="en-US" altLang="fr-FR"/>
              <a:t>While not dictionary definitions, these Yahoo answers illustrate the role integrity plays in determining our actions. Honesty may lead to confession or admission of guilt, but it may not be sufficient to influence behavior. Integrity means there is a commitment to the principles espoused as being correct.</a:t>
            </a:r>
          </a:p>
          <a:p>
            <a:pPr eaLnBrk="1" hangingPunct="1">
              <a:spcBef>
                <a:spcPct val="0"/>
              </a:spcBef>
            </a:pPr>
            <a:endParaRPr lang="en-US" altLang="fr-FR"/>
          </a:p>
        </p:txBody>
      </p:sp>
      <p:sp>
        <p:nvSpPr>
          <p:cNvPr id="785412" name="Slide Number Placeholder 3">
            <a:extLst>
              <a:ext uri="{FF2B5EF4-FFF2-40B4-BE49-F238E27FC236}">
                <a16:creationId xmlns:a16="http://schemas.microsoft.com/office/drawing/2014/main" id="{A68475BD-B128-43F7-86A4-07DC507C97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4A9A111-1B55-4F40-81B5-E10E9CE70560}"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Slide Image Placeholder 1">
            <a:extLst>
              <a:ext uri="{FF2B5EF4-FFF2-40B4-BE49-F238E27FC236}">
                <a16:creationId xmlns:a16="http://schemas.microsoft.com/office/drawing/2014/main" id="{8436656E-A0CF-42F2-9AB2-47D0FB0578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7459" name="Notes Placeholder 2">
            <a:extLst>
              <a:ext uri="{FF2B5EF4-FFF2-40B4-BE49-F238E27FC236}">
                <a16:creationId xmlns:a16="http://schemas.microsoft.com/office/drawing/2014/main" id="{25941DBA-8119-4B97-9C8A-03AC7DAB3F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While still a young South African lawyer, Mahatma Gandhi committed to the cause of justice and by example taught others the power and influence of integrity. George Ludwig recounts the following story:	</a:t>
            </a:r>
          </a:p>
          <a:p>
            <a:pPr eaLnBrk="1" hangingPunct="1">
              <a:spcBef>
                <a:spcPct val="0"/>
              </a:spcBef>
            </a:pPr>
            <a:r>
              <a:rPr lang="en-US" altLang="en-US"/>
              <a:t>“</a:t>
            </a:r>
            <a:r>
              <a:rPr lang="en-US" altLang="fr-FR"/>
              <a:t>A mother once brought her child to him, asking him to tell the young boy not to eat sugar because it was not good for his diet or his developing teeth. Gandhi replied, </a:t>
            </a:r>
            <a:r>
              <a:rPr lang="en-US" altLang="en-US"/>
              <a:t>‘</a:t>
            </a:r>
            <a:r>
              <a:rPr lang="en-US" altLang="fr-FR"/>
              <a:t>I cannot tell him that. But you may bring him back in a month.</a:t>
            </a:r>
            <a:r>
              <a:rPr lang="en-US" altLang="en-US"/>
              <a:t>’</a:t>
            </a:r>
            <a:r>
              <a:rPr lang="en-US" altLang="fr-FR"/>
              <a:t>	</a:t>
            </a:r>
          </a:p>
          <a:p>
            <a:pPr eaLnBrk="1" hangingPunct="1">
              <a:spcBef>
                <a:spcPct val="0"/>
              </a:spcBef>
            </a:pPr>
            <a:r>
              <a:rPr lang="en-US" altLang="en-US"/>
              <a:t>“</a:t>
            </a:r>
            <a:r>
              <a:rPr lang="en-US" altLang="fr-FR"/>
              <a:t>The mother was angry as Gandhi moved on, brushing her aside. She had traveled some distance and had expected the mighty leader to support her parenting. She had little recourse, so she left for her home. One month later she returned, not knowing what to expect.</a:t>
            </a:r>
          </a:p>
          <a:p>
            <a:pPr eaLnBrk="1" hangingPunct="1">
              <a:spcBef>
                <a:spcPct val="0"/>
              </a:spcBef>
            </a:pPr>
            <a:endParaRPr lang="en-US" altLang="fr-FR"/>
          </a:p>
        </p:txBody>
      </p:sp>
      <p:sp>
        <p:nvSpPr>
          <p:cNvPr id="787460" name="Slide Number Placeholder 3">
            <a:extLst>
              <a:ext uri="{FF2B5EF4-FFF2-40B4-BE49-F238E27FC236}">
                <a16:creationId xmlns:a16="http://schemas.microsoft.com/office/drawing/2014/main" id="{9F06D58B-13F2-4581-B328-DEB8E7BFBF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5D1B041-7611-42AD-94F1-4859CFA0FA1C}"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Slide Image Placeholder 1">
            <a:extLst>
              <a:ext uri="{FF2B5EF4-FFF2-40B4-BE49-F238E27FC236}">
                <a16:creationId xmlns:a16="http://schemas.microsoft.com/office/drawing/2014/main" id="{DD37F75A-A309-449E-BD3A-224440A25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9507" name="Notes Placeholder 2">
            <a:extLst>
              <a:ext uri="{FF2B5EF4-FFF2-40B4-BE49-F238E27FC236}">
                <a16:creationId xmlns:a16="http://schemas.microsoft.com/office/drawing/2014/main" id="{EA9F3035-1FE4-4E9F-9BCB-F02375973A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t>
            </a:r>
            <a:r>
              <a:rPr lang="en-US" altLang="fr-FR"/>
              <a:t>The great Gandhi took the small child</a:t>
            </a:r>
            <a:r>
              <a:rPr lang="en-US" altLang="en-US"/>
              <a:t>’</a:t>
            </a:r>
            <a:r>
              <a:rPr lang="en-US" altLang="fr-FR"/>
              <a:t>s hands into his own, knelt down before him, and tenderly communicated, </a:t>
            </a:r>
            <a:r>
              <a:rPr lang="en-US" altLang="en-US"/>
              <a:t>‘</a:t>
            </a:r>
            <a:r>
              <a:rPr lang="en-US" altLang="fr-FR"/>
              <a:t>Do not eat sugar, my child. It is not good for you.</a:t>
            </a:r>
            <a:r>
              <a:rPr lang="en-US" altLang="en-US"/>
              <a:t>’</a:t>
            </a:r>
            <a:r>
              <a:rPr lang="en-US" altLang="fr-FR"/>
              <a:t> Then he embraced him and returned the boy to his mother. The mother, grateful but perplexed, queried, </a:t>
            </a:r>
            <a:r>
              <a:rPr lang="en-US" altLang="en-US"/>
              <a:t>‘</a:t>
            </a:r>
            <a:r>
              <a:rPr lang="en-US" altLang="fr-FR"/>
              <a:t>Why didn</a:t>
            </a:r>
            <a:r>
              <a:rPr lang="en-US" altLang="en-US"/>
              <a:t>’</a:t>
            </a:r>
            <a:r>
              <a:rPr lang="en-US" altLang="fr-FR"/>
              <a:t>t you say that a month ago?</a:t>
            </a:r>
            <a:r>
              <a:rPr lang="en-US" altLang="en-US"/>
              <a:t>’</a:t>
            </a:r>
            <a:r>
              <a:rPr lang="en-US" altLang="fr-FR"/>
              <a:t>	</a:t>
            </a:r>
          </a:p>
          <a:p>
            <a:pPr eaLnBrk="1" hangingPunct="1">
              <a:spcBef>
                <a:spcPct val="0"/>
              </a:spcBef>
            </a:pPr>
            <a:r>
              <a:rPr lang="en-US" altLang="en-US"/>
              <a:t>“‘</a:t>
            </a:r>
            <a:r>
              <a:rPr lang="en-US" altLang="fr-FR"/>
              <a:t>Well,</a:t>
            </a:r>
            <a:r>
              <a:rPr lang="en-US" altLang="en-US"/>
              <a:t>’</a:t>
            </a:r>
            <a:r>
              <a:rPr lang="en-US" altLang="fr-FR"/>
              <a:t> said Gandhi, </a:t>
            </a:r>
            <a:r>
              <a:rPr lang="en-US" altLang="en-US"/>
              <a:t>‘</a:t>
            </a:r>
            <a:r>
              <a:rPr lang="en-US" altLang="fr-FR"/>
              <a:t>a month ago I was still eating sugar.</a:t>
            </a:r>
            <a:r>
              <a:rPr lang="en-US" altLang="en-US"/>
              <a:t>’”</a:t>
            </a:r>
            <a:r>
              <a:rPr lang="en-US" altLang="fr-FR"/>
              <a:t>¹	</a:t>
            </a:r>
          </a:p>
          <a:p>
            <a:pPr eaLnBrk="1" hangingPunct="1">
              <a:spcBef>
                <a:spcPct val="0"/>
              </a:spcBef>
            </a:pPr>
            <a:r>
              <a:rPr lang="en-US" altLang="fr-FR"/>
              <a:t>What power in example! What power in integrity!</a:t>
            </a:r>
          </a:p>
          <a:p>
            <a:pPr eaLnBrk="1" hangingPunct="1">
              <a:spcBef>
                <a:spcPct val="0"/>
              </a:spcBef>
            </a:pPr>
            <a:endParaRPr lang="en-US" altLang="fr-FR"/>
          </a:p>
        </p:txBody>
      </p:sp>
      <p:sp>
        <p:nvSpPr>
          <p:cNvPr id="789508" name="Slide Number Placeholder 3">
            <a:extLst>
              <a:ext uri="{FF2B5EF4-FFF2-40B4-BE49-F238E27FC236}">
                <a16:creationId xmlns:a16="http://schemas.microsoft.com/office/drawing/2014/main" id="{C0BEBF1E-1777-401A-850B-5183CA1647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B6DA82F-AC1D-4710-8DB3-066D86566410}"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Slide Image Placeholder 1">
            <a:extLst>
              <a:ext uri="{FF2B5EF4-FFF2-40B4-BE49-F238E27FC236}">
                <a16:creationId xmlns:a16="http://schemas.microsoft.com/office/drawing/2014/main" id="{59B9C7EA-CB7E-45F3-B57C-53AB3C4F58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1555" name="Notes Placeholder 2">
            <a:extLst>
              <a:ext uri="{FF2B5EF4-FFF2-40B4-BE49-F238E27FC236}">
                <a16:creationId xmlns:a16="http://schemas.microsoft.com/office/drawing/2014/main" id="{BA6362BD-4A71-4B9C-8588-DE807604F3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Integrity can influence both an individual</a:t>
            </a:r>
            <a:r>
              <a:rPr lang="en-US" altLang="en-US"/>
              <a:t>’</a:t>
            </a:r>
            <a:r>
              <a:rPr lang="en-US" altLang="fr-FR"/>
              <a:t>s as well as a community</a:t>
            </a:r>
            <a:r>
              <a:rPr lang="en-US" altLang="en-US"/>
              <a:t>’</a:t>
            </a:r>
            <a:r>
              <a:rPr lang="en-US" altLang="fr-FR"/>
              <a:t>s health, because </a:t>
            </a:r>
            <a:r>
              <a:rPr lang="en-US" altLang="fr-FR" b="1"/>
              <a:t>it calls for both loyalty and commitment to honest codes of belief and behavior.</a:t>
            </a:r>
            <a:r>
              <a:rPr lang="en-US" altLang="fr-FR"/>
              <a:t>	</a:t>
            </a:r>
          </a:p>
          <a:p>
            <a:pPr eaLnBrk="1" hangingPunct="1">
              <a:spcBef>
                <a:spcPct val="0"/>
              </a:spcBef>
            </a:pPr>
            <a:r>
              <a:rPr lang="en-US" altLang="fr-FR"/>
              <a:t>In dealing with community health </a:t>
            </a:r>
            <a:r>
              <a:rPr lang="en-US" altLang="fr-FR" b="1"/>
              <a:t>it</a:t>
            </a:r>
            <a:r>
              <a:rPr lang="en-US" altLang="en-US" b="1"/>
              <a:t>’</a:t>
            </a:r>
            <a:r>
              <a:rPr lang="en-US" altLang="fr-FR" b="1"/>
              <a:t>s essential to recognize the meaning of even subtle aspects of values, morality, ethics, and beliefs.</a:t>
            </a:r>
            <a:r>
              <a:rPr lang="en-US" altLang="fr-FR"/>
              <a:t> In fact, the Public Health Leadership Society in 2002 published </a:t>
            </a:r>
            <a:r>
              <a:rPr lang="en-US" altLang="en-US"/>
              <a:t>“</a:t>
            </a:r>
            <a:r>
              <a:rPr lang="en-US" altLang="fr-FR"/>
              <a:t>Principles of the Ethical Practice of Public Health,</a:t>
            </a:r>
            <a:r>
              <a:rPr lang="en-US" altLang="en-US"/>
              <a:t>”</a:t>
            </a:r>
            <a:r>
              <a:rPr lang="en-US" altLang="fr-FR"/>
              <a:t> a document representing a consensus on a code of behavior for public health protagonists.² We will touch on only a few of the 12 principles the document addressed.</a:t>
            </a:r>
          </a:p>
          <a:p>
            <a:pPr eaLnBrk="1" hangingPunct="1">
              <a:spcBef>
                <a:spcPct val="0"/>
              </a:spcBef>
            </a:pPr>
            <a:r>
              <a:rPr lang="en-US" altLang="fr-FR"/>
              <a:t>The first of these opinions deals with an individual</a:t>
            </a:r>
            <a:r>
              <a:rPr lang="en-US" altLang="en-US"/>
              <a:t>’</a:t>
            </a:r>
            <a:r>
              <a:rPr lang="en-US" altLang="fr-FR"/>
              <a:t>s health and states:</a:t>
            </a:r>
          </a:p>
          <a:p>
            <a:pPr eaLnBrk="1" hangingPunct="1">
              <a:spcBef>
                <a:spcPct val="0"/>
              </a:spcBef>
            </a:pPr>
            <a:r>
              <a:rPr lang="en-US" altLang="en-US"/>
              <a:t>“</a:t>
            </a:r>
            <a:r>
              <a:rPr lang="en-US" altLang="ja-JP" b="1"/>
              <a:t>Humans have a right to the resources necessary for health.</a:t>
            </a:r>
            <a:r>
              <a:rPr lang="en-US" altLang="en-US" b="1"/>
              <a:t>”</a:t>
            </a:r>
            <a:endParaRPr lang="en-US" altLang="ja-JP" b="1"/>
          </a:p>
          <a:p>
            <a:pPr eaLnBrk="1" hangingPunct="1">
              <a:spcBef>
                <a:spcPct val="0"/>
              </a:spcBef>
            </a:pPr>
            <a:endParaRPr lang="en-US" altLang="fr-FR"/>
          </a:p>
        </p:txBody>
      </p:sp>
      <p:sp>
        <p:nvSpPr>
          <p:cNvPr id="791556" name="Slide Number Placeholder 3">
            <a:extLst>
              <a:ext uri="{FF2B5EF4-FFF2-40B4-BE49-F238E27FC236}">
                <a16:creationId xmlns:a16="http://schemas.microsoft.com/office/drawing/2014/main" id="{0A9B6D38-3561-4D06-B1BD-4AA770EDF3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71B57CB-1EA6-4C60-B7CB-AA38E8FF75F1}"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Slide Image Placeholder 1">
            <a:extLst>
              <a:ext uri="{FF2B5EF4-FFF2-40B4-BE49-F238E27FC236}">
                <a16:creationId xmlns:a16="http://schemas.microsoft.com/office/drawing/2014/main" id="{D6B3C1DE-B8F4-4646-AEB9-884E635101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3603" name="Notes Placeholder 2">
            <a:extLst>
              <a:ext uri="{FF2B5EF4-FFF2-40B4-BE49-F238E27FC236}">
                <a16:creationId xmlns:a16="http://schemas.microsoft.com/office/drawing/2014/main" id="{E8FE5C09-B326-4A8A-9A10-4221F43B32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This is an affirmation of article 25 of the </a:t>
            </a:r>
            <a:r>
              <a:rPr lang="en-US" altLang="en-US"/>
              <a:t>“</a:t>
            </a:r>
            <a:r>
              <a:rPr lang="en-US" altLang="fr-FR"/>
              <a:t>United Nations</a:t>
            </a:r>
            <a:r>
              <a:rPr lang="en-US" altLang="en-US"/>
              <a:t>’</a:t>
            </a:r>
            <a:r>
              <a:rPr lang="en-US" altLang="fr-FR"/>
              <a:t> Universal Declaration of Human Rights.</a:t>
            </a:r>
            <a:r>
              <a:rPr lang="en-US" altLang="en-US"/>
              <a:t>”</a:t>
            </a:r>
            <a:r>
              <a:rPr lang="en-US" altLang="fr-FR"/>
              <a:t> Such belief will influence many aspects of how we live and model health principles, and will also provide a basis for health education. It has a major impact on ethical behavior and will highlight the degree of integrity with which we function as a society regarding health.	</a:t>
            </a:r>
          </a:p>
          <a:p>
            <a:pPr eaLnBrk="1" hangingPunct="1">
              <a:spcBef>
                <a:spcPct val="0"/>
              </a:spcBef>
            </a:pPr>
            <a:r>
              <a:rPr lang="en-US" altLang="fr-FR"/>
              <a:t>Focusing on our community, the second belief and value states:</a:t>
            </a:r>
          </a:p>
          <a:p>
            <a:pPr eaLnBrk="1" hangingPunct="1">
              <a:spcBef>
                <a:spcPct val="0"/>
              </a:spcBef>
            </a:pPr>
            <a:r>
              <a:rPr lang="en-US" altLang="en-US" b="1"/>
              <a:t>“</a:t>
            </a:r>
            <a:r>
              <a:rPr lang="en-US" altLang="fr-FR" b="1"/>
              <a:t>Humans are inherently social and interdependent.</a:t>
            </a:r>
            <a:r>
              <a:rPr lang="en-US" altLang="en-US" b="1"/>
              <a:t>”</a:t>
            </a:r>
            <a:r>
              <a:rPr lang="en-US" altLang="fr-FR" b="1"/>
              <a:t>	</a:t>
            </a:r>
          </a:p>
          <a:p>
            <a:pPr eaLnBrk="1" hangingPunct="1">
              <a:spcBef>
                <a:spcPct val="0"/>
              </a:spcBef>
            </a:pPr>
            <a:r>
              <a:rPr lang="en-US" altLang="fr-FR"/>
              <a:t>As the document points out, </a:t>
            </a:r>
            <a:r>
              <a:rPr lang="en-US" altLang="en-US"/>
              <a:t>“</a:t>
            </a:r>
            <a:r>
              <a:rPr lang="en-US" altLang="fr-FR"/>
              <a:t>The rightful concern for the physical individuality of humans and one</a:t>
            </a:r>
            <a:r>
              <a:rPr lang="en-US" altLang="en-US"/>
              <a:t>’</a:t>
            </a:r>
            <a:r>
              <a:rPr lang="en-US" altLang="fr-FR"/>
              <a:t>s right to make decisions for oneself must be balanced against the fact that each person</a:t>
            </a:r>
            <a:r>
              <a:rPr lang="en-US" altLang="en-US"/>
              <a:t>’</a:t>
            </a:r>
            <a:r>
              <a:rPr lang="en-US" altLang="fr-FR"/>
              <a:t>s actions affect other people.</a:t>
            </a:r>
            <a:r>
              <a:rPr lang="en-US" altLang="en-US"/>
              <a:t>”</a:t>
            </a:r>
            <a:endParaRPr lang="en-US" altLang="fr-FR"/>
          </a:p>
          <a:p>
            <a:pPr eaLnBrk="1" hangingPunct="1">
              <a:spcBef>
                <a:spcPct val="0"/>
              </a:spcBef>
            </a:pPr>
            <a:endParaRPr lang="en-US" altLang="fr-FR"/>
          </a:p>
        </p:txBody>
      </p:sp>
      <p:sp>
        <p:nvSpPr>
          <p:cNvPr id="793604" name="Slide Number Placeholder 3">
            <a:extLst>
              <a:ext uri="{FF2B5EF4-FFF2-40B4-BE49-F238E27FC236}">
                <a16:creationId xmlns:a16="http://schemas.microsoft.com/office/drawing/2014/main" id="{2FCC331D-3853-4A92-B97C-12AD9EF76C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FB3DB18-BE41-4316-A618-BC7B2887CF5E}"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Slide Image Placeholder 1">
            <a:extLst>
              <a:ext uri="{FF2B5EF4-FFF2-40B4-BE49-F238E27FC236}">
                <a16:creationId xmlns:a16="http://schemas.microsoft.com/office/drawing/2014/main" id="{4A181654-DC95-4644-AEAD-61D2D9DE75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5651" name="Notes Placeholder 2">
            <a:extLst>
              <a:ext uri="{FF2B5EF4-FFF2-40B4-BE49-F238E27FC236}">
                <a16:creationId xmlns:a16="http://schemas.microsoft.com/office/drawing/2014/main" id="{190CF89B-36FA-47E1-AAFC-6F41A8F7F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Acceptance of this belief raises questions of integrity in how we relate to issues such as smoking and immunization and their effect on public health. Immunization programs, for example, may challenge our integrity as we consider our responsibility to the group when it comes to accepting or refusing immunization. We should keep in mind factors such as recent outbreaks of measles and their resultant morbidity and mortality, which have been traced to pockets of religious adherents who have declined immunization for their members and children.	</a:t>
            </a:r>
          </a:p>
          <a:p>
            <a:pPr eaLnBrk="1" hangingPunct="1">
              <a:spcBef>
                <a:spcPct val="0"/>
              </a:spcBef>
            </a:pPr>
            <a:r>
              <a:rPr lang="en-US" altLang="fr-FR"/>
              <a:t>This belief also will pose questions about the regulation of the availability of drugs that include prescription medications, alcohol, and substances often used in a so-called </a:t>
            </a:r>
            <a:r>
              <a:rPr lang="en-US" altLang="en-US"/>
              <a:t>“</a:t>
            </a:r>
            <a:r>
              <a:rPr lang="en-US" altLang="fr-FR"/>
              <a:t>recreational</a:t>
            </a:r>
            <a:r>
              <a:rPr lang="en-US" altLang="en-US"/>
              <a:t>”</a:t>
            </a:r>
            <a:r>
              <a:rPr lang="en-US" altLang="fr-FR"/>
              <a:t> fashion.</a:t>
            </a:r>
          </a:p>
        </p:txBody>
      </p:sp>
      <p:sp>
        <p:nvSpPr>
          <p:cNvPr id="795652" name="Slide Number Placeholder 3">
            <a:extLst>
              <a:ext uri="{FF2B5EF4-FFF2-40B4-BE49-F238E27FC236}">
                <a16:creationId xmlns:a16="http://schemas.microsoft.com/office/drawing/2014/main" id="{F3FB8ADA-2DDA-4ED9-8D7B-A6077CDB5F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31147CF-8A8F-4170-B6A4-7640C3FCF00B}"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Slide Image Placeholder 1">
            <a:extLst>
              <a:ext uri="{FF2B5EF4-FFF2-40B4-BE49-F238E27FC236}">
                <a16:creationId xmlns:a16="http://schemas.microsoft.com/office/drawing/2014/main" id="{A2EAAE11-D7FB-4DDC-B3D6-6FE42B073A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7699" name="Notes Placeholder 2">
            <a:extLst>
              <a:ext uri="{FF2B5EF4-FFF2-40B4-BE49-F238E27FC236}">
                <a16:creationId xmlns:a16="http://schemas.microsoft.com/office/drawing/2014/main" id="{329BB0C3-21D7-4F5C-9CF0-089B2F0EF1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Integrity leads to absolute transparency, open accountability, and is the measure of our reliability. </a:t>
            </a:r>
            <a:r>
              <a:rPr lang="en-US" altLang="fr-FR"/>
              <a:t>This, in turn, is a very important factor in the area of trust, which undergirds the use and effectiveness of health-care institutions, physicians, and allied health professionals.	</a:t>
            </a:r>
          </a:p>
          <a:p>
            <a:pPr eaLnBrk="1" hangingPunct="1">
              <a:spcBef>
                <a:spcPct val="0"/>
              </a:spcBef>
            </a:pPr>
            <a:r>
              <a:rPr lang="en-US" altLang="fr-FR"/>
              <a:t>Society</a:t>
            </a:r>
            <a:r>
              <a:rPr lang="en-US" altLang="en-US"/>
              <a:t>’</a:t>
            </a:r>
            <a:r>
              <a:rPr lang="en-US" altLang="fr-FR"/>
              <a:t>s 12 principles include the need for collaboration, an important ingredient in effective support of community health. It becomes a matter of integrity to balance personal biases and desires against community needs. Because </a:t>
            </a:r>
            <a:r>
              <a:rPr lang="en-US" altLang="en-US"/>
              <a:t>“</a:t>
            </a:r>
            <a:r>
              <a:rPr lang="en-US" altLang="fr-FR"/>
              <a:t>people are dependent upon their physical environment,</a:t>
            </a:r>
            <a:r>
              <a:rPr lang="en-US" altLang="en-US"/>
              <a:t>”</a:t>
            </a:r>
            <a:r>
              <a:rPr lang="en-US" altLang="fr-FR"/>
              <a:t> as stated in the </a:t>
            </a:r>
            <a:r>
              <a:rPr lang="en-US" altLang="en-US"/>
              <a:t>“</a:t>
            </a:r>
            <a:r>
              <a:rPr lang="en-US" altLang="fr-FR"/>
              <a:t>Principles</a:t>
            </a:r>
            <a:r>
              <a:rPr lang="en-US" altLang="en-US"/>
              <a:t>”</a:t>
            </a:r>
            <a:r>
              <a:rPr lang="en-US" altLang="fr-FR"/>
              <a:t> document, we have a duty to preserve and sustain the environment. Integrity demands this of us.</a:t>
            </a:r>
          </a:p>
          <a:p>
            <a:pPr eaLnBrk="1" hangingPunct="1">
              <a:spcBef>
                <a:spcPct val="0"/>
              </a:spcBef>
            </a:pPr>
            <a:endParaRPr lang="en-US" altLang="fr-FR"/>
          </a:p>
        </p:txBody>
      </p:sp>
      <p:sp>
        <p:nvSpPr>
          <p:cNvPr id="797700" name="Slide Number Placeholder 3">
            <a:extLst>
              <a:ext uri="{FF2B5EF4-FFF2-40B4-BE49-F238E27FC236}">
                <a16:creationId xmlns:a16="http://schemas.microsoft.com/office/drawing/2014/main" id="{CFB9C7D9-2C7B-4959-A3A8-75A4CC7C72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ADE7AA4-D23D-4461-87A1-549C8EB8FBE5}"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Slide Image Placeholder 1">
            <a:extLst>
              <a:ext uri="{FF2B5EF4-FFF2-40B4-BE49-F238E27FC236}">
                <a16:creationId xmlns:a16="http://schemas.microsoft.com/office/drawing/2014/main" id="{BE7E0DD4-3061-44B3-944C-C471D99052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9747" name="Notes Placeholder 2">
            <a:extLst>
              <a:ext uri="{FF2B5EF4-FFF2-40B4-BE49-F238E27FC236}">
                <a16:creationId xmlns:a16="http://schemas.microsoft.com/office/drawing/2014/main" id="{108DA0C7-8F8D-47B4-8C45-51309E7657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Recognizing the value of each individual, we will ensure that all have a voice and are heard in public discourse. Such action may seem to be common courtesy, but </a:t>
            </a:r>
            <a:r>
              <a:rPr lang="en-US" altLang="fr-FR" b="1"/>
              <a:t>sometimes in matters of health, our personal convictions are so keenly felt that we are intolerant of another</a:t>
            </a:r>
            <a:r>
              <a:rPr lang="en-US" altLang="en-US" b="1"/>
              <a:t>’</a:t>
            </a:r>
            <a:r>
              <a:rPr lang="en-US" altLang="fr-FR" b="1"/>
              <a:t>s opinion and belief.</a:t>
            </a:r>
            <a:r>
              <a:rPr lang="en-US" altLang="fr-FR"/>
              <a:t> If we claim to believe in the individual</a:t>
            </a:r>
            <a:r>
              <a:rPr lang="en-US" altLang="en-US"/>
              <a:t>’</a:t>
            </a:r>
            <a:r>
              <a:rPr lang="en-US" altLang="fr-FR"/>
              <a:t>s value, we are called by integrity to give opportunity and ear to others</a:t>
            </a:r>
            <a:r>
              <a:rPr lang="en-US" altLang="en-US"/>
              <a:t>’</a:t>
            </a:r>
            <a:r>
              <a:rPr lang="en-US" altLang="fr-FR"/>
              <a:t> opinions. Integrity demands tolerance of people, even if we disagree with their opinions.	</a:t>
            </a:r>
          </a:p>
          <a:p>
            <a:pPr eaLnBrk="1" hangingPunct="1">
              <a:spcBef>
                <a:spcPct val="0"/>
              </a:spcBef>
            </a:pPr>
            <a:r>
              <a:rPr lang="en-US" altLang="fr-FR"/>
              <a:t>Another value of the </a:t>
            </a:r>
            <a:r>
              <a:rPr lang="en-US" altLang="en-US"/>
              <a:t>“</a:t>
            </a:r>
            <a:r>
              <a:rPr lang="en-US" altLang="fr-FR"/>
              <a:t>Principles of the Ethical Practice of Public Health</a:t>
            </a:r>
            <a:r>
              <a:rPr lang="en-US" altLang="en-US"/>
              <a:t>”</a:t>
            </a:r>
            <a:r>
              <a:rPr lang="en-US" altLang="fr-FR"/>
              <a:t> is </a:t>
            </a:r>
            <a:r>
              <a:rPr lang="en-US" altLang="en-US" b="1"/>
              <a:t>“</a:t>
            </a:r>
            <a:r>
              <a:rPr lang="en-US" altLang="fr-FR" b="1"/>
              <a:t>Identify and promote the fundamental requirements for health in a community.</a:t>
            </a:r>
            <a:r>
              <a:rPr lang="en-US" altLang="en-US" b="1"/>
              <a:t>”</a:t>
            </a:r>
            <a:r>
              <a:rPr lang="en-US" altLang="fr-FR" b="1"/>
              <a:t>	</a:t>
            </a:r>
          </a:p>
          <a:p>
            <a:pPr eaLnBrk="1" hangingPunct="1">
              <a:spcBef>
                <a:spcPct val="0"/>
              </a:spcBef>
            </a:pPr>
            <a:r>
              <a:rPr lang="en-US" altLang="fr-FR"/>
              <a:t>Often we substitute individual preferences for community needs, emphasizing the peripheral, borderline, unimportant, or trivial while areas of major importance are ignored. Typical of such personal bias would be an emphasis on avoiding soy products, dairy, certain oils, etc., in situations of famine, drought, poverty, or inequitable availability of a variety of foodstuffs. </a:t>
            </a:r>
            <a:r>
              <a:rPr lang="en-US" altLang="fr-FR" b="1"/>
              <a:t>Integrity will require of us a balance in teaching, practice, and advocacy of certain health practices.</a:t>
            </a:r>
          </a:p>
          <a:p>
            <a:pPr eaLnBrk="1" hangingPunct="1">
              <a:spcBef>
                <a:spcPct val="0"/>
              </a:spcBef>
            </a:pPr>
            <a:endParaRPr lang="en-US" altLang="fr-FR"/>
          </a:p>
        </p:txBody>
      </p:sp>
      <p:sp>
        <p:nvSpPr>
          <p:cNvPr id="799748" name="Slide Number Placeholder 3">
            <a:extLst>
              <a:ext uri="{FF2B5EF4-FFF2-40B4-BE49-F238E27FC236}">
                <a16:creationId xmlns:a16="http://schemas.microsoft.com/office/drawing/2014/main" id="{CF4EBDF0-B393-4153-8C98-9B1D2EFC77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A34EE79-6CB1-443E-BC97-DEFC31DCBEE5}"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Slide Image Placeholder 1">
            <a:extLst>
              <a:ext uri="{FF2B5EF4-FFF2-40B4-BE49-F238E27FC236}">
                <a16:creationId xmlns:a16="http://schemas.microsoft.com/office/drawing/2014/main" id="{54E0C545-50F3-4D9E-81A4-3123A5628C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1795" name="Notes Placeholder 2">
            <a:extLst>
              <a:ext uri="{FF2B5EF4-FFF2-40B4-BE49-F238E27FC236}">
                <a16:creationId xmlns:a16="http://schemas.microsoft.com/office/drawing/2014/main" id="{3FAECFDB-CCDD-4F70-B333-7246C23984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Integrity has personal as well as public health ramifications. </a:t>
            </a:r>
            <a:r>
              <a:rPr lang="en-US" altLang="fr-FR"/>
              <a:t>It would teach us to recognize our common vulnerability and inherent weaknesses, but also our intrinsic worth and rightful equality as humans with inalienable rights. Such insight influences our belief in our commonality, our kinship in the human family, and our value to society in general. A great deal of mental ill health could be avoided if we possessed sufficient integrity that we would not impose our will on others, nor allow ourselves to be depreciated in our own eyes by the opinions of others.</a:t>
            </a:r>
          </a:p>
          <a:p>
            <a:pPr eaLnBrk="1" hangingPunct="1">
              <a:spcBef>
                <a:spcPct val="0"/>
              </a:spcBef>
            </a:pPr>
            <a:endParaRPr lang="en-US" altLang="fr-FR"/>
          </a:p>
          <a:p>
            <a:pPr eaLnBrk="1" hangingPunct="1">
              <a:spcBef>
                <a:spcPct val="0"/>
              </a:spcBef>
            </a:pPr>
            <a:endParaRPr lang="en-US" altLang="fr-FR"/>
          </a:p>
        </p:txBody>
      </p:sp>
      <p:sp>
        <p:nvSpPr>
          <p:cNvPr id="801796" name="Slide Number Placeholder 3">
            <a:extLst>
              <a:ext uri="{FF2B5EF4-FFF2-40B4-BE49-F238E27FC236}">
                <a16:creationId xmlns:a16="http://schemas.microsoft.com/office/drawing/2014/main" id="{CA21E185-1783-414D-BD29-BFCCCDBCD8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B2DD8E4-95ED-4AFB-9DBD-91AC4D190079}"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Slide Image Placeholder 1">
            <a:extLst>
              <a:ext uri="{FF2B5EF4-FFF2-40B4-BE49-F238E27FC236}">
                <a16:creationId xmlns:a16="http://schemas.microsoft.com/office/drawing/2014/main" id="{66652D48-9610-4BE2-AAF9-FD00ADDBAE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3843" name="Notes Placeholder 2">
            <a:extLst>
              <a:ext uri="{FF2B5EF4-FFF2-40B4-BE49-F238E27FC236}">
                <a16:creationId xmlns:a16="http://schemas.microsoft.com/office/drawing/2014/main" id="{CCBFC596-27E6-43B9-B345-0CDFCA55F5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To those whose actions are based on principle, integrity brings motivational insight. Humans are extremely vulnerable to distortions of fact, especially when it comes to personal behaviors.</a:t>
            </a:r>
          </a:p>
          <a:p>
            <a:pPr eaLnBrk="1" hangingPunct="1">
              <a:spcBef>
                <a:spcPct val="0"/>
              </a:spcBef>
            </a:pPr>
            <a:r>
              <a:rPr lang="en-US" altLang="fr-FR"/>
              <a:t>	</a:t>
            </a:r>
          </a:p>
          <a:p>
            <a:pPr eaLnBrk="1" hangingPunct="1">
              <a:spcBef>
                <a:spcPct val="0"/>
              </a:spcBef>
            </a:pPr>
            <a:endParaRPr lang="en-US" altLang="fr-FR"/>
          </a:p>
        </p:txBody>
      </p:sp>
      <p:sp>
        <p:nvSpPr>
          <p:cNvPr id="803844" name="Slide Number Placeholder 3">
            <a:extLst>
              <a:ext uri="{FF2B5EF4-FFF2-40B4-BE49-F238E27FC236}">
                <a16:creationId xmlns:a16="http://schemas.microsoft.com/office/drawing/2014/main" id="{BD804020-4ACA-42C1-BAB6-8B7DFE9253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A553AC0-386D-4EDE-BF8F-550AE73772F6}"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Slide Image Placeholder 1">
            <a:extLst>
              <a:ext uri="{FF2B5EF4-FFF2-40B4-BE49-F238E27FC236}">
                <a16:creationId xmlns:a16="http://schemas.microsoft.com/office/drawing/2014/main" id="{F8585EA1-9FF1-4F26-BD71-49EBDA0B98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5891" name="Notes Placeholder 2">
            <a:extLst>
              <a:ext uri="{FF2B5EF4-FFF2-40B4-BE49-F238E27FC236}">
                <a16:creationId xmlns:a16="http://schemas.microsoft.com/office/drawing/2014/main" id="{D865AA92-8378-469F-A91F-835B116EB1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	</a:t>
            </a:r>
          </a:p>
          <a:p>
            <a:pPr eaLnBrk="1" hangingPunct="1">
              <a:spcBef>
                <a:spcPct val="0"/>
              </a:spcBef>
            </a:pPr>
            <a:r>
              <a:rPr lang="en-US" altLang="fr-FR"/>
              <a:t>This is an ancient problem. We are distractible. Michelangelo, perhaps the world</a:t>
            </a:r>
            <a:r>
              <a:rPr lang="en-US" altLang="en-US"/>
              <a:t>’</a:t>
            </a:r>
            <a:r>
              <a:rPr lang="en-US" altLang="fr-FR"/>
              <a:t>s most renowned of artists, wrote, </a:t>
            </a:r>
            <a:r>
              <a:rPr lang="en-US" altLang="en-US" b="1"/>
              <a:t>“</a:t>
            </a:r>
            <a:r>
              <a:rPr lang="en-US" altLang="fr-FR" b="1"/>
              <a:t>The world</a:t>
            </a:r>
            <a:r>
              <a:rPr lang="en-US" altLang="en-US" b="1"/>
              <a:t>’</a:t>
            </a:r>
            <a:r>
              <a:rPr lang="en-US" altLang="fr-FR" b="1"/>
              <a:t>s frivolities have robbed me of the time that I was given for reflecting upon God.</a:t>
            </a:r>
            <a:r>
              <a:rPr lang="en-US" altLang="en-US" b="1"/>
              <a:t>”</a:t>
            </a:r>
            <a:r>
              <a:rPr lang="en-US" altLang="ja-JP"/>
              <a:t> Integrity focuses our minds on truth, meaningfulness, value, and reality. When we address issues of health in this way, we</a:t>
            </a:r>
            <a:r>
              <a:rPr lang="en-US" altLang="en-US"/>
              <a:t>’</a:t>
            </a:r>
            <a:r>
              <a:rPr lang="en-US" altLang="ja-JP"/>
              <a:t>ll find that we</a:t>
            </a:r>
            <a:r>
              <a:rPr lang="en-US" altLang="en-US"/>
              <a:t>’</a:t>
            </a:r>
            <a:r>
              <a:rPr lang="en-US" altLang="ja-JP"/>
              <a:t>re dishonest most often with ourselves. The trite, frivolous, faddish, exotic, improbable, and sheer idiotic cease to captivate if we are truly honest. Integrity helps us to examine the evidence and recognize our own biases. It demands of us high standards and </a:t>
            </a:r>
            <a:r>
              <a:rPr lang="en-US" altLang="ja-JP" b="1"/>
              <a:t>requires us to base our beliefs upon evidence, </a:t>
            </a:r>
            <a:r>
              <a:rPr lang="en-US" altLang="ja-JP"/>
              <a:t>not fancy. In essence, </a:t>
            </a:r>
            <a:r>
              <a:rPr lang="en-US" altLang="ja-JP" b="1"/>
              <a:t>integrity denies us hypocrisy.</a:t>
            </a:r>
          </a:p>
          <a:p>
            <a:pPr eaLnBrk="1" hangingPunct="1">
              <a:spcBef>
                <a:spcPct val="0"/>
              </a:spcBef>
            </a:pPr>
            <a:endParaRPr lang="en-US" altLang="fr-FR"/>
          </a:p>
        </p:txBody>
      </p:sp>
      <p:sp>
        <p:nvSpPr>
          <p:cNvPr id="805892" name="Slide Number Placeholder 3">
            <a:extLst>
              <a:ext uri="{FF2B5EF4-FFF2-40B4-BE49-F238E27FC236}">
                <a16:creationId xmlns:a16="http://schemas.microsoft.com/office/drawing/2014/main" id="{94D12A84-B4B1-4017-AFEA-4399936CCC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604CF2A-7BE6-44B0-8A89-FD52164973AF}"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Slide Image Placeholder 1">
            <a:extLst>
              <a:ext uri="{FF2B5EF4-FFF2-40B4-BE49-F238E27FC236}">
                <a16:creationId xmlns:a16="http://schemas.microsoft.com/office/drawing/2014/main" id="{6568678A-7A00-4B5D-B4C5-D1D78A7314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7939" name="Notes Placeholder 2">
            <a:extLst>
              <a:ext uri="{FF2B5EF4-FFF2-40B4-BE49-F238E27FC236}">
                <a16:creationId xmlns:a16="http://schemas.microsoft.com/office/drawing/2014/main" id="{9F69FFA0-1B23-4604-B732-F489A53F6F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Have you ever wondered how many addicts started down the road to ruin because they ignored the dangers of which they were well aware? Possessing integrity has protected thousands who have declined an offer of drugs, even though fascinated by the potential pleasure.	</a:t>
            </a:r>
          </a:p>
          <a:p>
            <a:pPr eaLnBrk="1" hangingPunct="1">
              <a:spcBef>
                <a:spcPct val="0"/>
              </a:spcBef>
            </a:pPr>
            <a:r>
              <a:rPr lang="en-US" altLang="fr-FR"/>
              <a:t>How many smokers ignored known facts in an effort to </a:t>
            </a:r>
            <a:r>
              <a:rPr lang="en-US" altLang="en-US"/>
              <a:t>“</a:t>
            </a:r>
            <a:r>
              <a:rPr lang="en-US" altLang="fr-FR"/>
              <a:t>fit in</a:t>
            </a:r>
            <a:r>
              <a:rPr lang="en-US" altLang="en-US"/>
              <a:t>”</a:t>
            </a:r>
            <a:r>
              <a:rPr lang="en-US" altLang="fr-FR"/>
              <a:t> or appear sophisticated? It</a:t>
            </a:r>
            <a:r>
              <a:rPr lang="en-US" altLang="en-US"/>
              <a:t>’</a:t>
            </a:r>
            <a:r>
              <a:rPr lang="en-US" altLang="fr-FR"/>
              <a:t>s far different to become an addict through ignorance than by deliberately ignoring the truth.	</a:t>
            </a:r>
          </a:p>
          <a:p>
            <a:pPr eaLnBrk="1" hangingPunct="1">
              <a:spcBef>
                <a:spcPct val="0"/>
              </a:spcBef>
            </a:pPr>
            <a:r>
              <a:rPr lang="en-US" altLang="fr-FR"/>
              <a:t>When we know that 7 percent of persons taking their first alcoholic drink will become alcoholics, and some 15 percent will have alcohol-related problems such as physical or sexual abuse or be harmed in an accident,³ shouldn</a:t>
            </a:r>
            <a:r>
              <a:rPr lang="en-US" altLang="en-US"/>
              <a:t>’</a:t>
            </a:r>
            <a:r>
              <a:rPr lang="en-US" altLang="fr-FR"/>
              <a:t>t we question our integrity if we serve such beverages?</a:t>
            </a:r>
          </a:p>
          <a:p>
            <a:pPr eaLnBrk="1" hangingPunct="1">
              <a:spcBef>
                <a:spcPct val="0"/>
              </a:spcBef>
            </a:pPr>
            <a:endParaRPr lang="en-US" altLang="fr-FR"/>
          </a:p>
        </p:txBody>
      </p:sp>
      <p:sp>
        <p:nvSpPr>
          <p:cNvPr id="807940" name="Slide Number Placeholder 3">
            <a:extLst>
              <a:ext uri="{FF2B5EF4-FFF2-40B4-BE49-F238E27FC236}">
                <a16:creationId xmlns:a16="http://schemas.microsoft.com/office/drawing/2014/main" id="{3DB5C642-F4C1-4697-9E6E-59DD1139EC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846F2A6-D544-4D3D-BB98-73031F766EFB}"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Slide Image Placeholder 1">
            <a:extLst>
              <a:ext uri="{FF2B5EF4-FFF2-40B4-BE49-F238E27FC236}">
                <a16:creationId xmlns:a16="http://schemas.microsoft.com/office/drawing/2014/main" id="{84F44F58-3C3B-4E6B-BA97-B6B4082AE4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987" name="Notes Placeholder 2">
            <a:extLst>
              <a:ext uri="{FF2B5EF4-FFF2-40B4-BE49-F238E27FC236}">
                <a16:creationId xmlns:a16="http://schemas.microsoft.com/office/drawing/2014/main" id="{44AD4842-0B3B-4509-BEA8-737C6551A7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Perhaps the most dangerous area regarding integrity is sexual behavior. </a:t>
            </a:r>
            <a:r>
              <a:rPr lang="en-US" altLang="fr-FR"/>
              <a:t>The media trivializes marital infidelity and encourages sexual irresponsibility in the face of staggering numbers of single-parent children, insecurity, and emotional distress; this raises a </a:t>
            </a:r>
            <a:r>
              <a:rPr lang="en-US" altLang="fr-FR" b="1"/>
              <a:t>question of corporate integrity.</a:t>
            </a:r>
          </a:p>
          <a:p>
            <a:pPr eaLnBrk="1" hangingPunct="1">
              <a:spcBef>
                <a:spcPct val="0"/>
              </a:spcBef>
            </a:pPr>
            <a:r>
              <a:rPr lang="en-US" altLang="fr-FR"/>
              <a:t>	</a:t>
            </a:r>
          </a:p>
          <a:p>
            <a:pPr eaLnBrk="1" hangingPunct="1">
              <a:spcBef>
                <a:spcPct val="0"/>
              </a:spcBef>
            </a:pPr>
            <a:endParaRPr lang="en-US" altLang="fr-FR"/>
          </a:p>
        </p:txBody>
      </p:sp>
      <p:sp>
        <p:nvSpPr>
          <p:cNvPr id="809988" name="Slide Number Placeholder 3">
            <a:extLst>
              <a:ext uri="{FF2B5EF4-FFF2-40B4-BE49-F238E27FC236}">
                <a16:creationId xmlns:a16="http://schemas.microsoft.com/office/drawing/2014/main" id="{B21D893B-DCF1-4614-B0A5-DCDB6A16DA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8F47E83-2B3E-44D9-93ED-BF08C12055ED}"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Slide Image Placeholder 1">
            <a:extLst>
              <a:ext uri="{FF2B5EF4-FFF2-40B4-BE49-F238E27FC236}">
                <a16:creationId xmlns:a16="http://schemas.microsoft.com/office/drawing/2014/main" id="{548D1E29-2997-4F5C-A247-8E9B7CFE31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2035" name="Notes Placeholder 2">
            <a:extLst>
              <a:ext uri="{FF2B5EF4-FFF2-40B4-BE49-F238E27FC236}">
                <a16:creationId xmlns:a16="http://schemas.microsoft.com/office/drawing/2014/main" id="{D49195E9-6D28-4451-B46A-B707FBD3D7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 June 6, 1981, the U.S. Centers for Disease Control (CDC) published the first report of a new syndrome. The report described five young men who had an acquired immune-deficiency syndrome labeled AIDS, for short. Since then, millions upon millions have died, and millions more live with the virus. In Africa, the disease has orphaned more than 15 million children. 	</a:t>
            </a:r>
          </a:p>
          <a:p>
            <a:pPr eaLnBrk="1" hangingPunct="1">
              <a:spcBef>
                <a:spcPct val="0"/>
              </a:spcBef>
            </a:pPr>
            <a:r>
              <a:rPr lang="en-US" altLang="fr-FR"/>
              <a:t>HIV/AIDS has raised dozens of questions of corporate integrity regarding such groups as the medical practitioners who declined to treat such patients, the pharmaceutical industry that held patients to excessive ransom, the governments that denied the existence of the disease, and the agencies that controlled blood products and moved so slowly that hundreds became infected.</a:t>
            </a:r>
          </a:p>
          <a:p>
            <a:pPr eaLnBrk="1" hangingPunct="1">
              <a:spcBef>
                <a:spcPct val="0"/>
              </a:spcBef>
            </a:pPr>
            <a:r>
              <a:rPr lang="en-US" altLang="fr-FR"/>
              <a:t>The disease also challenged individual integrity: persons who willfully infected others, partners who denied the other the protection of a condom, and clerics who interfered without sufficient knowledge of the marital interactions of their parishioners. Then seldom addressed is the </a:t>
            </a:r>
            <a:r>
              <a:rPr lang="en-US" altLang="fr-FR" b="1"/>
              <a:t>lack of integrity in promiscuous behavior </a:t>
            </a:r>
            <a:r>
              <a:rPr lang="en-US" altLang="fr-FR"/>
              <a:t>by single and married individuals.</a:t>
            </a:r>
          </a:p>
          <a:p>
            <a:pPr eaLnBrk="1" hangingPunct="1">
              <a:spcBef>
                <a:spcPct val="0"/>
              </a:spcBef>
            </a:pPr>
            <a:endParaRPr lang="en-US" altLang="fr-FR"/>
          </a:p>
        </p:txBody>
      </p:sp>
      <p:sp>
        <p:nvSpPr>
          <p:cNvPr id="812036" name="Slide Number Placeholder 3">
            <a:extLst>
              <a:ext uri="{FF2B5EF4-FFF2-40B4-BE49-F238E27FC236}">
                <a16:creationId xmlns:a16="http://schemas.microsoft.com/office/drawing/2014/main" id="{8803CD8B-2200-463D-B5B5-9554C4C4A6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B1B1959-305A-48C8-A4D9-EECD6BE8B920}"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Slide Image Placeholder 1">
            <a:extLst>
              <a:ext uri="{FF2B5EF4-FFF2-40B4-BE49-F238E27FC236}">
                <a16:creationId xmlns:a16="http://schemas.microsoft.com/office/drawing/2014/main" id="{9ADB8395-B160-4042-8396-D512A91785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4083" name="Notes Placeholder 2">
            <a:extLst>
              <a:ext uri="{FF2B5EF4-FFF2-40B4-BE49-F238E27FC236}">
                <a16:creationId xmlns:a16="http://schemas.microsoft.com/office/drawing/2014/main" id="{77979491-DA5C-41C8-92F0-90F536800D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Integrity impacts many aspects of living. We tend to compartmentalize our behaviors into work, church, social, and intellectual slots, resulting in glaring inconsistencies of integrity when we fail to integrate them</a:t>
            </a:r>
            <a:r>
              <a:rPr lang="en-US" altLang="fr-FR" b="1"/>
              <a:t>. Integrity is the foundation for good mental health, trustworthy interpersonal relationships, and responsible and accountable behavior.</a:t>
            </a:r>
          </a:p>
          <a:p>
            <a:pPr eaLnBrk="1" hangingPunct="1">
              <a:spcBef>
                <a:spcPct val="0"/>
              </a:spcBef>
            </a:pPr>
            <a:endParaRPr lang="en-US" altLang="fr-FR"/>
          </a:p>
        </p:txBody>
      </p:sp>
      <p:sp>
        <p:nvSpPr>
          <p:cNvPr id="814084" name="Slide Number Placeholder 3">
            <a:extLst>
              <a:ext uri="{FF2B5EF4-FFF2-40B4-BE49-F238E27FC236}">
                <a16:creationId xmlns:a16="http://schemas.microsoft.com/office/drawing/2014/main" id="{AAE06069-D978-48EA-B8B3-40E0DB0C84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1118467-77F0-4B4F-91C5-D72DAA66EB3B}"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Slide Image Placeholder 1">
            <a:extLst>
              <a:ext uri="{FF2B5EF4-FFF2-40B4-BE49-F238E27FC236}">
                <a16:creationId xmlns:a16="http://schemas.microsoft.com/office/drawing/2014/main" id="{B4405DCC-3F90-4558-860C-A4363244D4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6131" name="Notes Placeholder 2">
            <a:extLst>
              <a:ext uri="{FF2B5EF4-FFF2-40B4-BE49-F238E27FC236}">
                <a16:creationId xmlns:a16="http://schemas.microsoft.com/office/drawing/2014/main" id="{DAEFC3E6-6062-4DE9-BF4B-07A581B682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At one time or another everyone has failed to meet the standard of full integrity. Possibly, we have failed so miserably that someone has suffered. We may bear a burden of guilt and remorse.	</a:t>
            </a:r>
          </a:p>
          <a:p>
            <a:pPr eaLnBrk="1" hangingPunct="1">
              <a:spcBef>
                <a:spcPct val="0"/>
              </a:spcBef>
            </a:pPr>
            <a:r>
              <a:rPr lang="en-US" altLang="fr-FR"/>
              <a:t>Forgiveness is not easy for individuals to extend to others, but Jesus Christ described a forgiving God. He lived and died to exemplify grace. All the religions of the world teach that forgiveness is attainable. Some require penance; Jesus Christ requires only contrition. 	</a:t>
            </a:r>
          </a:p>
          <a:p>
            <a:pPr eaLnBrk="1" hangingPunct="1">
              <a:spcBef>
                <a:spcPct val="0"/>
              </a:spcBef>
            </a:pPr>
            <a:r>
              <a:rPr lang="en-US" altLang="fr-FR"/>
              <a:t>By the gift of grace God extends mercy and forgiveness. Even here, integrity is essential. </a:t>
            </a:r>
            <a:r>
              <a:rPr lang="en-US" altLang="fr-FR" b="1"/>
              <a:t>We have to be honest enough to admit wrongdoing;</a:t>
            </a:r>
            <a:r>
              <a:rPr lang="en-US" altLang="fr-FR"/>
              <a:t> it is by such confession that grace permits peace and rest to be attained. If we are to celebrate the completeness of whole-person health, integrity is essential.</a:t>
            </a:r>
          </a:p>
          <a:p>
            <a:pPr eaLnBrk="1" hangingPunct="1">
              <a:spcBef>
                <a:spcPct val="0"/>
              </a:spcBef>
            </a:pPr>
            <a:endParaRPr lang="en-US" altLang="fr-FR"/>
          </a:p>
        </p:txBody>
      </p:sp>
      <p:sp>
        <p:nvSpPr>
          <p:cNvPr id="816132" name="Slide Number Placeholder 3">
            <a:extLst>
              <a:ext uri="{FF2B5EF4-FFF2-40B4-BE49-F238E27FC236}">
                <a16:creationId xmlns:a16="http://schemas.microsoft.com/office/drawing/2014/main" id="{7302597A-EBAA-453B-9405-04EF682CCC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0EDF921-4483-48C7-B071-7DF13FAE7ED2}"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Slide Image Placeholder 1">
            <a:extLst>
              <a:ext uri="{FF2B5EF4-FFF2-40B4-BE49-F238E27FC236}">
                <a16:creationId xmlns:a16="http://schemas.microsoft.com/office/drawing/2014/main" id="{13BC1A30-6393-46ED-8CA1-2B88308621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8179" name="Notes Placeholder 2">
            <a:extLst>
              <a:ext uri="{FF2B5EF4-FFF2-40B4-BE49-F238E27FC236}">
                <a16:creationId xmlns:a16="http://schemas.microsoft.com/office/drawing/2014/main" id="{B2B24A75-3EAE-4BB9-A17E-88CD4348B0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818180" name="Slide Number Placeholder 3">
            <a:extLst>
              <a:ext uri="{FF2B5EF4-FFF2-40B4-BE49-F238E27FC236}">
                <a16:creationId xmlns:a16="http://schemas.microsoft.com/office/drawing/2014/main" id="{A1AC96A6-D4A0-4704-8BEB-B732DF3FA3D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0AA3ECD-5188-4040-A889-3C807B9521D4}"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Slide Image Placeholder 1">
            <a:extLst>
              <a:ext uri="{FF2B5EF4-FFF2-40B4-BE49-F238E27FC236}">
                <a16:creationId xmlns:a16="http://schemas.microsoft.com/office/drawing/2014/main" id="{6485D24D-1483-4B94-AD5F-67BA352379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0227" name="Notes Placeholder 2">
            <a:extLst>
              <a:ext uri="{FF2B5EF4-FFF2-40B4-BE49-F238E27FC236}">
                <a16:creationId xmlns:a16="http://schemas.microsoft.com/office/drawing/2014/main" id="{171FF9D5-6063-4C0F-8E1A-9101974F9B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consider myself to be an honest person? </a:t>
            </a:r>
          </a:p>
        </p:txBody>
      </p:sp>
      <p:sp>
        <p:nvSpPr>
          <p:cNvPr id="820228" name="Slide Number Placeholder 3">
            <a:extLst>
              <a:ext uri="{FF2B5EF4-FFF2-40B4-BE49-F238E27FC236}">
                <a16:creationId xmlns:a16="http://schemas.microsoft.com/office/drawing/2014/main" id="{BDEEC144-61D6-448A-B5EA-163D50B1F0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064CC49-91A4-4837-9747-8B35B6CD1975}"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Slide Image Placeholder 1">
            <a:extLst>
              <a:ext uri="{FF2B5EF4-FFF2-40B4-BE49-F238E27FC236}">
                <a16:creationId xmlns:a16="http://schemas.microsoft.com/office/drawing/2014/main" id="{D4B880B1-5317-4D5C-AA1F-76E35903FE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2275" name="Notes Placeholder 2">
            <a:extLst>
              <a:ext uri="{FF2B5EF4-FFF2-40B4-BE49-F238E27FC236}">
                <a16:creationId xmlns:a16="http://schemas.microsoft.com/office/drawing/2014/main" id="{8F96E1AC-2698-462E-8AF8-0CC4CB36D4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moral values have I adopted that prevent me from doing anything that would conflict with that code of honor? </a:t>
            </a:r>
          </a:p>
          <a:p>
            <a:pPr eaLnBrk="1" hangingPunct="1">
              <a:spcBef>
                <a:spcPct val="0"/>
              </a:spcBef>
            </a:pPr>
            <a:endParaRPr lang="en-US" altLang="fr-FR"/>
          </a:p>
        </p:txBody>
      </p:sp>
      <p:sp>
        <p:nvSpPr>
          <p:cNvPr id="822276" name="Slide Number Placeholder 3">
            <a:extLst>
              <a:ext uri="{FF2B5EF4-FFF2-40B4-BE49-F238E27FC236}">
                <a16:creationId xmlns:a16="http://schemas.microsoft.com/office/drawing/2014/main" id="{0D046120-4093-481E-9F41-0A8F71E036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D1FACB7-B834-44CB-8CFA-5BC9324B82F8}"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Slide Image Placeholder 1">
            <a:extLst>
              <a:ext uri="{FF2B5EF4-FFF2-40B4-BE49-F238E27FC236}">
                <a16:creationId xmlns:a16="http://schemas.microsoft.com/office/drawing/2014/main" id="{20910C71-0D09-4BB1-9299-12C36EBC79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4323" name="Notes Placeholder 2">
            <a:extLst>
              <a:ext uri="{FF2B5EF4-FFF2-40B4-BE49-F238E27FC236}">
                <a16:creationId xmlns:a16="http://schemas.microsoft.com/office/drawing/2014/main" id="{E86B7A5C-010D-421D-8D05-5A58045094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sources have formed that set of values?</a:t>
            </a:r>
          </a:p>
          <a:p>
            <a:pPr eaLnBrk="1" hangingPunct="1">
              <a:spcBef>
                <a:spcPct val="0"/>
              </a:spcBef>
            </a:pPr>
            <a:endParaRPr lang="en-US" altLang="fr-FR"/>
          </a:p>
        </p:txBody>
      </p:sp>
      <p:sp>
        <p:nvSpPr>
          <p:cNvPr id="824324" name="Slide Number Placeholder 3">
            <a:extLst>
              <a:ext uri="{FF2B5EF4-FFF2-40B4-BE49-F238E27FC236}">
                <a16:creationId xmlns:a16="http://schemas.microsoft.com/office/drawing/2014/main" id="{D08B2C49-3031-4AFD-8B7E-A95717ED4B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6CC7C66-5A00-4D19-ACB4-198013B9CD93}"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Slide Image Placeholder 1">
            <a:extLst>
              <a:ext uri="{FF2B5EF4-FFF2-40B4-BE49-F238E27FC236}">
                <a16:creationId xmlns:a16="http://schemas.microsoft.com/office/drawing/2014/main" id="{CE148AE0-1E7A-4B0D-BC15-C9D3ED874B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6371" name="Notes Placeholder 2">
            <a:extLst>
              <a:ext uri="{FF2B5EF4-FFF2-40B4-BE49-F238E27FC236}">
                <a16:creationId xmlns:a16="http://schemas.microsoft.com/office/drawing/2014/main" id="{32B6379C-D6E7-4621-83AC-6FB19170AF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When considering my own personal health, do I also take into account the needs of the community and how my choices could affect others?</a:t>
            </a:r>
          </a:p>
          <a:p>
            <a:pPr eaLnBrk="1" hangingPunct="1">
              <a:spcBef>
                <a:spcPct val="0"/>
              </a:spcBef>
            </a:pPr>
            <a:endParaRPr lang="en-US" altLang="fr-FR"/>
          </a:p>
        </p:txBody>
      </p:sp>
      <p:sp>
        <p:nvSpPr>
          <p:cNvPr id="826372" name="Slide Number Placeholder 3">
            <a:extLst>
              <a:ext uri="{FF2B5EF4-FFF2-40B4-BE49-F238E27FC236}">
                <a16:creationId xmlns:a16="http://schemas.microsoft.com/office/drawing/2014/main" id="{C471FB28-F5F9-4E3D-866E-8F8C6C2B05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0651028-D10E-4FE8-AC16-4DAFC316B9AD}"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Slide Image Placeholder 1">
            <a:extLst>
              <a:ext uri="{FF2B5EF4-FFF2-40B4-BE49-F238E27FC236}">
                <a16:creationId xmlns:a16="http://schemas.microsoft.com/office/drawing/2014/main" id="{A812BB46-8830-4848-BB0B-3C2BE39B77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8419" name="Notes Placeholder 2">
            <a:extLst>
              <a:ext uri="{FF2B5EF4-FFF2-40B4-BE49-F238E27FC236}">
                <a16:creationId xmlns:a16="http://schemas.microsoft.com/office/drawing/2014/main" id="{9BB0663D-0954-4A6D-A3A6-5EBD2CE634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choices have I made with respect to personal hygiene, such as hand washing and staying away from contact with others when ill, have positively affected my community?</a:t>
            </a:r>
          </a:p>
        </p:txBody>
      </p:sp>
      <p:sp>
        <p:nvSpPr>
          <p:cNvPr id="828420" name="Slide Number Placeholder 3">
            <a:extLst>
              <a:ext uri="{FF2B5EF4-FFF2-40B4-BE49-F238E27FC236}">
                <a16:creationId xmlns:a16="http://schemas.microsoft.com/office/drawing/2014/main" id="{FF76711E-5335-481E-8A2B-A5E4898FC8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56C2853-3EA5-431C-8743-657B7024CAB3}"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Slide Image Placeholder 1">
            <a:extLst>
              <a:ext uri="{FF2B5EF4-FFF2-40B4-BE49-F238E27FC236}">
                <a16:creationId xmlns:a16="http://schemas.microsoft.com/office/drawing/2014/main" id="{6BAED567-B798-4A8C-833E-0BDA50B38C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0467" name="Notes Placeholder 2">
            <a:extLst>
              <a:ext uri="{FF2B5EF4-FFF2-40B4-BE49-F238E27FC236}">
                <a16:creationId xmlns:a16="http://schemas.microsoft.com/office/drawing/2014/main" id="{EE3C14B7-3C09-4A69-8ED4-1AEC706A3C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practices for my own pleasure am I ashamed of because of the negative effects they may have on someone else?</a:t>
            </a:r>
          </a:p>
          <a:p>
            <a:pPr eaLnBrk="1" hangingPunct="1">
              <a:spcBef>
                <a:spcPct val="0"/>
              </a:spcBef>
            </a:pPr>
            <a:endParaRPr lang="en-US" altLang="fr-FR"/>
          </a:p>
        </p:txBody>
      </p:sp>
      <p:sp>
        <p:nvSpPr>
          <p:cNvPr id="830468" name="Slide Number Placeholder 3">
            <a:extLst>
              <a:ext uri="{FF2B5EF4-FFF2-40B4-BE49-F238E27FC236}">
                <a16:creationId xmlns:a16="http://schemas.microsoft.com/office/drawing/2014/main" id="{CF621A7D-DECD-4730-A5BB-DA0CE6F020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652ED74-8F33-4BA0-B648-BF24A2BE72BD}"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Slide Image Placeholder 1">
            <a:extLst>
              <a:ext uri="{FF2B5EF4-FFF2-40B4-BE49-F238E27FC236}">
                <a16:creationId xmlns:a16="http://schemas.microsoft.com/office/drawing/2014/main" id="{4C63A330-F580-43A7-82BB-EC6F3E7733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2515" name="Notes Placeholder 2">
            <a:extLst>
              <a:ext uri="{FF2B5EF4-FFF2-40B4-BE49-F238E27FC236}">
                <a16:creationId xmlns:a16="http://schemas.microsoft.com/office/drawing/2014/main" id="{314AF9A8-A704-499A-8D93-9492E0440D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local church health ministries leader regularly presents lectures to the church members in which she advocates a total vegetarian diet. </a:t>
            </a:r>
          </a:p>
          <a:p>
            <a:pPr eaLnBrk="1" hangingPunct="1">
              <a:spcBef>
                <a:spcPct val="0"/>
              </a:spcBef>
            </a:pPr>
            <a:endParaRPr lang="en-US" altLang="fr-FR"/>
          </a:p>
        </p:txBody>
      </p:sp>
      <p:sp>
        <p:nvSpPr>
          <p:cNvPr id="832516" name="Slide Number Placeholder 3">
            <a:extLst>
              <a:ext uri="{FF2B5EF4-FFF2-40B4-BE49-F238E27FC236}">
                <a16:creationId xmlns:a16="http://schemas.microsoft.com/office/drawing/2014/main" id="{40A167A3-56B0-4509-8BC7-B9A635925E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1ED93FE-964A-462A-8887-C9C8138D9014}"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Slide Image Placeholder 1">
            <a:extLst>
              <a:ext uri="{FF2B5EF4-FFF2-40B4-BE49-F238E27FC236}">
                <a16:creationId xmlns:a16="http://schemas.microsoft.com/office/drawing/2014/main" id="{D6F95F18-8ED5-4ECF-B40C-E873622316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4563" name="Notes Placeholder 2">
            <a:extLst>
              <a:ext uri="{FF2B5EF4-FFF2-40B4-BE49-F238E27FC236}">
                <a16:creationId xmlns:a16="http://schemas.microsoft.com/office/drawing/2014/main" id="{F437B261-6A91-45B7-8D75-DB8B034AFAD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She also favors an organic diet, although she is aware that many of the members cannot afford the higher prices for organic foods. </a:t>
            </a:r>
          </a:p>
          <a:p>
            <a:pPr eaLnBrk="1" hangingPunct="1">
              <a:spcBef>
                <a:spcPct val="0"/>
              </a:spcBef>
            </a:pPr>
            <a:endParaRPr lang="en-US" altLang="fr-FR"/>
          </a:p>
          <a:p>
            <a:pPr eaLnBrk="1" hangingPunct="1">
              <a:spcBef>
                <a:spcPct val="0"/>
              </a:spcBef>
            </a:pPr>
            <a:endParaRPr lang="en-US" altLang="fr-FR"/>
          </a:p>
        </p:txBody>
      </p:sp>
      <p:sp>
        <p:nvSpPr>
          <p:cNvPr id="834564" name="Slide Number Placeholder 3">
            <a:extLst>
              <a:ext uri="{FF2B5EF4-FFF2-40B4-BE49-F238E27FC236}">
                <a16:creationId xmlns:a16="http://schemas.microsoft.com/office/drawing/2014/main" id="{A166EABA-C598-4066-B7ED-1EB308B82C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B7CFFDC-82A5-48B2-A947-58EC487FB531}"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Slide Image Placeholder 1">
            <a:extLst>
              <a:ext uri="{FF2B5EF4-FFF2-40B4-BE49-F238E27FC236}">
                <a16:creationId xmlns:a16="http://schemas.microsoft.com/office/drawing/2014/main" id="{F9DC0247-4D33-4C0A-BDCF-E8510BB007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6611" name="Notes Placeholder 2">
            <a:extLst>
              <a:ext uri="{FF2B5EF4-FFF2-40B4-BE49-F238E27FC236}">
                <a16:creationId xmlns:a16="http://schemas.microsoft.com/office/drawing/2014/main" id="{695BBC87-64F6-42B3-9374-72668CCB20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Sometimes, however, she invites others to go with her to an ice cream parlor where she enjoys ice cream as a </a:t>
            </a:r>
            <a:r>
              <a:rPr lang="en-US" altLang="en-US"/>
              <a:t>“</a:t>
            </a:r>
            <a:r>
              <a:rPr lang="en-US" altLang="fr-FR"/>
              <a:t>special treat.</a:t>
            </a:r>
            <a:r>
              <a:rPr lang="en-US" altLang="en-US"/>
              <a:t>”</a:t>
            </a:r>
            <a:endParaRPr lang="en-US" altLang="fr-FR"/>
          </a:p>
        </p:txBody>
      </p:sp>
      <p:sp>
        <p:nvSpPr>
          <p:cNvPr id="836612" name="Slide Number Placeholder 3">
            <a:extLst>
              <a:ext uri="{FF2B5EF4-FFF2-40B4-BE49-F238E27FC236}">
                <a16:creationId xmlns:a16="http://schemas.microsoft.com/office/drawing/2014/main" id="{DEBD6AF8-B67E-4DAA-A4D0-D040E39E7E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56BC69E-29FD-4C73-9243-AEB692B5D1F7}"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Slide Image Placeholder 1">
            <a:extLst>
              <a:ext uri="{FF2B5EF4-FFF2-40B4-BE49-F238E27FC236}">
                <a16:creationId xmlns:a16="http://schemas.microsoft.com/office/drawing/2014/main" id="{C8D1EB7D-1226-47C1-9174-9192A873D2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8659" name="Notes Placeholder 2">
            <a:extLst>
              <a:ext uri="{FF2B5EF4-FFF2-40B4-BE49-F238E27FC236}">
                <a16:creationId xmlns:a16="http://schemas.microsoft.com/office/drawing/2014/main" id="{02FF2BE5-8040-4230-B0B1-F94302F3BE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lifestyle practices do I have that may conflict with what I </a:t>
            </a:r>
            <a:r>
              <a:rPr lang="en-US" altLang="en-US"/>
              <a:t>“</a:t>
            </a:r>
            <a:r>
              <a:rPr lang="en-US" altLang="fr-FR"/>
              <a:t>preach</a:t>
            </a:r>
            <a:r>
              <a:rPr lang="en-US" altLang="en-US"/>
              <a:t>”</a:t>
            </a:r>
            <a:r>
              <a:rPr lang="en-US" altLang="fr-FR"/>
              <a:t>? Am I truly </a:t>
            </a:r>
            <a:r>
              <a:rPr lang="en-US" altLang="en-US"/>
              <a:t>“</a:t>
            </a:r>
            <a:r>
              <a:rPr lang="en-US" altLang="fr-FR"/>
              <a:t>walking the talk</a:t>
            </a:r>
            <a:r>
              <a:rPr lang="en-US" altLang="en-US"/>
              <a:t>”</a:t>
            </a:r>
            <a:r>
              <a:rPr lang="en-US" altLang="fr-FR"/>
              <a:t>? </a:t>
            </a:r>
          </a:p>
          <a:p>
            <a:pPr eaLnBrk="1" hangingPunct="1">
              <a:spcBef>
                <a:spcPct val="0"/>
              </a:spcBef>
            </a:pPr>
            <a:endParaRPr lang="en-US" altLang="fr-FR"/>
          </a:p>
        </p:txBody>
      </p:sp>
      <p:sp>
        <p:nvSpPr>
          <p:cNvPr id="838660" name="Slide Number Placeholder 3">
            <a:extLst>
              <a:ext uri="{FF2B5EF4-FFF2-40B4-BE49-F238E27FC236}">
                <a16:creationId xmlns:a16="http://schemas.microsoft.com/office/drawing/2014/main" id="{0E7EEF96-7C39-49B4-8C11-968E834BAC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89B379C-BAD9-4AE2-9743-B0DD8DF358E5}"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Slide Image Placeholder 1">
            <a:extLst>
              <a:ext uri="{FF2B5EF4-FFF2-40B4-BE49-F238E27FC236}">
                <a16:creationId xmlns:a16="http://schemas.microsoft.com/office/drawing/2014/main" id="{2F68CEE7-99BE-48A2-9E48-372D761DC8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0707" name="Notes Placeholder 2">
            <a:extLst>
              <a:ext uri="{FF2B5EF4-FFF2-40B4-BE49-F238E27FC236}">
                <a16:creationId xmlns:a16="http://schemas.microsoft.com/office/drawing/2014/main" id="{B3E46CC5-1508-426A-AF0A-D1CC86FF2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can I do to ensure that others trust what I say to them is in their best interest and not just my way of pushing my own personal beliefs? </a:t>
            </a:r>
          </a:p>
        </p:txBody>
      </p:sp>
      <p:sp>
        <p:nvSpPr>
          <p:cNvPr id="840708" name="Slide Number Placeholder 3">
            <a:extLst>
              <a:ext uri="{FF2B5EF4-FFF2-40B4-BE49-F238E27FC236}">
                <a16:creationId xmlns:a16="http://schemas.microsoft.com/office/drawing/2014/main" id="{ED36B287-37A9-432C-AC02-452E318715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113DC9A-6967-4E63-A2CC-CB9EFB80FB58}"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Slide Image Placeholder 1">
            <a:extLst>
              <a:ext uri="{FF2B5EF4-FFF2-40B4-BE49-F238E27FC236}">
                <a16:creationId xmlns:a16="http://schemas.microsoft.com/office/drawing/2014/main" id="{26E45887-BCAB-4792-9F56-3514227649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2755" name="Notes Placeholder 2">
            <a:extLst>
              <a:ext uri="{FF2B5EF4-FFF2-40B4-BE49-F238E27FC236}">
                <a16:creationId xmlns:a16="http://schemas.microsoft.com/office/drawing/2014/main" id="{A9BC7978-2126-4848-9B22-F1752104B2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Am I promoting any health practices, dietary principles, etc., that would be unsuitable for a given situation in which I am not involved?</a:t>
            </a:r>
          </a:p>
        </p:txBody>
      </p:sp>
      <p:sp>
        <p:nvSpPr>
          <p:cNvPr id="842756" name="Slide Number Placeholder 3">
            <a:extLst>
              <a:ext uri="{FF2B5EF4-FFF2-40B4-BE49-F238E27FC236}">
                <a16:creationId xmlns:a16="http://schemas.microsoft.com/office/drawing/2014/main" id="{13F0AF68-5651-4EB5-B429-1A4D20A752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C06DE0F-361F-4A19-BF5C-1FDB3B11C296}"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Slide Image Placeholder 1">
            <a:extLst>
              <a:ext uri="{FF2B5EF4-FFF2-40B4-BE49-F238E27FC236}">
                <a16:creationId xmlns:a16="http://schemas.microsoft.com/office/drawing/2014/main" id="{83DDCCDD-A692-48CB-A490-21A5F7FC56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4803" name="Notes Placeholder 2">
            <a:extLst>
              <a:ext uri="{FF2B5EF4-FFF2-40B4-BE49-F238E27FC236}">
                <a16:creationId xmlns:a16="http://schemas.microsoft.com/office/drawing/2014/main" id="{BA14E75A-11D7-4910-A3D4-A7442A7620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grant others the ability to hold their own opinions, even when I am sure I am right? </a:t>
            </a:r>
          </a:p>
          <a:p>
            <a:pPr eaLnBrk="1" hangingPunct="1">
              <a:spcBef>
                <a:spcPct val="0"/>
              </a:spcBef>
            </a:pPr>
            <a:endParaRPr lang="en-US" altLang="fr-FR"/>
          </a:p>
        </p:txBody>
      </p:sp>
      <p:sp>
        <p:nvSpPr>
          <p:cNvPr id="844804" name="Slide Number Placeholder 3">
            <a:extLst>
              <a:ext uri="{FF2B5EF4-FFF2-40B4-BE49-F238E27FC236}">
                <a16:creationId xmlns:a16="http://schemas.microsoft.com/office/drawing/2014/main" id="{FAC1EAB9-8A79-44AF-8E29-9EABCA0BF51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AFEEE23-7C04-4E8B-8705-C3B1468C16F5}"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Slide Image Placeholder 1">
            <a:extLst>
              <a:ext uri="{FF2B5EF4-FFF2-40B4-BE49-F238E27FC236}">
                <a16:creationId xmlns:a16="http://schemas.microsoft.com/office/drawing/2014/main" id="{96F22CE7-0B30-4970-9994-F5D97888E4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6851" name="Notes Placeholder 2">
            <a:extLst>
              <a:ext uri="{FF2B5EF4-FFF2-40B4-BE49-F238E27FC236}">
                <a16:creationId xmlns:a16="http://schemas.microsoft.com/office/drawing/2014/main" id="{53A57DE8-9E16-4C22-8EB7-3C30B8179B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personal choices fly in the face of evidence but are comfortable or desirable just because they are what I want to do?</a:t>
            </a:r>
          </a:p>
          <a:p>
            <a:pPr eaLnBrk="1" hangingPunct="1">
              <a:spcBef>
                <a:spcPct val="0"/>
              </a:spcBef>
            </a:pPr>
            <a:endParaRPr lang="en-US" altLang="fr-FR"/>
          </a:p>
        </p:txBody>
      </p:sp>
      <p:sp>
        <p:nvSpPr>
          <p:cNvPr id="846852" name="Slide Number Placeholder 3">
            <a:extLst>
              <a:ext uri="{FF2B5EF4-FFF2-40B4-BE49-F238E27FC236}">
                <a16:creationId xmlns:a16="http://schemas.microsoft.com/office/drawing/2014/main" id="{45448054-9F7B-4A51-ADC3-C0DDAEC0E3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0417AB8-1DDB-480C-A7B9-28916B85005C}"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Slide Image Placeholder 1">
            <a:extLst>
              <a:ext uri="{FF2B5EF4-FFF2-40B4-BE49-F238E27FC236}">
                <a16:creationId xmlns:a16="http://schemas.microsoft.com/office/drawing/2014/main" id="{A0502A19-B7E6-4281-92F2-A241F2F3A4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8899" name="Notes Placeholder 2">
            <a:extLst>
              <a:ext uri="{FF2B5EF4-FFF2-40B4-BE49-F238E27FC236}">
                <a16:creationId xmlns:a16="http://schemas.microsoft.com/office/drawing/2014/main" id="{6BC2FDA9-B934-4F28-9097-2823A5B251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evidence presented in this book have I disregarded because it would be difficult or unpleasant to have to fit certain practices into my lifestyle?</a:t>
            </a:r>
          </a:p>
          <a:p>
            <a:pPr eaLnBrk="1" hangingPunct="1">
              <a:spcBef>
                <a:spcPct val="0"/>
              </a:spcBef>
            </a:pPr>
            <a:endParaRPr lang="en-US" altLang="fr-FR"/>
          </a:p>
        </p:txBody>
      </p:sp>
      <p:sp>
        <p:nvSpPr>
          <p:cNvPr id="848900" name="Slide Number Placeholder 3">
            <a:extLst>
              <a:ext uri="{FF2B5EF4-FFF2-40B4-BE49-F238E27FC236}">
                <a16:creationId xmlns:a16="http://schemas.microsoft.com/office/drawing/2014/main" id="{0A92C244-426D-4689-A107-13F2D7F712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F014114-197C-4272-8E96-3FE563B471B2}"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Slide Image Placeholder 1">
            <a:extLst>
              <a:ext uri="{FF2B5EF4-FFF2-40B4-BE49-F238E27FC236}">
                <a16:creationId xmlns:a16="http://schemas.microsoft.com/office/drawing/2014/main" id="{54F0C8FE-5012-4782-80C3-95790AF25E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50947" name="Notes Placeholder 2">
            <a:extLst>
              <a:ext uri="{FF2B5EF4-FFF2-40B4-BE49-F238E27FC236}">
                <a16:creationId xmlns:a16="http://schemas.microsoft.com/office/drawing/2014/main" id="{09675429-C114-428C-83ED-293C4EF7B6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Have I violated my code of honor? </a:t>
            </a:r>
          </a:p>
          <a:p>
            <a:pPr eaLnBrk="1" hangingPunct="1">
              <a:spcBef>
                <a:spcPct val="0"/>
              </a:spcBef>
            </a:pPr>
            <a:r>
              <a:rPr lang="en-US" altLang="fr-FR"/>
              <a:t>Do I admit my wrongdoing? </a:t>
            </a:r>
          </a:p>
        </p:txBody>
      </p:sp>
      <p:sp>
        <p:nvSpPr>
          <p:cNvPr id="850948" name="Slide Number Placeholder 3">
            <a:extLst>
              <a:ext uri="{FF2B5EF4-FFF2-40B4-BE49-F238E27FC236}">
                <a16:creationId xmlns:a16="http://schemas.microsoft.com/office/drawing/2014/main" id="{0F03469F-428E-4748-B07E-5F453F5B71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EF3CBB7-9AF0-4094-9D7E-65621356CBE5}"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Slide Image Placeholder 1">
            <a:extLst>
              <a:ext uri="{FF2B5EF4-FFF2-40B4-BE49-F238E27FC236}">
                <a16:creationId xmlns:a16="http://schemas.microsoft.com/office/drawing/2014/main" id="{48F00A29-8EE3-4267-B444-654A645DE0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52995" name="Notes Placeholder 2">
            <a:extLst>
              <a:ext uri="{FF2B5EF4-FFF2-40B4-BE49-F238E27FC236}">
                <a16:creationId xmlns:a16="http://schemas.microsoft.com/office/drawing/2014/main" id="{CEC3F3B0-01DA-427C-83F8-8941774150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do I do with the guilt I feel because I have not lived up to my values?</a:t>
            </a:r>
          </a:p>
          <a:p>
            <a:pPr eaLnBrk="1" hangingPunct="1">
              <a:spcBef>
                <a:spcPct val="0"/>
              </a:spcBef>
            </a:pPr>
            <a:endParaRPr lang="en-US" altLang="fr-FR"/>
          </a:p>
        </p:txBody>
      </p:sp>
      <p:sp>
        <p:nvSpPr>
          <p:cNvPr id="852996" name="Slide Number Placeholder 3">
            <a:extLst>
              <a:ext uri="{FF2B5EF4-FFF2-40B4-BE49-F238E27FC236}">
                <a16:creationId xmlns:a16="http://schemas.microsoft.com/office/drawing/2014/main" id="{8694E398-C42C-4C6D-A681-A127119E81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7B8BAB5-968A-4686-9EF8-3ED7FD575654}"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Slide Image Placeholder 1">
            <a:extLst>
              <a:ext uri="{FF2B5EF4-FFF2-40B4-BE49-F238E27FC236}">
                <a16:creationId xmlns:a16="http://schemas.microsoft.com/office/drawing/2014/main" id="{0F2DF3AA-740D-40DC-BD1D-1ACC80DBE8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55043" name="Notes Placeholder 2">
            <a:extLst>
              <a:ext uri="{FF2B5EF4-FFF2-40B4-BE49-F238E27FC236}">
                <a16:creationId xmlns:a16="http://schemas.microsoft.com/office/drawing/2014/main" id="{19EDFE94-FAE7-44A4-AD92-B52B1F14FE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punish myself by dwelling on my guilt or fall into a cycle of repeating the behavior again and again? Or can I accept the mercy and forgiveness that Jesus freely offers? </a:t>
            </a:r>
          </a:p>
          <a:p>
            <a:pPr eaLnBrk="1" hangingPunct="1">
              <a:spcBef>
                <a:spcPct val="0"/>
              </a:spcBef>
            </a:pPr>
            <a:endParaRPr lang="en-US" altLang="fr-FR"/>
          </a:p>
        </p:txBody>
      </p:sp>
      <p:sp>
        <p:nvSpPr>
          <p:cNvPr id="855044" name="Slide Number Placeholder 3">
            <a:extLst>
              <a:ext uri="{FF2B5EF4-FFF2-40B4-BE49-F238E27FC236}">
                <a16:creationId xmlns:a16="http://schemas.microsoft.com/office/drawing/2014/main" id="{BC6CAD3F-2010-4B2D-98D0-48CFAB8756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BD44256-BBC2-477D-AEB5-B929BD9A9644}"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66F7E0-8403-42F0-9983-39F5226ACBC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A8217EBB-C388-4472-8C30-87E52C40C0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C8FAE59-68BA-47A0-8AEA-0E704E7B8867}"/>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F32FC98B-981A-4938-8A2B-53C864D51B0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60D7E019-3595-4DCF-A0EC-29BE214DFB6C}"/>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547140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F9969A-73A3-4BC1-A1DA-B96B4CC0AA81}"/>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AA153687-B946-43CC-B147-9093E6055A2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A731A272-B0DC-4DBA-AF19-4D11BD9C38FD}"/>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9E5FFF13-3681-4AB2-956D-333BD3B3FD07}"/>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9EA85991-FFC0-40BD-B4C2-4F2DA2E0F0C5}"/>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341098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C9F6D6-A071-48FF-8B6B-2774D9BC8C6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505110A9-9B7F-457E-8E99-9C6B10D237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C0B248F-F3E8-4C3A-BD6F-3EAC96E5506C}"/>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2FF1372F-CCAE-4142-9CB6-5998D3455678}"/>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CD0D391-5E43-4260-8066-4693FCF6FD39}"/>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282615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BD994F-53EC-4E1A-BFE5-18F2EB260EE9}"/>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0592E23C-302D-460B-B2A7-A4A82E629A6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831A3150-8C28-4555-B969-853E518D321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22883CCB-EA81-4B0E-953A-231A22C82811}"/>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6" name="Espace réservé du pied de page 5">
            <a:extLst>
              <a:ext uri="{FF2B5EF4-FFF2-40B4-BE49-F238E27FC236}">
                <a16:creationId xmlns:a16="http://schemas.microsoft.com/office/drawing/2014/main" id="{55E1169B-4775-419E-AA71-F9B0E41C991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94FB1011-0000-41A5-AC71-94E4AAD7E2C6}"/>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2213764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239541-0F30-4C6B-8099-C1AB1C4F0386}"/>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A8E33A79-A96B-4381-B506-9E51541C94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20795A0-092A-41F9-BFAB-54A9E3B8C0C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E42AB15F-509A-452F-A667-4CE9329FC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83ABADE-CC0F-4ED3-83F0-1A87A831F81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ACFE79AC-7C67-4100-AC03-5D132582418A}"/>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8" name="Espace réservé du pied de page 7">
            <a:extLst>
              <a:ext uri="{FF2B5EF4-FFF2-40B4-BE49-F238E27FC236}">
                <a16:creationId xmlns:a16="http://schemas.microsoft.com/office/drawing/2014/main" id="{30D650D4-3601-4FD2-8D76-CA77F3F9A278}"/>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CC0F363F-E60B-4D44-B43E-EB8656B2BEE7}"/>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2821468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83EABE-0BBF-4053-8EA8-8371160A202E}"/>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7309402F-7427-4E75-8802-E169E542AB6F}"/>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4" name="Espace réservé du pied de page 3">
            <a:extLst>
              <a:ext uri="{FF2B5EF4-FFF2-40B4-BE49-F238E27FC236}">
                <a16:creationId xmlns:a16="http://schemas.microsoft.com/office/drawing/2014/main" id="{1FDD02DE-15B8-4828-B3FE-D102862B7BAC}"/>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6489BDB5-BB99-43C7-870B-92CB3CF8E27F}"/>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3386333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4D1F91-8591-4180-B03D-EE0C5A5BCA02}"/>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3" name="Espace réservé du pied de page 2">
            <a:extLst>
              <a:ext uri="{FF2B5EF4-FFF2-40B4-BE49-F238E27FC236}">
                <a16:creationId xmlns:a16="http://schemas.microsoft.com/office/drawing/2014/main" id="{CB9B7DCF-EC9F-47FD-9651-6AF970FBFA3D}"/>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C892EE9B-29E5-489E-98F7-FDFA36D6DB01}"/>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222598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3B9098-183B-4D77-8805-AF26D150A2E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B4B19612-5F60-4492-9E4A-883AD10A35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51532568-14E3-4D3C-A3D3-2BA64FC8D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A97D548-DCD5-4639-A8FF-35DC8BCEE711}"/>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6" name="Espace réservé du pied de page 5">
            <a:extLst>
              <a:ext uri="{FF2B5EF4-FFF2-40B4-BE49-F238E27FC236}">
                <a16:creationId xmlns:a16="http://schemas.microsoft.com/office/drawing/2014/main" id="{24DA168D-164A-4489-A5FA-030F5184CDD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093E69A0-30CF-4FFF-8DD7-4C84FB162841}"/>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3131789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7BC2CF-DF3B-4830-8418-B7DD7E7DD15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9EBB295B-2C1E-441F-94DB-5B9089FA18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BF95FFD7-A3FD-4D88-B64C-7A2396ADD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9140F7-4D90-4E1E-8A36-74C84F1A1F0B}"/>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6" name="Espace réservé du pied de page 5">
            <a:extLst>
              <a:ext uri="{FF2B5EF4-FFF2-40B4-BE49-F238E27FC236}">
                <a16:creationId xmlns:a16="http://schemas.microsoft.com/office/drawing/2014/main" id="{D4968490-F4AD-451B-A9CA-46414736D116}"/>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E9D16270-00DF-4E8E-B0EA-53F4CEA33226}"/>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342703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E441E5-E6F1-4826-9C46-C46A9BF79963}"/>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B83C6085-C14B-4D47-84D2-65F6E247CEE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D0C2AE90-19AE-4B3D-B7C8-F368A8A375EB}"/>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79FAC450-ACFC-4BD8-A803-CA6E6961196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734831A-DB50-42CD-B4E4-D172A8E74AE3}"/>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1182148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49CE019-3140-4DE2-A10C-786F7E59DCD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B490F7B3-6B28-4A1C-8563-35B0053F652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E492A2E7-0783-4B17-BC87-A299F9236000}"/>
              </a:ext>
            </a:extLst>
          </p:cNvPr>
          <p:cNvSpPr>
            <a:spLocks noGrp="1"/>
          </p:cNvSpPr>
          <p:nvPr>
            <p:ph type="dt" sz="half" idx="10"/>
          </p:nvPr>
        </p:nvSpPr>
        <p:spPr/>
        <p:txBody>
          <a:body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8886769A-9826-4224-98C4-8497B48E6C86}"/>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3B1352D8-4001-4AA6-A418-684CF5CA728D}"/>
              </a:ext>
            </a:extLst>
          </p:cNvPr>
          <p:cNvSpPr>
            <a:spLocks noGrp="1"/>
          </p:cNvSpPr>
          <p:nvPr>
            <p:ph type="sldNum" sz="quarter" idx="12"/>
          </p:nvPr>
        </p:nvSpPr>
        <p:spPr/>
        <p:txBody>
          <a:bodyPr/>
          <a:lstStyle/>
          <a:p>
            <a:fld id="{D981766A-6D39-4611-AAA8-38EA06F2366C}" type="slidenum">
              <a:rPr lang="fr-BE" smtClean="0"/>
              <a:t>‹#›</a:t>
            </a:fld>
            <a:endParaRPr lang="fr-BE"/>
          </a:p>
        </p:txBody>
      </p:sp>
    </p:spTree>
    <p:extLst>
      <p:ext uri="{BB962C8B-B14F-4D97-AF65-F5344CB8AC3E}">
        <p14:creationId xmlns:p14="http://schemas.microsoft.com/office/powerpoint/2010/main" val="382525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2DF369B-566E-4DC0-B334-52E1F464EB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7D133174-26B5-4325-B8A7-901BE428C4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BAEA88AF-F904-48E7-AA17-0AE1683B40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14F45D-58C4-4A40-B098-006F7AC9EA2F}" type="datetimeFigureOut">
              <a:rPr lang="fr-BE" smtClean="0"/>
              <a:t>29-04-20</a:t>
            </a:fld>
            <a:endParaRPr lang="fr-BE"/>
          </a:p>
        </p:txBody>
      </p:sp>
      <p:sp>
        <p:nvSpPr>
          <p:cNvPr id="5" name="Espace réservé du pied de page 4">
            <a:extLst>
              <a:ext uri="{FF2B5EF4-FFF2-40B4-BE49-F238E27FC236}">
                <a16:creationId xmlns:a16="http://schemas.microsoft.com/office/drawing/2014/main" id="{61E07D60-DDDA-4420-9947-7F1C9BF41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63EC9371-B88C-4C52-A81B-63DA59AB89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81766A-6D39-4611-AAA8-38EA06F2366C}" type="slidenum">
              <a:rPr lang="fr-BE" smtClean="0"/>
              <a:t>‹#›</a:t>
            </a:fld>
            <a:endParaRPr lang="fr-BE"/>
          </a:p>
        </p:txBody>
      </p:sp>
    </p:spTree>
    <p:extLst>
      <p:ext uri="{BB962C8B-B14F-4D97-AF65-F5344CB8AC3E}">
        <p14:creationId xmlns:p14="http://schemas.microsoft.com/office/powerpoint/2010/main" val="2606507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Title 1">
            <a:extLst>
              <a:ext uri="{FF2B5EF4-FFF2-40B4-BE49-F238E27FC236}">
                <a16:creationId xmlns:a16="http://schemas.microsoft.com/office/drawing/2014/main" id="{64F821A0-4C24-4EA4-BB7D-F0267B00B2FE}"/>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Celebrating integrity</a:t>
            </a:r>
          </a:p>
        </p:txBody>
      </p:sp>
      <p:sp>
        <p:nvSpPr>
          <p:cNvPr id="780291" name="Footer Placeholder 3">
            <a:extLst>
              <a:ext uri="{FF2B5EF4-FFF2-40B4-BE49-F238E27FC236}">
                <a16:creationId xmlns:a16="http://schemas.microsoft.com/office/drawing/2014/main" id="{6C340808-3BCE-44A4-8EDB-FB22D84739D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80292" name="Slide Number Placeholder 4">
            <a:extLst>
              <a:ext uri="{FF2B5EF4-FFF2-40B4-BE49-F238E27FC236}">
                <a16:creationId xmlns:a16="http://schemas.microsoft.com/office/drawing/2014/main" id="{F73D5491-2736-4CBB-B386-EB6AD08ED44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a:t>
            </a:r>
          </a:p>
        </p:txBody>
      </p:sp>
      <p:pic>
        <p:nvPicPr>
          <p:cNvPr id="1026" name="Picture 2" descr="G:\For Merle\Chapter 9 - integrity\93174220.jpg">
            <a:extLst>
              <a:ext uri="{FF2B5EF4-FFF2-40B4-BE49-F238E27FC236}">
                <a16:creationId xmlns:a16="http://schemas.microsoft.com/office/drawing/2014/main" id="{93F9B79C-901E-4E05-A21E-D266B0A8207E}"/>
              </a:ext>
            </a:extLst>
          </p:cNvPr>
          <p:cNvPicPr>
            <a:picLocks noChangeAspect="1" noChangeArrowheads="1"/>
          </p:cNvPicPr>
          <p:nvPr/>
        </p:nvPicPr>
        <p:blipFill rotWithShape="1">
          <a:blip r:embed="rId3" cstate="email"/>
          <a:srcRect/>
          <a:stretch/>
        </p:blipFill>
        <p:spPr bwMode="auto">
          <a:xfrm>
            <a:off x="2133600" y="1143001"/>
            <a:ext cx="7899400" cy="5004757"/>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Title 1">
            <a:extLst>
              <a:ext uri="{FF2B5EF4-FFF2-40B4-BE49-F238E27FC236}">
                <a16:creationId xmlns:a16="http://schemas.microsoft.com/office/drawing/2014/main" id="{EACAEDAE-3A0F-48F2-BD94-C6CA40E41B3D}"/>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Transparency and trustworthiness</a:t>
            </a:r>
          </a:p>
        </p:txBody>
      </p:sp>
      <p:sp>
        <p:nvSpPr>
          <p:cNvPr id="782339" name="Footer Placeholder 3">
            <a:extLst>
              <a:ext uri="{FF2B5EF4-FFF2-40B4-BE49-F238E27FC236}">
                <a16:creationId xmlns:a16="http://schemas.microsoft.com/office/drawing/2014/main" id="{75578DF7-A2F4-460B-92F1-F91ED5B6F0E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82340" name="Slide Number Placeholder 4">
            <a:extLst>
              <a:ext uri="{FF2B5EF4-FFF2-40B4-BE49-F238E27FC236}">
                <a16:creationId xmlns:a16="http://schemas.microsoft.com/office/drawing/2014/main" id="{75FBC811-20C7-418A-B4A9-401D25CA19F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a:t>
            </a:r>
          </a:p>
        </p:txBody>
      </p:sp>
      <p:pic>
        <p:nvPicPr>
          <p:cNvPr id="782341" name="Picture 2" descr="G:\For Merle\78656024.jpg">
            <a:extLst>
              <a:ext uri="{FF2B5EF4-FFF2-40B4-BE49-F238E27FC236}">
                <a16:creationId xmlns:a16="http://schemas.microsoft.com/office/drawing/2014/main" id="{D4F19BD1-80DD-4126-A199-10A2F8A6D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4614" y="1295401"/>
            <a:ext cx="4497387"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Title 1">
            <a:extLst>
              <a:ext uri="{FF2B5EF4-FFF2-40B4-BE49-F238E27FC236}">
                <a16:creationId xmlns:a16="http://schemas.microsoft.com/office/drawing/2014/main" id="{2127AD6E-C75A-42D8-B4FD-37B43696A738}"/>
              </a:ext>
            </a:extLst>
          </p:cNvPr>
          <p:cNvSpPr>
            <a:spLocks noGrp="1" noChangeArrowheads="1"/>
          </p:cNvSpPr>
          <p:nvPr>
            <p:ph type="title"/>
          </p:nvPr>
        </p:nvSpPr>
        <p:spPr>
          <a:xfrm>
            <a:off x="1676400" y="152400"/>
            <a:ext cx="8839200" cy="1143000"/>
          </a:xfrm>
        </p:spPr>
        <p:txBody>
          <a:bodyPr/>
          <a:lstStyle/>
          <a:p>
            <a:pPr eaLnBrk="1" hangingPunct="1"/>
            <a:r>
              <a:rPr lang="en-US" altLang="en-US">
                <a:ln>
                  <a:noFill/>
                </a:ln>
              </a:rPr>
              <a:t>“</a:t>
            </a:r>
            <a:r>
              <a:rPr lang="en-US" altLang="fr-FR">
                <a:ln>
                  <a:noFill/>
                </a:ln>
              </a:rPr>
              <a:t>Honesty means…you don</a:t>
            </a:r>
            <a:r>
              <a:rPr lang="en-US" altLang="en-US">
                <a:ln>
                  <a:noFill/>
                </a:ln>
              </a:rPr>
              <a:t>’</a:t>
            </a:r>
            <a:r>
              <a:rPr lang="en-US" altLang="fr-FR">
                <a:ln>
                  <a:noFill/>
                </a:ln>
              </a:rPr>
              <a:t>t lie?</a:t>
            </a:r>
            <a:r>
              <a:rPr lang="en-US" altLang="en-US">
                <a:ln>
                  <a:noFill/>
                </a:ln>
              </a:rPr>
              <a:t>”</a:t>
            </a:r>
            <a:endParaRPr lang="en-US" altLang="fr-FR">
              <a:ln>
                <a:noFill/>
              </a:ln>
            </a:endParaRPr>
          </a:p>
        </p:txBody>
      </p:sp>
      <p:sp>
        <p:nvSpPr>
          <p:cNvPr id="784387" name="Footer Placeholder 3">
            <a:extLst>
              <a:ext uri="{FF2B5EF4-FFF2-40B4-BE49-F238E27FC236}">
                <a16:creationId xmlns:a16="http://schemas.microsoft.com/office/drawing/2014/main" id="{72681EDD-2E8F-48FE-A82D-5397E13CB4B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84388" name="Slide Number Placeholder 4">
            <a:extLst>
              <a:ext uri="{FF2B5EF4-FFF2-40B4-BE49-F238E27FC236}">
                <a16:creationId xmlns:a16="http://schemas.microsoft.com/office/drawing/2014/main" id="{2F88CCD9-DF12-41C0-BD61-1DB5CF99CF7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4</a:t>
            </a:r>
          </a:p>
        </p:txBody>
      </p:sp>
      <p:pic>
        <p:nvPicPr>
          <p:cNvPr id="784389" name="Picture 2" descr="C:\Users\thomasn\Downloads\137375496.jpg">
            <a:extLst>
              <a:ext uri="{FF2B5EF4-FFF2-40B4-BE49-F238E27FC236}">
                <a16:creationId xmlns:a16="http://schemas.microsoft.com/office/drawing/2014/main" id="{C0A79CD9-BAA8-40BC-9C51-9102B33B53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143000"/>
            <a:ext cx="70104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Footer Placeholder 3">
            <a:extLst>
              <a:ext uri="{FF2B5EF4-FFF2-40B4-BE49-F238E27FC236}">
                <a16:creationId xmlns:a16="http://schemas.microsoft.com/office/drawing/2014/main" id="{F7D8975B-A37D-463B-9D02-C1130CE1D59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86435" name="Slide Number Placeholder 4">
            <a:extLst>
              <a:ext uri="{FF2B5EF4-FFF2-40B4-BE49-F238E27FC236}">
                <a16:creationId xmlns:a16="http://schemas.microsoft.com/office/drawing/2014/main" id="{EB689FB9-9A1F-4F1E-AC53-4088883C63E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5</a:t>
            </a:r>
          </a:p>
        </p:txBody>
      </p:sp>
      <p:pic>
        <p:nvPicPr>
          <p:cNvPr id="786436" name="Picture 2">
            <a:extLst>
              <a:ext uri="{FF2B5EF4-FFF2-40B4-BE49-F238E27FC236}">
                <a16:creationId xmlns:a16="http://schemas.microsoft.com/office/drawing/2014/main" id="{ED62FCD9-38A4-4117-88C5-A0CA20D7541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0025" y="914401"/>
            <a:ext cx="671195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6437" name="Picture 3">
            <a:extLst>
              <a:ext uri="{FF2B5EF4-FFF2-40B4-BE49-F238E27FC236}">
                <a16:creationId xmlns:a16="http://schemas.microsoft.com/office/drawing/2014/main" id="{1E1155D7-5491-4F8C-91B1-F90109979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1" y="5486400"/>
            <a:ext cx="1706563"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6438" name="Rectangle 5">
            <a:extLst>
              <a:ext uri="{FF2B5EF4-FFF2-40B4-BE49-F238E27FC236}">
                <a16:creationId xmlns:a16="http://schemas.microsoft.com/office/drawing/2014/main" id="{80D3BDB0-67C6-4679-A8B1-F4FEE8ED3CA5}"/>
              </a:ext>
            </a:extLst>
          </p:cNvPr>
          <p:cNvSpPr>
            <a:spLocks noChangeArrowheads="1"/>
          </p:cNvSpPr>
          <p:nvPr/>
        </p:nvSpPr>
        <p:spPr bwMode="auto">
          <a:xfrm>
            <a:off x="7086600" y="5543550"/>
            <a:ext cx="170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1800">
                <a:solidFill>
                  <a:schemeClr val="tx1"/>
                </a:solidFill>
                <a:latin typeface="Calibri" panose="020F0502020204030204" pitchFamily="34" charset="0"/>
                <a:ea typeface="MS PGothic" panose="020B0600070205080204" pitchFamily="34" charset="-128"/>
                <a:cs typeface="Arial" panose="020B0604020202020204" pitchFamily="34" charset="0"/>
              </a:rPr>
              <a:t>Hillary &amp; Norgay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Footer Placeholder 3">
            <a:extLst>
              <a:ext uri="{FF2B5EF4-FFF2-40B4-BE49-F238E27FC236}">
                <a16:creationId xmlns:a16="http://schemas.microsoft.com/office/drawing/2014/main" id="{0F75E9A6-710F-4C81-9072-680001D45CF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88483" name="Slide Number Placeholder 4">
            <a:extLst>
              <a:ext uri="{FF2B5EF4-FFF2-40B4-BE49-F238E27FC236}">
                <a16:creationId xmlns:a16="http://schemas.microsoft.com/office/drawing/2014/main" id="{92A9E760-7717-4194-A51B-576D526E32C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6</a:t>
            </a:r>
          </a:p>
        </p:txBody>
      </p:sp>
      <p:pic>
        <p:nvPicPr>
          <p:cNvPr id="788484" name="Picture 2">
            <a:extLst>
              <a:ext uri="{FF2B5EF4-FFF2-40B4-BE49-F238E27FC236}">
                <a16:creationId xmlns:a16="http://schemas.microsoft.com/office/drawing/2014/main" id="{F723FF37-77CD-447F-A60E-F8C57BA881F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1" y="914401"/>
            <a:ext cx="6710363"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8485" name="Picture 3">
            <a:extLst>
              <a:ext uri="{FF2B5EF4-FFF2-40B4-BE49-F238E27FC236}">
                <a16:creationId xmlns:a16="http://schemas.microsoft.com/office/drawing/2014/main" id="{F2A99D36-E45A-475D-9BE2-2B4D8661D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1" y="5486400"/>
            <a:ext cx="1706563"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486" name="Rectangle 5">
            <a:extLst>
              <a:ext uri="{FF2B5EF4-FFF2-40B4-BE49-F238E27FC236}">
                <a16:creationId xmlns:a16="http://schemas.microsoft.com/office/drawing/2014/main" id="{269612D9-EE10-486F-84A4-2F3EADBC3827}"/>
              </a:ext>
            </a:extLst>
          </p:cNvPr>
          <p:cNvSpPr>
            <a:spLocks noChangeArrowheads="1"/>
          </p:cNvSpPr>
          <p:nvPr/>
        </p:nvSpPr>
        <p:spPr bwMode="auto">
          <a:xfrm>
            <a:off x="7086600" y="5543550"/>
            <a:ext cx="170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1800">
                <a:solidFill>
                  <a:schemeClr val="tx1"/>
                </a:solidFill>
                <a:latin typeface="Calibri" panose="020F0502020204030204" pitchFamily="34" charset="0"/>
                <a:ea typeface="MS PGothic" panose="020B0600070205080204" pitchFamily="34" charset="-128"/>
                <a:cs typeface="Arial" panose="020B0604020202020204" pitchFamily="34" charset="0"/>
              </a:rPr>
              <a:t>Hillary &amp; Norgay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Title 1">
            <a:extLst>
              <a:ext uri="{FF2B5EF4-FFF2-40B4-BE49-F238E27FC236}">
                <a16:creationId xmlns:a16="http://schemas.microsoft.com/office/drawing/2014/main" id="{D25F2474-47D2-43B3-984E-F24FB08A75E2}"/>
              </a:ext>
            </a:extLst>
          </p:cNvPr>
          <p:cNvSpPr>
            <a:spLocks noGrp="1" noChangeArrowheads="1"/>
          </p:cNvSpPr>
          <p:nvPr>
            <p:ph type="title"/>
          </p:nvPr>
        </p:nvSpPr>
        <p:spPr>
          <a:xfrm>
            <a:off x="1524000" y="152400"/>
            <a:ext cx="9144000" cy="1143000"/>
          </a:xfrm>
        </p:spPr>
        <p:txBody>
          <a:bodyPr/>
          <a:lstStyle/>
          <a:p>
            <a:pPr eaLnBrk="1" hangingPunct="1"/>
            <a:r>
              <a:rPr lang="en-US" altLang="fr-FR">
                <a:ln>
                  <a:noFill/>
                </a:ln>
              </a:rPr>
              <a:t>Integrity and public health</a:t>
            </a:r>
          </a:p>
        </p:txBody>
      </p:sp>
      <p:sp>
        <p:nvSpPr>
          <p:cNvPr id="790531" name="Footer Placeholder 3">
            <a:extLst>
              <a:ext uri="{FF2B5EF4-FFF2-40B4-BE49-F238E27FC236}">
                <a16:creationId xmlns:a16="http://schemas.microsoft.com/office/drawing/2014/main" id="{7161CBE4-5575-44AF-937B-3686027569B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0532" name="Slide Number Placeholder 4">
            <a:extLst>
              <a:ext uri="{FF2B5EF4-FFF2-40B4-BE49-F238E27FC236}">
                <a16:creationId xmlns:a16="http://schemas.microsoft.com/office/drawing/2014/main" id="{D61DC49A-A1E7-493D-A261-67F337A78CD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7</a:t>
            </a:r>
          </a:p>
        </p:txBody>
      </p:sp>
      <p:pic>
        <p:nvPicPr>
          <p:cNvPr id="790533" name="Picture 3" descr="G:\For Merle\Chapter 9 - integrity\Low Res\cropped 91596248.jpg">
            <a:extLst>
              <a:ext uri="{FF2B5EF4-FFF2-40B4-BE49-F238E27FC236}">
                <a16:creationId xmlns:a16="http://schemas.microsoft.com/office/drawing/2014/main" id="{FE84488D-3C02-4470-A5B0-C49382AF76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3800" y="160020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4" name="Picture 4" descr="G:\For Merle\Chapter 9 - integrity\Low Res\cropped 99490427.jpg">
            <a:extLst>
              <a:ext uri="{FF2B5EF4-FFF2-40B4-BE49-F238E27FC236}">
                <a16:creationId xmlns:a16="http://schemas.microsoft.com/office/drawing/2014/main" id="{86479BCE-3739-48DC-834E-04C3BAA76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60020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5" name="Picture 5" descr="G:\For Merle\Chapter 9 - integrity\Low Res\cropped 200280784-001.jpg">
            <a:extLst>
              <a:ext uri="{FF2B5EF4-FFF2-40B4-BE49-F238E27FC236}">
                <a16:creationId xmlns:a16="http://schemas.microsoft.com/office/drawing/2014/main" id="{60E7E53F-A05C-4BCD-B094-50AAD65B39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0" y="160020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6" name="Picture 6" descr="G:\For Merle\Chapter 9 - integrity\Low Res\cropped 140458469.jpg">
            <a:extLst>
              <a:ext uri="{FF2B5EF4-FFF2-40B4-BE49-F238E27FC236}">
                <a16:creationId xmlns:a16="http://schemas.microsoft.com/office/drawing/2014/main" id="{1270B9F7-686A-4602-90A3-F261FF29A8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60020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7" name="Picture 7" descr="G:\For Merle\Chapter 9 - integrity\Low Res\cropped 200364729-001.jpg">
            <a:extLst>
              <a:ext uri="{FF2B5EF4-FFF2-40B4-BE49-F238E27FC236}">
                <a16:creationId xmlns:a16="http://schemas.microsoft.com/office/drawing/2014/main" id="{51C5462D-AC12-4A37-933E-C5E11BA3AA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96875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8" name="Picture 8" descr="G:\For Merle\Chapter 9 - integrity\Low Res\cropped 86532689.jpg">
            <a:extLst>
              <a:ext uri="{FF2B5EF4-FFF2-40B4-BE49-F238E27FC236}">
                <a16:creationId xmlns:a16="http://schemas.microsoft.com/office/drawing/2014/main" id="{39FA849F-BBCD-403B-A4B0-625ADEF071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396875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39" name="Picture 9" descr="G:\For Merle\Chapter 9 - integrity\Low Res\cropped LS019911.jpg">
            <a:extLst>
              <a:ext uri="{FF2B5EF4-FFF2-40B4-BE49-F238E27FC236}">
                <a16:creationId xmlns:a16="http://schemas.microsoft.com/office/drawing/2014/main" id="{5D1A00C1-844B-48BB-907B-D730B4759A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73800" y="396875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540" name="Picture 10" descr="G:\For Merle\Chapter 9 - integrity\Low Res\cropped AA044069.jpg">
            <a:extLst>
              <a:ext uri="{FF2B5EF4-FFF2-40B4-BE49-F238E27FC236}">
                <a16:creationId xmlns:a16="http://schemas.microsoft.com/office/drawing/2014/main" id="{41F4C2FF-48A7-446B-A868-AC364724C31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07400" y="3968750"/>
            <a:ext cx="1879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Footer Placeholder 3">
            <a:extLst>
              <a:ext uri="{FF2B5EF4-FFF2-40B4-BE49-F238E27FC236}">
                <a16:creationId xmlns:a16="http://schemas.microsoft.com/office/drawing/2014/main" id="{1C0EC76A-4D4F-4AA3-A9FE-6CD8DA1734A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2579" name="Slide Number Placeholder 4">
            <a:extLst>
              <a:ext uri="{FF2B5EF4-FFF2-40B4-BE49-F238E27FC236}">
                <a16:creationId xmlns:a16="http://schemas.microsoft.com/office/drawing/2014/main" id="{E0217802-4B7F-4DC6-BC37-7C1F6067393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8</a:t>
            </a:r>
          </a:p>
        </p:txBody>
      </p:sp>
      <p:pic>
        <p:nvPicPr>
          <p:cNvPr id="792580" name="Picture 3">
            <a:extLst>
              <a:ext uri="{FF2B5EF4-FFF2-40B4-BE49-F238E27FC236}">
                <a16:creationId xmlns:a16="http://schemas.microsoft.com/office/drawing/2014/main" id="{81FC4B21-F0AE-4E73-A962-073EA5400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547814"/>
            <a:ext cx="8382000" cy="424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2581" name="TextBox 5">
            <a:extLst>
              <a:ext uri="{FF2B5EF4-FFF2-40B4-BE49-F238E27FC236}">
                <a16:creationId xmlns:a16="http://schemas.microsoft.com/office/drawing/2014/main" id="{3ACFB41F-35BD-4C98-A1D7-56CB55F463BF}"/>
              </a:ext>
            </a:extLst>
          </p:cNvPr>
          <p:cNvSpPr txBox="1">
            <a:spLocks noChangeArrowheads="1"/>
          </p:cNvSpPr>
          <p:nvPr/>
        </p:nvSpPr>
        <p:spPr bwMode="auto">
          <a:xfrm>
            <a:off x="1524000" y="381001"/>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Integrity and public health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Title 1">
            <a:extLst>
              <a:ext uri="{FF2B5EF4-FFF2-40B4-BE49-F238E27FC236}">
                <a16:creationId xmlns:a16="http://schemas.microsoft.com/office/drawing/2014/main" id="{A4618623-EC46-4B45-921E-F2B5DACCA701}"/>
              </a:ext>
            </a:extLst>
          </p:cNvPr>
          <p:cNvSpPr>
            <a:spLocks noGrp="1" noChangeArrowheads="1"/>
          </p:cNvSpPr>
          <p:nvPr>
            <p:ph type="title"/>
          </p:nvPr>
        </p:nvSpPr>
        <p:spPr>
          <a:xfrm>
            <a:off x="1524000" y="152400"/>
            <a:ext cx="9144000" cy="1143000"/>
          </a:xfrm>
        </p:spPr>
        <p:txBody>
          <a:bodyPr>
            <a:normAutofit fontScale="90000"/>
          </a:bodyPr>
          <a:lstStyle/>
          <a:p>
            <a:pPr eaLnBrk="1" hangingPunct="1"/>
            <a:r>
              <a:rPr lang="en-US" altLang="fr-FR">
                <a:ln>
                  <a:noFill/>
                </a:ln>
              </a:rPr>
              <a:t>Effects of immunization on public health</a:t>
            </a:r>
          </a:p>
        </p:txBody>
      </p:sp>
      <p:sp>
        <p:nvSpPr>
          <p:cNvPr id="794627" name="Footer Placeholder 3">
            <a:extLst>
              <a:ext uri="{FF2B5EF4-FFF2-40B4-BE49-F238E27FC236}">
                <a16:creationId xmlns:a16="http://schemas.microsoft.com/office/drawing/2014/main" id="{6DD23D6F-7D17-4F70-B354-71E92BB0245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4628" name="Slide Number Placeholder 4">
            <a:extLst>
              <a:ext uri="{FF2B5EF4-FFF2-40B4-BE49-F238E27FC236}">
                <a16:creationId xmlns:a16="http://schemas.microsoft.com/office/drawing/2014/main" id="{649132CB-B04B-40A9-8519-1B11C2E657B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9</a:t>
            </a:r>
          </a:p>
        </p:txBody>
      </p:sp>
      <p:pic>
        <p:nvPicPr>
          <p:cNvPr id="794629" name="Picture 2" descr="C:\Users\thomasn\Downloads\119836492.jpg">
            <a:extLst>
              <a:ext uri="{FF2B5EF4-FFF2-40B4-BE49-F238E27FC236}">
                <a16:creationId xmlns:a16="http://schemas.microsoft.com/office/drawing/2014/main" id="{C675BDF5-34EC-4BF9-ADC2-70C559E56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066800"/>
            <a:ext cx="6737350" cy="51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Title 1">
            <a:extLst>
              <a:ext uri="{FF2B5EF4-FFF2-40B4-BE49-F238E27FC236}">
                <a16:creationId xmlns:a16="http://schemas.microsoft.com/office/drawing/2014/main" id="{F607CFA2-596B-4D6B-B09C-1EC645FFEBE0}"/>
              </a:ext>
            </a:extLst>
          </p:cNvPr>
          <p:cNvSpPr>
            <a:spLocks noGrp="1" noChangeArrowheads="1"/>
          </p:cNvSpPr>
          <p:nvPr>
            <p:ph type="title"/>
          </p:nvPr>
        </p:nvSpPr>
        <p:spPr>
          <a:xfrm>
            <a:off x="1828800" y="457200"/>
            <a:ext cx="8458200" cy="1143000"/>
          </a:xfrm>
        </p:spPr>
        <p:txBody>
          <a:bodyPr/>
          <a:lstStyle/>
          <a:p>
            <a:pPr eaLnBrk="1" hangingPunct="1"/>
            <a:r>
              <a:rPr lang="en-US" altLang="fr-FR" sz="3200">
                <a:latin typeface="Arial" panose="020B0604020202020204" pitchFamily="34" charset="0"/>
                <a:cs typeface="Arial" panose="020B0604020202020204" pitchFamily="34" charset="0"/>
              </a:rPr>
              <a:t>It</a:t>
            </a:r>
            <a:r>
              <a:rPr lang="en-US" altLang="en-US" sz="3200">
                <a:latin typeface="Arial" panose="020B0604020202020204" pitchFamily="34" charset="0"/>
                <a:cs typeface="Arial" panose="020B0604020202020204" pitchFamily="34" charset="0"/>
              </a:rPr>
              <a:t>’</a:t>
            </a:r>
            <a:r>
              <a:rPr lang="en-US" altLang="fr-FR" sz="3200">
                <a:latin typeface="Arial" panose="020B0604020202020204" pitchFamily="34" charset="0"/>
                <a:cs typeface="Arial" panose="020B0604020202020204" pitchFamily="34" charset="0"/>
              </a:rPr>
              <a:t>s a matter of integrity to balance personal biases and desires against community needs</a:t>
            </a:r>
          </a:p>
        </p:txBody>
      </p:sp>
      <p:sp>
        <p:nvSpPr>
          <p:cNvPr id="796675" name="Footer Placeholder 3">
            <a:extLst>
              <a:ext uri="{FF2B5EF4-FFF2-40B4-BE49-F238E27FC236}">
                <a16:creationId xmlns:a16="http://schemas.microsoft.com/office/drawing/2014/main" id="{441B1C62-6E08-4D55-8807-9A8338BEFCD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6676" name="Slide Number Placeholder 4">
            <a:extLst>
              <a:ext uri="{FF2B5EF4-FFF2-40B4-BE49-F238E27FC236}">
                <a16:creationId xmlns:a16="http://schemas.microsoft.com/office/drawing/2014/main" id="{83ED979A-C958-4DAF-B7CE-7FA727BAC05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10</a:t>
            </a:r>
          </a:p>
        </p:txBody>
      </p:sp>
      <p:pic>
        <p:nvPicPr>
          <p:cNvPr id="796677" name="Picture 2" descr="G:\For Merle\Chapter 9 - integrity\Low Res\115870869.jpg">
            <a:extLst>
              <a:ext uri="{FF2B5EF4-FFF2-40B4-BE49-F238E27FC236}">
                <a16:creationId xmlns:a16="http://schemas.microsoft.com/office/drawing/2014/main" id="{6E4D8C5B-063C-4E1B-87AA-C0E824358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057401"/>
            <a:ext cx="7086600" cy="391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Title 1">
            <a:extLst>
              <a:ext uri="{FF2B5EF4-FFF2-40B4-BE49-F238E27FC236}">
                <a16:creationId xmlns:a16="http://schemas.microsoft.com/office/drawing/2014/main" id="{D7A2E8AD-4283-4BAF-8462-4AF42FFF8D6A}"/>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Ensure that all have a voice</a:t>
            </a:r>
          </a:p>
        </p:txBody>
      </p:sp>
      <p:sp>
        <p:nvSpPr>
          <p:cNvPr id="798723" name="Footer Placeholder 3">
            <a:extLst>
              <a:ext uri="{FF2B5EF4-FFF2-40B4-BE49-F238E27FC236}">
                <a16:creationId xmlns:a16="http://schemas.microsoft.com/office/drawing/2014/main" id="{BF1373D2-DF8A-4F1B-B741-001FED3DF73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8724" name="Slide Number Placeholder 4">
            <a:extLst>
              <a:ext uri="{FF2B5EF4-FFF2-40B4-BE49-F238E27FC236}">
                <a16:creationId xmlns:a16="http://schemas.microsoft.com/office/drawing/2014/main" id="{FADA3D24-D4E0-4FC7-9E72-FD7A2EBF73A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11</a:t>
            </a:r>
          </a:p>
        </p:txBody>
      </p:sp>
      <p:pic>
        <p:nvPicPr>
          <p:cNvPr id="798725" name="Picture 2" descr="C:\Users\thomasn\Downloads\148440946.jpg">
            <a:extLst>
              <a:ext uri="{FF2B5EF4-FFF2-40B4-BE49-F238E27FC236}">
                <a16:creationId xmlns:a16="http://schemas.microsoft.com/office/drawing/2014/main" id="{E7C163F0-3EB7-4B13-A745-63DAA596F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95400"/>
            <a:ext cx="8034338"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Title 1">
            <a:extLst>
              <a:ext uri="{FF2B5EF4-FFF2-40B4-BE49-F238E27FC236}">
                <a16:creationId xmlns:a16="http://schemas.microsoft.com/office/drawing/2014/main" id="{15709726-1301-4FEC-9B82-04155DF775F1}"/>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Integrity and personal health</a:t>
            </a:r>
          </a:p>
        </p:txBody>
      </p:sp>
      <p:sp>
        <p:nvSpPr>
          <p:cNvPr id="800771" name="Footer Placeholder 3">
            <a:extLst>
              <a:ext uri="{FF2B5EF4-FFF2-40B4-BE49-F238E27FC236}">
                <a16:creationId xmlns:a16="http://schemas.microsoft.com/office/drawing/2014/main" id="{99FA7987-006D-4774-B040-71FEBD1389C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00772" name="Slide Number Placeholder 4">
            <a:extLst>
              <a:ext uri="{FF2B5EF4-FFF2-40B4-BE49-F238E27FC236}">
                <a16:creationId xmlns:a16="http://schemas.microsoft.com/office/drawing/2014/main" id="{75F254A2-99E5-4CD8-AD06-496D55CD0CF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12</a:t>
            </a:r>
          </a:p>
        </p:txBody>
      </p:sp>
      <p:pic>
        <p:nvPicPr>
          <p:cNvPr id="800773" name="Picture 2" descr="G:\For Merle\Chapter 9 - integrity\Low Res\dv755010.jpg">
            <a:extLst>
              <a:ext uri="{FF2B5EF4-FFF2-40B4-BE49-F238E27FC236}">
                <a16:creationId xmlns:a16="http://schemas.microsoft.com/office/drawing/2014/main" id="{E3D4515F-68D4-4E12-8D20-13E9EDAC7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125538"/>
            <a:ext cx="64008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Title 1">
            <a:extLst>
              <a:ext uri="{FF2B5EF4-FFF2-40B4-BE49-F238E27FC236}">
                <a16:creationId xmlns:a16="http://schemas.microsoft.com/office/drawing/2014/main" id="{DCEBF1FE-7868-49AA-A2A8-1F966AA2D7AB}"/>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Act on principles, not opinions</a:t>
            </a:r>
          </a:p>
        </p:txBody>
      </p:sp>
      <p:sp>
        <p:nvSpPr>
          <p:cNvPr id="802819" name="Footer Placeholder 3">
            <a:extLst>
              <a:ext uri="{FF2B5EF4-FFF2-40B4-BE49-F238E27FC236}">
                <a16:creationId xmlns:a16="http://schemas.microsoft.com/office/drawing/2014/main" id="{7D00B85A-9204-43A5-8E63-22E0EBE4B21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02820" name="Slide Number Placeholder 4">
            <a:extLst>
              <a:ext uri="{FF2B5EF4-FFF2-40B4-BE49-F238E27FC236}">
                <a16:creationId xmlns:a16="http://schemas.microsoft.com/office/drawing/2014/main" id="{FFA1A9B1-F381-423A-8641-3BEB40E4A2C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13</a:t>
            </a:r>
          </a:p>
        </p:txBody>
      </p:sp>
      <p:pic>
        <p:nvPicPr>
          <p:cNvPr id="802821" name="Picture 3" descr="G:\For Merle\Chapter 9 - integrity\Low Res\79166808.jpg">
            <a:extLst>
              <a:ext uri="{FF2B5EF4-FFF2-40B4-BE49-F238E27FC236}">
                <a16:creationId xmlns:a16="http://schemas.microsoft.com/office/drawing/2014/main" id="{77312BF0-07E3-4546-A262-20970BAB2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1143000"/>
            <a:ext cx="6342063" cy="504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Title 1">
            <a:extLst>
              <a:ext uri="{FF2B5EF4-FFF2-40B4-BE49-F238E27FC236}">
                <a16:creationId xmlns:a16="http://schemas.microsoft.com/office/drawing/2014/main" id="{2EFDF75E-CB6B-400D-84AE-DE3428D6CBBF}"/>
              </a:ext>
            </a:extLst>
          </p:cNvPr>
          <p:cNvSpPr>
            <a:spLocks noGrp="1" noChangeArrowheads="1"/>
          </p:cNvSpPr>
          <p:nvPr>
            <p:ph type="title"/>
          </p:nvPr>
        </p:nvSpPr>
        <p:spPr>
          <a:xfrm>
            <a:off x="1981200" y="304800"/>
            <a:ext cx="8229600" cy="1143000"/>
          </a:xfrm>
        </p:spPr>
        <p:txBody>
          <a:bodyPr>
            <a:normAutofit fontScale="90000"/>
          </a:bodyPr>
          <a:lstStyle/>
          <a:p>
            <a:pPr eaLnBrk="1" hangingPunct="1"/>
            <a:r>
              <a:rPr lang="en-US" altLang="fr-FR">
                <a:ln>
                  <a:noFill/>
                </a:ln>
              </a:rPr>
              <a:t>Michelangelo … </a:t>
            </a:r>
            <a:r>
              <a:rPr lang="en-US" altLang="en-US">
                <a:ln>
                  <a:noFill/>
                </a:ln>
              </a:rPr>
              <a:t>“</a:t>
            </a:r>
            <a:r>
              <a:rPr lang="en-US" altLang="fr-FR">
                <a:ln>
                  <a:noFill/>
                </a:ln>
              </a:rPr>
              <a:t>the world</a:t>
            </a:r>
            <a:r>
              <a:rPr lang="en-US" altLang="en-US">
                <a:ln>
                  <a:noFill/>
                </a:ln>
              </a:rPr>
              <a:t>’</a:t>
            </a:r>
            <a:r>
              <a:rPr lang="en-US" altLang="fr-FR">
                <a:ln>
                  <a:noFill/>
                </a:ln>
              </a:rPr>
              <a:t>s frivolities</a:t>
            </a:r>
            <a:br>
              <a:rPr lang="en-US" altLang="fr-FR">
                <a:ln>
                  <a:noFill/>
                </a:ln>
              </a:rPr>
            </a:br>
            <a:r>
              <a:rPr lang="en-US" altLang="fr-FR">
                <a:ln>
                  <a:noFill/>
                </a:ln>
              </a:rPr>
              <a:t>have robbed me</a:t>
            </a:r>
            <a:r>
              <a:rPr lang="en-US" altLang="en-US">
                <a:ln>
                  <a:noFill/>
                </a:ln>
              </a:rPr>
              <a:t>”</a:t>
            </a:r>
            <a:r>
              <a:rPr lang="en-US" altLang="fr-FR">
                <a:ln>
                  <a:noFill/>
                </a:ln>
              </a:rPr>
              <a:t>…</a:t>
            </a:r>
          </a:p>
        </p:txBody>
      </p:sp>
      <p:sp>
        <p:nvSpPr>
          <p:cNvPr id="804867" name="Footer Placeholder 3">
            <a:extLst>
              <a:ext uri="{FF2B5EF4-FFF2-40B4-BE49-F238E27FC236}">
                <a16:creationId xmlns:a16="http://schemas.microsoft.com/office/drawing/2014/main" id="{68527D65-437F-4E6A-86D6-C8B3ED18BD1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04868" name="Slide Number Placeholder 4">
            <a:extLst>
              <a:ext uri="{FF2B5EF4-FFF2-40B4-BE49-F238E27FC236}">
                <a16:creationId xmlns:a16="http://schemas.microsoft.com/office/drawing/2014/main" id="{4AC03E7B-CB2C-4711-AF49-7D74697B8A0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14</a:t>
            </a:r>
          </a:p>
        </p:txBody>
      </p:sp>
      <p:pic>
        <p:nvPicPr>
          <p:cNvPr id="804869" name="Picture 2" descr="C:\Users\thomasn\Downloads\96888136.jpg">
            <a:extLst>
              <a:ext uri="{FF2B5EF4-FFF2-40B4-BE49-F238E27FC236}">
                <a16:creationId xmlns:a16="http://schemas.microsoft.com/office/drawing/2014/main" id="{33239539-6696-4231-B7C7-C7E5075E9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600200"/>
            <a:ext cx="6858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Title 1">
            <a:extLst>
              <a:ext uri="{FF2B5EF4-FFF2-40B4-BE49-F238E27FC236}">
                <a16:creationId xmlns:a16="http://schemas.microsoft.com/office/drawing/2014/main" id="{169E19D4-B70D-4F06-804C-A201B06BA5A8}"/>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They ignored the dangers</a:t>
            </a:r>
          </a:p>
        </p:txBody>
      </p:sp>
      <p:sp>
        <p:nvSpPr>
          <p:cNvPr id="806915" name="Footer Placeholder 3">
            <a:extLst>
              <a:ext uri="{FF2B5EF4-FFF2-40B4-BE49-F238E27FC236}">
                <a16:creationId xmlns:a16="http://schemas.microsoft.com/office/drawing/2014/main" id="{949945FA-220C-4C1A-BF68-2F4BDDEC5ED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06916" name="Slide Number Placeholder 4">
            <a:extLst>
              <a:ext uri="{FF2B5EF4-FFF2-40B4-BE49-F238E27FC236}">
                <a16:creationId xmlns:a16="http://schemas.microsoft.com/office/drawing/2014/main" id="{26FD437B-E816-4CF1-9728-12063ED80E4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15</a:t>
            </a:r>
          </a:p>
        </p:txBody>
      </p:sp>
      <p:pic>
        <p:nvPicPr>
          <p:cNvPr id="806917" name="Picture 2" descr="C:\Users\thomasn\Pictures\Thinkstock hmpix4\Thinkstock Nancy\objects, maps, books\87776806.jpg">
            <a:extLst>
              <a:ext uri="{FF2B5EF4-FFF2-40B4-BE49-F238E27FC236}">
                <a16:creationId xmlns:a16="http://schemas.microsoft.com/office/drawing/2014/main" id="{D1BDE0EA-0388-44A9-B3F8-11E1A7F55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68413"/>
            <a:ext cx="7467600"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Title 1">
            <a:extLst>
              <a:ext uri="{FF2B5EF4-FFF2-40B4-BE49-F238E27FC236}">
                <a16:creationId xmlns:a16="http://schemas.microsoft.com/office/drawing/2014/main" id="{B3703EB4-36BC-48D9-BDCE-782620DDD27D}"/>
              </a:ext>
            </a:extLst>
          </p:cNvPr>
          <p:cNvSpPr>
            <a:spLocks noGrp="1" noChangeArrowheads="1"/>
          </p:cNvSpPr>
          <p:nvPr>
            <p:ph type="title"/>
          </p:nvPr>
        </p:nvSpPr>
        <p:spPr>
          <a:xfrm>
            <a:off x="1524000" y="152400"/>
            <a:ext cx="9144000" cy="1143000"/>
          </a:xfrm>
        </p:spPr>
        <p:txBody>
          <a:bodyPr/>
          <a:lstStyle/>
          <a:p>
            <a:pPr eaLnBrk="1" hangingPunct="1"/>
            <a:r>
              <a:rPr lang="en-US" altLang="fr-FR">
                <a:ln>
                  <a:noFill/>
                </a:ln>
              </a:rPr>
              <a:t>Integrity can help us avoid problems</a:t>
            </a:r>
          </a:p>
        </p:txBody>
      </p:sp>
      <p:sp>
        <p:nvSpPr>
          <p:cNvPr id="808963" name="Footer Placeholder 3">
            <a:extLst>
              <a:ext uri="{FF2B5EF4-FFF2-40B4-BE49-F238E27FC236}">
                <a16:creationId xmlns:a16="http://schemas.microsoft.com/office/drawing/2014/main" id="{B855AC71-3C79-446D-8BE0-E25601B0F82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08964" name="Slide Number Placeholder 4">
            <a:extLst>
              <a:ext uri="{FF2B5EF4-FFF2-40B4-BE49-F238E27FC236}">
                <a16:creationId xmlns:a16="http://schemas.microsoft.com/office/drawing/2014/main" id="{D5D8BC42-E16C-4B3D-880D-456ED753C25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16</a:t>
            </a:r>
          </a:p>
        </p:txBody>
      </p:sp>
      <p:pic>
        <p:nvPicPr>
          <p:cNvPr id="808965" name="Picture 3" descr="C:\Users\thomasn\Pictures\Thinkstock hmpix4\Thinkstock Nancy\Women &amp; HIV\56677623 - forced sex.jpg">
            <a:extLst>
              <a:ext uri="{FF2B5EF4-FFF2-40B4-BE49-F238E27FC236}">
                <a16:creationId xmlns:a16="http://schemas.microsoft.com/office/drawing/2014/main" id="{D8006C2C-E734-464C-B9E0-99856C8F6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6" y="1295401"/>
            <a:ext cx="6353175" cy="48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4B73C-4716-4D41-A590-A19FEC4FDCF3}"/>
              </a:ext>
            </a:extLst>
          </p:cNvPr>
          <p:cNvSpPr>
            <a:spLocks noGrp="1"/>
          </p:cNvSpPr>
          <p:nvPr>
            <p:ph type="title"/>
          </p:nvPr>
        </p:nvSpPr>
        <p:spPr>
          <a:xfrm>
            <a:off x="1981200" y="457200"/>
            <a:ext cx="8229600" cy="1143000"/>
          </a:xfrm>
        </p:spPr>
        <p:txBody>
          <a:bodyPr rtlCol="0">
            <a:normAutofit fontScale="90000"/>
          </a:bodyPr>
          <a:lstStyle/>
          <a:p>
            <a:pPr>
              <a:defRPr/>
            </a:pPr>
            <a:r>
              <a:rPr lang="en-US" dirty="0"/>
              <a:t>HIV/AIDS has raised questions</a:t>
            </a:r>
            <a:br>
              <a:rPr lang="en-US" dirty="0"/>
            </a:br>
            <a:r>
              <a:rPr lang="en-US" dirty="0"/>
              <a:t> of corporate integrity</a:t>
            </a:r>
          </a:p>
        </p:txBody>
      </p:sp>
      <p:sp>
        <p:nvSpPr>
          <p:cNvPr id="811011" name="Footer Placeholder 3">
            <a:extLst>
              <a:ext uri="{FF2B5EF4-FFF2-40B4-BE49-F238E27FC236}">
                <a16:creationId xmlns:a16="http://schemas.microsoft.com/office/drawing/2014/main" id="{543F5616-D67E-4C35-B898-7F444EAED45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1012" name="Slide Number Placeholder 4">
            <a:extLst>
              <a:ext uri="{FF2B5EF4-FFF2-40B4-BE49-F238E27FC236}">
                <a16:creationId xmlns:a16="http://schemas.microsoft.com/office/drawing/2014/main" id="{6C8AF3ED-77BD-459E-B7D2-C8CAC5485D5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17</a:t>
            </a:r>
          </a:p>
        </p:txBody>
      </p:sp>
      <p:pic>
        <p:nvPicPr>
          <p:cNvPr id="811013" name="Picture 2" descr="G:\For Merle\Chapter 9 - integrity\Low Res\140409646.jpg">
            <a:extLst>
              <a:ext uri="{FF2B5EF4-FFF2-40B4-BE49-F238E27FC236}">
                <a16:creationId xmlns:a16="http://schemas.microsoft.com/office/drawing/2014/main" id="{EA76F5BE-73FE-4A5F-A657-49EC08357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89100"/>
            <a:ext cx="6477000"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Title 1">
            <a:extLst>
              <a:ext uri="{FF2B5EF4-FFF2-40B4-BE49-F238E27FC236}">
                <a16:creationId xmlns:a16="http://schemas.microsoft.com/office/drawing/2014/main" id="{507C0465-C7F1-4BFF-A51E-7614188D39E7}"/>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Integrity is the foundation </a:t>
            </a:r>
          </a:p>
        </p:txBody>
      </p:sp>
      <p:sp>
        <p:nvSpPr>
          <p:cNvPr id="813059" name="Footer Placeholder 3">
            <a:extLst>
              <a:ext uri="{FF2B5EF4-FFF2-40B4-BE49-F238E27FC236}">
                <a16:creationId xmlns:a16="http://schemas.microsoft.com/office/drawing/2014/main" id="{00CEBEF2-AEA9-4371-8299-7B0650EE0BD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3060" name="Slide Number Placeholder 4">
            <a:extLst>
              <a:ext uri="{FF2B5EF4-FFF2-40B4-BE49-F238E27FC236}">
                <a16:creationId xmlns:a16="http://schemas.microsoft.com/office/drawing/2014/main" id="{F1B4E5D6-0088-44F9-8683-103296D8CCA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18</a:t>
            </a:r>
          </a:p>
        </p:txBody>
      </p:sp>
      <p:pic>
        <p:nvPicPr>
          <p:cNvPr id="813061" name="Picture 2" descr="G:\For Merle\Chapter 9 - integrity\Low Res\76801640.jpg">
            <a:extLst>
              <a:ext uri="{FF2B5EF4-FFF2-40B4-BE49-F238E27FC236}">
                <a16:creationId xmlns:a16="http://schemas.microsoft.com/office/drawing/2014/main" id="{EB100029-43B5-4CB8-842A-E2D44674B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726" y="1295400"/>
            <a:ext cx="773747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Title 1">
            <a:extLst>
              <a:ext uri="{FF2B5EF4-FFF2-40B4-BE49-F238E27FC236}">
                <a16:creationId xmlns:a16="http://schemas.microsoft.com/office/drawing/2014/main" id="{C077AE35-981C-4AA4-B1FC-2D03912CFB68}"/>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Mercy and forgiveness</a:t>
            </a:r>
          </a:p>
        </p:txBody>
      </p:sp>
      <p:sp>
        <p:nvSpPr>
          <p:cNvPr id="815107" name="Footer Placeholder 3">
            <a:extLst>
              <a:ext uri="{FF2B5EF4-FFF2-40B4-BE49-F238E27FC236}">
                <a16:creationId xmlns:a16="http://schemas.microsoft.com/office/drawing/2014/main" id="{53872BFB-CD62-4486-A266-C872D6A0425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5108" name="Slide Number Placeholder 4">
            <a:extLst>
              <a:ext uri="{FF2B5EF4-FFF2-40B4-BE49-F238E27FC236}">
                <a16:creationId xmlns:a16="http://schemas.microsoft.com/office/drawing/2014/main" id="{709C120A-1B57-40AD-BCA6-B548C1143F6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19</a:t>
            </a:r>
          </a:p>
        </p:txBody>
      </p:sp>
      <p:pic>
        <p:nvPicPr>
          <p:cNvPr id="815109" name="Picture 2" descr="G:\For Merle\Chapter 9 - integrity\Low Res\136935185.jpg">
            <a:extLst>
              <a:ext uri="{FF2B5EF4-FFF2-40B4-BE49-F238E27FC236}">
                <a16:creationId xmlns:a16="http://schemas.microsoft.com/office/drawing/2014/main" id="{4B35075C-BC05-4848-B4A2-D06B49A7B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43014"/>
            <a:ext cx="754380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7154" name="Picture 2" descr="G:\For Merle\AA013151.jpg">
            <a:extLst>
              <a:ext uri="{FF2B5EF4-FFF2-40B4-BE49-F238E27FC236}">
                <a16:creationId xmlns:a16="http://schemas.microsoft.com/office/drawing/2014/main" id="{BD7F4015-77D8-4837-94BD-51C67E3D4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7155" name="Title 1">
            <a:extLst>
              <a:ext uri="{FF2B5EF4-FFF2-40B4-BE49-F238E27FC236}">
                <a16:creationId xmlns:a16="http://schemas.microsoft.com/office/drawing/2014/main" id="{F880597D-A23C-47DD-B3C2-90BCD6E9A94B}"/>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fr-FR" b="1">
                <a:ln>
                  <a:noFill/>
                </a:ln>
                <a:solidFill>
                  <a:schemeClr val="bg1"/>
                </a:solidFill>
              </a:rPr>
              <a:t>LIFE APPLICATION</a:t>
            </a:r>
            <a:br>
              <a:rPr lang="en-US" altLang="fr-FR" b="1">
                <a:ln>
                  <a:noFill/>
                </a:ln>
                <a:solidFill>
                  <a:schemeClr val="bg1"/>
                </a:solidFill>
              </a:rPr>
            </a:br>
            <a:r>
              <a:rPr lang="en-US" altLang="fr-FR" b="1">
                <a:ln>
                  <a:noFill/>
                </a:ln>
                <a:solidFill>
                  <a:schemeClr val="bg1"/>
                </a:solidFill>
              </a:rPr>
              <a:t>QUESTIONS</a:t>
            </a:r>
          </a:p>
        </p:txBody>
      </p:sp>
      <p:sp>
        <p:nvSpPr>
          <p:cNvPr id="817156" name="Footer Placeholder 3">
            <a:extLst>
              <a:ext uri="{FF2B5EF4-FFF2-40B4-BE49-F238E27FC236}">
                <a16:creationId xmlns:a16="http://schemas.microsoft.com/office/drawing/2014/main" id="{A16FDC6A-F2BD-4F28-BC99-9F22C866A2A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7157" name="Slide Number Placeholder 4">
            <a:extLst>
              <a:ext uri="{FF2B5EF4-FFF2-40B4-BE49-F238E27FC236}">
                <a16:creationId xmlns:a16="http://schemas.microsoft.com/office/drawing/2014/main" id="{971E71D3-5CC7-4D19-BFBF-097E91FB621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EA428E-1929-4176-AC37-858AC6652CC4}"/>
              </a:ext>
            </a:extLst>
          </p:cNvPr>
          <p:cNvSpPr>
            <a:spLocks noGrp="1"/>
          </p:cNvSpPr>
          <p:nvPr>
            <p:ph idx="1"/>
          </p:nvPr>
        </p:nvSpPr>
        <p:spPr>
          <a:xfrm>
            <a:off x="1981200" y="2438400"/>
            <a:ext cx="3276600" cy="1752600"/>
          </a:xfrm>
        </p:spPr>
        <p:txBody>
          <a:bodyPr rtlCol="0">
            <a:normAutofit/>
          </a:bodyPr>
          <a:lstStyle/>
          <a:p>
            <a:pPr marL="0" indent="0">
              <a:buNone/>
              <a:defRPr/>
            </a:pPr>
            <a:r>
              <a:rPr lang="en-US" sz="3000" dirty="0"/>
              <a:t>Do I consider myself to be an honest person? </a:t>
            </a:r>
          </a:p>
          <a:p>
            <a:pPr>
              <a:defRPr/>
            </a:pPr>
            <a:endParaRPr lang="en-US" sz="3000" dirty="0"/>
          </a:p>
        </p:txBody>
      </p:sp>
      <p:sp>
        <p:nvSpPr>
          <p:cNvPr id="819203" name="Footer Placeholder 3">
            <a:extLst>
              <a:ext uri="{FF2B5EF4-FFF2-40B4-BE49-F238E27FC236}">
                <a16:creationId xmlns:a16="http://schemas.microsoft.com/office/drawing/2014/main" id="{D00C4CAE-BC45-4649-8525-1E10BB645EF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9204" name="Slide Number Placeholder 4">
            <a:extLst>
              <a:ext uri="{FF2B5EF4-FFF2-40B4-BE49-F238E27FC236}">
                <a16:creationId xmlns:a16="http://schemas.microsoft.com/office/drawing/2014/main" id="{BDC1D360-75FB-4FA9-A1DD-BEE8C56FFA7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21</a:t>
            </a:r>
          </a:p>
        </p:txBody>
      </p:sp>
      <p:pic>
        <p:nvPicPr>
          <p:cNvPr id="819205" name="Picture 2" descr="C:\Users\thomasn\Pictures\Thinkstock hmpix4\Thinkstock Nancy\people\78480147.jpg">
            <a:extLst>
              <a:ext uri="{FF2B5EF4-FFF2-40B4-BE49-F238E27FC236}">
                <a16:creationId xmlns:a16="http://schemas.microsoft.com/office/drawing/2014/main" id="{41354C53-5118-49CF-BE37-63E1333A3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093" b="12434"/>
          <a:stretch>
            <a:fillRect/>
          </a:stretch>
        </p:blipFill>
        <p:spPr bwMode="auto">
          <a:xfrm>
            <a:off x="5867400" y="531814"/>
            <a:ext cx="4895850"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6EA30A-5701-447C-8F8D-56FAD3D55AA8}"/>
              </a:ext>
            </a:extLst>
          </p:cNvPr>
          <p:cNvSpPr>
            <a:spLocks noGrp="1"/>
          </p:cNvSpPr>
          <p:nvPr>
            <p:ph idx="1"/>
          </p:nvPr>
        </p:nvSpPr>
        <p:spPr>
          <a:xfrm>
            <a:off x="6629400" y="1874838"/>
            <a:ext cx="3581400" cy="3001962"/>
          </a:xfrm>
        </p:spPr>
        <p:txBody>
          <a:bodyPr rtlCol="0">
            <a:normAutofit/>
          </a:bodyPr>
          <a:lstStyle/>
          <a:p>
            <a:pPr marL="0" indent="0">
              <a:buNone/>
              <a:defRPr/>
            </a:pPr>
            <a:r>
              <a:rPr lang="en-US" sz="3000" dirty="0"/>
              <a:t>What moral values have I adopted that prevent me from doing anything that would conflict with that code of honor? </a:t>
            </a:r>
          </a:p>
          <a:p>
            <a:pPr>
              <a:defRPr/>
            </a:pPr>
            <a:endParaRPr lang="en-US" sz="3000" dirty="0"/>
          </a:p>
        </p:txBody>
      </p:sp>
      <p:sp>
        <p:nvSpPr>
          <p:cNvPr id="821251" name="Footer Placeholder 3">
            <a:extLst>
              <a:ext uri="{FF2B5EF4-FFF2-40B4-BE49-F238E27FC236}">
                <a16:creationId xmlns:a16="http://schemas.microsoft.com/office/drawing/2014/main" id="{3F9B9BFC-847D-41EA-8577-ABE813EC069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21252" name="Slide Number Placeholder 4">
            <a:extLst>
              <a:ext uri="{FF2B5EF4-FFF2-40B4-BE49-F238E27FC236}">
                <a16:creationId xmlns:a16="http://schemas.microsoft.com/office/drawing/2014/main" id="{156ADD5D-E618-425A-BDAB-72EB8E4920B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22</a:t>
            </a:r>
          </a:p>
        </p:txBody>
      </p:sp>
      <p:pic>
        <p:nvPicPr>
          <p:cNvPr id="821253" name="Picture 2" descr="C:\Users\thomasn\Pictures\Thinkstock hmpix4\Thinkstock Nancy\people\78480147.jpg">
            <a:extLst>
              <a:ext uri="{FF2B5EF4-FFF2-40B4-BE49-F238E27FC236}">
                <a16:creationId xmlns:a16="http://schemas.microsoft.com/office/drawing/2014/main" id="{A93D1867-C5D0-486E-B9DA-76F1AADB7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093" b="12434"/>
          <a:stretch>
            <a:fillRect/>
          </a:stretch>
        </p:blipFill>
        <p:spPr bwMode="auto">
          <a:xfrm>
            <a:off x="1673226" y="703264"/>
            <a:ext cx="4575175"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40291-0846-46C6-8EE7-10196453A319}"/>
              </a:ext>
            </a:extLst>
          </p:cNvPr>
          <p:cNvSpPr>
            <a:spLocks noGrp="1"/>
          </p:cNvSpPr>
          <p:nvPr>
            <p:ph idx="1"/>
          </p:nvPr>
        </p:nvSpPr>
        <p:spPr>
          <a:xfrm>
            <a:off x="2133600" y="2514600"/>
            <a:ext cx="3200400" cy="1676400"/>
          </a:xfrm>
        </p:spPr>
        <p:txBody>
          <a:bodyPr rtlCol="0">
            <a:normAutofit/>
          </a:bodyPr>
          <a:lstStyle/>
          <a:p>
            <a:pPr marL="0" indent="0">
              <a:buNone/>
              <a:defRPr/>
            </a:pPr>
            <a:r>
              <a:rPr lang="en-US" sz="3000" dirty="0"/>
              <a:t>What sources have formed that set of values?</a:t>
            </a:r>
          </a:p>
          <a:p>
            <a:pPr>
              <a:defRPr/>
            </a:pPr>
            <a:endParaRPr lang="en-US" sz="3000" dirty="0"/>
          </a:p>
        </p:txBody>
      </p:sp>
      <p:sp>
        <p:nvSpPr>
          <p:cNvPr id="823299" name="Footer Placeholder 3">
            <a:extLst>
              <a:ext uri="{FF2B5EF4-FFF2-40B4-BE49-F238E27FC236}">
                <a16:creationId xmlns:a16="http://schemas.microsoft.com/office/drawing/2014/main" id="{7560489D-48AE-4442-8AA5-CE08D25D9BC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23300" name="Slide Number Placeholder 4">
            <a:extLst>
              <a:ext uri="{FF2B5EF4-FFF2-40B4-BE49-F238E27FC236}">
                <a16:creationId xmlns:a16="http://schemas.microsoft.com/office/drawing/2014/main" id="{2EF2C23A-D862-4522-ADA5-F9C7E27653B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23</a:t>
            </a:r>
          </a:p>
        </p:txBody>
      </p:sp>
      <p:pic>
        <p:nvPicPr>
          <p:cNvPr id="823301" name="Picture 2" descr="C:\Users\thomasn\Pictures\Thinkstock hmpix4\Thinkstock Nancy\people\78480147.jpg">
            <a:extLst>
              <a:ext uri="{FF2B5EF4-FFF2-40B4-BE49-F238E27FC236}">
                <a16:creationId xmlns:a16="http://schemas.microsoft.com/office/drawing/2014/main" id="{E7E08A0F-38CA-472C-8E03-DF3CAD5A7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093" b="12434"/>
          <a:stretch>
            <a:fillRect/>
          </a:stretch>
        </p:blipFill>
        <p:spPr bwMode="auto">
          <a:xfrm>
            <a:off x="5638800" y="260350"/>
            <a:ext cx="5124450" cy="610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Content Placeholder 2">
            <a:extLst>
              <a:ext uri="{FF2B5EF4-FFF2-40B4-BE49-F238E27FC236}">
                <a16:creationId xmlns:a16="http://schemas.microsoft.com/office/drawing/2014/main" id="{58F580AB-2631-44AE-906C-40A34E67AEAF}"/>
              </a:ext>
            </a:extLst>
          </p:cNvPr>
          <p:cNvSpPr>
            <a:spLocks noGrp="1" noChangeArrowheads="1"/>
          </p:cNvSpPr>
          <p:nvPr>
            <p:ph idx="1"/>
          </p:nvPr>
        </p:nvSpPr>
        <p:spPr>
          <a:xfrm>
            <a:off x="1981200" y="1524000"/>
            <a:ext cx="3810000" cy="3810000"/>
          </a:xfrm>
        </p:spPr>
        <p:txBody>
          <a:bodyPr/>
          <a:lstStyle/>
          <a:p>
            <a:pPr marL="0" indent="0">
              <a:buNone/>
            </a:pPr>
            <a:r>
              <a:rPr lang="en-US" altLang="fr-FR" sz="3000"/>
              <a:t>When considering my own personal health, do I also take into account the needs of the community and how my choices could affect others?</a:t>
            </a:r>
          </a:p>
        </p:txBody>
      </p:sp>
      <p:sp>
        <p:nvSpPr>
          <p:cNvPr id="825347" name="Footer Placeholder 3">
            <a:extLst>
              <a:ext uri="{FF2B5EF4-FFF2-40B4-BE49-F238E27FC236}">
                <a16:creationId xmlns:a16="http://schemas.microsoft.com/office/drawing/2014/main" id="{6FF622C4-B584-4C93-A924-4707EA85D3C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25348" name="Slide Number Placeholder 4">
            <a:extLst>
              <a:ext uri="{FF2B5EF4-FFF2-40B4-BE49-F238E27FC236}">
                <a16:creationId xmlns:a16="http://schemas.microsoft.com/office/drawing/2014/main" id="{AF7C7C01-5E98-4B8F-9166-9D29661A958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24</a:t>
            </a:r>
          </a:p>
        </p:txBody>
      </p:sp>
      <p:pic>
        <p:nvPicPr>
          <p:cNvPr id="14338" name="Picture 2" descr="G:\For Merle\83812905.jpg">
            <a:extLst>
              <a:ext uri="{FF2B5EF4-FFF2-40B4-BE49-F238E27FC236}">
                <a16:creationId xmlns:a16="http://schemas.microsoft.com/office/drawing/2014/main" id="{C662329D-4301-464F-9AD6-DDE9CD8FC1D5}"/>
              </a:ext>
            </a:extLst>
          </p:cNvPr>
          <p:cNvPicPr>
            <a:picLocks noChangeAspect="1" noChangeArrowheads="1"/>
          </p:cNvPicPr>
          <p:nvPr/>
        </p:nvPicPr>
        <p:blipFill rotWithShape="1">
          <a:blip r:embed="rId3" cstate="email"/>
          <a:srcRect/>
          <a:stretch/>
        </p:blipFill>
        <p:spPr bwMode="auto">
          <a:xfrm>
            <a:off x="6952343" y="1219200"/>
            <a:ext cx="3566305" cy="4575048"/>
          </a:xfrm>
          <a:prstGeom prst="rect">
            <a:avLst/>
          </a:prstGeom>
          <a:ln>
            <a:noFill/>
          </a:ln>
          <a:effectLst>
            <a:softEdge rad="11250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Content Placeholder 2">
            <a:extLst>
              <a:ext uri="{FF2B5EF4-FFF2-40B4-BE49-F238E27FC236}">
                <a16:creationId xmlns:a16="http://schemas.microsoft.com/office/drawing/2014/main" id="{C4BF9BCE-D5FF-44F3-A01C-5CFCF0FA38D6}"/>
              </a:ext>
            </a:extLst>
          </p:cNvPr>
          <p:cNvSpPr>
            <a:spLocks noGrp="1" noChangeArrowheads="1"/>
          </p:cNvSpPr>
          <p:nvPr>
            <p:ph idx="1"/>
          </p:nvPr>
        </p:nvSpPr>
        <p:spPr>
          <a:xfrm>
            <a:off x="1981200" y="1219201"/>
            <a:ext cx="4191000" cy="4525963"/>
          </a:xfrm>
        </p:spPr>
        <p:txBody>
          <a:bodyPr/>
          <a:lstStyle/>
          <a:p>
            <a:pPr marL="0" indent="0">
              <a:buNone/>
            </a:pPr>
            <a:r>
              <a:rPr lang="en-US" altLang="fr-FR" sz="3000"/>
              <a:t>What choices have I made with respect to personal hygiene, such as hand washing and staying away from contact with others when ill, have positively affected my community?</a:t>
            </a:r>
          </a:p>
        </p:txBody>
      </p:sp>
      <p:sp>
        <p:nvSpPr>
          <p:cNvPr id="827395" name="Footer Placeholder 3">
            <a:extLst>
              <a:ext uri="{FF2B5EF4-FFF2-40B4-BE49-F238E27FC236}">
                <a16:creationId xmlns:a16="http://schemas.microsoft.com/office/drawing/2014/main" id="{D296ADEA-60E7-46F5-A252-94EF522332E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27396" name="Slide Number Placeholder 4">
            <a:extLst>
              <a:ext uri="{FF2B5EF4-FFF2-40B4-BE49-F238E27FC236}">
                <a16:creationId xmlns:a16="http://schemas.microsoft.com/office/drawing/2014/main" id="{4FB6DA86-2D04-48FE-89D0-E9D12CF0382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25</a:t>
            </a:r>
          </a:p>
        </p:txBody>
      </p:sp>
      <p:pic>
        <p:nvPicPr>
          <p:cNvPr id="827397" name="Picture 2" descr="C:\Users\thomasn\Pictures\Thinkstock hmpix4\Thinkstock Nancy\Hands, feet, mouth, ears etc\146888924.jpg">
            <a:extLst>
              <a:ext uri="{FF2B5EF4-FFF2-40B4-BE49-F238E27FC236}">
                <a16:creationId xmlns:a16="http://schemas.microsoft.com/office/drawing/2014/main" id="{2E48037F-4B84-4D83-A56C-322BFC802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0" y="855664"/>
            <a:ext cx="3327400"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F5C75-C368-4041-B34D-584BAE843247}"/>
              </a:ext>
            </a:extLst>
          </p:cNvPr>
          <p:cNvSpPr>
            <a:spLocks noGrp="1"/>
          </p:cNvSpPr>
          <p:nvPr>
            <p:ph idx="1"/>
          </p:nvPr>
        </p:nvSpPr>
        <p:spPr>
          <a:xfrm>
            <a:off x="1981200" y="1722438"/>
            <a:ext cx="3581400" cy="3459162"/>
          </a:xfrm>
        </p:spPr>
        <p:txBody>
          <a:bodyPr rtlCol="0">
            <a:normAutofit/>
          </a:bodyPr>
          <a:lstStyle/>
          <a:p>
            <a:pPr marL="0" indent="0">
              <a:buNone/>
              <a:defRPr/>
            </a:pPr>
            <a:r>
              <a:rPr lang="en-US" sz="3000" dirty="0"/>
              <a:t>What practices for my own pleasure am I ashamed of because of the negative effects they may have on someone else?</a:t>
            </a:r>
          </a:p>
          <a:p>
            <a:pPr>
              <a:defRPr/>
            </a:pPr>
            <a:endParaRPr lang="en-US" sz="3000" dirty="0"/>
          </a:p>
        </p:txBody>
      </p:sp>
      <p:sp>
        <p:nvSpPr>
          <p:cNvPr id="829443" name="Footer Placeholder 3">
            <a:extLst>
              <a:ext uri="{FF2B5EF4-FFF2-40B4-BE49-F238E27FC236}">
                <a16:creationId xmlns:a16="http://schemas.microsoft.com/office/drawing/2014/main" id="{D7686B42-B6B5-4290-BF77-48AC7C44F2F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29444" name="Slide Number Placeholder 4">
            <a:extLst>
              <a:ext uri="{FF2B5EF4-FFF2-40B4-BE49-F238E27FC236}">
                <a16:creationId xmlns:a16="http://schemas.microsoft.com/office/drawing/2014/main" id="{3F218464-223F-4E8D-876F-F8B3EB54135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26</a:t>
            </a:r>
          </a:p>
        </p:txBody>
      </p:sp>
      <p:pic>
        <p:nvPicPr>
          <p:cNvPr id="829445" name="Picture 2" descr="C:\Users\thomasn\Pictures\Thinkstock hmpix4\Thinkstock Nancy\people\75547254.jpg">
            <a:extLst>
              <a:ext uri="{FF2B5EF4-FFF2-40B4-BE49-F238E27FC236}">
                <a16:creationId xmlns:a16="http://schemas.microsoft.com/office/drawing/2014/main" id="{3FDA1B7F-08EA-4322-AA89-E4D10F44E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2900" y="1376364"/>
            <a:ext cx="3517900"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Content Placeholder 2">
            <a:extLst>
              <a:ext uri="{FF2B5EF4-FFF2-40B4-BE49-F238E27FC236}">
                <a16:creationId xmlns:a16="http://schemas.microsoft.com/office/drawing/2014/main" id="{1AA255FD-0308-4A00-BC31-AF9EEBD79496}"/>
              </a:ext>
            </a:extLst>
          </p:cNvPr>
          <p:cNvSpPr>
            <a:spLocks noGrp="1" noChangeArrowheads="1"/>
          </p:cNvSpPr>
          <p:nvPr>
            <p:ph idx="1"/>
          </p:nvPr>
        </p:nvSpPr>
        <p:spPr>
          <a:xfrm>
            <a:off x="6248400" y="1752600"/>
            <a:ext cx="3962400" cy="3505200"/>
          </a:xfrm>
        </p:spPr>
        <p:txBody>
          <a:bodyPr/>
          <a:lstStyle/>
          <a:p>
            <a:pPr marL="0" indent="0">
              <a:buNone/>
            </a:pPr>
            <a:r>
              <a:rPr lang="en-US" altLang="fr-FR" sz="3000"/>
              <a:t>A local church health ministries leader regularly presents lectures to the church members in which she advocates a total vegetarian diet. </a:t>
            </a:r>
          </a:p>
        </p:txBody>
      </p:sp>
      <p:sp>
        <p:nvSpPr>
          <p:cNvPr id="831491" name="Footer Placeholder 3">
            <a:extLst>
              <a:ext uri="{FF2B5EF4-FFF2-40B4-BE49-F238E27FC236}">
                <a16:creationId xmlns:a16="http://schemas.microsoft.com/office/drawing/2014/main" id="{63152F23-F573-4237-927B-F635112FBCE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1492" name="Slide Number Placeholder 4">
            <a:extLst>
              <a:ext uri="{FF2B5EF4-FFF2-40B4-BE49-F238E27FC236}">
                <a16:creationId xmlns:a16="http://schemas.microsoft.com/office/drawing/2014/main" id="{CF8B033F-75B1-42FC-BD6F-105042DDE2D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27</a:t>
            </a:r>
          </a:p>
        </p:txBody>
      </p:sp>
      <p:pic>
        <p:nvPicPr>
          <p:cNvPr id="831493" name="Picture 3" descr="C:\Users\thomasn\Pictures\Thinkstock hmpix4\Thinkstock Nancy\people\149003479.jpg">
            <a:extLst>
              <a:ext uri="{FF2B5EF4-FFF2-40B4-BE49-F238E27FC236}">
                <a16:creationId xmlns:a16="http://schemas.microsoft.com/office/drawing/2014/main" id="{2BE2B6E6-0AF2-4546-8579-23F54BA89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1431925"/>
            <a:ext cx="283051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Content Placeholder 2">
            <a:extLst>
              <a:ext uri="{FF2B5EF4-FFF2-40B4-BE49-F238E27FC236}">
                <a16:creationId xmlns:a16="http://schemas.microsoft.com/office/drawing/2014/main" id="{5CCE37F2-8AED-49ED-9828-5E31D0844961}"/>
              </a:ext>
            </a:extLst>
          </p:cNvPr>
          <p:cNvSpPr>
            <a:spLocks noGrp="1" noChangeArrowheads="1"/>
          </p:cNvSpPr>
          <p:nvPr>
            <p:ph idx="1"/>
          </p:nvPr>
        </p:nvSpPr>
        <p:spPr>
          <a:xfrm>
            <a:off x="2057400" y="1371600"/>
            <a:ext cx="3657600" cy="3810000"/>
          </a:xfrm>
        </p:spPr>
        <p:txBody>
          <a:bodyPr/>
          <a:lstStyle/>
          <a:p>
            <a:pPr marL="0" indent="0">
              <a:buNone/>
            </a:pPr>
            <a:r>
              <a:rPr lang="en-US" altLang="fr-FR" sz="3000"/>
              <a:t>She also favors an organic diet, although she is aware that many of the members cannot afford the higher prices for organic foods.</a:t>
            </a:r>
          </a:p>
        </p:txBody>
      </p:sp>
      <p:sp>
        <p:nvSpPr>
          <p:cNvPr id="833539" name="Footer Placeholder 3">
            <a:extLst>
              <a:ext uri="{FF2B5EF4-FFF2-40B4-BE49-F238E27FC236}">
                <a16:creationId xmlns:a16="http://schemas.microsoft.com/office/drawing/2014/main" id="{45143FBA-29B0-42DA-A69E-16EC8345342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3540" name="Slide Number Placeholder 4">
            <a:extLst>
              <a:ext uri="{FF2B5EF4-FFF2-40B4-BE49-F238E27FC236}">
                <a16:creationId xmlns:a16="http://schemas.microsoft.com/office/drawing/2014/main" id="{B274EC75-9EAD-4FD7-861B-B1181FF616E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28</a:t>
            </a:r>
          </a:p>
        </p:txBody>
      </p:sp>
      <p:pic>
        <p:nvPicPr>
          <p:cNvPr id="833541" name="Picture 3" descr="C:\Users\thomasn\Pictures\Thinkstock hmpix4\Thinkstock Nancy\people\149003479.jpg">
            <a:extLst>
              <a:ext uri="{FF2B5EF4-FFF2-40B4-BE49-F238E27FC236}">
                <a16:creationId xmlns:a16="http://schemas.microsoft.com/office/drawing/2014/main" id="{FCF31537-918F-4422-989E-72F6DD0DC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1426" y="1295400"/>
            <a:ext cx="283051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Content Placeholder 2">
            <a:extLst>
              <a:ext uri="{FF2B5EF4-FFF2-40B4-BE49-F238E27FC236}">
                <a16:creationId xmlns:a16="http://schemas.microsoft.com/office/drawing/2014/main" id="{21421577-8F39-406D-82C5-372AB6F8D539}"/>
              </a:ext>
            </a:extLst>
          </p:cNvPr>
          <p:cNvSpPr>
            <a:spLocks noGrp="1" noChangeArrowheads="1"/>
          </p:cNvSpPr>
          <p:nvPr>
            <p:ph idx="1"/>
          </p:nvPr>
        </p:nvSpPr>
        <p:spPr>
          <a:xfrm>
            <a:off x="2133600" y="1752600"/>
            <a:ext cx="3886200" cy="3200400"/>
          </a:xfrm>
        </p:spPr>
        <p:txBody>
          <a:bodyPr/>
          <a:lstStyle/>
          <a:p>
            <a:pPr marL="0" indent="0">
              <a:buNone/>
            </a:pPr>
            <a:r>
              <a:rPr lang="en-US" altLang="fr-FR" sz="3000"/>
              <a:t>Sometimes, however, she invites others to go with her to an ice cream parlor where she enjoys ice cream as a </a:t>
            </a:r>
            <a:r>
              <a:rPr lang="en-US" altLang="en-US" sz="3000"/>
              <a:t>“</a:t>
            </a:r>
            <a:r>
              <a:rPr lang="en-US" altLang="fr-FR" sz="3000"/>
              <a:t>special treat.</a:t>
            </a:r>
            <a:r>
              <a:rPr lang="en-US" altLang="en-US" sz="3000"/>
              <a:t>”</a:t>
            </a:r>
            <a:endParaRPr lang="en-US" altLang="fr-FR" sz="3000"/>
          </a:p>
        </p:txBody>
      </p:sp>
      <p:sp>
        <p:nvSpPr>
          <p:cNvPr id="835587" name="Footer Placeholder 3">
            <a:extLst>
              <a:ext uri="{FF2B5EF4-FFF2-40B4-BE49-F238E27FC236}">
                <a16:creationId xmlns:a16="http://schemas.microsoft.com/office/drawing/2014/main" id="{A197A386-5523-4222-ACBE-785028FD2B3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5588" name="Slide Number Placeholder 4">
            <a:extLst>
              <a:ext uri="{FF2B5EF4-FFF2-40B4-BE49-F238E27FC236}">
                <a16:creationId xmlns:a16="http://schemas.microsoft.com/office/drawing/2014/main" id="{71170791-116B-4CD6-9921-44E228ADC3B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29</a:t>
            </a:r>
          </a:p>
        </p:txBody>
      </p:sp>
      <p:pic>
        <p:nvPicPr>
          <p:cNvPr id="835589" name="Picture 2" descr="C:\Users\thomasn\Pictures\Thinkstock hmpix4\Thinkstock Nancy\Food or drink\78369693.jpg">
            <a:extLst>
              <a:ext uri="{FF2B5EF4-FFF2-40B4-BE49-F238E27FC236}">
                <a16:creationId xmlns:a16="http://schemas.microsoft.com/office/drawing/2014/main" id="{FA3B45B1-5087-47AC-8540-36D20A49E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056" t="17944" r="9296" b="8075"/>
          <a:stretch>
            <a:fillRect/>
          </a:stretch>
        </p:blipFill>
        <p:spPr bwMode="auto">
          <a:xfrm>
            <a:off x="6400800" y="1524001"/>
            <a:ext cx="412273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Content Placeholder 2">
            <a:extLst>
              <a:ext uri="{FF2B5EF4-FFF2-40B4-BE49-F238E27FC236}">
                <a16:creationId xmlns:a16="http://schemas.microsoft.com/office/drawing/2014/main" id="{91E8FB12-8817-4B95-A050-2EB226FAFF02}"/>
              </a:ext>
            </a:extLst>
          </p:cNvPr>
          <p:cNvSpPr>
            <a:spLocks noGrp="1" noChangeArrowheads="1"/>
          </p:cNvSpPr>
          <p:nvPr>
            <p:ph idx="1"/>
          </p:nvPr>
        </p:nvSpPr>
        <p:spPr>
          <a:xfrm>
            <a:off x="6172200" y="2173288"/>
            <a:ext cx="4419600" cy="2590800"/>
          </a:xfrm>
        </p:spPr>
        <p:txBody>
          <a:bodyPr/>
          <a:lstStyle/>
          <a:p>
            <a:pPr marL="0" indent="0">
              <a:buNone/>
            </a:pPr>
            <a:r>
              <a:rPr lang="en-US" altLang="fr-FR" sz="3000"/>
              <a:t>What lifestyle practices do I have that may conflict with what I </a:t>
            </a:r>
            <a:r>
              <a:rPr lang="en-US" altLang="en-US" sz="3000"/>
              <a:t>“</a:t>
            </a:r>
            <a:r>
              <a:rPr lang="en-US" altLang="ja-JP" sz="3000"/>
              <a:t>preach?</a:t>
            </a:r>
            <a:r>
              <a:rPr lang="en-US" altLang="en-US" sz="3000"/>
              <a:t>”</a:t>
            </a:r>
            <a:r>
              <a:rPr lang="en-US" altLang="ja-JP" sz="3000"/>
              <a:t>  Am I truly </a:t>
            </a:r>
            <a:r>
              <a:rPr lang="en-US" altLang="en-US" sz="3000"/>
              <a:t>“</a:t>
            </a:r>
            <a:r>
              <a:rPr lang="en-US" altLang="ja-JP" sz="3000"/>
              <a:t>walking the talk?</a:t>
            </a:r>
            <a:r>
              <a:rPr lang="en-US" altLang="en-US" sz="3000"/>
              <a:t>”</a:t>
            </a:r>
            <a:r>
              <a:rPr lang="en-US" altLang="ja-JP" sz="3000"/>
              <a:t> </a:t>
            </a:r>
          </a:p>
          <a:p>
            <a:pPr marL="0" indent="0"/>
            <a:endParaRPr lang="en-US" altLang="fr-FR" sz="3000"/>
          </a:p>
        </p:txBody>
      </p:sp>
      <p:sp>
        <p:nvSpPr>
          <p:cNvPr id="837635" name="Footer Placeholder 3">
            <a:extLst>
              <a:ext uri="{FF2B5EF4-FFF2-40B4-BE49-F238E27FC236}">
                <a16:creationId xmlns:a16="http://schemas.microsoft.com/office/drawing/2014/main" id="{5FFCD402-4161-4578-AC00-64B675B669D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7636" name="Slide Number Placeholder 4">
            <a:extLst>
              <a:ext uri="{FF2B5EF4-FFF2-40B4-BE49-F238E27FC236}">
                <a16:creationId xmlns:a16="http://schemas.microsoft.com/office/drawing/2014/main" id="{7B0974B0-1558-4477-AC4E-B8A83A70F14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30</a:t>
            </a:r>
          </a:p>
        </p:txBody>
      </p:sp>
      <p:pic>
        <p:nvPicPr>
          <p:cNvPr id="837637" name="Picture 2" descr="C:\Users\thomasn\Pictures\Thinkstock hmpix4\Thinkstock Nancy\Food or drink\78369693.jpg">
            <a:extLst>
              <a:ext uri="{FF2B5EF4-FFF2-40B4-BE49-F238E27FC236}">
                <a16:creationId xmlns:a16="http://schemas.microsoft.com/office/drawing/2014/main" id="{EBD6765B-9F57-4788-87E4-7D2D6A0FB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056" t="17944" r="9296" b="8075"/>
          <a:stretch>
            <a:fillRect/>
          </a:stretch>
        </p:blipFill>
        <p:spPr bwMode="auto">
          <a:xfrm>
            <a:off x="1752600" y="1524001"/>
            <a:ext cx="412273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Content Placeholder 2">
            <a:extLst>
              <a:ext uri="{FF2B5EF4-FFF2-40B4-BE49-F238E27FC236}">
                <a16:creationId xmlns:a16="http://schemas.microsoft.com/office/drawing/2014/main" id="{C82AB848-8A99-4980-938F-48FFAD2ACB37}"/>
              </a:ext>
            </a:extLst>
          </p:cNvPr>
          <p:cNvSpPr>
            <a:spLocks noGrp="1" noChangeArrowheads="1"/>
          </p:cNvSpPr>
          <p:nvPr>
            <p:ph idx="1"/>
          </p:nvPr>
        </p:nvSpPr>
        <p:spPr>
          <a:xfrm>
            <a:off x="1981200" y="1752600"/>
            <a:ext cx="4114800" cy="3429000"/>
          </a:xfrm>
        </p:spPr>
        <p:txBody>
          <a:bodyPr/>
          <a:lstStyle/>
          <a:p>
            <a:pPr marL="0" indent="0">
              <a:buNone/>
            </a:pPr>
            <a:r>
              <a:rPr lang="en-US" altLang="fr-FR" sz="3000"/>
              <a:t>What can I do to ensure that others trust what I say to them is in their best interest and not just my way of pushing my own personal beliefs?</a:t>
            </a:r>
          </a:p>
        </p:txBody>
      </p:sp>
      <p:sp>
        <p:nvSpPr>
          <p:cNvPr id="839683" name="Footer Placeholder 3">
            <a:extLst>
              <a:ext uri="{FF2B5EF4-FFF2-40B4-BE49-F238E27FC236}">
                <a16:creationId xmlns:a16="http://schemas.microsoft.com/office/drawing/2014/main" id="{C380409F-2B3D-4F92-AA71-0B92DF35FB5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9684" name="Slide Number Placeholder 4">
            <a:extLst>
              <a:ext uri="{FF2B5EF4-FFF2-40B4-BE49-F238E27FC236}">
                <a16:creationId xmlns:a16="http://schemas.microsoft.com/office/drawing/2014/main" id="{72929C48-30FF-42C1-898A-1BD3497430F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31</a:t>
            </a:r>
          </a:p>
        </p:txBody>
      </p:sp>
      <p:pic>
        <p:nvPicPr>
          <p:cNvPr id="839685" name="Picture 2" descr="C:\Users\thomasn\Pictures\Thinkstock hmpix4\Thinkstock Nancy\Food or drink\94375673.jpg">
            <a:extLst>
              <a:ext uri="{FF2B5EF4-FFF2-40B4-BE49-F238E27FC236}">
                <a16:creationId xmlns:a16="http://schemas.microsoft.com/office/drawing/2014/main" id="{9E70284A-68F1-4BF7-AF58-0A2EDF4C2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750" y="1577976"/>
            <a:ext cx="3803650"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Content Placeholder 2">
            <a:extLst>
              <a:ext uri="{FF2B5EF4-FFF2-40B4-BE49-F238E27FC236}">
                <a16:creationId xmlns:a16="http://schemas.microsoft.com/office/drawing/2014/main" id="{8861B12A-5F00-4375-B4C8-8F5812A7A511}"/>
              </a:ext>
            </a:extLst>
          </p:cNvPr>
          <p:cNvSpPr>
            <a:spLocks noGrp="1" noChangeArrowheads="1"/>
          </p:cNvSpPr>
          <p:nvPr>
            <p:ph idx="1"/>
          </p:nvPr>
        </p:nvSpPr>
        <p:spPr>
          <a:xfrm>
            <a:off x="1981200" y="1600200"/>
            <a:ext cx="4191000" cy="3505200"/>
          </a:xfrm>
        </p:spPr>
        <p:txBody>
          <a:bodyPr/>
          <a:lstStyle/>
          <a:p>
            <a:pPr marL="0" indent="0">
              <a:buNone/>
            </a:pPr>
            <a:r>
              <a:rPr lang="en-US" altLang="fr-FR" sz="3000"/>
              <a:t>Am I promoting any health practices, dietary principles, etc., that would be unsuitable for a given situation in which I am not involved? </a:t>
            </a:r>
          </a:p>
        </p:txBody>
      </p:sp>
      <p:sp>
        <p:nvSpPr>
          <p:cNvPr id="841731" name="Footer Placeholder 3">
            <a:extLst>
              <a:ext uri="{FF2B5EF4-FFF2-40B4-BE49-F238E27FC236}">
                <a16:creationId xmlns:a16="http://schemas.microsoft.com/office/drawing/2014/main" id="{D3316785-CDE5-4B89-8902-E63C826B531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41732" name="Slide Number Placeholder 4">
            <a:extLst>
              <a:ext uri="{FF2B5EF4-FFF2-40B4-BE49-F238E27FC236}">
                <a16:creationId xmlns:a16="http://schemas.microsoft.com/office/drawing/2014/main" id="{9D527E21-8975-4DB4-8587-3C47384C6E7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32</a:t>
            </a:r>
          </a:p>
        </p:txBody>
      </p:sp>
      <p:pic>
        <p:nvPicPr>
          <p:cNvPr id="841733" name="Picture 2" descr="G:\For Merle\83597736.jpg">
            <a:extLst>
              <a:ext uri="{FF2B5EF4-FFF2-40B4-BE49-F238E27FC236}">
                <a16:creationId xmlns:a16="http://schemas.microsoft.com/office/drawing/2014/main" id="{98E39682-FD2A-4D6D-A1F0-2C400905D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852488"/>
            <a:ext cx="3810000" cy="509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0E8FD-E4AA-4B00-B489-66EE4ECEF537}"/>
              </a:ext>
            </a:extLst>
          </p:cNvPr>
          <p:cNvSpPr>
            <a:spLocks noGrp="1"/>
          </p:cNvSpPr>
          <p:nvPr>
            <p:ph idx="1"/>
          </p:nvPr>
        </p:nvSpPr>
        <p:spPr>
          <a:xfrm>
            <a:off x="6096000" y="2286000"/>
            <a:ext cx="4191000" cy="2133600"/>
          </a:xfrm>
        </p:spPr>
        <p:txBody>
          <a:bodyPr rtlCol="0">
            <a:normAutofit/>
          </a:bodyPr>
          <a:lstStyle/>
          <a:p>
            <a:pPr marL="0" indent="0">
              <a:buNone/>
              <a:defRPr/>
            </a:pPr>
            <a:r>
              <a:rPr lang="en-US" sz="3000" dirty="0"/>
              <a:t>Do I grant others the ability to hold their own opinions, even when I am sure I am right? </a:t>
            </a:r>
          </a:p>
          <a:p>
            <a:pPr>
              <a:defRPr/>
            </a:pPr>
            <a:endParaRPr lang="en-US" sz="3000" dirty="0"/>
          </a:p>
        </p:txBody>
      </p:sp>
      <p:sp>
        <p:nvSpPr>
          <p:cNvPr id="843779" name="Footer Placeholder 3">
            <a:extLst>
              <a:ext uri="{FF2B5EF4-FFF2-40B4-BE49-F238E27FC236}">
                <a16:creationId xmlns:a16="http://schemas.microsoft.com/office/drawing/2014/main" id="{C4A700D4-757F-4457-8CEB-EAE34A291CA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43780" name="Slide Number Placeholder 4">
            <a:extLst>
              <a:ext uri="{FF2B5EF4-FFF2-40B4-BE49-F238E27FC236}">
                <a16:creationId xmlns:a16="http://schemas.microsoft.com/office/drawing/2014/main" id="{62C37FE7-CE02-46CF-B285-6E55BB71E99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33</a:t>
            </a:r>
          </a:p>
        </p:txBody>
      </p:sp>
      <p:pic>
        <p:nvPicPr>
          <p:cNvPr id="843781" name="Picture 2" descr="G:\For Merle\83597736.jpg">
            <a:extLst>
              <a:ext uri="{FF2B5EF4-FFF2-40B4-BE49-F238E27FC236}">
                <a16:creationId xmlns:a16="http://schemas.microsoft.com/office/drawing/2014/main" id="{D921CA53-8BA9-4C55-A2F5-FB5B69E15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884239"/>
            <a:ext cx="3886200"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CABC3-AFD4-45BD-9300-36CC9C98C0F9}"/>
              </a:ext>
            </a:extLst>
          </p:cNvPr>
          <p:cNvSpPr>
            <a:spLocks noGrp="1"/>
          </p:cNvSpPr>
          <p:nvPr>
            <p:ph idx="1"/>
          </p:nvPr>
        </p:nvSpPr>
        <p:spPr>
          <a:xfrm>
            <a:off x="1981200" y="1905000"/>
            <a:ext cx="3733800" cy="2971800"/>
          </a:xfrm>
        </p:spPr>
        <p:txBody>
          <a:bodyPr rtlCol="0">
            <a:normAutofit/>
          </a:bodyPr>
          <a:lstStyle/>
          <a:p>
            <a:pPr marL="0" indent="0">
              <a:buNone/>
              <a:defRPr/>
            </a:pPr>
            <a:r>
              <a:rPr lang="en-US" sz="3000" dirty="0"/>
              <a:t>What personal choices fly in the face of evidence but are comfortable or desirable just because they are what I want to do?</a:t>
            </a:r>
          </a:p>
        </p:txBody>
      </p:sp>
      <p:sp>
        <p:nvSpPr>
          <p:cNvPr id="845827" name="Footer Placeholder 3">
            <a:extLst>
              <a:ext uri="{FF2B5EF4-FFF2-40B4-BE49-F238E27FC236}">
                <a16:creationId xmlns:a16="http://schemas.microsoft.com/office/drawing/2014/main" id="{52BC9AD2-04D7-48FD-9B3E-5D8148BCD42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45828" name="Slide Number Placeholder 4">
            <a:extLst>
              <a:ext uri="{FF2B5EF4-FFF2-40B4-BE49-F238E27FC236}">
                <a16:creationId xmlns:a16="http://schemas.microsoft.com/office/drawing/2014/main" id="{73F54162-7D37-42E2-B510-24D8A35B78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34</a:t>
            </a:r>
          </a:p>
        </p:txBody>
      </p:sp>
      <p:pic>
        <p:nvPicPr>
          <p:cNvPr id="845829" name="Picture 2" descr="G:\For Merle\stk117414rke.jpg">
            <a:extLst>
              <a:ext uri="{FF2B5EF4-FFF2-40B4-BE49-F238E27FC236}">
                <a16:creationId xmlns:a16="http://schemas.microsoft.com/office/drawing/2014/main" id="{ECA6CA53-20DD-47DB-BF16-E6EC0825E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138" y="1066800"/>
            <a:ext cx="359886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B78809-2A8F-4740-AE12-DEA70EB0B35F}"/>
              </a:ext>
            </a:extLst>
          </p:cNvPr>
          <p:cNvSpPr>
            <a:spLocks noGrp="1"/>
          </p:cNvSpPr>
          <p:nvPr>
            <p:ph idx="1"/>
          </p:nvPr>
        </p:nvSpPr>
        <p:spPr>
          <a:xfrm>
            <a:off x="2057400" y="1143001"/>
            <a:ext cx="3657600" cy="4678363"/>
          </a:xfrm>
        </p:spPr>
        <p:txBody>
          <a:bodyPr rtlCol="0">
            <a:normAutofit/>
          </a:bodyPr>
          <a:lstStyle/>
          <a:p>
            <a:pPr marL="0" indent="0">
              <a:buNone/>
              <a:defRPr/>
            </a:pPr>
            <a:r>
              <a:rPr lang="en-US" sz="3000" dirty="0"/>
              <a:t>What evidence presented in this book have I disregarded because it would be difficult or unpleasant to have to fit certain practices into my lifestyle?</a:t>
            </a:r>
          </a:p>
          <a:p>
            <a:pPr>
              <a:defRPr/>
            </a:pPr>
            <a:endParaRPr lang="en-US" sz="3000" dirty="0"/>
          </a:p>
        </p:txBody>
      </p:sp>
      <p:sp>
        <p:nvSpPr>
          <p:cNvPr id="847875" name="Footer Placeholder 3">
            <a:extLst>
              <a:ext uri="{FF2B5EF4-FFF2-40B4-BE49-F238E27FC236}">
                <a16:creationId xmlns:a16="http://schemas.microsoft.com/office/drawing/2014/main" id="{575F2CD6-BACD-435B-9767-18A1342DAB8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47876" name="Slide Number Placeholder 4">
            <a:extLst>
              <a:ext uri="{FF2B5EF4-FFF2-40B4-BE49-F238E27FC236}">
                <a16:creationId xmlns:a16="http://schemas.microsoft.com/office/drawing/2014/main" id="{B5EB8BCE-D1C0-48B4-8BBA-1CA799F70D4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35</a:t>
            </a:r>
          </a:p>
        </p:txBody>
      </p:sp>
      <p:pic>
        <p:nvPicPr>
          <p:cNvPr id="847877" name="Picture 2" descr="G:\For Merle\78651418.jpg">
            <a:extLst>
              <a:ext uri="{FF2B5EF4-FFF2-40B4-BE49-F238E27FC236}">
                <a16:creationId xmlns:a16="http://schemas.microsoft.com/office/drawing/2014/main" id="{23012B30-24FA-4B9A-B4F2-66CA3D2FE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4" y="685800"/>
            <a:ext cx="3614737"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Content Placeholder 2">
            <a:extLst>
              <a:ext uri="{FF2B5EF4-FFF2-40B4-BE49-F238E27FC236}">
                <a16:creationId xmlns:a16="http://schemas.microsoft.com/office/drawing/2014/main" id="{9F1C0856-DACD-48E2-8B87-D1CA142E08E3}"/>
              </a:ext>
            </a:extLst>
          </p:cNvPr>
          <p:cNvSpPr>
            <a:spLocks noGrp="1" noChangeArrowheads="1"/>
          </p:cNvSpPr>
          <p:nvPr>
            <p:ph idx="1"/>
          </p:nvPr>
        </p:nvSpPr>
        <p:spPr>
          <a:xfrm>
            <a:off x="2209800" y="1752600"/>
            <a:ext cx="3581400" cy="3276600"/>
          </a:xfrm>
        </p:spPr>
        <p:txBody>
          <a:bodyPr/>
          <a:lstStyle/>
          <a:p>
            <a:pPr marL="0" indent="0">
              <a:buNone/>
            </a:pPr>
            <a:r>
              <a:rPr lang="en-US" altLang="fr-FR"/>
              <a:t>Have I violated my code of honor? </a:t>
            </a:r>
          </a:p>
          <a:p>
            <a:pPr marL="0" indent="0">
              <a:buNone/>
            </a:pPr>
            <a:endParaRPr lang="en-US" altLang="fr-FR" sz="3000"/>
          </a:p>
          <a:p>
            <a:pPr marL="0" indent="0">
              <a:buNone/>
            </a:pPr>
            <a:r>
              <a:rPr lang="en-US" altLang="fr-FR"/>
              <a:t>Do I admit my wrongdoing? </a:t>
            </a:r>
          </a:p>
        </p:txBody>
      </p:sp>
      <p:sp>
        <p:nvSpPr>
          <p:cNvPr id="849923" name="Footer Placeholder 3">
            <a:extLst>
              <a:ext uri="{FF2B5EF4-FFF2-40B4-BE49-F238E27FC236}">
                <a16:creationId xmlns:a16="http://schemas.microsoft.com/office/drawing/2014/main" id="{FF35FC13-E56F-477C-A4E0-5DDE2FA9717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49924" name="Slide Number Placeholder 4">
            <a:extLst>
              <a:ext uri="{FF2B5EF4-FFF2-40B4-BE49-F238E27FC236}">
                <a16:creationId xmlns:a16="http://schemas.microsoft.com/office/drawing/2014/main" id="{60792072-4F68-48A9-A592-84412279C97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36</a:t>
            </a:r>
          </a:p>
        </p:txBody>
      </p:sp>
      <p:pic>
        <p:nvPicPr>
          <p:cNvPr id="849925" name="Picture 2" descr="C:\Users\thomasn\Pictures\Thinkstock hmpix4\Thinkstock Nancy\people\77005633 (1).jpg">
            <a:extLst>
              <a:ext uri="{FF2B5EF4-FFF2-40B4-BE49-F238E27FC236}">
                <a16:creationId xmlns:a16="http://schemas.microsoft.com/office/drawing/2014/main" id="{2EDE0D64-2DE9-4470-92F8-09E7BE0A4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524000"/>
            <a:ext cx="38862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Content Placeholder 2">
            <a:extLst>
              <a:ext uri="{FF2B5EF4-FFF2-40B4-BE49-F238E27FC236}">
                <a16:creationId xmlns:a16="http://schemas.microsoft.com/office/drawing/2014/main" id="{AB40F5CA-3A21-4630-8102-9A1DFCFD8610}"/>
              </a:ext>
            </a:extLst>
          </p:cNvPr>
          <p:cNvSpPr>
            <a:spLocks noGrp="1" noChangeArrowheads="1"/>
          </p:cNvSpPr>
          <p:nvPr>
            <p:ph idx="1"/>
          </p:nvPr>
        </p:nvSpPr>
        <p:spPr>
          <a:xfrm>
            <a:off x="6781800" y="2133600"/>
            <a:ext cx="3733800" cy="2590800"/>
          </a:xfrm>
        </p:spPr>
        <p:txBody>
          <a:bodyPr/>
          <a:lstStyle/>
          <a:p>
            <a:pPr marL="0" indent="0">
              <a:buNone/>
            </a:pPr>
            <a:r>
              <a:rPr lang="en-US" altLang="fr-FR" sz="3000"/>
              <a:t>What do I do with the guilt I feel because I have not lived up to my values?</a:t>
            </a:r>
          </a:p>
        </p:txBody>
      </p:sp>
      <p:sp>
        <p:nvSpPr>
          <p:cNvPr id="851971" name="Footer Placeholder 3">
            <a:extLst>
              <a:ext uri="{FF2B5EF4-FFF2-40B4-BE49-F238E27FC236}">
                <a16:creationId xmlns:a16="http://schemas.microsoft.com/office/drawing/2014/main" id="{06699892-9000-46B0-94AC-4BB04A5C1A7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51972" name="Slide Number Placeholder 4">
            <a:extLst>
              <a:ext uri="{FF2B5EF4-FFF2-40B4-BE49-F238E27FC236}">
                <a16:creationId xmlns:a16="http://schemas.microsoft.com/office/drawing/2014/main" id="{6C9BEEBF-72D7-4969-BC30-7BE2B7A16C2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37</a:t>
            </a:r>
          </a:p>
        </p:txBody>
      </p:sp>
      <p:pic>
        <p:nvPicPr>
          <p:cNvPr id="851973" name="Picture 2" descr="C:\Users\thomasn\Pictures\Thinkstock hmpix4\Thinkstock Nancy\people\77005633 (1).jpg">
            <a:extLst>
              <a:ext uri="{FF2B5EF4-FFF2-40B4-BE49-F238E27FC236}">
                <a16:creationId xmlns:a16="http://schemas.microsoft.com/office/drawing/2014/main" id="{D140BA9C-182F-430B-A9FF-6163B4598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501775"/>
            <a:ext cx="3810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C57878-5AE6-4CF1-B23C-31E74ADCA498}"/>
              </a:ext>
            </a:extLst>
          </p:cNvPr>
          <p:cNvSpPr>
            <a:spLocks noGrp="1"/>
          </p:cNvSpPr>
          <p:nvPr>
            <p:ph idx="1"/>
          </p:nvPr>
        </p:nvSpPr>
        <p:spPr>
          <a:xfrm>
            <a:off x="1981200" y="1219200"/>
            <a:ext cx="4191000" cy="4495800"/>
          </a:xfrm>
        </p:spPr>
        <p:txBody>
          <a:bodyPr rtlCol="0">
            <a:normAutofit/>
          </a:bodyPr>
          <a:lstStyle/>
          <a:p>
            <a:pPr marL="0" indent="0">
              <a:buNone/>
              <a:defRPr/>
            </a:pPr>
            <a:r>
              <a:rPr lang="en-US" sz="3000" dirty="0"/>
              <a:t>Do I punish myself by dwelling on my guilt or fall into a cycle of repeating the behavior again and again?</a:t>
            </a:r>
          </a:p>
          <a:p>
            <a:pPr marL="0" indent="0">
              <a:buNone/>
              <a:defRPr/>
            </a:pPr>
            <a:r>
              <a:rPr lang="en-US" sz="3000" dirty="0"/>
              <a:t> </a:t>
            </a:r>
          </a:p>
          <a:p>
            <a:pPr marL="0" indent="0">
              <a:buNone/>
              <a:defRPr/>
            </a:pPr>
            <a:r>
              <a:rPr lang="en-US" sz="3000" dirty="0"/>
              <a:t>Or can I accept the mercy and forgiveness that Jesus freely offers? </a:t>
            </a:r>
          </a:p>
          <a:p>
            <a:pPr>
              <a:defRPr/>
            </a:pPr>
            <a:endParaRPr lang="en-US" sz="3000" dirty="0"/>
          </a:p>
        </p:txBody>
      </p:sp>
      <p:sp>
        <p:nvSpPr>
          <p:cNvPr id="854019" name="Footer Placeholder 3">
            <a:extLst>
              <a:ext uri="{FF2B5EF4-FFF2-40B4-BE49-F238E27FC236}">
                <a16:creationId xmlns:a16="http://schemas.microsoft.com/office/drawing/2014/main" id="{1930B080-824E-4168-BE89-231B1089C01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54020" name="Slide Number Placeholder 4">
            <a:extLst>
              <a:ext uri="{FF2B5EF4-FFF2-40B4-BE49-F238E27FC236}">
                <a16:creationId xmlns:a16="http://schemas.microsoft.com/office/drawing/2014/main" id="{CF71A40C-78C4-4CFA-9C87-A1CFEB62BB6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Integrity  38</a:t>
            </a:r>
          </a:p>
        </p:txBody>
      </p:sp>
      <p:pic>
        <p:nvPicPr>
          <p:cNvPr id="854021" name="Picture 2" descr="G:\For Merle\122563736.jpg">
            <a:extLst>
              <a:ext uri="{FF2B5EF4-FFF2-40B4-BE49-F238E27FC236}">
                <a16:creationId xmlns:a16="http://schemas.microsoft.com/office/drawing/2014/main" id="{F54454A2-AFEA-4AAA-B443-F74CA4110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363" y="1576388"/>
            <a:ext cx="3935412" cy="36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2213</Words>
  <Application>Microsoft Office PowerPoint</Application>
  <PresentationFormat>Widescreen</PresentationFormat>
  <Paragraphs>218</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MS PGothic</vt:lpstr>
      <vt:lpstr>游ゴシック</vt:lpstr>
      <vt:lpstr>Arial</vt:lpstr>
      <vt:lpstr>Calibri</vt:lpstr>
      <vt:lpstr>Calibri Light</vt:lpstr>
      <vt:lpstr>Humanst521 BT</vt:lpstr>
      <vt:lpstr>Thème Office</vt:lpstr>
      <vt:lpstr>Celebrating integrity</vt:lpstr>
      <vt:lpstr>Transparency and trustworthiness</vt:lpstr>
      <vt:lpstr>“Honesty means…you don’t lie?”</vt:lpstr>
      <vt:lpstr>PowerPoint Presentation</vt:lpstr>
      <vt:lpstr>PowerPoint Presentation</vt:lpstr>
      <vt:lpstr>Integrity and public health</vt:lpstr>
      <vt:lpstr>PowerPoint Presentation</vt:lpstr>
      <vt:lpstr>Effects of immunization on public health</vt:lpstr>
      <vt:lpstr>It’s a matter of integrity to balance personal biases and desires against community needs</vt:lpstr>
      <vt:lpstr>Ensure that all have a voice</vt:lpstr>
      <vt:lpstr>Integrity and personal health</vt:lpstr>
      <vt:lpstr>Act on principles, not opinions</vt:lpstr>
      <vt:lpstr>Michelangelo … “the world’s frivolities have robbed me”…</vt:lpstr>
      <vt:lpstr>They ignored the dangers</vt:lpstr>
      <vt:lpstr>Integrity can help us avoid problems</vt:lpstr>
      <vt:lpstr>HIV/AIDS has raised questions  of corporate integrity</vt:lpstr>
      <vt:lpstr>Integrity is the foundation </vt:lpstr>
      <vt:lpstr>Mercy and forgiveness</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Celebrating integrity</dc:title>
  <dc:creator>Vieira Muzola</dc:creator>
  <cp:lastModifiedBy>Windows User</cp:lastModifiedBy>
  <cp:revision>1</cp:revision>
  <dcterms:created xsi:type="dcterms:W3CDTF">2020-04-03T11:09:49Z</dcterms:created>
  <dcterms:modified xsi:type="dcterms:W3CDTF">2020-04-29T08:12:32Z</dcterms:modified>
</cp:coreProperties>
</file>