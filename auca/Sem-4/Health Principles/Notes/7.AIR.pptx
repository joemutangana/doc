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556" r:id="rId2"/>
    <p:sldId id="557" r:id="rId3"/>
    <p:sldId id="558" r:id="rId4"/>
    <p:sldId id="559" r:id="rId5"/>
    <p:sldId id="560" r:id="rId6"/>
    <p:sldId id="561" r:id="rId7"/>
    <p:sldId id="562" r:id="rId8"/>
    <p:sldId id="563" r:id="rId9"/>
    <p:sldId id="564" r:id="rId10"/>
    <p:sldId id="565" r:id="rId11"/>
    <p:sldId id="566" r:id="rId12"/>
    <p:sldId id="567" r:id="rId13"/>
    <p:sldId id="568" r:id="rId14"/>
    <p:sldId id="569" r:id="rId15"/>
    <p:sldId id="570" r:id="rId16"/>
    <p:sldId id="571" r:id="rId17"/>
    <p:sldId id="572" r:id="rId18"/>
    <p:sldId id="573" r:id="rId19"/>
    <p:sldId id="574" r:id="rId20"/>
    <p:sldId id="575" r:id="rId21"/>
    <p:sldId id="576" r:id="rId22"/>
    <p:sldId id="577" r:id="rId23"/>
    <p:sldId id="578" r:id="rId24"/>
    <p:sldId id="579" r:id="rId25"/>
    <p:sldId id="580" r:id="rId26"/>
    <p:sldId id="581" r:id="rId27"/>
    <p:sldId id="582" r:id="rId28"/>
    <p:sldId id="583" r:id="rId29"/>
    <p:sldId id="584" r:id="rId30"/>
    <p:sldId id="585" r:id="rId31"/>
    <p:sldId id="586" r:id="rId32"/>
    <p:sldId id="587" r:id="rId33"/>
    <p:sldId id="588" r:id="rId34"/>
    <p:sldId id="589" r:id="rId35"/>
    <p:sldId id="590" r:id="rId36"/>
    <p:sldId id="591" r:id="rId37"/>
    <p:sldId id="592" r:id="rId38"/>
    <p:sldId id="593" r:id="rId39"/>
    <p:sldId id="594"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17" autoAdjust="0"/>
    <p:restoredTop sz="50000"/>
  </p:normalViewPr>
  <p:slideViewPr>
    <p:cSldViewPr snapToGrid="0">
      <p:cViewPr varScale="1">
        <p:scale>
          <a:sx n="42" d="100"/>
          <a:sy n="42" d="100"/>
        </p:scale>
        <p:origin x="11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F0218-5072-4D47-9964-E4565729E0BB}" type="datetimeFigureOut">
              <a:rPr lang="fr-BE" smtClean="0"/>
              <a:t>10/12/24</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A297C-E435-4564-A606-A959359D66B4}" type="slidenum">
              <a:rPr lang="fr-BE" smtClean="0"/>
              <a:t>‹#›</a:t>
            </a:fld>
            <a:endParaRPr lang="fr-BE"/>
          </a:p>
        </p:txBody>
      </p:sp>
    </p:spTree>
    <p:extLst>
      <p:ext uri="{BB962C8B-B14F-4D97-AF65-F5344CB8AC3E}">
        <p14:creationId xmlns:p14="http://schemas.microsoft.com/office/powerpoint/2010/main" val="3182564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Slide Image Placeholder 1">
            <a:extLst>
              <a:ext uri="{FF2B5EF4-FFF2-40B4-BE49-F238E27FC236}">
                <a16:creationId xmlns:a16="http://schemas.microsoft.com/office/drawing/2014/main" xmlns="" id="{89BA2D98-51D9-41E7-873A-C141547F43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3619" name="Notes Placeholder 2">
            <a:extLst>
              <a:ext uri="{FF2B5EF4-FFF2-40B4-BE49-F238E27FC236}">
                <a16:creationId xmlns:a16="http://schemas.microsoft.com/office/drawing/2014/main" xmlns="" id="{48B57654-C6E3-47D0-A060-20C3704401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rush of air that whipped passed their faces was invigorating! It didn</a:t>
            </a:r>
            <a:r>
              <a:rPr lang="en-US" altLang="en-US"/>
              <a:t>’</a:t>
            </a:r>
            <a:r>
              <a:rPr lang="en-US" altLang="fr-FR"/>
              <a:t>t matter that the temperature was near freezing. Orville was guiding the first controlled flight, and his brother, Wilbur, was running alongside the wing of the flying machine. It was December 17, 1903, and the Wright brothers made a total of four short but historic flights.</a:t>
            </a:r>
          </a:p>
          <a:p>
            <a:pPr eaLnBrk="1" hangingPunct="1">
              <a:spcBef>
                <a:spcPct val="0"/>
              </a:spcBef>
            </a:pPr>
            <a:endParaRPr lang="en-US" altLang="fr-FR"/>
          </a:p>
          <a:p>
            <a:pPr eaLnBrk="1" hangingPunct="1">
              <a:spcBef>
                <a:spcPct val="0"/>
              </a:spcBef>
            </a:pPr>
            <a:r>
              <a:rPr lang="en-US" altLang="fr-FR"/>
              <a:t>Experiencing the success of such a momentous achievement made the practice runs, the hard work, and the criticism of the skeptics pale into insignificance. Apart from the sheer dogged determination of the Wright brothers and the foundational experience of other aviation pioneers such as Otto Lilienthal, without the air and its physical properties providing the </a:t>
            </a:r>
            <a:r>
              <a:rPr lang="en-US" altLang="en-US"/>
              <a:t>“</a:t>
            </a:r>
            <a:r>
              <a:rPr lang="en-US" altLang="fr-FR"/>
              <a:t>lift,</a:t>
            </a:r>
            <a:r>
              <a:rPr lang="en-US" altLang="en-US"/>
              <a:t>”</a:t>
            </a:r>
            <a:r>
              <a:rPr lang="en-US" altLang="fr-FR"/>
              <a:t> flight never would have taken place. Lift is a complex physical phenomenon that enables birds and airplanes to fly. Other properties of air allow living creatures to breathe and exist.</a:t>
            </a:r>
          </a:p>
          <a:p>
            <a:pPr eaLnBrk="1" hangingPunct="1">
              <a:spcBef>
                <a:spcPct val="0"/>
              </a:spcBef>
            </a:pPr>
            <a:endParaRPr lang="en-US" altLang="fr-FR"/>
          </a:p>
        </p:txBody>
      </p:sp>
      <p:sp>
        <p:nvSpPr>
          <p:cNvPr id="623620" name="Slide Number Placeholder 3">
            <a:extLst>
              <a:ext uri="{FF2B5EF4-FFF2-40B4-BE49-F238E27FC236}">
                <a16:creationId xmlns:a16="http://schemas.microsoft.com/office/drawing/2014/main" xmlns="" id="{4790DC1F-AF91-4873-ACE9-5AF19D6B5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0CB7243-676C-4A2F-A7EA-A3A48F516F70}" type="slidenum">
              <a:rPr lang="en-US" altLang="fr-FR">
                <a:latin typeface="Calibri" panose="020F0502020204030204" pitchFamily="34" charset="0"/>
                <a:ea typeface="MS PGothic" panose="020B0600070205080204" pitchFamily="34" charset="-128"/>
              </a:rPr>
              <a:pPr/>
              <a:t>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05201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Slide Image Placeholder 1">
            <a:extLst>
              <a:ext uri="{FF2B5EF4-FFF2-40B4-BE49-F238E27FC236}">
                <a16:creationId xmlns:a16="http://schemas.microsoft.com/office/drawing/2014/main" xmlns="" id="{8A35399F-9701-4864-B342-D270BB4705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5667" name="Notes Placeholder 2">
            <a:extLst>
              <a:ext uri="{FF2B5EF4-FFF2-40B4-BE49-F238E27FC236}">
                <a16:creationId xmlns:a16="http://schemas.microsoft.com/office/drawing/2014/main" xmlns="" id="{5985E384-B304-4CC1-80B2-0E1B0B4539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Those early flight experiences kindle feelings in us of excitement and exhilaration. In contrast, some other events elicit discouragement and despair. Shortly after midnight on December 3, 1984, in the city of Bhopal, India, for example, a poisonous gas cloud escaped from a pesticide factory. The toxic gas covered an area of 30 square miles, immediately killing thousands of people and causing illness for many more. Experts believe that as time went on, many more people eventually perished as a result of this environmental disaster and the severe air pollution that ensued. Clean air is essential and literally constitutes the physical breath of life.</a:t>
            </a:r>
          </a:p>
          <a:p>
            <a:pPr eaLnBrk="1" hangingPunct="1">
              <a:spcBef>
                <a:spcPct val="0"/>
              </a:spcBef>
            </a:pPr>
            <a:endParaRPr lang="en-US" altLang="fr-FR"/>
          </a:p>
        </p:txBody>
      </p:sp>
      <p:sp>
        <p:nvSpPr>
          <p:cNvPr id="625668" name="Slide Number Placeholder 3">
            <a:extLst>
              <a:ext uri="{FF2B5EF4-FFF2-40B4-BE49-F238E27FC236}">
                <a16:creationId xmlns:a16="http://schemas.microsoft.com/office/drawing/2014/main" xmlns="" id="{E29C301C-12E0-4637-9E26-04654569E8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933544C-351B-471E-BD86-F0A4FCB663C9}"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53918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Slide Image Placeholder 1">
            <a:extLst>
              <a:ext uri="{FF2B5EF4-FFF2-40B4-BE49-F238E27FC236}">
                <a16:creationId xmlns:a16="http://schemas.microsoft.com/office/drawing/2014/main" xmlns="" id="{8EFEE505-E8C0-4B4C-87EB-A5F36EF6A8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7715" name="Notes Placeholder 2">
            <a:extLst>
              <a:ext uri="{FF2B5EF4-FFF2-40B4-BE49-F238E27FC236}">
                <a16:creationId xmlns:a16="http://schemas.microsoft.com/office/drawing/2014/main" xmlns="" id="{C42B20E0-F483-4707-BAD4-77BEC14562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Atmospheric air comprises a mixture of gases: 20.98 percent oxygen (O2), 0.04 percent carbon dioxide (CO2), 78.06 percent nitrogen (N2), and 0.92 percent inert (inactive) constituents such as argon and helium. Oxygen is the vital component of air that sustains life. Breathing is the process that moves the air in and out of the lungs and continues the cycle of taking in oxygen and releasing carbon dioxide. This process takes in and exchanges approximately 20,000 liters (5,283 gallons) of air daily. The body carries approximately 1.89 liters (2 quarts) of oxygen in the lungs, blood, and other tissues at any given time.</a:t>
            </a:r>
          </a:p>
        </p:txBody>
      </p:sp>
      <p:sp>
        <p:nvSpPr>
          <p:cNvPr id="627716" name="Slide Number Placeholder 3">
            <a:extLst>
              <a:ext uri="{FF2B5EF4-FFF2-40B4-BE49-F238E27FC236}">
                <a16:creationId xmlns:a16="http://schemas.microsoft.com/office/drawing/2014/main" xmlns="" id="{62279FD5-8186-4D7E-A99E-86360FECB7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3557D49-E7AD-4248-96A3-9A31F89E1D73}"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6426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Slide Image Placeholder 1">
            <a:extLst>
              <a:ext uri="{FF2B5EF4-FFF2-40B4-BE49-F238E27FC236}">
                <a16:creationId xmlns:a16="http://schemas.microsoft.com/office/drawing/2014/main" xmlns="" id="{1939D2B5-EAAB-4DB4-AE76-D1657D4329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9763" name="Notes Placeholder 2">
            <a:extLst>
              <a:ext uri="{FF2B5EF4-FFF2-40B4-BE49-F238E27FC236}">
                <a16:creationId xmlns:a16="http://schemas.microsoft.com/office/drawing/2014/main" xmlns="" id="{35A08FA6-C77C-4CFE-B02A-FC2C6EF2D6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Once oxygen enters the lungs, it goes into the bloodstream by a process called diffusion. The heart and circulatory system then pump the blood to every tissue of the body, delivering life-giving oxygen to the tissues and cells. Oxygen promotes efficient cell function by facilitating the metabolism of nutrients and the transfer of energy within the cells.</a:t>
            </a:r>
          </a:p>
          <a:p>
            <a:pPr eaLnBrk="1" hangingPunct="1">
              <a:spcBef>
                <a:spcPct val="0"/>
              </a:spcBef>
            </a:pPr>
            <a:endParaRPr lang="en-US" altLang="fr-FR"/>
          </a:p>
        </p:txBody>
      </p:sp>
      <p:sp>
        <p:nvSpPr>
          <p:cNvPr id="629764" name="Slide Number Placeholder 3">
            <a:extLst>
              <a:ext uri="{FF2B5EF4-FFF2-40B4-BE49-F238E27FC236}">
                <a16:creationId xmlns:a16="http://schemas.microsoft.com/office/drawing/2014/main" xmlns="" id="{199D5A53-CCE2-4542-94C2-9B4DD5015E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86E0A5D-F950-4245-9F39-C2F0DFCF22A2}"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52143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Slide Image Placeholder 1">
            <a:extLst>
              <a:ext uri="{FF2B5EF4-FFF2-40B4-BE49-F238E27FC236}">
                <a16:creationId xmlns:a16="http://schemas.microsoft.com/office/drawing/2014/main" xmlns="" id="{13BD518E-C5D5-4C3B-9568-2FB8826FE7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1811" name="Notes Placeholder 2">
            <a:extLst>
              <a:ext uri="{FF2B5EF4-FFF2-40B4-BE49-F238E27FC236}">
                <a16:creationId xmlns:a16="http://schemas.microsoft.com/office/drawing/2014/main" xmlns="" id="{9ABA6D3D-4BA0-4067-B08F-98945D91E1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exchange of gases in the lungs occurs across a thin wall approximately two cells thick. These cells line the tiny air sacs of the lungs (alveoli) and also the small blood vessels (capillaries), which carry the oxygen-rich blood to the rest of the body. The waste carbon dioxide is released into the air sacs and expelled from the lungs. The oxygen is carried by millions of red blood cells, which nourish all the body tissues and cells. The exchange of oxygen and carbon dioxide is accomplished within milliseconds, and it takes about only one minute for the newly acquired oxygen to circulate through the body! The lungs are wonderfully designed in order to reach this efficiency and contain more than 600 million of these alveoli (air sacs).</a:t>
            </a:r>
          </a:p>
          <a:p>
            <a:pPr eaLnBrk="1" hangingPunct="1">
              <a:spcBef>
                <a:spcPct val="0"/>
              </a:spcBef>
            </a:pPr>
            <a:endParaRPr lang="en-US" altLang="fr-FR"/>
          </a:p>
        </p:txBody>
      </p:sp>
      <p:sp>
        <p:nvSpPr>
          <p:cNvPr id="631812" name="Slide Number Placeholder 3">
            <a:extLst>
              <a:ext uri="{FF2B5EF4-FFF2-40B4-BE49-F238E27FC236}">
                <a16:creationId xmlns:a16="http://schemas.microsoft.com/office/drawing/2014/main" xmlns="" id="{9D686A07-4B7D-488F-9206-22B9A9EA8D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7A0B868-A561-4C33-A768-15C52B3441FC}"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82176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Slide Image Placeholder 1">
            <a:extLst>
              <a:ext uri="{FF2B5EF4-FFF2-40B4-BE49-F238E27FC236}">
                <a16:creationId xmlns:a16="http://schemas.microsoft.com/office/drawing/2014/main" xmlns="" id="{BC97BCFB-7E7B-4882-9A7F-B92B3AE851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3859" name="Notes Placeholder 2">
            <a:extLst>
              <a:ext uri="{FF2B5EF4-FFF2-40B4-BE49-F238E27FC236}">
                <a16:creationId xmlns:a16="http://schemas.microsoft.com/office/drawing/2014/main" xmlns="" id="{69F63CD4-2701-4D36-95E5-7E1EDFCC7B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The body ensures normal oxygen levels (saturation) by driving the respiration (breathing rate) from a part of the brain called the medulla oblongata in the brain stem. These specialized brain centers automatically regulate the rate and depth of breathing according to the needs of the body while carbon dioxide levels play a very important role in stimulating breathing. It is for this reason that it</a:t>
            </a:r>
            <a:r>
              <a:rPr lang="en-US" altLang="en-US" dirty="0"/>
              <a:t>’</a:t>
            </a:r>
            <a:r>
              <a:rPr lang="en-US" altLang="fr-FR" dirty="0"/>
              <a:t>s not possible for a healthy person to voluntarily stop breathing for prolonged, indefinite time periods. If one does not inhale fresh air, the level of carbon dioxide builds up in the blood, resulting in the feeling of tremendous </a:t>
            </a:r>
            <a:r>
              <a:rPr lang="en-US" altLang="en-US" dirty="0"/>
              <a:t>“</a:t>
            </a:r>
            <a:r>
              <a:rPr lang="en-US" altLang="fr-FR" dirty="0"/>
              <a:t>air hunger</a:t>
            </a:r>
            <a:r>
              <a:rPr lang="en-US" altLang="en-US" dirty="0"/>
              <a:t>”</a:t>
            </a:r>
            <a:r>
              <a:rPr lang="en-US" altLang="fr-FR" dirty="0"/>
              <a:t> forcing one to breathe. </a:t>
            </a:r>
            <a:r>
              <a:rPr lang="en-US" altLang="fr-FR" sz="2400" b="1" dirty="0"/>
              <a:t>This miraculous, irrepressible reflex is life-saving; if breathing stops, the body</a:t>
            </a:r>
            <a:r>
              <a:rPr lang="en-US" altLang="en-US" sz="2400" b="1" dirty="0"/>
              <a:t>’</a:t>
            </a:r>
            <a:r>
              <a:rPr lang="en-US" altLang="fr-FR" sz="2400" b="1" dirty="0"/>
              <a:t>s oxygen levels drop dangerously low within minutes, leading to </a:t>
            </a:r>
            <a:r>
              <a:rPr lang="en-US" altLang="fr-FR" sz="2400" b="1" u="sng" dirty="0"/>
              <a:t>permanent </a:t>
            </a:r>
            <a:r>
              <a:rPr lang="en-US" altLang="fr-FR" sz="2400" b="1" u="sng" dirty="0">
                <a:latin typeface="Abadi MT Condensed Extra Bold" charset="0"/>
                <a:ea typeface="Abadi MT Condensed Extra Bold" charset="0"/>
                <a:cs typeface="Abadi MT Condensed Extra Bold" charset="0"/>
              </a:rPr>
              <a:t>brain</a:t>
            </a:r>
            <a:r>
              <a:rPr lang="en-US" altLang="fr-FR" sz="2400" b="1" u="sng" dirty="0"/>
              <a:t> damage</a:t>
            </a:r>
            <a:r>
              <a:rPr lang="en-US" altLang="fr-FR" sz="2400" b="1" dirty="0"/>
              <a:t>, followed by death</a:t>
            </a:r>
            <a:r>
              <a:rPr lang="en-US" altLang="fr-FR" dirty="0"/>
              <a:t>. Brain cells begin to die within four minutes of oxygen deprivation. This fact emphasizes the accuracy of the American Lung Association</a:t>
            </a:r>
            <a:r>
              <a:rPr lang="en-US" altLang="en-US" dirty="0"/>
              <a:t>’</a:t>
            </a:r>
            <a:r>
              <a:rPr lang="en-US" altLang="fr-FR" dirty="0"/>
              <a:t>s motto, </a:t>
            </a:r>
            <a:r>
              <a:rPr lang="en-US" altLang="en-US" dirty="0"/>
              <a:t>“</a:t>
            </a:r>
            <a:r>
              <a:rPr lang="en-US" altLang="fr-FR" dirty="0"/>
              <a:t>It</a:t>
            </a:r>
            <a:r>
              <a:rPr lang="en-US" altLang="en-US" dirty="0"/>
              <a:t>’</a:t>
            </a:r>
            <a:r>
              <a:rPr lang="en-US" altLang="fr-FR" dirty="0"/>
              <a:t>s a matter of life and breath.</a:t>
            </a:r>
            <a:r>
              <a:rPr lang="en-US" altLang="en-US" dirty="0"/>
              <a:t>”</a:t>
            </a:r>
            <a:r>
              <a:rPr lang="en-US" altLang="fr-FR" dirty="0"/>
              <a:t> We need oxygen for life, and pure fresh air for health.</a:t>
            </a:r>
          </a:p>
          <a:p>
            <a:pPr eaLnBrk="1" hangingPunct="1">
              <a:spcBef>
                <a:spcPct val="0"/>
              </a:spcBef>
            </a:pPr>
            <a:endParaRPr lang="en-US" altLang="fr-FR" dirty="0"/>
          </a:p>
        </p:txBody>
      </p:sp>
      <p:sp>
        <p:nvSpPr>
          <p:cNvPr id="633860" name="Slide Number Placeholder 3">
            <a:extLst>
              <a:ext uri="{FF2B5EF4-FFF2-40B4-BE49-F238E27FC236}">
                <a16:creationId xmlns:a16="http://schemas.microsoft.com/office/drawing/2014/main" xmlns="" id="{DE526AC0-D459-4FB8-BC50-33289586DB7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46F0C6F-DAE6-4F2D-80AE-83F434423796}"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55769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Slide Image Placeholder 1">
            <a:extLst>
              <a:ext uri="{FF2B5EF4-FFF2-40B4-BE49-F238E27FC236}">
                <a16:creationId xmlns:a16="http://schemas.microsoft.com/office/drawing/2014/main" xmlns="" id="{7D7C4496-24C0-4D87-B0C0-FDAECAD854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5907" name="Notes Placeholder 2">
            <a:extLst>
              <a:ext uri="{FF2B5EF4-FFF2-40B4-BE49-F238E27FC236}">
                <a16:creationId xmlns:a16="http://schemas.microsoft.com/office/drawing/2014/main" xmlns="" id="{ABC9827A-3570-44CE-A585-BE32FE41E7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During exercise, the increased cellular activity of the muscles produces more carbon dioxide. The carbon dioxide acts on specialized receptors and the respiration center in the brain, causing a higher rate of respiration, which is also deeper. During rest, the breathing rate is lower because the carbon dioxide production is lower. Control mechanisms, however, ensure adequate breathing to provide appropriate amounts of oxygen to all body cells. In addition to removing carbon dioxide from the body, breathing results in a loss of water from the body in the form of water vapor. This is one of the forms of </a:t>
            </a:r>
            <a:r>
              <a:rPr lang="en-US" altLang="en-US"/>
              <a:t>“</a:t>
            </a:r>
            <a:r>
              <a:rPr lang="en-US" altLang="fr-FR"/>
              <a:t>invisible</a:t>
            </a:r>
            <a:r>
              <a:rPr lang="en-US" altLang="en-US"/>
              <a:t>”</a:t>
            </a:r>
            <a:r>
              <a:rPr lang="en-US" altLang="fr-FR"/>
              <a:t> water loss, so named because it is not seen or obvious. Prolonged, rapid, deep breathing can aggravate dehydration; this may occur in prolonged exercise, heat exhaustion, and disease states.</a:t>
            </a:r>
          </a:p>
          <a:p>
            <a:pPr eaLnBrk="1" hangingPunct="1">
              <a:spcBef>
                <a:spcPct val="0"/>
              </a:spcBef>
            </a:pPr>
            <a:endParaRPr lang="en-US" altLang="fr-FR"/>
          </a:p>
          <a:p>
            <a:pPr eaLnBrk="1" hangingPunct="1">
              <a:spcBef>
                <a:spcPct val="0"/>
              </a:spcBef>
            </a:pPr>
            <a:endParaRPr lang="en-US" altLang="fr-FR"/>
          </a:p>
        </p:txBody>
      </p:sp>
      <p:sp>
        <p:nvSpPr>
          <p:cNvPr id="635908" name="Slide Number Placeholder 3">
            <a:extLst>
              <a:ext uri="{FF2B5EF4-FFF2-40B4-BE49-F238E27FC236}">
                <a16:creationId xmlns:a16="http://schemas.microsoft.com/office/drawing/2014/main" xmlns="" id="{4E6A3FA6-E479-43D8-B4CA-2A9DC4F534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84F68BB-1333-481C-A74B-52F5C20147FF}"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59488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Slide Image Placeholder 1">
            <a:extLst>
              <a:ext uri="{FF2B5EF4-FFF2-40B4-BE49-F238E27FC236}">
                <a16:creationId xmlns:a16="http://schemas.microsoft.com/office/drawing/2014/main" xmlns="" id="{4A36058E-B558-40B2-A422-933D07A17A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7955" name="Notes Placeholder 2">
            <a:extLst>
              <a:ext uri="{FF2B5EF4-FFF2-40B4-BE49-F238E27FC236}">
                <a16:creationId xmlns:a16="http://schemas.microsoft.com/office/drawing/2014/main" xmlns="" id="{31693F18-E489-41B3-935C-DA86C8B998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High-quality fresh air is pure and clean. The life-giving oxygen molecules should be unpolluted. Deep breathing of fresh air imparts an improved sense of well-being. It increases the rate and quality of growth in plants and animals. It improves the function of the lung</a:t>
            </a:r>
            <a:r>
              <a:rPr lang="en-US" altLang="en-US" dirty="0"/>
              <a:t>’</a:t>
            </a:r>
            <a:r>
              <a:rPr lang="en-US" altLang="fr-FR" dirty="0"/>
              <a:t>s protective cilia. These are the microscopic, fine, hair-like structures that help to keep dust and fine particles as well as irritants from entering the lungs. Good oxygenation lowers the body temperature and resting heart rate, and decreases the survival of certain bacteria and viruses found in the air.</a:t>
            </a:r>
          </a:p>
          <a:p>
            <a:pPr eaLnBrk="1" hangingPunct="1">
              <a:spcBef>
                <a:spcPct val="0"/>
              </a:spcBef>
            </a:pPr>
            <a:endParaRPr lang="en-US" altLang="fr-FR" dirty="0"/>
          </a:p>
        </p:txBody>
      </p:sp>
      <p:sp>
        <p:nvSpPr>
          <p:cNvPr id="637956" name="Slide Number Placeholder 3">
            <a:extLst>
              <a:ext uri="{FF2B5EF4-FFF2-40B4-BE49-F238E27FC236}">
                <a16:creationId xmlns:a16="http://schemas.microsoft.com/office/drawing/2014/main" xmlns="" id="{0CB0F6B5-AA28-4512-A220-E007C38386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DF3C512-8A4C-4581-916D-FB6F1143E648}"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78705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Slide Image Placeholder 1">
            <a:extLst>
              <a:ext uri="{FF2B5EF4-FFF2-40B4-BE49-F238E27FC236}">
                <a16:creationId xmlns:a16="http://schemas.microsoft.com/office/drawing/2014/main" xmlns="" id="{E29DAF9F-29C4-493E-BD2A-7019B0F17D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0003" name="Notes Placeholder 2">
            <a:extLst>
              <a:ext uri="{FF2B5EF4-FFF2-40B4-BE49-F238E27FC236}">
                <a16:creationId xmlns:a16="http://schemas.microsoft.com/office/drawing/2014/main" xmlns="" id="{CFD5C1C6-30E3-471E-8831-DBAF5603FF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Fresh air is often destroyed and polluted. This can occur through inadequate ventilation of dwellings, especially where open cooking fires and stoves are used. In cities the air in buildings is often recirculated through air-conditioning systems, increasing the pollution from city smog, tobacco smoke, and industrial and other pollutants. On the other hand, good quality air usually can be found in abundance in natural outdoor environments, especially around trees (sometimes called the </a:t>
            </a:r>
            <a:r>
              <a:rPr lang="en-US" altLang="en-US"/>
              <a:t>“</a:t>
            </a:r>
            <a:r>
              <a:rPr lang="en-US" altLang="fr-FR"/>
              <a:t>lungs of the earth</a:t>
            </a:r>
            <a:r>
              <a:rPr lang="en-US" altLang="en-US"/>
              <a:t>”</a:t>
            </a:r>
            <a:r>
              <a:rPr lang="en-US" altLang="fr-FR"/>
              <a:t>); green plants; mountains and forests; lakes, oceans, rivers, and waterfalls; and after rainfall. It</a:t>
            </a:r>
            <a:r>
              <a:rPr lang="en-US" altLang="en-US"/>
              <a:t>’</a:t>
            </a:r>
            <a:r>
              <a:rPr lang="en-US" altLang="fr-FR"/>
              <a:t>s estimated that the algae in the ocean provide almost 90 percent of the oxygen in our atmosphere, with the rest coming from land plants. </a:t>
            </a:r>
          </a:p>
        </p:txBody>
      </p:sp>
      <p:sp>
        <p:nvSpPr>
          <p:cNvPr id="640004" name="Slide Number Placeholder 3">
            <a:extLst>
              <a:ext uri="{FF2B5EF4-FFF2-40B4-BE49-F238E27FC236}">
                <a16:creationId xmlns:a16="http://schemas.microsoft.com/office/drawing/2014/main" xmlns="" id="{4D61A0F9-E65B-426E-8CEC-DE7493FF48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CB25222-7B9C-4995-B1FD-44CA60271CF5}"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21101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Slide Image Placeholder 1">
            <a:extLst>
              <a:ext uri="{FF2B5EF4-FFF2-40B4-BE49-F238E27FC236}">
                <a16:creationId xmlns:a16="http://schemas.microsoft.com/office/drawing/2014/main" xmlns="" id="{B60DD3A8-1453-4249-8E47-DCBF82B1E6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2051" name="Notes Placeholder 2">
            <a:extLst>
              <a:ext uri="{FF2B5EF4-FFF2-40B4-BE49-F238E27FC236}">
                <a16:creationId xmlns:a16="http://schemas.microsoft.com/office/drawing/2014/main" xmlns="" id="{4CBCD4A4-52AF-4CFD-9E93-F2042838C4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Fresh air, when unpolluted, is invigorating! Notice how exhilarated you feel near a waterfall or at the ocean. This may be one of the reasons for the popularity of holiday resorts and vacation areas in the mountain areas and at the seaside.</a:t>
            </a:r>
          </a:p>
          <a:p>
            <a:pPr eaLnBrk="1" hangingPunct="1">
              <a:spcBef>
                <a:spcPct val="0"/>
              </a:spcBef>
            </a:pPr>
            <a:endParaRPr lang="en-US" altLang="fr-FR"/>
          </a:p>
        </p:txBody>
      </p:sp>
      <p:sp>
        <p:nvSpPr>
          <p:cNvPr id="642052" name="Slide Number Placeholder 3">
            <a:extLst>
              <a:ext uri="{FF2B5EF4-FFF2-40B4-BE49-F238E27FC236}">
                <a16:creationId xmlns:a16="http://schemas.microsoft.com/office/drawing/2014/main" xmlns="" id="{78D5B271-72FE-4A3D-B16D-5C4F1594120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68DC6E4-D4F2-4D54-BA49-9BC0485FCBCF}"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88852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Slide Image Placeholder 1">
            <a:extLst>
              <a:ext uri="{FF2B5EF4-FFF2-40B4-BE49-F238E27FC236}">
                <a16:creationId xmlns:a16="http://schemas.microsoft.com/office/drawing/2014/main" xmlns="" id="{227587D0-6B5C-4C1A-92AC-C9BAA6DB11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4099" name="Notes Placeholder 2">
            <a:extLst>
              <a:ext uri="{FF2B5EF4-FFF2-40B4-BE49-F238E27FC236}">
                <a16:creationId xmlns:a16="http://schemas.microsoft.com/office/drawing/2014/main" xmlns="" id="{9CAF9D9A-31DE-4DD2-8995-27FBC26282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dirty="0"/>
              <a:t>The air also has many protective qualities. On a global level the air and its suspended water vapor protect the earth and its inhabitants from solar radiation and the cold vacuum of outer space. The air recycles water and many chemicals to moderate the climate. Within this atmospheric envelope, life is found over a very wide range of altitudes and temperatures. Some life-forms require large amounts of oxygen; others only a scant amount. Humans need to have optimal health, and fresh, clean air. </a:t>
            </a:r>
          </a:p>
          <a:p>
            <a:pPr eaLnBrk="1" hangingPunct="1">
              <a:spcBef>
                <a:spcPct val="0"/>
              </a:spcBef>
            </a:pPr>
            <a:endParaRPr lang="en-US" altLang="fr-FR" dirty="0"/>
          </a:p>
        </p:txBody>
      </p:sp>
      <p:sp>
        <p:nvSpPr>
          <p:cNvPr id="644100" name="Slide Number Placeholder 3">
            <a:extLst>
              <a:ext uri="{FF2B5EF4-FFF2-40B4-BE49-F238E27FC236}">
                <a16:creationId xmlns:a16="http://schemas.microsoft.com/office/drawing/2014/main" xmlns="" id="{6E9D5E9F-7D05-4A06-BDFE-E64CC03D5F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99A6E3A-E8B8-4899-9B68-F282FDFB465C}"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9848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Slide Image Placeholder 1">
            <a:extLst>
              <a:ext uri="{FF2B5EF4-FFF2-40B4-BE49-F238E27FC236}">
                <a16:creationId xmlns:a16="http://schemas.microsoft.com/office/drawing/2014/main" xmlns="" id="{3EE0100E-D1C6-437B-A10B-537AB8EC5C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6147" name="Notes Placeholder 2">
            <a:extLst>
              <a:ext uri="{FF2B5EF4-FFF2-40B4-BE49-F238E27FC236}">
                <a16:creationId xmlns:a16="http://schemas.microsoft.com/office/drawing/2014/main" xmlns="" id="{D6A0827B-749D-423C-972C-EFC36868A6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Polluted air is found on freeways, at airports, and in closed, poorly ventilated areas. Polluted, smoke-filled air can be associated with increased anxiety, migraine headaches, nausea, vomiting, eye problems, irritability, and respiratory congestion. The World Health Organization (WHO) estimates that more than 2 million people die every year from inhaling tiny pollutant particles present in indoor and outdoor air pollution. These tiny particles, called PM-10 particles (10 micrometers or less), can penetrate the lungs and may enter the bloodstream causing heart disease, lung cancer, asthma, and acute lower respiratory infections.¹  Some 6 million people, mostly children, die each year from acute respiratory infections, complicated particularly by indoor pollution often originating from unvented or poorly vented cooking facilities. In many cities the PM-10 particle level is 15 times above the recommended safety guidelines. The evidence that air pollution results in increased strokes and vascular disease including heart attacks is growing. Additionally, researcher Jennifer Weuve and colleagues have shown that long-term exposure to air pollution speeds up cognitive decline in older women and may increase the progression to dementia.²³⁴</a:t>
            </a:r>
          </a:p>
          <a:p>
            <a:pPr eaLnBrk="1" hangingPunct="1">
              <a:spcBef>
                <a:spcPct val="0"/>
              </a:spcBef>
            </a:pPr>
            <a:endParaRPr lang="en-US" altLang="fr-FR"/>
          </a:p>
        </p:txBody>
      </p:sp>
      <p:sp>
        <p:nvSpPr>
          <p:cNvPr id="646148" name="Slide Number Placeholder 3">
            <a:extLst>
              <a:ext uri="{FF2B5EF4-FFF2-40B4-BE49-F238E27FC236}">
                <a16:creationId xmlns:a16="http://schemas.microsoft.com/office/drawing/2014/main" xmlns="" id="{7259DAB0-1ABD-4FA6-9090-6C6B501748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F482008-CB39-4D9D-89B8-B29729CF10D7}"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7623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Slide Image Placeholder 1">
            <a:extLst>
              <a:ext uri="{FF2B5EF4-FFF2-40B4-BE49-F238E27FC236}">
                <a16:creationId xmlns:a16="http://schemas.microsoft.com/office/drawing/2014/main" xmlns="" id="{03395A10-7D62-4925-A920-986576D0BF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8195" name="Notes Placeholder 2">
            <a:extLst>
              <a:ext uri="{FF2B5EF4-FFF2-40B4-BE49-F238E27FC236}">
                <a16:creationId xmlns:a16="http://schemas.microsoft.com/office/drawing/2014/main" xmlns="" id="{778185F8-3E12-4996-9079-E3D69C49E1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results of pollution described above are sometimes beyond the control of the individual. This is often the case for the </a:t>
            </a:r>
            <a:r>
              <a:rPr lang="en-US" altLang="en-US"/>
              <a:t>“</a:t>
            </a:r>
            <a:r>
              <a:rPr lang="en-US" altLang="fr-FR"/>
              <a:t>passive smoker,</a:t>
            </a:r>
            <a:r>
              <a:rPr lang="en-US" altLang="en-US"/>
              <a:t>”</a:t>
            </a:r>
            <a:r>
              <a:rPr lang="en-US" altLang="fr-FR"/>
              <a:t> one who is exposed to secondhand tobacco smoke. Children frequently are victims of secondhand smoke (SHS) in homes where parents and other family members smoke. These children have an increased risk of suffering lower respiratory tract infections and middle ear infections.⁵ The severity and number of asthma episodes in asthmatic children are increased by exposure to SHS. There also is evidence linking tobacco smoke pollution to increased Sudden Infant Death Syndrome (SIDS).⁶ Adults exposed to SHS have an increased risk of lung cancer estimated at 20 percent in women and 30 percent in men who live with a smoker.⁷ Smoke pollution in the workplace increases the risk of nonsmokers developing lung cancer by 16 to 19 percent. </a:t>
            </a:r>
          </a:p>
          <a:p>
            <a:pPr eaLnBrk="1" hangingPunct="1">
              <a:spcBef>
                <a:spcPct val="0"/>
              </a:spcBef>
            </a:pPr>
            <a:endParaRPr lang="en-US" altLang="fr-FR"/>
          </a:p>
        </p:txBody>
      </p:sp>
      <p:sp>
        <p:nvSpPr>
          <p:cNvPr id="648196" name="Slide Number Placeholder 3">
            <a:extLst>
              <a:ext uri="{FF2B5EF4-FFF2-40B4-BE49-F238E27FC236}">
                <a16:creationId xmlns:a16="http://schemas.microsoft.com/office/drawing/2014/main" xmlns="" id="{430FA144-271D-4870-AEB9-6FC9377775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3E87543-7408-4924-99CC-B4D68848D73B}"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38485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Slide Image Placeholder 1">
            <a:extLst>
              <a:ext uri="{FF2B5EF4-FFF2-40B4-BE49-F238E27FC236}">
                <a16:creationId xmlns:a16="http://schemas.microsoft.com/office/drawing/2014/main" xmlns="" id="{375ECC89-483A-47C2-964B-59EDBCEF8D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0243" name="Notes Placeholder 2">
            <a:extLst>
              <a:ext uri="{FF2B5EF4-FFF2-40B4-BE49-F238E27FC236}">
                <a16:creationId xmlns:a16="http://schemas.microsoft.com/office/drawing/2014/main" xmlns="" id="{4BEE1B91-11D2-427D-859C-E59593BD66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can we do to ensure that we get adequate amounts of clean air and vital oxygen? Avoid tobacco smoke, and, as much as possible, stay out of polluted environments. Avoid shallow breathing; take deep breaths and exercise regularly. This helps us to take full advantage of the natural lung capacity and prevents the lower parts of the lung being under-ventilated. Take intentional breaks during work time to breathe deeply—outdoors, if possible. Good posture and diaphragmatic breathing also are helpful in obtaining optimal respiration, ventilation, and blood flow through the lungs.</a:t>
            </a:r>
          </a:p>
        </p:txBody>
      </p:sp>
      <p:sp>
        <p:nvSpPr>
          <p:cNvPr id="650244" name="Slide Number Placeholder 3">
            <a:extLst>
              <a:ext uri="{FF2B5EF4-FFF2-40B4-BE49-F238E27FC236}">
                <a16:creationId xmlns:a16="http://schemas.microsoft.com/office/drawing/2014/main" xmlns="" id="{686CD91E-F2B4-4BD7-9A05-2A030B8505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05EFAD3-DAF3-40E8-8359-F0D452ADAF46}"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98027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Slide Image Placeholder 1">
            <a:extLst>
              <a:ext uri="{FF2B5EF4-FFF2-40B4-BE49-F238E27FC236}">
                <a16:creationId xmlns:a16="http://schemas.microsoft.com/office/drawing/2014/main" xmlns="" id="{00ED98C8-3DDE-48D2-A772-1D97369749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E82A31E2-2261-4BBB-B8D3-544C4F116577}"/>
              </a:ext>
            </a:extLst>
          </p:cNvPr>
          <p:cNvSpPr>
            <a:spLocks noGrp="1"/>
          </p:cNvSpPr>
          <p:nvPr>
            <p:ph type="body" idx="1"/>
          </p:nvPr>
        </p:nvSpPr>
        <p:spPr/>
        <p:txBody>
          <a:bodyPr/>
          <a:lstStyle/>
          <a:p>
            <a:pPr eaLnBrk="1" fontAlgn="auto" hangingPunct="1">
              <a:spcBef>
                <a:spcPts val="0"/>
              </a:spcBef>
              <a:spcAft>
                <a:spcPts val="0"/>
              </a:spcAft>
              <a:defRPr/>
            </a:pPr>
            <a:r>
              <a:rPr lang="en-US" b="1" dirty="0">
                <a:ea typeface="+mn-ea"/>
              </a:rPr>
              <a:t>Good posture:</a:t>
            </a:r>
            <a:r>
              <a:rPr lang="en-US" dirty="0">
                <a:ea typeface="+mn-ea"/>
              </a:rPr>
              <a:t> The late Dr. </a:t>
            </a:r>
            <a:r>
              <a:rPr lang="en-US" dirty="0" err="1">
                <a:ea typeface="+mn-ea"/>
              </a:rPr>
              <a:t>Mervyn</a:t>
            </a:r>
            <a:r>
              <a:rPr lang="en-US" dirty="0">
                <a:ea typeface="+mn-ea"/>
              </a:rPr>
              <a:t> Hardinge, dean emeritus of Loma Linda University School of Public Health, suggested these five steps to help individuals acquire good posture habits:</a:t>
            </a:r>
          </a:p>
          <a:p>
            <a:pPr eaLnBrk="1" fontAlgn="auto" hangingPunct="1">
              <a:spcBef>
                <a:spcPts val="0"/>
              </a:spcBef>
              <a:spcAft>
                <a:spcPts val="0"/>
              </a:spcAft>
              <a:defRPr/>
            </a:pPr>
            <a:endParaRPr lang="en-US" dirty="0">
              <a:ea typeface="+mn-ea"/>
            </a:endParaRPr>
          </a:p>
          <a:p>
            <a:pPr marL="171450" indent="-171450" eaLnBrk="1" fontAlgn="auto" hangingPunct="1">
              <a:spcBef>
                <a:spcPts val="0"/>
              </a:spcBef>
              <a:spcAft>
                <a:spcPts val="0"/>
              </a:spcAft>
              <a:buFont typeface="Arial" pitchFamily="34" charset="0"/>
              <a:buChar char="•"/>
              <a:defRPr/>
            </a:pPr>
            <a:r>
              <a:rPr lang="en-US" dirty="0">
                <a:ea typeface="+mn-ea"/>
              </a:rPr>
              <a:t>Flatten the plane of the pelvis by contracting the large gluteus muscles.</a:t>
            </a:r>
          </a:p>
          <a:p>
            <a:pPr marL="171450" indent="-171450" eaLnBrk="1" fontAlgn="auto" hangingPunct="1">
              <a:spcBef>
                <a:spcPts val="0"/>
              </a:spcBef>
              <a:spcAft>
                <a:spcPts val="0"/>
              </a:spcAft>
              <a:buFont typeface="Arial" pitchFamily="34" charset="0"/>
              <a:buChar char="•"/>
              <a:defRPr/>
            </a:pPr>
            <a:r>
              <a:rPr lang="en-US" dirty="0">
                <a:ea typeface="+mn-ea"/>
              </a:rPr>
              <a:t>Stand tall, thus decreasing the forward and backward curves of the spine.</a:t>
            </a:r>
          </a:p>
        </p:txBody>
      </p:sp>
      <p:sp>
        <p:nvSpPr>
          <p:cNvPr id="652292" name="Slide Number Placeholder 3">
            <a:extLst>
              <a:ext uri="{FF2B5EF4-FFF2-40B4-BE49-F238E27FC236}">
                <a16:creationId xmlns:a16="http://schemas.microsoft.com/office/drawing/2014/main" xmlns="" id="{3CF7AE20-2A72-41B7-A3B2-02BE76BDD4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1AE824F-B1AC-4309-92FF-C5070329439C}"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15813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Slide Image Placeholder 1">
            <a:extLst>
              <a:ext uri="{FF2B5EF4-FFF2-40B4-BE49-F238E27FC236}">
                <a16:creationId xmlns:a16="http://schemas.microsoft.com/office/drawing/2014/main" xmlns="" id="{0CA73A4A-D2BD-41E1-872F-080F1B5286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7195DABC-0369-4DB5-B779-D98C39DFF8DF}"/>
              </a:ext>
            </a:extLst>
          </p:cNvPr>
          <p:cNvSpPr>
            <a:spLocks noGrp="1"/>
          </p:cNvSpPr>
          <p:nvPr>
            <p:ph type="body" idx="1"/>
          </p:nvPr>
        </p:nvSpPr>
        <p:spPr/>
        <p:txBody>
          <a:bodyPr/>
          <a:lstStyle/>
          <a:p>
            <a:pPr marL="171450" indent="-171450" eaLnBrk="1" fontAlgn="auto" hangingPunct="1">
              <a:spcBef>
                <a:spcPts val="0"/>
              </a:spcBef>
              <a:spcAft>
                <a:spcPts val="0"/>
              </a:spcAft>
              <a:buFont typeface="Arial" pitchFamily="34" charset="0"/>
              <a:buChar char="•"/>
              <a:defRPr/>
            </a:pPr>
            <a:r>
              <a:rPr lang="en-US" dirty="0">
                <a:ea typeface="+mn-ea"/>
              </a:rPr>
              <a:t>Keep the head back, chin horizontal, and eyes looking straight ahead.</a:t>
            </a:r>
          </a:p>
          <a:p>
            <a:pPr marL="171450" indent="-171450" eaLnBrk="1" fontAlgn="auto" hangingPunct="1">
              <a:spcBef>
                <a:spcPts val="0"/>
              </a:spcBef>
              <a:spcAft>
                <a:spcPts val="0"/>
              </a:spcAft>
              <a:buFont typeface="Arial" pitchFamily="34" charset="0"/>
              <a:buChar char="•"/>
              <a:defRPr/>
            </a:pPr>
            <a:r>
              <a:rPr lang="en-US" dirty="0">
                <a:ea typeface="+mn-ea"/>
              </a:rPr>
              <a:t>The feet should be slightly apart and directed forward, the upper limbs hanging naturally by the side.</a:t>
            </a:r>
          </a:p>
          <a:p>
            <a:pPr eaLnBrk="1" fontAlgn="auto" hangingPunct="1">
              <a:spcBef>
                <a:spcPts val="0"/>
              </a:spcBef>
              <a:spcAft>
                <a:spcPts val="0"/>
              </a:spcAft>
              <a:buFont typeface="Arial" pitchFamily="34" charset="0"/>
              <a:buNone/>
              <a:defRPr/>
            </a:pPr>
            <a:endParaRPr lang="en-US" dirty="0">
              <a:ea typeface="+mn-ea"/>
            </a:endParaRPr>
          </a:p>
        </p:txBody>
      </p:sp>
      <p:sp>
        <p:nvSpPr>
          <p:cNvPr id="654340" name="Slide Number Placeholder 3">
            <a:extLst>
              <a:ext uri="{FF2B5EF4-FFF2-40B4-BE49-F238E27FC236}">
                <a16:creationId xmlns:a16="http://schemas.microsoft.com/office/drawing/2014/main" xmlns="" id="{85165892-82E3-465D-8658-EF31DDB280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D5EA43A-34D5-43FC-98CC-95D5D008D49D}"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24700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Slide Image Placeholder 1">
            <a:extLst>
              <a:ext uri="{FF2B5EF4-FFF2-40B4-BE49-F238E27FC236}">
                <a16:creationId xmlns:a16="http://schemas.microsoft.com/office/drawing/2014/main" xmlns="" id="{D9741FA4-9292-4CC8-9BD3-3D60658689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6387" name="Notes Placeholder 2">
            <a:extLst>
              <a:ext uri="{FF2B5EF4-FFF2-40B4-BE49-F238E27FC236}">
                <a16:creationId xmlns:a16="http://schemas.microsoft.com/office/drawing/2014/main" xmlns="" id="{09358D57-F12B-4832-A6BC-B3765A30F7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r>
              <a:rPr lang="en-US" altLang="fr-FR"/>
              <a:t>Exercise so as to stretch and strengthen muscles.</a:t>
            </a:r>
          </a:p>
          <a:p>
            <a:pPr marL="171450" indent="-171450" eaLnBrk="1" hangingPunct="1">
              <a:spcBef>
                <a:spcPct val="0"/>
              </a:spcBef>
            </a:pPr>
            <a:r>
              <a:rPr lang="en-US" altLang="fr-FR"/>
              <a:t>Constriction of the thoracic cage by poor posture or even states of disease, often results in diminished lung volume and respiratory reserve. Good posture enhances one</a:t>
            </a:r>
            <a:r>
              <a:rPr lang="en-US" altLang="en-US"/>
              <a:t>’</a:t>
            </a:r>
            <a:r>
              <a:rPr lang="en-US" altLang="fr-FR"/>
              <a:t>s respiratory capacities and exercise capabilities.</a:t>
            </a:r>
          </a:p>
          <a:p>
            <a:pPr marL="171450" indent="-171450" eaLnBrk="1" hangingPunct="1">
              <a:spcBef>
                <a:spcPct val="0"/>
              </a:spcBef>
            </a:pPr>
            <a:r>
              <a:rPr lang="en-US" altLang="fr-FR"/>
              <a:t>	</a:t>
            </a:r>
          </a:p>
          <a:p>
            <a:pPr marL="171450" indent="-171450" eaLnBrk="1" hangingPunct="1">
              <a:spcBef>
                <a:spcPct val="0"/>
              </a:spcBef>
              <a:buFontTx/>
              <a:buChar char="•"/>
            </a:pPr>
            <a:endParaRPr lang="en-US" altLang="fr-FR"/>
          </a:p>
        </p:txBody>
      </p:sp>
      <p:sp>
        <p:nvSpPr>
          <p:cNvPr id="656388" name="Slide Number Placeholder 3">
            <a:extLst>
              <a:ext uri="{FF2B5EF4-FFF2-40B4-BE49-F238E27FC236}">
                <a16:creationId xmlns:a16="http://schemas.microsoft.com/office/drawing/2014/main" xmlns="" id="{9630FFE7-C98B-4A0D-B3DB-52D036349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295E2A0-15E9-49AF-B2E5-E26BEA872A28}"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24064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Slide Image Placeholder 1">
            <a:extLst>
              <a:ext uri="{FF2B5EF4-FFF2-40B4-BE49-F238E27FC236}">
                <a16:creationId xmlns:a16="http://schemas.microsoft.com/office/drawing/2014/main" xmlns="" id="{F5D23AFB-90E9-46D8-88E7-E52AFAF864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9B6F7244-DCE2-4CD9-8780-943B010A15DF}"/>
              </a:ext>
            </a:extLst>
          </p:cNvPr>
          <p:cNvSpPr>
            <a:spLocks noGrp="1"/>
          </p:cNvSpPr>
          <p:nvPr>
            <p:ph type="body" idx="1"/>
          </p:nvPr>
        </p:nvSpPr>
        <p:spPr/>
        <p:txBody>
          <a:bodyPr/>
          <a:lstStyle/>
          <a:p>
            <a:pPr eaLnBrk="1" fontAlgn="auto" hangingPunct="1">
              <a:spcBef>
                <a:spcPts val="0"/>
              </a:spcBef>
              <a:spcAft>
                <a:spcPts val="0"/>
              </a:spcAft>
              <a:defRPr/>
            </a:pPr>
            <a:r>
              <a:rPr lang="en-US" b="1" dirty="0">
                <a:ea typeface="+mn-ea"/>
              </a:rPr>
              <a:t>Diaphragmatic breathing:</a:t>
            </a:r>
            <a:r>
              <a:rPr lang="en-US" dirty="0">
                <a:ea typeface="+mn-ea"/>
              </a:rPr>
              <a:t> People who are fit and exercise regularly also strengthen the muscles of respiration, of which the diaphragm is the most important. To practice diaphragmatic breathing do the following:</a:t>
            </a:r>
          </a:p>
          <a:p>
            <a:pPr eaLnBrk="1" fontAlgn="auto" hangingPunct="1">
              <a:spcBef>
                <a:spcPts val="0"/>
              </a:spcBef>
              <a:spcAft>
                <a:spcPts val="0"/>
              </a:spcAft>
              <a:defRPr/>
            </a:pPr>
            <a:endParaRPr lang="en-US" dirty="0">
              <a:ea typeface="+mn-ea"/>
            </a:endParaRPr>
          </a:p>
          <a:p>
            <a:pPr marL="171450" indent="-171450" eaLnBrk="1" fontAlgn="auto" hangingPunct="1">
              <a:spcBef>
                <a:spcPts val="0"/>
              </a:spcBef>
              <a:spcAft>
                <a:spcPts val="0"/>
              </a:spcAft>
              <a:buFont typeface="Arial" pitchFamily="34" charset="0"/>
              <a:buChar char="•"/>
              <a:defRPr/>
            </a:pPr>
            <a:r>
              <a:rPr lang="en-US" dirty="0">
                <a:ea typeface="+mn-ea"/>
              </a:rPr>
              <a:t>While standing, stretch your arms high above your head.</a:t>
            </a:r>
          </a:p>
          <a:p>
            <a:pPr marL="171450" indent="-171450" eaLnBrk="1" fontAlgn="auto" hangingPunct="1">
              <a:spcBef>
                <a:spcPts val="0"/>
              </a:spcBef>
              <a:spcAft>
                <a:spcPts val="0"/>
              </a:spcAft>
              <a:buFont typeface="Arial" pitchFamily="34" charset="0"/>
              <a:buChar char="•"/>
              <a:defRPr/>
            </a:pPr>
            <a:r>
              <a:rPr lang="en-US" dirty="0">
                <a:ea typeface="+mn-ea"/>
              </a:rPr>
              <a:t>Breathe in slowly, mouth closed. Normally the lower ribs will expand.</a:t>
            </a:r>
          </a:p>
        </p:txBody>
      </p:sp>
      <p:sp>
        <p:nvSpPr>
          <p:cNvPr id="658436" name="Slide Number Placeholder 3">
            <a:extLst>
              <a:ext uri="{FF2B5EF4-FFF2-40B4-BE49-F238E27FC236}">
                <a16:creationId xmlns:a16="http://schemas.microsoft.com/office/drawing/2014/main" xmlns="" id="{6291B269-F1D8-48B5-B86C-D80052D0B4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83FE2C7-EACF-4EB5-8F3C-68D1A184367E}"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88873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Slide Image Placeholder 1">
            <a:extLst>
              <a:ext uri="{FF2B5EF4-FFF2-40B4-BE49-F238E27FC236}">
                <a16:creationId xmlns:a16="http://schemas.microsoft.com/office/drawing/2014/main" xmlns="" id="{DA8C9FE7-B599-4CB3-BEDD-7503562805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0483" name="Notes Placeholder 2">
            <a:extLst>
              <a:ext uri="{FF2B5EF4-FFF2-40B4-BE49-F238E27FC236}">
                <a16:creationId xmlns:a16="http://schemas.microsoft.com/office/drawing/2014/main" xmlns="" id="{4ACB3D4A-19B4-42A3-B5E5-CDA2B1BD95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r>
              <a:rPr lang="en-US" altLang="fr-FR"/>
              <a:t>Expand the chest as far as possible while breathing in. </a:t>
            </a:r>
          </a:p>
          <a:p>
            <a:pPr marL="171450" indent="-171450" eaLnBrk="1" hangingPunct="1">
              <a:spcBef>
                <a:spcPct val="0"/>
              </a:spcBef>
              <a:buFontTx/>
              <a:buChar char="•"/>
            </a:pPr>
            <a:r>
              <a:rPr lang="en-US" altLang="fr-FR"/>
              <a:t>At the height of inspiration, take one more whiff of air.</a:t>
            </a:r>
          </a:p>
        </p:txBody>
      </p:sp>
      <p:sp>
        <p:nvSpPr>
          <p:cNvPr id="660484" name="Slide Number Placeholder 3">
            <a:extLst>
              <a:ext uri="{FF2B5EF4-FFF2-40B4-BE49-F238E27FC236}">
                <a16:creationId xmlns:a16="http://schemas.microsoft.com/office/drawing/2014/main" xmlns="" id="{0A207EEE-4BDE-4266-B07A-8306275FF5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21F7D71-5672-4460-94A3-A0944EE903F6}"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24722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Slide Image Placeholder 1">
            <a:extLst>
              <a:ext uri="{FF2B5EF4-FFF2-40B4-BE49-F238E27FC236}">
                <a16:creationId xmlns:a16="http://schemas.microsoft.com/office/drawing/2014/main" xmlns="" id="{F9CF934E-19E5-41F3-9338-D977633B80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227D4BD3-B929-466C-A399-B9FB48F72BD2}"/>
              </a:ext>
            </a:extLst>
          </p:cNvPr>
          <p:cNvSpPr>
            <a:spLocks noGrp="1"/>
          </p:cNvSpPr>
          <p:nvPr>
            <p:ph type="body" idx="1"/>
          </p:nvPr>
        </p:nvSpPr>
        <p:spPr/>
        <p:txBody>
          <a:bodyPr/>
          <a:lstStyle/>
          <a:p>
            <a:pPr marL="171450" indent="-171450" eaLnBrk="1" fontAlgn="auto" hangingPunct="1">
              <a:spcBef>
                <a:spcPts val="0"/>
              </a:spcBef>
              <a:spcAft>
                <a:spcPts val="0"/>
              </a:spcAft>
              <a:buFont typeface="Arial" pitchFamily="34" charset="0"/>
              <a:buChar char="•"/>
              <a:defRPr/>
            </a:pPr>
            <a:r>
              <a:rPr lang="en-US" dirty="0">
                <a:ea typeface="+mn-ea"/>
              </a:rPr>
              <a:t>With mouth open let all the air out while slowly bending over. </a:t>
            </a:r>
          </a:p>
          <a:p>
            <a:pPr marL="171450" indent="-171450" eaLnBrk="1" fontAlgn="auto" hangingPunct="1">
              <a:spcBef>
                <a:spcPts val="0"/>
              </a:spcBef>
              <a:spcAft>
                <a:spcPts val="0"/>
              </a:spcAft>
              <a:buFont typeface="Arial" pitchFamily="34" charset="0"/>
              <a:buChar char="•"/>
              <a:defRPr/>
            </a:pPr>
            <a:r>
              <a:rPr lang="en-US" dirty="0">
                <a:ea typeface="+mn-ea"/>
              </a:rPr>
              <a:t>Cough to get the last bit of air out.</a:t>
            </a:r>
          </a:p>
          <a:p>
            <a:pPr marL="171450" indent="-171450" eaLnBrk="1" fontAlgn="auto" hangingPunct="1">
              <a:spcBef>
                <a:spcPts val="0"/>
              </a:spcBef>
              <a:spcAft>
                <a:spcPts val="0"/>
              </a:spcAft>
              <a:buFont typeface="Arial" pitchFamily="34" charset="0"/>
              <a:buChar char="•"/>
              <a:defRPr/>
            </a:pPr>
            <a:r>
              <a:rPr lang="en-US" dirty="0">
                <a:ea typeface="+mn-ea"/>
              </a:rPr>
              <a:t>Repeat five to ten times every morning.</a:t>
            </a:r>
          </a:p>
          <a:p>
            <a:pPr eaLnBrk="1" fontAlgn="auto" hangingPunct="1">
              <a:spcBef>
                <a:spcPts val="0"/>
              </a:spcBef>
              <a:spcAft>
                <a:spcPts val="0"/>
              </a:spcAft>
              <a:defRPr/>
            </a:pPr>
            <a:r>
              <a:rPr lang="en-US" dirty="0">
                <a:ea typeface="+mn-ea"/>
              </a:rPr>
              <a:t>	</a:t>
            </a:r>
          </a:p>
        </p:txBody>
      </p:sp>
      <p:sp>
        <p:nvSpPr>
          <p:cNvPr id="662532" name="Slide Number Placeholder 3">
            <a:extLst>
              <a:ext uri="{FF2B5EF4-FFF2-40B4-BE49-F238E27FC236}">
                <a16:creationId xmlns:a16="http://schemas.microsoft.com/office/drawing/2014/main" xmlns="" id="{7CDD34D7-B722-4516-8F47-17E55D022B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D9C4778-2F58-413A-8397-9A852194026C}"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67040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Slide Image Placeholder 1">
            <a:extLst>
              <a:ext uri="{FF2B5EF4-FFF2-40B4-BE49-F238E27FC236}">
                <a16:creationId xmlns:a16="http://schemas.microsoft.com/office/drawing/2014/main" xmlns="" id="{3D21CB09-D404-40D6-98F4-A8ACA58E2F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4579" name="Notes Placeholder 2">
            <a:extLst>
              <a:ext uri="{FF2B5EF4-FFF2-40B4-BE49-F238E27FC236}">
                <a16:creationId xmlns:a16="http://schemas.microsoft.com/office/drawing/2014/main" xmlns="" id="{13456EE6-7577-48E0-BEA5-07D1256AFB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Diaphragmatic breathing aerates the respiratory tract and reduces the risk of infection. Quiet breathing moves about 500 cubic centimeters of air in and out of the lungs, whereas the total volume that can pass in and out of the lungs in one breath—the vital capacity—is about 4,000 cubic centimeters, eight times greater than during quiet breathing.</a:t>
            </a:r>
          </a:p>
          <a:p>
            <a:pPr eaLnBrk="1" hangingPunct="1">
              <a:spcBef>
                <a:spcPct val="0"/>
              </a:spcBef>
            </a:pPr>
            <a:r>
              <a:rPr lang="en-US" altLang="fr-FR"/>
              <a:t>	</a:t>
            </a:r>
          </a:p>
          <a:p>
            <a:pPr eaLnBrk="1" hangingPunct="1">
              <a:spcBef>
                <a:spcPct val="0"/>
              </a:spcBef>
            </a:pPr>
            <a:r>
              <a:rPr lang="en-US" altLang="fr-FR"/>
              <a:t>The cells most sensitive to lack of oxygen are those of the brain. The brain is the seat of judgment, reason, intellect, and the will—the control center of our entire being. It</a:t>
            </a:r>
            <a:r>
              <a:rPr lang="en-US" altLang="en-US"/>
              <a:t>’</a:t>
            </a:r>
            <a:r>
              <a:rPr lang="en-US" altLang="fr-FR"/>
              <a:t>s essential to ensure optimal oxygenation of the brain by avoiding underventilated areas where carbon dioxide, carbon monoxide, and other pollutants may interfere with normal oxygen availability.</a:t>
            </a:r>
          </a:p>
          <a:p>
            <a:pPr eaLnBrk="1" hangingPunct="1">
              <a:spcBef>
                <a:spcPct val="0"/>
              </a:spcBef>
              <a:buFontTx/>
              <a:buChar char="•"/>
            </a:pPr>
            <a:endParaRPr lang="en-US" altLang="fr-FR"/>
          </a:p>
          <a:p>
            <a:pPr eaLnBrk="1" hangingPunct="1">
              <a:spcBef>
                <a:spcPct val="0"/>
              </a:spcBef>
            </a:pPr>
            <a:endParaRPr lang="en-US" altLang="fr-FR"/>
          </a:p>
          <a:p>
            <a:pPr eaLnBrk="1" hangingPunct="1">
              <a:spcBef>
                <a:spcPct val="0"/>
              </a:spcBef>
            </a:pPr>
            <a:endParaRPr lang="en-US" altLang="fr-FR"/>
          </a:p>
          <a:p>
            <a:pPr eaLnBrk="1" hangingPunct="1">
              <a:spcBef>
                <a:spcPct val="0"/>
              </a:spcBef>
            </a:pPr>
            <a:endParaRPr lang="en-US" altLang="fr-FR"/>
          </a:p>
        </p:txBody>
      </p:sp>
      <p:sp>
        <p:nvSpPr>
          <p:cNvPr id="664580" name="Slide Number Placeholder 3">
            <a:extLst>
              <a:ext uri="{FF2B5EF4-FFF2-40B4-BE49-F238E27FC236}">
                <a16:creationId xmlns:a16="http://schemas.microsoft.com/office/drawing/2014/main" xmlns="" id="{22D590BF-96B9-4B71-BDDA-A740712A6A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7A2D6ED-144E-437B-9415-FEFCAB9EA683}"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672507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Slide Image Placeholder 1">
            <a:extLst>
              <a:ext uri="{FF2B5EF4-FFF2-40B4-BE49-F238E27FC236}">
                <a16:creationId xmlns:a16="http://schemas.microsoft.com/office/drawing/2014/main" xmlns="" id="{C00C5393-C3A0-4BD9-BE00-605D75F4F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6627" name="Notes Placeholder 2">
            <a:extLst>
              <a:ext uri="{FF2B5EF4-FFF2-40B4-BE49-F238E27FC236}">
                <a16:creationId xmlns:a16="http://schemas.microsoft.com/office/drawing/2014/main" xmlns="" id="{693FBCD7-D091-4E15-817A-8E5710C793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atmosphere surrounding the earth provides our wonderfully designed and created bodies with the literal breath of life. Right in the beginning the Lord God our Creator made this provision to support life: </a:t>
            </a:r>
            <a:r>
              <a:rPr lang="en-US" altLang="en-US"/>
              <a:t>“</a:t>
            </a:r>
            <a:r>
              <a:rPr lang="en-US" altLang="fr-FR"/>
              <a:t>The Lord God formed man of the dust of the ground, and breathed into his nostrils the breath of life; and man became a living being</a:t>
            </a:r>
            <a:r>
              <a:rPr lang="en-US" altLang="en-US"/>
              <a:t>”</a:t>
            </a:r>
            <a:r>
              <a:rPr lang="en-US" altLang="fr-FR"/>
              <a:t> (Gen. 2:7, NKJV). We have the privilege and responsibility to ensure that our body receives the purest, freshest air possible. We also need to care for the environment and do all we can, individually and collectively, to prevent and minimize air pollution. We cannot do this alone. We need the sustaining power and grace of the loving creator God.</a:t>
            </a:r>
          </a:p>
          <a:p>
            <a:pPr eaLnBrk="1" hangingPunct="1">
              <a:spcBef>
                <a:spcPct val="0"/>
              </a:spcBef>
            </a:pPr>
            <a:endParaRPr lang="en-US" altLang="fr-FR"/>
          </a:p>
        </p:txBody>
      </p:sp>
      <p:sp>
        <p:nvSpPr>
          <p:cNvPr id="666628" name="Slide Number Placeholder 3">
            <a:extLst>
              <a:ext uri="{FF2B5EF4-FFF2-40B4-BE49-F238E27FC236}">
                <a16:creationId xmlns:a16="http://schemas.microsoft.com/office/drawing/2014/main" xmlns="" id="{AF177C48-633D-47ED-A681-DFE66B7727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88B6EE2-ACDE-4C7C-A102-E55C7848D81B}"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88986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Slide Image Placeholder 1">
            <a:extLst>
              <a:ext uri="{FF2B5EF4-FFF2-40B4-BE49-F238E27FC236}">
                <a16:creationId xmlns:a16="http://schemas.microsoft.com/office/drawing/2014/main" xmlns="" id="{3B16F38A-5D5A-4A07-84D1-A45F9BA457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8675" name="Notes Placeholder 2">
            <a:extLst>
              <a:ext uri="{FF2B5EF4-FFF2-40B4-BE49-F238E27FC236}">
                <a16:creationId xmlns:a16="http://schemas.microsoft.com/office/drawing/2014/main" xmlns="" id="{A0923A2E-8B71-4C9D-9D6A-BA25C0E43C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t>
            </a:r>
            <a:r>
              <a:rPr lang="en-US" altLang="fr-FR"/>
              <a:t>In the matchless gift of His Son, God has encircled the whole world with an atmosphere of grace as real as the air which circulates around the globe. All who choose to breathe this life-giving atmosphere will live and grow up to the stature of men and women in Christ Jesus.</a:t>
            </a:r>
            <a:r>
              <a:rPr lang="en-US" altLang="en-US"/>
              <a:t>”</a:t>
            </a:r>
            <a:r>
              <a:rPr lang="en-US" altLang="fr-FR"/>
              <a:t>⁸</a:t>
            </a:r>
          </a:p>
          <a:p>
            <a:pPr eaLnBrk="1" hangingPunct="1">
              <a:spcBef>
                <a:spcPct val="0"/>
              </a:spcBef>
            </a:pPr>
            <a:r>
              <a:rPr lang="en-US" altLang="fr-FR"/>
              <a:t>	</a:t>
            </a:r>
          </a:p>
          <a:p>
            <a:pPr eaLnBrk="1" hangingPunct="1">
              <a:spcBef>
                <a:spcPct val="0"/>
              </a:spcBef>
            </a:pPr>
            <a:r>
              <a:rPr lang="en-US" altLang="fr-FR"/>
              <a:t>As we celebrate a vital and fulfilled life, we need to breathe deeply, exercise well, enjoy the beauty of the great outdoors, and never forget the indwelling presence of God, the Breath of Life.</a:t>
            </a:r>
          </a:p>
          <a:p>
            <a:pPr eaLnBrk="1" hangingPunct="1">
              <a:spcBef>
                <a:spcPct val="0"/>
              </a:spcBef>
            </a:pPr>
            <a:endParaRPr lang="en-US" altLang="fr-FR"/>
          </a:p>
          <a:p>
            <a:pPr eaLnBrk="1" hangingPunct="1">
              <a:spcBef>
                <a:spcPct val="0"/>
              </a:spcBef>
            </a:pPr>
            <a:endParaRPr lang="en-US" altLang="fr-FR"/>
          </a:p>
        </p:txBody>
      </p:sp>
      <p:sp>
        <p:nvSpPr>
          <p:cNvPr id="668676" name="Slide Number Placeholder 3">
            <a:extLst>
              <a:ext uri="{FF2B5EF4-FFF2-40B4-BE49-F238E27FC236}">
                <a16:creationId xmlns:a16="http://schemas.microsoft.com/office/drawing/2014/main" xmlns="" id="{73DF8AE2-090B-4EC3-8601-DB73AE98CD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E88BF27-4690-423E-A053-313779821B7F}"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71700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Slide Image Placeholder 1">
            <a:extLst>
              <a:ext uri="{FF2B5EF4-FFF2-40B4-BE49-F238E27FC236}">
                <a16:creationId xmlns:a16="http://schemas.microsoft.com/office/drawing/2014/main" xmlns="" id="{6924DB42-EA63-4FCD-973A-28C811FD94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0723" name="Notes Placeholder 2">
            <a:extLst>
              <a:ext uri="{FF2B5EF4-FFF2-40B4-BE49-F238E27FC236}">
                <a16:creationId xmlns:a16="http://schemas.microsoft.com/office/drawing/2014/main" xmlns="" id="{461324C5-0EFF-4C2E-A520-FBA582A631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t>LIFE APPLICATION</a:t>
            </a:r>
          </a:p>
          <a:p>
            <a:pPr eaLnBrk="1" hangingPunct="1">
              <a:spcBef>
                <a:spcPct val="0"/>
              </a:spcBef>
            </a:pPr>
            <a:r>
              <a:rPr lang="en-US" altLang="fr-FR" b="1"/>
              <a:t>QUESTIONS</a:t>
            </a:r>
          </a:p>
        </p:txBody>
      </p:sp>
      <p:sp>
        <p:nvSpPr>
          <p:cNvPr id="670724" name="Slide Number Placeholder 3">
            <a:extLst>
              <a:ext uri="{FF2B5EF4-FFF2-40B4-BE49-F238E27FC236}">
                <a16:creationId xmlns:a16="http://schemas.microsoft.com/office/drawing/2014/main" xmlns="" id="{9E400254-EB5E-4EEA-A0B1-B3E8436AC9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6B431A2-7765-4324-BBCF-EE8FA38D33F9}"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019437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Slide Image Placeholder 1">
            <a:extLst>
              <a:ext uri="{FF2B5EF4-FFF2-40B4-BE49-F238E27FC236}">
                <a16:creationId xmlns:a16="http://schemas.microsoft.com/office/drawing/2014/main" xmlns="" id="{884F23FB-41D9-4388-9024-2B42275148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2771" name="Notes Placeholder 2">
            <a:extLst>
              <a:ext uri="{FF2B5EF4-FFF2-40B4-BE49-F238E27FC236}">
                <a16:creationId xmlns:a16="http://schemas.microsoft.com/office/drawing/2014/main" xmlns="" id="{725BB8C6-92D4-4014-BFDC-F87F767FEE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choices can I make that will help reduce global air pollution? </a:t>
            </a:r>
          </a:p>
          <a:p>
            <a:pPr eaLnBrk="1" hangingPunct="1">
              <a:spcBef>
                <a:spcPct val="0"/>
              </a:spcBef>
            </a:pPr>
            <a:r>
              <a:rPr lang="en-US" altLang="fr-FR"/>
              <a:t>Does the use of my car, electricity, and other energy sources make a difference? </a:t>
            </a:r>
          </a:p>
        </p:txBody>
      </p:sp>
      <p:sp>
        <p:nvSpPr>
          <p:cNvPr id="672772" name="Slide Number Placeholder 3">
            <a:extLst>
              <a:ext uri="{FF2B5EF4-FFF2-40B4-BE49-F238E27FC236}">
                <a16:creationId xmlns:a16="http://schemas.microsoft.com/office/drawing/2014/main" xmlns="" id="{FDF6E5BC-E0CD-4A69-AB0C-3F48CC907A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E369C4E-FF55-4A7D-885E-3CE844ABB505}"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972720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Slide Image Placeholder 1">
            <a:extLst>
              <a:ext uri="{FF2B5EF4-FFF2-40B4-BE49-F238E27FC236}">
                <a16:creationId xmlns:a16="http://schemas.microsoft.com/office/drawing/2014/main" xmlns="" id="{73785B5F-9956-46DF-95C5-39C7CE6E05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4819" name="Notes Placeholder 2">
            <a:extLst>
              <a:ext uri="{FF2B5EF4-FFF2-40B4-BE49-F238E27FC236}">
                <a16:creationId xmlns:a16="http://schemas.microsoft.com/office/drawing/2014/main" xmlns="" id="{7BA05802-60E5-462E-8DC9-C1AABE4342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have access to any forums in which I could participate to advocate for cleaner air, such as the prevention of smoking in public places?</a:t>
            </a:r>
          </a:p>
          <a:p>
            <a:pPr eaLnBrk="1" hangingPunct="1">
              <a:spcBef>
                <a:spcPct val="0"/>
              </a:spcBef>
            </a:pPr>
            <a:endParaRPr lang="en-US" altLang="fr-FR"/>
          </a:p>
        </p:txBody>
      </p:sp>
      <p:sp>
        <p:nvSpPr>
          <p:cNvPr id="674820" name="Slide Number Placeholder 3">
            <a:extLst>
              <a:ext uri="{FF2B5EF4-FFF2-40B4-BE49-F238E27FC236}">
                <a16:creationId xmlns:a16="http://schemas.microsoft.com/office/drawing/2014/main" xmlns="" id="{2F8954CF-0243-4FA1-96DE-8D2340E45B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6FE0713-A4B6-45AC-A6C9-E7A2F3049363}"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31189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Slide Image Placeholder 1">
            <a:extLst>
              <a:ext uri="{FF2B5EF4-FFF2-40B4-BE49-F238E27FC236}">
                <a16:creationId xmlns:a16="http://schemas.microsoft.com/office/drawing/2014/main" xmlns="" id="{697CF4E3-0533-4A3A-B818-AE3B91104C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6867" name="Notes Placeholder 2">
            <a:extLst>
              <a:ext uri="{FF2B5EF4-FFF2-40B4-BE49-F238E27FC236}">
                <a16:creationId xmlns:a16="http://schemas.microsoft.com/office/drawing/2014/main" xmlns="" id="{EA0D1B60-9E06-4B37-B094-7E53A2C024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trees and shrubs contribute to the cleaning of the air? </a:t>
            </a:r>
          </a:p>
          <a:p>
            <a:pPr eaLnBrk="1" hangingPunct="1">
              <a:spcBef>
                <a:spcPct val="0"/>
              </a:spcBef>
            </a:pPr>
            <a:endParaRPr lang="en-US" altLang="fr-FR"/>
          </a:p>
          <a:p>
            <a:pPr eaLnBrk="1" hangingPunct="1">
              <a:spcBef>
                <a:spcPct val="0"/>
              </a:spcBef>
            </a:pPr>
            <a:endParaRPr lang="en-US" altLang="fr-FR"/>
          </a:p>
          <a:p>
            <a:pPr eaLnBrk="1" hangingPunct="1">
              <a:spcBef>
                <a:spcPct val="0"/>
              </a:spcBef>
            </a:pPr>
            <a:endParaRPr lang="en-US" altLang="fr-FR"/>
          </a:p>
        </p:txBody>
      </p:sp>
      <p:sp>
        <p:nvSpPr>
          <p:cNvPr id="676868" name="Slide Number Placeholder 3">
            <a:extLst>
              <a:ext uri="{FF2B5EF4-FFF2-40B4-BE49-F238E27FC236}">
                <a16:creationId xmlns:a16="http://schemas.microsoft.com/office/drawing/2014/main" xmlns="" id="{56DBBB1C-E939-4935-8E8D-36D86C27F8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2379538-1A80-4391-8F69-8DE43139F1F3}"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200423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Slide Image Placeholder 1">
            <a:extLst>
              <a:ext uri="{FF2B5EF4-FFF2-40B4-BE49-F238E27FC236}">
                <a16:creationId xmlns:a16="http://schemas.microsoft.com/office/drawing/2014/main" xmlns="" id="{55DCC339-72E3-4742-BF57-B7E4409B92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8915" name="Notes Placeholder 2">
            <a:extLst>
              <a:ext uri="{FF2B5EF4-FFF2-40B4-BE49-F238E27FC236}">
                <a16:creationId xmlns:a16="http://schemas.microsoft.com/office/drawing/2014/main" xmlns="" id="{DCEB080A-0DEC-49D4-8B9B-9E9B04D234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have the option of planting some of these on my own property or in public parks and other community areas?</a:t>
            </a:r>
          </a:p>
          <a:p>
            <a:pPr eaLnBrk="1" hangingPunct="1">
              <a:spcBef>
                <a:spcPct val="0"/>
              </a:spcBef>
            </a:pPr>
            <a:endParaRPr lang="en-US" altLang="fr-FR"/>
          </a:p>
          <a:p>
            <a:pPr eaLnBrk="1" hangingPunct="1">
              <a:spcBef>
                <a:spcPct val="0"/>
              </a:spcBef>
            </a:pPr>
            <a:endParaRPr lang="en-US" altLang="fr-FR"/>
          </a:p>
        </p:txBody>
      </p:sp>
      <p:sp>
        <p:nvSpPr>
          <p:cNvPr id="678916" name="Slide Number Placeholder 3">
            <a:extLst>
              <a:ext uri="{FF2B5EF4-FFF2-40B4-BE49-F238E27FC236}">
                <a16:creationId xmlns:a16="http://schemas.microsoft.com/office/drawing/2014/main" xmlns="" id="{DB9E8931-6499-46A8-AB09-52CDC04094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A8E728D-C4F2-493B-ACD3-BA178F07467D}"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596434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Slide Image Placeholder 1">
            <a:extLst>
              <a:ext uri="{FF2B5EF4-FFF2-40B4-BE49-F238E27FC236}">
                <a16:creationId xmlns:a16="http://schemas.microsoft.com/office/drawing/2014/main" xmlns="" id="{534A2BFA-361D-47B7-A884-21DB9E7EC86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0963" name="Notes Placeholder 2">
            <a:extLst>
              <a:ext uri="{FF2B5EF4-FFF2-40B4-BE49-F238E27FC236}">
                <a16:creationId xmlns:a16="http://schemas.microsoft.com/office/drawing/2014/main" xmlns="" id="{2AD52276-95F5-465C-A963-1E3793FEC2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 his way to work each morning, Samuel passes a street corner where day laborers wait for someone to give them employment. </a:t>
            </a:r>
          </a:p>
        </p:txBody>
      </p:sp>
      <p:sp>
        <p:nvSpPr>
          <p:cNvPr id="680964" name="Slide Number Placeholder 3">
            <a:extLst>
              <a:ext uri="{FF2B5EF4-FFF2-40B4-BE49-F238E27FC236}">
                <a16:creationId xmlns:a16="http://schemas.microsoft.com/office/drawing/2014/main" xmlns="" id="{7ED5ADA6-B7A7-40E0-82C9-9165AB1674C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2969D20-FC5D-4038-BCE9-C1E195098F4F}"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30130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Slide Image Placeholder 1">
            <a:extLst>
              <a:ext uri="{FF2B5EF4-FFF2-40B4-BE49-F238E27FC236}">
                <a16:creationId xmlns:a16="http://schemas.microsoft.com/office/drawing/2014/main" xmlns="" id="{FAC243CD-C71B-42F0-AD18-1C0CB3C6EFA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3011" name="Notes Placeholder 2">
            <a:extLst>
              <a:ext uri="{FF2B5EF4-FFF2-40B4-BE49-F238E27FC236}">
                <a16:creationId xmlns:a16="http://schemas.microsoft.com/office/drawing/2014/main" xmlns="" id="{1D918441-2056-4F87-BAFC-58491005AB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He noticed that most of them smoke or chew tobacco. In what ways could he help them to recognize the health dangers of tobacco? </a:t>
            </a:r>
          </a:p>
        </p:txBody>
      </p:sp>
      <p:sp>
        <p:nvSpPr>
          <p:cNvPr id="683012" name="Slide Number Placeholder 3">
            <a:extLst>
              <a:ext uri="{FF2B5EF4-FFF2-40B4-BE49-F238E27FC236}">
                <a16:creationId xmlns:a16="http://schemas.microsoft.com/office/drawing/2014/main" xmlns="" id="{626D5666-F3FE-4B84-BB0C-07C2B83FE01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C024D2A-FC7A-4F47-9D05-E602019EA251}"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21449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Slide Image Placeholder 1">
            <a:extLst>
              <a:ext uri="{FF2B5EF4-FFF2-40B4-BE49-F238E27FC236}">
                <a16:creationId xmlns:a16="http://schemas.microsoft.com/office/drawing/2014/main" xmlns="" id="{6769959F-FDF3-4908-B280-C3F437BAB9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5059" name="Notes Placeholder 2">
            <a:extLst>
              <a:ext uri="{FF2B5EF4-FFF2-40B4-BE49-F238E27FC236}">
                <a16:creationId xmlns:a16="http://schemas.microsoft.com/office/drawing/2014/main" xmlns="" id="{F8B58E79-A704-4720-96C2-ACC255CBD0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Would organizing smoking-cessation programs at his church and inviting them to attend be beneficial? </a:t>
            </a:r>
          </a:p>
        </p:txBody>
      </p:sp>
      <p:sp>
        <p:nvSpPr>
          <p:cNvPr id="685060" name="Slide Number Placeholder 3">
            <a:extLst>
              <a:ext uri="{FF2B5EF4-FFF2-40B4-BE49-F238E27FC236}">
                <a16:creationId xmlns:a16="http://schemas.microsoft.com/office/drawing/2014/main" xmlns="" id="{8DE2E1B9-13C5-4D3E-8E78-8B4AD0CDDA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D92D313-035D-42F0-874B-D608C734791E}"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426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Slide Image Placeholder 1">
            <a:extLst>
              <a:ext uri="{FF2B5EF4-FFF2-40B4-BE49-F238E27FC236}">
                <a16:creationId xmlns:a16="http://schemas.microsoft.com/office/drawing/2014/main" xmlns="" id="{58726BF5-0D9F-426E-937F-F99E00BD7D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7107" name="Notes Placeholder 2">
            <a:extLst>
              <a:ext uri="{FF2B5EF4-FFF2-40B4-BE49-F238E27FC236}">
                <a16:creationId xmlns:a16="http://schemas.microsoft.com/office/drawing/2014/main" xmlns="" id="{61FFE2CB-49C7-4FBD-B989-E5325E93F6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 What effect would distributing brochures or pamphlets on the dangers of smoking have?</a:t>
            </a:r>
          </a:p>
          <a:p>
            <a:pPr eaLnBrk="1" hangingPunct="1">
              <a:spcBef>
                <a:spcPct val="0"/>
              </a:spcBef>
            </a:pPr>
            <a:endParaRPr lang="en-US" altLang="fr-FR"/>
          </a:p>
        </p:txBody>
      </p:sp>
      <p:sp>
        <p:nvSpPr>
          <p:cNvPr id="687108" name="Slide Number Placeholder 3">
            <a:extLst>
              <a:ext uri="{FF2B5EF4-FFF2-40B4-BE49-F238E27FC236}">
                <a16:creationId xmlns:a16="http://schemas.microsoft.com/office/drawing/2014/main" xmlns="" id="{83D105F9-7519-49CF-838A-C94F34A8C9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1FF8CC8-3EF9-4F05-A02C-0CE54801B450}"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8172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Slide Image Placeholder 1">
            <a:extLst>
              <a:ext uri="{FF2B5EF4-FFF2-40B4-BE49-F238E27FC236}">
                <a16:creationId xmlns:a16="http://schemas.microsoft.com/office/drawing/2014/main" xmlns="" id="{4296E64C-C099-4816-84D4-09545BC0A0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9155" name="Notes Placeholder 2">
            <a:extLst>
              <a:ext uri="{FF2B5EF4-FFF2-40B4-BE49-F238E27FC236}">
                <a16:creationId xmlns:a16="http://schemas.microsoft.com/office/drawing/2014/main" xmlns="" id="{1BECCA8D-2BCB-4346-BC40-F263CADBF0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comes to mind when I consider the wonderful way in which carbon dioxide is continuously removed from the air and oxygen is produced to sustain my life?</a:t>
            </a:r>
          </a:p>
        </p:txBody>
      </p:sp>
      <p:sp>
        <p:nvSpPr>
          <p:cNvPr id="689156" name="Slide Number Placeholder 3">
            <a:extLst>
              <a:ext uri="{FF2B5EF4-FFF2-40B4-BE49-F238E27FC236}">
                <a16:creationId xmlns:a16="http://schemas.microsoft.com/office/drawing/2014/main" xmlns="" id="{4C0C03A1-6816-4B01-A61B-9DA0777B9C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46FBF71-B516-4059-83D6-CE87DF66E38E}"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63880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Slide Image Placeholder 1">
            <a:extLst>
              <a:ext uri="{FF2B5EF4-FFF2-40B4-BE49-F238E27FC236}">
                <a16:creationId xmlns:a16="http://schemas.microsoft.com/office/drawing/2014/main" xmlns="" id="{38F9D615-C8F7-4B53-A947-C2BA4E6F30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1203" name="Notes Placeholder 2">
            <a:extLst>
              <a:ext uri="{FF2B5EF4-FFF2-40B4-BE49-F238E27FC236}">
                <a16:creationId xmlns:a16="http://schemas.microsoft.com/office/drawing/2014/main" xmlns="" id="{68029D19-A3C3-4AC1-AFED-DD7CB0A6BC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is my response to my Creator as I consider the finely tuned mechanism that causes me to breathe at the rate and depth that supply me with the sufficient amount of oxygen? </a:t>
            </a:r>
          </a:p>
        </p:txBody>
      </p:sp>
      <p:sp>
        <p:nvSpPr>
          <p:cNvPr id="691204" name="Slide Number Placeholder 3">
            <a:extLst>
              <a:ext uri="{FF2B5EF4-FFF2-40B4-BE49-F238E27FC236}">
                <a16:creationId xmlns:a16="http://schemas.microsoft.com/office/drawing/2014/main" xmlns="" id="{09D42621-C94F-4A7E-9C5D-C81E4D4A6C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7A03DEA-DEA0-4330-A11B-A22E5E8DF309}"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170325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Slide Image Placeholder 1">
            <a:extLst>
              <a:ext uri="{FF2B5EF4-FFF2-40B4-BE49-F238E27FC236}">
                <a16:creationId xmlns:a16="http://schemas.microsoft.com/office/drawing/2014/main" xmlns="" id="{52862337-3FCE-4C95-84FC-29AE12010E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3251" name="Notes Placeholder 2">
            <a:extLst>
              <a:ext uri="{FF2B5EF4-FFF2-40B4-BE49-F238E27FC236}">
                <a16:creationId xmlns:a16="http://schemas.microsoft.com/office/drawing/2014/main" xmlns="" id="{48AB55F8-8C0C-4752-B945-9CF1A235B9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can I praise and thank Him for this wonderful gift, in both words and actions?</a:t>
            </a:r>
          </a:p>
          <a:p>
            <a:pPr eaLnBrk="1" hangingPunct="1">
              <a:spcBef>
                <a:spcPct val="0"/>
              </a:spcBef>
            </a:pPr>
            <a:endParaRPr lang="en-US" altLang="fr-FR"/>
          </a:p>
        </p:txBody>
      </p:sp>
      <p:sp>
        <p:nvSpPr>
          <p:cNvPr id="693252" name="Slide Number Placeholder 3">
            <a:extLst>
              <a:ext uri="{FF2B5EF4-FFF2-40B4-BE49-F238E27FC236}">
                <a16:creationId xmlns:a16="http://schemas.microsoft.com/office/drawing/2014/main" xmlns="" id="{6ADCEBDA-48E7-411E-BA02-BB2C619589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4075CB2-B616-4D87-ABCC-61F40A851052}"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61350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Slide Image Placeholder 1">
            <a:extLst>
              <a:ext uri="{FF2B5EF4-FFF2-40B4-BE49-F238E27FC236}">
                <a16:creationId xmlns:a16="http://schemas.microsoft.com/office/drawing/2014/main" xmlns="" id="{81AB0E21-E7CA-4F97-BD4E-21D24FF01A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5299" name="Notes Placeholder 2">
            <a:extLst>
              <a:ext uri="{FF2B5EF4-FFF2-40B4-BE49-F238E27FC236}">
                <a16:creationId xmlns:a16="http://schemas.microsoft.com/office/drawing/2014/main" xmlns="" id="{5D1CDBC4-130E-470C-9465-1EDC07EE49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can I ensure that I am making full use of the 3,500 cubic centimeters of air space in my lungs that doesn</a:t>
            </a:r>
            <a:r>
              <a:rPr lang="en-US" altLang="en-US"/>
              <a:t>’</a:t>
            </a:r>
            <a:r>
              <a:rPr lang="en-US" altLang="fr-FR"/>
              <a:t>t get used when I</a:t>
            </a:r>
            <a:r>
              <a:rPr lang="en-US" altLang="en-US"/>
              <a:t>’</a:t>
            </a:r>
            <a:r>
              <a:rPr lang="en-US" altLang="fr-FR"/>
              <a:t>m doing quiet breathing? </a:t>
            </a:r>
          </a:p>
        </p:txBody>
      </p:sp>
      <p:sp>
        <p:nvSpPr>
          <p:cNvPr id="695300" name="Slide Number Placeholder 3">
            <a:extLst>
              <a:ext uri="{FF2B5EF4-FFF2-40B4-BE49-F238E27FC236}">
                <a16:creationId xmlns:a16="http://schemas.microsoft.com/office/drawing/2014/main" xmlns="" id="{9F45E5A3-DA13-4E2E-8CDA-70097D7ABC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8658667-E813-49A2-8592-98546BDF20F3}"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193774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Slide Image Placeholder 1">
            <a:extLst>
              <a:ext uri="{FF2B5EF4-FFF2-40B4-BE49-F238E27FC236}">
                <a16:creationId xmlns:a16="http://schemas.microsoft.com/office/drawing/2014/main" xmlns="" id="{07CE461D-747E-48C1-B55E-CBB15EAF5F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7347" name="Notes Placeholder 2">
            <a:extLst>
              <a:ext uri="{FF2B5EF4-FFF2-40B4-BE49-F238E27FC236}">
                <a16:creationId xmlns:a16="http://schemas.microsoft.com/office/drawing/2014/main" xmlns="" id="{8F3AB356-B6D1-47F5-8BC6-26EDB5A934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is </a:t>
            </a:r>
            <a:r>
              <a:rPr lang="en-US" altLang="en-US"/>
              <a:t>“</a:t>
            </a:r>
            <a:r>
              <a:rPr lang="en-US" altLang="fr-FR"/>
              <a:t>diaphragmatic breathing</a:t>
            </a:r>
            <a:r>
              <a:rPr lang="en-US" altLang="en-US"/>
              <a:t>”</a:t>
            </a:r>
            <a:r>
              <a:rPr lang="en-US" altLang="fr-FR"/>
              <a:t>? </a:t>
            </a:r>
          </a:p>
          <a:p>
            <a:pPr eaLnBrk="1" hangingPunct="1">
              <a:spcBef>
                <a:spcPct val="0"/>
              </a:spcBef>
            </a:pPr>
            <a:r>
              <a:rPr lang="en-US" altLang="fr-FR"/>
              <a:t>How can I exercise in a way that forces extra breathing?</a:t>
            </a:r>
          </a:p>
          <a:p>
            <a:pPr eaLnBrk="1" hangingPunct="1">
              <a:spcBef>
                <a:spcPct val="0"/>
              </a:spcBef>
            </a:pPr>
            <a:endParaRPr lang="en-US" altLang="fr-FR"/>
          </a:p>
        </p:txBody>
      </p:sp>
      <p:sp>
        <p:nvSpPr>
          <p:cNvPr id="697348" name="Slide Number Placeholder 3">
            <a:extLst>
              <a:ext uri="{FF2B5EF4-FFF2-40B4-BE49-F238E27FC236}">
                <a16:creationId xmlns:a16="http://schemas.microsoft.com/office/drawing/2014/main" xmlns="" id="{5EA9244A-DBF8-4287-9807-A54219AD35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5E68791-560C-4108-9201-0115949BE86A}"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99038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Slide Image Placeholder 1">
            <a:extLst>
              <a:ext uri="{FF2B5EF4-FFF2-40B4-BE49-F238E27FC236}">
                <a16:creationId xmlns:a16="http://schemas.microsoft.com/office/drawing/2014/main" xmlns="" id="{D40FBA93-8D42-41C7-843C-C5AA8A61A4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9395" name="Notes Placeholder 2">
            <a:extLst>
              <a:ext uri="{FF2B5EF4-FFF2-40B4-BE49-F238E27FC236}">
                <a16:creationId xmlns:a16="http://schemas.microsoft.com/office/drawing/2014/main" xmlns="" id="{86A741BA-BA52-4825-A02C-BBBD4513B0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Julia yawns a lot after sitting for a long time. Could it be that she is not breathing well because she</a:t>
            </a:r>
            <a:r>
              <a:rPr lang="en-US" altLang="en-US"/>
              <a:t>’</a:t>
            </a:r>
            <a:r>
              <a:rPr lang="en-US" altLang="fr-FR"/>
              <a:t>s too sedentary? </a:t>
            </a:r>
          </a:p>
        </p:txBody>
      </p:sp>
      <p:sp>
        <p:nvSpPr>
          <p:cNvPr id="699396" name="Slide Number Placeholder 3">
            <a:extLst>
              <a:ext uri="{FF2B5EF4-FFF2-40B4-BE49-F238E27FC236}">
                <a16:creationId xmlns:a16="http://schemas.microsoft.com/office/drawing/2014/main" xmlns="" id="{C5ABF320-4768-44C0-8496-F30635DA82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262AA4F-D4D9-41EA-A8FF-9551E971710A}"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746203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Slide Image Placeholder 1">
            <a:extLst>
              <a:ext uri="{FF2B5EF4-FFF2-40B4-BE49-F238E27FC236}">
                <a16:creationId xmlns:a16="http://schemas.microsoft.com/office/drawing/2014/main" xmlns="" id="{00CB50F3-D339-4B14-9150-8BFE92700F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1443" name="Notes Placeholder 2">
            <a:extLst>
              <a:ext uri="{FF2B5EF4-FFF2-40B4-BE49-F238E27FC236}">
                <a16:creationId xmlns:a16="http://schemas.microsoft.com/office/drawing/2014/main" xmlns="" id="{0E92E971-4988-4167-A7F0-6E6875539F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improvements could be made to her posture while sitting and walking? </a:t>
            </a:r>
          </a:p>
          <a:p>
            <a:pPr eaLnBrk="1" hangingPunct="1">
              <a:spcBef>
                <a:spcPct val="0"/>
              </a:spcBef>
            </a:pPr>
            <a:r>
              <a:rPr lang="en-US" altLang="fr-FR"/>
              <a:t>How much would one have to move around every half hour to help?</a:t>
            </a:r>
          </a:p>
        </p:txBody>
      </p:sp>
      <p:sp>
        <p:nvSpPr>
          <p:cNvPr id="701444" name="Slide Number Placeholder 3">
            <a:extLst>
              <a:ext uri="{FF2B5EF4-FFF2-40B4-BE49-F238E27FC236}">
                <a16:creationId xmlns:a16="http://schemas.microsoft.com/office/drawing/2014/main" xmlns="" id="{662E7294-4960-4624-BC52-BBCE943CA4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6C505B-8A0E-463C-AA72-55DC0102F3FB}"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69921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642A240-B952-4729-9390-ED5288BA096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xmlns="" id="{DE520CD4-112F-4C40-A17C-827DF9E5EB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xmlns="" id="{585C5A68-D03B-4FED-A8C4-40E944BC428E}"/>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7665759A-AB19-4550-B5FD-B80647CF6E3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7359D0F8-3647-426D-9760-1180645914C9}"/>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205655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A31463AA-28D9-4D36-98DB-13B43F7EDBC0}"/>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7F9D9AD-F618-4EDD-A3A2-80F004F7599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FD0743E7-75A4-4762-938C-AF1F2514CFAE}"/>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08BD8F0C-85BC-4573-9820-539D38C14101}"/>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5624A227-1650-4D5C-BFEB-10F5EB5D8BAF}"/>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626216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ACD38DB7-950B-4833-ADA9-812FC77CA59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F9BBAC61-966C-4DFE-B50E-F950EC690B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CEB1B720-1056-4675-9AD4-9BDDA64FA6FE}"/>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BB17EE0D-7A86-4762-B4A5-F43136F3DB1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6E762133-3391-4016-8ECE-A6C42301CE5D}"/>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23449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0816D3A4-124B-4404-9364-32A0F2CD0A63}"/>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033AC385-03C6-42AE-9995-CD7C372A041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xmlns="" id="{E036C188-3646-42D9-8558-5F32ABAC37B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xmlns="" id="{980A4A8B-495C-47FE-864B-2B5BE78A2025}"/>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6" name="Espace réservé du pied de page 5">
            <a:extLst>
              <a:ext uri="{FF2B5EF4-FFF2-40B4-BE49-F238E27FC236}">
                <a16:creationId xmlns:a16="http://schemas.microsoft.com/office/drawing/2014/main" xmlns="" id="{FF33DD6C-B789-471B-94F1-B6982BE1EDA2}"/>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DC8B446E-BD6B-4C4A-BC31-F8FEC07F210F}"/>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3779444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22856AA-933E-40ED-9EAB-8326A2800911}"/>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57D1A8CA-DB4B-4C77-8097-BE7BCFCFE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B3E70357-EA7A-42E9-A8BA-36031BD54C4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xmlns="" id="{E286D859-9087-4138-8459-71DB0903B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A9A0873C-074C-4512-8A7D-5AA1CC27D15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xmlns="" id="{6B39AD49-37CD-4C24-8F25-A97EEDBF69DA}"/>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8" name="Espace réservé du pied de page 7">
            <a:extLst>
              <a:ext uri="{FF2B5EF4-FFF2-40B4-BE49-F238E27FC236}">
                <a16:creationId xmlns:a16="http://schemas.microsoft.com/office/drawing/2014/main" xmlns="" id="{C4A05BC6-3B40-4B08-A959-17542B3804FC}"/>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xmlns="" id="{AB6B5D6F-8E14-488E-B3B4-431C0D560477}"/>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3959953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C679FCB0-AAC6-4A44-A593-7DF53F209221}"/>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xmlns="" id="{892884E1-A6EC-4640-ADB7-0AC0AB97DA72}"/>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4" name="Espace réservé du pied de page 3">
            <a:extLst>
              <a:ext uri="{FF2B5EF4-FFF2-40B4-BE49-F238E27FC236}">
                <a16:creationId xmlns:a16="http://schemas.microsoft.com/office/drawing/2014/main" xmlns="" id="{16763286-914C-40A2-8ACB-1A77FE0207AE}"/>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xmlns="" id="{28B26087-618A-47A9-B7F7-A2DD8D184F30}"/>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156251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5D4295CE-B403-4122-BF0B-C45D95DEAFA8}"/>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3" name="Espace réservé du pied de page 2">
            <a:extLst>
              <a:ext uri="{FF2B5EF4-FFF2-40B4-BE49-F238E27FC236}">
                <a16:creationId xmlns:a16="http://schemas.microsoft.com/office/drawing/2014/main" xmlns="" id="{7EB2888E-01B1-45A4-8A5C-6DBF4D74921E}"/>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xmlns="" id="{AF8779B0-E683-420D-8BC0-87F3E5E334ED}"/>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202189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C5C912CC-8C26-4305-A9D1-F40492C715A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908A16F-974D-4E11-9C38-5324739DAF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xmlns="" id="{065E5E28-B35C-47BF-9CAF-85B91915E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809BA722-C29D-46D8-8ED0-D0AF90A3F685}"/>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6" name="Espace réservé du pied de page 5">
            <a:extLst>
              <a:ext uri="{FF2B5EF4-FFF2-40B4-BE49-F238E27FC236}">
                <a16:creationId xmlns:a16="http://schemas.microsoft.com/office/drawing/2014/main" xmlns="" id="{E89B43DD-EBA1-437A-B9E7-E2AF9768E5EF}"/>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255A9E7B-4E31-42FB-8B68-27CD680D36EB}"/>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2230397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76EF6194-A5BF-4477-AAE0-2B55D9E8074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xmlns="" id="{98EE9176-8616-430E-93E8-EAE488CF6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xmlns="" id="{8F332FA6-D5B6-4836-ADEA-AE5B85BFC9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2AB59591-2F79-4922-A577-C21DD840D6F5}"/>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6" name="Espace réservé du pied de page 5">
            <a:extLst>
              <a:ext uri="{FF2B5EF4-FFF2-40B4-BE49-F238E27FC236}">
                <a16:creationId xmlns:a16="http://schemas.microsoft.com/office/drawing/2014/main" xmlns="" id="{6C179802-2C1A-40E1-AD0C-DAF1FC15512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BDDD215B-DC42-4160-A263-7DCE62E16BF6}"/>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569223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C633076-4D6A-4643-98D3-B9E5EB4EBA5D}"/>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2DF8B6E8-5DCA-4329-9F47-C409C5B5100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9B94B5E7-5121-4B1F-9C4A-88039BD87873}"/>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C6DA46FA-7034-4D05-8ACB-A6B75AD96310}"/>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FB97658E-D6E0-4030-B5D2-8F4618CF57A3}"/>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1758391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97450E2F-47BC-4903-87EB-647292795612}"/>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C059B417-AAC4-468A-97C7-D4B6C57D179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1A200359-164A-47EE-B6A4-1758F755C7F9}"/>
              </a:ext>
            </a:extLst>
          </p:cNvPr>
          <p:cNvSpPr>
            <a:spLocks noGrp="1"/>
          </p:cNvSpPr>
          <p:nvPr>
            <p:ph type="dt" sz="half" idx="10"/>
          </p:nvPr>
        </p:nvSpPr>
        <p:spPr/>
        <p:txBody>
          <a:body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A503D29E-5845-4C64-AC6D-D14453258537}"/>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D09B67AB-CE1B-4A25-94F4-1D56C4A5623F}"/>
              </a:ext>
            </a:extLst>
          </p:cNvPr>
          <p:cNvSpPr>
            <a:spLocks noGrp="1"/>
          </p:cNvSpPr>
          <p:nvPr>
            <p:ph type="sldNum" sz="quarter" idx="12"/>
          </p:nvPr>
        </p:nvSpPr>
        <p:spPr/>
        <p:txBody>
          <a:bodyPr/>
          <a:lstStyle/>
          <a:p>
            <a:fld id="{95EEC02D-CB43-45E8-8B87-0CC44BCBB0B1}" type="slidenum">
              <a:rPr lang="fr-BE" smtClean="0"/>
              <a:t>‹#›</a:t>
            </a:fld>
            <a:endParaRPr lang="fr-BE"/>
          </a:p>
        </p:txBody>
      </p:sp>
    </p:spTree>
    <p:extLst>
      <p:ext uri="{BB962C8B-B14F-4D97-AF65-F5344CB8AC3E}">
        <p14:creationId xmlns:p14="http://schemas.microsoft.com/office/powerpoint/2010/main" val="140363385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9A8EC4EE-E4D5-44D5-9CCB-83A5070EB1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4FE9C06B-8AC7-4B66-87A9-4D123B56DD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317942F2-1A50-4C1B-85E7-D7869EEC0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810C40-6CF7-45BE-BA9E-DC19E923EE6E}" type="datetimeFigureOut">
              <a:rPr lang="fr-BE" smtClean="0"/>
              <a:t>10/12/24</a:t>
            </a:fld>
            <a:endParaRPr lang="fr-BE"/>
          </a:p>
        </p:txBody>
      </p:sp>
      <p:sp>
        <p:nvSpPr>
          <p:cNvPr id="5" name="Espace réservé du pied de page 4">
            <a:extLst>
              <a:ext uri="{FF2B5EF4-FFF2-40B4-BE49-F238E27FC236}">
                <a16:creationId xmlns:a16="http://schemas.microsoft.com/office/drawing/2014/main" xmlns="" id="{56BAA792-1BD0-4A85-AC9C-DDC90A5D41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xmlns="" id="{A646D809-3152-4EBA-8001-43AEE706EB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EC02D-CB43-45E8-8B87-0CC44BCBB0B1}" type="slidenum">
              <a:rPr lang="fr-BE" smtClean="0"/>
              <a:t>‹#›</a:t>
            </a:fld>
            <a:endParaRPr lang="fr-BE"/>
          </a:p>
        </p:txBody>
      </p:sp>
    </p:spTree>
    <p:extLst>
      <p:ext uri="{BB962C8B-B14F-4D97-AF65-F5344CB8AC3E}">
        <p14:creationId xmlns:p14="http://schemas.microsoft.com/office/powerpoint/2010/main" val="3950937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4" Type="http://schemas.openxmlformats.org/officeDocument/2006/relationships/image" Target="../media/image6.jpe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4" Type="http://schemas.openxmlformats.org/officeDocument/2006/relationships/image" Target="../media/image9.jpe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jpeg"/><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7.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Title 1">
            <a:extLst>
              <a:ext uri="{FF2B5EF4-FFF2-40B4-BE49-F238E27FC236}">
                <a16:creationId xmlns:a16="http://schemas.microsoft.com/office/drawing/2014/main" xmlns="" id="{46C4F5BD-C9DD-4AF9-A333-63E9EC42B5B5}"/>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Celebrating air</a:t>
            </a:r>
          </a:p>
        </p:txBody>
      </p:sp>
      <p:sp>
        <p:nvSpPr>
          <p:cNvPr id="622595" name="Footer Placeholder 3">
            <a:extLst>
              <a:ext uri="{FF2B5EF4-FFF2-40B4-BE49-F238E27FC236}">
                <a16:creationId xmlns:a16="http://schemas.microsoft.com/office/drawing/2014/main" xmlns="" id="{9C2CCD95-C74C-435E-9F49-32EF4917504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22596" name="Slide Number Placeholder 4">
            <a:extLst>
              <a:ext uri="{FF2B5EF4-FFF2-40B4-BE49-F238E27FC236}">
                <a16:creationId xmlns:a16="http://schemas.microsoft.com/office/drawing/2014/main" xmlns="" id="{84FE89E9-430E-4D13-8742-D40D4A05590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a:t>
            </a:r>
          </a:p>
        </p:txBody>
      </p:sp>
      <p:pic>
        <p:nvPicPr>
          <p:cNvPr id="622597" name="Picture 2">
            <a:extLst>
              <a:ext uri="{FF2B5EF4-FFF2-40B4-BE49-F238E27FC236}">
                <a16:creationId xmlns:a16="http://schemas.microsoft.com/office/drawing/2014/main" xmlns="" id="{5B70D0F5-0600-4312-8EB2-2AD080AB96C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73289" y="1447801"/>
            <a:ext cx="7845425"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Title 1">
            <a:extLst>
              <a:ext uri="{FF2B5EF4-FFF2-40B4-BE49-F238E27FC236}">
                <a16:creationId xmlns:a16="http://schemas.microsoft.com/office/drawing/2014/main" xmlns="" id="{41FF0BDE-957A-4685-A82B-C176D7CA999A}"/>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Severe air pollution ensued</a:t>
            </a:r>
          </a:p>
        </p:txBody>
      </p:sp>
      <p:sp>
        <p:nvSpPr>
          <p:cNvPr id="624644" name="Footer Placeholder 3">
            <a:extLst>
              <a:ext uri="{FF2B5EF4-FFF2-40B4-BE49-F238E27FC236}">
                <a16:creationId xmlns:a16="http://schemas.microsoft.com/office/drawing/2014/main" xmlns="" id="{284D7A8C-9C19-4015-80AF-C54660D7D91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24645" name="Slide Number Placeholder 4">
            <a:extLst>
              <a:ext uri="{FF2B5EF4-FFF2-40B4-BE49-F238E27FC236}">
                <a16:creationId xmlns:a16="http://schemas.microsoft.com/office/drawing/2014/main" xmlns="" id="{BCA4C73E-8D77-49EB-92D5-D9D7C9D2C6F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a:t>
            </a:r>
          </a:p>
        </p:txBody>
      </p:sp>
      <p:pic>
        <p:nvPicPr>
          <p:cNvPr id="624646" name="Picture 2" descr="G:\For Merle\126457651.jpg">
            <a:extLst>
              <a:ext uri="{FF2B5EF4-FFF2-40B4-BE49-F238E27FC236}">
                <a16:creationId xmlns:a16="http://schemas.microsoft.com/office/drawing/2014/main" xmlns="" id="{EF88D81D-38D0-43A9-A488-280FCD629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219201"/>
            <a:ext cx="8291513" cy="502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Title 1">
            <a:extLst>
              <a:ext uri="{FF2B5EF4-FFF2-40B4-BE49-F238E27FC236}">
                <a16:creationId xmlns:a16="http://schemas.microsoft.com/office/drawing/2014/main" xmlns="" id="{44E90D8C-6615-4615-8F46-5470A5A23804}"/>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How does it work?</a:t>
            </a:r>
          </a:p>
        </p:txBody>
      </p:sp>
      <p:sp>
        <p:nvSpPr>
          <p:cNvPr id="626691" name="Footer Placeholder 3">
            <a:extLst>
              <a:ext uri="{FF2B5EF4-FFF2-40B4-BE49-F238E27FC236}">
                <a16:creationId xmlns:a16="http://schemas.microsoft.com/office/drawing/2014/main" xmlns="" id="{F44B83DF-B1D8-4997-A8DD-63D82EAFFED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26692" name="Slide Number Placeholder 4">
            <a:extLst>
              <a:ext uri="{FF2B5EF4-FFF2-40B4-BE49-F238E27FC236}">
                <a16:creationId xmlns:a16="http://schemas.microsoft.com/office/drawing/2014/main" xmlns="" id="{3AFE3880-A331-440A-BF16-2C2C78CF2DA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4</a:t>
            </a:r>
          </a:p>
        </p:txBody>
      </p:sp>
      <p:pic>
        <p:nvPicPr>
          <p:cNvPr id="626693" name="Picture 3" descr="C:\Users\thomasn\Downloads\149708778.jpg">
            <a:extLst>
              <a:ext uri="{FF2B5EF4-FFF2-40B4-BE49-F238E27FC236}">
                <a16:creationId xmlns:a16="http://schemas.microsoft.com/office/drawing/2014/main" xmlns="" id="{AC7DD445-AE13-4742-8158-D3F0B521F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219201"/>
            <a:ext cx="59944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Footer Placeholder 3">
            <a:extLst>
              <a:ext uri="{FF2B5EF4-FFF2-40B4-BE49-F238E27FC236}">
                <a16:creationId xmlns:a16="http://schemas.microsoft.com/office/drawing/2014/main" xmlns="" id="{2F2FB18B-AE06-44EB-98CE-01A6372DA8A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28739" name="Slide Number Placeholder 4">
            <a:extLst>
              <a:ext uri="{FF2B5EF4-FFF2-40B4-BE49-F238E27FC236}">
                <a16:creationId xmlns:a16="http://schemas.microsoft.com/office/drawing/2014/main" xmlns="" id="{2A9ED134-3C6F-4DEA-B84C-7503481A9A7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5</a:t>
            </a:r>
          </a:p>
        </p:txBody>
      </p:sp>
      <p:pic>
        <p:nvPicPr>
          <p:cNvPr id="628740" name="Picture 2" descr="C:\Users\thomasn\Pictures\Thinkstock hmpix4\Thinkstock Nancy\medicine, equipment and objects, diagrams\117233805.jpg">
            <a:extLst>
              <a:ext uri="{FF2B5EF4-FFF2-40B4-BE49-F238E27FC236}">
                <a16:creationId xmlns:a16="http://schemas.microsoft.com/office/drawing/2014/main" xmlns="" id="{4A20958B-18E3-4552-8E56-227AAF2BF6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1" y="152400"/>
            <a:ext cx="3325813" cy="636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41" name="TextBox 1">
            <a:extLst>
              <a:ext uri="{FF2B5EF4-FFF2-40B4-BE49-F238E27FC236}">
                <a16:creationId xmlns:a16="http://schemas.microsoft.com/office/drawing/2014/main" xmlns="" id="{2F63DC87-3B99-42C9-8E1C-E13B5E897D67}"/>
              </a:ext>
            </a:extLst>
          </p:cNvPr>
          <p:cNvSpPr txBox="1">
            <a:spLocks noChangeArrowheads="1"/>
          </p:cNvSpPr>
          <p:nvPr/>
        </p:nvSpPr>
        <p:spPr bwMode="auto">
          <a:xfrm>
            <a:off x="2219325" y="2171700"/>
            <a:ext cx="381635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Once oxygen enters</a:t>
            </a:r>
          </a:p>
          <a:p>
            <a:pPr eaLnBrk="1" hangingPunct="1">
              <a:spcBef>
                <a:spcPct val="0"/>
              </a:spcBef>
              <a:spcAft>
                <a:spcPct val="0"/>
              </a:spcAft>
              <a:buClrTx/>
              <a:buSzTx/>
              <a:buFontTx/>
              <a:buNone/>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the lungs, it goes into</a:t>
            </a:r>
            <a:b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b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the bloodstream</a:t>
            </a:r>
          </a:p>
          <a:p>
            <a:pPr eaLnBrk="1" hangingPunct="1">
              <a:spcBef>
                <a:spcPct val="0"/>
              </a:spcBef>
              <a:spcAft>
                <a:spcPct val="0"/>
              </a:spcAft>
              <a:buClrTx/>
              <a:buSzTx/>
              <a:buFontTx/>
              <a:buNone/>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by a process called</a:t>
            </a:r>
          </a:p>
          <a:p>
            <a:pPr eaLnBrk="1" hangingPunct="1">
              <a:spcBef>
                <a:spcPct val="0"/>
              </a:spcBef>
              <a:spcAft>
                <a:spcPct val="0"/>
              </a:spcAft>
              <a:buClrTx/>
              <a:buSzTx/>
              <a:buFontTx/>
              <a:buNone/>
            </a:pPr>
            <a:r>
              <a:rPr lang="en-US" altLang="fr-FR" sz="3000">
                <a:solidFill>
                  <a:schemeClr val="tx1"/>
                </a:solidFill>
                <a:latin typeface="Arial" panose="020B0604020202020204" pitchFamily="34" charset="0"/>
                <a:ea typeface="MS PGothic" panose="020B0600070205080204" pitchFamily="34" charset="-128"/>
                <a:cs typeface="Arial" panose="020B0604020202020204" pitchFamily="34" charset="0"/>
              </a:rPr>
              <a:t>diffusion.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Title 1">
            <a:extLst>
              <a:ext uri="{FF2B5EF4-FFF2-40B4-BE49-F238E27FC236}">
                <a16:creationId xmlns:a16="http://schemas.microsoft.com/office/drawing/2014/main" xmlns="" id="{85AE16DD-4757-4E05-BFD4-FDD5F5CFB0DB}"/>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Alveoli</a:t>
            </a:r>
          </a:p>
        </p:txBody>
      </p:sp>
      <p:sp>
        <p:nvSpPr>
          <p:cNvPr id="630787" name="Footer Placeholder 3">
            <a:extLst>
              <a:ext uri="{FF2B5EF4-FFF2-40B4-BE49-F238E27FC236}">
                <a16:creationId xmlns:a16="http://schemas.microsoft.com/office/drawing/2014/main" xmlns="" id="{59337B65-4E66-4D7F-A8FA-F8290DE61FF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0788" name="Slide Number Placeholder 4">
            <a:extLst>
              <a:ext uri="{FF2B5EF4-FFF2-40B4-BE49-F238E27FC236}">
                <a16:creationId xmlns:a16="http://schemas.microsoft.com/office/drawing/2014/main" xmlns="" id="{AC6504AE-DDCA-4AD1-A3AC-6B7B2E4BC07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6</a:t>
            </a:r>
          </a:p>
        </p:txBody>
      </p:sp>
      <p:pic>
        <p:nvPicPr>
          <p:cNvPr id="630789" name="Picture 2" descr="C:\Users\thomasn\Pictures\Thinkstock hmpix4\Thinkstock Nancy\medicine, equipment and objects, diagrams\Gas Exchange in alveola illus 03311210.jpg">
            <a:extLst>
              <a:ext uri="{FF2B5EF4-FFF2-40B4-BE49-F238E27FC236}">
                <a16:creationId xmlns:a16="http://schemas.microsoft.com/office/drawing/2014/main" xmlns="" id="{99842705-BA35-40CA-B7A8-709B91294A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1" y="1260476"/>
            <a:ext cx="3540125"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0790" name="Picture 3" descr="C:\Users\thomasn\Pictures\Thinkstock hmpix4\Thinkstock Nancy\medicine, equipment and objects, diagrams\121043420.jpg">
            <a:extLst>
              <a:ext uri="{FF2B5EF4-FFF2-40B4-BE49-F238E27FC236}">
                <a16:creationId xmlns:a16="http://schemas.microsoft.com/office/drawing/2014/main" xmlns="" id="{36C9A1E5-4C91-4512-A144-1D72AC586E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8188" y="1260476"/>
            <a:ext cx="4108450"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Title 1">
            <a:extLst>
              <a:ext uri="{FF2B5EF4-FFF2-40B4-BE49-F238E27FC236}">
                <a16:creationId xmlns:a16="http://schemas.microsoft.com/office/drawing/2014/main" xmlns="" id="{3C0D6FFE-A6B5-44D2-A836-CD4182BA9E07}"/>
              </a:ext>
            </a:extLst>
          </p:cNvPr>
          <p:cNvSpPr>
            <a:spLocks noGrp="1" noChangeArrowheads="1"/>
          </p:cNvSpPr>
          <p:nvPr>
            <p:ph type="title"/>
          </p:nvPr>
        </p:nvSpPr>
        <p:spPr>
          <a:xfrm>
            <a:off x="1524000" y="152400"/>
            <a:ext cx="9144000" cy="1143000"/>
          </a:xfrm>
        </p:spPr>
        <p:txBody>
          <a:bodyPr/>
          <a:lstStyle/>
          <a:p>
            <a:pPr eaLnBrk="1" hangingPunct="1"/>
            <a:r>
              <a:rPr lang="en-US" altLang="fr-FR">
                <a:ln>
                  <a:noFill/>
                </a:ln>
              </a:rPr>
              <a:t>A matter of life and breath</a:t>
            </a:r>
          </a:p>
        </p:txBody>
      </p:sp>
      <p:sp>
        <p:nvSpPr>
          <p:cNvPr id="632835" name="Footer Placeholder 3">
            <a:extLst>
              <a:ext uri="{FF2B5EF4-FFF2-40B4-BE49-F238E27FC236}">
                <a16:creationId xmlns:a16="http://schemas.microsoft.com/office/drawing/2014/main" xmlns="" id="{320C4DAB-FDA2-47DC-9A82-1F4E02E9FF6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2836" name="Slide Number Placeholder 4">
            <a:extLst>
              <a:ext uri="{FF2B5EF4-FFF2-40B4-BE49-F238E27FC236}">
                <a16:creationId xmlns:a16="http://schemas.microsoft.com/office/drawing/2014/main" xmlns="" id="{B5D06401-6151-41FA-8F2A-776B71BFEF3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7</a:t>
            </a:r>
          </a:p>
        </p:txBody>
      </p:sp>
      <p:pic>
        <p:nvPicPr>
          <p:cNvPr id="632837" name="Picture 2" descr="G:\For Merle\Chapter 7 - air\104658985 - doctor listening to patient.jpg">
            <a:extLst>
              <a:ext uri="{FF2B5EF4-FFF2-40B4-BE49-F238E27FC236}">
                <a16:creationId xmlns:a16="http://schemas.microsoft.com/office/drawing/2014/main" xmlns="" id="{39AB430D-DAC9-4D4C-8611-9D25BBADE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219200"/>
            <a:ext cx="65293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Title 1">
            <a:extLst>
              <a:ext uri="{FF2B5EF4-FFF2-40B4-BE49-F238E27FC236}">
                <a16:creationId xmlns:a16="http://schemas.microsoft.com/office/drawing/2014/main" xmlns="" id="{271E31EE-6490-47ED-B54D-4730BA9DE18D}"/>
              </a:ext>
            </a:extLst>
          </p:cNvPr>
          <p:cNvSpPr>
            <a:spLocks noGrp="1" noChangeArrowheads="1"/>
          </p:cNvSpPr>
          <p:nvPr>
            <p:ph type="title"/>
          </p:nvPr>
        </p:nvSpPr>
        <p:spPr>
          <a:xfrm>
            <a:off x="1981200" y="152400"/>
            <a:ext cx="8229600" cy="1143000"/>
          </a:xfrm>
        </p:spPr>
        <p:txBody>
          <a:bodyPr/>
          <a:lstStyle/>
          <a:p>
            <a:pPr eaLnBrk="1" hangingPunct="1"/>
            <a:r>
              <a:rPr lang="en-US" altLang="fr-FR" sz="3400"/>
              <a:t>How does exercise change our bodies? </a:t>
            </a:r>
          </a:p>
        </p:txBody>
      </p:sp>
      <p:sp>
        <p:nvSpPr>
          <p:cNvPr id="634883" name="Footer Placeholder 3">
            <a:extLst>
              <a:ext uri="{FF2B5EF4-FFF2-40B4-BE49-F238E27FC236}">
                <a16:creationId xmlns:a16="http://schemas.microsoft.com/office/drawing/2014/main" xmlns="" id="{2A70AEEB-CD3F-4FCA-A7E0-73EAE7C0D5D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4884" name="Slide Number Placeholder 4">
            <a:extLst>
              <a:ext uri="{FF2B5EF4-FFF2-40B4-BE49-F238E27FC236}">
                <a16:creationId xmlns:a16="http://schemas.microsoft.com/office/drawing/2014/main" xmlns="" id="{6189229E-5C65-4686-B335-EC5399A0D2F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8</a:t>
            </a:r>
          </a:p>
        </p:txBody>
      </p:sp>
      <p:pic>
        <p:nvPicPr>
          <p:cNvPr id="634885" name="Picture 2" descr="G:\For Merle\Chapter 7 - air\78651418 - asian guy holding breath.jpg">
            <a:extLst>
              <a:ext uri="{FF2B5EF4-FFF2-40B4-BE49-F238E27FC236}">
                <a16:creationId xmlns:a16="http://schemas.microsoft.com/office/drawing/2014/main" xmlns="" id="{1A9D624C-FE18-431B-AF23-608D10A80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163638"/>
            <a:ext cx="3690938" cy="500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886" name="Picture 3" descr="G:\For Merle\Chapter 7 - air\138031706 - man breathing in.jpg">
            <a:extLst>
              <a:ext uri="{FF2B5EF4-FFF2-40B4-BE49-F238E27FC236}">
                <a16:creationId xmlns:a16="http://schemas.microsoft.com/office/drawing/2014/main" xmlns="" id="{2B3E2ADF-F50A-48A8-A896-8D358601B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166814"/>
            <a:ext cx="382270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Content Placeholder 2">
            <a:extLst>
              <a:ext uri="{FF2B5EF4-FFF2-40B4-BE49-F238E27FC236}">
                <a16:creationId xmlns:a16="http://schemas.microsoft.com/office/drawing/2014/main" xmlns="" id="{2DB5659E-EFE8-405F-9C55-1D741F55BC43}"/>
              </a:ext>
            </a:extLst>
          </p:cNvPr>
          <p:cNvSpPr>
            <a:spLocks noGrp="1" noChangeArrowheads="1"/>
          </p:cNvSpPr>
          <p:nvPr>
            <p:ph idx="1"/>
          </p:nvPr>
        </p:nvSpPr>
        <p:spPr>
          <a:xfrm>
            <a:off x="1905000" y="2789238"/>
            <a:ext cx="3505200" cy="1477962"/>
          </a:xfrm>
        </p:spPr>
        <p:txBody>
          <a:bodyPr/>
          <a:lstStyle/>
          <a:p>
            <a:pPr marL="0" indent="0" algn="ctr">
              <a:buNone/>
            </a:pPr>
            <a:r>
              <a:rPr lang="en-US" altLang="fr-FR" sz="3000"/>
              <a:t>Don</a:t>
            </a:r>
            <a:r>
              <a:rPr lang="en-US" altLang="en-US" sz="3000"/>
              <a:t>’</a:t>
            </a:r>
            <a:r>
              <a:rPr lang="en-US" altLang="fr-FR" sz="3000"/>
              <a:t>t skimp on quality!</a:t>
            </a:r>
          </a:p>
        </p:txBody>
      </p:sp>
      <p:sp>
        <p:nvSpPr>
          <p:cNvPr id="636931" name="Footer Placeholder 3">
            <a:extLst>
              <a:ext uri="{FF2B5EF4-FFF2-40B4-BE49-F238E27FC236}">
                <a16:creationId xmlns:a16="http://schemas.microsoft.com/office/drawing/2014/main" xmlns="" id="{F924948E-4362-4861-B428-C6D34798E2B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6932" name="Slide Number Placeholder 4">
            <a:extLst>
              <a:ext uri="{FF2B5EF4-FFF2-40B4-BE49-F238E27FC236}">
                <a16:creationId xmlns:a16="http://schemas.microsoft.com/office/drawing/2014/main" xmlns="" id="{480858C0-0353-4F41-8DAF-807613DFCB9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9</a:t>
            </a:r>
          </a:p>
        </p:txBody>
      </p:sp>
      <p:pic>
        <p:nvPicPr>
          <p:cNvPr id="636933" name="Picture 2" descr="G:\For Merle\Chapter 7 - air\78529067 - ocean view curtains.jpg">
            <a:extLst>
              <a:ext uri="{FF2B5EF4-FFF2-40B4-BE49-F238E27FC236}">
                <a16:creationId xmlns:a16="http://schemas.microsoft.com/office/drawing/2014/main" xmlns="" id="{500EA206-2EA2-47DC-B2B6-2B61792EE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450850"/>
            <a:ext cx="4572000" cy="595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Title 1">
            <a:extLst>
              <a:ext uri="{FF2B5EF4-FFF2-40B4-BE49-F238E27FC236}">
                <a16:creationId xmlns:a16="http://schemas.microsoft.com/office/drawing/2014/main" xmlns="" id="{84E22279-501F-4B68-91C4-CEA35D71AF28}"/>
              </a:ext>
            </a:extLst>
          </p:cNvPr>
          <p:cNvSpPr>
            <a:spLocks noGrp="1" noChangeArrowheads="1"/>
          </p:cNvSpPr>
          <p:nvPr>
            <p:ph type="title"/>
          </p:nvPr>
        </p:nvSpPr>
        <p:spPr>
          <a:xfrm>
            <a:off x="1676400" y="457200"/>
            <a:ext cx="8763000" cy="1143000"/>
          </a:xfrm>
        </p:spPr>
        <p:txBody>
          <a:bodyPr>
            <a:normAutofit fontScale="90000"/>
          </a:bodyPr>
          <a:lstStyle/>
          <a:p>
            <a:pPr eaLnBrk="1" hangingPunct="1"/>
            <a:r>
              <a:rPr lang="en-US" altLang="fr-FR">
                <a:ln>
                  <a:noFill/>
                </a:ln>
              </a:rPr>
              <a:t>Good quality air can be found in abundance</a:t>
            </a:r>
            <a:br>
              <a:rPr lang="en-US" altLang="fr-FR">
                <a:ln>
                  <a:noFill/>
                </a:ln>
              </a:rPr>
            </a:br>
            <a:r>
              <a:rPr lang="en-US" altLang="fr-FR">
                <a:ln>
                  <a:noFill/>
                </a:ln>
              </a:rPr>
              <a:t> in natural outdoor environments</a:t>
            </a:r>
          </a:p>
        </p:txBody>
      </p:sp>
      <p:sp>
        <p:nvSpPr>
          <p:cNvPr id="638979" name="Footer Placeholder 3">
            <a:extLst>
              <a:ext uri="{FF2B5EF4-FFF2-40B4-BE49-F238E27FC236}">
                <a16:creationId xmlns:a16="http://schemas.microsoft.com/office/drawing/2014/main" xmlns="" id="{7DA200A7-8555-442F-8BB4-7CD90D152FA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38980" name="Slide Number Placeholder 4">
            <a:extLst>
              <a:ext uri="{FF2B5EF4-FFF2-40B4-BE49-F238E27FC236}">
                <a16:creationId xmlns:a16="http://schemas.microsoft.com/office/drawing/2014/main" xmlns="" id="{F80E71DB-310F-40A0-B37B-E9BD32D4680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10</a:t>
            </a:r>
          </a:p>
        </p:txBody>
      </p:sp>
      <p:pic>
        <p:nvPicPr>
          <p:cNvPr id="638981" name="Picture 2" descr="C:\Users\thomasn\Downloads\136169256.jpg">
            <a:extLst>
              <a:ext uri="{FF2B5EF4-FFF2-40B4-BE49-F238E27FC236}">
                <a16:creationId xmlns:a16="http://schemas.microsoft.com/office/drawing/2014/main" xmlns="" id="{6CEB09E4-2374-4B0D-AE8E-9FEA88EB9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981201"/>
            <a:ext cx="8116888"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Title 1">
            <a:extLst>
              <a:ext uri="{FF2B5EF4-FFF2-40B4-BE49-F238E27FC236}">
                <a16:creationId xmlns:a16="http://schemas.microsoft.com/office/drawing/2014/main" xmlns="" id="{910478B3-9E78-46C5-8C7C-7770DF9E26C9}"/>
              </a:ext>
            </a:extLst>
          </p:cNvPr>
          <p:cNvSpPr>
            <a:spLocks noGrp="1" noChangeArrowheads="1"/>
          </p:cNvSpPr>
          <p:nvPr>
            <p:ph type="title"/>
          </p:nvPr>
        </p:nvSpPr>
        <p:spPr/>
        <p:txBody>
          <a:bodyPr/>
          <a:lstStyle/>
          <a:p>
            <a:pPr eaLnBrk="1" hangingPunct="1"/>
            <a:endParaRPr lang="fr-FR" altLang="fr-FR">
              <a:ln>
                <a:noFill/>
              </a:ln>
            </a:endParaRPr>
          </a:p>
        </p:txBody>
      </p:sp>
      <p:sp>
        <p:nvSpPr>
          <p:cNvPr id="641027" name="Content Placeholder 2">
            <a:extLst>
              <a:ext uri="{FF2B5EF4-FFF2-40B4-BE49-F238E27FC236}">
                <a16:creationId xmlns:a16="http://schemas.microsoft.com/office/drawing/2014/main" xmlns="" id="{75647AD1-5E9A-479D-9193-DCCA7B191D9A}"/>
              </a:ext>
            </a:extLst>
          </p:cNvPr>
          <p:cNvSpPr>
            <a:spLocks noGrp="1" noChangeArrowheads="1"/>
          </p:cNvSpPr>
          <p:nvPr>
            <p:ph idx="1"/>
          </p:nvPr>
        </p:nvSpPr>
        <p:spPr/>
        <p:txBody>
          <a:bodyPr/>
          <a:lstStyle/>
          <a:p>
            <a:pPr eaLnBrk="1" hangingPunct="1"/>
            <a:endParaRPr lang="fr-FR" altLang="fr-FR"/>
          </a:p>
        </p:txBody>
      </p:sp>
      <p:pic>
        <p:nvPicPr>
          <p:cNvPr id="641028" name="Picture 2" descr="C:\Users\thomasn\Downloads\200258285-001.jpg">
            <a:extLst>
              <a:ext uri="{FF2B5EF4-FFF2-40B4-BE49-F238E27FC236}">
                <a16:creationId xmlns:a16="http://schemas.microsoft.com/office/drawing/2014/main" xmlns="" id="{66844E54-FACA-4449-98F1-6C9B85C2F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76200"/>
            <a:ext cx="84328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1029" name="Footer Placeholder 3">
            <a:extLst>
              <a:ext uri="{FF2B5EF4-FFF2-40B4-BE49-F238E27FC236}">
                <a16:creationId xmlns:a16="http://schemas.microsoft.com/office/drawing/2014/main" xmlns="" id="{1FDF48C0-81D9-4102-AC3E-145A1BA0085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41030" name="Slide Number Placeholder 4">
            <a:extLst>
              <a:ext uri="{FF2B5EF4-FFF2-40B4-BE49-F238E27FC236}">
                <a16:creationId xmlns:a16="http://schemas.microsoft.com/office/drawing/2014/main" xmlns="" id="{E32490D1-580B-4382-91E1-403D952E951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11</a:t>
            </a:r>
          </a:p>
        </p:txBody>
      </p:sp>
      <p:sp>
        <p:nvSpPr>
          <p:cNvPr id="641031" name="TextBox 5">
            <a:extLst>
              <a:ext uri="{FF2B5EF4-FFF2-40B4-BE49-F238E27FC236}">
                <a16:creationId xmlns:a16="http://schemas.microsoft.com/office/drawing/2014/main" xmlns="" id="{56CF04F9-B5F7-4BC2-9AAF-D208E89A8169}"/>
              </a:ext>
            </a:extLst>
          </p:cNvPr>
          <p:cNvSpPr txBox="1">
            <a:spLocks noChangeArrowheads="1"/>
          </p:cNvSpPr>
          <p:nvPr/>
        </p:nvSpPr>
        <p:spPr bwMode="auto">
          <a:xfrm>
            <a:off x="3733801" y="5334000"/>
            <a:ext cx="48244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000" b="1">
                <a:solidFill>
                  <a:schemeClr val="bg1"/>
                </a:solidFill>
                <a:latin typeface="Arial" panose="020B0604020202020204" pitchFamily="34" charset="0"/>
                <a:ea typeface="MS PGothic" panose="020B0600070205080204" pitchFamily="34" charset="-128"/>
                <a:cs typeface="Arial" panose="020B0604020202020204" pitchFamily="34" charset="0"/>
              </a:rPr>
              <a:t>How exhilarated you feel!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Title 1">
            <a:extLst>
              <a:ext uri="{FF2B5EF4-FFF2-40B4-BE49-F238E27FC236}">
                <a16:creationId xmlns:a16="http://schemas.microsoft.com/office/drawing/2014/main" xmlns="" id="{0B697F34-2AD2-4E53-91A6-F88ABE20BD95}"/>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Protecting our interests</a:t>
            </a:r>
          </a:p>
        </p:txBody>
      </p:sp>
      <p:sp>
        <p:nvSpPr>
          <p:cNvPr id="643075" name="Footer Placeholder 3">
            <a:extLst>
              <a:ext uri="{FF2B5EF4-FFF2-40B4-BE49-F238E27FC236}">
                <a16:creationId xmlns:a16="http://schemas.microsoft.com/office/drawing/2014/main" xmlns="" id="{92BFB7CE-82AA-4E90-917B-681807CE337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43076" name="Slide Number Placeholder 4">
            <a:extLst>
              <a:ext uri="{FF2B5EF4-FFF2-40B4-BE49-F238E27FC236}">
                <a16:creationId xmlns:a16="http://schemas.microsoft.com/office/drawing/2014/main" xmlns="" id="{09A130A8-3C5B-4C13-8550-F0C2BD6BAB4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12</a:t>
            </a:r>
          </a:p>
        </p:txBody>
      </p:sp>
      <p:pic>
        <p:nvPicPr>
          <p:cNvPr id="643077" name="Picture 2" descr="C:\Users\thomasn\Downloads\143991421.jpg">
            <a:extLst>
              <a:ext uri="{FF2B5EF4-FFF2-40B4-BE49-F238E27FC236}">
                <a16:creationId xmlns:a16="http://schemas.microsoft.com/office/drawing/2014/main" xmlns="" id="{3E614709-CD90-4D18-A896-18B7850FB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281114"/>
            <a:ext cx="5316538" cy="542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Title 1">
            <a:extLst>
              <a:ext uri="{FF2B5EF4-FFF2-40B4-BE49-F238E27FC236}">
                <a16:creationId xmlns:a16="http://schemas.microsoft.com/office/drawing/2014/main" xmlns="" id="{A9C55D60-3F53-4F25-8752-7555B43F8B2D}"/>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Air pollution</a:t>
            </a:r>
          </a:p>
        </p:txBody>
      </p:sp>
      <p:sp>
        <p:nvSpPr>
          <p:cNvPr id="645123" name="Footer Placeholder 3">
            <a:extLst>
              <a:ext uri="{FF2B5EF4-FFF2-40B4-BE49-F238E27FC236}">
                <a16:creationId xmlns:a16="http://schemas.microsoft.com/office/drawing/2014/main" xmlns="" id="{1BD048F8-278D-4695-9ECA-FC79CF92835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45124" name="Slide Number Placeholder 4">
            <a:extLst>
              <a:ext uri="{FF2B5EF4-FFF2-40B4-BE49-F238E27FC236}">
                <a16:creationId xmlns:a16="http://schemas.microsoft.com/office/drawing/2014/main" xmlns="" id="{E271E0DD-608A-4060-BD34-F52051EC704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13</a:t>
            </a:r>
          </a:p>
        </p:txBody>
      </p:sp>
      <p:pic>
        <p:nvPicPr>
          <p:cNvPr id="645125" name="Picture 2" descr="C:\Users\thomasn\Pictures\Thinkstock hmpix4\Thinkstock Nancy\cars, vehicles\94400634.jpg">
            <a:extLst>
              <a:ext uri="{FF2B5EF4-FFF2-40B4-BE49-F238E27FC236}">
                <a16:creationId xmlns:a16="http://schemas.microsoft.com/office/drawing/2014/main" xmlns="" id="{AFBD158F-0E74-4996-B5B1-E6AC776D6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9776" y="1143000"/>
            <a:ext cx="8124825"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Title 1">
            <a:extLst>
              <a:ext uri="{FF2B5EF4-FFF2-40B4-BE49-F238E27FC236}">
                <a16:creationId xmlns:a16="http://schemas.microsoft.com/office/drawing/2014/main" xmlns="" id="{30B719B1-D00D-4767-A166-A418FC0A4889}"/>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Secondhand smoke</a:t>
            </a:r>
          </a:p>
        </p:txBody>
      </p:sp>
      <p:sp>
        <p:nvSpPr>
          <p:cNvPr id="647171" name="Footer Placeholder 3">
            <a:extLst>
              <a:ext uri="{FF2B5EF4-FFF2-40B4-BE49-F238E27FC236}">
                <a16:creationId xmlns:a16="http://schemas.microsoft.com/office/drawing/2014/main" xmlns="" id="{F6C3E69D-FEA6-400E-9E64-981BB0E9B3F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47172" name="Slide Number Placeholder 4">
            <a:extLst>
              <a:ext uri="{FF2B5EF4-FFF2-40B4-BE49-F238E27FC236}">
                <a16:creationId xmlns:a16="http://schemas.microsoft.com/office/drawing/2014/main" xmlns="" id="{ED0346AC-8E39-4B73-92E6-E82FD35C073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14</a:t>
            </a:r>
          </a:p>
        </p:txBody>
      </p:sp>
      <p:pic>
        <p:nvPicPr>
          <p:cNvPr id="647173" name="Picture 4" descr="C:\Users\thomasn\Pictures\Thinkstock hmpix4\Thinkstock Nancy\smoking cigarettes\100416775.jpg">
            <a:extLst>
              <a:ext uri="{FF2B5EF4-FFF2-40B4-BE49-F238E27FC236}">
                <a16:creationId xmlns:a16="http://schemas.microsoft.com/office/drawing/2014/main" xmlns="" id="{DA345F39-0598-4CDF-82E1-A8BF01E29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38250"/>
            <a:ext cx="7848600"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Title 1">
            <a:extLst>
              <a:ext uri="{FF2B5EF4-FFF2-40B4-BE49-F238E27FC236}">
                <a16:creationId xmlns:a16="http://schemas.microsoft.com/office/drawing/2014/main" xmlns="" id="{94F52DC8-972B-475B-B7D6-CAC26EE820B0}"/>
              </a:ext>
            </a:extLst>
          </p:cNvPr>
          <p:cNvSpPr>
            <a:spLocks noGrp="1" noChangeArrowheads="1"/>
          </p:cNvSpPr>
          <p:nvPr>
            <p:ph type="title"/>
          </p:nvPr>
        </p:nvSpPr>
        <p:spPr>
          <a:xfrm>
            <a:off x="1524001" y="1371600"/>
            <a:ext cx="4646613" cy="1143000"/>
          </a:xfrm>
        </p:spPr>
        <p:txBody>
          <a:bodyPr/>
          <a:lstStyle/>
          <a:p>
            <a:pPr eaLnBrk="1" hangingPunct="1"/>
            <a:r>
              <a:rPr lang="en-US" altLang="fr-FR">
                <a:ln>
                  <a:noFill/>
                </a:ln>
              </a:rPr>
              <a:t>What to do?</a:t>
            </a:r>
          </a:p>
        </p:txBody>
      </p:sp>
      <p:sp>
        <p:nvSpPr>
          <p:cNvPr id="3" name="Content Placeholder 2">
            <a:extLst>
              <a:ext uri="{FF2B5EF4-FFF2-40B4-BE49-F238E27FC236}">
                <a16:creationId xmlns:a16="http://schemas.microsoft.com/office/drawing/2014/main" xmlns="" id="{9EBB6107-2286-461F-99A5-1CB90E8B0CBB}"/>
              </a:ext>
            </a:extLst>
          </p:cNvPr>
          <p:cNvSpPr>
            <a:spLocks noGrp="1" noChangeArrowheads="1"/>
          </p:cNvSpPr>
          <p:nvPr>
            <p:ph idx="1"/>
          </p:nvPr>
        </p:nvSpPr>
        <p:spPr>
          <a:xfrm>
            <a:off x="1981200" y="3352801"/>
            <a:ext cx="8229600" cy="4525963"/>
          </a:xfrm>
        </p:spPr>
        <p:txBody>
          <a:bodyPr/>
          <a:lstStyle/>
          <a:p>
            <a:pPr eaLnBrk="1" hangingPunct="1"/>
            <a:r>
              <a:rPr lang="en-US" altLang="fr-FR"/>
              <a:t>Take deep breaths</a:t>
            </a:r>
          </a:p>
          <a:p>
            <a:pPr eaLnBrk="1" hangingPunct="1"/>
            <a:r>
              <a:rPr lang="en-US" altLang="fr-FR"/>
              <a:t>Exercise regularly</a:t>
            </a:r>
          </a:p>
        </p:txBody>
      </p:sp>
      <p:sp>
        <p:nvSpPr>
          <p:cNvPr id="649220" name="Footer Placeholder 3">
            <a:extLst>
              <a:ext uri="{FF2B5EF4-FFF2-40B4-BE49-F238E27FC236}">
                <a16:creationId xmlns:a16="http://schemas.microsoft.com/office/drawing/2014/main" xmlns="" id="{F3920F32-E95E-4F1D-AC3F-3B6E8190995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49221" name="Slide Number Placeholder 4">
            <a:extLst>
              <a:ext uri="{FF2B5EF4-FFF2-40B4-BE49-F238E27FC236}">
                <a16:creationId xmlns:a16="http://schemas.microsoft.com/office/drawing/2014/main" xmlns="" id="{5BD1FA2E-B7C4-448C-B460-1B2E77C50DC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15</a:t>
            </a:r>
          </a:p>
        </p:txBody>
      </p:sp>
      <p:pic>
        <p:nvPicPr>
          <p:cNvPr id="649222" name="Picture 2" descr="G:\For Merle\Chapter 7 - air\dv1806008 - asian girl breathing in.jpg">
            <a:extLst>
              <a:ext uri="{FF2B5EF4-FFF2-40B4-BE49-F238E27FC236}">
                <a16:creationId xmlns:a16="http://schemas.microsoft.com/office/drawing/2014/main" xmlns="" id="{4109198D-7375-4640-B62B-7618FD670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06414"/>
            <a:ext cx="4343400" cy="574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Title 1">
            <a:extLst>
              <a:ext uri="{FF2B5EF4-FFF2-40B4-BE49-F238E27FC236}">
                <a16:creationId xmlns:a16="http://schemas.microsoft.com/office/drawing/2014/main" xmlns="" id="{8E9E88B4-D246-4D45-8F89-BF09B4EE1528}"/>
              </a:ext>
            </a:extLst>
          </p:cNvPr>
          <p:cNvSpPr>
            <a:spLocks noGrp="1" noChangeArrowheads="1"/>
          </p:cNvSpPr>
          <p:nvPr>
            <p:ph type="title"/>
          </p:nvPr>
        </p:nvSpPr>
        <p:spPr>
          <a:xfrm>
            <a:off x="2362200" y="274638"/>
            <a:ext cx="6248400" cy="1143000"/>
          </a:xfrm>
        </p:spPr>
        <p:txBody>
          <a:bodyPr/>
          <a:lstStyle/>
          <a:p>
            <a:pPr eaLnBrk="1" hangingPunct="1"/>
            <a:r>
              <a:rPr lang="en-US" altLang="fr-FR">
                <a:ln>
                  <a:noFill/>
                </a:ln>
              </a:rPr>
              <a:t>Good posture:</a:t>
            </a:r>
          </a:p>
        </p:txBody>
      </p:sp>
      <p:sp>
        <p:nvSpPr>
          <p:cNvPr id="3" name="Content Placeholder 2">
            <a:extLst>
              <a:ext uri="{FF2B5EF4-FFF2-40B4-BE49-F238E27FC236}">
                <a16:creationId xmlns:a16="http://schemas.microsoft.com/office/drawing/2014/main" xmlns="" id="{AA5673BD-ED3D-4408-9979-A58CFD9C93FA}"/>
              </a:ext>
            </a:extLst>
          </p:cNvPr>
          <p:cNvSpPr>
            <a:spLocks noGrp="1" noChangeArrowheads="1"/>
          </p:cNvSpPr>
          <p:nvPr>
            <p:ph idx="1"/>
          </p:nvPr>
        </p:nvSpPr>
        <p:spPr>
          <a:xfrm>
            <a:off x="1981200" y="1828800"/>
            <a:ext cx="5105400" cy="3505200"/>
          </a:xfrm>
        </p:spPr>
        <p:txBody>
          <a:bodyPr/>
          <a:lstStyle/>
          <a:p>
            <a:pPr eaLnBrk="1" hangingPunct="1"/>
            <a:r>
              <a:rPr lang="en-US" altLang="fr-FR" sz="3000"/>
              <a:t>Flatten the plane of the pelvis by contracting the large gluteus muscles.</a:t>
            </a:r>
          </a:p>
          <a:p>
            <a:pPr eaLnBrk="1" hangingPunct="1"/>
            <a:endParaRPr lang="en-US" altLang="fr-FR" sz="3000"/>
          </a:p>
          <a:p>
            <a:pPr eaLnBrk="1" hangingPunct="1"/>
            <a:r>
              <a:rPr lang="en-US" altLang="fr-FR" sz="3000"/>
              <a:t>Stand tall, thus decreasing the forward and backward curves of the spine.</a:t>
            </a:r>
          </a:p>
          <a:p>
            <a:pPr eaLnBrk="1" hangingPunct="1"/>
            <a:endParaRPr lang="en-US" altLang="fr-FR" sz="3000"/>
          </a:p>
        </p:txBody>
      </p:sp>
      <p:sp>
        <p:nvSpPr>
          <p:cNvPr id="651268" name="Footer Placeholder 3">
            <a:extLst>
              <a:ext uri="{FF2B5EF4-FFF2-40B4-BE49-F238E27FC236}">
                <a16:creationId xmlns:a16="http://schemas.microsoft.com/office/drawing/2014/main" xmlns="" id="{9EE1E6A4-F6EA-40BB-BDA6-41EA54B345C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pic>
        <p:nvPicPr>
          <p:cNvPr id="651269" name="Picture 2" descr="G:\For Merle\Chapter 7 - air\rbht_black_1 - hispanic man posture.jpg">
            <a:extLst>
              <a:ext uri="{FF2B5EF4-FFF2-40B4-BE49-F238E27FC236}">
                <a16:creationId xmlns:a16="http://schemas.microsoft.com/office/drawing/2014/main" xmlns="" id="{A276264C-0CE8-41EB-81EF-7700A06E5E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0"/>
            <a:ext cx="1981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270" name="Slide Number Placeholder 4">
            <a:extLst>
              <a:ext uri="{FF2B5EF4-FFF2-40B4-BE49-F238E27FC236}">
                <a16:creationId xmlns:a16="http://schemas.microsoft.com/office/drawing/2014/main" xmlns="" id="{2B0BBC4D-4DAD-48CD-92DE-63FCF9C4751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D08D61C-3F9A-4D82-A6B7-C3D497BB390A}"/>
              </a:ext>
            </a:extLst>
          </p:cNvPr>
          <p:cNvSpPr>
            <a:spLocks noGrp="1"/>
          </p:cNvSpPr>
          <p:nvPr>
            <p:ph idx="1"/>
          </p:nvPr>
        </p:nvSpPr>
        <p:spPr>
          <a:xfrm>
            <a:off x="1981200" y="1600200"/>
            <a:ext cx="5334000" cy="3733800"/>
          </a:xfrm>
        </p:spPr>
        <p:txBody>
          <a:bodyPr rtlCol="0">
            <a:normAutofit/>
          </a:bodyPr>
          <a:lstStyle/>
          <a:p>
            <a:pPr>
              <a:defRPr/>
            </a:pPr>
            <a:r>
              <a:rPr lang="en-US" sz="3000" dirty="0"/>
              <a:t>Keep the head back, chin horizontal, and eyes looking straight ahead.</a:t>
            </a:r>
          </a:p>
          <a:p>
            <a:pPr>
              <a:defRPr/>
            </a:pPr>
            <a:endParaRPr lang="en-US" sz="3000" dirty="0"/>
          </a:p>
          <a:p>
            <a:pPr>
              <a:defRPr/>
            </a:pPr>
            <a:r>
              <a:rPr lang="en-US" sz="3000" dirty="0"/>
              <a:t>The feet should be slightly apart and directed forward, the upper limbs hanging naturally by the side.</a:t>
            </a:r>
          </a:p>
          <a:p>
            <a:pPr>
              <a:defRPr/>
            </a:pPr>
            <a:endParaRPr lang="en-US" sz="3000" dirty="0"/>
          </a:p>
        </p:txBody>
      </p:sp>
      <p:sp>
        <p:nvSpPr>
          <p:cNvPr id="653315" name="Footer Placeholder 3">
            <a:extLst>
              <a:ext uri="{FF2B5EF4-FFF2-40B4-BE49-F238E27FC236}">
                <a16:creationId xmlns:a16="http://schemas.microsoft.com/office/drawing/2014/main" xmlns="" id="{4BBE6212-24BF-4D8F-8BB2-4B1984B515E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pic>
        <p:nvPicPr>
          <p:cNvPr id="653316" name="Picture 2" descr="G:\For Merle\Chapter 7 - air\rbht_black_1 - hispanic man posture.jpg">
            <a:extLst>
              <a:ext uri="{FF2B5EF4-FFF2-40B4-BE49-F238E27FC236}">
                <a16:creationId xmlns:a16="http://schemas.microsoft.com/office/drawing/2014/main" xmlns="" id="{8CCEECA0-8386-4BCA-95FC-C0EDA11784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5201" y="0"/>
            <a:ext cx="20542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317" name="Slide Number Placeholder 4">
            <a:extLst>
              <a:ext uri="{FF2B5EF4-FFF2-40B4-BE49-F238E27FC236}">
                <a16:creationId xmlns:a16="http://schemas.microsoft.com/office/drawing/2014/main" xmlns="" id="{28464891-35DC-4669-B963-65115437680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C460E0C-79C7-472D-947C-F26AA151A79B}"/>
              </a:ext>
            </a:extLst>
          </p:cNvPr>
          <p:cNvSpPr>
            <a:spLocks noGrp="1" noChangeArrowheads="1"/>
          </p:cNvSpPr>
          <p:nvPr>
            <p:ph idx="1"/>
          </p:nvPr>
        </p:nvSpPr>
        <p:spPr>
          <a:xfrm>
            <a:off x="2133600" y="2362200"/>
            <a:ext cx="3581400" cy="2057400"/>
          </a:xfrm>
        </p:spPr>
        <p:txBody>
          <a:bodyPr/>
          <a:lstStyle/>
          <a:p>
            <a:pPr eaLnBrk="1" hangingPunct="1"/>
            <a:r>
              <a:rPr lang="en-US" altLang="fr-FR" sz="3000"/>
              <a:t>Exercise so as to stretch and strengthen muscles.</a:t>
            </a:r>
          </a:p>
          <a:p>
            <a:pPr eaLnBrk="1" hangingPunct="1"/>
            <a:endParaRPr lang="en-US" altLang="fr-FR" sz="3000"/>
          </a:p>
        </p:txBody>
      </p:sp>
      <p:sp>
        <p:nvSpPr>
          <p:cNvPr id="655363" name="Footer Placeholder 3">
            <a:extLst>
              <a:ext uri="{FF2B5EF4-FFF2-40B4-BE49-F238E27FC236}">
                <a16:creationId xmlns:a16="http://schemas.microsoft.com/office/drawing/2014/main" xmlns="" id="{25499C1A-99B6-4CE0-A300-5A62226382C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pic>
        <p:nvPicPr>
          <p:cNvPr id="655364" name="Picture 2" descr="G:\For Merle\Chapter 7 - air\rbht_black_1 - hispanic man posture.jpg">
            <a:extLst>
              <a:ext uri="{FF2B5EF4-FFF2-40B4-BE49-F238E27FC236}">
                <a16:creationId xmlns:a16="http://schemas.microsoft.com/office/drawing/2014/main" xmlns="" id="{CFB68C8B-37E9-4FC2-BB6E-80BCC6C0C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0"/>
            <a:ext cx="1981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65" name="Slide Number Placeholder 4">
            <a:extLst>
              <a:ext uri="{FF2B5EF4-FFF2-40B4-BE49-F238E27FC236}">
                <a16:creationId xmlns:a16="http://schemas.microsoft.com/office/drawing/2014/main" xmlns="" id="{4DF441B0-2B51-4034-BBE2-23E8D7FB2D0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Title 1">
            <a:extLst>
              <a:ext uri="{FF2B5EF4-FFF2-40B4-BE49-F238E27FC236}">
                <a16:creationId xmlns:a16="http://schemas.microsoft.com/office/drawing/2014/main" xmlns="" id="{F75177C4-A2AC-481D-A4FF-FE39D512C4E1}"/>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Diaphragmatic breathing</a:t>
            </a:r>
          </a:p>
        </p:txBody>
      </p:sp>
      <p:sp>
        <p:nvSpPr>
          <p:cNvPr id="3" name="Content Placeholder 2">
            <a:extLst>
              <a:ext uri="{FF2B5EF4-FFF2-40B4-BE49-F238E27FC236}">
                <a16:creationId xmlns:a16="http://schemas.microsoft.com/office/drawing/2014/main" xmlns="" id="{428553F3-8B33-4436-AB45-3FCD2408C507}"/>
              </a:ext>
            </a:extLst>
          </p:cNvPr>
          <p:cNvSpPr>
            <a:spLocks noGrp="1"/>
          </p:cNvSpPr>
          <p:nvPr>
            <p:ph idx="1"/>
          </p:nvPr>
        </p:nvSpPr>
        <p:spPr>
          <a:xfrm>
            <a:off x="1905000" y="1676400"/>
            <a:ext cx="4495800" cy="3429000"/>
          </a:xfrm>
        </p:spPr>
        <p:txBody>
          <a:bodyPr rtlCol="0">
            <a:noAutofit/>
          </a:bodyPr>
          <a:lstStyle/>
          <a:p>
            <a:pPr>
              <a:defRPr/>
            </a:pPr>
            <a:r>
              <a:rPr lang="en-US" sz="3000" dirty="0"/>
              <a:t>While standing, stretch your arms high above your head.</a:t>
            </a:r>
          </a:p>
          <a:p>
            <a:pPr>
              <a:defRPr/>
            </a:pPr>
            <a:endParaRPr lang="en-US" sz="3000" dirty="0"/>
          </a:p>
          <a:p>
            <a:pPr>
              <a:defRPr/>
            </a:pPr>
            <a:r>
              <a:rPr lang="en-US" sz="3000" dirty="0"/>
              <a:t>Breathe in slowly, mouth closed. </a:t>
            </a:r>
            <a:br>
              <a:rPr lang="en-US" sz="3000" dirty="0"/>
            </a:br>
            <a:r>
              <a:rPr lang="en-US" sz="3000" dirty="0"/>
              <a:t>Normally the lower ribs will expand.</a:t>
            </a:r>
          </a:p>
          <a:p>
            <a:pPr marL="0" indent="0">
              <a:buNone/>
              <a:defRPr/>
            </a:pPr>
            <a:endParaRPr lang="en-US" sz="3000" dirty="0"/>
          </a:p>
          <a:p>
            <a:pPr marL="0" indent="0">
              <a:buNone/>
              <a:defRPr/>
            </a:pPr>
            <a:endParaRPr lang="en-US" sz="3000" dirty="0"/>
          </a:p>
        </p:txBody>
      </p:sp>
      <p:sp>
        <p:nvSpPr>
          <p:cNvPr id="657412" name="Footer Placeholder 3">
            <a:extLst>
              <a:ext uri="{FF2B5EF4-FFF2-40B4-BE49-F238E27FC236}">
                <a16:creationId xmlns:a16="http://schemas.microsoft.com/office/drawing/2014/main" xmlns="" id="{4628A70E-9FD4-4220-936E-A70B7AAB3DF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57413" name="Slide Number Placeholder 4">
            <a:extLst>
              <a:ext uri="{FF2B5EF4-FFF2-40B4-BE49-F238E27FC236}">
                <a16:creationId xmlns:a16="http://schemas.microsoft.com/office/drawing/2014/main" xmlns="" id="{A16D25D5-D9D6-4E85-9EDE-9EB2653CAA7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19</a:t>
            </a:r>
          </a:p>
        </p:txBody>
      </p:sp>
      <p:pic>
        <p:nvPicPr>
          <p:cNvPr id="657414" name="Picture 3" descr="C:\Users\thomasn\Downloads\100635105.jpg">
            <a:extLst>
              <a:ext uri="{FF2B5EF4-FFF2-40B4-BE49-F238E27FC236}">
                <a16:creationId xmlns:a16="http://schemas.microsoft.com/office/drawing/2014/main" xmlns="" id="{F201C198-073D-4126-9C5E-0CDBEE473E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371601"/>
            <a:ext cx="3602038"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93C248E-0D6B-4BE6-AE4A-E6B5C7708081}"/>
              </a:ext>
            </a:extLst>
          </p:cNvPr>
          <p:cNvSpPr>
            <a:spLocks noGrp="1"/>
          </p:cNvSpPr>
          <p:nvPr>
            <p:ph idx="1"/>
          </p:nvPr>
        </p:nvSpPr>
        <p:spPr>
          <a:xfrm>
            <a:off x="1981200" y="1752600"/>
            <a:ext cx="4038600" cy="2819400"/>
          </a:xfrm>
        </p:spPr>
        <p:txBody>
          <a:bodyPr rtlCol="0">
            <a:noAutofit/>
          </a:bodyPr>
          <a:lstStyle/>
          <a:p>
            <a:pPr>
              <a:defRPr/>
            </a:pPr>
            <a:r>
              <a:rPr lang="en-US" sz="3000" dirty="0"/>
              <a:t>Expand the chest as far as possible</a:t>
            </a:r>
            <a:br>
              <a:rPr lang="en-US" sz="3000" dirty="0"/>
            </a:br>
            <a:r>
              <a:rPr lang="en-US" sz="3000" dirty="0"/>
              <a:t>while breathing in. </a:t>
            </a:r>
          </a:p>
          <a:p>
            <a:pPr>
              <a:defRPr/>
            </a:pPr>
            <a:endParaRPr lang="en-US" sz="3000" dirty="0"/>
          </a:p>
          <a:p>
            <a:pPr>
              <a:defRPr/>
            </a:pPr>
            <a:r>
              <a:rPr lang="en-US" sz="3000" dirty="0"/>
              <a:t>At the height of inspiration, take one more whiff of air.</a:t>
            </a:r>
          </a:p>
          <a:p>
            <a:pPr marL="171450" indent="-171450">
              <a:defRPr/>
            </a:pPr>
            <a:endParaRPr lang="en-US" sz="3000" dirty="0"/>
          </a:p>
          <a:p>
            <a:pPr marL="0" indent="0">
              <a:buNone/>
              <a:defRPr/>
            </a:pPr>
            <a:r>
              <a:rPr lang="en-US" sz="3000" dirty="0"/>
              <a:t>	</a:t>
            </a:r>
          </a:p>
          <a:p>
            <a:pPr marL="0" indent="0">
              <a:buNone/>
              <a:defRPr/>
            </a:pPr>
            <a:endParaRPr lang="en-US" sz="3000" dirty="0"/>
          </a:p>
          <a:p>
            <a:pPr marL="0" indent="0">
              <a:buNone/>
              <a:defRPr/>
            </a:pPr>
            <a:endParaRPr lang="en-US" sz="3000" dirty="0"/>
          </a:p>
        </p:txBody>
      </p:sp>
      <p:sp>
        <p:nvSpPr>
          <p:cNvPr id="659459" name="Footer Placeholder 3">
            <a:extLst>
              <a:ext uri="{FF2B5EF4-FFF2-40B4-BE49-F238E27FC236}">
                <a16:creationId xmlns:a16="http://schemas.microsoft.com/office/drawing/2014/main" xmlns="" id="{6E1B5AFF-A201-488B-9437-191188FDB4F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59460" name="Slide Number Placeholder 4">
            <a:extLst>
              <a:ext uri="{FF2B5EF4-FFF2-40B4-BE49-F238E27FC236}">
                <a16:creationId xmlns:a16="http://schemas.microsoft.com/office/drawing/2014/main" xmlns="" id="{93BBDDAB-B515-43CE-941D-84BB1BD453E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20</a:t>
            </a:r>
          </a:p>
        </p:txBody>
      </p:sp>
      <p:pic>
        <p:nvPicPr>
          <p:cNvPr id="659461" name="Picture 3" descr="C:\Users\thomasn\Downloads\100635105.jpg">
            <a:extLst>
              <a:ext uri="{FF2B5EF4-FFF2-40B4-BE49-F238E27FC236}">
                <a16:creationId xmlns:a16="http://schemas.microsoft.com/office/drawing/2014/main" xmlns="" id="{157B93B8-D17B-4D36-B2BC-7568AE983C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455739"/>
            <a:ext cx="34290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BF220B-B956-4437-ADD4-345D113ABA21}"/>
              </a:ext>
            </a:extLst>
          </p:cNvPr>
          <p:cNvSpPr>
            <a:spLocks noGrp="1"/>
          </p:cNvSpPr>
          <p:nvPr>
            <p:ph idx="1"/>
          </p:nvPr>
        </p:nvSpPr>
        <p:spPr>
          <a:xfrm>
            <a:off x="1981200" y="228600"/>
            <a:ext cx="4038600" cy="5181600"/>
          </a:xfrm>
        </p:spPr>
        <p:txBody>
          <a:bodyPr rtlCol="0">
            <a:noAutofit/>
          </a:bodyPr>
          <a:lstStyle/>
          <a:p>
            <a:pPr marL="171450" indent="-171450">
              <a:defRPr/>
            </a:pPr>
            <a:endParaRPr lang="en-US" sz="3000" dirty="0"/>
          </a:p>
          <a:p>
            <a:pPr>
              <a:defRPr/>
            </a:pPr>
            <a:r>
              <a:rPr lang="en-US" sz="3000" dirty="0"/>
              <a:t>With mouth open let all the air out while slowly bending over.</a:t>
            </a:r>
          </a:p>
          <a:p>
            <a:pPr marL="0" indent="0">
              <a:buNone/>
              <a:defRPr/>
            </a:pPr>
            <a:endParaRPr lang="en-US" sz="3000" dirty="0"/>
          </a:p>
          <a:p>
            <a:pPr>
              <a:defRPr/>
            </a:pPr>
            <a:r>
              <a:rPr lang="en-US" sz="3000" dirty="0"/>
              <a:t>Cough to get the last bit of air out.</a:t>
            </a:r>
          </a:p>
          <a:p>
            <a:pPr>
              <a:defRPr/>
            </a:pPr>
            <a:endParaRPr lang="en-US" sz="3000" dirty="0"/>
          </a:p>
          <a:p>
            <a:pPr>
              <a:defRPr/>
            </a:pPr>
            <a:r>
              <a:rPr lang="en-US" sz="3000" dirty="0"/>
              <a:t>Repeat five to ten times every morning.</a:t>
            </a:r>
          </a:p>
          <a:p>
            <a:pPr marL="0" indent="0">
              <a:buNone/>
              <a:defRPr/>
            </a:pPr>
            <a:r>
              <a:rPr lang="en-US" sz="3000" dirty="0"/>
              <a:t>	</a:t>
            </a:r>
          </a:p>
          <a:p>
            <a:pPr marL="0" indent="0">
              <a:buNone/>
              <a:defRPr/>
            </a:pPr>
            <a:endParaRPr lang="en-US" sz="3000" dirty="0"/>
          </a:p>
          <a:p>
            <a:pPr marL="0" indent="0">
              <a:buNone/>
              <a:defRPr/>
            </a:pPr>
            <a:endParaRPr lang="en-US" sz="3000" dirty="0"/>
          </a:p>
        </p:txBody>
      </p:sp>
      <p:sp>
        <p:nvSpPr>
          <p:cNvPr id="661507" name="Footer Placeholder 3">
            <a:extLst>
              <a:ext uri="{FF2B5EF4-FFF2-40B4-BE49-F238E27FC236}">
                <a16:creationId xmlns:a16="http://schemas.microsoft.com/office/drawing/2014/main" xmlns="" id="{B8DB5C5E-B1D1-4D74-A439-0EC5F9ED2FF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61508" name="Slide Number Placeholder 4">
            <a:extLst>
              <a:ext uri="{FF2B5EF4-FFF2-40B4-BE49-F238E27FC236}">
                <a16:creationId xmlns:a16="http://schemas.microsoft.com/office/drawing/2014/main" xmlns="" id="{523859AD-20E7-468D-B5F1-E33FB9C397F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21</a:t>
            </a:r>
          </a:p>
        </p:txBody>
      </p:sp>
      <p:pic>
        <p:nvPicPr>
          <p:cNvPr id="661509" name="Picture 3" descr="C:\Users\thomasn\Downloads\100635105.jpg">
            <a:extLst>
              <a:ext uri="{FF2B5EF4-FFF2-40B4-BE49-F238E27FC236}">
                <a16:creationId xmlns:a16="http://schemas.microsoft.com/office/drawing/2014/main" xmlns="" id="{E560796A-5F95-48F0-A186-9EF3009C5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143000"/>
            <a:ext cx="36576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Title 1">
            <a:extLst>
              <a:ext uri="{FF2B5EF4-FFF2-40B4-BE49-F238E27FC236}">
                <a16:creationId xmlns:a16="http://schemas.microsoft.com/office/drawing/2014/main" xmlns="" id="{B139CC0F-EDC5-4649-80AA-9CBCE1AD5243}"/>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Diaphragm movement</a:t>
            </a:r>
          </a:p>
        </p:txBody>
      </p:sp>
      <p:sp>
        <p:nvSpPr>
          <p:cNvPr id="663555" name="Footer Placeholder 3">
            <a:extLst>
              <a:ext uri="{FF2B5EF4-FFF2-40B4-BE49-F238E27FC236}">
                <a16:creationId xmlns:a16="http://schemas.microsoft.com/office/drawing/2014/main" xmlns="" id="{9F70E442-8A18-464B-95D8-C3CEB86EC80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63556" name="Slide Number Placeholder 4">
            <a:extLst>
              <a:ext uri="{FF2B5EF4-FFF2-40B4-BE49-F238E27FC236}">
                <a16:creationId xmlns:a16="http://schemas.microsoft.com/office/drawing/2014/main" xmlns="" id="{50AED370-372E-4B7B-942F-494AFFB9ED1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22</a:t>
            </a:r>
          </a:p>
        </p:txBody>
      </p:sp>
      <p:pic>
        <p:nvPicPr>
          <p:cNvPr id="663557" name="Picture 2" descr="C:\Users\thomasn\Downloads\103311211.jpg">
            <a:extLst>
              <a:ext uri="{FF2B5EF4-FFF2-40B4-BE49-F238E27FC236}">
                <a16:creationId xmlns:a16="http://schemas.microsoft.com/office/drawing/2014/main" xmlns="" id="{ACD39BEF-07C3-46F9-814B-F53CB0990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76" y="1328738"/>
            <a:ext cx="7959725" cy="491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Title 1">
            <a:extLst>
              <a:ext uri="{FF2B5EF4-FFF2-40B4-BE49-F238E27FC236}">
                <a16:creationId xmlns:a16="http://schemas.microsoft.com/office/drawing/2014/main" xmlns="" id="{2E0F289A-ED5F-4A7B-80D7-0CFFA214837D}"/>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In the beginning…</a:t>
            </a:r>
          </a:p>
        </p:txBody>
      </p:sp>
      <p:sp>
        <p:nvSpPr>
          <p:cNvPr id="665603" name="Footer Placeholder 3">
            <a:extLst>
              <a:ext uri="{FF2B5EF4-FFF2-40B4-BE49-F238E27FC236}">
                <a16:creationId xmlns:a16="http://schemas.microsoft.com/office/drawing/2014/main" xmlns="" id="{B6A45DB2-5885-44B8-8794-9EF98DA68B9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65604" name="Slide Number Placeholder 4">
            <a:extLst>
              <a:ext uri="{FF2B5EF4-FFF2-40B4-BE49-F238E27FC236}">
                <a16:creationId xmlns:a16="http://schemas.microsoft.com/office/drawing/2014/main" xmlns="" id="{7D3FBAEA-21A6-48FB-8462-EDDD1EED4C7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23</a:t>
            </a:r>
          </a:p>
        </p:txBody>
      </p:sp>
      <p:pic>
        <p:nvPicPr>
          <p:cNvPr id="665605" name="Picture 2" descr="G:\For Merle\Chapter 7 - air\71031755 - feather.jpg">
            <a:extLst>
              <a:ext uri="{FF2B5EF4-FFF2-40B4-BE49-F238E27FC236}">
                <a16:creationId xmlns:a16="http://schemas.microsoft.com/office/drawing/2014/main" xmlns="" id="{D71565E1-D7AB-4CFB-AD5C-350B6A4413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88"/>
          <a:stretch>
            <a:fillRect/>
          </a:stretch>
        </p:blipFill>
        <p:spPr bwMode="auto">
          <a:xfrm>
            <a:off x="2257426" y="1143001"/>
            <a:ext cx="7953375" cy="511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xmlns="" id="{3551C189-CA22-4D72-9022-2D12671DBE76}"/>
              </a:ext>
            </a:extLst>
          </p:cNvPr>
          <p:cNvSpPr/>
          <p:nvPr/>
        </p:nvSpPr>
        <p:spPr>
          <a:xfrm>
            <a:off x="2514600" y="4648201"/>
            <a:ext cx="7239000" cy="1477963"/>
          </a:xfrm>
          <a:prstGeom prst="rect">
            <a:avLst/>
          </a:prstGeom>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sz="3000">
                <a:solidFill>
                  <a:srgbClr val="FFFFFF"/>
                </a:solidFill>
                <a:effectLst>
                  <a:outerShdw blurRad="38100" dist="38100" dir="2700000" algn="tl">
                    <a:srgbClr val="1F497D"/>
                  </a:outerShdw>
                </a:effectLst>
              </a:rPr>
              <a:t>The free, pure air of heaven is one of the richest blessings we can enjoy. </a:t>
            </a:r>
          </a:p>
          <a:p>
            <a:pPr algn="r" eaLnBrk="1" hangingPunct="1">
              <a:defRPr/>
            </a:pPr>
            <a:r>
              <a:rPr lang="en-US" sz="3000" i="1">
                <a:solidFill>
                  <a:srgbClr val="FFFFFF"/>
                </a:solidFill>
                <a:effectLst>
                  <a:outerShdw blurRad="38100" dist="38100" dir="2700000" algn="tl">
                    <a:srgbClr val="1F497D"/>
                  </a:outerShdw>
                </a:effectLst>
              </a:rPr>
              <a:t>Testimonies</a:t>
            </a:r>
            <a:r>
              <a:rPr lang="en-US" sz="3000">
                <a:solidFill>
                  <a:srgbClr val="FFFFFF"/>
                </a:solidFill>
                <a:effectLst>
                  <a:outerShdw blurRad="38100" dist="38100" dir="2700000" algn="tl">
                    <a:srgbClr val="1F497D"/>
                  </a:outerShdw>
                </a:effectLst>
              </a:rPr>
              <a:t>, vol. 2, p. 528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7650" name="Picture 2" descr="C:\Users\thomasn\Pictures\Thinkstock hmpix4\Thinkstock Nancy\scenery, gardens, plants\136164128.jpg">
            <a:extLst>
              <a:ext uri="{FF2B5EF4-FFF2-40B4-BE49-F238E27FC236}">
                <a16:creationId xmlns:a16="http://schemas.microsoft.com/office/drawing/2014/main" xmlns="" id="{6C209995-BB2D-4105-A4EF-C6DB1FBFD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7651" name="Footer Placeholder 3">
            <a:extLst>
              <a:ext uri="{FF2B5EF4-FFF2-40B4-BE49-F238E27FC236}">
                <a16:creationId xmlns:a16="http://schemas.microsoft.com/office/drawing/2014/main" xmlns="" id="{4CDFE27D-419D-41EC-9213-237411A3BCB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67652" name="Slide Number Placeholder 4">
            <a:extLst>
              <a:ext uri="{FF2B5EF4-FFF2-40B4-BE49-F238E27FC236}">
                <a16:creationId xmlns:a16="http://schemas.microsoft.com/office/drawing/2014/main" xmlns="" id="{901AFA9E-CCC9-47F2-AEEF-A8485A12014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24</a:t>
            </a:r>
          </a:p>
        </p:txBody>
      </p:sp>
      <p:sp>
        <p:nvSpPr>
          <p:cNvPr id="3" name="Rectangle 2">
            <a:extLst>
              <a:ext uri="{FF2B5EF4-FFF2-40B4-BE49-F238E27FC236}">
                <a16:creationId xmlns:a16="http://schemas.microsoft.com/office/drawing/2014/main" xmlns="" id="{356A5795-4ADA-4712-BF24-F9B963EC21E0}"/>
              </a:ext>
            </a:extLst>
          </p:cNvPr>
          <p:cNvSpPr/>
          <p:nvPr/>
        </p:nvSpPr>
        <p:spPr>
          <a:xfrm>
            <a:off x="2057400" y="1219201"/>
            <a:ext cx="7772400" cy="4524375"/>
          </a:xfrm>
          <a:prstGeom prst="rect">
            <a:avLst/>
          </a:prstGeom>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3200">
                <a:effectLst>
                  <a:outerShdw blurRad="38100" dist="38100" dir="2700000" algn="tl">
                    <a:srgbClr val="1F497D"/>
                  </a:outerShdw>
                </a:effectLst>
              </a:rPr>
              <a:t>“</a:t>
            </a:r>
            <a:r>
              <a:rPr lang="en-US" sz="3200">
                <a:effectLst>
                  <a:outerShdw blurRad="38100" dist="38100" dir="2700000" algn="tl">
                    <a:srgbClr val="1F497D"/>
                  </a:outerShdw>
                </a:effectLst>
              </a:rPr>
              <a:t>In the matchless gift of His Son, </a:t>
            </a:r>
            <a:br>
              <a:rPr lang="en-US" sz="3200">
                <a:effectLst>
                  <a:outerShdw blurRad="38100" dist="38100" dir="2700000" algn="tl">
                    <a:srgbClr val="1F497D"/>
                  </a:outerShdw>
                </a:effectLst>
              </a:rPr>
            </a:br>
            <a:r>
              <a:rPr lang="en-US" sz="3200">
                <a:effectLst>
                  <a:outerShdw blurRad="38100" dist="38100" dir="2700000" algn="tl">
                    <a:srgbClr val="1F497D"/>
                  </a:outerShdw>
                </a:effectLst>
              </a:rPr>
              <a:t>God has encircled the whole world</a:t>
            </a:r>
            <a:br>
              <a:rPr lang="en-US" sz="3200">
                <a:effectLst>
                  <a:outerShdw blurRad="38100" dist="38100" dir="2700000" algn="tl">
                    <a:srgbClr val="1F497D"/>
                  </a:outerShdw>
                </a:effectLst>
              </a:rPr>
            </a:br>
            <a:r>
              <a:rPr lang="en-US" sz="3200">
                <a:effectLst>
                  <a:outerShdw blurRad="38100" dist="38100" dir="2700000" algn="tl">
                    <a:srgbClr val="1F497D"/>
                  </a:outerShdw>
                </a:effectLst>
              </a:rPr>
              <a:t>with an atmosphere of grace as real</a:t>
            </a:r>
            <a:br>
              <a:rPr lang="en-US" sz="3200">
                <a:effectLst>
                  <a:outerShdw blurRad="38100" dist="38100" dir="2700000" algn="tl">
                    <a:srgbClr val="1F497D"/>
                  </a:outerShdw>
                </a:effectLst>
              </a:rPr>
            </a:br>
            <a:r>
              <a:rPr lang="en-US" sz="3200">
                <a:effectLst>
                  <a:outerShdw blurRad="38100" dist="38100" dir="2700000" algn="tl">
                    <a:srgbClr val="1F497D"/>
                  </a:outerShdw>
                </a:effectLst>
              </a:rPr>
              <a:t>as the air which circulates around</a:t>
            </a:r>
            <a:br>
              <a:rPr lang="en-US" sz="3200">
                <a:effectLst>
                  <a:outerShdw blurRad="38100" dist="38100" dir="2700000" algn="tl">
                    <a:srgbClr val="1F497D"/>
                  </a:outerShdw>
                </a:effectLst>
              </a:rPr>
            </a:br>
            <a:r>
              <a:rPr lang="en-US" sz="3200">
                <a:effectLst>
                  <a:outerShdw blurRad="38100" dist="38100" dir="2700000" algn="tl">
                    <a:srgbClr val="1F497D"/>
                  </a:outerShdw>
                </a:effectLst>
              </a:rPr>
              <a:t>the globe.</a:t>
            </a:r>
          </a:p>
          <a:p>
            <a:pPr eaLnBrk="1" hangingPunct="1">
              <a:defRPr/>
            </a:pPr>
            <a:endParaRPr lang="en-US" sz="3200">
              <a:effectLst>
                <a:outerShdw blurRad="38100" dist="38100" dir="2700000" algn="tl">
                  <a:srgbClr val="1F497D"/>
                </a:outerShdw>
              </a:effectLst>
            </a:endParaRPr>
          </a:p>
          <a:p>
            <a:pPr eaLnBrk="1" hangingPunct="1">
              <a:defRPr/>
            </a:pPr>
            <a:r>
              <a:rPr lang="en-US" sz="3200">
                <a:effectLst>
                  <a:outerShdw blurRad="38100" dist="38100" dir="2700000" algn="tl">
                    <a:srgbClr val="1F497D"/>
                  </a:outerShdw>
                </a:effectLst>
              </a:rPr>
              <a:t>All who choose to breathe this life-giving atmosphere will live and grow up to the stature of men and women in Christ Jesus.</a:t>
            </a:r>
            <a:r>
              <a:rPr lang="en-US" altLang="en-US" sz="3200">
                <a:effectLst>
                  <a:outerShdw blurRad="38100" dist="38100" dir="2700000" algn="tl">
                    <a:srgbClr val="1F497D"/>
                  </a:outerShdw>
                </a:effectLst>
              </a:rPr>
              <a:t>”</a:t>
            </a:r>
            <a:r>
              <a:rPr lang="en-US" sz="3200">
                <a:effectLst>
                  <a:outerShdw blurRad="38100" dist="38100" dir="2700000" algn="tl">
                    <a:srgbClr val="1F497D"/>
                  </a:outerShdw>
                </a:effectLst>
              </a:rPr>
              <a:t>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9698" name="Picture 2" descr="G:\For Merle\AA013151.jpg">
            <a:extLst>
              <a:ext uri="{FF2B5EF4-FFF2-40B4-BE49-F238E27FC236}">
                <a16:creationId xmlns:a16="http://schemas.microsoft.com/office/drawing/2014/main" xmlns="" id="{3B5E76D3-2315-443A-9053-53A00BCCF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9699" name="Title 1">
            <a:extLst>
              <a:ext uri="{FF2B5EF4-FFF2-40B4-BE49-F238E27FC236}">
                <a16:creationId xmlns:a16="http://schemas.microsoft.com/office/drawing/2014/main" xmlns="" id="{F61C04F8-307F-4666-A349-79E0329879F6}"/>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fr-FR" b="1">
                <a:ln>
                  <a:noFill/>
                </a:ln>
                <a:solidFill>
                  <a:schemeClr val="bg1"/>
                </a:solidFill>
              </a:rPr>
              <a:t>LIFE APPLICATION</a:t>
            </a:r>
            <a:br>
              <a:rPr lang="en-US" altLang="fr-FR" b="1">
                <a:ln>
                  <a:noFill/>
                </a:ln>
                <a:solidFill>
                  <a:schemeClr val="bg1"/>
                </a:solidFill>
              </a:rPr>
            </a:br>
            <a:r>
              <a:rPr lang="en-US" altLang="fr-FR" b="1">
                <a:ln>
                  <a:noFill/>
                </a:ln>
                <a:solidFill>
                  <a:schemeClr val="bg1"/>
                </a:solidFill>
              </a:rPr>
              <a:t>QUESTIONS</a:t>
            </a:r>
          </a:p>
        </p:txBody>
      </p:sp>
      <p:sp>
        <p:nvSpPr>
          <p:cNvPr id="669700" name="Footer Placeholder 3">
            <a:extLst>
              <a:ext uri="{FF2B5EF4-FFF2-40B4-BE49-F238E27FC236}">
                <a16:creationId xmlns:a16="http://schemas.microsoft.com/office/drawing/2014/main" xmlns="" id="{C8679822-55BF-409F-BDB8-FFBFD8F907A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69701" name="Slide Number Placeholder 4">
            <a:extLst>
              <a:ext uri="{FF2B5EF4-FFF2-40B4-BE49-F238E27FC236}">
                <a16:creationId xmlns:a16="http://schemas.microsoft.com/office/drawing/2014/main" xmlns="" id="{6E554FDF-49E0-49E7-BF03-D89C991A182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Content Placeholder 2">
            <a:extLst>
              <a:ext uri="{FF2B5EF4-FFF2-40B4-BE49-F238E27FC236}">
                <a16:creationId xmlns:a16="http://schemas.microsoft.com/office/drawing/2014/main" xmlns="" id="{76AE0829-A112-4A28-B1D9-F798CD2F4CA9}"/>
              </a:ext>
            </a:extLst>
          </p:cNvPr>
          <p:cNvSpPr>
            <a:spLocks noGrp="1" noChangeArrowheads="1"/>
          </p:cNvSpPr>
          <p:nvPr>
            <p:ph idx="1"/>
          </p:nvPr>
        </p:nvSpPr>
        <p:spPr>
          <a:xfrm>
            <a:off x="1981200" y="1371600"/>
            <a:ext cx="5638800" cy="5105400"/>
          </a:xfrm>
        </p:spPr>
        <p:txBody>
          <a:bodyPr/>
          <a:lstStyle/>
          <a:p>
            <a:pPr marL="0" indent="0">
              <a:buNone/>
            </a:pPr>
            <a:r>
              <a:rPr lang="en-US" altLang="fr-FR"/>
              <a:t>What choices can I make that will help reduce global air pollution?</a:t>
            </a:r>
          </a:p>
          <a:p>
            <a:pPr marL="0" indent="0">
              <a:buNone/>
            </a:pPr>
            <a:r>
              <a:rPr lang="en-US" altLang="fr-FR"/>
              <a:t> </a:t>
            </a:r>
          </a:p>
          <a:p>
            <a:pPr marL="0" indent="0">
              <a:buNone/>
            </a:pPr>
            <a:r>
              <a:rPr lang="en-US" altLang="fr-FR"/>
              <a:t>Does the use of my car, electricity, and other energy sources make a difference? </a:t>
            </a:r>
          </a:p>
        </p:txBody>
      </p:sp>
      <p:sp>
        <p:nvSpPr>
          <p:cNvPr id="671747" name="Footer Placeholder 3">
            <a:extLst>
              <a:ext uri="{FF2B5EF4-FFF2-40B4-BE49-F238E27FC236}">
                <a16:creationId xmlns:a16="http://schemas.microsoft.com/office/drawing/2014/main" xmlns="" id="{662DA1AB-3340-4ED1-A416-79750258049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1748" name="Slide Number Placeholder 4">
            <a:extLst>
              <a:ext uri="{FF2B5EF4-FFF2-40B4-BE49-F238E27FC236}">
                <a16:creationId xmlns:a16="http://schemas.microsoft.com/office/drawing/2014/main" xmlns="" id="{5F929AB8-4790-4D1A-9CEF-7A431EA9A76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26</a:t>
            </a:r>
          </a:p>
        </p:txBody>
      </p:sp>
      <p:pic>
        <p:nvPicPr>
          <p:cNvPr id="671749" name="Picture 2" descr="C:\Users\thomasn\Pictures\Thinkstock hmpix4\Thinkstock Nancy\objects, maps, books\94981107.jpg">
            <a:extLst>
              <a:ext uri="{FF2B5EF4-FFF2-40B4-BE49-F238E27FC236}">
                <a16:creationId xmlns:a16="http://schemas.microsoft.com/office/drawing/2014/main" xmlns="" id="{58B40EC6-0960-4A17-84D5-EB3840FE8E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75" y="1828800"/>
            <a:ext cx="296703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Content Placeholder 2">
            <a:extLst>
              <a:ext uri="{FF2B5EF4-FFF2-40B4-BE49-F238E27FC236}">
                <a16:creationId xmlns:a16="http://schemas.microsoft.com/office/drawing/2014/main" xmlns="" id="{E55AB08B-33BB-4B22-A23A-675531F6D306}"/>
              </a:ext>
            </a:extLst>
          </p:cNvPr>
          <p:cNvSpPr>
            <a:spLocks noGrp="1" noChangeArrowheads="1"/>
          </p:cNvSpPr>
          <p:nvPr>
            <p:ph idx="1"/>
          </p:nvPr>
        </p:nvSpPr>
        <p:spPr>
          <a:xfrm>
            <a:off x="1981200" y="1752600"/>
            <a:ext cx="4343400" cy="3352800"/>
          </a:xfrm>
        </p:spPr>
        <p:txBody>
          <a:bodyPr/>
          <a:lstStyle/>
          <a:p>
            <a:pPr marL="0" indent="0">
              <a:buNone/>
            </a:pPr>
            <a:r>
              <a:rPr lang="en-US" altLang="fr-FR" sz="3000"/>
              <a:t>Do I have access to any forums in which I could participate to advocate for cleaner air, such as the prevention of smoking in public places?</a:t>
            </a:r>
          </a:p>
        </p:txBody>
      </p:sp>
      <p:sp>
        <p:nvSpPr>
          <p:cNvPr id="673795" name="Footer Placeholder 3">
            <a:extLst>
              <a:ext uri="{FF2B5EF4-FFF2-40B4-BE49-F238E27FC236}">
                <a16:creationId xmlns:a16="http://schemas.microsoft.com/office/drawing/2014/main" xmlns="" id="{896B1491-3B71-47AF-8EE3-44E620CC0AE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3796" name="Slide Number Placeholder 4">
            <a:extLst>
              <a:ext uri="{FF2B5EF4-FFF2-40B4-BE49-F238E27FC236}">
                <a16:creationId xmlns:a16="http://schemas.microsoft.com/office/drawing/2014/main" xmlns="" id="{4E3575FC-BB21-444E-99C2-8062FEB9273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27</a:t>
            </a:r>
          </a:p>
        </p:txBody>
      </p:sp>
      <p:pic>
        <p:nvPicPr>
          <p:cNvPr id="3074" name="Picture 2" descr="C:\Users\thomasn\Pictures\Thinkstock hmpix4\Thinkstock Nancy\smoking cigarettes\140411672 - smoke.jpg">
            <a:extLst>
              <a:ext uri="{FF2B5EF4-FFF2-40B4-BE49-F238E27FC236}">
                <a16:creationId xmlns:a16="http://schemas.microsoft.com/office/drawing/2014/main" xmlns="" id="{F7135B54-12B5-41D1-822C-BD18C1153666}"/>
              </a:ext>
            </a:extLst>
          </p:cNvPr>
          <p:cNvPicPr>
            <a:picLocks noChangeAspect="1" noChangeArrowheads="1"/>
          </p:cNvPicPr>
          <p:nvPr/>
        </p:nvPicPr>
        <p:blipFill rotWithShape="1">
          <a:blip r:embed="rId3" cstate="email"/>
          <a:srcRect/>
          <a:stretch/>
        </p:blipFill>
        <p:spPr bwMode="auto">
          <a:xfrm>
            <a:off x="7516278" y="990600"/>
            <a:ext cx="2161122" cy="4874172"/>
          </a:xfrm>
          <a:prstGeom prst="rect">
            <a:avLst/>
          </a:prstGeom>
          <a:ln>
            <a:noFill/>
          </a:ln>
          <a:effectLst>
            <a:softEdge rad="11250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75206A-EBE0-479A-92B9-1188D445F319}"/>
              </a:ext>
            </a:extLst>
          </p:cNvPr>
          <p:cNvSpPr>
            <a:spLocks noGrp="1"/>
          </p:cNvSpPr>
          <p:nvPr>
            <p:ph idx="1"/>
          </p:nvPr>
        </p:nvSpPr>
        <p:spPr>
          <a:xfrm>
            <a:off x="1981200" y="2362200"/>
            <a:ext cx="3352800" cy="2133600"/>
          </a:xfrm>
        </p:spPr>
        <p:txBody>
          <a:bodyPr rtlCol="0">
            <a:normAutofit/>
          </a:bodyPr>
          <a:lstStyle/>
          <a:p>
            <a:pPr marL="0" indent="0">
              <a:buNone/>
              <a:defRPr/>
            </a:pPr>
            <a:r>
              <a:rPr lang="en-US" sz="3000" dirty="0"/>
              <a:t>Which trees and shrubs contribute to the cleaning of the air? </a:t>
            </a:r>
          </a:p>
          <a:p>
            <a:pPr marL="0" indent="0">
              <a:buNone/>
              <a:defRPr/>
            </a:pPr>
            <a:endParaRPr lang="en-US" sz="3000" dirty="0"/>
          </a:p>
          <a:p>
            <a:pPr>
              <a:defRPr/>
            </a:pPr>
            <a:endParaRPr lang="en-US" sz="3000" dirty="0"/>
          </a:p>
        </p:txBody>
      </p:sp>
      <p:sp>
        <p:nvSpPr>
          <p:cNvPr id="675843" name="Footer Placeholder 3">
            <a:extLst>
              <a:ext uri="{FF2B5EF4-FFF2-40B4-BE49-F238E27FC236}">
                <a16:creationId xmlns:a16="http://schemas.microsoft.com/office/drawing/2014/main" xmlns="" id="{C6438FEE-3004-45C0-AA1C-BFA799B10CE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5844" name="Slide Number Placeholder 4">
            <a:extLst>
              <a:ext uri="{FF2B5EF4-FFF2-40B4-BE49-F238E27FC236}">
                <a16:creationId xmlns:a16="http://schemas.microsoft.com/office/drawing/2014/main" xmlns="" id="{7311E8B4-1500-4CAA-95DA-047C399B9A2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28</a:t>
            </a:r>
          </a:p>
        </p:txBody>
      </p:sp>
      <p:pic>
        <p:nvPicPr>
          <p:cNvPr id="675845" name="Picture 2" descr="C:\Users\thomasn\Downloads\147917861.jpg">
            <a:extLst>
              <a:ext uri="{FF2B5EF4-FFF2-40B4-BE49-F238E27FC236}">
                <a16:creationId xmlns:a16="http://schemas.microsoft.com/office/drawing/2014/main" xmlns="" id="{D5849447-201C-43CE-B530-529DC3812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533400"/>
            <a:ext cx="380206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E7D203C-81A5-440E-A84D-1ED84B0B322B}"/>
              </a:ext>
            </a:extLst>
          </p:cNvPr>
          <p:cNvSpPr>
            <a:spLocks noGrp="1"/>
          </p:cNvSpPr>
          <p:nvPr>
            <p:ph idx="1"/>
          </p:nvPr>
        </p:nvSpPr>
        <p:spPr>
          <a:xfrm>
            <a:off x="1905000" y="1676400"/>
            <a:ext cx="4191000" cy="3429000"/>
          </a:xfrm>
        </p:spPr>
        <p:txBody>
          <a:bodyPr rtlCol="0">
            <a:normAutofit/>
          </a:bodyPr>
          <a:lstStyle/>
          <a:p>
            <a:pPr marL="0" indent="0">
              <a:buNone/>
              <a:defRPr/>
            </a:pPr>
            <a:endParaRPr lang="en-US" sz="3000" dirty="0"/>
          </a:p>
          <a:p>
            <a:pPr marL="0" indent="0">
              <a:buNone/>
              <a:defRPr/>
            </a:pPr>
            <a:r>
              <a:rPr lang="en-US" sz="3000" dirty="0"/>
              <a:t>Do I have the option of planting some of these on my own property or in public parks and other community areas?</a:t>
            </a:r>
          </a:p>
          <a:p>
            <a:pPr>
              <a:defRPr/>
            </a:pPr>
            <a:endParaRPr lang="en-US" sz="3000" dirty="0"/>
          </a:p>
        </p:txBody>
      </p:sp>
      <p:sp>
        <p:nvSpPr>
          <p:cNvPr id="677891" name="Footer Placeholder 3">
            <a:extLst>
              <a:ext uri="{FF2B5EF4-FFF2-40B4-BE49-F238E27FC236}">
                <a16:creationId xmlns:a16="http://schemas.microsoft.com/office/drawing/2014/main" xmlns="" id="{D1859488-C3DE-40D1-93E7-0F98820D92F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7892" name="Slide Number Placeholder 4">
            <a:extLst>
              <a:ext uri="{FF2B5EF4-FFF2-40B4-BE49-F238E27FC236}">
                <a16:creationId xmlns:a16="http://schemas.microsoft.com/office/drawing/2014/main" xmlns="" id="{6921E035-C21E-47D9-BFD7-5F8ED5BD7AA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29</a:t>
            </a:r>
          </a:p>
        </p:txBody>
      </p:sp>
      <p:pic>
        <p:nvPicPr>
          <p:cNvPr id="677893" name="Picture 2" descr="C:\Users\thomasn\Downloads\147917861.jpg">
            <a:extLst>
              <a:ext uri="{FF2B5EF4-FFF2-40B4-BE49-F238E27FC236}">
                <a16:creationId xmlns:a16="http://schemas.microsoft.com/office/drawing/2014/main" xmlns="" id="{3B4EAEB1-AB42-4547-995D-BF9A9BAD9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71500"/>
            <a:ext cx="36655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Content Placeholder 2">
            <a:extLst>
              <a:ext uri="{FF2B5EF4-FFF2-40B4-BE49-F238E27FC236}">
                <a16:creationId xmlns:a16="http://schemas.microsoft.com/office/drawing/2014/main" xmlns="" id="{8285B414-E475-43A0-B088-B0F2585841A2}"/>
              </a:ext>
            </a:extLst>
          </p:cNvPr>
          <p:cNvSpPr>
            <a:spLocks noGrp="1" noChangeArrowheads="1"/>
          </p:cNvSpPr>
          <p:nvPr>
            <p:ph idx="1"/>
          </p:nvPr>
        </p:nvSpPr>
        <p:spPr>
          <a:xfrm>
            <a:off x="1905000" y="1827214"/>
            <a:ext cx="4343400" cy="3201987"/>
          </a:xfrm>
        </p:spPr>
        <p:txBody>
          <a:bodyPr/>
          <a:lstStyle/>
          <a:p>
            <a:pPr marL="0" indent="0">
              <a:buNone/>
            </a:pPr>
            <a:r>
              <a:rPr lang="en-US" altLang="fr-FR" sz="3000"/>
              <a:t>On his way to work each morning, Samuel passes a street corner where day laborers wait for someone to give them employment. </a:t>
            </a:r>
          </a:p>
        </p:txBody>
      </p:sp>
      <p:sp>
        <p:nvSpPr>
          <p:cNvPr id="679939" name="Footer Placeholder 3">
            <a:extLst>
              <a:ext uri="{FF2B5EF4-FFF2-40B4-BE49-F238E27FC236}">
                <a16:creationId xmlns:a16="http://schemas.microsoft.com/office/drawing/2014/main" xmlns="" id="{14A37FC0-0BD0-4142-BA55-526ACBE42B3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79940" name="Slide Number Placeholder 4">
            <a:extLst>
              <a:ext uri="{FF2B5EF4-FFF2-40B4-BE49-F238E27FC236}">
                <a16:creationId xmlns:a16="http://schemas.microsoft.com/office/drawing/2014/main" xmlns="" id="{BDAF7BA7-2063-4426-9A60-981602F9A23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30</a:t>
            </a:r>
          </a:p>
        </p:txBody>
      </p:sp>
      <p:pic>
        <p:nvPicPr>
          <p:cNvPr id="679941" name="Picture 2" descr="C:\Users\thomasn\Downloads\115881444.jpg">
            <a:extLst>
              <a:ext uri="{FF2B5EF4-FFF2-40B4-BE49-F238E27FC236}">
                <a16:creationId xmlns:a16="http://schemas.microsoft.com/office/drawing/2014/main" xmlns="" id="{366482A5-1FDB-4084-AADF-BBA628EEF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76" y="1752601"/>
            <a:ext cx="33877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Content Placeholder 2">
            <a:extLst>
              <a:ext uri="{FF2B5EF4-FFF2-40B4-BE49-F238E27FC236}">
                <a16:creationId xmlns:a16="http://schemas.microsoft.com/office/drawing/2014/main" xmlns="" id="{CA8D243A-2A33-4208-81A9-A0396C1BFFED}"/>
              </a:ext>
            </a:extLst>
          </p:cNvPr>
          <p:cNvSpPr>
            <a:spLocks noGrp="1" noChangeArrowheads="1"/>
          </p:cNvSpPr>
          <p:nvPr>
            <p:ph idx="1"/>
          </p:nvPr>
        </p:nvSpPr>
        <p:spPr>
          <a:xfrm>
            <a:off x="1981200" y="1646238"/>
            <a:ext cx="4343400" cy="4525962"/>
          </a:xfrm>
        </p:spPr>
        <p:txBody>
          <a:bodyPr/>
          <a:lstStyle/>
          <a:p>
            <a:pPr marL="0" indent="0">
              <a:buNone/>
            </a:pPr>
            <a:r>
              <a:rPr lang="en-US" altLang="fr-FR" sz="3000"/>
              <a:t>He noticed that most of them smoke or chew tobacco. In what ways could he help them to recognize the health dangers of tobacco?</a:t>
            </a:r>
          </a:p>
        </p:txBody>
      </p:sp>
      <p:sp>
        <p:nvSpPr>
          <p:cNvPr id="681987" name="Footer Placeholder 3">
            <a:extLst>
              <a:ext uri="{FF2B5EF4-FFF2-40B4-BE49-F238E27FC236}">
                <a16:creationId xmlns:a16="http://schemas.microsoft.com/office/drawing/2014/main" xmlns="" id="{3CB14001-CCC7-4B16-B249-1EE68F85C8D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81988" name="Slide Number Placeholder 4">
            <a:extLst>
              <a:ext uri="{FF2B5EF4-FFF2-40B4-BE49-F238E27FC236}">
                <a16:creationId xmlns:a16="http://schemas.microsoft.com/office/drawing/2014/main" xmlns="" id="{3246378B-245B-45FB-B5E1-7BED92CD666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31</a:t>
            </a:r>
          </a:p>
        </p:txBody>
      </p:sp>
      <p:pic>
        <p:nvPicPr>
          <p:cNvPr id="681989" name="Picture 2" descr="C:\Users\thomasn\Pictures\Thinkstock hmpix4\Thinkstock Nancy\Mega-Challenges - Cancer\119412147 - tobacco 2.jpg">
            <a:extLst>
              <a:ext uri="{FF2B5EF4-FFF2-40B4-BE49-F238E27FC236}">
                <a16:creationId xmlns:a16="http://schemas.microsoft.com/office/drawing/2014/main" xmlns="" id="{3E1596B5-FA69-4675-A857-F5B2B01F8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1" y="4006850"/>
            <a:ext cx="3781425"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3" descr="C:\Users\thomasn\Pictures\Thinkstock hmpix4\Thinkstock Nancy\Tobacco &amp; You\117967943 - indian man with bidi.jpg">
            <a:extLst>
              <a:ext uri="{FF2B5EF4-FFF2-40B4-BE49-F238E27FC236}">
                <a16:creationId xmlns:a16="http://schemas.microsoft.com/office/drawing/2014/main" xmlns="" id="{A9D14603-201E-42AD-877A-902F8E477A54}"/>
              </a:ext>
            </a:extLst>
          </p:cNvPr>
          <p:cNvPicPr>
            <a:picLocks noChangeAspect="1" noChangeArrowheads="1"/>
          </p:cNvPicPr>
          <p:nvPr/>
        </p:nvPicPr>
        <p:blipFill rotWithShape="1">
          <a:blip r:embed="rId4" cstate="email"/>
          <a:srcRect/>
          <a:stretch/>
        </p:blipFill>
        <p:spPr bwMode="auto">
          <a:xfrm>
            <a:off x="7573298" y="1295401"/>
            <a:ext cx="2713703" cy="2993923"/>
          </a:xfrm>
          <a:prstGeom prst="rect">
            <a:avLst/>
          </a:prstGeom>
          <a:ln>
            <a:noFill/>
          </a:ln>
          <a:effectLst>
            <a:softEdge rad="112500"/>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046314A-759B-49E9-AA6F-822E6E9311BB}"/>
              </a:ext>
            </a:extLst>
          </p:cNvPr>
          <p:cNvSpPr>
            <a:spLocks noGrp="1"/>
          </p:cNvSpPr>
          <p:nvPr>
            <p:ph idx="1"/>
          </p:nvPr>
        </p:nvSpPr>
        <p:spPr>
          <a:xfrm>
            <a:off x="1981200" y="1981200"/>
            <a:ext cx="3962400" cy="3200400"/>
          </a:xfrm>
        </p:spPr>
        <p:txBody>
          <a:bodyPr rtlCol="0">
            <a:normAutofit/>
          </a:bodyPr>
          <a:lstStyle/>
          <a:p>
            <a:pPr marL="0" indent="0">
              <a:buNone/>
              <a:defRPr/>
            </a:pPr>
            <a:r>
              <a:rPr lang="en-US" sz="3000" dirty="0"/>
              <a:t>Would organizing smoking-cessation programs at his church and inviting them to attend be beneficial? </a:t>
            </a:r>
          </a:p>
          <a:p>
            <a:pPr>
              <a:defRPr/>
            </a:pPr>
            <a:endParaRPr lang="en-US" sz="3000" dirty="0"/>
          </a:p>
        </p:txBody>
      </p:sp>
      <p:sp>
        <p:nvSpPr>
          <p:cNvPr id="684035" name="Footer Placeholder 3">
            <a:extLst>
              <a:ext uri="{FF2B5EF4-FFF2-40B4-BE49-F238E27FC236}">
                <a16:creationId xmlns:a16="http://schemas.microsoft.com/office/drawing/2014/main" xmlns="" id="{A7064CCF-0892-4FC2-877F-9CEC4AFB997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84036" name="Slide Number Placeholder 4">
            <a:extLst>
              <a:ext uri="{FF2B5EF4-FFF2-40B4-BE49-F238E27FC236}">
                <a16:creationId xmlns:a16="http://schemas.microsoft.com/office/drawing/2014/main" xmlns="" id="{60F51E13-C1B1-4C22-9916-99D5133B549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32</a:t>
            </a:r>
          </a:p>
        </p:txBody>
      </p:sp>
      <p:pic>
        <p:nvPicPr>
          <p:cNvPr id="684037" name="Picture 2" descr="C:\Users\thomasn\Downloads\86536916.jpg">
            <a:extLst>
              <a:ext uri="{FF2B5EF4-FFF2-40B4-BE49-F238E27FC236}">
                <a16:creationId xmlns:a16="http://schemas.microsoft.com/office/drawing/2014/main" xmlns="" id="{2B9388AE-55E6-4F7F-9F10-E18F649E7F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6" y="1257300"/>
            <a:ext cx="3190875" cy="42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8A09F18-D26B-45F7-A055-D3EDB977CF34}"/>
              </a:ext>
            </a:extLst>
          </p:cNvPr>
          <p:cNvSpPr>
            <a:spLocks noGrp="1"/>
          </p:cNvSpPr>
          <p:nvPr>
            <p:ph idx="1"/>
          </p:nvPr>
        </p:nvSpPr>
        <p:spPr>
          <a:xfrm>
            <a:off x="1981200" y="2057400"/>
            <a:ext cx="4114800" cy="2590800"/>
          </a:xfrm>
        </p:spPr>
        <p:txBody>
          <a:bodyPr rtlCol="0">
            <a:normAutofit/>
          </a:bodyPr>
          <a:lstStyle/>
          <a:p>
            <a:pPr marL="0" indent="0">
              <a:buNone/>
              <a:defRPr/>
            </a:pPr>
            <a:r>
              <a:rPr lang="en-US" sz="3000" dirty="0"/>
              <a:t>What effect would distributing brochures or pamphlets on the dangers of smoking have?</a:t>
            </a:r>
          </a:p>
          <a:p>
            <a:pPr>
              <a:defRPr/>
            </a:pPr>
            <a:endParaRPr lang="en-US" sz="3000" dirty="0"/>
          </a:p>
          <a:p>
            <a:pPr>
              <a:defRPr/>
            </a:pPr>
            <a:endParaRPr lang="en-US" sz="3000" dirty="0"/>
          </a:p>
        </p:txBody>
      </p:sp>
      <p:sp>
        <p:nvSpPr>
          <p:cNvPr id="686083" name="Footer Placeholder 3">
            <a:extLst>
              <a:ext uri="{FF2B5EF4-FFF2-40B4-BE49-F238E27FC236}">
                <a16:creationId xmlns:a16="http://schemas.microsoft.com/office/drawing/2014/main" xmlns="" id="{93B4030E-3C99-4BF0-9FD6-B53F66EE546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86084" name="Slide Number Placeholder 4">
            <a:extLst>
              <a:ext uri="{FF2B5EF4-FFF2-40B4-BE49-F238E27FC236}">
                <a16:creationId xmlns:a16="http://schemas.microsoft.com/office/drawing/2014/main" xmlns="" id="{30BE25F2-3CA7-4D9C-B659-4E4E7CB2B24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33</a:t>
            </a:r>
          </a:p>
        </p:txBody>
      </p:sp>
      <p:pic>
        <p:nvPicPr>
          <p:cNvPr id="686085" name="Picture 2" descr="C:\Users\thomasn\Downloads\86536916.jpg">
            <a:extLst>
              <a:ext uri="{FF2B5EF4-FFF2-40B4-BE49-F238E27FC236}">
                <a16:creationId xmlns:a16="http://schemas.microsoft.com/office/drawing/2014/main" xmlns="" id="{A5C67AC8-5CBA-47E1-9AFF-2B6913394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6" y="1257300"/>
            <a:ext cx="3190875" cy="42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Content Placeholder 2">
            <a:extLst>
              <a:ext uri="{FF2B5EF4-FFF2-40B4-BE49-F238E27FC236}">
                <a16:creationId xmlns:a16="http://schemas.microsoft.com/office/drawing/2014/main" xmlns="" id="{32784457-3230-4D29-9DF6-00E945BB6B6D}"/>
              </a:ext>
            </a:extLst>
          </p:cNvPr>
          <p:cNvSpPr>
            <a:spLocks noGrp="1" noChangeArrowheads="1"/>
          </p:cNvSpPr>
          <p:nvPr>
            <p:ph idx="1"/>
          </p:nvPr>
        </p:nvSpPr>
        <p:spPr>
          <a:xfrm>
            <a:off x="1981200" y="1524000"/>
            <a:ext cx="4495800" cy="3810000"/>
          </a:xfrm>
        </p:spPr>
        <p:txBody>
          <a:bodyPr/>
          <a:lstStyle/>
          <a:p>
            <a:pPr marL="0" indent="0">
              <a:buNone/>
            </a:pPr>
            <a:r>
              <a:rPr lang="en-US" altLang="fr-FR" sz="3000"/>
              <a:t>What comes to mind when I consider the wonderful way in which carbon dioxide is continuously removed from the air and oxygen is produced to sustain my life?</a:t>
            </a:r>
          </a:p>
        </p:txBody>
      </p:sp>
      <p:sp>
        <p:nvSpPr>
          <p:cNvPr id="688131" name="Footer Placeholder 3">
            <a:extLst>
              <a:ext uri="{FF2B5EF4-FFF2-40B4-BE49-F238E27FC236}">
                <a16:creationId xmlns:a16="http://schemas.microsoft.com/office/drawing/2014/main" xmlns="" id="{8F1C7178-A42F-4A0B-821E-E217D05E1FF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88132" name="Slide Number Placeholder 4">
            <a:extLst>
              <a:ext uri="{FF2B5EF4-FFF2-40B4-BE49-F238E27FC236}">
                <a16:creationId xmlns:a16="http://schemas.microsoft.com/office/drawing/2014/main" xmlns="" id="{6DEFB862-CC61-4305-8919-DAF6E4ACD50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34</a:t>
            </a:r>
          </a:p>
        </p:txBody>
      </p:sp>
      <p:pic>
        <p:nvPicPr>
          <p:cNvPr id="688133" name="Picture 2" descr="C:\Users\thomasn\Pictures\Nancy's camera pics\trees sky\Green1.JPG">
            <a:extLst>
              <a:ext uri="{FF2B5EF4-FFF2-40B4-BE49-F238E27FC236}">
                <a16:creationId xmlns:a16="http://schemas.microsoft.com/office/drawing/2014/main" xmlns="" id="{48D6546F-006A-48C2-94F2-8960E51D9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8038" y="1443038"/>
            <a:ext cx="3186112" cy="42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Content Placeholder 2">
            <a:extLst>
              <a:ext uri="{FF2B5EF4-FFF2-40B4-BE49-F238E27FC236}">
                <a16:creationId xmlns:a16="http://schemas.microsoft.com/office/drawing/2014/main" xmlns="" id="{89A7D0D6-0F60-4341-BA5A-E5FCAF33065D}"/>
              </a:ext>
            </a:extLst>
          </p:cNvPr>
          <p:cNvSpPr>
            <a:spLocks noGrp="1" noChangeArrowheads="1"/>
          </p:cNvSpPr>
          <p:nvPr>
            <p:ph idx="1"/>
          </p:nvPr>
        </p:nvSpPr>
        <p:spPr>
          <a:xfrm>
            <a:off x="1981200" y="1295400"/>
            <a:ext cx="4648200" cy="4114800"/>
          </a:xfrm>
        </p:spPr>
        <p:txBody>
          <a:bodyPr/>
          <a:lstStyle/>
          <a:p>
            <a:pPr marL="0" indent="0">
              <a:buNone/>
            </a:pPr>
            <a:r>
              <a:rPr lang="en-US" altLang="fr-FR"/>
              <a:t>What is my response to my Creator as I consider the finely tuned mechanism that causes me to breathe at the rate and depth that supply me with the sufficient amount of oxygen?</a:t>
            </a:r>
          </a:p>
          <a:p>
            <a:pPr marL="0" indent="0">
              <a:buNone/>
            </a:pPr>
            <a:endParaRPr lang="en-US" altLang="fr-FR"/>
          </a:p>
        </p:txBody>
      </p:sp>
      <p:sp>
        <p:nvSpPr>
          <p:cNvPr id="690179" name="Footer Placeholder 3">
            <a:extLst>
              <a:ext uri="{FF2B5EF4-FFF2-40B4-BE49-F238E27FC236}">
                <a16:creationId xmlns:a16="http://schemas.microsoft.com/office/drawing/2014/main" xmlns="" id="{5AA15C69-0639-4C2A-B462-F34525EA07A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0180" name="Slide Number Placeholder 4">
            <a:extLst>
              <a:ext uri="{FF2B5EF4-FFF2-40B4-BE49-F238E27FC236}">
                <a16:creationId xmlns:a16="http://schemas.microsoft.com/office/drawing/2014/main" xmlns="" id="{8989CBAB-E9FC-4568-AF98-BC286D9C064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35</a:t>
            </a:r>
          </a:p>
        </p:txBody>
      </p:sp>
      <p:pic>
        <p:nvPicPr>
          <p:cNvPr id="16386" name="Picture 2" descr="C:\Users\thomasn\Pictures\Thinkstock hmpix4\Thinkstock Nancy\Prayer, Praise\144365524.jpg">
            <a:extLst>
              <a:ext uri="{FF2B5EF4-FFF2-40B4-BE49-F238E27FC236}">
                <a16:creationId xmlns:a16="http://schemas.microsoft.com/office/drawing/2014/main" xmlns="" id="{9ACF6B99-96F4-4941-AEA8-8D83DD3CD831}"/>
              </a:ext>
            </a:extLst>
          </p:cNvPr>
          <p:cNvPicPr>
            <a:picLocks noChangeAspect="1" noChangeArrowheads="1"/>
          </p:cNvPicPr>
          <p:nvPr/>
        </p:nvPicPr>
        <p:blipFill rotWithShape="1">
          <a:blip r:embed="rId3" cstate="email"/>
          <a:srcRect/>
          <a:stretch/>
        </p:blipFill>
        <p:spPr bwMode="auto">
          <a:xfrm flipH="1">
            <a:off x="7281861" y="1290850"/>
            <a:ext cx="3386138" cy="4043151"/>
          </a:xfrm>
          <a:prstGeom prst="rect">
            <a:avLst/>
          </a:prstGeom>
          <a:ln>
            <a:noFill/>
          </a:ln>
          <a:effectLst>
            <a:softEdge rad="11250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0D46217-431C-4759-9FEE-94C5555A78C7}"/>
              </a:ext>
            </a:extLst>
          </p:cNvPr>
          <p:cNvSpPr>
            <a:spLocks noGrp="1"/>
          </p:cNvSpPr>
          <p:nvPr>
            <p:ph idx="1"/>
          </p:nvPr>
        </p:nvSpPr>
        <p:spPr>
          <a:xfrm>
            <a:off x="1981200" y="2286000"/>
            <a:ext cx="4191000" cy="2286000"/>
          </a:xfrm>
        </p:spPr>
        <p:txBody>
          <a:bodyPr rtlCol="0">
            <a:normAutofit/>
          </a:bodyPr>
          <a:lstStyle/>
          <a:p>
            <a:pPr marL="0" indent="0">
              <a:buNone/>
              <a:defRPr/>
            </a:pPr>
            <a:r>
              <a:rPr lang="en-US" sz="3000" dirty="0"/>
              <a:t>How can I praise and thank Him for this wonderful gift, in both words and actions?</a:t>
            </a:r>
          </a:p>
          <a:p>
            <a:pPr>
              <a:defRPr/>
            </a:pPr>
            <a:endParaRPr lang="en-US" sz="3000" dirty="0"/>
          </a:p>
        </p:txBody>
      </p:sp>
      <p:sp>
        <p:nvSpPr>
          <p:cNvPr id="692227" name="Footer Placeholder 3">
            <a:extLst>
              <a:ext uri="{FF2B5EF4-FFF2-40B4-BE49-F238E27FC236}">
                <a16:creationId xmlns:a16="http://schemas.microsoft.com/office/drawing/2014/main" xmlns="" id="{957599F2-8A66-4FC5-BAC4-91A18EA242E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2228" name="Slide Number Placeholder 4">
            <a:extLst>
              <a:ext uri="{FF2B5EF4-FFF2-40B4-BE49-F238E27FC236}">
                <a16:creationId xmlns:a16="http://schemas.microsoft.com/office/drawing/2014/main" xmlns="" id="{AE8C27C9-0459-473D-9D99-FC1719A62C9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36</a:t>
            </a:r>
          </a:p>
        </p:txBody>
      </p:sp>
      <p:pic>
        <p:nvPicPr>
          <p:cNvPr id="16386" name="Picture 2" descr="C:\Users\thomasn\Pictures\Thinkstock hmpix4\Thinkstock Nancy\Prayer, Praise\144365524.jpg">
            <a:extLst>
              <a:ext uri="{FF2B5EF4-FFF2-40B4-BE49-F238E27FC236}">
                <a16:creationId xmlns:a16="http://schemas.microsoft.com/office/drawing/2014/main" xmlns="" id="{9D336533-C345-4F77-85B2-00C1E6DFE0CC}"/>
              </a:ext>
            </a:extLst>
          </p:cNvPr>
          <p:cNvPicPr>
            <a:picLocks noChangeAspect="1" noChangeArrowheads="1"/>
          </p:cNvPicPr>
          <p:nvPr/>
        </p:nvPicPr>
        <p:blipFill rotWithShape="1">
          <a:blip r:embed="rId3" cstate="email"/>
          <a:srcRect/>
          <a:stretch/>
        </p:blipFill>
        <p:spPr bwMode="auto">
          <a:xfrm flipH="1">
            <a:off x="6553200" y="1290850"/>
            <a:ext cx="3386138" cy="4043151"/>
          </a:xfrm>
          <a:prstGeom prst="rect">
            <a:avLst/>
          </a:prstGeom>
          <a:ln>
            <a:noFill/>
          </a:ln>
          <a:effectLst>
            <a:softEdge rad="11250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Content Placeholder 2">
            <a:extLst>
              <a:ext uri="{FF2B5EF4-FFF2-40B4-BE49-F238E27FC236}">
                <a16:creationId xmlns:a16="http://schemas.microsoft.com/office/drawing/2014/main" xmlns="" id="{DE4EAF70-DB67-4CCE-A0A6-8288CFB73394}"/>
              </a:ext>
            </a:extLst>
          </p:cNvPr>
          <p:cNvSpPr>
            <a:spLocks noGrp="1" noChangeArrowheads="1"/>
          </p:cNvSpPr>
          <p:nvPr>
            <p:ph idx="1"/>
          </p:nvPr>
        </p:nvSpPr>
        <p:spPr>
          <a:xfrm>
            <a:off x="1981200" y="1371600"/>
            <a:ext cx="4038600" cy="4191000"/>
          </a:xfrm>
        </p:spPr>
        <p:txBody>
          <a:bodyPr/>
          <a:lstStyle/>
          <a:p>
            <a:pPr marL="0" indent="0">
              <a:buNone/>
            </a:pPr>
            <a:r>
              <a:rPr lang="en-US" altLang="fr-FR"/>
              <a:t>How can I ensure that I am making full use of the 3,500 cubic centimeters of air space in my lungs that doesn</a:t>
            </a:r>
            <a:r>
              <a:rPr lang="en-US" altLang="en-US"/>
              <a:t>’</a:t>
            </a:r>
            <a:r>
              <a:rPr lang="en-US" altLang="fr-FR"/>
              <a:t>t get used when I</a:t>
            </a:r>
            <a:r>
              <a:rPr lang="en-US" altLang="en-US"/>
              <a:t>’</a:t>
            </a:r>
            <a:r>
              <a:rPr lang="en-US" altLang="fr-FR"/>
              <a:t>m doing quiet breathing? </a:t>
            </a:r>
          </a:p>
        </p:txBody>
      </p:sp>
      <p:sp>
        <p:nvSpPr>
          <p:cNvPr id="694275" name="Footer Placeholder 3">
            <a:extLst>
              <a:ext uri="{FF2B5EF4-FFF2-40B4-BE49-F238E27FC236}">
                <a16:creationId xmlns:a16="http://schemas.microsoft.com/office/drawing/2014/main" xmlns="" id="{0C2E562C-DFB3-4991-8454-9AC613A5015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4276" name="Slide Number Placeholder 4">
            <a:extLst>
              <a:ext uri="{FF2B5EF4-FFF2-40B4-BE49-F238E27FC236}">
                <a16:creationId xmlns:a16="http://schemas.microsoft.com/office/drawing/2014/main" xmlns="" id="{130A4575-E405-4EB1-9EF8-ECC34B68CA7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37</a:t>
            </a:r>
          </a:p>
        </p:txBody>
      </p:sp>
      <p:pic>
        <p:nvPicPr>
          <p:cNvPr id="694277" name="Picture 2" descr="C:\Users\thomasn\Pictures\Thinkstock hmpix4\Thinkstock Nancy\Exercise, sports, outdoor activity, obesity\86802883.jpg">
            <a:extLst>
              <a:ext uri="{FF2B5EF4-FFF2-40B4-BE49-F238E27FC236}">
                <a16:creationId xmlns:a16="http://schemas.microsoft.com/office/drawing/2014/main" xmlns="" id="{B5C39E7A-DF28-419C-9ADC-AA879C44E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914400"/>
            <a:ext cx="3214688"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Content Placeholder 2">
            <a:extLst>
              <a:ext uri="{FF2B5EF4-FFF2-40B4-BE49-F238E27FC236}">
                <a16:creationId xmlns:a16="http://schemas.microsoft.com/office/drawing/2014/main" xmlns="" id="{A41F670B-9147-4FCD-84B7-2BB99440DC8D}"/>
              </a:ext>
            </a:extLst>
          </p:cNvPr>
          <p:cNvSpPr>
            <a:spLocks noGrp="1" noChangeArrowheads="1"/>
          </p:cNvSpPr>
          <p:nvPr>
            <p:ph idx="1"/>
          </p:nvPr>
        </p:nvSpPr>
        <p:spPr>
          <a:xfrm>
            <a:off x="1981200" y="1371600"/>
            <a:ext cx="5105400" cy="4724400"/>
          </a:xfrm>
        </p:spPr>
        <p:txBody>
          <a:bodyPr/>
          <a:lstStyle/>
          <a:p>
            <a:pPr marL="0" indent="0">
              <a:buNone/>
            </a:pPr>
            <a:r>
              <a:rPr lang="en-US" altLang="fr-FR"/>
              <a:t>What is </a:t>
            </a:r>
            <a:r>
              <a:rPr lang="en-US" altLang="en-US"/>
              <a:t>“</a:t>
            </a:r>
            <a:r>
              <a:rPr lang="en-US" altLang="fr-FR"/>
              <a:t>diaphragmatic breathing</a:t>
            </a:r>
            <a:r>
              <a:rPr lang="en-US" altLang="en-US"/>
              <a:t>”</a:t>
            </a:r>
            <a:r>
              <a:rPr lang="en-US" altLang="fr-FR"/>
              <a:t>? </a:t>
            </a:r>
          </a:p>
          <a:p>
            <a:pPr marL="0" indent="0">
              <a:buNone/>
            </a:pPr>
            <a:endParaRPr lang="en-US" altLang="fr-FR"/>
          </a:p>
          <a:p>
            <a:pPr marL="0" indent="0">
              <a:buNone/>
            </a:pPr>
            <a:endParaRPr lang="en-US" altLang="fr-FR"/>
          </a:p>
          <a:p>
            <a:pPr marL="0" indent="0">
              <a:buNone/>
            </a:pPr>
            <a:r>
              <a:rPr lang="en-US" altLang="fr-FR"/>
              <a:t>How can I exercise in a way that forces extra breathing?</a:t>
            </a:r>
          </a:p>
          <a:p>
            <a:pPr marL="0" indent="0"/>
            <a:endParaRPr lang="en-US" altLang="fr-FR"/>
          </a:p>
        </p:txBody>
      </p:sp>
      <p:sp>
        <p:nvSpPr>
          <p:cNvPr id="696323" name="Footer Placeholder 3">
            <a:extLst>
              <a:ext uri="{FF2B5EF4-FFF2-40B4-BE49-F238E27FC236}">
                <a16:creationId xmlns:a16="http://schemas.microsoft.com/office/drawing/2014/main" xmlns="" id="{473F5476-0EF4-4A2E-83FB-1D09DD805A6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6324" name="Slide Number Placeholder 4">
            <a:extLst>
              <a:ext uri="{FF2B5EF4-FFF2-40B4-BE49-F238E27FC236}">
                <a16:creationId xmlns:a16="http://schemas.microsoft.com/office/drawing/2014/main" xmlns="" id="{54C030F3-68A9-48EB-A77A-AF957629DD0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38</a:t>
            </a:r>
          </a:p>
        </p:txBody>
      </p:sp>
      <p:pic>
        <p:nvPicPr>
          <p:cNvPr id="696325" name="Picture 2" descr="C:\Users\thomasn\Pictures\Thinkstock hmpix4\Thinkstock Nancy\Exercise, sports, outdoor activity, obesity\86802883.jpg">
            <a:extLst>
              <a:ext uri="{FF2B5EF4-FFF2-40B4-BE49-F238E27FC236}">
                <a16:creationId xmlns:a16="http://schemas.microsoft.com/office/drawing/2014/main" xmlns="" id="{F1863A90-7EB3-41B8-8901-4C2E2CD5D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855664"/>
            <a:ext cx="3200400" cy="516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Content Placeholder 2">
            <a:extLst>
              <a:ext uri="{FF2B5EF4-FFF2-40B4-BE49-F238E27FC236}">
                <a16:creationId xmlns:a16="http://schemas.microsoft.com/office/drawing/2014/main" xmlns="" id="{46F5BEE9-742D-49C6-B8B3-1923BE5BFAA6}"/>
              </a:ext>
            </a:extLst>
          </p:cNvPr>
          <p:cNvSpPr>
            <a:spLocks noGrp="1" noChangeArrowheads="1"/>
          </p:cNvSpPr>
          <p:nvPr>
            <p:ph idx="1"/>
          </p:nvPr>
        </p:nvSpPr>
        <p:spPr>
          <a:xfrm>
            <a:off x="2057400" y="1600200"/>
            <a:ext cx="3429000" cy="3505200"/>
          </a:xfrm>
        </p:spPr>
        <p:txBody>
          <a:bodyPr/>
          <a:lstStyle/>
          <a:p>
            <a:pPr marL="0" indent="0">
              <a:buNone/>
            </a:pPr>
            <a:r>
              <a:rPr lang="en-US" altLang="fr-FR" sz="3000"/>
              <a:t>Julia yawns a lot after sitting for a long time. Could it be that she is not breathing well because she</a:t>
            </a:r>
            <a:r>
              <a:rPr lang="en-US" altLang="en-US" sz="3000"/>
              <a:t>’</a:t>
            </a:r>
            <a:r>
              <a:rPr lang="en-US" altLang="fr-FR" sz="3000"/>
              <a:t>s too sedentary? </a:t>
            </a:r>
          </a:p>
        </p:txBody>
      </p:sp>
      <p:sp>
        <p:nvSpPr>
          <p:cNvPr id="698371" name="Footer Placeholder 3">
            <a:extLst>
              <a:ext uri="{FF2B5EF4-FFF2-40B4-BE49-F238E27FC236}">
                <a16:creationId xmlns:a16="http://schemas.microsoft.com/office/drawing/2014/main" xmlns="" id="{FB71B1E5-4D3A-4077-87F0-A561E366D9B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698372" name="Slide Number Placeholder 4">
            <a:extLst>
              <a:ext uri="{FF2B5EF4-FFF2-40B4-BE49-F238E27FC236}">
                <a16:creationId xmlns:a16="http://schemas.microsoft.com/office/drawing/2014/main" xmlns="" id="{70091FF7-9D77-4658-B489-8B9DBD71611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39</a:t>
            </a:r>
          </a:p>
        </p:txBody>
      </p:sp>
      <p:pic>
        <p:nvPicPr>
          <p:cNvPr id="698373" name="Picture 2" descr="C:\Users\thomasn\Pictures\Thinkstock hmpix4\Thinkstock Nancy\sleep\106392437.jpg">
            <a:extLst>
              <a:ext uri="{FF2B5EF4-FFF2-40B4-BE49-F238E27FC236}">
                <a16:creationId xmlns:a16="http://schemas.microsoft.com/office/drawing/2014/main" xmlns="" id="{8FC69F2D-A1FD-498A-AC32-34C2159B8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1150" y="914400"/>
            <a:ext cx="309245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Content Placeholder 2">
            <a:extLst>
              <a:ext uri="{FF2B5EF4-FFF2-40B4-BE49-F238E27FC236}">
                <a16:creationId xmlns:a16="http://schemas.microsoft.com/office/drawing/2014/main" xmlns="" id="{D43A31EA-36CC-47CD-8144-95371DAB3D55}"/>
              </a:ext>
            </a:extLst>
          </p:cNvPr>
          <p:cNvSpPr>
            <a:spLocks noGrp="1" noChangeArrowheads="1"/>
          </p:cNvSpPr>
          <p:nvPr>
            <p:ph idx="1"/>
          </p:nvPr>
        </p:nvSpPr>
        <p:spPr>
          <a:xfrm>
            <a:off x="1981200" y="1219200"/>
            <a:ext cx="4724400" cy="5181600"/>
          </a:xfrm>
        </p:spPr>
        <p:txBody>
          <a:bodyPr/>
          <a:lstStyle/>
          <a:p>
            <a:pPr marL="0" indent="0">
              <a:buNone/>
            </a:pPr>
            <a:r>
              <a:rPr lang="en-US" altLang="fr-FR" sz="3000"/>
              <a:t>What improvements could be made to her posture while sitting and walking? </a:t>
            </a:r>
          </a:p>
          <a:p>
            <a:pPr marL="0" indent="0">
              <a:buNone/>
            </a:pPr>
            <a:endParaRPr lang="en-US" altLang="fr-FR" sz="3000"/>
          </a:p>
          <a:p>
            <a:pPr marL="0" indent="0">
              <a:buNone/>
            </a:pPr>
            <a:endParaRPr lang="en-US" altLang="fr-FR" sz="3000"/>
          </a:p>
          <a:p>
            <a:pPr marL="0" indent="0">
              <a:buNone/>
            </a:pPr>
            <a:r>
              <a:rPr lang="en-US" altLang="fr-FR" sz="3000"/>
              <a:t>How much would one have to move around every half hour to help?</a:t>
            </a:r>
          </a:p>
        </p:txBody>
      </p:sp>
      <p:sp>
        <p:nvSpPr>
          <p:cNvPr id="700419" name="Footer Placeholder 3">
            <a:extLst>
              <a:ext uri="{FF2B5EF4-FFF2-40B4-BE49-F238E27FC236}">
                <a16:creationId xmlns:a16="http://schemas.microsoft.com/office/drawing/2014/main" xmlns="" id="{EE959808-C3BF-4D83-9478-8F3A7637F60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700420" name="Slide Number Placeholder 4">
            <a:extLst>
              <a:ext uri="{FF2B5EF4-FFF2-40B4-BE49-F238E27FC236}">
                <a16:creationId xmlns:a16="http://schemas.microsoft.com/office/drawing/2014/main" xmlns="" id="{C5745C97-5DC9-416F-AFB9-4EABD098666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Air  40</a:t>
            </a:r>
          </a:p>
        </p:txBody>
      </p:sp>
      <p:pic>
        <p:nvPicPr>
          <p:cNvPr id="700421" name="Picture 2" descr="C:\Users\thomasn\Pictures\Thinkstock hmpix4\Thinkstock Nancy\sleep\106392437.jpg">
            <a:extLst>
              <a:ext uri="{FF2B5EF4-FFF2-40B4-BE49-F238E27FC236}">
                <a16:creationId xmlns:a16="http://schemas.microsoft.com/office/drawing/2014/main" xmlns="" id="{401C2ABB-45B9-4974-9BB4-7C0F22734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9350" y="533400"/>
            <a:ext cx="309245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TotalTime>
  <Words>3449</Words>
  <Application>Microsoft Macintosh PowerPoint</Application>
  <PresentationFormat>Widescreen</PresentationFormat>
  <Paragraphs>257</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Abadi MT Condensed Extra Bold</vt:lpstr>
      <vt:lpstr>Arial</vt:lpstr>
      <vt:lpstr>Calibri</vt:lpstr>
      <vt:lpstr>Calibri Light</vt:lpstr>
      <vt:lpstr>Humanst521 BT</vt:lpstr>
      <vt:lpstr>MS PGothic</vt:lpstr>
      <vt:lpstr>Thème Office</vt:lpstr>
      <vt:lpstr>Celebrating air</vt:lpstr>
      <vt:lpstr>Severe air pollution ensued</vt:lpstr>
      <vt:lpstr>How does it work?</vt:lpstr>
      <vt:lpstr>PowerPoint Presentation</vt:lpstr>
      <vt:lpstr>Alveoli</vt:lpstr>
      <vt:lpstr>A matter of life and breath</vt:lpstr>
      <vt:lpstr>How does exercise change our bodies? </vt:lpstr>
      <vt:lpstr>PowerPoint Presentation</vt:lpstr>
      <vt:lpstr>Good quality air can be found in abundance  in natural outdoor environments</vt:lpstr>
      <vt:lpstr>PowerPoint Presentation</vt:lpstr>
      <vt:lpstr>Protecting our interests</vt:lpstr>
      <vt:lpstr>Air pollution</vt:lpstr>
      <vt:lpstr>Secondhand smoke</vt:lpstr>
      <vt:lpstr>What to do?</vt:lpstr>
      <vt:lpstr>Good posture:</vt:lpstr>
      <vt:lpstr>PowerPoint Presentation</vt:lpstr>
      <vt:lpstr>PowerPoint Presentation</vt:lpstr>
      <vt:lpstr>Diaphragmatic breathing</vt:lpstr>
      <vt:lpstr>PowerPoint Presentation</vt:lpstr>
      <vt:lpstr>PowerPoint Presentation</vt:lpstr>
      <vt:lpstr>Diaphragm movement</vt:lpstr>
      <vt:lpstr>In the beginning…</vt:lpstr>
      <vt:lpstr>PowerPoint Presentation</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Celebrating air</dc:title>
  <dc:creator>Vieira Muzola</dc:creator>
  <cp:lastModifiedBy>Microsoft Office User</cp:lastModifiedBy>
  <cp:revision>3</cp:revision>
  <dcterms:created xsi:type="dcterms:W3CDTF">2020-04-03T11:04:55Z</dcterms:created>
  <dcterms:modified xsi:type="dcterms:W3CDTF">2024-12-10T13:45:35Z</dcterms:modified>
</cp:coreProperties>
</file>