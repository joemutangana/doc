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705" r:id="rId2"/>
    <p:sldId id="671" r:id="rId3"/>
    <p:sldId id="672" r:id="rId4"/>
    <p:sldId id="673" r:id="rId5"/>
    <p:sldId id="674" r:id="rId6"/>
    <p:sldId id="675" r:id="rId7"/>
    <p:sldId id="676" r:id="rId8"/>
    <p:sldId id="677" r:id="rId9"/>
    <p:sldId id="678" r:id="rId10"/>
    <p:sldId id="679" r:id="rId11"/>
    <p:sldId id="680" r:id="rId12"/>
    <p:sldId id="681" r:id="rId13"/>
    <p:sldId id="682" r:id="rId14"/>
    <p:sldId id="683" r:id="rId15"/>
    <p:sldId id="684" r:id="rId16"/>
    <p:sldId id="685" r:id="rId17"/>
    <p:sldId id="686" r:id="rId18"/>
    <p:sldId id="687" r:id="rId19"/>
    <p:sldId id="688" r:id="rId20"/>
    <p:sldId id="689" r:id="rId21"/>
    <p:sldId id="690" r:id="rId22"/>
    <p:sldId id="691" r:id="rId23"/>
    <p:sldId id="692" r:id="rId24"/>
    <p:sldId id="693" r:id="rId25"/>
    <p:sldId id="694" r:id="rId26"/>
    <p:sldId id="695" r:id="rId27"/>
    <p:sldId id="696" r:id="rId28"/>
    <p:sldId id="697" r:id="rId29"/>
    <p:sldId id="698" r:id="rId30"/>
    <p:sldId id="699" r:id="rId31"/>
    <p:sldId id="700" r:id="rId32"/>
    <p:sldId id="701" r:id="rId33"/>
    <p:sldId id="702" r:id="rId34"/>
    <p:sldId id="703" r:id="rId35"/>
    <p:sldId id="704" r:id="rId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3"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969032-697B-459E-986E-8EBAA7CFF4C1}" type="datetimeFigureOut">
              <a:rPr lang="fr-BE" smtClean="0"/>
              <a:t>29-04-20</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5CE3E-9E93-45BC-BAA7-D261EB7FD0E5}" type="slidenum">
              <a:rPr lang="fr-BE" smtClean="0"/>
              <a:t>‹#›</a:t>
            </a:fld>
            <a:endParaRPr lang="fr-BE"/>
          </a:p>
        </p:txBody>
      </p:sp>
    </p:spTree>
    <p:extLst>
      <p:ext uri="{BB962C8B-B14F-4D97-AF65-F5344CB8AC3E}">
        <p14:creationId xmlns:p14="http://schemas.microsoft.com/office/powerpoint/2010/main" val="1546677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Slide Image Placeholder 1">
            <a:extLst>
              <a:ext uri="{FF2B5EF4-FFF2-40B4-BE49-F238E27FC236}">
                <a16:creationId xmlns:a16="http://schemas.microsoft.com/office/drawing/2014/main" id="{9F80EC7B-1034-4CF5-8001-DEC9277B61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59139" name="Notes Placeholder 2">
            <a:extLst>
              <a:ext uri="{FF2B5EF4-FFF2-40B4-BE49-F238E27FC236}">
                <a16:creationId xmlns:a16="http://schemas.microsoft.com/office/drawing/2014/main" id="{FCE60092-1A81-4347-A908-A3A4191909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dirty="0"/>
              <a:t>Suddenly they were unable to see. Thick dust not only blocked the artificial light but irritated and burned their eyes for six hours. It was shortly after lunch when the routine of the day changed—and so has the story of history. 	</a:t>
            </a:r>
          </a:p>
          <a:p>
            <a:pPr>
              <a:spcBef>
                <a:spcPct val="0"/>
              </a:spcBef>
            </a:pPr>
            <a:r>
              <a:rPr lang="en-US" altLang="fr-FR" dirty="0"/>
              <a:t>On August 5, 2010, a rockfall in the Chilean </a:t>
            </a:r>
            <a:r>
              <a:rPr lang="en-US" altLang="fr-FR" dirty="0" err="1"/>
              <a:t>Copiapó</a:t>
            </a:r>
            <a:r>
              <a:rPr lang="en-US" altLang="fr-FR" dirty="0"/>
              <a:t> copper mine trapped 33 miners 2,300 feet underground. Another group of miners that was nearer the entrance of the mine was able to escape, but for the 33 it was another story. Their world had collapsed around them.	</a:t>
            </a:r>
          </a:p>
          <a:p>
            <a:pPr>
              <a:spcBef>
                <a:spcPct val="0"/>
              </a:spcBef>
            </a:pPr>
            <a:r>
              <a:rPr lang="en-US" altLang="fr-FR" dirty="0"/>
              <a:t>Uppermost in their minds was the need to survive and escape. The shift leader, Luis </a:t>
            </a:r>
            <a:r>
              <a:rPr lang="en-US" altLang="fr-FR" dirty="0" err="1"/>
              <a:t>Urzua</a:t>
            </a:r>
            <a:r>
              <a:rPr lang="en-US" altLang="fr-FR" dirty="0"/>
              <a:t>, immediately took charge and organized the men into a team that made all their decisions on a democratic basis—the majority votes carried each action and plan.</a:t>
            </a:r>
          </a:p>
          <a:p>
            <a:pPr>
              <a:spcBef>
                <a:spcPct val="0"/>
              </a:spcBef>
            </a:pPr>
            <a:endParaRPr lang="en-US" altLang="fr-FR" dirty="0"/>
          </a:p>
        </p:txBody>
      </p:sp>
      <p:sp>
        <p:nvSpPr>
          <p:cNvPr id="859140" name="Slide Number Placeholder 3">
            <a:extLst>
              <a:ext uri="{FF2B5EF4-FFF2-40B4-BE49-F238E27FC236}">
                <a16:creationId xmlns:a16="http://schemas.microsoft.com/office/drawing/2014/main" id="{B646B817-42ED-4BB4-BFC1-E7C7FF0D1C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AF76659-C52E-4FF8-A003-9EE490D8FD44}"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Slide Image Placeholder 1">
            <a:extLst>
              <a:ext uri="{FF2B5EF4-FFF2-40B4-BE49-F238E27FC236}">
                <a16:creationId xmlns:a16="http://schemas.microsoft.com/office/drawing/2014/main" id="{22359C20-4403-4AD0-A97D-19DA6B4879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1187" name="Notes Placeholder 2">
            <a:extLst>
              <a:ext uri="{FF2B5EF4-FFF2-40B4-BE49-F238E27FC236}">
                <a16:creationId xmlns:a16="http://schemas.microsoft.com/office/drawing/2014/main" id="{9204E629-5CC1-4C96-A62C-6F9B4BD0E3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Ventilation problems forced the men to move out of their 540-square-foot (50-square-meter) emergency shelter into a tunnel. They had access to 1.2 miles (2 kilometers) of galleries in which to move around. Lack of emergency ladders hampered vain attempts to escape through ventilation shafts. Their two- to three-day emergency supplies were stretched to last two weeks. Careful rationing, strict discipline, social support, and camaraderie all came into play. 	</a:t>
            </a:r>
          </a:p>
          <a:p>
            <a:pPr>
              <a:spcBef>
                <a:spcPct val="0"/>
              </a:spcBef>
            </a:pPr>
            <a:r>
              <a:rPr lang="en-US" altLang="fr-FR"/>
              <a:t>Each of the men lost an average of 18 pounds (8 kilograms) in weight. For some, this was an uncomfortable but needed advantage; otherwise they may not have fit into the escape capsules when ultimately found.</a:t>
            </a:r>
          </a:p>
          <a:p>
            <a:pPr>
              <a:spcBef>
                <a:spcPct val="0"/>
              </a:spcBef>
            </a:pPr>
            <a:r>
              <a:rPr lang="en-US" altLang="fr-FR"/>
              <a:t>On August 22 a drill bored its eighth hole and broke into a shaft close to where the trapped miners were anxiously anticipating rescue. For days the miners had heard the drills and prepared notes to attach to the drill bit. The now famous paper was attached with the words: </a:t>
            </a:r>
            <a:r>
              <a:rPr lang="en-US" altLang="en-US"/>
              <a:t>“</a:t>
            </a:r>
            <a:r>
              <a:rPr lang="en-US" altLang="fr-FR"/>
              <a:t>We are well in the shelter, the 33.</a:t>
            </a:r>
            <a:r>
              <a:rPr lang="en-US" altLang="en-US"/>
              <a:t>”</a:t>
            </a:r>
            <a:r>
              <a:rPr lang="en-US" altLang="fr-FR"/>
              <a:t> Joy and excitement broke out both above and below ground level; however, there was uncertainty as to how the rescue would be executed and concern that it could take many months to complete.</a:t>
            </a:r>
          </a:p>
          <a:p>
            <a:pPr>
              <a:spcBef>
                <a:spcPct val="0"/>
              </a:spcBef>
            </a:pPr>
            <a:endParaRPr lang="en-US" altLang="fr-FR"/>
          </a:p>
        </p:txBody>
      </p:sp>
      <p:sp>
        <p:nvSpPr>
          <p:cNvPr id="861188" name="Slide Number Placeholder 3">
            <a:extLst>
              <a:ext uri="{FF2B5EF4-FFF2-40B4-BE49-F238E27FC236}">
                <a16:creationId xmlns:a16="http://schemas.microsoft.com/office/drawing/2014/main" id="{41359B44-F34E-4465-972B-83BF35E476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F530EFC-E159-49D4-8839-DBE1AA0FD141}"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Slide Image Placeholder 1">
            <a:extLst>
              <a:ext uri="{FF2B5EF4-FFF2-40B4-BE49-F238E27FC236}">
                <a16:creationId xmlns:a16="http://schemas.microsoft.com/office/drawing/2014/main" id="{B7D14107-0C93-4D77-876A-BE1C31AF58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3235" name="Notes Placeholder 2">
            <a:extLst>
              <a:ext uri="{FF2B5EF4-FFF2-40B4-BE49-F238E27FC236}">
                <a16:creationId xmlns:a16="http://schemas.microsoft.com/office/drawing/2014/main" id="{F8E3A6CE-F4B3-4092-A62B-2E9C4184DB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During this time another interesting phenomenon occurred: a tent city sprang up in the desert near the mine entrance. At first, family and friends slept in cars and waited and prayed. Friends then brought tents and other supplies to help those keeping vigil to survive the hostile desert environment. The settlement was appropriately named Campamento Esperanza (Camp Hope). 	</a:t>
            </a:r>
          </a:p>
          <a:p>
            <a:pPr>
              <a:spcBef>
                <a:spcPct val="0"/>
              </a:spcBef>
            </a:pPr>
            <a:r>
              <a:rPr lang="en-US" altLang="fr-FR"/>
              <a:t>Multicultural collaboration, engineering ingenuity, careful planning, and dogged determination led to the miners emerging one by one, safe and alive, 69 days after being trapped. The date—October 13, 2010.</a:t>
            </a:r>
          </a:p>
          <a:p>
            <a:pPr>
              <a:spcBef>
                <a:spcPct val="0"/>
              </a:spcBef>
            </a:pPr>
            <a:endParaRPr lang="en-US" altLang="fr-FR"/>
          </a:p>
          <a:p>
            <a:pPr>
              <a:spcBef>
                <a:spcPct val="0"/>
              </a:spcBef>
            </a:pPr>
            <a:endParaRPr lang="en-US" altLang="fr-FR"/>
          </a:p>
        </p:txBody>
      </p:sp>
      <p:sp>
        <p:nvSpPr>
          <p:cNvPr id="863236" name="Slide Number Placeholder 3">
            <a:extLst>
              <a:ext uri="{FF2B5EF4-FFF2-40B4-BE49-F238E27FC236}">
                <a16:creationId xmlns:a16="http://schemas.microsoft.com/office/drawing/2014/main" id="{D8B2440F-6546-4084-BFF1-413BF8FF3B5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EC1CD43-95E1-4A42-9C2D-087968949C52}"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Slide Image Placeholder 1">
            <a:extLst>
              <a:ext uri="{FF2B5EF4-FFF2-40B4-BE49-F238E27FC236}">
                <a16:creationId xmlns:a16="http://schemas.microsoft.com/office/drawing/2014/main" id="{3B94A4BC-D11D-4EE9-993D-9486DFF988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5283" name="Notes Placeholder 2">
            <a:extLst>
              <a:ext uri="{FF2B5EF4-FFF2-40B4-BE49-F238E27FC236}">
                <a16:creationId xmlns:a16="http://schemas.microsoft.com/office/drawing/2014/main" id="{DA33E442-563C-41C5-B14D-59A6EAD113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What kept the men going? Social support, leadership, collaboration, discipline, a sense of humor—all these played vital roles. Most important, however, were optimism and hope. 	</a:t>
            </a:r>
          </a:p>
          <a:p>
            <a:pPr>
              <a:spcBef>
                <a:spcPct val="0"/>
              </a:spcBef>
            </a:pPr>
            <a:r>
              <a:rPr lang="en-US" altLang="fr-FR"/>
              <a:t>Those working above ground were based in Camp Hope. Those in the bowels of the earth emphasized hope, faith, and optimism in their communication with rescuers and families. The pope and other religious leaders prayed for them. One of the miners had the amazing experience of watching his wife give birth to their daughter through a visual communication setup during the rescue operation. The parents called her Hope, because they, along with the other miners and their families, never lost hope. The youngest miner, Jimmy Sanchez, shared his hopes and thoughts in a letter: </a:t>
            </a:r>
            <a:r>
              <a:rPr lang="en-US" altLang="en-US"/>
              <a:t>“</a:t>
            </a:r>
            <a:r>
              <a:rPr lang="en-US" altLang="fr-FR"/>
              <a:t>I want to eat so many things. I</a:t>
            </a:r>
            <a:r>
              <a:rPr lang="en-US" altLang="en-US"/>
              <a:t>’</a:t>
            </a:r>
            <a:r>
              <a:rPr lang="en-US" altLang="fr-FR"/>
              <a:t>m hungrier than ever. All these days I</a:t>
            </a:r>
            <a:r>
              <a:rPr lang="en-US" altLang="en-US"/>
              <a:t>’</a:t>
            </a:r>
            <a:r>
              <a:rPr lang="en-US" altLang="fr-FR"/>
              <a:t>ve been dreaming about my mom cooking for me. That will happen soon. After the bad comes the good.</a:t>
            </a:r>
            <a:r>
              <a:rPr lang="en-US" altLang="en-US"/>
              <a:t>”</a:t>
            </a:r>
            <a:r>
              <a:rPr lang="en-US" altLang="fr-FR"/>
              <a:t>¹	</a:t>
            </a:r>
          </a:p>
          <a:p>
            <a:pPr>
              <a:spcBef>
                <a:spcPct val="0"/>
              </a:spcBef>
            </a:pPr>
            <a:r>
              <a:rPr lang="en-US" altLang="fr-FR"/>
              <a:t>It was a frightening and harrowing experience for all concerned, but running throughout their amazing story are the threads of optimism and hope—indispensable ingredients of a full, healthy, and happy life. 	</a:t>
            </a:r>
          </a:p>
          <a:p>
            <a:pPr>
              <a:spcBef>
                <a:spcPct val="0"/>
              </a:spcBef>
            </a:pPr>
            <a:r>
              <a:rPr lang="en-US" altLang="fr-FR"/>
              <a:t>Optimism and hope make all the difference.</a:t>
            </a:r>
          </a:p>
          <a:p>
            <a:pPr>
              <a:spcBef>
                <a:spcPct val="0"/>
              </a:spcBef>
            </a:pPr>
            <a:endParaRPr lang="en-US" altLang="fr-FR"/>
          </a:p>
        </p:txBody>
      </p:sp>
      <p:sp>
        <p:nvSpPr>
          <p:cNvPr id="865284" name="Slide Number Placeholder 3">
            <a:extLst>
              <a:ext uri="{FF2B5EF4-FFF2-40B4-BE49-F238E27FC236}">
                <a16:creationId xmlns:a16="http://schemas.microsoft.com/office/drawing/2014/main" id="{EDF760D7-F331-48A8-9873-AEE6D78972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79DF4DD-5F8B-4FF7-8FD6-46C3F2D96234}"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Slide Image Placeholder 1">
            <a:extLst>
              <a:ext uri="{FF2B5EF4-FFF2-40B4-BE49-F238E27FC236}">
                <a16:creationId xmlns:a16="http://schemas.microsoft.com/office/drawing/2014/main" id="{EAEE2876-6433-44D7-94AA-96BBAFA4C6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7331" name="Notes Placeholder 2">
            <a:extLst>
              <a:ext uri="{FF2B5EF4-FFF2-40B4-BE49-F238E27FC236}">
                <a16:creationId xmlns:a16="http://schemas.microsoft.com/office/drawing/2014/main" id="{15404105-BA02-427B-9A2F-E39E4DA051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solidFill>
                  <a:srgbClr val="000000"/>
                </a:solidFill>
              </a:rPr>
              <a:t>What is optimism? There are many synonyms and related words: </a:t>
            </a:r>
            <a:r>
              <a:rPr lang="en-US" altLang="en-US">
                <a:solidFill>
                  <a:srgbClr val="000000"/>
                </a:solidFill>
              </a:rPr>
              <a:t>“</a:t>
            </a:r>
            <a:r>
              <a:rPr lang="en-US" altLang="fr-FR">
                <a:solidFill>
                  <a:srgbClr val="000000"/>
                </a:solidFill>
              </a:rPr>
              <a:t>happiness,</a:t>
            </a:r>
            <a:r>
              <a:rPr lang="en-US" altLang="en-US">
                <a:solidFill>
                  <a:srgbClr val="000000"/>
                </a:solidFill>
              </a:rPr>
              <a:t>”</a:t>
            </a:r>
            <a:r>
              <a:rPr lang="en-US" altLang="fr-FR">
                <a:solidFill>
                  <a:srgbClr val="000000"/>
                </a:solidFill>
              </a:rPr>
              <a:t> </a:t>
            </a:r>
            <a:r>
              <a:rPr lang="en-US" altLang="en-US">
                <a:solidFill>
                  <a:srgbClr val="000000"/>
                </a:solidFill>
              </a:rPr>
              <a:t>“</a:t>
            </a:r>
            <a:r>
              <a:rPr lang="en-US" altLang="fr-FR">
                <a:solidFill>
                  <a:srgbClr val="000000"/>
                </a:solidFill>
              </a:rPr>
              <a:t>hope,</a:t>
            </a:r>
            <a:r>
              <a:rPr lang="en-US" altLang="en-US">
                <a:solidFill>
                  <a:srgbClr val="000000"/>
                </a:solidFill>
              </a:rPr>
              <a:t>”</a:t>
            </a:r>
            <a:r>
              <a:rPr lang="en-US" altLang="fr-FR">
                <a:solidFill>
                  <a:srgbClr val="000000"/>
                </a:solidFill>
              </a:rPr>
              <a:t> </a:t>
            </a:r>
            <a:r>
              <a:rPr lang="en-US" altLang="en-US">
                <a:solidFill>
                  <a:srgbClr val="000000"/>
                </a:solidFill>
              </a:rPr>
              <a:t>“</a:t>
            </a:r>
            <a:r>
              <a:rPr lang="en-US" altLang="fr-FR">
                <a:solidFill>
                  <a:srgbClr val="000000"/>
                </a:solidFill>
              </a:rPr>
              <a:t>joyfulness,</a:t>
            </a:r>
            <a:r>
              <a:rPr lang="en-US" altLang="en-US">
                <a:solidFill>
                  <a:srgbClr val="000000"/>
                </a:solidFill>
              </a:rPr>
              <a:t>”</a:t>
            </a:r>
            <a:r>
              <a:rPr lang="en-US" altLang="fr-FR">
                <a:solidFill>
                  <a:srgbClr val="000000"/>
                </a:solidFill>
              </a:rPr>
              <a:t> </a:t>
            </a:r>
            <a:r>
              <a:rPr lang="en-US" altLang="en-US">
                <a:solidFill>
                  <a:srgbClr val="000000"/>
                </a:solidFill>
              </a:rPr>
              <a:t>“</a:t>
            </a:r>
            <a:r>
              <a:rPr lang="en-US" altLang="fr-FR">
                <a:solidFill>
                  <a:srgbClr val="000000"/>
                </a:solidFill>
              </a:rPr>
              <a:t>positive attitude,</a:t>
            </a:r>
            <a:r>
              <a:rPr lang="en-US" altLang="en-US">
                <a:solidFill>
                  <a:srgbClr val="000000"/>
                </a:solidFill>
              </a:rPr>
              <a:t>”</a:t>
            </a:r>
            <a:r>
              <a:rPr lang="en-US" altLang="fr-FR">
                <a:solidFill>
                  <a:srgbClr val="000000"/>
                </a:solidFill>
              </a:rPr>
              <a:t> </a:t>
            </a:r>
            <a:r>
              <a:rPr lang="en-US" altLang="en-US">
                <a:solidFill>
                  <a:srgbClr val="000000"/>
                </a:solidFill>
              </a:rPr>
              <a:t>“</a:t>
            </a:r>
            <a:r>
              <a:rPr lang="en-US" altLang="fr-FR">
                <a:solidFill>
                  <a:srgbClr val="000000"/>
                </a:solidFill>
              </a:rPr>
              <a:t>high spirits,</a:t>
            </a:r>
            <a:r>
              <a:rPr lang="en-US" altLang="en-US">
                <a:solidFill>
                  <a:srgbClr val="000000"/>
                </a:solidFill>
              </a:rPr>
              <a:t>”</a:t>
            </a:r>
            <a:r>
              <a:rPr lang="en-US" altLang="fr-FR">
                <a:solidFill>
                  <a:srgbClr val="000000"/>
                </a:solidFill>
              </a:rPr>
              <a:t> and </a:t>
            </a:r>
            <a:r>
              <a:rPr lang="en-US" altLang="en-US">
                <a:solidFill>
                  <a:srgbClr val="000000"/>
                </a:solidFill>
              </a:rPr>
              <a:t>“</a:t>
            </a:r>
            <a:r>
              <a:rPr lang="en-US" altLang="fr-FR">
                <a:solidFill>
                  <a:srgbClr val="000000"/>
                </a:solidFill>
              </a:rPr>
              <a:t>cheerfulness,</a:t>
            </a:r>
            <a:r>
              <a:rPr lang="en-US" altLang="en-US">
                <a:solidFill>
                  <a:srgbClr val="000000"/>
                </a:solidFill>
              </a:rPr>
              <a:t>”</a:t>
            </a:r>
            <a:r>
              <a:rPr lang="en-US" altLang="fr-FR">
                <a:solidFill>
                  <a:srgbClr val="000000"/>
                </a:solidFill>
              </a:rPr>
              <a:t> among others. Optimism has been defined as an enduring tendency to expect good personal outcomes in the future.² This fits with the Oxford dictionary definition, which describes optimism as an inclination to </a:t>
            </a:r>
            <a:r>
              <a:rPr lang="en-US" altLang="en-US">
                <a:solidFill>
                  <a:srgbClr val="000000"/>
                </a:solidFill>
              </a:rPr>
              <a:t>“</a:t>
            </a:r>
            <a:r>
              <a:rPr lang="en-US" altLang="fr-FR">
                <a:solidFill>
                  <a:srgbClr val="000000"/>
                </a:solidFill>
              </a:rPr>
              <a:t>hopefulness and confidence.</a:t>
            </a:r>
            <a:r>
              <a:rPr lang="en-US" altLang="en-US">
                <a:solidFill>
                  <a:srgbClr val="000000"/>
                </a:solidFill>
              </a:rPr>
              <a:t>”</a:t>
            </a:r>
            <a:r>
              <a:rPr lang="en-US" altLang="fr-FR">
                <a:solidFill>
                  <a:srgbClr val="000000"/>
                </a:solidFill>
              </a:rPr>
              <a:t>³ Hope and optimism will therefore be used interchangeably in this chapter. </a:t>
            </a:r>
          </a:p>
          <a:p>
            <a:pPr>
              <a:spcBef>
                <a:spcPct val="0"/>
              </a:spcBef>
            </a:pPr>
            <a:r>
              <a:rPr lang="en-US" altLang="fr-FR">
                <a:solidFill>
                  <a:srgbClr val="000000"/>
                </a:solidFill>
              </a:rPr>
              <a:t>	</a:t>
            </a:r>
          </a:p>
          <a:p>
            <a:pPr>
              <a:spcBef>
                <a:spcPct val="0"/>
              </a:spcBef>
            </a:pPr>
            <a:endParaRPr lang="en-US" altLang="fr-FR"/>
          </a:p>
        </p:txBody>
      </p:sp>
      <p:sp>
        <p:nvSpPr>
          <p:cNvPr id="867332" name="Slide Number Placeholder 3">
            <a:extLst>
              <a:ext uri="{FF2B5EF4-FFF2-40B4-BE49-F238E27FC236}">
                <a16:creationId xmlns:a16="http://schemas.microsoft.com/office/drawing/2014/main" id="{1057FD9C-EA24-43EB-9B28-6117467FF48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FFEFA39-86CD-4EC4-B690-6047276CC961}"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Slide Image Placeholder 1">
            <a:extLst>
              <a:ext uri="{FF2B5EF4-FFF2-40B4-BE49-F238E27FC236}">
                <a16:creationId xmlns:a16="http://schemas.microsoft.com/office/drawing/2014/main" id="{ACF92B67-71F5-4FCC-B229-0F1B69DB95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9379" name="Notes Placeholder 2">
            <a:extLst>
              <a:ext uri="{FF2B5EF4-FFF2-40B4-BE49-F238E27FC236}">
                <a16:creationId xmlns:a16="http://schemas.microsoft.com/office/drawing/2014/main" id="{DA3DAE17-7D3F-4A01-BE42-1A555FEB26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Two people looking out the same window may see different things. The optimist, for example, may see beautiful stars that brighten the night; the pessimist may see mud, which further depresses the mood. Through the eyes of an optimist the glass is seen as half full; through the eyes of the pessimist the glass is seen as half empty. Optimism is the face of our faith, and it is built on hope and trust in God, and belief that He can work things out for our best. This is based on the verses: </a:t>
            </a:r>
            <a:r>
              <a:rPr lang="en-US" altLang="en-US"/>
              <a:t>“</a:t>
            </a:r>
            <a:r>
              <a:rPr lang="en-US" altLang="fr-FR"/>
              <a:t>We know that in all things God works for the good of those who love him</a:t>
            </a:r>
            <a:r>
              <a:rPr lang="en-US" altLang="en-US"/>
              <a:t>”</a:t>
            </a:r>
            <a:r>
              <a:rPr lang="en-US" altLang="fr-FR"/>
              <a:t> (Rom. 8:28, NIV) and </a:t>
            </a:r>
            <a:r>
              <a:rPr lang="en-US" altLang="en-US"/>
              <a:t>“</a:t>
            </a:r>
            <a:r>
              <a:rPr lang="en-US" altLang="fr-FR"/>
              <a:t>God is faithful; he will not let you be tempted beyond what you can bear. But when you are tempted, he will also provide a way out so that you can endure it</a:t>
            </a:r>
            <a:r>
              <a:rPr lang="en-US" altLang="en-US"/>
              <a:t>”</a:t>
            </a:r>
            <a:r>
              <a:rPr lang="en-US" altLang="fr-FR"/>
              <a:t> </a:t>
            </a:r>
          </a:p>
          <a:p>
            <a:pPr>
              <a:spcBef>
                <a:spcPct val="0"/>
              </a:spcBef>
            </a:pPr>
            <a:r>
              <a:rPr lang="en-US" altLang="fr-FR"/>
              <a:t>(1 Cor. 10:13, NIV).</a:t>
            </a:r>
          </a:p>
        </p:txBody>
      </p:sp>
      <p:sp>
        <p:nvSpPr>
          <p:cNvPr id="869380" name="Slide Number Placeholder 3">
            <a:extLst>
              <a:ext uri="{FF2B5EF4-FFF2-40B4-BE49-F238E27FC236}">
                <a16:creationId xmlns:a16="http://schemas.microsoft.com/office/drawing/2014/main" id="{39E75A7F-72BE-4576-BD75-339F8A3E6F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054D624-90CC-43B4-8070-CA8AB4B9E37A}"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Slide Image Placeholder 1">
            <a:extLst>
              <a:ext uri="{FF2B5EF4-FFF2-40B4-BE49-F238E27FC236}">
                <a16:creationId xmlns:a16="http://schemas.microsoft.com/office/drawing/2014/main" id="{0C2B602B-8110-4413-AEC2-5185D548CC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1427" name="Notes Placeholder 2">
            <a:extLst>
              <a:ext uri="{FF2B5EF4-FFF2-40B4-BE49-F238E27FC236}">
                <a16:creationId xmlns:a16="http://schemas.microsoft.com/office/drawing/2014/main" id="{7AB6F355-BD81-4DB0-AF3E-A4E7A39C09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The optimist may have peace and even joy when things do not turn out the way he or she had wanted. In this life we experience brokenness, sickness, and even death; yet through all this, we may know an equanimity and peace that are beyond human understanding or expectation. By exercising the choice to be optimistic, we can enjoy wholeness even in our human brokenness. (And we all are broken in some way or another, be it physically, mentally, emotionally, or spiritually.)</a:t>
            </a:r>
          </a:p>
          <a:p>
            <a:pPr>
              <a:spcBef>
                <a:spcPct val="0"/>
              </a:spcBef>
            </a:pPr>
            <a:endParaRPr lang="en-US" altLang="fr-FR"/>
          </a:p>
        </p:txBody>
      </p:sp>
      <p:sp>
        <p:nvSpPr>
          <p:cNvPr id="871428" name="Slide Number Placeholder 3">
            <a:extLst>
              <a:ext uri="{FF2B5EF4-FFF2-40B4-BE49-F238E27FC236}">
                <a16:creationId xmlns:a16="http://schemas.microsoft.com/office/drawing/2014/main" id="{29B1E621-F348-49E8-BDB8-7AEFF6016A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13198DF-2259-40DB-A736-AD28FF339B72}"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Slide Image Placeholder 1">
            <a:extLst>
              <a:ext uri="{FF2B5EF4-FFF2-40B4-BE49-F238E27FC236}">
                <a16:creationId xmlns:a16="http://schemas.microsoft.com/office/drawing/2014/main" id="{65951FC7-019E-4A87-9BB3-F5486ABEE2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3475" name="Notes Placeholder 2">
            <a:extLst>
              <a:ext uri="{FF2B5EF4-FFF2-40B4-BE49-F238E27FC236}">
                <a16:creationId xmlns:a16="http://schemas.microsoft.com/office/drawing/2014/main" id="{3C963098-3202-4948-9D7E-5B8E457CF8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She was in her late 30s and a mother of three. Her diagnosis was that of melanoma (malignancy of the skin), which had now spread throughout her body despite treatment to keep the tumor under control. She had been through much in her quest for a cure, including participation in two clinical trials. The tumor had shown a mild response to one of the treatments, but at the cost of many hospitalizations, severe fatigue, a punctured lung, and severe infections. When the cancer again was found to be out of control, she eagerly enrolled in a third clinical study. This was to be different from the previous experiences—this was an early phase trial, and any benefits would be for the research. She was unlikely to benefit herself. This particular study required major surgery prior to taking the experimental medication.</a:t>
            </a:r>
          </a:p>
          <a:p>
            <a:pPr>
              <a:spcBef>
                <a:spcPct val="0"/>
              </a:spcBef>
            </a:pPr>
            <a:r>
              <a:rPr lang="en-US" altLang="fr-FR"/>
              <a:t>The evening before the operation when asked if she had additional questions, she smiled and stated that she didn</a:t>
            </a:r>
            <a:r>
              <a:rPr lang="en-US" altLang="en-US"/>
              <a:t>’</a:t>
            </a:r>
            <a:r>
              <a:rPr lang="en-US" altLang="fr-FR"/>
              <a:t>t and that having been through this before she knew what she was letting herself in for. Then in a lowered tone she added that she was a mother and would do anything to be able to have even just a little more time with her children. The attending staff members were in awe of her selfless courage. They were also impressed that her optimism, although based on false hopes in a hopeless situation, had to be of some benefit to a person in her position. She died one year later—the tumor did not respond to the experimental treatment.</a:t>
            </a:r>
          </a:p>
          <a:p>
            <a:pPr>
              <a:spcBef>
                <a:spcPct val="0"/>
              </a:spcBef>
            </a:pPr>
            <a:r>
              <a:rPr lang="en-US" altLang="fr-FR"/>
              <a:t>	</a:t>
            </a:r>
          </a:p>
          <a:p>
            <a:pPr>
              <a:spcBef>
                <a:spcPct val="0"/>
              </a:spcBef>
            </a:pPr>
            <a:endParaRPr lang="en-US" altLang="fr-FR"/>
          </a:p>
        </p:txBody>
      </p:sp>
      <p:sp>
        <p:nvSpPr>
          <p:cNvPr id="873476" name="Slide Number Placeholder 3">
            <a:extLst>
              <a:ext uri="{FF2B5EF4-FFF2-40B4-BE49-F238E27FC236}">
                <a16:creationId xmlns:a16="http://schemas.microsoft.com/office/drawing/2014/main" id="{0CEEDB3B-1D77-4A6B-A3E7-89E0F04B4C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5AB9E77-8EB5-4CEA-9BAA-80279AD5867A}"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Slide Image Placeholder 1">
            <a:extLst>
              <a:ext uri="{FF2B5EF4-FFF2-40B4-BE49-F238E27FC236}">
                <a16:creationId xmlns:a16="http://schemas.microsoft.com/office/drawing/2014/main" id="{AA2D3A90-4148-40B4-A6D3-52C9AD45F1C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5523" name="Notes Placeholder 2">
            <a:extLst>
              <a:ext uri="{FF2B5EF4-FFF2-40B4-BE49-F238E27FC236}">
                <a16:creationId xmlns:a16="http://schemas.microsoft.com/office/drawing/2014/main" id="{031ACD2A-0D23-4822-8BA0-A7228146CF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This sad but inspirational experience confirms what we know so well—things don</a:t>
            </a:r>
            <a:r>
              <a:rPr lang="en-US" altLang="en-US"/>
              <a:t>’</a:t>
            </a:r>
            <a:r>
              <a:rPr lang="en-US" altLang="fr-FR"/>
              <a:t>t always turn out the way we would like them to. Many of us need help making the choice to be optimistic, particularly under difficult circumstances. Family and other social support is both helpful and essential in this process. Pessimists tend to believe that bad events will last a long time, and they often relinquish the idea that situations will improve. The approach of the optimist, on the other hand, is to view a negative event as a temporary setback and be spurred on to try harder. Sometimes the realistic approach, which takes challenges and problems into account, may be viewed as pessimism; at the same time, a realistic optimist nurtures hope and perseverance, choosing to believe and work toward the improvement of circumstances and situations. </a:t>
            </a:r>
            <a:r>
              <a:rPr lang="en-US" altLang="en-US"/>
              <a:t>“</a:t>
            </a:r>
            <a:r>
              <a:rPr lang="en-US" altLang="fr-FR"/>
              <a:t>A pessimist sees the difficulty in every opportunity,</a:t>
            </a:r>
            <a:r>
              <a:rPr lang="en-US" altLang="en-US"/>
              <a:t>”</a:t>
            </a:r>
            <a:r>
              <a:rPr lang="en-US" altLang="fr-FR"/>
              <a:t> Sir Winston Churchill said. </a:t>
            </a:r>
            <a:r>
              <a:rPr lang="en-US" altLang="en-US"/>
              <a:t>“</a:t>
            </a:r>
            <a:r>
              <a:rPr lang="en-US" altLang="fr-FR"/>
              <a:t>An optimist sees the opportunity in every difficulty.</a:t>
            </a:r>
            <a:r>
              <a:rPr lang="en-US" altLang="en-US"/>
              <a:t>”</a:t>
            </a:r>
            <a:r>
              <a:rPr lang="en-US" altLang="fr-FR"/>
              <a:t> </a:t>
            </a:r>
          </a:p>
          <a:p>
            <a:pPr>
              <a:spcBef>
                <a:spcPct val="0"/>
              </a:spcBef>
            </a:pPr>
            <a:r>
              <a:rPr lang="en-US" altLang="fr-FR"/>
              <a:t>	</a:t>
            </a:r>
          </a:p>
          <a:p>
            <a:pPr>
              <a:spcBef>
                <a:spcPct val="0"/>
              </a:spcBef>
            </a:pPr>
            <a:endParaRPr lang="en-US" altLang="fr-FR"/>
          </a:p>
        </p:txBody>
      </p:sp>
      <p:sp>
        <p:nvSpPr>
          <p:cNvPr id="875524" name="Slide Number Placeholder 3">
            <a:extLst>
              <a:ext uri="{FF2B5EF4-FFF2-40B4-BE49-F238E27FC236}">
                <a16:creationId xmlns:a16="http://schemas.microsoft.com/office/drawing/2014/main" id="{FB040A8E-2C5D-4116-B756-E67971FD050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E68C044-E7AD-4DAC-825E-56226034BA6A}"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Slide Image Placeholder 1">
            <a:extLst>
              <a:ext uri="{FF2B5EF4-FFF2-40B4-BE49-F238E27FC236}">
                <a16:creationId xmlns:a16="http://schemas.microsoft.com/office/drawing/2014/main" id="{AF756ACB-F8E6-4963-816E-8F57A43058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7571" name="Notes Placeholder 2">
            <a:extLst>
              <a:ext uri="{FF2B5EF4-FFF2-40B4-BE49-F238E27FC236}">
                <a16:creationId xmlns:a16="http://schemas.microsoft.com/office/drawing/2014/main" id="{29D40A78-C857-4D5A-ACF2-2B38F1A238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 substantial amount of research demonstrates that hope and optimism are associated with better mental and physical health. Additionally, people with higher levels of optimism have more effective coping mechanisms.⁴ In 2007 New Scientist published a fascinating article describing the demonstration of an area deep in the middle of the brain that is thought to be important in signaling and generating cheerful thoughts. Dr. Phelps and colleagues conducted these groundbreaking studies using magnetic resonance imaging (MRI), which may help us to better understand states of cheerfulness and depression even on an anatomical basis.⁵</a:t>
            </a:r>
          </a:p>
          <a:p>
            <a:pPr>
              <a:spcBef>
                <a:spcPct val="0"/>
              </a:spcBef>
            </a:pPr>
            <a:endParaRPr lang="en-US" altLang="fr-FR"/>
          </a:p>
        </p:txBody>
      </p:sp>
      <p:sp>
        <p:nvSpPr>
          <p:cNvPr id="877572" name="Slide Number Placeholder 3">
            <a:extLst>
              <a:ext uri="{FF2B5EF4-FFF2-40B4-BE49-F238E27FC236}">
                <a16:creationId xmlns:a16="http://schemas.microsoft.com/office/drawing/2014/main" id="{72B14E82-0925-42E6-8D70-49F2091EA9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3C77E84-E1B9-4BCB-A3AC-EAFEE21746D9}"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Slide Image Placeholder 1">
            <a:extLst>
              <a:ext uri="{FF2B5EF4-FFF2-40B4-BE49-F238E27FC236}">
                <a16:creationId xmlns:a16="http://schemas.microsoft.com/office/drawing/2014/main" id="{ADF73EE9-F699-4B29-926E-10E7A617DA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9619" name="Notes Placeholder 2">
            <a:extLst>
              <a:ext uri="{FF2B5EF4-FFF2-40B4-BE49-F238E27FC236}">
                <a16:creationId xmlns:a16="http://schemas.microsoft.com/office/drawing/2014/main" id="{A2E8606D-0318-43AC-8080-2BB781969E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In the late 1970s Norman Cousins authored a book entitled </a:t>
            </a:r>
            <a:r>
              <a:rPr lang="en-US" altLang="en-US"/>
              <a:t>“</a:t>
            </a:r>
            <a:r>
              <a:rPr lang="en-US" altLang="fr-FR"/>
              <a:t>Anatomy of an Illness.</a:t>
            </a:r>
            <a:r>
              <a:rPr lang="en-US" altLang="en-US"/>
              <a:t>”</a:t>
            </a:r>
            <a:r>
              <a:rPr lang="en-US" altLang="fr-FR"/>
              <a:t>⁶ In it he describes his own experience with a debilitating illness and how, when medications failed to alleviate his pain and discomfort, he decided to watch humorous movies that elicited spontaneous and genuine laughter. To his delight and surprise he enjoyed physical and emotional improvement and ultimately returned to normal functioning. 	</a:t>
            </a:r>
          </a:p>
          <a:p>
            <a:pPr>
              <a:spcBef>
                <a:spcPct val="0"/>
              </a:spcBef>
            </a:pPr>
            <a:r>
              <a:rPr lang="en-US" altLang="fr-FR"/>
              <a:t>Since that time much research has focused on the positive effects of genuine, relaxing laughter showing significant benefits to health, including an increased pain tolerance.⁷ Laughter triggers an uptake of endorphins, one of the brain chemicals responsible for the feeling of well-being as well as reducing pain.</a:t>
            </a:r>
          </a:p>
        </p:txBody>
      </p:sp>
      <p:sp>
        <p:nvSpPr>
          <p:cNvPr id="879620" name="Slide Number Placeholder 3">
            <a:extLst>
              <a:ext uri="{FF2B5EF4-FFF2-40B4-BE49-F238E27FC236}">
                <a16:creationId xmlns:a16="http://schemas.microsoft.com/office/drawing/2014/main" id="{EE59605B-AE57-4533-9C9A-D22E81C8FE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8D9CE63-9773-4E97-BCD7-0ACFBC75F573}"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Slide Image Placeholder 1">
            <a:extLst>
              <a:ext uri="{FF2B5EF4-FFF2-40B4-BE49-F238E27FC236}">
                <a16:creationId xmlns:a16="http://schemas.microsoft.com/office/drawing/2014/main" id="{33D52C7D-0DBF-4266-BF08-CAE46020BB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1667" name="Notes Placeholder 2">
            <a:extLst>
              <a:ext uri="{FF2B5EF4-FFF2-40B4-BE49-F238E27FC236}">
                <a16:creationId xmlns:a16="http://schemas.microsoft.com/office/drawing/2014/main" id="{6AD384DE-7298-43D0-BE3E-1EA9790BE45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We are fearfully and wonderfully made! No wonder the Bible says: </a:t>
            </a:r>
            <a:r>
              <a:rPr lang="en-US" altLang="en-US"/>
              <a:t>“</a:t>
            </a:r>
            <a:r>
              <a:rPr lang="en-US" altLang="fr-FR"/>
              <a:t>A cheerful heart is good medicine, but a crushed spirit dries the bones</a:t>
            </a:r>
            <a:r>
              <a:rPr lang="en-US" altLang="en-US"/>
              <a:t>”</a:t>
            </a:r>
            <a:r>
              <a:rPr lang="en-US" altLang="fr-FR"/>
              <a:t> (Prov. 17:22, NIV). 	</a:t>
            </a:r>
          </a:p>
          <a:p>
            <a:pPr>
              <a:spcBef>
                <a:spcPct val="0"/>
              </a:spcBef>
            </a:pPr>
            <a:r>
              <a:rPr lang="en-US" altLang="fr-FR"/>
              <a:t>So what may hearty laughter do for our bodies? It can:</a:t>
            </a:r>
          </a:p>
          <a:p>
            <a:pPr>
              <a:spcBef>
                <a:spcPct val="0"/>
              </a:spcBef>
              <a:buFontTx/>
              <a:buChar char="•"/>
            </a:pPr>
            <a:r>
              <a:rPr lang="en-US" altLang="fr-FR"/>
              <a:t>exercise the lungs.</a:t>
            </a:r>
          </a:p>
          <a:p>
            <a:pPr>
              <a:spcBef>
                <a:spcPct val="0"/>
              </a:spcBef>
              <a:buFontTx/>
              <a:buChar char="•"/>
            </a:pPr>
            <a:r>
              <a:rPr lang="en-US" altLang="fr-FR"/>
              <a:t>stimulate the circulatory system.</a:t>
            </a:r>
          </a:p>
          <a:p>
            <a:pPr>
              <a:spcBef>
                <a:spcPct val="0"/>
              </a:spcBef>
              <a:buFontTx/>
              <a:buChar char="•"/>
            </a:pPr>
            <a:r>
              <a:rPr lang="en-US" altLang="fr-FR"/>
              <a:t>increase the oxygen intake into the lungs, which is then distributed by the blood to the cells.</a:t>
            </a:r>
          </a:p>
          <a:p>
            <a:pPr>
              <a:spcBef>
                <a:spcPct val="0"/>
              </a:spcBef>
              <a:buFontTx/>
              <a:buChar char="•"/>
            </a:pPr>
            <a:r>
              <a:rPr lang="en-US" altLang="fr-FR"/>
              <a:t>act as an internal jogger: The heart rate, breathing, and circulation will speed up after good and hearty laughter.	</a:t>
            </a:r>
          </a:p>
          <a:p>
            <a:pPr>
              <a:spcBef>
                <a:spcPct val="0"/>
              </a:spcBef>
            </a:pPr>
            <a:r>
              <a:rPr lang="en-US" altLang="fr-FR"/>
              <a:t>Subsequently, the pulse rate and blood pressure will decrease, and the skeletal muscles may then become relaxed.</a:t>
            </a:r>
          </a:p>
          <a:p>
            <a:pPr>
              <a:spcBef>
                <a:spcPct val="0"/>
              </a:spcBef>
            </a:pPr>
            <a:endParaRPr lang="en-US" altLang="fr-FR"/>
          </a:p>
        </p:txBody>
      </p:sp>
      <p:sp>
        <p:nvSpPr>
          <p:cNvPr id="881668" name="Slide Number Placeholder 3">
            <a:extLst>
              <a:ext uri="{FF2B5EF4-FFF2-40B4-BE49-F238E27FC236}">
                <a16:creationId xmlns:a16="http://schemas.microsoft.com/office/drawing/2014/main" id="{6DEE6BD8-5294-4B61-92DD-41DB1D8939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5D680B6-7254-4F28-A8ED-BB31F4CE5328}"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Slide Image Placeholder 1">
            <a:extLst>
              <a:ext uri="{FF2B5EF4-FFF2-40B4-BE49-F238E27FC236}">
                <a16:creationId xmlns:a16="http://schemas.microsoft.com/office/drawing/2014/main" id="{A30C580B-870B-43BE-8271-284F093511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3715" name="Notes Placeholder 2">
            <a:extLst>
              <a:ext uri="{FF2B5EF4-FFF2-40B4-BE49-F238E27FC236}">
                <a16:creationId xmlns:a16="http://schemas.microsoft.com/office/drawing/2014/main" id="{9F5F8C08-64C5-40C0-B678-D533B282683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Studies show that each time a person is happy and has laughed genuinely (not forced, superficial laughter), the sympathetic nervous system is stimulated, which in turn produces catecholamines. These catecholamines then stimulate the anterior lobe of the pituitary gland to produce endorphins, which: </a:t>
            </a:r>
          </a:p>
          <a:p>
            <a:pPr>
              <a:spcBef>
                <a:spcPct val="0"/>
              </a:spcBef>
              <a:buFontTx/>
              <a:buChar char="•"/>
            </a:pPr>
            <a:r>
              <a:rPr lang="en-US" altLang="fr-FR"/>
              <a:t>are the body</a:t>
            </a:r>
            <a:r>
              <a:rPr lang="en-US" altLang="en-US"/>
              <a:t>’</a:t>
            </a:r>
            <a:r>
              <a:rPr lang="en-US" altLang="fr-FR"/>
              <a:t>s natural opiates that soothe and relax the mind. They can relieve pain more effectively than morphine. </a:t>
            </a:r>
          </a:p>
          <a:p>
            <a:pPr>
              <a:spcBef>
                <a:spcPct val="0"/>
              </a:spcBef>
              <a:buFontTx/>
              <a:buChar char="•"/>
            </a:pPr>
            <a:r>
              <a:rPr lang="en-US" altLang="fr-FR"/>
              <a:t>elevate the mood.</a:t>
            </a:r>
          </a:p>
          <a:p>
            <a:pPr>
              <a:spcBef>
                <a:spcPct val="0"/>
              </a:spcBef>
              <a:buFontTx/>
              <a:buChar char="•"/>
            </a:pPr>
            <a:r>
              <a:rPr lang="en-US" altLang="fr-FR"/>
              <a:t>may increase the activity of the immune cells.	</a:t>
            </a:r>
          </a:p>
          <a:p>
            <a:pPr>
              <a:spcBef>
                <a:spcPct val="0"/>
              </a:spcBef>
            </a:pPr>
            <a:r>
              <a:rPr lang="en-US" altLang="fr-FR"/>
              <a:t>Laughter is surely a powerful medicine. </a:t>
            </a:r>
          </a:p>
          <a:p>
            <a:pPr>
              <a:spcBef>
                <a:spcPct val="0"/>
              </a:spcBef>
            </a:pPr>
            <a:endParaRPr lang="en-US" altLang="fr-FR"/>
          </a:p>
        </p:txBody>
      </p:sp>
      <p:sp>
        <p:nvSpPr>
          <p:cNvPr id="883716" name="Slide Number Placeholder 3">
            <a:extLst>
              <a:ext uri="{FF2B5EF4-FFF2-40B4-BE49-F238E27FC236}">
                <a16:creationId xmlns:a16="http://schemas.microsoft.com/office/drawing/2014/main" id="{DAE19AB7-BDDE-4C32-A077-8AF9CA1874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FCFFDAE-CC86-4F06-8D48-8CBA87E33393}"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2" name="Slide Image Placeholder 1">
            <a:extLst>
              <a:ext uri="{FF2B5EF4-FFF2-40B4-BE49-F238E27FC236}">
                <a16:creationId xmlns:a16="http://schemas.microsoft.com/office/drawing/2014/main" id="{D8967877-E914-4FD9-B54B-0AC0F61BBD5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5763" name="Notes Placeholder 2">
            <a:extLst>
              <a:ext uri="{FF2B5EF4-FFF2-40B4-BE49-F238E27FC236}">
                <a16:creationId xmlns:a16="http://schemas.microsoft.com/office/drawing/2014/main" id="{DABC3DDA-CE9D-4718-9440-44311F0C1A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The twentieth-century lifestyle studies by Drs. Belloc and Breslow from the Department of Public Health, Berkeley, California, reinforce that longevity has a close connection with the happy disposition of people. This study involved 6,928 adult residents of Alameda County, and the results showed that those who were generally unhappy had a death rate 57 percent higher than those who were generally very happy.⁸ It</a:t>
            </a:r>
            <a:r>
              <a:rPr lang="en-US" altLang="en-US"/>
              <a:t>’</a:t>
            </a:r>
            <a:r>
              <a:rPr lang="en-US" altLang="fr-FR"/>
              <a:t>s not always possible to be happy and laughing, but a positive attitude can be cultivated—and studies show that a positive, optimistic attitude carries beneficial effects. 	</a:t>
            </a:r>
          </a:p>
          <a:p>
            <a:pPr>
              <a:spcBef>
                <a:spcPct val="0"/>
              </a:spcBef>
            </a:pPr>
            <a:r>
              <a:rPr lang="en-US" altLang="fr-FR"/>
              <a:t>We can be happy and experience genuine laughter, especially when we completely trust God, knowing that He is in control of our lives no matter what the circumstances may be.</a:t>
            </a:r>
          </a:p>
          <a:p>
            <a:pPr>
              <a:spcBef>
                <a:spcPct val="0"/>
              </a:spcBef>
            </a:pPr>
            <a:endParaRPr lang="en-US" altLang="fr-FR"/>
          </a:p>
        </p:txBody>
      </p:sp>
      <p:sp>
        <p:nvSpPr>
          <p:cNvPr id="885764" name="Slide Number Placeholder 3">
            <a:extLst>
              <a:ext uri="{FF2B5EF4-FFF2-40B4-BE49-F238E27FC236}">
                <a16:creationId xmlns:a16="http://schemas.microsoft.com/office/drawing/2014/main" id="{4ACF07FF-8098-484A-8439-86CB16E245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7C02572-D47B-4BF8-A9C5-0825456061DB}"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Slide Image Placeholder 1">
            <a:extLst>
              <a:ext uri="{FF2B5EF4-FFF2-40B4-BE49-F238E27FC236}">
                <a16:creationId xmlns:a16="http://schemas.microsoft.com/office/drawing/2014/main" id="{0D109E07-250B-4728-A085-4A16B1A311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7811" name="Notes Placeholder 2">
            <a:extLst>
              <a:ext uri="{FF2B5EF4-FFF2-40B4-BE49-F238E27FC236}">
                <a16:creationId xmlns:a16="http://schemas.microsoft.com/office/drawing/2014/main" id="{AD9B2CE5-5E6C-480C-92C4-97E9D9F349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Another interesting study was conducted by Dr. David McClelland, who showed a group of students a photograph of a couple sitting on a bench by a river. He requested that each student write a story about this couple to gain greater insight into each student</a:t>
            </a:r>
            <a:r>
              <a:rPr lang="en-US" altLang="en-US"/>
              <a:t>’</a:t>
            </a:r>
            <a:r>
              <a:rPr lang="en-US" altLang="fr-FR"/>
              <a:t>s subconscious perceptions and projections. He found that those who wrote stories depicting the positive outlook they had of this couple, envisioning them as enjoying a happy, trusting relationship, helping each other, respecting each other, and sharing warm, loving feelings with each other, demonstrated higher levels of immune antibodies and also reported fewer infectious diseases during the preceding year. Those who wrote stories depicting a negative outlook of the couple, in which they were seen to be manipulating, deceiving, or abandoning each other, demonstrated lower levels of immune antibodies and reported experiencing significantly more illness during the previous year. ⁹	</a:t>
            </a:r>
          </a:p>
          <a:p>
            <a:pPr>
              <a:spcBef>
                <a:spcPct val="0"/>
              </a:spcBef>
            </a:pPr>
            <a:r>
              <a:rPr lang="en-US" altLang="fr-FR"/>
              <a:t>Nurturing positive thoughts and emotions about people and situations impacts our own personal well-being. It</a:t>
            </a:r>
            <a:r>
              <a:rPr lang="en-US" altLang="en-US"/>
              <a:t>’</a:t>
            </a:r>
            <a:r>
              <a:rPr lang="en-US" altLang="fr-FR"/>
              <a:t>s also essential to note that our lives are not lived in a vacuum—we are social creatures. Social support and connectedness also strongly influence our emotional, spiritual, mental, and physical health.¹°</a:t>
            </a:r>
          </a:p>
          <a:p>
            <a:pPr>
              <a:spcBef>
                <a:spcPct val="0"/>
              </a:spcBef>
            </a:pPr>
            <a:endParaRPr lang="en-US" altLang="fr-FR"/>
          </a:p>
          <a:p>
            <a:pPr>
              <a:spcBef>
                <a:spcPct val="0"/>
              </a:spcBef>
            </a:pPr>
            <a:endParaRPr lang="en-US" altLang="fr-FR"/>
          </a:p>
        </p:txBody>
      </p:sp>
      <p:sp>
        <p:nvSpPr>
          <p:cNvPr id="887812" name="Slide Number Placeholder 3">
            <a:extLst>
              <a:ext uri="{FF2B5EF4-FFF2-40B4-BE49-F238E27FC236}">
                <a16:creationId xmlns:a16="http://schemas.microsoft.com/office/drawing/2014/main" id="{7F2CC542-465B-4069-B9BF-735E6C81891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25C3DED-33F0-469C-8F23-C348C18DB143}"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Slide Image Placeholder 1">
            <a:extLst>
              <a:ext uri="{FF2B5EF4-FFF2-40B4-BE49-F238E27FC236}">
                <a16:creationId xmlns:a16="http://schemas.microsoft.com/office/drawing/2014/main" id="{1F9F4C85-BD98-4F22-9704-CB8875C217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9859" name="Notes Placeholder 2">
            <a:extLst>
              <a:ext uri="{FF2B5EF4-FFF2-40B4-BE49-F238E27FC236}">
                <a16:creationId xmlns:a16="http://schemas.microsoft.com/office/drawing/2014/main" id="{B1A67D44-E10E-4C91-B8F3-987CBDAE35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The positive effects of hope and optimism impact human life at all ages and in many settings. Optimism significantly influences mental and physical well-being by helping to promote a healthful lifestyle as well as coping and adaptive responses/behaviors with more robust coping and problem-solving skills. These benefits also help to prevent burnout in such demanding situations as chronic-disease caregiving. Looking after Alzheimer</a:t>
            </a:r>
            <a:r>
              <a:rPr lang="en-US" altLang="en-US"/>
              <a:t>’</a:t>
            </a:r>
            <a:r>
              <a:rPr lang="en-US" altLang="fr-FR"/>
              <a:t>s patients is one example of this.¹¹	</a:t>
            </a:r>
          </a:p>
          <a:p>
            <a:pPr>
              <a:spcBef>
                <a:spcPct val="0"/>
              </a:spcBef>
            </a:pPr>
            <a:r>
              <a:rPr lang="en-US" altLang="fr-FR"/>
              <a:t>There will be times when we may feel just like the Chilean miners after the rockfall—trapped, buried alive by the events and circumstances that befall us. But we are never alone. We may choose to be optimistic, especially as we recall the wonderful promises of Scripture such as Lamentations 3:21-23: </a:t>
            </a:r>
            <a:r>
              <a:rPr lang="en-US" altLang="en-US"/>
              <a:t>“</a:t>
            </a:r>
            <a:r>
              <a:rPr lang="en-US" altLang="fr-FR"/>
              <a:t>Yet this I call to mind and therefore I have hope: Because of the Lord</a:t>
            </a:r>
            <a:r>
              <a:rPr lang="en-US" altLang="en-US"/>
              <a:t>’</a:t>
            </a:r>
            <a:r>
              <a:rPr lang="en-US" altLang="fr-FR"/>
              <a:t>s great love we are not consumed, for His compassions never fail. They are new every morning; great is Your faithfulness</a:t>
            </a:r>
            <a:r>
              <a:rPr lang="en-US" altLang="en-US"/>
              <a:t>”</a:t>
            </a:r>
            <a:r>
              <a:rPr lang="en-US" altLang="fr-FR"/>
              <a:t> (NIV).</a:t>
            </a:r>
          </a:p>
          <a:p>
            <a:pPr>
              <a:spcBef>
                <a:spcPct val="0"/>
              </a:spcBef>
            </a:pPr>
            <a:r>
              <a:rPr lang="en-US" altLang="fr-FR"/>
              <a:t>	</a:t>
            </a:r>
          </a:p>
        </p:txBody>
      </p:sp>
      <p:sp>
        <p:nvSpPr>
          <p:cNvPr id="889860" name="Slide Number Placeholder 3">
            <a:extLst>
              <a:ext uri="{FF2B5EF4-FFF2-40B4-BE49-F238E27FC236}">
                <a16:creationId xmlns:a16="http://schemas.microsoft.com/office/drawing/2014/main" id="{A1C2C212-A7AB-4394-990F-4964764562D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66D4B61-8B18-4A7A-9D07-5F13D4DC339A}"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Slide Image Placeholder 1">
            <a:extLst>
              <a:ext uri="{FF2B5EF4-FFF2-40B4-BE49-F238E27FC236}">
                <a16:creationId xmlns:a16="http://schemas.microsoft.com/office/drawing/2014/main" id="{8B05B53D-7188-406A-B418-9FA26289BD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1907" name="Notes Placeholder 2">
            <a:extLst>
              <a:ext uri="{FF2B5EF4-FFF2-40B4-BE49-F238E27FC236}">
                <a16:creationId xmlns:a16="http://schemas.microsoft.com/office/drawing/2014/main" id="{CFDCE6A4-CBAF-4449-872D-BB8012CAC7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Hope and optimism impact life at all ages and settings.</a:t>
            </a:r>
          </a:p>
          <a:p>
            <a:pPr>
              <a:spcBef>
                <a:spcPct val="0"/>
              </a:spcBef>
            </a:pPr>
            <a:r>
              <a:rPr lang="en-US" altLang="fr-FR"/>
              <a:t>Optimism promotes mental and physical well-being.</a:t>
            </a:r>
          </a:p>
          <a:p>
            <a:pPr>
              <a:spcBef>
                <a:spcPct val="0"/>
              </a:spcBef>
            </a:pPr>
            <a:endParaRPr lang="en-US" altLang="fr-FR"/>
          </a:p>
        </p:txBody>
      </p:sp>
      <p:sp>
        <p:nvSpPr>
          <p:cNvPr id="891908" name="Slide Number Placeholder 3">
            <a:extLst>
              <a:ext uri="{FF2B5EF4-FFF2-40B4-BE49-F238E27FC236}">
                <a16:creationId xmlns:a16="http://schemas.microsoft.com/office/drawing/2014/main" id="{2657B984-7EDD-498C-850F-C86D9C31725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AB3740D-0514-4E29-B101-79B1B3948749}"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Slide Image Placeholder 1">
            <a:extLst>
              <a:ext uri="{FF2B5EF4-FFF2-40B4-BE49-F238E27FC236}">
                <a16:creationId xmlns:a16="http://schemas.microsoft.com/office/drawing/2014/main" id="{BA051AB6-A3EE-4EB8-A5D1-CB475E31EE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59444AAD-431C-4DAE-9453-A6FAEF83B5F1}"/>
              </a:ext>
            </a:extLst>
          </p:cNvPr>
          <p:cNvSpPr>
            <a:spLocks noGrp="1"/>
          </p:cNvSpPr>
          <p:nvPr>
            <p:ph type="body" idx="1"/>
          </p:nvPr>
        </p:nvSpPr>
        <p:spPr/>
        <p:txBody>
          <a:bodyPr/>
          <a:lstStyle/>
          <a:p>
            <a:pPr fontAlgn="auto">
              <a:spcBef>
                <a:spcPts val="0"/>
              </a:spcBef>
              <a:spcAft>
                <a:spcPts val="0"/>
              </a:spcAft>
              <a:buFont typeface="Arial" pitchFamily="34" charset="0"/>
              <a:buNone/>
              <a:defRPr/>
            </a:pPr>
            <a:r>
              <a:rPr lang="en-US" dirty="0">
                <a:ea typeface="+mn-ea"/>
              </a:rPr>
              <a:t>Hope allows us to celebrate life and enjoy wholeness even in our brokenness</a:t>
            </a:r>
          </a:p>
          <a:p>
            <a:pPr fontAlgn="auto">
              <a:spcBef>
                <a:spcPts val="0"/>
              </a:spcBef>
              <a:spcAft>
                <a:spcPts val="0"/>
              </a:spcAft>
              <a:buFont typeface="Arial" pitchFamily="34" charset="0"/>
              <a:buNone/>
              <a:defRPr/>
            </a:pPr>
            <a:r>
              <a:rPr lang="en-US" dirty="0">
                <a:ea typeface="+mn-ea"/>
              </a:rPr>
              <a:t>Optimism and hope are truly the joy in life.</a:t>
            </a:r>
          </a:p>
          <a:p>
            <a:pPr fontAlgn="auto">
              <a:spcBef>
                <a:spcPts val="0"/>
              </a:spcBef>
              <a:spcAft>
                <a:spcPts val="0"/>
              </a:spcAft>
              <a:defRPr/>
            </a:pPr>
            <a:endParaRPr lang="en-US" dirty="0">
              <a:ea typeface="+mn-ea"/>
            </a:endParaRPr>
          </a:p>
          <a:p>
            <a:pPr marL="171450" indent="-171450" fontAlgn="auto">
              <a:spcBef>
                <a:spcPts val="0"/>
              </a:spcBef>
              <a:spcAft>
                <a:spcPts val="0"/>
              </a:spcAft>
              <a:buFont typeface="Arial" pitchFamily="34" charset="0"/>
              <a:buChar char="•"/>
              <a:defRPr/>
            </a:pPr>
            <a:endParaRPr lang="en-US" dirty="0">
              <a:ea typeface="+mn-ea"/>
            </a:endParaRPr>
          </a:p>
        </p:txBody>
      </p:sp>
      <p:sp>
        <p:nvSpPr>
          <p:cNvPr id="893956" name="Slide Number Placeholder 3">
            <a:extLst>
              <a:ext uri="{FF2B5EF4-FFF2-40B4-BE49-F238E27FC236}">
                <a16:creationId xmlns:a16="http://schemas.microsoft.com/office/drawing/2014/main" id="{6257006D-AFC5-42BE-B7FD-B4B212F601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F5054B9-BC46-4598-9A3E-5435A6037822}"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Slide Image Placeholder 1">
            <a:extLst>
              <a:ext uri="{FF2B5EF4-FFF2-40B4-BE49-F238E27FC236}">
                <a16:creationId xmlns:a16="http://schemas.microsoft.com/office/drawing/2014/main" id="{695BDC5F-58D3-414C-A399-4457F479D0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6003" name="Notes Placeholder 2">
            <a:extLst>
              <a:ext uri="{FF2B5EF4-FFF2-40B4-BE49-F238E27FC236}">
                <a16:creationId xmlns:a16="http://schemas.microsoft.com/office/drawing/2014/main" id="{70CA9659-A90E-4496-B97C-739BAF040A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b="1">
                <a:solidFill>
                  <a:schemeClr val="bg1"/>
                </a:solidFill>
              </a:rPr>
              <a:t>LIFE APPLICATION</a:t>
            </a:r>
            <a:br>
              <a:rPr lang="en-US" altLang="fr-FR" b="1">
                <a:solidFill>
                  <a:schemeClr val="bg1"/>
                </a:solidFill>
              </a:rPr>
            </a:br>
            <a:r>
              <a:rPr lang="en-US" altLang="fr-FR" b="1">
                <a:solidFill>
                  <a:schemeClr val="bg1"/>
                </a:solidFill>
              </a:rPr>
              <a:t>QUESTIONS</a:t>
            </a:r>
            <a:endParaRPr lang="en-US" altLang="fr-FR"/>
          </a:p>
        </p:txBody>
      </p:sp>
      <p:sp>
        <p:nvSpPr>
          <p:cNvPr id="896004" name="Slide Number Placeholder 3">
            <a:extLst>
              <a:ext uri="{FF2B5EF4-FFF2-40B4-BE49-F238E27FC236}">
                <a16:creationId xmlns:a16="http://schemas.microsoft.com/office/drawing/2014/main" id="{B6A1A2CF-5A47-4D9C-ACFF-87AFE8CF0D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348EBB4-8DD2-4BFB-898A-07F1115D8B2E}"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Slide Image Placeholder 1">
            <a:extLst>
              <a:ext uri="{FF2B5EF4-FFF2-40B4-BE49-F238E27FC236}">
                <a16:creationId xmlns:a16="http://schemas.microsoft.com/office/drawing/2014/main" id="{23760549-9D78-47CC-90B1-74926FE847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8051" name="Notes Placeholder 2">
            <a:extLst>
              <a:ext uri="{FF2B5EF4-FFF2-40B4-BE49-F238E27FC236}">
                <a16:creationId xmlns:a16="http://schemas.microsoft.com/office/drawing/2014/main" id="{A8EF1BB7-A7EA-4736-B8F9-8ECFC58EA4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Stories abound of missionaries who faced incredible odds. Their children died of malaria; they lived in very poor housing; they had to travel under difficult circumstances. </a:t>
            </a:r>
          </a:p>
        </p:txBody>
      </p:sp>
      <p:sp>
        <p:nvSpPr>
          <p:cNvPr id="898052" name="Slide Number Placeholder 3">
            <a:extLst>
              <a:ext uri="{FF2B5EF4-FFF2-40B4-BE49-F238E27FC236}">
                <a16:creationId xmlns:a16="http://schemas.microsoft.com/office/drawing/2014/main" id="{D36AF8AA-92A2-4EC5-8B46-A85A4922C5F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E992B19-945A-459F-B97E-213845D8B84B}"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Slide Image Placeholder 1">
            <a:extLst>
              <a:ext uri="{FF2B5EF4-FFF2-40B4-BE49-F238E27FC236}">
                <a16:creationId xmlns:a16="http://schemas.microsoft.com/office/drawing/2014/main" id="{1C84AC1D-A060-48ED-BCC1-4A48AA99DB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0099" name="Notes Placeholder 2">
            <a:extLst>
              <a:ext uri="{FF2B5EF4-FFF2-40B4-BE49-F238E27FC236}">
                <a16:creationId xmlns:a16="http://schemas.microsoft.com/office/drawing/2014/main" id="{430DA5BC-D1AA-47CF-ADCB-4F202730B6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Some were often ridiculed; others saw very few results of their labors. Many were single with very few chances to meet with friends.</a:t>
            </a:r>
          </a:p>
          <a:p>
            <a:pPr>
              <a:spcBef>
                <a:spcPct val="0"/>
              </a:spcBef>
            </a:pPr>
            <a:endParaRPr lang="en-US" altLang="fr-FR"/>
          </a:p>
        </p:txBody>
      </p:sp>
      <p:sp>
        <p:nvSpPr>
          <p:cNvPr id="900100" name="Slide Number Placeholder 3">
            <a:extLst>
              <a:ext uri="{FF2B5EF4-FFF2-40B4-BE49-F238E27FC236}">
                <a16:creationId xmlns:a16="http://schemas.microsoft.com/office/drawing/2014/main" id="{B768CD6D-C6CD-4B8A-AC55-4076BB8B21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D645832-2340-4C29-A259-BE311956D4FD}"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Slide Image Placeholder 1">
            <a:extLst>
              <a:ext uri="{FF2B5EF4-FFF2-40B4-BE49-F238E27FC236}">
                <a16:creationId xmlns:a16="http://schemas.microsoft.com/office/drawing/2014/main" id="{42EDE58E-3E08-49C9-9D08-4D56D84A20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2147" name="Notes Placeholder 2">
            <a:extLst>
              <a:ext uri="{FF2B5EF4-FFF2-40B4-BE49-F238E27FC236}">
                <a16:creationId xmlns:a16="http://schemas.microsoft.com/office/drawing/2014/main" id="{C7825C4C-B864-46F1-BCCF-7E4F7B25F8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And all this while living thousands of miles from their homeland and families. In spite of the hardships and sacrifices, however, they did it joyfully and willingly. </a:t>
            </a:r>
          </a:p>
        </p:txBody>
      </p:sp>
      <p:sp>
        <p:nvSpPr>
          <p:cNvPr id="902148" name="Slide Number Placeholder 3">
            <a:extLst>
              <a:ext uri="{FF2B5EF4-FFF2-40B4-BE49-F238E27FC236}">
                <a16:creationId xmlns:a16="http://schemas.microsoft.com/office/drawing/2014/main" id="{E1E54816-8CB2-475C-9BBA-D2F3FBE0A7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992162F-DB27-4811-8DFF-81E68A2BF1E6}"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Slide Image Placeholder 1">
            <a:extLst>
              <a:ext uri="{FF2B5EF4-FFF2-40B4-BE49-F238E27FC236}">
                <a16:creationId xmlns:a16="http://schemas.microsoft.com/office/drawing/2014/main" id="{0757A974-FB6F-48D0-A9C7-44642EB88E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4195" name="Notes Placeholder 2">
            <a:extLst>
              <a:ext uri="{FF2B5EF4-FFF2-40B4-BE49-F238E27FC236}">
                <a16:creationId xmlns:a16="http://schemas.microsoft.com/office/drawing/2014/main" id="{4748317F-23BE-4CDF-B539-067BAAD89B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What gave them that optimism? What choices do I have to make in order to be selfless and optimistic like that?</a:t>
            </a:r>
          </a:p>
          <a:p>
            <a:pPr>
              <a:spcBef>
                <a:spcPct val="0"/>
              </a:spcBef>
            </a:pPr>
            <a:endParaRPr lang="en-US" altLang="fr-FR"/>
          </a:p>
        </p:txBody>
      </p:sp>
      <p:sp>
        <p:nvSpPr>
          <p:cNvPr id="904196" name="Slide Number Placeholder 3">
            <a:extLst>
              <a:ext uri="{FF2B5EF4-FFF2-40B4-BE49-F238E27FC236}">
                <a16:creationId xmlns:a16="http://schemas.microsoft.com/office/drawing/2014/main" id="{BDD9E051-8D0F-4443-974D-15FE9AA6E4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97F9588-DEBD-48FD-BC47-3FDC1A57B304}"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Slide Image Placeholder 1">
            <a:extLst>
              <a:ext uri="{FF2B5EF4-FFF2-40B4-BE49-F238E27FC236}">
                <a16:creationId xmlns:a16="http://schemas.microsoft.com/office/drawing/2014/main" id="{F2A9A136-7043-4C21-8EA1-F6CF6B53AD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6243" name="Notes Placeholder 2">
            <a:extLst>
              <a:ext uri="{FF2B5EF4-FFF2-40B4-BE49-F238E27FC236}">
                <a16:creationId xmlns:a16="http://schemas.microsoft.com/office/drawing/2014/main" id="{C54D1ACD-276F-4E90-96F9-431DAD31DA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What devastating event have I experienced in my life that made me feel as if my world had caved in around me? </a:t>
            </a:r>
          </a:p>
          <a:p>
            <a:pPr>
              <a:spcBef>
                <a:spcPct val="0"/>
              </a:spcBef>
            </a:pPr>
            <a:r>
              <a:rPr lang="en-US" altLang="fr-FR"/>
              <a:t>Did I choose to have hope in that situation?</a:t>
            </a:r>
          </a:p>
          <a:p>
            <a:pPr>
              <a:spcBef>
                <a:spcPct val="0"/>
              </a:spcBef>
            </a:pPr>
            <a:endParaRPr lang="en-US" altLang="fr-FR"/>
          </a:p>
        </p:txBody>
      </p:sp>
      <p:sp>
        <p:nvSpPr>
          <p:cNvPr id="906244" name="Slide Number Placeholder 3">
            <a:extLst>
              <a:ext uri="{FF2B5EF4-FFF2-40B4-BE49-F238E27FC236}">
                <a16:creationId xmlns:a16="http://schemas.microsoft.com/office/drawing/2014/main" id="{D4D1E2CA-E05F-4004-A7C1-D810F21BC9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3AB1844-FC17-4314-969B-A6A6B28495EF}"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Slide Image Placeholder 1">
            <a:extLst>
              <a:ext uri="{FF2B5EF4-FFF2-40B4-BE49-F238E27FC236}">
                <a16:creationId xmlns:a16="http://schemas.microsoft.com/office/drawing/2014/main" id="{AB8D5F3A-6A1B-4F55-9744-4B0B64CF53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8291" name="Notes Placeholder 2">
            <a:extLst>
              <a:ext uri="{FF2B5EF4-FFF2-40B4-BE49-F238E27FC236}">
                <a16:creationId xmlns:a16="http://schemas.microsoft.com/office/drawing/2014/main" id="{B1290CCD-75C3-4ABB-9A41-AB78DFD233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What, if anything, gave me that hope and assurance? </a:t>
            </a:r>
          </a:p>
        </p:txBody>
      </p:sp>
      <p:sp>
        <p:nvSpPr>
          <p:cNvPr id="908292" name="Slide Number Placeholder 3">
            <a:extLst>
              <a:ext uri="{FF2B5EF4-FFF2-40B4-BE49-F238E27FC236}">
                <a16:creationId xmlns:a16="http://schemas.microsoft.com/office/drawing/2014/main" id="{62222A87-8070-4B67-9E06-397673B163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7A43FD9-F29B-4D63-BE43-7C633E4D813C}"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Slide Image Placeholder 1">
            <a:extLst>
              <a:ext uri="{FF2B5EF4-FFF2-40B4-BE49-F238E27FC236}">
                <a16:creationId xmlns:a16="http://schemas.microsoft.com/office/drawing/2014/main" id="{D8C68C2A-FDD5-4AFC-AE29-65DCDDF577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0339" name="Notes Placeholder 2">
            <a:extLst>
              <a:ext uri="{FF2B5EF4-FFF2-40B4-BE49-F238E27FC236}">
                <a16:creationId xmlns:a16="http://schemas.microsoft.com/office/drawing/2014/main" id="{61C87A07-EA54-4684-A2BB-40D9666C01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If something like that happens again, what extra sources of hope can I tap into? Which promises of Scripture will I choose to memorize?</a:t>
            </a:r>
          </a:p>
          <a:p>
            <a:pPr>
              <a:spcBef>
                <a:spcPct val="0"/>
              </a:spcBef>
            </a:pPr>
            <a:endParaRPr lang="en-US" altLang="fr-FR"/>
          </a:p>
        </p:txBody>
      </p:sp>
      <p:sp>
        <p:nvSpPr>
          <p:cNvPr id="910340" name="Slide Number Placeholder 3">
            <a:extLst>
              <a:ext uri="{FF2B5EF4-FFF2-40B4-BE49-F238E27FC236}">
                <a16:creationId xmlns:a16="http://schemas.microsoft.com/office/drawing/2014/main" id="{4B8F1034-9624-4EF9-9A02-7A0C0CB687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68822A8-355D-4CB9-B42E-50FF1AEC52BC}"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Slide Image Placeholder 1">
            <a:extLst>
              <a:ext uri="{FF2B5EF4-FFF2-40B4-BE49-F238E27FC236}">
                <a16:creationId xmlns:a16="http://schemas.microsoft.com/office/drawing/2014/main" id="{7F067A74-9704-4943-9C55-2B7C9A7876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2387" name="Notes Placeholder 2">
            <a:extLst>
              <a:ext uri="{FF2B5EF4-FFF2-40B4-BE49-F238E27FC236}">
                <a16:creationId xmlns:a16="http://schemas.microsoft.com/office/drawing/2014/main" id="{213E7BD9-6A30-4DC0-A992-E415CA5A18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In most situations am I more likely to see the positive aspects or the negative ones? </a:t>
            </a:r>
          </a:p>
        </p:txBody>
      </p:sp>
      <p:sp>
        <p:nvSpPr>
          <p:cNvPr id="912388" name="Slide Number Placeholder 3">
            <a:extLst>
              <a:ext uri="{FF2B5EF4-FFF2-40B4-BE49-F238E27FC236}">
                <a16:creationId xmlns:a16="http://schemas.microsoft.com/office/drawing/2014/main" id="{224F3085-F1C7-4EC5-A519-0B20E377A91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95F00E5-148A-41C4-9207-23AB5F5F1E80}"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Slide Image Placeholder 1">
            <a:extLst>
              <a:ext uri="{FF2B5EF4-FFF2-40B4-BE49-F238E27FC236}">
                <a16:creationId xmlns:a16="http://schemas.microsoft.com/office/drawing/2014/main" id="{348D7703-DB85-4139-AD0D-A589B9EF56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4435" name="Notes Placeholder 2">
            <a:extLst>
              <a:ext uri="{FF2B5EF4-FFF2-40B4-BE49-F238E27FC236}">
                <a16:creationId xmlns:a16="http://schemas.microsoft.com/office/drawing/2014/main" id="{0FEF7541-767D-4C3C-BF4D-02CB00DCE5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can I change my perspective to become more optimistic, even while being realistic? </a:t>
            </a:r>
          </a:p>
        </p:txBody>
      </p:sp>
      <p:sp>
        <p:nvSpPr>
          <p:cNvPr id="914436" name="Slide Number Placeholder 3">
            <a:extLst>
              <a:ext uri="{FF2B5EF4-FFF2-40B4-BE49-F238E27FC236}">
                <a16:creationId xmlns:a16="http://schemas.microsoft.com/office/drawing/2014/main" id="{5D63867A-0169-4180-B755-38690C8D27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4CF48EB-C34E-41FE-83CB-BCCC49C686FA}"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2" name="Slide Image Placeholder 1">
            <a:extLst>
              <a:ext uri="{FF2B5EF4-FFF2-40B4-BE49-F238E27FC236}">
                <a16:creationId xmlns:a16="http://schemas.microsoft.com/office/drawing/2014/main" id="{BF3A0E05-3C2A-47F5-8C10-A8192F5CAE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6483" name="Notes Placeholder 2">
            <a:extLst>
              <a:ext uri="{FF2B5EF4-FFF2-40B4-BE49-F238E27FC236}">
                <a16:creationId xmlns:a16="http://schemas.microsoft.com/office/drawing/2014/main" id="{41C793BF-ABCD-4D91-917D-7F35087F31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What can I do so that I look for opportunities rather than difficulties?</a:t>
            </a:r>
          </a:p>
          <a:p>
            <a:pPr>
              <a:spcBef>
                <a:spcPct val="0"/>
              </a:spcBef>
            </a:pPr>
            <a:endParaRPr lang="en-US" altLang="fr-FR"/>
          </a:p>
        </p:txBody>
      </p:sp>
      <p:sp>
        <p:nvSpPr>
          <p:cNvPr id="916484" name="Slide Number Placeholder 3">
            <a:extLst>
              <a:ext uri="{FF2B5EF4-FFF2-40B4-BE49-F238E27FC236}">
                <a16:creationId xmlns:a16="http://schemas.microsoft.com/office/drawing/2014/main" id="{110824E1-ABE2-4CDE-A0D3-A25D5C5AAE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5F4833C-09F9-484D-B952-642969643B5D}"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Slide Image Placeholder 1">
            <a:extLst>
              <a:ext uri="{FF2B5EF4-FFF2-40B4-BE49-F238E27FC236}">
                <a16:creationId xmlns:a16="http://schemas.microsoft.com/office/drawing/2014/main" id="{8BC5B3E4-C728-48C9-B47E-876FFACB035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8531" name="Notes Placeholder 2">
            <a:extLst>
              <a:ext uri="{FF2B5EF4-FFF2-40B4-BE49-F238E27FC236}">
                <a16:creationId xmlns:a16="http://schemas.microsoft.com/office/drawing/2014/main" id="{DF977167-CC44-4623-B2F5-B0F60DA22A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When was the last time I experienced genuine, relaxing laughter, so that my lungs got exercise and my whole body did a little internal jogging? What triggered this event?</a:t>
            </a:r>
          </a:p>
          <a:p>
            <a:pPr>
              <a:spcBef>
                <a:spcPct val="0"/>
              </a:spcBef>
            </a:pPr>
            <a:endParaRPr lang="en-US" altLang="fr-FR"/>
          </a:p>
        </p:txBody>
      </p:sp>
      <p:sp>
        <p:nvSpPr>
          <p:cNvPr id="918532" name="Slide Number Placeholder 3">
            <a:extLst>
              <a:ext uri="{FF2B5EF4-FFF2-40B4-BE49-F238E27FC236}">
                <a16:creationId xmlns:a16="http://schemas.microsoft.com/office/drawing/2014/main" id="{D91D616A-D632-4846-BD01-C23B3F1EB48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CDDD748-2BF2-42B6-8D91-457889606692}"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Slide Image Placeholder 1">
            <a:extLst>
              <a:ext uri="{FF2B5EF4-FFF2-40B4-BE49-F238E27FC236}">
                <a16:creationId xmlns:a16="http://schemas.microsoft.com/office/drawing/2014/main" id="{44C0B101-8996-47F0-A580-27BCB80114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0579" name="Notes Placeholder 2">
            <a:extLst>
              <a:ext uri="{FF2B5EF4-FFF2-40B4-BE49-F238E27FC236}">
                <a16:creationId xmlns:a16="http://schemas.microsoft.com/office/drawing/2014/main" id="{61DD820D-DC8F-438C-A4FC-DCBB468052D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What choices will put me in this situation more often? How do I make wise decisions in the choice of my friends, what I view on TV, what I read? </a:t>
            </a:r>
          </a:p>
        </p:txBody>
      </p:sp>
      <p:sp>
        <p:nvSpPr>
          <p:cNvPr id="920580" name="Slide Number Placeholder 3">
            <a:extLst>
              <a:ext uri="{FF2B5EF4-FFF2-40B4-BE49-F238E27FC236}">
                <a16:creationId xmlns:a16="http://schemas.microsoft.com/office/drawing/2014/main" id="{04F2B5AA-C874-4FD8-BB61-6B210EC8D39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F342E2C-B9B2-4AF8-9548-5A317D419A39}"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Slide Image Placeholder 1">
            <a:extLst>
              <a:ext uri="{FF2B5EF4-FFF2-40B4-BE49-F238E27FC236}">
                <a16:creationId xmlns:a16="http://schemas.microsoft.com/office/drawing/2014/main" id="{9B3D6611-74BD-4460-B87A-BCDBC17F53F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627" name="Notes Placeholder 2">
            <a:extLst>
              <a:ext uri="{FF2B5EF4-FFF2-40B4-BE49-F238E27FC236}">
                <a16:creationId xmlns:a16="http://schemas.microsoft.com/office/drawing/2014/main" id="{646E98EE-6628-4BE9-B92E-3CB58BA05F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can I adjust my view of God, so that I can be joyful without feeling guilty?</a:t>
            </a:r>
          </a:p>
          <a:p>
            <a:pPr>
              <a:spcBef>
                <a:spcPct val="0"/>
              </a:spcBef>
            </a:pPr>
            <a:endParaRPr lang="en-US" altLang="fr-FR"/>
          </a:p>
        </p:txBody>
      </p:sp>
      <p:sp>
        <p:nvSpPr>
          <p:cNvPr id="922628" name="Slide Number Placeholder 3">
            <a:extLst>
              <a:ext uri="{FF2B5EF4-FFF2-40B4-BE49-F238E27FC236}">
                <a16:creationId xmlns:a16="http://schemas.microsoft.com/office/drawing/2014/main" id="{498ABFB7-3B29-4FFD-9A40-ECE798A789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C7649D4-6323-42E8-BCD5-BC0E9E4760B5}"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Slide Image Placeholder 1">
            <a:extLst>
              <a:ext uri="{FF2B5EF4-FFF2-40B4-BE49-F238E27FC236}">
                <a16:creationId xmlns:a16="http://schemas.microsoft.com/office/drawing/2014/main" id="{71DE2A29-9D80-4BF8-95A4-ECF6B336B7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4675" name="Notes Placeholder 2">
            <a:extLst>
              <a:ext uri="{FF2B5EF4-FFF2-40B4-BE49-F238E27FC236}">
                <a16:creationId xmlns:a16="http://schemas.microsoft.com/office/drawing/2014/main" id="{7AE14E26-473E-4346-9C24-F34EB4A3EE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can I nurture positive thoughts and emotions about people and situations? How can I balance the bad news I hear with the good news of the gospel? </a:t>
            </a:r>
          </a:p>
        </p:txBody>
      </p:sp>
      <p:sp>
        <p:nvSpPr>
          <p:cNvPr id="924676" name="Slide Number Placeholder 3">
            <a:extLst>
              <a:ext uri="{FF2B5EF4-FFF2-40B4-BE49-F238E27FC236}">
                <a16:creationId xmlns:a16="http://schemas.microsoft.com/office/drawing/2014/main" id="{45DAFC58-C4D6-4E52-8AE6-4290C33BA1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DC96B94-647A-4BA7-B041-E6DBAAF0CF4E}"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Slide Image Placeholder 1">
            <a:extLst>
              <a:ext uri="{FF2B5EF4-FFF2-40B4-BE49-F238E27FC236}">
                <a16:creationId xmlns:a16="http://schemas.microsoft.com/office/drawing/2014/main" id="{669D82F5-5F96-4F7C-B8CF-66540FEA64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6723" name="Notes Placeholder 2">
            <a:extLst>
              <a:ext uri="{FF2B5EF4-FFF2-40B4-BE49-F238E27FC236}">
                <a16:creationId xmlns:a16="http://schemas.microsoft.com/office/drawing/2014/main" id="{592FED60-7660-481A-981A-9F6495D451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Do the stories I read or the movies I watch give me confidence that God is in control and working toward the salvation of the world and a better world to come?</a:t>
            </a:r>
          </a:p>
          <a:p>
            <a:pPr>
              <a:spcBef>
                <a:spcPct val="0"/>
              </a:spcBef>
            </a:pPr>
            <a:endParaRPr lang="en-US" altLang="fr-FR"/>
          </a:p>
        </p:txBody>
      </p:sp>
      <p:sp>
        <p:nvSpPr>
          <p:cNvPr id="926724" name="Slide Number Placeholder 3">
            <a:extLst>
              <a:ext uri="{FF2B5EF4-FFF2-40B4-BE49-F238E27FC236}">
                <a16:creationId xmlns:a16="http://schemas.microsoft.com/office/drawing/2014/main" id="{9445B9BB-7180-4416-BE95-B27FAB5F60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4B9160B-DFC1-4A14-9988-D2C0ADAA36E3}"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15A4D0-C4B7-4262-A27C-D3CE1AD1204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D0870256-26C0-4824-A570-B29D504F26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75BA91BA-E1A9-4EF4-8AA4-0E39F4FD0654}"/>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5" name="Espace réservé du pied de page 4">
            <a:extLst>
              <a:ext uri="{FF2B5EF4-FFF2-40B4-BE49-F238E27FC236}">
                <a16:creationId xmlns:a16="http://schemas.microsoft.com/office/drawing/2014/main" id="{47523AD4-B323-4589-A37A-9B93AF5E0A43}"/>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ED33237E-C0FE-480E-BC94-401285B04959}"/>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3552426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028D63-2603-4D43-ACBA-228164D892C4}"/>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E8E22F1E-E0DF-4CC9-8840-594C32BF83D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477DD94B-53F7-41EC-9605-30E678055B09}"/>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5" name="Espace réservé du pied de page 4">
            <a:extLst>
              <a:ext uri="{FF2B5EF4-FFF2-40B4-BE49-F238E27FC236}">
                <a16:creationId xmlns:a16="http://schemas.microsoft.com/office/drawing/2014/main" id="{154ED382-811D-4905-A7AA-96AF17DAB80A}"/>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78F80E3C-A3EB-4518-BEDF-2A3521376D63}"/>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1829131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C69D0F-6124-48CA-B308-9CF1A3844BC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68D44772-801E-42B3-96B2-C338400EC1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149D30D-06AC-40E4-9DFD-AB5EA7039A3B}"/>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5" name="Espace réservé du pied de page 4">
            <a:extLst>
              <a:ext uri="{FF2B5EF4-FFF2-40B4-BE49-F238E27FC236}">
                <a16:creationId xmlns:a16="http://schemas.microsoft.com/office/drawing/2014/main" id="{E3B9E322-4FC0-4750-8709-3441EB4B62EF}"/>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AD9BDF20-6DC0-47E5-9080-DA4FFD244AE1}"/>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1793462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3A4EAB-FEA9-484C-988D-AF8118083601}"/>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38A0E3AC-9C74-4E22-9D6D-B6BBCF1023A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D03E3CCC-216B-45DD-8D6C-132F77B8D77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78A6F445-D85E-4539-8CFC-B7CC1F847360}"/>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6" name="Espace réservé du pied de page 5">
            <a:extLst>
              <a:ext uri="{FF2B5EF4-FFF2-40B4-BE49-F238E27FC236}">
                <a16:creationId xmlns:a16="http://schemas.microsoft.com/office/drawing/2014/main" id="{64C4D318-2D80-475A-98CC-6FD747479E6C}"/>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172F34EA-9129-4B1B-A511-BDAAD7DB6BC9}"/>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1237661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F983F9-7517-4296-9887-68B64243A528}"/>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7B429360-2357-47DF-9864-5926250E8F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2A9466F-AC8C-4C54-AFB5-7EDB513F635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28F6E844-2791-4C39-A522-D91D7BFD55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D058DD7-9DC2-4866-A1D4-C4621F3D30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10EC56C2-8D03-4779-935D-7DFC7994D8DD}"/>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8" name="Espace réservé du pied de page 7">
            <a:extLst>
              <a:ext uri="{FF2B5EF4-FFF2-40B4-BE49-F238E27FC236}">
                <a16:creationId xmlns:a16="http://schemas.microsoft.com/office/drawing/2014/main" id="{90DB0679-BA5D-4D99-B77C-3DE1C594B2FF}"/>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EA03777F-037D-4F1E-9514-AADD495B0899}"/>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309909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7C9DC4-FE72-447F-AB5E-51556D3D3A11}"/>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F4440B2A-FA33-4255-990A-C2259A5257CF}"/>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4" name="Espace réservé du pied de page 3">
            <a:extLst>
              <a:ext uri="{FF2B5EF4-FFF2-40B4-BE49-F238E27FC236}">
                <a16:creationId xmlns:a16="http://schemas.microsoft.com/office/drawing/2014/main" id="{6BE36C42-B80C-43E7-BA2C-A75B64B6832E}"/>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367343E4-1718-4690-A92F-DA7CA66611E8}"/>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2142690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695D2E0-4D1F-4FFD-885B-4AC78A5321D9}"/>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3" name="Espace réservé du pied de page 2">
            <a:extLst>
              <a:ext uri="{FF2B5EF4-FFF2-40B4-BE49-F238E27FC236}">
                <a16:creationId xmlns:a16="http://schemas.microsoft.com/office/drawing/2014/main" id="{2D02AF5F-BB89-4790-978C-1CEC56EAB941}"/>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34F4E52A-3CCD-4170-9410-3AC057D2A293}"/>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74034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415109-D886-4533-B00B-407BC5B9E09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DC40ADFA-5C8F-478E-88E3-F82EAA3FC5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2B2C0E3B-53E3-4C66-9795-D188E59A1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7D10145-92F0-4396-BBD9-E143DFC33A9F}"/>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6" name="Espace réservé du pied de page 5">
            <a:extLst>
              <a:ext uri="{FF2B5EF4-FFF2-40B4-BE49-F238E27FC236}">
                <a16:creationId xmlns:a16="http://schemas.microsoft.com/office/drawing/2014/main" id="{16D3AF86-A481-4613-8C16-37A56931FAA9}"/>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D51B9AAC-80D3-47EB-A7DE-5CD78AA4BD48}"/>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3728059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AB26B1-C3F3-43B6-AE43-F7288ADB48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4ABC91D8-B28F-40FA-BC02-E88D30CF56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71B6B55B-B0D6-4BFE-8415-FD11C932CA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5D50704-13F2-48E9-820A-F28C535251F6}"/>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6" name="Espace réservé du pied de page 5">
            <a:extLst>
              <a:ext uri="{FF2B5EF4-FFF2-40B4-BE49-F238E27FC236}">
                <a16:creationId xmlns:a16="http://schemas.microsoft.com/office/drawing/2014/main" id="{369B1A1E-3726-4425-A7BF-2526D01505B9}"/>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A160B2D6-D1FB-4D8E-B80A-CAA9974A605E}"/>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3648659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D364A3-BD9C-49DB-95E2-BD66330AEC1F}"/>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D9484AE8-D23A-4887-A9A8-F4F1A96614A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B0B9F303-1CCA-4054-A84B-890164848AED}"/>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5" name="Espace réservé du pied de page 4">
            <a:extLst>
              <a:ext uri="{FF2B5EF4-FFF2-40B4-BE49-F238E27FC236}">
                <a16:creationId xmlns:a16="http://schemas.microsoft.com/office/drawing/2014/main" id="{E5D3A0CC-3A82-473E-9E74-73F4A7A8C8DC}"/>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DAC2B5E5-619B-479C-9F7E-BA8ED180C82A}"/>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4132810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B6B64E0-B617-48DD-A40C-E5308FA8F97B}"/>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9A9C3EA7-2711-4068-950C-C3AC8FED417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8663132E-B64F-4A5B-BCB2-C8E01812B6E6}"/>
              </a:ext>
            </a:extLst>
          </p:cNvPr>
          <p:cNvSpPr>
            <a:spLocks noGrp="1"/>
          </p:cNvSpPr>
          <p:nvPr>
            <p:ph type="dt" sz="half" idx="10"/>
          </p:nvPr>
        </p:nvSpPr>
        <p:spPr/>
        <p:txBody>
          <a:bodyPr/>
          <a:lstStyle/>
          <a:p>
            <a:fld id="{753093C9-2738-4A4A-BD0C-A05FCD2B4DF7}" type="datetimeFigureOut">
              <a:rPr lang="fr-BE" smtClean="0"/>
              <a:t>29-04-20</a:t>
            </a:fld>
            <a:endParaRPr lang="fr-BE"/>
          </a:p>
        </p:txBody>
      </p:sp>
      <p:sp>
        <p:nvSpPr>
          <p:cNvPr id="5" name="Espace réservé du pied de page 4">
            <a:extLst>
              <a:ext uri="{FF2B5EF4-FFF2-40B4-BE49-F238E27FC236}">
                <a16:creationId xmlns:a16="http://schemas.microsoft.com/office/drawing/2014/main" id="{25E666C3-80DC-4579-BEA6-15D6C92A6398}"/>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1C05D85D-4D25-4845-88D1-3CD257483DB0}"/>
              </a:ext>
            </a:extLst>
          </p:cNvPr>
          <p:cNvSpPr>
            <a:spLocks noGrp="1"/>
          </p:cNvSpPr>
          <p:nvPr>
            <p:ph type="sldNum" sz="quarter" idx="12"/>
          </p:nvPr>
        </p:nvSpPr>
        <p:spPr/>
        <p:txBody>
          <a:bodyPr/>
          <a:lstStyle/>
          <a:p>
            <a:fld id="{BC6A90DC-FAF6-4EEB-B724-D146A1D58454}" type="slidenum">
              <a:rPr lang="fr-BE" smtClean="0"/>
              <a:t>‹#›</a:t>
            </a:fld>
            <a:endParaRPr lang="fr-BE"/>
          </a:p>
        </p:txBody>
      </p:sp>
    </p:spTree>
    <p:extLst>
      <p:ext uri="{BB962C8B-B14F-4D97-AF65-F5344CB8AC3E}">
        <p14:creationId xmlns:p14="http://schemas.microsoft.com/office/powerpoint/2010/main" val="3239077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19F3E58-F2F6-4EAE-826A-302D15AAF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08E72251-F072-4EF3-846D-BE1A35B01D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DE73B1E6-BF4F-48F3-97AF-C2CDF2EB0B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3093C9-2738-4A4A-BD0C-A05FCD2B4DF7}" type="datetimeFigureOut">
              <a:rPr lang="fr-BE" smtClean="0"/>
              <a:t>29-04-20</a:t>
            </a:fld>
            <a:endParaRPr lang="fr-BE"/>
          </a:p>
        </p:txBody>
      </p:sp>
      <p:sp>
        <p:nvSpPr>
          <p:cNvPr id="5" name="Espace réservé du pied de page 4">
            <a:extLst>
              <a:ext uri="{FF2B5EF4-FFF2-40B4-BE49-F238E27FC236}">
                <a16:creationId xmlns:a16="http://schemas.microsoft.com/office/drawing/2014/main" id="{34CA4686-7F1F-4E99-A036-A71D75B675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D04AB9B5-13BD-4414-8F26-D1D5115773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6A90DC-FAF6-4EEB-B724-D146A1D58454}" type="slidenum">
              <a:rPr lang="fr-BE" smtClean="0"/>
              <a:t>‹#›</a:t>
            </a:fld>
            <a:endParaRPr lang="fr-BE"/>
          </a:p>
        </p:txBody>
      </p:sp>
    </p:spTree>
    <p:extLst>
      <p:ext uri="{BB962C8B-B14F-4D97-AF65-F5344CB8AC3E}">
        <p14:creationId xmlns:p14="http://schemas.microsoft.com/office/powerpoint/2010/main" val="4250396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5EE9B4-29C7-4DFA-A068-870A17F4D3F9}"/>
              </a:ext>
            </a:extLst>
          </p:cNvPr>
          <p:cNvSpPr>
            <a:spLocks noGrp="1"/>
          </p:cNvSpPr>
          <p:nvPr>
            <p:ph type="ctrTitle"/>
          </p:nvPr>
        </p:nvSpPr>
        <p:spPr/>
        <p:txBody>
          <a:bodyPr/>
          <a:lstStyle/>
          <a:p>
            <a:r>
              <a:rPr lang="en-US" altLang="fr-FR" dirty="0">
                <a:latin typeface="Bernard MT Condensed" panose="02050806060905020404" pitchFamily="18" charset="0"/>
                <a:ea typeface="MS PGothic" panose="020B0600070205080204" pitchFamily="34" charset="-128"/>
              </a:rPr>
              <a:t>Optimism</a:t>
            </a:r>
            <a:endParaRPr lang="fr-BE" dirty="0">
              <a:latin typeface="Bernard MT Condensed" panose="02050806060905020404" pitchFamily="18" charset="0"/>
            </a:endParaRPr>
          </a:p>
        </p:txBody>
      </p:sp>
      <p:sp>
        <p:nvSpPr>
          <p:cNvPr id="3" name="Sous-titre 2">
            <a:extLst>
              <a:ext uri="{FF2B5EF4-FFF2-40B4-BE49-F238E27FC236}">
                <a16:creationId xmlns:a16="http://schemas.microsoft.com/office/drawing/2014/main" id="{84163B7A-6327-406E-9903-DB5ACD1D37A6}"/>
              </a:ext>
            </a:extLst>
          </p:cNvPr>
          <p:cNvSpPr>
            <a:spLocks noGrp="1"/>
          </p:cNvSpPr>
          <p:nvPr>
            <p:ph type="subTitle" idx="1"/>
          </p:nvPr>
        </p:nvSpPr>
        <p:spPr/>
        <p:txBody>
          <a:bodyPr/>
          <a:lstStyle/>
          <a:p>
            <a:r>
              <a:rPr lang="fr-FR" dirty="0"/>
              <a:t>CELEBRATIONS</a:t>
            </a:r>
            <a:endParaRPr lang="fr-BE" dirty="0"/>
          </a:p>
        </p:txBody>
      </p:sp>
    </p:spTree>
    <p:extLst>
      <p:ext uri="{BB962C8B-B14F-4D97-AF65-F5344CB8AC3E}">
        <p14:creationId xmlns:p14="http://schemas.microsoft.com/office/powerpoint/2010/main" val="1261445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Title 1">
            <a:extLst>
              <a:ext uri="{FF2B5EF4-FFF2-40B4-BE49-F238E27FC236}">
                <a16:creationId xmlns:a16="http://schemas.microsoft.com/office/drawing/2014/main" id="{681C3DDE-269A-4F6F-B0E9-AABA7EDA1ED3}"/>
              </a:ext>
            </a:extLst>
          </p:cNvPr>
          <p:cNvSpPr>
            <a:spLocks noGrp="1" noChangeArrowheads="1"/>
          </p:cNvSpPr>
          <p:nvPr>
            <p:ph type="title"/>
          </p:nvPr>
        </p:nvSpPr>
        <p:spPr>
          <a:xfrm>
            <a:off x="1981200" y="152400"/>
            <a:ext cx="8229600" cy="1143000"/>
          </a:xfrm>
        </p:spPr>
        <p:txBody>
          <a:bodyPr/>
          <a:lstStyle/>
          <a:p>
            <a:pPr eaLnBrk="1" hangingPunct="1"/>
            <a:r>
              <a:rPr lang="en-US" altLang="fr-FR" sz="3600"/>
              <a:t>Rockfall</a:t>
            </a:r>
          </a:p>
        </p:txBody>
      </p:sp>
      <p:sp>
        <p:nvSpPr>
          <p:cNvPr id="858115" name="Footer Placeholder 3">
            <a:extLst>
              <a:ext uri="{FF2B5EF4-FFF2-40B4-BE49-F238E27FC236}">
                <a16:creationId xmlns:a16="http://schemas.microsoft.com/office/drawing/2014/main" id="{40978FA5-2D85-4320-AFEB-81700937501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58116" name="Slide Number Placeholder 4">
            <a:extLst>
              <a:ext uri="{FF2B5EF4-FFF2-40B4-BE49-F238E27FC236}">
                <a16:creationId xmlns:a16="http://schemas.microsoft.com/office/drawing/2014/main" id="{245522F5-5766-4C64-8162-67E5322470D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a:t>
            </a:r>
          </a:p>
        </p:txBody>
      </p:sp>
      <p:pic>
        <p:nvPicPr>
          <p:cNvPr id="858117" name="Picture 2">
            <a:extLst>
              <a:ext uri="{FF2B5EF4-FFF2-40B4-BE49-F238E27FC236}">
                <a16:creationId xmlns:a16="http://schemas.microsoft.com/office/drawing/2014/main" id="{4454A691-E4DA-4A77-9BB2-3449B2FC67C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057400" y="1371601"/>
            <a:ext cx="807720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Title 1">
            <a:extLst>
              <a:ext uri="{FF2B5EF4-FFF2-40B4-BE49-F238E27FC236}">
                <a16:creationId xmlns:a16="http://schemas.microsoft.com/office/drawing/2014/main" id="{5415DAD5-F9E9-4BB7-AA0A-BB37FDF6BBEE}"/>
              </a:ext>
            </a:extLst>
          </p:cNvPr>
          <p:cNvSpPr>
            <a:spLocks noGrp="1" noChangeArrowheads="1"/>
          </p:cNvSpPr>
          <p:nvPr>
            <p:ph type="title"/>
          </p:nvPr>
        </p:nvSpPr>
        <p:spPr>
          <a:xfrm>
            <a:off x="1981200" y="152400"/>
            <a:ext cx="8229600" cy="1143000"/>
          </a:xfrm>
        </p:spPr>
        <p:txBody>
          <a:bodyPr/>
          <a:lstStyle/>
          <a:p>
            <a:pPr eaLnBrk="1" hangingPunct="1"/>
            <a:r>
              <a:rPr lang="en-US" altLang="fr-FR" sz="3600"/>
              <a:t>Rockfall</a:t>
            </a:r>
          </a:p>
        </p:txBody>
      </p:sp>
      <p:sp>
        <p:nvSpPr>
          <p:cNvPr id="860163" name="Footer Placeholder 3">
            <a:extLst>
              <a:ext uri="{FF2B5EF4-FFF2-40B4-BE49-F238E27FC236}">
                <a16:creationId xmlns:a16="http://schemas.microsoft.com/office/drawing/2014/main" id="{DA2A876B-DF1A-4E60-A735-53B57B908E0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60164" name="Slide Number Placeholder 4">
            <a:extLst>
              <a:ext uri="{FF2B5EF4-FFF2-40B4-BE49-F238E27FC236}">
                <a16:creationId xmlns:a16="http://schemas.microsoft.com/office/drawing/2014/main" id="{AAFE9923-5404-4682-BAAF-6B41E02E7B6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3</a:t>
            </a:r>
          </a:p>
        </p:txBody>
      </p:sp>
      <p:pic>
        <p:nvPicPr>
          <p:cNvPr id="860165" name="Picture 2">
            <a:extLst>
              <a:ext uri="{FF2B5EF4-FFF2-40B4-BE49-F238E27FC236}">
                <a16:creationId xmlns:a16="http://schemas.microsoft.com/office/drawing/2014/main" id="{6AD7E6AC-F433-4408-A31E-15B164AC709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057400" y="1371601"/>
            <a:ext cx="807720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Title 1">
            <a:extLst>
              <a:ext uri="{FF2B5EF4-FFF2-40B4-BE49-F238E27FC236}">
                <a16:creationId xmlns:a16="http://schemas.microsoft.com/office/drawing/2014/main" id="{F09C8537-F613-4E5D-9913-84114C54C8D7}"/>
              </a:ext>
            </a:extLst>
          </p:cNvPr>
          <p:cNvSpPr>
            <a:spLocks noGrp="1" noChangeArrowheads="1"/>
          </p:cNvSpPr>
          <p:nvPr>
            <p:ph type="title"/>
          </p:nvPr>
        </p:nvSpPr>
        <p:spPr>
          <a:xfrm>
            <a:off x="1981200" y="152400"/>
            <a:ext cx="8229600" cy="1143000"/>
          </a:xfrm>
        </p:spPr>
        <p:txBody>
          <a:bodyPr/>
          <a:lstStyle/>
          <a:p>
            <a:pPr eaLnBrk="1" hangingPunct="1"/>
            <a:r>
              <a:rPr lang="en-US" altLang="fr-FR" sz="3600"/>
              <a:t>Camp Hope</a:t>
            </a:r>
          </a:p>
        </p:txBody>
      </p:sp>
      <p:sp>
        <p:nvSpPr>
          <p:cNvPr id="862211" name="Footer Placeholder 3">
            <a:extLst>
              <a:ext uri="{FF2B5EF4-FFF2-40B4-BE49-F238E27FC236}">
                <a16:creationId xmlns:a16="http://schemas.microsoft.com/office/drawing/2014/main" id="{675AB7D8-37FA-4AEA-AA09-670BD5ED4F6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62212" name="Slide Number Placeholder 4">
            <a:extLst>
              <a:ext uri="{FF2B5EF4-FFF2-40B4-BE49-F238E27FC236}">
                <a16:creationId xmlns:a16="http://schemas.microsoft.com/office/drawing/2014/main" id="{1C1F5B70-858B-4A68-9D36-10D6194A0EA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4</a:t>
            </a:r>
          </a:p>
        </p:txBody>
      </p:sp>
      <p:pic>
        <p:nvPicPr>
          <p:cNvPr id="862213" name="Picture 2">
            <a:extLst>
              <a:ext uri="{FF2B5EF4-FFF2-40B4-BE49-F238E27FC236}">
                <a16:creationId xmlns:a16="http://schemas.microsoft.com/office/drawing/2014/main" id="{0DB8A95E-7FC3-4CEB-94EF-04308F3BD8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271838" y="1393826"/>
            <a:ext cx="5567362" cy="48545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Title 1">
            <a:extLst>
              <a:ext uri="{FF2B5EF4-FFF2-40B4-BE49-F238E27FC236}">
                <a16:creationId xmlns:a16="http://schemas.microsoft.com/office/drawing/2014/main" id="{38CF6343-FB00-4557-9585-F412AF017AC7}"/>
              </a:ext>
            </a:extLst>
          </p:cNvPr>
          <p:cNvSpPr>
            <a:spLocks noGrp="1" noChangeArrowheads="1"/>
          </p:cNvSpPr>
          <p:nvPr>
            <p:ph type="title"/>
          </p:nvPr>
        </p:nvSpPr>
        <p:spPr>
          <a:xfrm>
            <a:off x="1981200" y="152400"/>
            <a:ext cx="8229600" cy="1143000"/>
          </a:xfrm>
        </p:spPr>
        <p:txBody>
          <a:bodyPr/>
          <a:lstStyle/>
          <a:p>
            <a:pPr eaLnBrk="1" hangingPunct="1"/>
            <a:r>
              <a:rPr lang="en-US" altLang="fr-FR" sz="3600"/>
              <a:t>The impetus to keep going</a:t>
            </a:r>
          </a:p>
        </p:txBody>
      </p:sp>
      <p:sp>
        <p:nvSpPr>
          <p:cNvPr id="864259" name="Footer Placeholder 3">
            <a:extLst>
              <a:ext uri="{FF2B5EF4-FFF2-40B4-BE49-F238E27FC236}">
                <a16:creationId xmlns:a16="http://schemas.microsoft.com/office/drawing/2014/main" id="{AF1E21C5-A2AF-49CC-9AE8-9714B0ED29C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64260" name="Slide Number Placeholder 4">
            <a:extLst>
              <a:ext uri="{FF2B5EF4-FFF2-40B4-BE49-F238E27FC236}">
                <a16:creationId xmlns:a16="http://schemas.microsoft.com/office/drawing/2014/main" id="{13D717C8-E80B-442E-9894-010EB0E4091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5</a:t>
            </a:r>
          </a:p>
        </p:txBody>
      </p:sp>
      <p:pic>
        <p:nvPicPr>
          <p:cNvPr id="864261" name="Picture 2" descr="G:\For Merle\Chapter 10 - optimism\57340086 - happy road sign.jpg">
            <a:extLst>
              <a:ext uri="{FF2B5EF4-FFF2-40B4-BE49-F238E27FC236}">
                <a16:creationId xmlns:a16="http://schemas.microsoft.com/office/drawing/2014/main" id="{27C90741-7EC6-4C31-B2B4-AA1849ED2E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430338"/>
            <a:ext cx="3487738" cy="481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6306" name="Picture 2" descr="G:\For Merle\Chapter 10 - optimism\136920751 - reverent man silhouette.jpg">
            <a:extLst>
              <a:ext uri="{FF2B5EF4-FFF2-40B4-BE49-F238E27FC236}">
                <a16:creationId xmlns:a16="http://schemas.microsoft.com/office/drawing/2014/main" id="{B1276BDE-5C01-473A-B36E-FC664D013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11113"/>
            <a:ext cx="9180513"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6307" name="Title 1">
            <a:extLst>
              <a:ext uri="{FF2B5EF4-FFF2-40B4-BE49-F238E27FC236}">
                <a16:creationId xmlns:a16="http://schemas.microsoft.com/office/drawing/2014/main" id="{F9454418-F355-416D-A7C3-8738872EE19D}"/>
              </a:ext>
            </a:extLst>
          </p:cNvPr>
          <p:cNvSpPr>
            <a:spLocks noGrp="1" noChangeArrowheads="1"/>
          </p:cNvSpPr>
          <p:nvPr>
            <p:ph type="title"/>
          </p:nvPr>
        </p:nvSpPr>
        <p:spPr>
          <a:xfrm>
            <a:off x="-381000" y="0"/>
            <a:ext cx="8229600" cy="1143000"/>
          </a:xfrm>
        </p:spPr>
        <p:txBody>
          <a:bodyPr/>
          <a:lstStyle/>
          <a:p>
            <a:pPr eaLnBrk="1" hangingPunct="1"/>
            <a:r>
              <a:rPr lang="en-US" altLang="fr-FR" sz="3600"/>
              <a:t>Defining optimism</a:t>
            </a:r>
          </a:p>
        </p:txBody>
      </p:sp>
      <p:sp>
        <p:nvSpPr>
          <p:cNvPr id="866308" name="Footer Placeholder 3">
            <a:extLst>
              <a:ext uri="{FF2B5EF4-FFF2-40B4-BE49-F238E27FC236}">
                <a16:creationId xmlns:a16="http://schemas.microsoft.com/office/drawing/2014/main" id="{2DF7B233-B18C-4D64-9730-035F6EE5525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66309" name="Slide Number Placeholder 4">
            <a:extLst>
              <a:ext uri="{FF2B5EF4-FFF2-40B4-BE49-F238E27FC236}">
                <a16:creationId xmlns:a16="http://schemas.microsoft.com/office/drawing/2014/main" id="{F8506AD5-0F1C-45CC-B560-33AF4EAFC22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8354" name="Picture 2" descr="C:\Users\thomasn\Pictures\Thinkstock hmpix4\Thinkstock Nancy\scenery, gardens, plants\136164128.jpg">
            <a:extLst>
              <a:ext uri="{FF2B5EF4-FFF2-40B4-BE49-F238E27FC236}">
                <a16:creationId xmlns:a16="http://schemas.microsoft.com/office/drawing/2014/main" id="{477C5EF1-CE26-4A3A-9117-1AA622C120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1738" y="0"/>
            <a:ext cx="94662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8355" name="Title 1">
            <a:extLst>
              <a:ext uri="{FF2B5EF4-FFF2-40B4-BE49-F238E27FC236}">
                <a16:creationId xmlns:a16="http://schemas.microsoft.com/office/drawing/2014/main" id="{2C289C91-1E71-42AC-8DEF-34BF622EC866}"/>
              </a:ext>
            </a:extLst>
          </p:cNvPr>
          <p:cNvSpPr>
            <a:spLocks noGrp="1" noChangeArrowheads="1"/>
          </p:cNvSpPr>
          <p:nvPr>
            <p:ph type="title"/>
          </p:nvPr>
        </p:nvSpPr>
        <p:spPr>
          <a:xfrm>
            <a:off x="1981200" y="457200"/>
            <a:ext cx="8229600" cy="1143000"/>
          </a:xfrm>
        </p:spPr>
        <p:txBody>
          <a:bodyPr/>
          <a:lstStyle/>
          <a:p>
            <a:pPr eaLnBrk="1" hangingPunct="1"/>
            <a:r>
              <a:rPr lang="en-US" altLang="fr-FR" sz="3600"/>
              <a:t>Two looking out the same window</a:t>
            </a:r>
            <a:br>
              <a:rPr lang="en-US" altLang="fr-FR" sz="3600"/>
            </a:br>
            <a:r>
              <a:rPr lang="en-US" altLang="fr-FR" sz="3600"/>
              <a:t> see different things</a:t>
            </a:r>
          </a:p>
        </p:txBody>
      </p:sp>
      <p:sp>
        <p:nvSpPr>
          <p:cNvPr id="868356" name="Footer Placeholder 3">
            <a:extLst>
              <a:ext uri="{FF2B5EF4-FFF2-40B4-BE49-F238E27FC236}">
                <a16:creationId xmlns:a16="http://schemas.microsoft.com/office/drawing/2014/main" id="{799EBD8E-37BD-4377-9D44-47F116219F7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68357" name="Slide Number Placeholder 4">
            <a:extLst>
              <a:ext uri="{FF2B5EF4-FFF2-40B4-BE49-F238E27FC236}">
                <a16:creationId xmlns:a16="http://schemas.microsoft.com/office/drawing/2014/main" id="{568A3BB0-A94D-477B-8535-E8ECA757C91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Footer Placeholder 3">
            <a:extLst>
              <a:ext uri="{FF2B5EF4-FFF2-40B4-BE49-F238E27FC236}">
                <a16:creationId xmlns:a16="http://schemas.microsoft.com/office/drawing/2014/main" id="{B3E20A4C-BD61-4E65-A07A-4CE213EB5AE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70403" name="Slide Number Placeholder 4">
            <a:extLst>
              <a:ext uri="{FF2B5EF4-FFF2-40B4-BE49-F238E27FC236}">
                <a16:creationId xmlns:a16="http://schemas.microsoft.com/office/drawing/2014/main" id="{7D119579-8217-43BB-BB40-094EEA3BFAE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8</a:t>
            </a:r>
          </a:p>
        </p:txBody>
      </p:sp>
      <p:pic>
        <p:nvPicPr>
          <p:cNvPr id="870404" name="Picture 3" descr="C:\Users\thomasn\Pictures\Thinkstock hmpix4\Thinkstock Nancy\people\120908964.jpg">
            <a:extLst>
              <a:ext uri="{FF2B5EF4-FFF2-40B4-BE49-F238E27FC236}">
                <a16:creationId xmlns:a16="http://schemas.microsoft.com/office/drawing/2014/main" id="{1096AFAC-5905-4415-A3F2-0BEFF13DED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198564"/>
            <a:ext cx="7891462" cy="497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05" name="TextBox 1">
            <a:extLst>
              <a:ext uri="{FF2B5EF4-FFF2-40B4-BE49-F238E27FC236}">
                <a16:creationId xmlns:a16="http://schemas.microsoft.com/office/drawing/2014/main" id="{5F151503-7BAC-4F2A-8AFE-CD43ACC009F1}"/>
              </a:ext>
            </a:extLst>
          </p:cNvPr>
          <p:cNvSpPr txBox="1">
            <a:spLocks noChangeArrowheads="1"/>
          </p:cNvSpPr>
          <p:nvPr/>
        </p:nvSpPr>
        <p:spPr bwMode="auto">
          <a:xfrm>
            <a:off x="4419600" y="381001"/>
            <a:ext cx="34432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r>
              <a:rPr lang="en-US" altLang="fr-FR" sz="3600">
                <a:latin typeface="Calibri" panose="020F0502020204030204" pitchFamily="34" charset="0"/>
                <a:ea typeface="MS PGothic" panose="020B0600070205080204" pitchFamily="34" charset="-128"/>
              </a:rPr>
              <a:t>Choose optimism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Title 1">
            <a:extLst>
              <a:ext uri="{FF2B5EF4-FFF2-40B4-BE49-F238E27FC236}">
                <a16:creationId xmlns:a16="http://schemas.microsoft.com/office/drawing/2014/main" id="{16A76677-5719-46DC-9450-A6441BA6C901}"/>
              </a:ext>
            </a:extLst>
          </p:cNvPr>
          <p:cNvSpPr>
            <a:spLocks noGrp="1" noChangeArrowheads="1"/>
          </p:cNvSpPr>
          <p:nvPr>
            <p:ph type="title"/>
          </p:nvPr>
        </p:nvSpPr>
        <p:spPr>
          <a:xfrm>
            <a:off x="1981200" y="152400"/>
            <a:ext cx="8229600" cy="1143000"/>
          </a:xfrm>
        </p:spPr>
        <p:txBody>
          <a:bodyPr/>
          <a:lstStyle/>
          <a:p>
            <a:pPr eaLnBrk="1" hangingPunct="1"/>
            <a:r>
              <a:rPr lang="en-US" altLang="fr-FR" sz="3600"/>
              <a:t>Hope without healing?</a:t>
            </a:r>
          </a:p>
        </p:txBody>
      </p:sp>
      <p:sp>
        <p:nvSpPr>
          <p:cNvPr id="872451" name="Footer Placeholder 3">
            <a:extLst>
              <a:ext uri="{FF2B5EF4-FFF2-40B4-BE49-F238E27FC236}">
                <a16:creationId xmlns:a16="http://schemas.microsoft.com/office/drawing/2014/main" id="{7C37267E-B506-4E8D-B152-393345A9F92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72452" name="Slide Number Placeholder 4">
            <a:extLst>
              <a:ext uri="{FF2B5EF4-FFF2-40B4-BE49-F238E27FC236}">
                <a16:creationId xmlns:a16="http://schemas.microsoft.com/office/drawing/2014/main" id="{0ECA243F-383B-4CA0-8FB2-4C9EC8C6F68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9</a:t>
            </a:r>
          </a:p>
        </p:txBody>
      </p:sp>
      <p:pic>
        <p:nvPicPr>
          <p:cNvPr id="872453" name="Picture 2" descr="C:\Users\thomasn\Downloads\stk16511hsd.jpg">
            <a:extLst>
              <a:ext uri="{FF2B5EF4-FFF2-40B4-BE49-F238E27FC236}">
                <a16:creationId xmlns:a16="http://schemas.microsoft.com/office/drawing/2014/main" id="{C794485E-F188-4402-B1DD-39EF32AC48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312864"/>
            <a:ext cx="7696200"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Title 1">
            <a:extLst>
              <a:ext uri="{FF2B5EF4-FFF2-40B4-BE49-F238E27FC236}">
                <a16:creationId xmlns:a16="http://schemas.microsoft.com/office/drawing/2014/main" id="{5B277909-C418-4CB9-AD88-2A02B9F617E0}"/>
              </a:ext>
            </a:extLst>
          </p:cNvPr>
          <p:cNvSpPr>
            <a:spLocks noGrp="1" noChangeArrowheads="1"/>
          </p:cNvSpPr>
          <p:nvPr>
            <p:ph type="title"/>
          </p:nvPr>
        </p:nvSpPr>
        <p:spPr>
          <a:xfrm>
            <a:off x="2209800" y="381000"/>
            <a:ext cx="8229600" cy="1143000"/>
          </a:xfrm>
        </p:spPr>
        <p:txBody>
          <a:bodyPr/>
          <a:lstStyle/>
          <a:p>
            <a:pPr eaLnBrk="1" hangingPunct="1"/>
            <a:r>
              <a:rPr lang="en-US" altLang="fr-FR" sz="3600"/>
              <a:t>Many in need</a:t>
            </a:r>
            <a:br>
              <a:rPr lang="en-US" altLang="fr-FR" sz="3600"/>
            </a:br>
            <a:r>
              <a:rPr lang="en-US" altLang="fr-FR" sz="3600"/>
              <a:t> choose to be optimistic</a:t>
            </a:r>
          </a:p>
        </p:txBody>
      </p:sp>
      <p:sp>
        <p:nvSpPr>
          <p:cNvPr id="874499" name="Footer Placeholder 3">
            <a:extLst>
              <a:ext uri="{FF2B5EF4-FFF2-40B4-BE49-F238E27FC236}">
                <a16:creationId xmlns:a16="http://schemas.microsoft.com/office/drawing/2014/main" id="{11B96C63-F828-4AF4-ADE1-B6EFAD41860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74500" name="Slide Number Placeholder 4">
            <a:extLst>
              <a:ext uri="{FF2B5EF4-FFF2-40B4-BE49-F238E27FC236}">
                <a16:creationId xmlns:a16="http://schemas.microsoft.com/office/drawing/2014/main" id="{86454BF8-6E1D-4E0B-A940-31EC6FA7232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10</a:t>
            </a:r>
          </a:p>
        </p:txBody>
      </p:sp>
      <p:pic>
        <p:nvPicPr>
          <p:cNvPr id="874501" name="Picture 2" descr="C:\Users\thomasn\Pictures\Thinkstock hmpix4\Thinkstock Nancy\people\93571032.jpg">
            <a:extLst>
              <a:ext uri="{FF2B5EF4-FFF2-40B4-BE49-F238E27FC236}">
                <a16:creationId xmlns:a16="http://schemas.microsoft.com/office/drawing/2014/main" id="{2A77CFAF-B120-4E2B-9E2C-2CE54370C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94"/>
          <a:stretch>
            <a:fillRect/>
          </a:stretch>
        </p:blipFill>
        <p:spPr bwMode="auto">
          <a:xfrm>
            <a:off x="2286000" y="1782764"/>
            <a:ext cx="7543800" cy="431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Title 1">
            <a:extLst>
              <a:ext uri="{FF2B5EF4-FFF2-40B4-BE49-F238E27FC236}">
                <a16:creationId xmlns:a16="http://schemas.microsoft.com/office/drawing/2014/main" id="{3CCD1844-47DA-4FDD-BF84-4E65843C6973}"/>
              </a:ext>
            </a:extLst>
          </p:cNvPr>
          <p:cNvSpPr>
            <a:spLocks noGrp="1" noChangeArrowheads="1"/>
          </p:cNvSpPr>
          <p:nvPr>
            <p:ph type="title"/>
          </p:nvPr>
        </p:nvSpPr>
        <p:spPr>
          <a:xfrm>
            <a:off x="1981200" y="457200"/>
            <a:ext cx="8229600" cy="1143000"/>
          </a:xfrm>
        </p:spPr>
        <p:txBody>
          <a:bodyPr/>
          <a:lstStyle/>
          <a:p>
            <a:pPr eaLnBrk="1" hangingPunct="1"/>
            <a:r>
              <a:rPr lang="en-US" altLang="fr-FR" sz="3600"/>
              <a:t> The brain is able to</a:t>
            </a:r>
            <a:br>
              <a:rPr lang="en-US" altLang="fr-FR" sz="3600"/>
            </a:br>
            <a:r>
              <a:rPr lang="en-US" altLang="fr-FR" sz="3600"/>
              <a:t> signal cheerful thoughts</a:t>
            </a:r>
          </a:p>
        </p:txBody>
      </p:sp>
      <p:sp>
        <p:nvSpPr>
          <p:cNvPr id="876547" name="Footer Placeholder 3">
            <a:extLst>
              <a:ext uri="{FF2B5EF4-FFF2-40B4-BE49-F238E27FC236}">
                <a16:creationId xmlns:a16="http://schemas.microsoft.com/office/drawing/2014/main" id="{A03207C6-8547-446F-A171-B4C14E5FF8B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76548" name="Slide Number Placeholder 4">
            <a:extLst>
              <a:ext uri="{FF2B5EF4-FFF2-40B4-BE49-F238E27FC236}">
                <a16:creationId xmlns:a16="http://schemas.microsoft.com/office/drawing/2014/main" id="{9E5BD993-61A1-4B8D-8D53-5EFA213E45E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11</a:t>
            </a:r>
          </a:p>
        </p:txBody>
      </p:sp>
      <p:pic>
        <p:nvPicPr>
          <p:cNvPr id="876549" name="Picture 3" descr="C:\Users\thomasn\Pictures\Thinkstock hmpix4\Thinkstock Nancy\medicine, equipment and objects, diagrams\stem of human brain xray view 136557194.jpg">
            <a:extLst>
              <a:ext uri="{FF2B5EF4-FFF2-40B4-BE49-F238E27FC236}">
                <a16:creationId xmlns:a16="http://schemas.microsoft.com/office/drawing/2014/main" id="{97230CA3-7841-4A70-83B9-BF51746B4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739900"/>
            <a:ext cx="7467600"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Title 1">
            <a:extLst>
              <a:ext uri="{FF2B5EF4-FFF2-40B4-BE49-F238E27FC236}">
                <a16:creationId xmlns:a16="http://schemas.microsoft.com/office/drawing/2014/main" id="{45B0F9A9-8801-43A4-902C-951D4D052E4A}"/>
              </a:ext>
            </a:extLst>
          </p:cNvPr>
          <p:cNvSpPr>
            <a:spLocks noGrp="1" noChangeArrowheads="1"/>
          </p:cNvSpPr>
          <p:nvPr>
            <p:ph type="title"/>
          </p:nvPr>
        </p:nvSpPr>
        <p:spPr>
          <a:xfrm>
            <a:off x="2209800" y="152400"/>
            <a:ext cx="8229600" cy="1143000"/>
          </a:xfrm>
        </p:spPr>
        <p:txBody>
          <a:bodyPr/>
          <a:lstStyle/>
          <a:p>
            <a:pPr eaLnBrk="1" hangingPunct="1"/>
            <a:r>
              <a:rPr lang="en-US" altLang="fr-FR" sz="3600"/>
              <a:t>Laughter is good medicine</a:t>
            </a:r>
          </a:p>
        </p:txBody>
      </p:sp>
      <p:sp>
        <p:nvSpPr>
          <p:cNvPr id="878595" name="Footer Placeholder 3">
            <a:extLst>
              <a:ext uri="{FF2B5EF4-FFF2-40B4-BE49-F238E27FC236}">
                <a16:creationId xmlns:a16="http://schemas.microsoft.com/office/drawing/2014/main" id="{82C05D6C-412F-41CB-824B-3C8CE0DC70B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78596" name="Slide Number Placeholder 4">
            <a:extLst>
              <a:ext uri="{FF2B5EF4-FFF2-40B4-BE49-F238E27FC236}">
                <a16:creationId xmlns:a16="http://schemas.microsoft.com/office/drawing/2014/main" id="{F62D9077-D519-4044-AC41-656955086D1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12</a:t>
            </a:r>
          </a:p>
        </p:txBody>
      </p:sp>
      <p:pic>
        <p:nvPicPr>
          <p:cNvPr id="878597" name="Picture 3" descr="G:\For Merle\Chapter 10 - optimism\134096555 - happy african-american business woman.jpg">
            <a:extLst>
              <a:ext uri="{FF2B5EF4-FFF2-40B4-BE49-F238E27FC236}">
                <a16:creationId xmlns:a16="http://schemas.microsoft.com/office/drawing/2014/main" id="{34581DC7-0ED3-495C-ACAB-D21CE6C508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273176"/>
            <a:ext cx="746125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Title 1">
            <a:extLst>
              <a:ext uri="{FF2B5EF4-FFF2-40B4-BE49-F238E27FC236}">
                <a16:creationId xmlns:a16="http://schemas.microsoft.com/office/drawing/2014/main" id="{702B537F-D748-4A8B-85C0-E603A7E9233D}"/>
              </a:ext>
            </a:extLst>
          </p:cNvPr>
          <p:cNvSpPr>
            <a:spLocks noGrp="1" noChangeArrowheads="1"/>
          </p:cNvSpPr>
          <p:nvPr>
            <p:ph type="title"/>
          </p:nvPr>
        </p:nvSpPr>
        <p:spPr>
          <a:xfrm>
            <a:off x="1981200" y="152400"/>
            <a:ext cx="8229600" cy="1143000"/>
          </a:xfrm>
        </p:spPr>
        <p:txBody>
          <a:bodyPr/>
          <a:lstStyle/>
          <a:p>
            <a:pPr eaLnBrk="1" hangingPunct="1"/>
            <a:r>
              <a:rPr lang="en-US" altLang="en-US" sz="3600"/>
              <a:t>“</a:t>
            </a:r>
            <a:r>
              <a:rPr lang="en-US" altLang="fr-FR" sz="3600"/>
              <a:t>A cheerful heart is good medicine</a:t>
            </a:r>
            <a:r>
              <a:rPr lang="en-US" altLang="en-US" sz="3600"/>
              <a:t>”</a:t>
            </a:r>
            <a:endParaRPr lang="en-US" altLang="fr-FR" sz="3600"/>
          </a:p>
        </p:txBody>
      </p:sp>
      <p:sp>
        <p:nvSpPr>
          <p:cNvPr id="880643" name="Footer Placeholder 3">
            <a:extLst>
              <a:ext uri="{FF2B5EF4-FFF2-40B4-BE49-F238E27FC236}">
                <a16:creationId xmlns:a16="http://schemas.microsoft.com/office/drawing/2014/main" id="{91E5E079-C1D0-440E-8C20-1B7C4B6A8E9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80644" name="Slide Number Placeholder 4">
            <a:extLst>
              <a:ext uri="{FF2B5EF4-FFF2-40B4-BE49-F238E27FC236}">
                <a16:creationId xmlns:a16="http://schemas.microsoft.com/office/drawing/2014/main" id="{2FDFF536-58BB-46B6-BB99-E9C8231784C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13</a:t>
            </a:r>
          </a:p>
        </p:txBody>
      </p:sp>
      <p:pic>
        <p:nvPicPr>
          <p:cNvPr id="880645" name="Picture 2" descr="G:\For Merle\Chapter 10 - optimism\119257583 - african girls with hope sign.jpg">
            <a:extLst>
              <a:ext uri="{FF2B5EF4-FFF2-40B4-BE49-F238E27FC236}">
                <a16:creationId xmlns:a16="http://schemas.microsoft.com/office/drawing/2014/main" id="{454F8506-AC29-4C73-BB98-415114669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295401"/>
            <a:ext cx="8382000" cy="474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Title 1">
            <a:extLst>
              <a:ext uri="{FF2B5EF4-FFF2-40B4-BE49-F238E27FC236}">
                <a16:creationId xmlns:a16="http://schemas.microsoft.com/office/drawing/2014/main" id="{8FA989B5-F078-41B7-978E-867724E99E96}"/>
              </a:ext>
            </a:extLst>
          </p:cNvPr>
          <p:cNvSpPr>
            <a:spLocks noGrp="1" noChangeArrowheads="1"/>
          </p:cNvSpPr>
          <p:nvPr>
            <p:ph type="title"/>
          </p:nvPr>
        </p:nvSpPr>
        <p:spPr>
          <a:xfrm>
            <a:off x="1981200" y="152400"/>
            <a:ext cx="8229600" cy="1143000"/>
          </a:xfrm>
        </p:spPr>
        <p:txBody>
          <a:bodyPr/>
          <a:lstStyle/>
          <a:p>
            <a:pPr eaLnBrk="1" hangingPunct="1"/>
            <a:r>
              <a:rPr lang="en-US" altLang="fr-FR" sz="3600"/>
              <a:t>Laughter produces endorphins</a:t>
            </a:r>
          </a:p>
        </p:txBody>
      </p:sp>
      <p:sp>
        <p:nvSpPr>
          <p:cNvPr id="882691" name="Footer Placeholder 3">
            <a:extLst>
              <a:ext uri="{FF2B5EF4-FFF2-40B4-BE49-F238E27FC236}">
                <a16:creationId xmlns:a16="http://schemas.microsoft.com/office/drawing/2014/main" id="{DF2DEEDB-3F88-4A3F-BBC0-C8AC431B68A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82692" name="Slide Number Placeholder 4">
            <a:extLst>
              <a:ext uri="{FF2B5EF4-FFF2-40B4-BE49-F238E27FC236}">
                <a16:creationId xmlns:a16="http://schemas.microsoft.com/office/drawing/2014/main" id="{96114954-66A7-419E-A1E9-7362362D883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14</a:t>
            </a:r>
          </a:p>
        </p:txBody>
      </p:sp>
      <p:pic>
        <p:nvPicPr>
          <p:cNvPr id="882693" name="Picture 2" descr="G:\For Merle\Chapter 10 - optimism\98845359 - young boy laughing.jpg">
            <a:extLst>
              <a:ext uri="{FF2B5EF4-FFF2-40B4-BE49-F238E27FC236}">
                <a16:creationId xmlns:a16="http://schemas.microsoft.com/office/drawing/2014/main" id="{167F9E7F-6EDC-41FE-B4AC-A53639F53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71601"/>
            <a:ext cx="8159750" cy="467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Title 1">
            <a:extLst>
              <a:ext uri="{FF2B5EF4-FFF2-40B4-BE49-F238E27FC236}">
                <a16:creationId xmlns:a16="http://schemas.microsoft.com/office/drawing/2014/main" id="{CA5F9D1D-CEFE-4ABA-AC95-B24D9816E918}"/>
              </a:ext>
            </a:extLst>
          </p:cNvPr>
          <p:cNvSpPr>
            <a:spLocks noGrp="1" noChangeArrowheads="1"/>
          </p:cNvSpPr>
          <p:nvPr>
            <p:ph type="title"/>
          </p:nvPr>
        </p:nvSpPr>
        <p:spPr>
          <a:xfrm>
            <a:off x="1524000" y="152400"/>
            <a:ext cx="9067800" cy="1143000"/>
          </a:xfrm>
        </p:spPr>
        <p:txBody>
          <a:bodyPr/>
          <a:lstStyle/>
          <a:p>
            <a:pPr eaLnBrk="1" hangingPunct="1"/>
            <a:r>
              <a:rPr lang="en-US" altLang="fr-FR" sz="3600"/>
              <a:t>A positive attitude can be cultivated</a:t>
            </a:r>
          </a:p>
        </p:txBody>
      </p:sp>
      <p:sp>
        <p:nvSpPr>
          <p:cNvPr id="884739" name="Footer Placeholder 3">
            <a:extLst>
              <a:ext uri="{FF2B5EF4-FFF2-40B4-BE49-F238E27FC236}">
                <a16:creationId xmlns:a16="http://schemas.microsoft.com/office/drawing/2014/main" id="{6BD2387C-480F-4E6D-A336-7ABB3A056C2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84740" name="Slide Number Placeholder 4">
            <a:extLst>
              <a:ext uri="{FF2B5EF4-FFF2-40B4-BE49-F238E27FC236}">
                <a16:creationId xmlns:a16="http://schemas.microsoft.com/office/drawing/2014/main" id="{C5698230-79F9-489B-A1FE-3CB0B608804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15</a:t>
            </a:r>
          </a:p>
        </p:txBody>
      </p:sp>
      <p:pic>
        <p:nvPicPr>
          <p:cNvPr id="884741" name="Picture 2" descr="C:\Users\thomasn\Pictures\Thinkstock hmpix4\Thinkstock Nancy\people\Optimism\80602961.jpg">
            <a:extLst>
              <a:ext uri="{FF2B5EF4-FFF2-40B4-BE49-F238E27FC236}">
                <a16:creationId xmlns:a16="http://schemas.microsoft.com/office/drawing/2014/main" id="{86C54EFE-CBE0-4D5E-ABE6-BDE1D2880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1295400"/>
            <a:ext cx="63087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Title 1">
            <a:extLst>
              <a:ext uri="{FF2B5EF4-FFF2-40B4-BE49-F238E27FC236}">
                <a16:creationId xmlns:a16="http://schemas.microsoft.com/office/drawing/2014/main" id="{037DF47C-E508-4DEF-84A4-E87BB9ECF1DF}"/>
              </a:ext>
            </a:extLst>
          </p:cNvPr>
          <p:cNvSpPr>
            <a:spLocks noGrp="1" noChangeArrowheads="1"/>
          </p:cNvSpPr>
          <p:nvPr>
            <p:ph type="title"/>
          </p:nvPr>
        </p:nvSpPr>
        <p:spPr>
          <a:xfrm>
            <a:off x="1524000" y="152400"/>
            <a:ext cx="9067800" cy="1143000"/>
          </a:xfrm>
        </p:spPr>
        <p:txBody>
          <a:bodyPr/>
          <a:lstStyle/>
          <a:p>
            <a:pPr eaLnBrk="1" hangingPunct="1"/>
            <a:r>
              <a:rPr lang="en-US" altLang="fr-FR" sz="3600"/>
              <a:t>Positive thoughts</a:t>
            </a:r>
          </a:p>
        </p:txBody>
      </p:sp>
      <p:sp>
        <p:nvSpPr>
          <p:cNvPr id="886787" name="Footer Placeholder 3">
            <a:extLst>
              <a:ext uri="{FF2B5EF4-FFF2-40B4-BE49-F238E27FC236}">
                <a16:creationId xmlns:a16="http://schemas.microsoft.com/office/drawing/2014/main" id="{F0143E3E-4797-4EBF-9220-BD53F551B7A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86788" name="Slide Number Placeholder 4">
            <a:extLst>
              <a:ext uri="{FF2B5EF4-FFF2-40B4-BE49-F238E27FC236}">
                <a16:creationId xmlns:a16="http://schemas.microsoft.com/office/drawing/2014/main" id="{ACEC850A-E153-49C1-ACDD-6853609D7D4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16</a:t>
            </a:r>
          </a:p>
        </p:txBody>
      </p:sp>
      <p:pic>
        <p:nvPicPr>
          <p:cNvPr id="886789" name="Picture 2" descr="C:\Users\thomasn\Pictures\Thinkstock hmpix4\Thinkstock Nancy\people\87543120.jpg">
            <a:extLst>
              <a:ext uri="{FF2B5EF4-FFF2-40B4-BE49-F238E27FC236}">
                <a16:creationId xmlns:a16="http://schemas.microsoft.com/office/drawing/2014/main" id="{B6F3F346-C57A-479A-8488-E003F5A56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219201"/>
            <a:ext cx="7543800" cy="501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Title 1">
            <a:extLst>
              <a:ext uri="{FF2B5EF4-FFF2-40B4-BE49-F238E27FC236}">
                <a16:creationId xmlns:a16="http://schemas.microsoft.com/office/drawing/2014/main" id="{581D09AA-C171-43C5-BBD6-C2D01C6AAFD0}"/>
              </a:ext>
            </a:extLst>
          </p:cNvPr>
          <p:cNvSpPr>
            <a:spLocks noGrp="1" noChangeArrowheads="1"/>
          </p:cNvSpPr>
          <p:nvPr>
            <p:ph type="title"/>
          </p:nvPr>
        </p:nvSpPr>
        <p:spPr>
          <a:xfrm>
            <a:off x="1981200" y="152400"/>
            <a:ext cx="8229600" cy="1143000"/>
          </a:xfrm>
        </p:spPr>
        <p:txBody>
          <a:bodyPr/>
          <a:lstStyle/>
          <a:p>
            <a:pPr eaLnBrk="1" hangingPunct="1"/>
            <a:r>
              <a:rPr lang="en-US" altLang="fr-FR" sz="3600"/>
              <a:t>Summing up optimism</a:t>
            </a:r>
          </a:p>
        </p:txBody>
      </p:sp>
      <p:sp>
        <p:nvSpPr>
          <p:cNvPr id="888835" name="Footer Placeholder 3">
            <a:extLst>
              <a:ext uri="{FF2B5EF4-FFF2-40B4-BE49-F238E27FC236}">
                <a16:creationId xmlns:a16="http://schemas.microsoft.com/office/drawing/2014/main" id="{4ACC1057-E990-4302-8F76-9580E5C4C3E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88836" name="Slide Number Placeholder 4">
            <a:extLst>
              <a:ext uri="{FF2B5EF4-FFF2-40B4-BE49-F238E27FC236}">
                <a16:creationId xmlns:a16="http://schemas.microsoft.com/office/drawing/2014/main" id="{1B62BE8A-4DCD-4847-B684-2DEAA963A3A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17</a:t>
            </a:r>
          </a:p>
        </p:txBody>
      </p:sp>
      <p:pic>
        <p:nvPicPr>
          <p:cNvPr id="888837" name="Picture 2" descr="G:\For Merle\Chapter 10 - optimism\131958297 - sunny child smelling sunflower.jpg">
            <a:extLst>
              <a:ext uri="{FF2B5EF4-FFF2-40B4-BE49-F238E27FC236}">
                <a16:creationId xmlns:a16="http://schemas.microsoft.com/office/drawing/2014/main" id="{7EA1245B-0C49-45C1-8BD2-7F9E817A5D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1219201"/>
            <a:ext cx="7575550"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C8709-797F-412A-81AA-DB97BA669354}"/>
              </a:ext>
            </a:extLst>
          </p:cNvPr>
          <p:cNvSpPr>
            <a:spLocks noGrp="1"/>
          </p:cNvSpPr>
          <p:nvPr>
            <p:ph idx="1"/>
          </p:nvPr>
        </p:nvSpPr>
        <p:spPr>
          <a:xfrm>
            <a:off x="1981200" y="1600200"/>
            <a:ext cx="4038600" cy="3581400"/>
          </a:xfrm>
        </p:spPr>
        <p:txBody>
          <a:bodyPr rtlCol="0">
            <a:normAutofit/>
          </a:bodyPr>
          <a:lstStyle/>
          <a:p>
            <a:pPr marL="0" indent="0">
              <a:buNone/>
              <a:defRPr/>
            </a:pPr>
            <a:r>
              <a:rPr lang="en-US" sz="3000" dirty="0"/>
              <a:t>Hope and optimism impact life at all ages and settings.</a:t>
            </a:r>
          </a:p>
          <a:p>
            <a:pPr>
              <a:defRPr/>
            </a:pPr>
            <a:endParaRPr lang="en-US" sz="3000" dirty="0"/>
          </a:p>
          <a:p>
            <a:pPr marL="0" indent="0">
              <a:buNone/>
              <a:defRPr/>
            </a:pPr>
            <a:r>
              <a:rPr lang="en-US" sz="3000" dirty="0"/>
              <a:t>Optimism promotes mental and physical well-being.</a:t>
            </a:r>
          </a:p>
          <a:p>
            <a:pPr>
              <a:defRPr/>
            </a:pPr>
            <a:endParaRPr lang="en-US" sz="3000" dirty="0"/>
          </a:p>
          <a:p>
            <a:pPr>
              <a:defRPr/>
            </a:pPr>
            <a:endParaRPr lang="en-US" sz="3000" dirty="0"/>
          </a:p>
        </p:txBody>
      </p:sp>
      <p:sp>
        <p:nvSpPr>
          <p:cNvPr id="890883" name="Footer Placeholder 3">
            <a:extLst>
              <a:ext uri="{FF2B5EF4-FFF2-40B4-BE49-F238E27FC236}">
                <a16:creationId xmlns:a16="http://schemas.microsoft.com/office/drawing/2014/main" id="{1DA64A52-1D49-4541-8ADA-05170D3DB8E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90884" name="Slide Number Placeholder 4">
            <a:extLst>
              <a:ext uri="{FF2B5EF4-FFF2-40B4-BE49-F238E27FC236}">
                <a16:creationId xmlns:a16="http://schemas.microsoft.com/office/drawing/2014/main" id="{0E2FC41B-95B7-454A-B6B3-D78EEDFA1ED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18</a:t>
            </a:r>
          </a:p>
        </p:txBody>
      </p:sp>
      <p:pic>
        <p:nvPicPr>
          <p:cNvPr id="890885" name="Picture 2" descr="H:\For Merle\86537295.jpg">
            <a:extLst>
              <a:ext uri="{FF2B5EF4-FFF2-40B4-BE49-F238E27FC236}">
                <a16:creationId xmlns:a16="http://schemas.microsoft.com/office/drawing/2014/main" id="{36F85BE2-A71A-4A2F-A5F0-9C7CFEB5C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364" y="1250951"/>
            <a:ext cx="4059237" cy="431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166E1-8D4E-46B8-9770-4079A07E2BD8}"/>
              </a:ext>
            </a:extLst>
          </p:cNvPr>
          <p:cNvSpPr>
            <a:spLocks noGrp="1"/>
          </p:cNvSpPr>
          <p:nvPr>
            <p:ph idx="1"/>
          </p:nvPr>
        </p:nvSpPr>
        <p:spPr>
          <a:xfrm>
            <a:off x="1981200" y="1066800"/>
            <a:ext cx="3505200" cy="4419600"/>
          </a:xfrm>
        </p:spPr>
        <p:txBody>
          <a:bodyPr rtlCol="0">
            <a:normAutofit/>
          </a:bodyPr>
          <a:lstStyle/>
          <a:p>
            <a:pPr marL="0" indent="0">
              <a:buNone/>
              <a:defRPr/>
            </a:pPr>
            <a:r>
              <a:rPr lang="en-US" sz="3000" dirty="0"/>
              <a:t>Hope allows us to celebrate life and enjoy wholeness even in our brokenness</a:t>
            </a:r>
          </a:p>
          <a:p>
            <a:pPr marL="0" indent="0">
              <a:buNone/>
              <a:defRPr/>
            </a:pPr>
            <a:endParaRPr lang="en-US" sz="3000" dirty="0"/>
          </a:p>
          <a:p>
            <a:pPr marL="0" indent="0">
              <a:buNone/>
              <a:defRPr/>
            </a:pPr>
            <a:r>
              <a:rPr lang="en-US" sz="3000" dirty="0"/>
              <a:t>Optimism and hope are truly the joy in life.</a:t>
            </a:r>
          </a:p>
          <a:p>
            <a:pPr>
              <a:defRPr/>
            </a:pPr>
            <a:endParaRPr lang="en-US" sz="3000" dirty="0"/>
          </a:p>
        </p:txBody>
      </p:sp>
      <p:sp>
        <p:nvSpPr>
          <p:cNvPr id="892931" name="Footer Placeholder 3">
            <a:extLst>
              <a:ext uri="{FF2B5EF4-FFF2-40B4-BE49-F238E27FC236}">
                <a16:creationId xmlns:a16="http://schemas.microsoft.com/office/drawing/2014/main" id="{E91BB7B1-04E7-4C52-8CC0-416FB51B77A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92932" name="Slide Number Placeholder 4">
            <a:extLst>
              <a:ext uri="{FF2B5EF4-FFF2-40B4-BE49-F238E27FC236}">
                <a16:creationId xmlns:a16="http://schemas.microsoft.com/office/drawing/2014/main" id="{AA874934-847C-4376-8B25-147A34DB14B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19</a:t>
            </a:r>
          </a:p>
        </p:txBody>
      </p:sp>
      <p:pic>
        <p:nvPicPr>
          <p:cNvPr id="892933" name="Picture 2" descr="H:\For Merle\106456789.jpg">
            <a:extLst>
              <a:ext uri="{FF2B5EF4-FFF2-40B4-BE49-F238E27FC236}">
                <a16:creationId xmlns:a16="http://schemas.microsoft.com/office/drawing/2014/main" id="{8C1BF425-263A-4A73-8EB7-785AEE2DE6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1" y="533400"/>
            <a:ext cx="360362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4978" name="Picture 2" descr="G:\For Merle\AA013151.jpg">
            <a:extLst>
              <a:ext uri="{FF2B5EF4-FFF2-40B4-BE49-F238E27FC236}">
                <a16:creationId xmlns:a16="http://schemas.microsoft.com/office/drawing/2014/main" id="{164D799E-FB27-4567-AF41-A75783DCC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2875"/>
            <a:ext cx="9144000" cy="699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4979" name="Title 1">
            <a:extLst>
              <a:ext uri="{FF2B5EF4-FFF2-40B4-BE49-F238E27FC236}">
                <a16:creationId xmlns:a16="http://schemas.microsoft.com/office/drawing/2014/main" id="{2641EF17-2641-42E1-8C44-AD7395199C73}"/>
              </a:ext>
            </a:extLst>
          </p:cNvPr>
          <p:cNvSpPr>
            <a:spLocks noGrp="1" noChangeArrowheads="1"/>
          </p:cNvSpPr>
          <p:nvPr>
            <p:ph type="title"/>
          </p:nvPr>
        </p:nvSpPr>
        <p:spPr>
          <a:xfrm>
            <a:off x="1981200" y="457200"/>
            <a:ext cx="8229600" cy="1143000"/>
          </a:xfrm>
        </p:spPr>
        <p:txBody>
          <a:bodyPr/>
          <a:lstStyle/>
          <a:p>
            <a:pPr eaLnBrk="1" hangingPunct="1"/>
            <a:r>
              <a:rPr lang="en-US" altLang="fr-FR" sz="3600" b="1">
                <a:solidFill>
                  <a:schemeClr val="bg1"/>
                </a:solidFill>
              </a:rPr>
              <a:t>LIFE APPLICATION</a:t>
            </a:r>
            <a:br>
              <a:rPr lang="en-US" altLang="fr-FR" sz="3600" b="1">
                <a:solidFill>
                  <a:schemeClr val="bg1"/>
                </a:solidFill>
              </a:rPr>
            </a:br>
            <a:r>
              <a:rPr lang="en-US" altLang="fr-FR" sz="3600" b="1">
                <a:solidFill>
                  <a:schemeClr val="bg1"/>
                </a:solidFill>
              </a:rPr>
              <a:t>QUESTIONS</a:t>
            </a:r>
          </a:p>
        </p:txBody>
      </p:sp>
      <p:sp>
        <p:nvSpPr>
          <p:cNvPr id="894980" name="Footer Placeholder 3">
            <a:extLst>
              <a:ext uri="{FF2B5EF4-FFF2-40B4-BE49-F238E27FC236}">
                <a16:creationId xmlns:a16="http://schemas.microsoft.com/office/drawing/2014/main" id="{DB4CA5D0-2FCB-4B2B-909F-449C849C970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94981" name="Slide Number Placeholder 4">
            <a:extLst>
              <a:ext uri="{FF2B5EF4-FFF2-40B4-BE49-F238E27FC236}">
                <a16:creationId xmlns:a16="http://schemas.microsoft.com/office/drawing/2014/main" id="{30A82EB7-C76F-40FE-8FA1-18AB245BDA7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Content Placeholder 2">
            <a:extLst>
              <a:ext uri="{FF2B5EF4-FFF2-40B4-BE49-F238E27FC236}">
                <a16:creationId xmlns:a16="http://schemas.microsoft.com/office/drawing/2014/main" id="{23BACE1F-F672-4195-A5B6-B33B26F6888E}"/>
              </a:ext>
            </a:extLst>
          </p:cNvPr>
          <p:cNvSpPr>
            <a:spLocks noGrp="1" noChangeArrowheads="1"/>
          </p:cNvSpPr>
          <p:nvPr>
            <p:ph idx="1"/>
          </p:nvPr>
        </p:nvSpPr>
        <p:spPr>
          <a:xfrm>
            <a:off x="1981200" y="1219200"/>
            <a:ext cx="4038600" cy="4572000"/>
          </a:xfrm>
        </p:spPr>
        <p:txBody>
          <a:bodyPr/>
          <a:lstStyle/>
          <a:p>
            <a:pPr marL="0" indent="0">
              <a:spcAft>
                <a:spcPct val="0"/>
              </a:spcAft>
              <a:buNone/>
            </a:pPr>
            <a:r>
              <a:rPr lang="en-US" altLang="fr-FR" sz="3000"/>
              <a:t>Stories abound of missionaries who faced incredible odds.</a:t>
            </a:r>
          </a:p>
          <a:p>
            <a:pPr marL="0" indent="0">
              <a:spcAft>
                <a:spcPct val="0"/>
              </a:spcAft>
              <a:buNone/>
            </a:pPr>
            <a:endParaRPr lang="en-US" altLang="fr-FR" sz="3000"/>
          </a:p>
          <a:p>
            <a:pPr marL="0" indent="0">
              <a:spcAft>
                <a:spcPct val="0"/>
              </a:spcAft>
              <a:buNone/>
            </a:pPr>
            <a:r>
              <a:rPr lang="en-US" altLang="fr-FR" sz="3000"/>
              <a:t>Their children died of malaria; they lived in very poor housing; they had to travel under difficult circumstances. </a:t>
            </a:r>
          </a:p>
        </p:txBody>
      </p:sp>
      <p:sp>
        <p:nvSpPr>
          <p:cNvPr id="897027" name="Footer Placeholder 3">
            <a:extLst>
              <a:ext uri="{FF2B5EF4-FFF2-40B4-BE49-F238E27FC236}">
                <a16:creationId xmlns:a16="http://schemas.microsoft.com/office/drawing/2014/main" id="{0EEE991A-0366-4F34-8FB8-2AD7D977467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97028" name="Slide Number Placeholder 4">
            <a:extLst>
              <a:ext uri="{FF2B5EF4-FFF2-40B4-BE49-F238E27FC236}">
                <a16:creationId xmlns:a16="http://schemas.microsoft.com/office/drawing/2014/main" id="{1E8F99B4-11B6-4E84-BA0B-F525E2DD888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21</a:t>
            </a:r>
          </a:p>
        </p:txBody>
      </p:sp>
      <p:pic>
        <p:nvPicPr>
          <p:cNvPr id="897029" name="Picture 3" descr="C:\Users\thomasn\Downloads\89791573.jpg">
            <a:extLst>
              <a:ext uri="{FF2B5EF4-FFF2-40B4-BE49-F238E27FC236}">
                <a16:creationId xmlns:a16="http://schemas.microsoft.com/office/drawing/2014/main" id="{C01AA80B-F4BB-4472-A22B-26324A255C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847726"/>
            <a:ext cx="376555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Content Placeholder 2">
            <a:extLst>
              <a:ext uri="{FF2B5EF4-FFF2-40B4-BE49-F238E27FC236}">
                <a16:creationId xmlns:a16="http://schemas.microsoft.com/office/drawing/2014/main" id="{1B6DA254-2E38-4F6F-B460-23F5897C5EE1}"/>
              </a:ext>
            </a:extLst>
          </p:cNvPr>
          <p:cNvSpPr>
            <a:spLocks noGrp="1" noChangeArrowheads="1"/>
          </p:cNvSpPr>
          <p:nvPr>
            <p:ph idx="1"/>
          </p:nvPr>
        </p:nvSpPr>
        <p:spPr>
          <a:xfrm>
            <a:off x="1981200" y="1295400"/>
            <a:ext cx="3124200" cy="4256088"/>
          </a:xfrm>
        </p:spPr>
        <p:txBody>
          <a:bodyPr/>
          <a:lstStyle/>
          <a:p>
            <a:pPr marL="0" indent="0">
              <a:buNone/>
            </a:pPr>
            <a:r>
              <a:rPr lang="en-US" altLang="fr-FR" sz="3000"/>
              <a:t>Some were often ridiculed; others saw very few results of their labors. Many were single with very few chances to meet with friends.</a:t>
            </a:r>
          </a:p>
        </p:txBody>
      </p:sp>
      <p:sp>
        <p:nvSpPr>
          <p:cNvPr id="899075" name="Footer Placeholder 3">
            <a:extLst>
              <a:ext uri="{FF2B5EF4-FFF2-40B4-BE49-F238E27FC236}">
                <a16:creationId xmlns:a16="http://schemas.microsoft.com/office/drawing/2014/main" id="{D5B96461-1539-4AFB-8B19-82568D9210A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899076" name="Slide Number Placeholder 4">
            <a:extLst>
              <a:ext uri="{FF2B5EF4-FFF2-40B4-BE49-F238E27FC236}">
                <a16:creationId xmlns:a16="http://schemas.microsoft.com/office/drawing/2014/main" id="{AF3D2EDE-FFBA-4309-9BF4-3F33EEF617B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22</a:t>
            </a:r>
          </a:p>
        </p:txBody>
      </p:sp>
      <p:pic>
        <p:nvPicPr>
          <p:cNvPr id="899077" name="Picture 3" descr="C:\Users\thomasn\Downloads\89791573.jpg">
            <a:extLst>
              <a:ext uri="{FF2B5EF4-FFF2-40B4-BE49-F238E27FC236}">
                <a16:creationId xmlns:a16="http://schemas.microsoft.com/office/drawing/2014/main" id="{E59326AE-B916-4022-8D97-FC75623710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306514"/>
            <a:ext cx="4808538" cy="424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Content Placeholder 2">
            <a:extLst>
              <a:ext uri="{FF2B5EF4-FFF2-40B4-BE49-F238E27FC236}">
                <a16:creationId xmlns:a16="http://schemas.microsoft.com/office/drawing/2014/main" id="{5BD5BC6E-89C1-4A63-9255-9DF13A609DB5}"/>
              </a:ext>
            </a:extLst>
          </p:cNvPr>
          <p:cNvSpPr>
            <a:spLocks noGrp="1" noChangeArrowheads="1"/>
          </p:cNvSpPr>
          <p:nvPr>
            <p:ph idx="1"/>
          </p:nvPr>
        </p:nvSpPr>
        <p:spPr>
          <a:xfrm>
            <a:off x="2057400" y="1219200"/>
            <a:ext cx="4419600" cy="6553200"/>
          </a:xfrm>
        </p:spPr>
        <p:txBody>
          <a:bodyPr/>
          <a:lstStyle/>
          <a:p>
            <a:pPr marL="0" indent="0">
              <a:buNone/>
            </a:pPr>
            <a:r>
              <a:rPr lang="en-US" altLang="fr-FR" sz="3000"/>
              <a:t>And all this while living</a:t>
            </a:r>
            <a:br>
              <a:rPr lang="en-US" altLang="fr-FR" sz="3000"/>
            </a:br>
            <a:r>
              <a:rPr lang="en-US" altLang="fr-FR" sz="3000"/>
              <a:t>thousands of miles from their homeland and families.</a:t>
            </a:r>
          </a:p>
          <a:p>
            <a:pPr marL="0" indent="0">
              <a:buNone/>
            </a:pPr>
            <a:r>
              <a:rPr lang="en-US" altLang="fr-FR" sz="3000"/>
              <a:t/>
            </a:r>
            <a:br>
              <a:rPr lang="en-US" altLang="fr-FR" sz="3000"/>
            </a:br>
            <a:r>
              <a:rPr lang="en-US" altLang="fr-FR" sz="3000"/>
              <a:t>In spite of the hardships and sacrifices, however, </a:t>
            </a:r>
            <a:br>
              <a:rPr lang="en-US" altLang="fr-FR" sz="3000"/>
            </a:br>
            <a:r>
              <a:rPr lang="en-US" altLang="fr-FR" sz="3000"/>
              <a:t>they did it joyfully and</a:t>
            </a:r>
            <a:br>
              <a:rPr lang="en-US" altLang="fr-FR" sz="3000"/>
            </a:br>
            <a:r>
              <a:rPr lang="en-US" altLang="fr-FR" sz="3000"/>
              <a:t>willingly. </a:t>
            </a:r>
          </a:p>
          <a:p>
            <a:pPr marL="0" indent="0">
              <a:buNone/>
            </a:pPr>
            <a:endParaRPr lang="en-US" altLang="fr-FR" sz="3000"/>
          </a:p>
        </p:txBody>
      </p:sp>
      <p:sp>
        <p:nvSpPr>
          <p:cNvPr id="901123" name="Footer Placeholder 3">
            <a:extLst>
              <a:ext uri="{FF2B5EF4-FFF2-40B4-BE49-F238E27FC236}">
                <a16:creationId xmlns:a16="http://schemas.microsoft.com/office/drawing/2014/main" id="{BEFFD545-43F2-453D-B29A-4B797BF8388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01124" name="Slide Number Placeholder 4">
            <a:extLst>
              <a:ext uri="{FF2B5EF4-FFF2-40B4-BE49-F238E27FC236}">
                <a16:creationId xmlns:a16="http://schemas.microsoft.com/office/drawing/2014/main" id="{7C4C41D8-45D8-4E5F-B42D-B0E718AFC50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23</a:t>
            </a:r>
          </a:p>
        </p:txBody>
      </p:sp>
      <p:pic>
        <p:nvPicPr>
          <p:cNvPr id="901125" name="Picture 2" descr="C:\Users\thomasn\Downloads\89791573.jpg">
            <a:extLst>
              <a:ext uri="{FF2B5EF4-FFF2-40B4-BE49-F238E27FC236}">
                <a16:creationId xmlns:a16="http://schemas.microsoft.com/office/drawing/2014/main" id="{F893E275-5A64-4C8C-877C-507DC4AD25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2150" y="1066800"/>
            <a:ext cx="35496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B00277-AB52-4B49-8138-2ED3668252C3}"/>
              </a:ext>
            </a:extLst>
          </p:cNvPr>
          <p:cNvSpPr>
            <a:spLocks noGrp="1"/>
          </p:cNvSpPr>
          <p:nvPr>
            <p:ph idx="1"/>
          </p:nvPr>
        </p:nvSpPr>
        <p:spPr>
          <a:xfrm>
            <a:off x="2057400" y="1447800"/>
            <a:ext cx="4191000" cy="3886200"/>
          </a:xfrm>
        </p:spPr>
        <p:txBody>
          <a:bodyPr rtlCol="0">
            <a:normAutofit/>
          </a:bodyPr>
          <a:lstStyle/>
          <a:p>
            <a:pPr marL="0" indent="0">
              <a:buNone/>
              <a:defRPr/>
            </a:pPr>
            <a:r>
              <a:rPr lang="en-US" sz="3000" dirty="0"/>
              <a:t>What gave them that</a:t>
            </a:r>
            <a:br>
              <a:rPr lang="en-US" sz="3000" dirty="0"/>
            </a:br>
            <a:r>
              <a:rPr lang="en-US" sz="3000" dirty="0"/>
              <a:t>optimism? </a:t>
            </a:r>
          </a:p>
          <a:p>
            <a:pPr marL="0" indent="0">
              <a:buNone/>
              <a:defRPr/>
            </a:pPr>
            <a:endParaRPr lang="en-US" sz="3000" dirty="0"/>
          </a:p>
          <a:p>
            <a:pPr marL="0" indent="0">
              <a:buNone/>
              <a:defRPr/>
            </a:pPr>
            <a:r>
              <a:rPr lang="en-US" sz="3000" dirty="0"/>
              <a:t>What choices do I have to make in order to be selfless and optimistic like that?</a:t>
            </a:r>
          </a:p>
          <a:p>
            <a:pPr>
              <a:defRPr/>
            </a:pPr>
            <a:endParaRPr lang="en-US" sz="3000" dirty="0"/>
          </a:p>
        </p:txBody>
      </p:sp>
      <p:sp>
        <p:nvSpPr>
          <p:cNvPr id="903171" name="Footer Placeholder 3">
            <a:extLst>
              <a:ext uri="{FF2B5EF4-FFF2-40B4-BE49-F238E27FC236}">
                <a16:creationId xmlns:a16="http://schemas.microsoft.com/office/drawing/2014/main" id="{01B8BB8E-5FD0-4A09-BEF6-62AA800514E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03172" name="Slide Number Placeholder 4">
            <a:extLst>
              <a:ext uri="{FF2B5EF4-FFF2-40B4-BE49-F238E27FC236}">
                <a16:creationId xmlns:a16="http://schemas.microsoft.com/office/drawing/2014/main" id="{39B810B2-B775-408A-8A24-F1238A7EAFD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24</a:t>
            </a:r>
          </a:p>
        </p:txBody>
      </p:sp>
      <p:pic>
        <p:nvPicPr>
          <p:cNvPr id="903173" name="Picture 2" descr="C:\Users\thomasn\Downloads\89791573.jpg">
            <a:extLst>
              <a:ext uri="{FF2B5EF4-FFF2-40B4-BE49-F238E27FC236}">
                <a16:creationId xmlns:a16="http://schemas.microsoft.com/office/drawing/2014/main" id="{C1C79C26-D28F-4DFC-A2B9-1D3FEB7D6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150" y="1206500"/>
            <a:ext cx="3500438"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Content Placeholder 2">
            <a:extLst>
              <a:ext uri="{FF2B5EF4-FFF2-40B4-BE49-F238E27FC236}">
                <a16:creationId xmlns:a16="http://schemas.microsoft.com/office/drawing/2014/main" id="{219BBC00-64D5-4377-8B45-6EC3755E628E}"/>
              </a:ext>
            </a:extLst>
          </p:cNvPr>
          <p:cNvSpPr>
            <a:spLocks noGrp="1" noChangeArrowheads="1"/>
          </p:cNvSpPr>
          <p:nvPr>
            <p:ph idx="1"/>
          </p:nvPr>
        </p:nvSpPr>
        <p:spPr>
          <a:xfrm>
            <a:off x="1981200" y="1371600"/>
            <a:ext cx="4267200" cy="4191000"/>
          </a:xfrm>
        </p:spPr>
        <p:txBody>
          <a:bodyPr/>
          <a:lstStyle/>
          <a:p>
            <a:pPr marL="0" indent="0">
              <a:spcAft>
                <a:spcPct val="0"/>
              </a:spcAft>
              <a:buNone/>
            </a:pPr>
            <a:r>
              <a:rPr lang="en-US" altLang="fr-FR"/>
              <a:t>What devastating event have I experienced in my life that made me feel as if my world had caved in around me? </a:t>
            </a:r>
          </a:p>
          <a:p>
            <a:pPr marL="0" indent="0">
              <a:spcAft>
                <a:spcPct val="0"/>
              </a:spcAft>
              <a:buNone/>
            </a:pPr>
            <a:endParaRPr lang="en-US" altLang="fr-FR"/>
          </a:p>
          <a:p>
            <a:pPr marL="0" indent="0">
              <a:spcAft>
                <a:spcPct val="0"/>
              </a:spcAft>
              <a:buNone/>
            </a:pPr>
            <a:r>
              <a:rPr lang="en-US" altLang="fr-FR"/>
              <a:t>Did I choose to have hope in that situation?</a:t>
            </a:r>
          </a:p>
        </p:txBody>
      </p:sp>
      <p:sp>
        <p:nvSpPr>
          <p:cNvPr id="905219" name="Footer Placeholder 3">
            <a:extLst>
              <a:ext uri="{FF2B5EF4-FFF2-40B4-BE49-F238E27FC236}">
                <a16:creationId xmlns:a16="http://schemas.microsoft.com/office/drawing/2014/main" id="{0B0D3E7C-7389-46B5-95B0-A689E680C98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05220" name="Slide Number Placeholder 4">
            <a:extLst>
              <a:ext uri="{FF2B5EF4-FFF2-40B4-BE49-F238E27FC236}">
                <a16:creationId xmlns:a16="http://schemas.microsoft.com/office/drawing/2014/main" id="{B5547A26-B31A-4DA6-99F7-5ABB09ABC68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25</a:t>
            </a:r>
          </a:p>
        </p:txBody>
      </p:sp>
      <p:pic>
        <p:nvPicPr>
          <p:cNvPr id="905221" name="Picture 2" descr="C:\Users\thomasn\Pictures\Thinkstock hmpix4\Thinkstock Nancy\people\75676747.jpg">
            <a:extLst>
              <a:ext uri="{FF2B5EF4-FFF2-40B4-BE49-F238E27FC236}">
                <a16:creationId xmlns:a16="http://schemas.microsoft.com/office/drawing/2014/main" id="{4203FB18-9D32-4683-B45E-EF8DD4276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6" y="1295400"/>
            <a:ext cx="3527425" cy="424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7CCAFE-3E24-4F8A-9B8F-17F79417E50B}"/>
              </a:ext>
            </a:extLst>
          </p:cNvPr>
          <p:cNvSpPr>
            <a:spLocks noGrp="1"/>
          </p:cNvSpPr>
          <p:nvPr>
            <p:ph idx="1"/>
          </p:nvPr>
        </p:nvSpPr>
        <p:spPr>
          <a:xfrm>
            <a:off x="1981200" y="2514600"/>
            <a:ext cx="3962400" cy="1981200"/>
          </a:xfrm>
        </p:spPr>
        <p:txBody>
          <a:bodyPr rtlCol="0">
            <a:normAutofit/>
          </a:bodyPr>
          <a:lstStyle/>
          <a:p>
            <a:pPr marL="0" indent="0">
              <a:buNone/>
              <a:defRPr/>
            </a:pPr>
            <a:r>
              <a:rPr lang="en-US" sz="3000" dirty="0"/>
              <a:t>What, if anything, gave me that hope and assurance? </a:t>
            </a:r>
          </a:p>
          <a:p>
            <a:pPr>
              <a:defRPr/>
            </a:pPr>
            <a:endParaRPr lang="en-US" sz="3000" dirty="0"/>
          </a:p>
        </p:txBody>
      </p:sp>
      <p:sp>
        <p:nvSpPr>
          <p:cNvPr id="907267" name="Footer Placeholder 3">
            <a:extLst>
              <a:ext uri="{FF2B5EF4-FFF2-40B4-BE49-F238E27FC236}">
                <a16:creationId xmlns:a16="http://schemas.microsoft.com/office/drawing/2014/main" id="{13DD250B-7C95-4F96-8CF6-2B2F1CF0602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07268" name="Slide Number Placeholder 4">
            <a:extLst>
              <a:ext uri="{FF2B5EF4-FFF2-40B4-BE49-F238E27FC236}">
                <a16:creationId xmlns:a16="http://schemas.microsoft.com/office/drawing/2014/main" id="{71AA0977-0D3C-40FB-A9FC-3F6D83AC334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26</a:t>
            </a:r>
          </a:p>
        </p:txBody>
      </p:sp>
      <p:pic>
        <p:nvPicPr>
          <p:cNvPr id="907269" name="Picture 2" descr="C:\Users\thomasn\Pictures\Thinkstock hmpix4\Thinkstock Nancy\Jesus,Bible stories\148543835.jpg">
            <a:extLst>
              <a:ext uri="{FF2B5EF4-FFF2-40B4-BE49-F238E27FC236}">
                <a16:creationId xmlns:a16="http://schemas.microsoft.com/office/drawing/2014/main" id="{2FA5CAB3-8EF9-4A86-BB04-4AA7ECAAC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0963" y="2020889"/>
            <a:ext cx="42291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3AB51-AE6A-4BA5-ACFB-D1F03EABA962}"/>
              </a:ext>
            </a:extLst>
          </p:cNvPr>
          <p:cNvSpPr>
            <a:spLocks noGrp="1"/>
          </p:cNvSpPr>
          <p:nvPr>
            <p:ph idx="1"/>
          </p:nvPr>
        </p:nvSpPr>
        <p:spPr>
          <a:xfrm>
            <a:off x="7086600" y="774700"/>
            <a:ext cx="3200400" cy="5029200"/>
          </a:xfrm>
        </p:spPr>
        <p:txBody>
          <a:bodyPr rtlCol="0">
            <a:noAutofit/>
          </a:bodyPr>
          <a:lstStyle/>
          <a:p>
            <a:pPr marL="0" indent="0" algn="r">
              <a:buNone/>
              <a:defRPr/>
            </a:pPr>
            <a:r>
              <a:rPr lang="en-US" sz="3000" dirty="0"/>
              <a:t>If something like that happens again, what extra sources of hope can I tap into?</a:t>
            </a:r>
          </a:p>
          <a:p>
            <a:pPr marL="0" indent="0" algn="r">
              <a:buNone/>
              <a:defRPr/>
            </a:pPr>
            <a:endParaRPr lang="en-US" sz="3000" dirty="0"/>
          </a:p>
          <a:p>
            <a:pPr marL="0" indent="0" algn="r">
              <a:buNone/>
              <a:defRPr/>
            </a:pPr>
            <a:r>
              <a:rPr lang="en-US" sz="3000" dirty="0"/>
              <a:t>Which promises of Scripture will I choose to memorize?</a:t>
            </a:r>
          </a:p>
          <a:p>
            <a:pPr algn="r">
              <a:defRPr/>
            </a:pPr>
            <a:endParaRPr lang="en-US" sz="3000" dirty="0"/>
          </a:p>
        </p:txBody>
      </p:sp>
      <p:sp>
        <p:nvSpPr>
          <p:cNvPr id="909315" name="Footer Placeholder 3">
            <a:extLst>
              <a:ext uri="{FF2B5EF4-FFF2-40B4-BE49-F238E27FC236}">
                <a16:creationId xmlns:a16="http://schemas.microsoft.com/office/drawing/2014/main" id="{0D6C122E-CDC8-4858-9788-C700B81B2F3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09316" name="Slide Number Placeholder 4">
            <a:extLst>
              <a:ext uri="{FF2B5EF4-FFF2-40B4-BE49-F238E27FC236}">
                <a16:creationId xmlns:a16="http://schemas.microsoft.com/office/drawing/2014/main" id="{DAD6EA83-4685-4F76-8DAC-285E7D25D0F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27</a:t>
            </a:r>
          </a:p>
        </p:txBody>
      </p:sp>
      <p:pic>
        <p:nvPicPr>
          <p:cNvPr id="909317" name="Picture 2" descr="C:\Users\thomasn\Pictures\Thinkstock hmpix4\Thinkstock Nancy\Jesus,Bible stories\148543835.jpg">
            <a:extLst>
              <a:ext uri="{FF2B5EF4-FFF2-40B4-BE49-F238E27FC236}">
                <a16:creationId xmlns:a16="http://schemas.microsoft.com/office/drawing/2014/main" id="{3A7BB143-702F-4A95-BF8E-E29D9E7C6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881188"/>
            <a:ext cx="4229100" cy="281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75729-EB96-41A6-87C7-5AF62655529A}"/>
              </a:ext>
            </a:extLst>
          </p:cNvPr>
          <p:cNvSpPr>
            <a:spLocks noGrp="1"/>
          </p:cNvSpPr>
          <p:nvPr>
            <p:ph idx="1"/>
          </p:nvPr>
        </p:nvSpPr>
        <p:spPr>
          <a:xfrm>
            <a:off x="2057400" y="1828800"/>
            <a:ext cx="2971800" cy="2971800"/>
          </a:xfrm>
        </p:spPr>
        <p:txBody>
          <a:bodyPr rtlCol="0">
            <a:normAutofit/>
          </a:bodyPr>
          <a:lstStyle/>
          <a:p>
            <a:pPr marL="0" indent="0">
              <a:buNone/>
              <a:defRPr/>
            </a:pPr>
            <a:r>
              <a:rPr lang="en-US" sz="3000" dirty="0"/>
              <a:t>In most situations am I more likely to see the positive aspects or the negative ones? </a:t>
            </a:r>
          </a:p>
          <a:p>
            <a:pPr>
              <a:defRPr/>
            </a:pPr>
            <a:endParaRPr lang="en-US" sz="3000" dirty="0"/>
          </a:p>
        </p:txBody>
      </p:sp>
      <p:sp>
        <p:nvSpPr>
          <p:cNvPr id="911363" name="Footer Placeholder 3">
            <a:extLst>
              <a:ext uri="{FF2B5EF4-FFF2-40B4-BE49-F238E27FC236}">
                <a16:creationId xmlns:a16="http://schemas.microsoft.com/office/drawing/2014/main" id="{96813107-3D04-44A2-B072-252406B5358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11364" name="Slide Number Placeholder 4">
            <a:extLst>
              <a:ext uri="{FF2B5EF4-FFF2-40B4-BE49-F238E27FC236}">
                <a16:creationId xmlns:a16="http://schemas.microsoft.com/office/drawing/2014/main" id="{A900A32E-5166-43BA-9E36-B5C8660D104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28</a:t>
            </a:r>
          </a:p>
        </p:txBody>
      </p:sp>
      <p:pic>
        <p:nvPicPr>
          <p:cNvPr id="911365" name="Picture 2" descr="C:\Users\thomasn\Pictures\Thinkstock hmpix4\Thinkstock Nancy\people\Optimism\200367324-001.jpg">
            <a:extLst>
              <a:ext uri="{FF2B5EF4-FFF2-40B4-BE49-F238E27FC236}">
                <a16:creationId xmlns:a16="http://schemas.microsoft.com/office/drawing/2014/main" id="{3EA747D3-A399-474A-8D55-2783AD82F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26"/>
          <a:stretch>
            <a:fillRect/>
          </a:stretch>
        </p:blipFill>
        <p:spPr bwMode="auto">
          <a:xfrm>
            <a:off x="6742114" y="533400"/>
            <a:ext cx="392588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Content Placeholder 2">
            <a:extLst>
              <a:ext uri="{FF2B5EF4-FFF2-40B4-BE49-F238E27FC236}">
                <a16:creationId xmlns:a16="http://schemas.microsoft.com/office/drawing/2014/main" id="{43600DA1-54AA-4B5A-B020-E999867AEC5D}"/>
              </a:ext>
            </a:extLst>
          </p:cNvPr>
          <p:cNvSpPr>
            <a:spLocks noGrp="1" noChangeArrowheads="1"/>
          </p:cNvSpPr>
          <p:nvPr>
            <p:ph idx="1"/>
          </p:nvPr>
        </p:nvSpPr>
        <p:spPr>
          <a:xfrm>
            <a:off x="5562600" y="2362200"/>
            <a:ext cx="4572000" cy="2133600"/>
          </a:xfrm>
        </p:spPr>
        <p:txBody>
          <a:bodyPr/>
          <a:lstStyle/>
          <a:p>
            <a:pPr marL="0" indent="0" algn="r">
              <a:buNone/>
            </a:pPr>
            <a:r>
              <a:rPr lang="en-US" altLang="fr-FR" sz="3000"/>
              <a:t>How can I change my perspective to become more optimistic, even while being realistic? </a:t>
            </a:r>
          </a:p>
        </p:txBody>
      </p:sp>
      <p:sp>
        <p:nvSpPr>
          <p:cNvPr id="913411" name="Footer Placeholder 3">
            <a:extLst>
              <a:ext uri="{FF2B5EF4-FFF2-40B4-BE49-F238E27FC236}">
                <a16:creationId xmlns:a16="http://schemas.microsoft.com/office/drawing/2014/main" id="{47D36A40-66F3-4283-AF75-6F17A939AE8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13412" name="Slide Number Placeholder 4">
            <a:extLst>
              <a:ext uri="{FF2B5EF4-FFF2-40B4-BE49-F238E27FC236}">
                <a16:creationId xmlns:a16="http://schemas.microsoft.com/office/drawing/2014/main" id="{82713998-45CE-4AEF-8ABE-45CCA77C509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29</a:t>
            </a:r>
          </a:p>
        </p:txBody>
      </p:sp>
      <p:pic>
        <p:nvPicPr>
          <p:cNvPr id="913413" name="Picture 2" descr="C:\Users\thomasn\Pictures\Thinkstock hmpix4\Thinkstock Nancy\people\Optimism\200367324-001.jpg">
            <a:extLst>
              <a:ext uri="{FF2B5EF4-FFF2-40B4-BE49-F238E27FC236}">
                <a16:creationId xmlns:a16="http://schemas.microsoft.com/office/drawing/2014/main" id="{99FCABBF-799F-49CF-8DC3-7FB8844C4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989013"/>
            <a:ext cx="3163888"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4AAACA-D214-41F7-B8DE-7BB34631DF0E}"/>
              </a:ext>
            </a:extLst>
          </p:cNvPr>
          <p:cNvSpPr>
            <a:spLocks noGrp="1"/>
          </p:cNvSpPr>
          <p:nvPr>
            <p:ph idx="1"/>
          </p:nvPr>
        </p:nvSpPr>
        <p:spPr>
          <a:xfrm>
            <a:off x="1981200" y="2362200"/>
            <a:ext cx="4724400" cy="1905000"/>
          </a:xfrm>
        </p:spPr>
        <p:txBody>
          <a:bodyPr rtlCol="0">
            <a:normAutofit/>
          </a:bodyPr>
          <a:lstStyle/>
          <a:p>
            <a:pPr marL="0" indent="0">
              <a:buNone/>
              <a:defRPr/>
            </a:pPr>
            <a:r>
              <a:rPr lang="en-US" sz="3000" dirty="0"/>
              <a:t>What can I do so that I look for opportunities rather than difficulties?</a:t>
            </a:r>
          </a:p>
          <a:p>
            <a:pPr>
              <a:defRPr/>
            </a:pPr>
            <a:endParaRPr lang="en-US" sz="3000" dirty="0"/>
          </a:p>
        </p:txBody>
      </p:sp>
      <p:sp>
        <p:nvSpPr>
          <p:cNvPr id="915459" name="Footer Placeholder 3">
            <a:extLst>
              <a:ext uri="{FF2B5EF4-FFF2-40B4-BE49-F238E27FC236}">
                <a16:creationId xmlns:a16="http://schemas.microsoft.com/office/drawing/2014/main" id="{3475034E-1FE7-4ADB-9779-ADFFC5C287D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15460" name="Slide Number Placeholder 4">
            <a:extLst>
              <a:ext uri="{FF2B5EF4-FFF2-40B4-BE49-F238E27FC236}">
                <a16:creationId xmlns:a16="http://schemas.microsoft.com/office/drawing/2014/main" id="{9FB3481C-3728-4C45-8FE3-77EB18F26AE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30</a:t>
            </a:r>
          </a:p>
        </p:txBody>
      </p:sp>
      <p:pic>
        <p:nvPicPr>
          <p:cNvPr id="915461" name="Picture 2" descr="C:\Users\thomasn\Pictures\Thinkstock hmpix4\Thinkstock Nancy\people\Optimism\200367324-001.jpg">
            <a:extLst>
              <a:ext uri="{FF2B5EF4-FFF2-40B4-BE49-F238E27FC236}">
                <a16:creationId xmlns:a16="http://schemas.microsoft.com/office/drawing/2014/main" id="{6D731145-1F32-4D19-8501-429478B4F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4989" y="838200"/>
            <a:ext cx="3551237" cy="524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Content Placeholder 2">
            <a:extLst>
              <a:ext uri="{FF2B5EF4-FFF2-40B4-BE49-F238E27FC236}">
                <a16:creationId xmlns:a16="http://schemas.microsoft.com/office/drawing/2014/main" id="{7B815CD0-E88F-40B8-A585-C53BB3652432}"/>
              </a:ext>
            </a:extLst>
          </p:cNvPr>
          <p:cNvSpPr>
            <a:spLocks noGrp="1" noChangeArrowheads="1"/>
          </p:cNvSpPr>
          <p:nvPr>
            <p:ph idx="1"/>
          </p:nvPr>
        </p:nvSpPr>
        <p:spPr>
          <a:xfrm>
            <a:off x="1981200" y="1143000"/>
            <a:ext cx="4419600" cy="4648200"/>
          </a:xfrm>
        </p:spPr>
        <p:txBody>
          <a:bodyPr/>
          <a:lstStyle/>
          <a:p>
            <a:pPr marL="0" indent="0">
              <a:spcAft>
                <a:spcPct val="0"/>
              </a:spcAft>
              <a:buNone/>
            </a:pPr>
            <a:r>
              <a:rPr lang="en-US" altLang="fr-FR"/>
              <a:t>When was the last time I experienced genuine, relaxing laughter, so that my lungs got exercise and my whole body did a little internal jogging?</a:t>
            </a:r>
          </a:p>
          <a:p>
            <a:pPr marL="0" indent="0">
              <a:spcAft>
                <a:spcPct val="0"/>
              </a:spcAft>
              <a:buNone/>
            </a:pPr>
            <a:endParaRPr lang="en-US" altLang="fr-FR"/>
          </a:p>
          <a:p>
            <a:pPr marL="0" indent="0">
              <a:spcAft>
                <a:spcPct val="0"/>
              </a:spcAft>
              <a:buNone/>
            </a:pPr>
            <a:r>
              <a:rPr lang="en-US" altLang="fr-FR"/>
              <a:t>What triggered this event?</a:t>
            </a:r>
          </a:p>
        </p:txBody>
      </p:sp>
      <p:sp>
        <p:nvSpPr>
          <p:cNvPr id="917507" name="Footer Placeholder 3">
            <a:extLst>
              <a:ext uri="{FF2B5EF4-FFF2-40B4-BE49-F238E27FC236}">
                <a16:creationId xmlns:a16="http://schemas.microsoft.com/office/drawing/2014/main" id="{CFC53B67-6D65-4F33-B175-716FF6CDC06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17508" name="Slide Number Placeholder 4">
            <a:extLst>
              <a:ext uri="{FF2B5EF4-FFF2-40B4-BE49-F238E27FC236}">
                <a16:creationId xmlns:a16="http://schemas.microsoft.com/office/drawing/2014/main" id="{8542A604-1265-4284-B1D7-EE9115FC992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31</a:t>
            </a:r>
          </a:p>
        </p:txBody>
      </p:sp>
      <p:pic>
        <p:nvPicPr>
          <p:cNvPr id="917509" name="Picture 2" descr="C:\Users\thomasn\Pictures\Thinkstock hmpix4\Thinkstock Nancy\people\Optimism\200313650-001.jpg">
            <a:extLst>
              <a:ext uri="{FF2B5EF4-FFF2-40B4-BE49-F238E27FC236}">
                <a16:creationId xmlns:a16="http://schemas.microsoft.com/office/drawing/2014/main" id="{B0FAD890-7ACB-4910-BC42-B517965BD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3600" y="1066801"/>
            <a:ext cx="3149600" cy="494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E072B-CC64-4C69-BDFC-9801E7BF0004}"/>
              </a:ext>
            </a:extLst>
          </p:cNvPr>
          <p:cNvSpPr>
            <a:spLocks noGrp="1"/>
          </p:cNvSpPr>
          <p:nvPr>
            <p:ph idx="1"/>
          </p:nvPr>
        </p:nvSpPr>
        <p:spPr>
          <a:xfrm>
            <a:off x="1981200" y="1524000"/>
            <a:ext cx="4611688" cy="3733800"/>
          </a:xfrm>
        </p:spPr>
        <p:txBody>
          <a:bodyPr rtlCol="0">
            <a:normAutofit/>
          </a:bodyPr>
          <a:lstStyle/>
          <a:p>
            <a:pPr marL="0" indent="0">
              <a:buNone/>
              <a:defRPr/>
            </a:pPr>
            <a:r>
              <a:rPr lang="en-US" sz="3000" dirty="0"/>
              <a:t>What choices will put me in this situation more often? </a:t>
            </a:r>
          </a:p>
          <a:p>
            <a:pPr marL="0" indent="0">
              <a:buNone/>
              <a:defRPr/>
            </a:pPr>
            <a:endParaRPr lang="en-US" sz="3000" dirty="0"/>
          </a:p>
          <a:p>
            <a:pPr marL="0" indent="0">
              <a:buNone/>
              <a:defRPr/>
            </a:pPr>
            <a:r>
              <a:rPr lang="en-US" sz="3000" dirty="0"/>
              <a:t>How do I make wise decisions in the choice of my friends, what I view on TV, what I read? </a:t>
            </a:r>
          </a:p>
          <a:p>
            <a:pPr>
              <a:defRPr/>
            </a:pPr>
            <a:endParaRPr lang="en-US" sz="3000" dirty="0"/>
          </a:p>
        </p:txBody>
      </p:sp>
      <p:sp>
        <p:nvSpPr>
          <p:cNvPr id="919555" name="Footer Placeholder 3">
            <a:extLst>
              <a:ext uri="{FF2B5EF4-FFF2-40B4-BE49-F238E27FC236}">
                <a16:creationId xmlns:a16="http://schemas.microsoft.com/office/drawing/2014/main" id="{50A6B4FF-6F5B-4C34-83F0-308ACDE18DB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19556" name="Slide Number Placeholder 4">
            <a:extLst>
              <a:ext uri="{FF2B5EF4-FFF2-40B4-BE49-F238E27FC236}">
                <a16:creationId xmlns:a16="http://schemas.microsoft.com/office/drawing/2014/main" id="{13C62683-46D8-4233-89C9-160E5FBF6EC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32</a:t>
            </a:r>
          </a:p>
        </p:txBody>
      </p:sp>
      <p:pic>
        <p:nvPicPr>
          <p:cNvPr id="919557" name="Picture 2" descr="C:\Users\thomasn\Pictures\Thinkstock hmpix4\Thinkstock Nancy\people\Optimism\80467667.jpg">
            <a:extLst>
              <a:ext uri="{FF2B5EF4-FFF2-40B4-BE49-F238E27FC236}">
                <a16:creationId xmlns:a16="http://schemas.microsoft.com/office/drawing/2014/main" id="{A6CAB5A7-9EF7-43BF-ABE0-C5739F526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2888" y="1143001"/>
            <a:ext cx="4292600" cy="437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D016EC-BC58-435F-A604-76C87E757A01}"/>
              </a:ext>
            </a:extLst>
          </p:cNvPr>
          <p:cNvSpPr>
            <a:spLocks noGrp="1"/>
          </p:cNvSpPr>
          <p:nvPr>
            <p:ph idx="1"/>
          </p:nvPr>
        </p:nvSpPr>
        <p:spPr>
          <a:xfrm>
            <a:off x="2057400" y="1981200"/>
            <a:ext cx="3352800" cy="2743200"/>
          </a:xfrm>
        </p:spPr>
        <p:txBody>
          <a:bodyPr rtlCol="0">
            <a:normAutofit/>
          </a:bodyPr>
          <a:lstStyle/>
          <a:p>
            <a:pPr marL="0" indent="0">
              <a:buNone/>
              <a:defRPr/>
            </a:pPr>
            <a:r>
              <a:rPr lang="en-US" sz="3000" dirty="0"/>
              <a:t>How can I adjust my view of God, so that I can be joyful without feeling guilty?</a:t>
            </a:r>
          </a:p>
          <a:p>
            <a:pPr>
              <a:defRPr/>
            </a:pPr>
            <a:endParaRPr lang="en-US" sz="3000" dirty="0"/>
          </a:p>
        </p:txBody>
      </p:sp>
      <p:sp>
        <p:nvSpPr>
          <p:cNvPr id="921603" name="Footer Placeholder 3">
            <a:extLst>
              <a:ext uri="{FF2B5EF4-FFF2-40B4-BE49-F238E27FC236}">
                <a16:creationId xmlns:a16="http://schemas.microsoft.com/office/drawing/2014/main" id="{09DB29A8-32DD-4A74-B379-410D2AC288A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21604" name="Slide Number Placeholder 4">
            <a:extLst>
              <a:ext uri="{FF2B5EF4-FFF2-40B4-BE49-F238E27FC236}">
                <a16:creationId xmlns:a16="http://schemas.microsoft.com/office/drawing/2014/main" id="{CAD0BBAC-84B9-4F5F-9939-D64358F6F19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33</a:t>
            </a:r>
          </a:p>
        </p:txBody>
      </p:sp>
      <p:pic>
        <p:nvPicPr>
          <p:cNvPr id="921605" name="Picture 2" descr="C:\Users\thomasn\Pictures\Thinkstock hmpix4\Thinkstock Nancy\people\Optimism\80467667.jpg">
            <a:extLst>
              <a:ext uri="{FF2B5EF4-FFF2-40B4-BE49-F238E27FC236}">
                <a16:creationId xmlns:a16="http://schemas.microsoft.com/office/drawing/2014/main" id="{F8D51E0D-078E-4FE8-8A98-2838E18C3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747714"/>
            <a:ext cx="5018088" cy="511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Content Placeholder 2">
            <a:extLst>
              <a:ext uri="{FF2B5EF4-FFF2-40B4-BE49-F238E27FC236}">
                <a16:creationId xmlns:a16="http://schemas.microsoft.com/office/drawing/2014/main" id="{B72569CA-C4DA-4A7E-AB52-CD76AB9BC048}"/>
              </a:ext>
            </a:extLst>
          </p:cNvPr>
          <p:cNvSpPr>
            <a:spLocks noGrp="1" noChangeArrowheads="1"/>
          </p:cNvSpPr>
          <p:nvPr>
            <p:ph idx="1"/>
          </p:nvPr>
        </p:nvSpPr>
        <p:spPr>
          <a:xfrm>
            <a:off x="1981200" y="914401"/>
            <a:ext cx="3810000" cy="5059363"/>
          </a:xfrm>
        </p:spPr>
        <p:txBody>
          <a:bodyPr/>
          <a:lstStyle/>
          <a:p>
            <a:pPr marL="0" indent="0">
              <a:buNone/>
            </a:pPr>
            <a:r>
              <a:rPr lang="en-US" altLang="fr-FR" sz="3000"/>
              <a:t>How can I nurture positive thoughts and emotions about people and situations?</a:t>
            </a:r>
          </a:p>
          <a:p>
            <a:pPr marL="0" indent="0">
              <a:buNone/>
            </a:pPr>
            <a:r>
              <a:rPr lang="en-US" altLang="fr-FR" sz="3000"/>
              <a:t> </a:t>
            </a:r>
          </a:p>
          <a:p>
            <a:pPr marL="0" indent="0">
              <a:buNone/>
            </a:pPr>
            <a:r>
              <a:rPr lang="en-US" altLang="fr-FR" sz="3000"/>
              <a:t>How can I balance the bad news I hear with the good news of the gospel?</a:t>
            </a:r>
          </a:p>
        </p:txBody>
      </p:sp>
      <p:sp>
        <p:nvSpPr>
          <p:cNvPr id="923651" name="Footer Placeholder 3">
            <a:extLst>
              <a:ext uri="{FF2B5EF4-FFF2-40B4-BE49-F238E27FC236}">
                <a16:creationId xmlns:a16="http://schemas.microsoft.com/office/drawing/2014/main" id="{5AD56655-2195-4A7E-968C-B6795C5DDAF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23652" name="Slide Number Placeholder 4">
            <a:extLst>
              <a:ext uri="{FF2B5EF4-FFF2-40B4-BE49-F238E27FC236}">
                <a16:creationId xmlns:a16="http://schemas.microsoft.com/office/drawing/2014/main" id="{67DC18C4-35B7-4F10-9171-42A43BCE0DA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34</a:t>
            </a:r>
          </a:p>
        </p:txBody>
      </p:sp>
      <p:pic>
        <p:nvPicPr>
          <p:cNvPr id="923653" name="Picture 2" descr="C:\Users\thomasn\Pictures\Thinkstock hmpix4\Thinkstock Nancy\people\123105190.jpg">
            <a:extLst>
              <a:ext uri="{FF2B5EF4-FFF2-40B4-BE49-F238E27FC236}">
                <a16:creationId xmlns:a16="http://schemas.microsoft.com/office/drawing/2014/main" id="{FE06EE19-3C66-4433-8DA1-D77B88383C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1" y="1752601"/>
            <a:ext cx="4060825"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D65855-318F-4F5A-B2A1-6F5343D195F5}"/>
              </a:ext>
            </a:extLst>
          </p:cNvPr>
          <p:cNvSpPr>
            <a:spLocks noGrp="1"/>
          </p:cNvSpPr>
          <p:nvPr>
            <p:ph idx="1"/>
          </p:nvPr>
        </p:nvSpPr>
        <p:spPr>
          <a:xfrm>
            <a:off x="2133600" y="1143000"/>
            <a:ext cx="3429000" cy="4419600"/>
          </a:xfrm>
        </p:spPr>
        <p:txBody>
          <a:bodyPr rtlCol="0">
            <a:normAutofit/>
          </a:bodyPr>
          <a:lstStyle/>
          <a:p>
            <a:pPr marL="0" indent="0">
              <a:buNone/>
              <a:defRPr/>
            </a:pPr>
            <a:r>
              <a:rPr lang="en-US" sz="3000" dirty="0"/>
              <a:t>Do the stories I read or the movies I watch give me confidence that God is in control and working toward the salvation of the world and a better world to come?</a:t>
            </a:r>
          </a:p>
          <a:p>
            <a:pPr>
              <a:defRPr/>
            </a:pPr>
            <a:endParaRPr lang="en-US" sz="3000" dirty="0"/>
          </a:p>
        </p:txBody>
      </p:sp>
      <p:sp>
        <p:nvSpPr>
          <p:cNvPr id="925699" name="Footer Placeholder 3">
            <a:extLst>
              <a:ext uri="{FF2B5EF4-FFF2-40B4-BE49-F238E27FC236}">
                <a16:creationId xmlns:a16="http://schemas.microsoft.com/office/drawing/2014/main" id="{B4AC5567-A798-499E-B7CB-2D94E56BBD7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925700" name="Slide Number Placeholder 4">
            <a:extLst>
              <a:ext uri="{FF2B5EF4-FFF2-40B4-BE49-F238E27FC236}">
                <a16:creationId xmlns:a16="http://schemas.microsoft.com/office/drawing/2014/main" id="{6499B9FB-5CA7-4DAE-80FE-CF145D8BE29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Optimism  35</a:t>
            </a:r>
          </a:p>
        </p:txBody>
      </p:sp>
      <p:pic>
        <p:nvPicPr>
          <p:cNvPr id="925701" name="Picture 2" descr="C:\Users\thomasn\Pictures\Thinkstock hmpix4\Thinkstock Nancy\people\121202380.jpg">
            <a:extLst>
              <a:ext uri="{FF2B5EF4-FFF2-40B4-BE49-F238E27FC236}">
                <a16:creationId xmlns:a16="http://schemas.microsoft.com/office/drawing/2014/main" id="{AC8DBE8D-95AC-4DB2-BEA0-D4844FFAC3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838200"/>
            <a:ext cx="4724400" cy="440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2694</Words>
  <Application>Microsoft Office PowerPoint</Application>
  <PresentationFormat>Widescreen</PresentationFormat>
  <Paragraphs>222</Paragraphs>
  <Slides>35</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MS PGothic</vt:lpstr>
      <vt:lpstr>Arial</vt:lpstr>
      <vt:lpstr>Bernard MT Condensed</vt:lpstr>
      <vt:lpstr>Calibri</vt:lpstr>
      <vt:lpstr>Calibri Light</vt:lpstr>
      <vt:lpstr>Humanst521 BT</vt:lpstr>
      <vt:lpstr>Thème Office</vt:lpstr>
      <vt:lpstr>Optimism</vt:lpstr>
      <vt:lpstr>Rockfall</vt:lpstr>
      <vt:lpstr>Rockfall</vt:lpstr>
      <vt:lpstr>Camp Hope</vt:lpstr>
      <vt:lpstr>The impetus to keep going</vt:lpstr>
      <vt:lpstr>Defining optimism</vt:lpstr>
      <vt:lpstr>Two looking out the same window  see different things</vt:lpstr>
      <vt:lpstr>PowerPoint Presentation</vt:lpstr>
      <vt:lpstr>Hope without healing?</vt:lpstr>
      <vt:lpstr>Many in need  choose to be optimistic</vt:lpstr>
      <vt:lpstr> The brain is able to  signal cheerful thoughts</vt:lpstr>
      <vt:lpstr>Laughter is good medicine</vt:lpstr>
      <vt:lpstr>“A cheerful heart is good medicine”</vt:lpstr>
      <vt:lpstr>Laughter produces endorphins</vt:lpstr>
      <vt:lpstr>A positive attitude can be cultivated</vt:lpstr>
      <vt:lpstr>Positive thoughts</vt:lpstr>
      <vt:lpstr>Summing up optimism</vt:lpstr>
      <vt:lpstr>PowerPoint Presentation</vt:lpstr>
      <vt:lpstr>PowerPoint Presentation</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Optimism</dc:title>
  <dc:creator>Vieira Muzola</dc:creator>
  <cp:lastModifiedBy>Windows User</cp:lastModifiedBy>
  <cp:revision>1</cp:revision>
  <dcterms:created xsi:type="dcterms:W3CDTF">2020-04-03T11:12:05Z</dcterms:created>
  <dcterms:modified xsi:type="dcterms:W3CDTF">2020-04-29T08:13:49Z</dcterms:modified>
</cp:coreProperties>
</file>