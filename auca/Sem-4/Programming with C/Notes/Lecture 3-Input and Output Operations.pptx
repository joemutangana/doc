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7" r:id="rId9"/>
    <p:sldId id="263" r:id="rId10"/>
    <p:sldId id="269" r:id="rId11"/>
    <p:sldId id="268" r:id="rId12"/>
    <p:sldId id="272" r:id="rId13"/>
    <p:sldId id="270" r:id="rId14"/>
    <p:sldId id="273" r:id="rId15"/>
    <p:sldId id="274" r:id="rId16"/>
    <p:sldId id="275" r:id="rId17"/>
    <p:sldId id="276" r:id="rId18"/>
    <p:sldId id="277" r:id="rId19"/>
    <p:sldId id="279" r:id="rId20"/>
    <p:sldId id="278" r:id="rId21"/>
    <p:sldId id="271" r:id="rId22"/>
    <p:sldId id="280" r:id="rId23"/>
    <p:sldId id="282" r:id="rId24"/>
    <p:sldId id="281" r:id="rId25"/>
    <p:sldId id="283" r:id="rId26"/>
    <p:sldId id="284" r:id="rId27"/>
    <p:sldId id="286" r:id="rId28"/>
    <p:sldId id="287" r:id="rId29"/>
    <p:sldId id="288" r:id="rId30"/>
    <p:sldId id="289" r:id="rId31"/>
    <p:sldId id="290" r:id="rId32"/>
    <p:sldId id="292" r:id="rId33"/>
    <p:sldId id="291" r:id="rId34"/>
    <p:sldId id="294" r:id="rId35"/>
    <p:sldId id="293" r:id="rId36"/>
    <p:sldId id="296" r:id="rId37"/>
    <p:sldId id="297" r:id="rId38"/>
    <p:sldId id="298" r:id="rId39"/>
    <p:sldId id="295" r:id="rId40"/>
    <p:sldId id="300" r:id="rId41"/>
    <p:sldId id="301" r:id="rId42"/>
    <p:sldId id="302" r:id="rId4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p:scale>
          <a:sx n="100" d="100"/>
          <a:sy n="100" d="100"/>
        </p:scale>
        <p:origin x="14" y="-2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GB"/>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GB"/>
          </a:p>
        </p:txBody>
      </p:sp>
      <p:sp>
        <p:nvSpPr>
          <p:cNvPr id="4" name="Date Placeholder 3"/>
          <p:cNvSpPr>
            <a:spLocks noGrp="1"/>
          </p:cNvSpPr>
          <p:nvPr>
            <p:ph type="dt" sz="half" idx="10"/>
          </p:nvPr>
        </p:nvSpPr>
        <p:spPr/>
        <p:txBody>
          <a:bodyPr/>
          <a:lstStyle/>
          <a:p>
            <a:fld id="{5433FFFB-083D-4011-B2B4-DDEB3FC9489F}" type="datetimeFigureOut">
              <a:rPr lang="en-GB" smtClean="0"/>
              <a:t>13/02/2026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3699534-7081-4EE3-B6E8-E8941BDC86FB}" type="slidenum">
              <a:rPr lang="en-GB" smtClean="0"/>
              <a:t>‹#›</a:t>
            </a:fld>
            <a:endParaRPr lang="en-GB"/>
          </a:p>
        </p:txBody>
      </p:sp>
    </p:spTree>
    <p:extLst>
      <p:ext uri="{BB962C8B-B14F-4D97-AF65-F5344CB8AC3E}">
        <p14:creationId xmlns:p14="http://schemas.microsoft.com/office/powerpoint/2010/main" val="5558648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5433FFFB-083D-4011-B2B4-DDEB3FC9489F}" type="datetimeFigureOut">
              <a:rPr lang="en-GB" smtClean="0"/>
              <a:t>13/02/2026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3699534-7081-4EE3-B6E8-E8941BDC86FB}" type="slidenum">
              <a:rPr lang="en-GB" smtClean="0"/>
              <a:t>‹#›</a:t>
            </a:fld>
            <a:endParaRPr lang="en-GB"/>
          </a:p>
        </p:txBody>
      </p:sp>
    </p:spTree>
    <p:extLst>
      <p:ext uri="{BB962C8B-B14F-4D97-AF65-F5344CB8AC3E}">
        <p14:creationId xmlns:p14="http://schemas.microsoft.com/office/powerpoint/2010/main" val="25241894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GB"/>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433FFFB-083D-4011-B2B4-DDEB3FC9489F}" type="datetimeFigureOut">
              <a:rPr lang="en-GB" smtClean="0"/>
              <a:t>13/02/2026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3699534-7081-4EE3-B6E8-E8941BDC86FB}" type="slidenum">
              <a:rPr lang="en-GB" smtClean="0"/>
              <a:t>‹#›</a:t>
            </a:fld>
            <a:endParaRPr lang="en-GB"/>
          </a:p>
        </p:txBody>
      </p:sp>
    </p:spTree>
    <p:extLst>
      <p:ext uri="{BB962C8B-B14F-4D97-AF65-F5344CB8AC3E}">
        <p14:creationId xmlns:p14="http://schemas.microsoft.com/office/powerpoint/2010/main" val="4858500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Date Placeholder 4"/>
          <p:cNvSpPr>
            <a:spLocks noGrp="1"/>
          </p:cNvSpPr>
          <p:nvPr>
            <p:ph type="dt" sz="half" idx="10"/>
          </p:nvPr>
        </p:nvSpPr>
        <p:spPr/>
        <p:txBody>
          <a:bodyPr/>
          <a:lstStyle/>
          <a:p>
            <a:fld id="{5433FFFB-083D-4011-B2B4-DDEB3FC9489F}" type="datetimeFigureOut">
              <a:rPr lang="en-GB" smtClean="0"/>
              <a:t>13/02/2026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23699534-7081-4EE3-B6E8-E8941BDC86FB}" type="slidenum">
              <a:rPr lang="en-GB" smtClean="0"/>
              <a:t>‹#›</a:t>
            </a:fld>
            <a:endParaRPr lang="en-GB"/>
          </a:p>
        </p:txBody>
      </p:sp>
    </p:spTree>
    <p:extLst>
      <p:ext uri="{BB962C8B-B14F-4D97-AF65-F5344CB8AC3E}">
        <p14:creationId xmlns:p14="http://schemas.microsoft.com/office/powerpoint/2010/main" val="32377902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GB"/>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Date Placeholder 6"/>
          <p:cNvSpPr>
            <a:spLocks noGrp="1"/>
          </p:cNvSpPr>
          <p:nvPr>
            <p:ph type="dt" sz="half" idx="10"/>
          </p:nvPr>
        </p:nvSpPr>
        <p:spPr/>
        <p:txBody>
          <a:bodyPr/>
          <a:lstStyle/>
          <a:p>
            <a:fld id="{5433FFFB-083D-4011-B2B4-DDEB3FC9489F}" type="datetimeFigureOut">
              <a:rPr lang="en-GB" smtClean="0"/>
              <a:t>13/02/2026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23699534-7081-4EE3-B6E8-E8941BDC86FB}" type="slidenum">
              <a:rPr lang="en-GB" smtClean="0"/>
              <a:t>‹#›</a:t>
            </a:fld>
            <a:endParaRPr lang="en-GB"/>
          </a:p>
        </p:txBody>
      </p:sp>
    </p:spTree>
    <p:extLst>
      <p:ext uri="{BB962C8B-B14F-4D97-AF65-F5344CB8AC3E}">
        <p14:creationId xmlns:p14="http://schemas.microsoft.com/office/powerpoint/2010/main" val="18469373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Date Placeholder 2"/>
          <p:cNvSpPr>
            <a:spLocks noGrp="1"/>
          </p:cNvSpPr>
          <p:nvPr>
            <p:ph type="dt" sz="half" idx="10"/>
          </p:nvPr>
        </p:nvSpPr>
        <p:spPr/>
        <p:txBody>
          <a:bodyPr/>
          <a:lstStyle/>
          <a:p>
            <a:fld id="{5433FFFB-083D-4011-B2B4-DDEB3FC9489F}" type="datetimeFigureOut">
              <a:rPr lang="en-GB" smtClean="0"/>
              <a:t>13/02/2026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23699534-7081-4EE3-B6E8-E8941BDC86FB}" type="slidenum">
              <a:rPr lang="en-GB" smtClean="0"/>
              <a:t>‹#›</a:t>
            </a:fld>
            <a:endParaRPr lang="en-GB"/>
          </a:p>
        </p:txBody>
      </p:sp>
    </p:spTree>
    <p:extLst>
      <p:ext uri="{BB962C8B-B14F-4D97-AF65-F5344CB8AC3E}">
        <p14:creationId xmlns:p14="http://schemas.microsoft.com/office/powerpoint/2010/main" val="13568991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433FFFB-083D-4011-B2B4-DDEB3FC9489F}" type="datetimeFigureOut">
              <a:rPr lang="en-GB" smtClean="0"/>
              <a:t>13/02/2026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23699534-7081-4EE3-B6E8-E8941BDC86FB}" type="slidenum">
              <a:rPr lang="en-GB" smtClean="0"/>
              <a:t>‹#›</a:t>
            </a:fld>
            <a:endParaRPr lang="en-GB"/>
          </a:p>
        </p:txBody>
      </p:sp>
    </p:spTree>
    <p:extLst>
      <p:ext uri="{BB962C8B-B14F-4D97-AF65-F5344CB8AC3E}">
        <p14:creationId xmlns:p14="http://schemas.microsoft.com/office/powerpoint/2010/main" val="34178149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GB"/>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433FFFB-083D-4011-B2B4-DDEB3FC9489F}" type="datetimeFigureOut">
              <a:rPr lang="en-GB" smtClean="0"/>
              <a:t>13/02/2026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23699534-7081-4EE3-B6E8-E8941BDC86FB}" type="slidenum">
              <a:rPr lang="en-GB" smtClean="0"/>
              <a:t>‹#›</a:t>
            </a:fld>
            <a:endParaRPr lang="en-GB"/>
          </a:p>
        </p:txBody>
      </p:sp>
    </p:spTree>
    <p:extLst>
      <p:ext uri="{BB962C8B-B14F-4D97-AF65-F5344CB8AC3E}">
        <p14:creationId xmlns:p14="http://schemas.microsoft.com/office/powerpoint/2010/main" val="21996236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GB"/>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433FFFB-083D-4011-B2B4-DDEB3FC9489F}" type="datetimeFigureOut">
              <a:rPr lang="en-GB" smtClean="0"/>
              <a:t>13/02/2026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23699534-7081-4EE3-B6E8-E8941BDC86FB}" type="slidenum">
              <a:rPr lang="en-GB" smtClean="0"/>
              <a:t>‹#›</a:t>
            </a:fld>
            <a:endParaRPr lang="en-GB"/>
          </a:p>
        </p:txBody>
      </p:sp>
    </p:spTree>
    <p:extLst>
      <p:ext uri="{BB962C8B-B14F-4D97-AF65-F5344CB8AC3E}">
        <p14:creationId xmlns:p14="http://schemas.microsoft.com/office/powerpoint/2010/main" val="8161657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5433FFFB-083D-4011-B2B4-DDEB3FC9489F}" type="datetimeFigureOut">
              <a:rPr lang="en-GB" smtClean="0"/>
              <a:t>13/02/2026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3699534-7081-4EE3-B6E8-E8941BDC86FB}" type="slidenum">
              <a:rPr lang="en-GB" smtClean="0"/>
              <a:t>‹#›</a:t>
            </a:fld>
            <a:endParaRPr lang="en-GB"/>
          </a:p>
        </p:txBody>
      </p:sp>
    </p:spTree>
    <p:extLst>
      <p:ext uri="{BB962C8B-B14F-4D97-AF65-F5344CB8AC3E}">
        <p14:creationId xmlns:p14="http://schemas.microsoft.com/office/powerpoint/2010/main" val="34265270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5433FFFB-083D-4011-B2B4-DDEB3FC9489F}" type="datetimeFigureOut">
              <a:rPr lang="en-GB" smtClean="0"/>
              <a:t>13/02/2026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3699534-7081-4EE3-B6E8-E8941BDC86FB}" type="slidenum">
              <a:rPr lang="en-GB" smtClean="0"/>
              <a:t>‹#›</a:t>
            </a:fld>
            <a:endParaRPr lang="en-GB"/>
          </a:p>
        </p:txBody>
      </p:sp>
    </p:spTree>
    <p:extLst>
      <p:ext uri="{BB962C8B-B14F-4D97-AF65-F5344CB8AC3E}">
        <p14:creationId xmlns:p14="http://schemas.microsoft.com/office/powerpoint/2010/main" val="19870491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GB"/>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433FFFB-083D-4011-B2B4-DDEB3FC9489F}" type="datetimeFigureOut">
              <a:rPr lang="en-GB" smtClean="0"/>
              <a:t>13/02/2026</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3699534-7081-4EE3-B6E8-E8941BDC86FB}" type="slidenum">
              <a:rPr lang="en-GB" smtClean="0"/>
              <a:t>‹#›</a:t>
            </a:fld>
            <a:endParaRPr lang="en-GB"/>
          </a:p>
        </p:txBody>
      </p:sp>
    </p:spTree>
    <p:extLst>
      <p:ext uri="{BB962C8B-B14F-4D97-AF65-F5344CB8AC3E}">
        <p14:creationId xmlns:p14="http://schemas.microsoft.com/office/powerpoint/2010/main" val="187816837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524000" y="452846"/>
            <a:ext cx="9144000" cy="6008914"/>
          </a:xfrm>
        </p:spPr>
        <p:txBody>
          <a:bodyPr>
            <a:normAutofit/>
          </a:bodyPr>
          <a:lstStyle/>
          <a:p>
            <a:r>
              <a:rPr lang="en-GB" sz="4000" dirty="0" smtClean="0">
                <a:solidFill>
                  <a:srgbClr val="023182"/>
                </a:solidFill>
                <a:latin typeface="Times New Roman"/>
                <a:ea typeface="Times New Roman"/>
                <a:cs typeface="Times New Roman"/>
                <a:sym typeface="Times New Roman"/>
              </a:rPr>
              <a:t>Programming with C</a:t>
            </a:r>
            <a:r>
              <a:rPr lang="en" sz="3200" dirty="0" smtClean="0">
                <a:solidFill>
                  <a:srgbClr val="023182"/>
                </a:solidFill>
                <a:latin typeface="Times New Roman"/>
                <a:ea typeface="Times New Roman"/>
                <a:cs typeface="Times New Roman"/>
                <a:sym typeface="Times New Roman"/>
              </a:rPr>
              <a:t/>
            </a:r>
            <a:br>
              <a:rPr lang="en" sz="3200" dirty="0" smtClean="0">
                <a:solidFill>
                  <a:srgbClr val="023182"/>
                </a:solidFill>
                <a:latin typeface="Times New Roman"/>
                <a:ea typeface="Times New Roman"/>
                <a:cs typeface="Times New Roman"/>
                <a:sym typeface="Times New Roman"/>
              </a:rPr>
            </a:br>
            <a:r>
              <a:rPr lang="en" sz="3200" dirty="0" smtClean="0">
                <a:solidFill>
                  <a:srgbClr val="023182"/>
                </a:solidFill>
                <a:latin typeface="Times New Roman"/>
                <a:ea typeface="Times New Roman"/>
                <a:cs typeface="Times New Roman"/>
                <a:sym typeface="Times New Roman"/>
              </a:rPr>
              <a:t/>
            </a:r>
            <a:br>
              <a:rPr lang="en" sz="3200" dirty="0" smtClean="0">
                <a:solidFill>
                  <a:srgbClr val="023182"/>
                </a:solidFill>
                <a:latin typeface="Times New Roman"/>
                <a:ea typeface="Times New Roman"/>
                <a:cs typeface="Times New Roman"/>
                <a:sym typeface="Times New Roman"/>
              </a:rPr>
            </a:br>
            <a:endParaRPr lang="en" sz="3200" dirty="0" smtClean="0">
              <a:solidFill>
                <a:srgbClr val="023182"/>
              </a:solidFill>
              <a:latin typeface="Times New Roman"/>
              <a:ea typeface="Times New Roman"/>
              <a:cs typeface="Times New Roman"/>
              <a:sym typeface="Times New Roman"/>
            </a:endParaRPr>
          </a:p>
          <a:p>
            <a:r>
              <a:rPr lang="en" sz="3200" dirty="0" smtClean="0">
                <a:solidFill>
                  <a:srgbClr val="023182"/>
                </a:solidFill>
                <a:latin typeface="Times New Roman"/>
                <a:ea typeface="Times New Roman"/>
                <a:cs typeface="Times New Roman"/>
                <a:sym typeface="Times New Roman"/>
              </a:rPr>
              <a:t/>
            </a:r>
            <a:br>
              <a:rPr lang="en" sz="3200" dirty="0" smtClean="0">
                <a:solidFill>
                  <a:srgbClr val="023182"/>
                </a:solidFill>
                <a:latin typeface="Times New Roman"/>
                <a:ea typeface="Times New Roman"/>
                <a:cs typeface="Times New Roman"/>
                <a:sym typeface="Times New Roman"/>
              </a:rPr>
            </a:br>
            <a:r>
              <a:rPr lang="en" sz="3200" dirty="0" smtClean="0">
                <a:solidFill>
                  <a:srgbClr val="023182"/>
                </a:solidFill>
                <a:latin typeface="Times New Roman"/>
                <a:ea typeface="Times New Roman"/>
                <a:cs typeface="Times New Roman"/>
                <a:sym typeface="Times New Roman"/>
              </a:rPr>
              <a:t/>
            </a:r>
            <a:br>
              <a:rPr lang="en" sz="3200" dirty="0" smtClean="0">
                <a:solidFill>
                  <a:srgbClr val="023182"/>
                </a:solidFill>
                <a:latin typeface="Times New Roman"/>
                <a:ea typeface="Times New Roman"/>
                <a:cs typeface="Times New Roman"/>
                <a:sym typeface="Times New Roman"/>
              </a:rPr>
            </a:br>
            <a:endParaRPr lang="en" sz="3200" dirty="0" smtClean="0">
              <a:solidFill>
                <a:srgbClr val="023182"/>
              </a:solidFill>
              <a:latin typeface="Times New Roman"/>
              <a:ea typeface="Times New Roman"/>
              <a:cs typeface="Times New Roman"/>
              <a:sym typeface="Times New Roman"/>
            </a:endParaRPr>
          </a:p>
          <a:p>
            <a:r>
              <a:rPr lang="en" sz="3200" dirty="0" smtClean="0">
                <a:solidFill>
                  <a:srgbClr val="023182"/>
                </a:solidFill>
                <a:latin typeface="Times New Roman"/>
                <a:ea typeface="Times New Roman"/>
                <a:cs typeface="Times New Roman"/>
                <a:sym typeface="Times New Roman"/>
              </a:rPr>
              <a:t/>
            </a:r>
            <a:br>
              <a:rPr lang="en" sz="3200" dirty="0" smtClean="0">
                <a:solidFill>
                  <a:srgbClr val="023182"/>
                </a:solidFill>
                <a:latin typeface="Times New Roman"/>
                <a:ea typeface="Times New Roman"/>
                <a:cs typeface="Times New Roman"/>
                <a:sym typeface="Times New Roman"/>
              </a:rPr>
            </a:br>
            <a:r>
              <a:rPr lang="en-GB" dirty="0" smtClean="0">
                <a:latin typeface="Times New Roman"/>
                <a:ea typeface="Times New Roman"/>
                <a:cs typeface="Times New Roman"/>
                <a:sym typeface="Times New Roman"/>
              </a:rPr>
              <a:t>Lecturer : Odile Nzambazamariya</a:t>
            </a:r>
            <a:br>
              <a:rPr lang="en-GB" dirty="0" smtClean="0">
                <a:latin typeface="Times New Roman"/>
                <a:ea typeface="Times New Roman"/>
                <a:cs typeface="Times New Roman"/>
                <a:sym typeface="Times New Roman"/>
              </a:rPr>
            </a:br>
            <a:r>
              <a:rPr lang="en-GB" dirty="0" smtClean="0">
                <a:latin typeface="Times New Roman"/>
                <a:ea typeface="Times New Roman"/>
                <a:cs typeface="Times New Roman"/>
                <a:sym typeface="Times New Roman"/>
              </a:rPr>
              <a:t/>
            </a:r>
            <a:br>
              <a:rPr lang="en-GB" dirty="0" smtClean="0">
                <a:latin typeface="Times New Roman"/>
                <a:ea typeface="Times New Roman"/>
                <a:cs typeface="Times New Roman"/>
                <a:sym typeface="Times New Roman"/>
              </a:rPr>
            </a:br>
            <a:r>
              <a:rPr lang="en-GB" dirty="0" smtClean="0">
                <a:latin typeface="Times New Roman"/>
                <a:ea typeface="Times New Roman"/>
                <a:cs typeface="Times New Roman"/>
                <a:sym typeface="Times New Roman"/>
              </a:rPr>
              <a:t>Lecture 3: Operators in C</a:t>
            </a:r>
          </a:p>
          <a:p>
            <a:endParaRPr lang="en-GB" dirty="0" smtClean="0">
              <a:latin typeface="Times New Roman"/>
              <a:ea typeface="Times New Roman"/>
              <a:cs typeface="Times New Roman"/>
              <a:sym typeface="Times New Roman"/>
            </a:endParaRPr>
          </a:p>
          <a:p>
            <a:r>
              <a:rPr lang="en-GB" sz="3600" dirty="0" smtClean="0">
                <a:latin typeface="Times New Roman"/>
                <a:ea typeface="Times New Roman"/>
                <a:cs typeface="Times New Roman"/>
                <a:sym typeface="Times New Roman"/>
              </a:rPr>
              <a:t>Adventist University of Central Africa</a:t>
            </a:r>
            <a:endParaRPr lang="en-GB" sz="3600" dirty="0"/>
          </a:p>
        </p:txBody>
      </p:sp>
    </p:spTree>
    <p:extLst>
      <p:ext uri="{BB962C8B-B14F-4D97-AF65-F5344CB8AC3E}">
        <p14:creationId xmlns:p14="http://schemas.microsoft.com/office/powerpoint/2010/main" val="85567599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557984"/>
          </a:xfrm>
        </p:spPr>
        <p:txBody>
          <a:bodyPr>
            <a:normAutofit fontScale="90000"/>
          </a:bodyPr>
          <a:lstStyle/>
          <a:p>
            <a:r>
              <a:rPr lang="en-US" dirty="0" smtClean="0">
                <a:solidFill>
                  <a:srgbClr val="023182"/>
                </a:solidFill>
                <a:latin typeface="Times New Roman"/>
                <a:cs typeface="Times New Roman"/>
                <a:sym typeface="Times New Roman"/>
              </a:rPr>
              <a:t>Outlines</a:t>
            </a:r>
            <a:endParaRPr lang="en-GB" dirty="0"/>
          </a:p>
        </p:txBody>
      </p:sp>
      <p:sp>
        <p:nvSpPr>
          <p:cNvPr id="3" name="Content Placeholder 2"/>
          <p:cNvSpPr>
            <a:spLocks noGrp="1"/>
          </p:cNvSpPr>
          <p:nvPr>
            <p:ph idx="1"/>
          </p:nvPr>
        </p:nvSpPr>
        <p:spPr>
          <a:xfrm>
            <a:off x="838200" y="1323703"/>
            <a:ext cx="10515600" cy="4853260"/>
          </a:xfrm>
        </p:spPr>
        <p:txBody>
          <a:bodyPr/>
          <a:lstStyle/>
          <a:p>
            <a:r>
              <a:rPr lang="en-US" dirty="0" smtClean="0">
                <a:latin typeface="Times New Roman" panose="02020603050405020304" pitchFamily="18" charset="0"/>
                <a:cs typeface="Times New Roman" panose="02020603050405020304" pitchFamily="18" charset="0"/>
              </a:rPr>
              <a:t>Arithmetic operators</a:t>
            </a:r>
          </a:p>
          <a:p>
            <a:r>
              <a:rPr lang="en-GB" dirty="0" smtClean="0">
                <a:latin typeface="Times New Roman" panose="02020603050405020304" pitchFamily="18" charset="0"/>
                <a:cs typeface="Times New Roman" panose="02020603050405020304" pitchFamily="18" charset="0"/>
                <a:sym typeface="Times New Roman"/>
              </a:rPr>
              <a:t>Binary Arithmetic Operators</a:t>
            </a:r>
          </a:p>
          <a:p>
            <a:r>
              <a:rPr lang="en-GB" dirty="0" smtClean="0">
                <a:latin typeface="Times New Roman" panose="02020603050405020304" pitchFamily="18" charset="0"/>
                <a:cs typeface="Times New Roman" panose="02020603050405020304" pitchFamily="18" charset="0"/>
                <a:sym typeface="Times New Roman"/>
              </a:rPr>
              <a:t>Unary Arithmetic Operators</a:t>
            </a:r>
          </a:p>
          <a:p>
            <a:r>
              <a:rPr lang="en-US" dirty="0" smtClean="0">
                <a:latin typeface="Times New Roman" panose="02020603050405020304" pitchFamily="18" charset="0"/>
                <a:cs typeface="Times New Roman" panose="02020603050405020304" pitchFamily="18" charset="0"/>
                <a:sym typeface="Times New Roman"/>
              </a:rPr>
              <a:t>Relational Operators</a:t>
            </a:r>
          </a:p>
          <a:p>
            <a:r>
              <a:rPr lang="en-US" dirty="0" smtClean="0">
                <a:latin typeface="Times New Roman" panose="02020603050405020304" pitchFamily="18" charset="0"/>
                <a:cs typeface="Times New Roman" panose="02020603050405020304" pitchFamily="18" charset="0"/>
                <a:sym typeface="Times New Roman"/>
              </a:rPr>
              <a:t>Logical operators</a:t>
            </a:r>
          </a:p>
          <a:p>
            <a:r>
              <a:rPr lang="en-US" dirty="0" smtClean="0">
                <a:latin typeface="Times New Roman" panose="02020603050405020304" pitchFamily="18" charset="0"/>
                <a:cs typeface="Times New Roman" panose="02020603050405020304" pitchFamily="18" charset="0"/>
                <a:sym typeface="Times New Roman"/>
              </a:rPr>
              <a:t>Bitwise operators</a:t>
            </a:r>
          </a:p>
          <a:p>
            <a:r>
              <a:rPr lang="en-GB" dirty="0" smtClean="0">
                <a:latin typeface="Times New Roman" panose="02020603050405020304" pitchFamily="18" charset="0"/>
                <a:cs typeface="Times New Roman" panose="02020603050405020304" pitchFamily="18" charset="0"/>
                <a:sym typeface="Times New Roman"/>
              </a:rPr>
              <a:t>Conditional or Ternary Operator</a:t>
            </a:r>
          </a:p>
          <a:p>
            <a:r>
              <a:rPr lang="en-US" dirty="0" smtClean="0">
                <a:latin typeface="Times New Roman" panose="02020603050405020304" pitchFamily="18" charset="0"/>
                <a:cs typeface="Times New Roman" panose="02020603050405020304" pitchFamily="18" charset="0"/>
                <a:sym typeface="Times New Roman"/>
              </a:rPr>
              <a:t>Comma operator</a:t>
            </a:r>
            <a:endParaRPr lang="en-GB" dirty="0" smtClean="0">
              <a:latin typeface="Times New Roman" panose="02020603050405020304" pitchFamily="18" charset="0"/>
              <a:cs typeface="Times New Roman" panose="02020603050405020304" pitchFamily="18" charset="0"/>
              <a:sym typeface="Times New Roman"/>
            </a:endParaRPr>
          </a:p>
          <a:p>
            <a:endParaRPr lang="en-US" b="1" dirty="0" smtClean="0"/>
          </a:p>
          <a:p>
            <a:endParaRPr lang="en-GB" dirty="0"/>
          </a:p>
        </p:txBody>
      </p:sp>
    </p:spTree>
    <p:extLst>
      <p:ext uri="{BB962C8B-B14F-4D97-AF65-F5344CB8AC3E}">
        <p14:creationId xmlns:p14="http://schemas.microsoft.com/office/powerpoint/2010/main" val="224673165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592818"/>
          </a:xfrm>
        </p:spPr>
        <p:txBody>
          <a:bodyPr>
            <a:normAutofit fontScale="90000"/>
          </a:bodyPr>
          <a:lstStyle/>
          <a:p>
            <a:r>
              <a:rPr lang="en-US" dirty="0" smtClean="0">
                <a:solidFill>
                  <a:srgbClr val="023182"/>
                </a:solidFill>
                <a:latin typeface="Times New Roman"/>
                <a:cs typeface="Times New Roman"/>
                <a:sym typeface="Times New Roman"/>
              </a:rPr>
              <a:t>Arithmetic operators</a:t>
            </a:r>
            <a:endParaRPr lang="en-GB" dirty="0"/>
          </a:p>
        </p:txBody>
      </p:sp>
      <p:sp>
        <p:nvSpPr>
          <p:cNvPr id="3" name="Content Placeholder 2"/>
          <p:cNvSpPr>
            <a:spLocks noGrp="1"/>
          </p:cNvSpPr>
          <p:nvPr>
            <p:ph idx="1"/>
          </p:nvPr>
        </p:nvSpPr>
        <p:spPr/>
        <p:txBody>
          <a:bodyPr/>
          <a:lstStyle/>
          <a:p>
            <a:pPr marL="0" indent="0">
              <a:buNone/>
            </a:pPr>
            <a:r>
              <a:rPr lang="en-GB" dirty="0" smtClean="0">
                <a:latin typeface="Times New Roman" panose="02020603050405020304" pitchFamily="18" charset="0"/>
                <a:cs typeface="Times New Roman" panose="02020603050405020304" pitchFamily="18" charset="0"/>
              </a:rPr>
              <a:t>Arithmetic Operators are the type of operators in C that are used to perform mathematical operations in a C program. They can be used in programs to define expressions and mathematical formulas.</a:t>
            </a:r>
          </a:p>
          <a:p>
            <a:pPr marL="0" indent="0">
              <a:buNone/>
            </a:pPr>
            <a:endParaRPr lang="en-GB" dirty="0"/>
          </a:p>
        </p:txBody>
      </p:sp>
    </p:spTree>
    <p:extLst>
      <p:ext uri="{BB962C8B-B14F-4D97-AF65-F5344CB8AC3E}">
        <p14:creationId xmlns:p14="http://schemas.microsoft.com/office/powerpoint/2010/main" val="67678982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32155"/>
          </a:xfrm>
        </p:spPr>
        <p:txBody>
          <a:bodyPr/>
          <a:lstStyle/>
          <a:p>
            <a:r>
              <a:rPr lang="en-GB" dirty="0" smtClean="0">
                <a:solidFill>
                  <a:srgbClr val="023182"/>
                </a:solidFill>
                <a:latin typeface="Times New Roman"/>
                <a:cs typeface="Times New Roman"/>
                <a:sym typeface="Times New Roman"/>
              </a:rPr>
              <a:t>Types of Arithmetic Operators </a:t>
            </a:r>
            <a:endParaRPr lang="en-GB" dirty="0"/>
          </a:p>
        </p:txBody>
      </p:sp>
      <p:sp>
        <p:nvSpPr>
          <p:cNvPr id="3" name="Content Placeholder 2"/>
          <p:cNvSpPr>
            <a:spLocks noGrp="1"/>
          </p:cNvSpPr>
          <p:nvPr>
            <p:ph idx="1"/>
          </p:nvPr>
        </p:nvSpPr>
        <p:spPr/>
        <p:txBody>
          <a:bodyPr/>
          <a:lstStyle/>
          <a:p>
            <a:pPr marL="0" indent="0" algn="just" fontAlgn="base">
              <a:lnSpc>
                <a:spcPct val="150000"/>
              </a:lnSpc>
              <a:buNone/>
            </a:pPr>
            <a:r>
              <a:rPr lang="en-GB" dirty="0" smtClean="0">
                <a:latin typeface="Times New Roman" panose="02020603050405020304" pitchFamily="18" charset="0"/>
                <a:cs typeface="Times New Roman" panose="02020603050405020304" pitchFamily="18" charset="0"/>
              </a:rPr>
              <a:t>The C Arithmetic Operators are of two types based on the number of operands they work. These are as follows:</a:t>
            </a:r>
          </a:p>
          <a:p>
            <a:pPr algn="just" fontAlgn="base">
              <a:lnSpc>
                <a:spcPct val="150000"/>
              </a:lnSpc>
            </a:pPr>
            <a:r>
              <a:rPr lang="en-GB" b="1" dirty="0" smtClean="0">
                <a:latin typeface="Times New Roman" panose="02020603050405020304" pitchFamily="18" charset="0"/>
                <a:cs typeface="Times New Roman" panose="02020603050405020304" pitchFamily="18" charset="0"/>
              </a:rPr>
              <a:t>Binary Arithmetic Operators</a:t>
            </a:r>
            <a:endParaRPr lang="en-GB" dirty="0" smtClean="0">
              <a:latin typeface="Times New Roman" panose="02020603050405020304" pitchFamily="18" charset="0"/>
              <a:cs typeface="Times New Roman" panose="02020603050405020304" pitchFamily="18" charset="0"/>
            </a:endParaRPr>
          </a:p>
          <a:p>
            <a:pPr algn="just" fontAlgn="base">
              <a:lnSpc>
                <a:spcPct val="150000"/>
              </a:lnSpc>
            </a:pPr>
            <a:r>
              <a:rPr lang="en-GB" b="1" dirty="0" smtClean="0">
                <a:latin typeface="Times New Roman" panose="02020603050405020304" pitchFamily="18" charset="0"/>
                <a:cs typeface="Times New Roman" panose="02020603050405020304" pitchFamily="18" charset="0"/>
              </a:rPr>
              <a:t>Unary Arithmetic Operators</a:t>
            </a:r>
            <a:endParaRPr lang="en-GB" dirty="0" smtClean="0">
              <a:latin typeface="Times New Roman" panose="02020603050405020304" pitchFamily="18" charset="0"/>
              <a:cs typeface="Times New Roman" panose="02020603050405020304" pitchFamily="18" charset="0"/>
            </a:endParaRPr>
          </a:p>
          <a:p>
            <a:pPr marL="0" indent="0">
              <a:buNone/>
            </a:pPr>
            <a:endParaRPr lang="en-GB" dirty="0"/>
          </a:p>
        </p:txBody>
      </p:sp>
    </p:spTree>
    <p:extLst>
      <p:ext uri="{BB962C8B-B14F-4D97-AF65-F5344CB8AC3E}">
        <p14:creationId xmlns:p14="http://schemas.microsoft.com/office/powerpoint/2010/main" val="368278637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solidFill>
                  <a:srgbClr val="023182"/>
                </a:solidFill>
                <a:latin typeface="Times New Roman"/>
                <a:cs typeface="Times New Roman"/>
                <a:sym typeface="Times New Roman"/>
              </a:rPr>
              <a:t>Binary Arithmetic Operators </a:t>
            </a:r>
            <a:endParaRPr lang="en-GB" dirty="0"/>
          </a:p>
        </p:txBody>
      </p:sp>
      <p:sp>
        <p:nvSpPr>
          <p:cNvPr id="3" name="Content Placeholder 2"/>
          <p:cNvSpPr>
            <a:spLocks noGrp="1"/>
          </p:cNvSpPr>
          <p:nvPr>
            <p:ph idx="1"/>
          </p:nvPr>
        </p:nvSpPr>
        <p:spPr/>
        <p:txBody>
          <a:bodyPr/>
          <a:lstStyle/>
          <a:p>
            <a:pPr marL="0" indent="0">
              <a:buNone/>
            </a:pPr>
            <a:r>
              <a:rPr lang="en-GB" dirty="0" smtClean="0">
                <a:latin typeface="Times New Roman" panose="02020603050405020304" pitchFamily="18" charset="0"/>
                <a:cs typeface="Times New Roman" panose="02020603050405020304" pitchFamily="18" charset="0"/>
              </a:rPr>
              <a:t>The C binary arithmetic operators operate or work on two operands. C provides</a:t>
            </a:r>
            <a:r>
              <a:rPr lang="en-GB" b="1" dirty="0" smtClean="0">
                <a:latin typeface="Times New Roman" panose="02020603050405020304" pitchFamily="18" charset="0"/>
                <a:cs typeface="Times New Roman" panose="02020603050405020304" pitchFamily="18" charset="0"/>
              </a:rPr>
              <a:t> 5</a:t>
            </a:r>
            <a:r>
              <a:rPr lang="en-GB" dirty="0" smtClean="0">
                <a:latin typeface="Times New Roman" panose="02020603050405020304" pitchFamily="18" charset="0"/>
                <a:cs typeface="Times New Roman" panose="02020603050405020304" pitchFamily="18" charset="0"/>
              </a:rPr>
              <a:t> Binary Arithmetic Operators for performing arithmetic functions which are as follows:</a:t>
            </a:r>
          </a:p>
          <a:p>
            <a:pPr marL="0" indent="0">
              <a:buNone/>
            </a:pPr>
            <a:endParaRPr lang="en-GB" dirty="0"/>
          </a:p>
        </p:txBody>
      </p:sp>
    </p:spTree>
    <p:extLst>
      <p:ext uri="{BB962C8B-B14F-4D97-AF65-F5344CB8AC3E}">
        <p14:creationId xmlns:p14="http://schemas.microsoft.com/office/powerpoint/2010/main" val="121294660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ext uri="{D42A27DB-BD31-4B8C-83A1-F6EECF244321}">
                <p14:modId xmlns:p14="http://schemas.microsoft.com/office/powerpoint/2010/main" val="1697056922"/>
              </p:ext>
            </p:extLst>
          </p:nvPr>
        </p:nvGraphicFramePr>
        <p:xfrm>
          <a:off x="717367" y="807447"/>
          <a:ext cx="10635344" cy="5920707"/>
        </p:xfrm>
        <a:graphic>
          <a:graphicData uri="http://schemas.openxmlformats.org/drawingml/2006/table">
            <a:tbl>
              <a:tblPr/>
              <a:tblGrid>
                <a:gridCol w="2658836">
                  <a:extLst>
                    <a:ext uri="{9D8B030D-6E8A-4147-A177-3AD203B41FA5}">
                      <a16:colId xmlns="" xmlns:a16="http://schemas.microsoft.com/office/drawing/2014/main" val="3557682132"/>
                    </a:ext>
                  </a:extLst>
                </a:gridCol>
                <a:gridCol w="2658836">
                  <a:extLst>
                    <a:ext uri="{9D8B030D-6E8A-4147-A177-3AD203B41FA5}">
                      <a16:colId xmlns="" xmlns:a16="http://schemas.microsoft.com/office/drawing/2014/main" val="2533964313"/>
                    </a:ext>
                  </a:extLst>
                </a:gridCol>
                <a:gridCol w="2658836">
                  <a:extLst>
                    <a:ext uri="{9D8B030D-6E8A-4147-A177-3AD203B41FA5}">
                      <a16:colId xmlns="" xmlns:a16="http://schemas.microsoft.com/office/drawing/2014/main" val="4084370308"/>
                    </a:ext>
                  </a:extLst>
                </a:gridCol>
                <a:gridCol w="2658836">
                  <a:extLst>
                    <a:ext uri="{9D8B030D-6E8A-4147-A177-3AD203B41FA5}">
                      <a16:colId xmlns="" xmlns:a16="http://schemas.microsoft.com/office/drawing/2014/main" val="1190554026"/>
                    </a:ext>
                  </a:extLst>
                </a:gridCol>
              </a:tblGrid>
              <a:tr h="0">
                <a:tc>
                  <a:txBody>
                    <a:bodyPr/>
                    <a:lstStyle/>
                    <a:p>
                      <a:pPr algn="ctr" fontAlgn="base"/>
                      <a:r>
                        <a:rPr lang="en-GB" sz="2400" b="1" dirty="0">
                          <a:effectLst/>
                        </a:rPr>
                        <a:t>Operator</a:t>
                      </a:r>
                    </a:p>
                  </a:txBody>
                  <a:tcPr marL="38100" marR="38100" marT="95250" marB="952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base"/>
                      <a:r>
                        <a:rPr lang="en-GB" sz="2400" b="1" dirty="0">
                          <a:effectLst/>
                        </a:rPr>
                        <a:t>Name of the Operator</a:t>
                      </a:r>
                    </a:p>
                  </a:txBody>
                  <a:tcPr marL="95250" marR="95250" marT="95250" marB="952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base"/>
                      <a:r>
                        <a:rPr lang="en-GB" sz="2400" b="1">
                          <a:effectLst/>
                        </a:rPr>
                        <a:t>Arithmetic Operation</a:t>
                      </a:r>
                    </a:p>
                  </a:txBody>
                  <a:tcPr marL="95250" marR="95250" marT="95250" marB="952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base"/>
                      <a:r>
                        <a:rPr lang="en-GB" sz="2400" b="1">
                          <a:effectLst/>
                        </a:rPr>
                        <a:t>Syntax</a:t>
                      </a:r>
                    </a:p>
                  </a:txBody>
                  <a:tcPr marL="95250" marR="95250" marT="95250" marB="952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 xmlns:a16="http://schemas.microsoft.com/office/drawing/2014/main" val="3138042254"/>
                  </a:ext>
                </a:extLst>
              </a:tr>
              <a:tr h="682445">
                <a:tc>
                  <a:txBody>
                    <a:bodyPr/>
                    <a:lstStyle/>
                    <a:p>
                      <a:pPr algn="ctr" fontAlgn="base"/>
                      <a:r>
                        <a:rPr lang="en-GB" sz="2000" b="1">
                          <a:effectLst/>
                        </a:rPr>
                        <a:t>+</a:t>
                      </a:r>
                      <a:endParaRPr lang="en-GB" sz="2000" b="0">
                        <a:effectLst/>
                      </a:endParaRP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just" fontAlgn="base"/>
                      <a:r>
                        <a:rPr lang="en-GB" sz="2000" b="0" dirty="0">
                          <a:effectLst/>
                          <a:latin typeface="Times New Roman" panose="02020603050405020304" pitchFamily="18" charset="0"/>
                          <a:cs typeface="Times New Roman" panose="02020603050405020304" pitchFamily="18" charset="0"/>
                        </a:rPr>
                        <a:t>Addition</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just" fontAlgn="ctr"/>
                      <a:r>
                        <a:rPr lang="en-GB" sz="2000" b="0">
                          <a:effectLst/>
                          <a:latin typeface="Times New Roman" panose="02020603050405020304" pitchFamily="18" charset="0"/>
                          <a:cs typeface="Times New Roman" panose="02020603050405020304" pitchFamily="18" charset="0"/>
                        </a:rPr>
                        <a:t>Add two operands.</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base"/>
                      <a:r>
                        <a:rPr lang="en-GB" sz="2000" b="0" dirty="0">
                          <a:effectLst/>
                        </a:rPr>
                        <a:t>x </a:t>
                      </a:r>
                      <a:r>
                        <a:rPr lang="en-GB" sz="2000" b="1" dirty="0">
                          <a:effectLst/>
                        </a:rPr>
                        <a:t>+ </a:t>
                      </a:r>
                      <a:r>
                        <a:rPr lang="en-GB" sz="2000" b="0" dirty="0">
                          <a:effectLst/>
                        </a:rPr>
                        <a:t>y</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 xmlns:a16="http://schemas.microsoft.com/office/drawing/2014/main" val="863732226"/>
                  </a:ext>
                </a:extLst>
              </a:tr>
              <a:tr h="966797">
                <a:tc>
                  <a:txBody>
                    <a:bodyPr/>
                    <a:lstStyle/>
                    <a:p>
                      <a:pPr algn="ctr" fontAlgn="base"/>
                      <a:r>
                        <a:rPr lang="en-GB" sz="2000" b="1">
                          <a:effectLst/>
                        </a:rPr>
                        <a:t>–</a:t>
                      </a:r>
                      <a:endParaRPr lang="en-GB" sz="2000" b="0">
                        <a:effectLst/>
                      </a:endParaRP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just" fontAlgn="base"/>
                      <a:r>
                        <a:rPr lang="en-GB" sz="2000" b="0" dirty="0">
                          <a:effectLst/>
                          <a:latin typeface="Times New Roman" panose="02020603050405020304" pitchFamily="18" charset="0"/>
                          <a:cs typeface="Times New Roman" panose="02020603050405020304" pitchFamily="18" charset="0"/>
                        </a:rPr>
                        <a:t>Subtraction</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just" fontAlgn="ctr"/>
                      <a:r>
                        <a:rPr lang="en-GB" sz="2000" b="0">
                          <a:effectLst/>
                          <a:latin typeface="Times New Roman" panose="02020603050405020304" pitchFamily="18" charset="0"/>
                          <a:cs typeface="Times New Roman" panose="02020603050405020304" pitchFamily="18" charset="0"/>
                        </a:rPr>
                        <a:t>Subtract the second operand from the first operand.</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base"/>
                      <a:r>
                        <a:rPr lang="en-GB" sz="2000" b="0">
                          <a:effectLst/>
                        </a:rPr>
                        <a:t>x </a:t>
                      </a:r>
                      <a:r>
                        <a:rPr lang="en-GB" sz="2000" b="1">
                          <a:effectLst/>
                        </a:rPr>
                        <a:t>–</a:t>
                      </a:r>
                      <a:r>
                        <a:rPr lang="en-GB" sz="2000" b="0">
                          <a:effectLst/>
                        </a:rPr>
                        <a:t> y</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 xmlns:a16="http://schemas.microsoft.com/office/drawing/2014/main" val="3146700499"/>
                  </a:ext>
                </a:extLst>
              </a:tr>
              <a:tr h="682445">
                <a:tc>
                  <a:txBody>
                    <a:bodyPr/>
                    <a:lstStyle/>
                    <a:p>
                      <a:pPr algn="ctr" fontAlgn="base"/>
                      <a:r>
                        <a:rPr lang="en-GB" sz="2000" b="1">
                          <a:effectLst/>
                        </a:rPr>
                        <a:t>*</a:t>
                      </a:r>
                      <a:endParaRPr lang="en-GB" sz="2000" b="0">
                        <a:effectLst/>
                      </a:endParaRP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just" fontAlgn="base"/>
                      <a:r>
                        <a:rPr lang="en-GB" sz="2000" b="0" dirty="0">
                          <a:effectLst/>
                          <a:latin typeface="Times New Roman" panose="02020603050405020304" pitchFamily="18" charset="0"/>
                          <a:cs typeface="Times New Roman" panose="02020603050405020304" pitchFamily="18" charset="0"/>
                        </a:rPr>
                        <a:t>Multiplication</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just" fontAlgn="ctr"/>
                      <a:r>
                        <a:rPr lang="en-GB" sz="2000" b="0" dirty="0">
                          <a:effectLst/>
                          <a:latin typeface="Times New Roman" panose="02020603050405020304" pitchFamily="18" charset="0"/>
                          <a:cs typeface="Times New Roman" panose="02020603050405020304" pitchFamily="18" charset="0"/>
                        </a:rPr>
                        <a:t>Multiply two operands.</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base"/>
                      <a:r>
                        <a:rPr lang="en-GB" sz="2000" b="0">
                          <a:effectLst/>
                        </a:rPr>
                        <a:t>x </a:t>
                      </a:r>
                      <a:r>
                        <a:rPr lang="en-GB" sz="2000" b="1">
                          <a:effectLst/>
                        </a:rPr>
                        <a:t>*</a:t>
                      </a:r>
                      <a:r>
                        <a:rPr lang="en-GB" sz="2000" b="0">
                          <a:effectLst/>
                        </a:rPr>
                        <a:t> y</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 xmlns:a16="http://schemas.microsoft.com/office/drawing/2014/main" val="2746980693"/>
                  </a:ext>
                </a:extLst>
              </a:tr>
              <a:tr h="966797">
                <a:tc>
                  <a:txBody>
                    <a:bodyPr/>
                    <a:lstStyle/>
                    <a:p>
                      <a:pPr algn="ctr" fontAlgn="base"/>
                      <a:r>
                        <a:rPr lang="en-GB" sz="2000" b="1">
                          <a:effectLst/>
                        </a:rPr>
                        <a:t>/</a:t>
                      </a:r>
                      <a:endParaRPr lang="en-GB" sz="2000" b="0">
                        <a:effectLst/>
                      </a:endParaRP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just" fontAlgn="base"/>
                      <a:r>
                        <a:rPr lang="en-GB" sz="2000" b="0">
                          <a:effectLst/>
                          <a:latin typeface="Times New Roman" panose="02020603050405020304" pitchFamily="18" charset="0"/>
                          <a:cs typeface="Times New Roman" panose="02020603050405020304" pitchFamily="18" charset="0"/>
                        </a:rPr>
                        <a:t>Division</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just" fontAlgn="ctr"/>
                      <a:r>
                        <a:rPr lang="en-GB" sz="2000" b="0" dirty="0">
                          <a:effectLst/>
                          <a:latin typeface="Times New Roman" panose="02020603050405020304" pitchFamily="18" charset="0"/>
                          <a:cs typeface="Times New Roman" panose="02020603050405020304" pitchFamily="18" charset="0"/>
                        </a:rPr>
                        <a:t>Divide the first operand by the second operand.</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base"/>
                      <a:r>
                        <a:rPr lang="en-GB" sz="2000" b="0">
                          <a:effectLst/>
                        </a:rPr>
                        <a:t>x </a:t>
                      </a:r>
                      <a:r>
                        <a:rPr lang="en-GB" sz="2000" b="1">
                          <a:effectLst/>
                        </a:rPr>
                        <a:t>/ </a:t>
                      </a:r>
                      <a:r>
                        <a:rPr lang="en-GB" sz="2000" b="0">
                          <a:effectLst/>
                        </a:rPr>
                        <a:t>y</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 xmlns:a16="http://schemas.microsoft.com/office/drawing/2014/main" val="2454686104"/>
                  </a:ext>
                </a:extLst>
              </a:tr>
              <a:tr h="1251149">
                <a:tc>
                  <a:txBody>
                    <a:bodyPr/>
                    <a:lstStyle/>
                    <a:p>
                      <a:pPr algn="ctr" fontAlgn="base"/>
                      <a:r>
                        <a:rPr lang="en-GB" sz="2000" b="1">
                          <a:effectLst/>
                        </a:rPr>
                        <a:t>%</a:t>
                      </a:r>
                      <a:endParaRPr lang="en-GB" sz="2000" b="0">
                        <a:effectLst/>
                      </a:endParaRP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just" fontAlgn="base"/>
                      <a:r>
                        <a:rPr lang="en-GB" sz="2000" b="0" u="none" dirty="0">
                          <a:effectLst/>
                          <a:latin typeface="Times New Roman" panose="02020603050405020304" pitchFamily="18" charset="0"/>
                          <a:cs typeface="Times New Roman" panose="02020603050405020304" pitchFamily="18" charset="0"/>
                        </a:rPr>
                        <a:t>Modulus</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just" fontAlgn="ctr"/>
                      <a:r>
                        <a:rPr lang="en-GB" sz="2000" b="0" dirty="0">
                          <a:effectLst/>
                          <a:latin typeface="Times New Roman" panose="02020603050405020304" pitchFamily="18" charset="0"/>
                          <a:cs typeface="Times New Roman" panose="02020603050405020304" pitchFamily="18" charset="0"/>
                        </a:rPr>
                        <a:t>Calculate the remainder when the first operand is divided by the second operand.</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base"/>
                      <a:r>
                        <a:rPr lang="en-GB" sz="2000" b="0" dirty="0">
                          <a:effectLst/>
                        </a:rPr>
                        <a:t>x </a:t>
                      </a:r>
                      <a:r>
                        <a:rPr lang="en-GB" sz="2000" b="1" dirty="0">
                          <a:effectLst/>
                        </a:rPr>
                        <a:t>%</a:t>
                      </a:r>
                      <a:r>
                        <a:rPr lang="en-GB" sz="2000" b="0" dirty="0">
                          <a:effectLst/>
                        </a:rPr>
                        <a:t> y</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 xmlns:a16="http://schemas.microsoft.com/office/drawing/2014/main" val="1908445109"/>
                  </a:ext>
                </a:extLst>
              </a:tr>
            </a:tbl>
          </a:graphicData>
        </a:graphic>
      </p:graphicFrame>
    </p:spTree>
    <p:extLst>
      <p:ext uri="{BB962C8B-B14F-4D97-AF65-F5344CB8AC3E}">
        <p14:creationId xmlns:p14="http://schemas.microsoft.com/office/powerpoint/2010/main" val="251406061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48343" y="104503"/>
            <a:ext cx="11005457" cy="6753496"/>
          </a:xfrm>
        </p:spPr>
        <p:txBody>
          <a:bodyPr>
            <a:normAutofit fontScale="25000" lnSpcReduction="20000"/>
          </a:bodyPr>
          <a:lstStyle/>
          <a:p>
            <a:pPr marL="0" indent="0">
              <a:buNone/>
            </a:pPr>
            <a:r>
              <a:rPr lang="en-GB" sz="4000" dirty="0" smtClean="0">
                <a:latin typeface="Times New Roman" panose="02020603050405020304" pitchFamily="18" charset="0"/>
                <a:cs typeface="Times New Roman" panose="02020603050405020304" pitchFamily="18" charset="0"/>
              </a:rPr>
              <a:t>// C program to demonstrate syntax of binary arithmetic</a:t>
            </a:r>
          </a:p>
          <a:p>
            <a:pPr marL="0" indent="0">
              <a:buNone/>
            </a:pPr>
            <a:r>
              <a:rPr lang="en-GB" sz="4000" dirty="0" smtClean="0">
                <a:latin typeface="Times New Roman" panose="02020603050405020304" pitchFamily="18" charset="0"/>
                <a:ea typeface="Tahoma" panose="020B0604030504040204" pitchFamily="34" charset="0"/>
                <a:cs typeface="Times New Roman" panose="02020603050405020304" pitchFamily="18" charset="0"/>
              </a:rPr>
              <a:t>// operators</a:t>
            </a:r>
          </a:p>
          <a:p>
            <a:pPr marL="0" indent="0">
              <a:buNone/>
            </a:pPr>
            <a:r>
              <a:rPr lang="en-GB" sz="4000" dirty="0" smtClean="0">
                <a:latin typeface="Times New Roman" panose="02020603050405020304" pitchFamily="18" charset="0"/>
                <a:ea typeface="Tahoma" panose="020B0604030504040204" pitchFamily="34" charset="0"/>
                <a:cs typeface="Times New Roman" panose="02020603050405020304" pitchFamily="18" charset="0"/>
              </a:rPr>
              <a:t>#include &lt;</a:t>
            </a:r>
            <a:r>
              <a:rPr lang="en-GB" sz="4000" dirty="0" err="1" smtClean="0">
                <a:latin typeface="Times New Roman" panose="02020603050405020304" pitchFamily="18" charset="0"/>
                <a:ea typeface="Tahoma" panose="020B0604030504040204" pitchFamily="34" charset="0"/>
                <a:cs typeface="Times New Roman" panose="02020603050405020304" pitchFamily="18" charset="0"/>
              </a:rPr>
              <a:t>stdio.h</a:t>
            </a:r>
            <a:r>
              <a:rPr lang="en-GB" sz="4000" dirty="0" smtClean="0">
                <a:latin typeface="Times New Roman" panose="02020603050405020304" pitchFamily="18" charset="0"/>
                <a:ea typeface="Tahoma" panose="020B0604030504040204" pitchFamily="34" charset="0"/>
                <a:cs typeface="Times New Roman" panose="02020603050405020304" pitchFamily="18" charset="0"/>
              </a:rPr>
              <a:t>&gt;</a:t>
            </a:r>
          </a:p>
          <a:p>
            <a:pPr marL="0" indent="0">
              <a:buNone/>
            </a:pPr>
            <a:r>
              <a:rPr lang="en-GB" sz="4000" dirty="0" err="1" smtClean="0">
                <a:latin typeface="Times New Roman" panose="02020603050405020304" pitchFamily="18" charset="0"/>
                <a:ea typeface="Tahoma" panose="020B0604030504040204" pitchFamily="34" charset="0"/>
                <a:cs typeface="Times New Roman" panose="02020603050405020304" pitchFamily="18" charset="0"/>
              </a:rPr>
              <a:t>int</a:t>
            </a:r>
            <a:r>
              <a:rPr lang="en-GB" sz="4000" dirty="0" smtClean="0">
                <a:latin typeface="Times New Roman" panose="02020603050405020304" pitchFamily="18" charset="0"/>
                <a:ea typeface="Tahoma" panose="020B0604030504040204" pitchFamily="34" charset="0"/>
                <a:cs typeface="Times New Roman" panose="02020603050405020304" pitchFamily="18" charset="0"/>
              </a:rPr>
              <a:t> main(){</a:t>
            </a:r>
          </a:p>
          <a:p>
            <a:pPr marL="0" indent="0">
              <a:buNone/>
            </a:pPr>
            <a:r>
              <a:rPr lang="en-GB" sz="4000" dirty="0" smtClean="0">
                <a:latin typeface="Times New Roman" panose="02020603050405020304" pitchFamily="18" charset="0"/>
                <a:ea typeface="Tahoma" panose="020B0604030504040204" pitchFamily="34" charset="0"/>
                <a:cs typeface="Times New Roman" panose="02020603050405020304" pitchFamily="18" charset="0"/>
              </a:rPr>
              <a:t>    </a:t>
            </a:r>
            <a:r>
              <a:rPr lang="en-GB" sz="4000" dirty="0" err="1" smtClean="0">
                <a:latin typeface="Times New Roman" panose="02020603050405020304" pitchFamily="18" charset="0"/>
                <a:ea typeface="Tahoma" panose="020B0604030504040204" pitchFamily="34" charset="0"/>
                <a:cs typeface="Times New Roman" panose="02020603050405020304" pitchFamily="18" charset="0"/>
              </a:rPr>
              <a:t>int</a:t>
            </a:r>
            <a:r>
              <a:rPr lang="en-GB" sz="4000" dirty="0" smtClean="0">
                <a:latin typeface="Times New Roman" panose="02020603050405020304" pitchFamily="18" charset="0"/>
                <a:ea typeface="Tahoma" panose="020B0604030504040204" pitchFamily="34" charset="0"/>
                <a:cs typeface="Times New Roman" panose="02020603050405020304" pitchFamily="18" charset="0"/>
              </a:rPr>
              <a:t> a = 10, b = 4, res;</a:t>
            </a:r>
          </a:p>
          <a:p>
            <a:pPr marL="0" indent="0">
              <a:buNone/>
            </a:pPr>
            <a:r>
              <a:rPr lang="en-US" sz="4000" dirty="0">
                <a:latin typeface="Times New Roman" panose="02020603050405020304" pitchFamily="18" charset="0"/>
                <a:ea typeface="Tahoma" panose="020B0604030504040204" pitchFamily="34" charset="0"/>
                <a:cs typeface="Times New Roman" panose="02020603050405020304" pitchFamily="18" charset="0"/>
              </a:rPr>
              <a:t> </a:t>
            </a:r>
            <a:r>
              <a:rPr lang="en-US" sz="4000" dirty="0" smtClean="0">
                <a:latin typeface="Times New Roman" panose="02020603050405020304" pitchFamily="18" charset="0"/>
                <a:ea typeface="Tahoma" panose="020B0604030504040204" pitchFamily="34" charset="0"/>
                <a:cs typeface="Times New Roman" panose="02020603050405020304" pitchFamily="18" charset="0"/>
              </a:rPr>
              <a:t>      </a:t>
            </a:r>
          </a:p>
          <a:p>
            <a:pPr marL="0" indent="0">
              <a:buNone/>
            </a:pPr>
            <a:r>
              <a:rPr lang="en-GB" sz="4000" dirty="0" smtClean="0">
                <a:latin typeface="Times New Roman" panose="02020603050405020304" pitchFamily="18" charset="0"/>
                <a:ea typeface="Tahoma" panose="020B0604030504040204" pitchFamily="34" charset="0"/>
                <a:cs typeface="Times New Roman" panose="02020603050405020304" pitchFamily="18" charset="0"/>
              </a:rPr>
              <a:t>// </a:t>
            </a:r>
            <a:r>
              <a:rPr lang="en-GB" sz="4000" dirty="0" smtClean="0">
                <a:latin typeface="Times New Roman" panose="02020603050405020304" pitchFamily="18" charset="0"/>
                <a:ea typeface="Tahoma" panose="020B0604030504040204" pitchFamily="34" charset="0"/>
                <a:cs typeface="Times New Roman" panose="02020603050405020304" pitchFamily="18" charset="0"/>
              </a:rPr>
              <a:t>printing a and b</a:t>
            </a:r>
          </a:p>
          <a:p>
            <a:pPr marL="0" indent="0">
              <a:buNone/>
            </a:pPr>
            <a:r>
              <a:rPr lang="en-GB" sz="4000" dirty="0" smtClean="0">
                <a:latin typeface="Times New Roman" panose="02020603050405020304" pitchFamily="18" charset="0"/>
                <a:ea typeface="Tahoma" panose="020B0604030504040204" pitchFamily="34" charset="0"/>
                <a:cs typeface="Times New Roman" panose="02020603050405020304" pitchFamily="18" charset="0"/>
              </a:rPr>
              <a:t>    </a:t>
            </a:r>
            <a:r>
              <a:rPr lang="en-GB" sz="4000" dirty="0" err="1" smtClean="0">
                <a:latin typeface="Times New Roman" panose="02020603050405020304" pitchFamily="18" charset="0"/>
                <a:ea typeface="Tahoma" panose="020B0604030504040204" pitchFamily="34" charset="0"/>
                <a:cs typeface="Times New Roman" panose="02020603050405020304" pitchFamily="18" charset="0"/>
              </a:rPr>
              <a:t>printf</a:t>
            </a:r>
            <a:r>
              <a:rPr lang="en-GB" sz="4000" dirty="0" smtClean="0">
                <a:latin typeface="Times New Roman" panose="02020603050405020304" pitchFamily="18" charset="0"/>
                <a:ea typeface="Tahoma" panose="020B0604030504040204" pitchFamily="34" charset="0"/>
                <a:cs typeface="Times New Roman" panose="02020603050405020304" pitchFamily="18" charset="0"/>
              </a:rPr>
              <a:t>("a is %d and b is %d\n", a, b);</a:t>
            </a:r>
          </a:p>
          <a:p>
            <a:pPr marL="0" indent="0">
              <a:buNone/>
            </a:pPr>
            <a:endParaRPr lang="en-GB" sz="4000" dirty="0" smtClean="0">
              <a:latin typeface="Times New Roman" panose="02020603050405020304" pitchFamily="18" charset="0"/>
              <a:ea typeface="Tahoma" panose="020B0604030504040204" pitchFamily="34" charset="0"/>
              <a:cs typeface="Times New Roman" panose="02020603050405020304" pitchFamily="18" charset="0"/>
            </a:endParaRPr>
          </a:p>
          <a:p>
            <a:pPr marL="0" indent="0">
              <a:buNone/>
            </a:pPr>
            <a:r>
              <a:rPr lang="en-GB" sz="4000" dirty="0" smtClean="0">
                <a:latin typeface="Times New Roman" panose="02020603050405020304" pitchFamily="18" charset="0"/>
                <a:ea typeface="Tahoma" panose="020B0604030504040204" pitchFamily="34" charset="0"/>
                <a:cs typeface="Times New Roman" panose="02020603050405020304" pitchFamily="18" charset="0"/>
              </a:rPr>
              <a:t>    res = a + b; // addition</a:t>
            </a:r>
          </a:p>
          <a:p>
            <a:pPr marL="0" indent="0">
              <a:buNone/>
            </a:pPr>
            <a:r>
              <a:rPr lang="en-GB" sz="4000" dirty="0" smtClean="0">
                <a:latin typeface="Times New Roman" panose="02020603050405020304" pitchFamily="18" charset="0"/>
                <a:ea typeface="Tahoma" panose="020B0604030504040204" pitchFamily="34" charset="0"/>
                <a:cs typeface="Times New Roman" panose="02020603050405020304" pitchFamily="18" charset="0"/>
              </a:rPr>
              <a:t>    </a:t>
            </a:r>
            <a:r>
              <a:rPr lang="en-GB" sz="4000" dirty="0" err="1" smtClean="0">
                <a:latin typeface="Times New Roman" panose="02020603050405020304" pitchFamily="18" charset="0"/>
                <a:ea typeface="Tahoma" panose="020B0604030504040204" pitchFamily="34" charset="0"/>
                <a:cs typeface="Times New Roman" panose="02020603050405020304" pitchFamily="18" charset="0"/>
              </a:rPr>
              <a:t>printf</a:t>
            </a:r>
            <a:r>
              <a:rPr lang="en-GB" sz="4000" dirty="0" smtClean="0">
                <a:latin typeface="Times New Roman" panose="02020603050405020304" pitchFamily="18" charset="0"/>
                <a:ea typeface="Tahoma" panose="020B0604030504040204" pitchFamily="34" charset="0"/>
                <a:cs typeface="Times New Roman" panose="02020603050405020304" pitchFamily="18" charset="0"/>
              </a:rPr>
              <a:t>("a + b is %d\n", res);</a:t>
            </a:r>
          </a:p>
          <a:p>
            <a:pPr marL="0" indent="0">
              <a:buNone/>
            </a:pPr>
            <a:r>
              <a:rPr lang="en-GB" sz="4000" dirty="0" smtClean="0">
                <a:latin typeface="Times New Roman" panose="02020603050405020304" pitchFamily="18" charset="0"/>
                <a:ea typeface="Tahoma" panose="020B0604030504040204" pitchFamily="34" charset="0"/>
                <a:cs typeface="Times New Roman" panose="02020603050405020304" pitchFamily="18" charset="0"/>
              </a:rPr>
              <a:t> </a:t>
            </a:r>
          </a:p>
          <a:p>
            <a:pPr marL="0" indent="0">
              <a:buNone/>
            </a:pPr>
            <a:r>
              <a:rPr lang="en-GB" sz="4000" dirty="0" smtClean="0">
                <a:latin typeface="Times New Roman" panose="02020603050405020304" pitchFamily="18" charset="0"/>
                <a:ea typeface="Tahoma" panose="020B0604030504040204" pitchFamily="34" charset="0"/>
                <a:cs typeface="Times New Roman" panose="02020603050405020304" pitchFamily="18" charset="0"/>
              </a:rPr>
              <a:t>    res = a - b; // subtraction</a:t>
            </a:r>
          </a:p>
          <a:p>
            <a:pPr marL="0" indent="0">
              <a:buNone/>
            </a:pPr>
            <a:r>
              <a:rPr lang="en-GB" sz="4000" dirty="0" smtClean="0">
                <a:latin typeface="Times New Roman" panose="02020603050405020304" pitchFamily="18" charset="0"/>
                <a:ea typeface="Tahoma" panose="020B0604030504040204" pitchFamily="34" charset="0"/>
                <a:cs typeface="Times New Roman" panose="02020603050405020304" pitchFamily="18" charset="0"/>
              </a:rPr>
              <a:t>    </a:t>
            </a:r>
            <a:r>
              <a:rPr lang="en-GB" sz="4000" dirty="0" err="1" smtClean="0">
                <a:latin typeface="Times New Roman" panose="02020603050405020304" pitchFamily="18" charset="0"/>
                <a:ea typeface="Tahoma" panose="020B0604030504040204" pitchFamily="34" charset="0"/>
                <a:cs typeface="Times New Roman" panose="02020603050405020304" pitchFamily="18" charset="0"/>
              </a:rPr>
              <a:t>printf</a:t>
            </a:r>
            <a:r>
              <a:rPr lang="en-GB" sz="4000" dirty="0" smtClean="0">
                <a:latin typeface="Times New Roman" panose="02020603050405020304" pitchFamily="18" charset="0"/>
                <a:ea typeface="Tahoma" panose="020B0604030504040204" pitchFamily="34" charset="0"/>
                <a:cs typeface="Times New Roman" panose="02020603050405020304" pitchFamily="18" charset="0"/>
              </a:rPr>
              <a:t>("a - b is %d\n", res);</a:t>
            </a:r>
          </a:p>
          <a:p>
            <a:pPr marL="0" indent="0">
              <a:buNone/>
            </a:pPr>
            <a:r>
              <a:rPr lang="en-GB" sz="4000" dirty="0" smtClean="0">
                <a:latin typeface="Times New Roman" panose="02020603050405020304" pitchFamily="18" charset="0"/>
                <a:ea typeface="Tahoma" panose="020B0604030504040204" pitchFamily="34" charset="0"/>
                <a:cs typeface="Times New Roman" panose="02020603050405020304" pitchFamily="18" charset="0"/>
              </a:rPr>
              <a:t> </a:t>
            </a:r>
          </a:p>
          <a:p>
            <a:pPr marL="0" indent="0">
              <a:buNone/>
            </a:pPr>
            <a:r>
              <a:rPr lang="en-GB" sz="4000" dirty="0" smtClean="0">
                <a:latin typeface="Times New Roman" panose="02020603050405020304" pitchFamily="18" charset="0"/>
                <a:ea typeface="Tahoma" panose="020B0604030504040204" pitchFamily="34" charset="0"/>
                <a:cs typeface="Times New Roman" panose="02020603050405020304" pitchFamily="18" charset="0"/>
              </a:rPr>
              <a:t>    res = a * b; // multiplication</a:t>
            </a:r>
          </a:p>
          <a:p>
            <a:pPr marL="0" indent="0">
              <a:buNone/>
            </a:pPr>
            <a:r>
              <a:rPr lang="en-GB" sz="4000" dirty="0" smtClean="0">
                <a:latin typeface="Times New Roman" panose="02020603050405020304" pitchFamily="18" charset="0"/>
                <a:ea typeface="Tahoma" panose="020B0604030504040204" pitchFamily="34" charset="0"/>
                <a:cs typeface="Times New Roman" panose="02020603050405020304" pitchFamily="18" charset="0"/>
              </a:rPr>
              <a:t>    </a:t>
            </a:r>
            <a:r>
              <a:rPr lang="en-GB" sz="4000" dirty="0" err="1" smtClean="0">
                <a:latin typeface="Times New Roman" panose="02020603050405020304" pitchFamily="18" charset="0"/>
                <a:ea typeface="Tahoma" panose="020B0604030504040204" pitchFamily="34" charset="0"/>
                <a:cs typeface="Times New Roman" panose="02020603050405020304" pitchFamily="18" charset="0"/>
              </a:rPr>
              <a:t>printf</a:t>
            </a:r>
            <a:r>
              <a:rPr lang="en-GB" sz="4000" dirty="0" smtClean="0">
                <a:latin typeface="Times New Roman" panose="02020603050405020304" pitchFamily="18" charset="0"/>
                <a:ea typeface="Tahoma" panose="020B0604030504040204" pitchFamily="34" charset="0"/>
                <a:cs typeface="Times New Roman" panose="02020603050405020304" pitchFamily="18" charset="0"/>
              </a:rPr>
              <a:t>("a * b is %d\n", res);</a:t>
            </a:r>
          </a:p>
          <a:p>
            <a:pPr marL="0" indent="0">
              <a:buNone/>
            </a:pPr>
            <a:r>
              <a:rPr lang="en-GB" sz="4000" dirty="0" smtClean="0">
                <a:latin typeface="Times New Roman" panose="02020603050405020304" pitchFamily="18" charset="0"/>
                <a:ea typeface="Tahoma" panose="020B0604030504040204" pitchFamily="34" charset="0"/>
                <a:cs typeface="Times New Roman" panose="02020603050405020304" pitchFamily="18" charset="0"/>
              </a:rPr>
              <a:t> </a:t>
            </a:r>
          </a:p>
          <a:p>
            <a:pPr marL="0" indent="0">
              <a:buNone/>
            </a:pPr>
            <a:r>
              <a:rPr lang="en-GB" sz="4000" dirty="0" smtClean="0">
                <a:latin typeface="Times New Roman" panose="02020603050405020304" pitchFamily="18" charset="0"/>
                <a:ea typeface="Tahoma" panose="020B0604030504040204" pitchFamily="34" charset="0"/>
                <a:cs typeface="Times New Roman" panose="02020603050405020304" pitchFamily="18" charset="0"/>
              </a:rPr>
              <a:t>    res = a / b; // division</a:t>
            </a:r>
          </a:p>
          <a:p>
            <a:pPr marL="0" indent="0">
              <a:buNone/>
            </a:pPr>
            <a:r>
              <a:rPr lang="en-GB" sz="4000" dirty="0" smtClean="0">
                <a:latin typeface="Times New Roman" panose="02020603050405020304" pitchFamily="18" charset="0"/>
                <a:ea typeface="Tahoma" panose="020B0604030504040204" pitchFamily="34" charset="0"/>
                <a:cs typeface="Times New Roman" panose="02020603050405020304" pitchFamily="18" charset="0"/>
              </a:rPr>
              <a:t>    </a:t>
            </a:r>
            <a:r>
              <a:rPr lang="en-GB" sz="4000" dirty="0" err="1" smtClean="0">
                <a:latin typeface="Times New Roman" panose="02020603050405020304" pitchFamily="18" charset="0"/>
                <a:ea typeface="Tahoma" panose="020B0604030504040204" pitchFamily="34" charset="0"/>
                <a:cs typeface="Times New Roman" panose="02020603050405020304" pitchFamily="18" charset="0"/>
              </a:rPr>
              <a:t>printf</a:t>
            </a:r>
            <a:r>
              <a:rPr lang="en-GB" sz="4000" dirty="0" smtClean="0">
                <a:latin typeface="Times New Roman" panose="02020603050405020304" pitchFamily="18" charset="0"/>
                <a:ea typeface="Tahoma" panose="020B0604030504040204" pitchFamily="34" charset="0"/>
                <a:cs typeface="Times New Roman" panose="02020603050405020304" pitchFamily="18" charset="0"/>
              </a:rPr>
              <a:t>("a / b is %d\n", res);</a:t>
            </a:r>
          </a:p>
          <a:p>
            <a:pPr marL="0" indent="0">
              <a:buNone/>
            </a:pPr>
            <a:r>
              <a:rPr lang="en-GB" sz="4000" dirty="0" smtClean="0">
                <a:latin typeface="Times New Roman" panose="02020603050405020304" pitchFamily="18" charset="0"/>
                <a:ea typeface="Tahoma" panose="020B0604030504040204" pitchFamily="34" charset="0"/>
                <a:cs typeface="Times New Roman" panose="02020603050405020304" pitchFamily="18" charset="0"/>
              </a:rPr>
              <a:t> </a:t>
            </a:r>
          </a:p>
          <a:p>
            <a:pPr marL="0" indent="0">
              <a:buNone/>
            </a:pPr>
            <a:r>
              <a:rPr lang="en-GB" sz="4000" dirty="0" smtClean="0">
                <a:latin typeface="Times New Roman" panose="02020603050405020304" pitchFamily="18" charset="0"/>
                <a:ea typeface="Tahoma" panose="020B0604030504040204" pitchFamily="34" charset="0"/>
                <a:cs typeface="Times New Roman" panose="02020603050405020304" pitchFamily="18" charset="0"/>
              </a:rPr>
              <a:t>    res = a % b; // modulus</a:t>
            </a:r>
          </a:p>
          <a:p>
            <a:pPr marL="0" indent="0">
              <a:buNone/>
            </a:pPr>
            <a:r>
              <a:rPr lang="en-GB" sz="4000" dirty="0" smtClean="0">
                <a:latin typeface="Times New Roman" panose="02020603050405020304" pitchFamily="18" charset="0"/>
                <a:ea typeface="Tahoma" panose="020B0604030504040204" pitchFamily="34" charset="0"/>
                <a:cs typeface="Times New Roman" panose="02020603050405020304" pitchFamily="18" charset="0"/>
              </a:rPr>
              <a:t>    </a:t>
            </a:r>
            <a:r>
              <a:rPr lang="en-GB" sz="4000" dirty="0" err="1" smtClean="0">
                <a:latin typeface="Times New Roman" panose="02020603050405020304" pitchFamily="18" charset="0"/>
                <a:ea typeface="Tahoma" panose="020B0604030504040204" pitchFamily="34" charset="0"/>
                <a:cs typeface="Times New Roman" panose="02020603050405020304" pitchFamily="18" charset="0"/>
              </a:rPr>
              <a:t>printf</a:t>
            </a:r>
            <a:r>
              <a:rPr lang="en-GB" sz="4000" dirty="0" smtClean="0">
                <a:latin typeface="Times New Roman" panose="02020603050405020304" pitchFamily="18" charset="0"/>
                <a:ea typeface="Tahoma" panose="020B0604030504040204" pitchFamily="34" charset="0"/>
                <a:cs typeface="Times New Roman" panose="02020603050405020304" pitchFamily="18" charset="0"/>
              </a:rPr>
              <a:t>("a %% b is %d\n", res);</a:t>
            </a:r>
          </a:p>
          <a:p>
            <a:pPr marL="0" indent="0">
              <a:buNone/>
            </a:pPr>
            <a:r>
              <a:rPr lang="en-GB" sz="4000" dirty="0" smtClean="0">
                <a:latin typeface="Times New Roman" panose="02020603050405020304" pitchFamily="18" charset="0"/>
                <a:ea typeface="Tahoma" panose="020B0604030504040204" pitchFamily="34" charset="0"/>
                <a:cs typeface="Times New Roman" panose="02020603050405020304" pitchFamily="18" charset="0"/>
              </a:rPr>
              <a:t> </a:t>
            </a:r>
          </a:p>
          <a:p>
            <a:pPr marL="0" indent="0">
              <a:buNone/>
            </a:pPr>
            <a:r>
              <a:rPr lang="en-GB" sz="4000" dirty="0" smtClean="0">
                <a:latin typeface="Times New Roman" panose="02020603050405020304" pitchFamily="18" charset="0"/>
                <a:ea typeface="Tahoma" panose="020B0604030504040204" pitchFamily="34" charset="0"/>
                <a:cs typeface="Times New Roman" panose="02020603050405020304" pitchFamily="18" charset="0"/>
              </a:rPr>
              <a:t>    return 0;</a:t>
            </a:r>
          </a:p>
          <a:p>
            <a:pPr marL="0" indent="0">
              <a:buNone/>
            </a:pPr>
            <a:r>
              <a:rPr lang="en-GB" sz="4000" dirty="0" smtClean="0"/>
              <a:t>}</a:t>
            </a:r>
          </a:p>
          <a:p>
            <a:pPr marL="0" indent="0">
              <a:buNone/>
            </a:pPr>
            <a:endParaRPr lang="en-GB" dirty="0" smtClean="0">
              <a:latin typeface="Times New Roman" panose="02020603050405020304" pitchFamily="18" charset="0"/>
              <a:cs typeface="Times New Roman" panose="02020603050405020304" pitchFamily="18" charset="0"/>
            </a:endParaRPr>
          </a:p>
          <a:p>
            <a:pPr marL="0" indent="0">
              <a:buNone/>
            </a:pPr>
            <a:endParaRPr lang="en-GB" dirty="0"/>
          </a:p>
        </p:txBody>
      </p:sp>
    </p:spTree>
    <p:extLst>
      <p:ext uri="{BB962C8B-B14F-4D97-AF65-F5344CB8AC3E}">
        <p14:creationId xmlns:p14="http://schemas.microsoft.com/office/powerpoint/2010/main" val="389571427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023182"/>
                </a:solidFill>
                <a:latin typeface="Times New Roman"/>
                <a:cs typeface="Times New Roman"/>
                <a:sym typeface="Times New Roman"/>
              </a:rPr>
              <a:t>Output</a:t>
            </a:r>
            <a:endParaRPr lang="en-GB" dirty="0"/>
          </a:p>
        </p:txBody>
      </p:sp>
      <p:sp>
        <p:nvSpPr>
          <p:cNvPr id="3" name="Content Placeholder 2"/>
          <p:cNvSpPr>
            <a:spLocks noGrp="1"/>
          </p:cNvSpPr>
          <p:nvPr>
            <p:ph idx="1"/>
          </p:nvPr>
        </p:nvSpPr>
        <p:spPr/>
        <p:txBody>
          <a:bodyPr/>
          <a:lstStyle/>
          <a:p>
            <a:r>
              <a:rPr lang="en-GB" dirty="0" smtClean="0">
                <a:latin typeface="Times New Roman" panose="02020603050405020304" pitchFamily="18" charset="0"/>
                <a:cs typeface="Times New Roman" panose="02020603050405020304" pitchFamily="18" charset="0"/>
              </a:rPr>
              <a:t>a is 10 and b is 4</a:t>
            </a:r>
          </a:p>
          <a:p>
            <a:r>
              <a:rPr lang="en-GB" dirty="0" smtClean="0">
                <a:latin typeface="Times New Roman" panose="02020603050405020304" pitchFamily="18" charset="0"/>
                <a:cs typeface="Times New Roman" panose="02020603050405020304" pitchFamily="18" charset="0"/>
              </a:rPr>
              <a:t>a + b is 14</a:t>
            </a:r>
          </a:p>
          <a:p>
            <a:r>
              <a:rPr lang="en-GB" dirty="0" smtClean="0">
                <a:latin typeface="Times New Roman" panose="02020603050405020304" pitchFamily="18" charset="0"/>
                <a:cs typeface="Times New Roman" panose="02020603050405020304" pitchFamily="18" charset="0"/>
              </a:rPr>
              <a:t>a - b is 6</a:t>
            </a:r>
          </a:p>
          <a:p>
            <a:r>
              <a:rPr lang="en-GB" dirty="0" smtClean="0">
                <a:latin typeface="Times New Roman" panose="02020603050405020304" pitchFamily="18" charset="0"/>
                <a:cs typeface="Times New Roman" panose="02020603050405020304" pitchFamily="18" charset="0"/>
              </a:rPr>
              <a:t>a * b is 40</a:t>
            </a:r>
          </a:p>
          <a:p>
            <a:r>
              <a:rPr lang="en-GB" dirty="0" smtClean="0">
                <a:latin typeface="Times New Roman" panose="02020603050405020304" pitchFamily="18" charset="0"/>
                <a:cs typeface="Times New Roman" panose="02020603050405020304" pitchFamily="18" charset="0"/>
              </a:rPr>
              <a:t>a / b is 2</a:t>
            </a:r>
          </a:p>
          <a:p>
            <a:r>
              <a:rPr lang="en-GB" dirty="0" smtClean="0">
                <a:latin typeface="Times New Roman" panose="02020603050405020304" pitchFamily="18" charset="0"/>
                <a:cs typeface="Times New Roman" panose="02020603050405020304" pitchFamily="18" charset="0"/>
              </a:rPr>
              <a:t>a % b is 2</a:t>
            </a:r>
          </a:p>
          <a:p>
            <a:pPr marL="0" indent="0">
              <a:buNone/>
            </a:pPr>
            <a:endParaRPr lang="en-GB" dirty="0"/>
          </a:p>
        </p:txBody>
      </p:sp>
    </p:spTree>
    <p:extLst>
      <p:ext uri="{BB962C8B-B14F-4D97-AF65-F5344CB8AC3E}">
        <p14:creationId xmlns:p14="http://schemas.microsoft.com/office/powerpoint/2010/main" val="7889537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solidFill>
                  <a:srgbClr val="023182"/>
                </a:solidFill>
                <a:latin typeface="Times New Roman"/>
                <a:cs typeface="Times New Roman"/>
                <a:sym typeface="Times New Roman"/>
              </a:rPr>
              <a:t>Unary Arithmetic Operators </a:t>
            </a:r>
            <a:endParaRPr lang="en-GB" dirty="0"/>
          </a:p>
        </p:txBody>
      </p:sp>
      <p:sp>
        <p:nvSpPr>
          <p:cNvPr id="3" name="Content Placeholder 2"/>
          <p:cNvSpPr>
            <a:spLocks noGrp="1"/>
          </p:cNvSpPr>
          <p:nvPr>
            <p:ph idx="1"/>
          </p:nvPr>
        </p:nvSpPr>
        <p:spPr/>
        <p:txBody>
          <a:bodyPr>
            <a:normAutofit/>
          </a:bodyPr>
          <a:lstStyle/>
          <a:p>
            <a:pPr marL="0" indent="0" algn="just">
              <a:lnSpc>
                <a:spcPct val="150000"/>
              </a:lnSpc>
              <a:buNone/>
            </a:pPr>
            <a:r>
              <a:rPr lang="en-GB" dirty="0" smtClean="0">
                <a:latin typeface="Times New Roman" panose="02020603050405020304" pitchFamily="18" charset="0"/>
                <a:cs typeface="Times New Roman" panose="02020603050405020304" pitchFamily="18" charset="0"/>
              </a:rPr>
              <a:t>The unary arithmetic operators operate or work with a single operand. In C, we have two unary arithmetic operators which are as follows:</a:t>
            </a:r>
            <a:endParaRPr lang="en-GB"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8659013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ext uri="{D42A27DB-BD31-4B8C-83A1-F6EECF244321}">
                <p14:modId xmlns:p14="http://schemas.microsoft.com/office/powerpoint/2010/main" val="2441207162"/>
              </p:ext>
            </p:extLst>
          </p:nvPr>
        </p:nvGraphicFramePr>
        <p:xfrm>
          <a:off x="616131" y="452551"/>
          <a:ext cx="10515600" cy="6073140"/>
        </p:xfrm>
        <a:graphic>
          <a:graphicData uri="http://schemas.openxmlformats.org/drawingml/2006/table">
            <a:tbl>
              <a:tblPr/>
              <a:tblGrid>
                <a:gridCol w="2628900">
                  <a:extLst>
                    <a:ext uri="{9D8B030D-6E8A-4147-A177-3AD203B41FA5}">
                      <a16:colId xmlns="" xmlns:a16="http://schemas.microsoft.com/office/drawing/2014/main" val="3139302215"/>
                    </a:ext>
                  </a:extLst>
                </a:gridCol>
                <a:gridCol w="2628900">
                  <a:extLst>
                    <a:ext uri="{9D8B030D-6E8A-4147-A177-3AD203B41FA5}">
                      <a16:colId xmlns="" xmlns:a16="http://schemas.microsoft.com/office/drawing/2014/main" val="513058028"/>
                    </a:ext>
                  </a:extLst>
                </a:gridCol>
                <a:gridCol w="2628900">
                  <a:extLst>
                    <a:ext uri="{9D8B030D-6E8A-4147-A177-3AD203B41FA5}">
                      <a16:colId xmlns="" xmlns:a16="http://schemas.microsoft.com/office/drawing/2014/main" val="3854131772"/>
                    </a:ext>
                  </a:extLst>
                </a:gridCol>
                <a:gridCol w="2628900">
                  <a:extLst>
                    <a:ext uri="{9D8B030D-6E8A-4147-A177-3AD203B41FA5}">
                      <a16:colId xmlns="" xmlns:a16="http://schemas.microsoft.com/office/drawing/2014/main" val="3710949502"/>
                    </a:ext>
                  </a:extLst>
                </a:gridCol>
              </a:tblGrid>
              <a:tr h="0">
                <a:tc>
                  <a:txBody>
                    <a:bodyPr/>
                    <a:lstStyle/>
                    <a:p>
                      <a:pPr algn="ctr" fontAlgn="base"/>
                      <a:r>
                        <a:rPr lang="en-GB" sz="2800" b="1" dirty="0">
                          <a:effectLst/>
                        </a:rPr>
                        <a:t>Operator</a:t>
                      </a:r>
                    </a:p>
                  </a:txBody>
                  <a:tcPr marL="38100" marR="38100" marT="95250" marB="952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base"/>
                      <a:r>
                        <a:rPr lang="en-GB" sz="2800" b="1" dirty="0">
                          <a:effectLst/>
                        </a:rPr>
                        <a:t>Symbol</a:t>
                      </a:r>
                    </a:p>
                  </a:txBody>
                  <a:tcPr marL="95250" marR="95250" marT="95250" marB="952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base"/>
                      <a:r>
                        <a:rPr lang="en-GB" sz="2800" b="1">
                          <a:effectLst/>
                        </a:rPr>
                        <a:t>Operation</a:t>
                      </a:r>
                    </a:p>
                  </a:txBody>
                  <a:tcPr marL="95250" marR="95250" marT="95250" marB="952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base"/>
                      <a:r>
                        <a:rPr lang="en-GB" sz="2800" b="1">
                          <a:effectLst/>
                        </a:rPr>
                        <a:t>Implementation</a:t>
                      </a:r>
                    </a:p>
                  </a:txBody>
                  <a:tcPr marL="95250" marR="95250" marT="95250" marB="952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 xmlns:a16="http://schemas.microsoft.com/office/drawing/2014/main" val="144981123"/>
                  </a:ext>
                </a:extLst>
              </a:tr>
              <a:tr h="0">
                <a:tc>
                  <a:txBody>
                    <a:bodyPr/>
                    <a:lstStyle/>
                    <a:p>
                      <a:pPr algn="ctr" fontAlgn="ctr"/>
                      <a:r>
                        <a:rPr lang="en-GB" sz="2400" b="0">
                          <a:effectLst/>
                        </a:rPr>
                        <a:t>Decrement Operator</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base"/>
                      <a:r>
                        <a:rPr lang="en-GB" sz="2400" b="1">
                          <a:effectLst/>
                        </a:rPr>
                        <a:t>—</a:t>
                      </a:r>
                      <a:endParaRPr lang="en-GB" sz="2400" b="0">
                        <a:effectLst/>
                      </a:endParaRP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just" fontAlgn="ctr"/>
                      <a:r>
                        <a:rPr lang="en-GB" sz="2400" b="0" dirty="0">
                          <a:effectLst/>
                        </a:rPr>
                        <a:t>Decreases the integer value of the variable by one.</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GB" sz="2400" b="0">
                          <a:effectLst/>
                        </a:rPr>
                        <a:t>–h or h–</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 xmlns:a16="http://schemas.microsoft.com/office/drawing/2014/main" val="3514128476"/>
                  </a:ext>
                </a:extLst>
              </a:tr>
              <a:tr h="0">
                <a:tc>
                  <a:txBody>
                    <a:bodyPr/>
                    <a:lstStyle/>
                    <a:p>
                      <a:pPr algn="ctr" fontAlgn="ctr"/>
                      <a:r>
                        <a:rPr lang="en-GB" sz="2400" b="0">
                          <a:effectLst/>
                        </a:rPr>
                        <a:t>Increment Operator</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base"/>
                      <a:r>
                        <a:rPr lang="en-GB" sz="2400" b="1">
                          <a:effectLst/>
                        </a:rPr>
                        <a:t>++</a:t>
                      </a:r>
                      <a:endParaRPr lang="en-GB" sz="2400" b="0">
                        <a:effectLst/>
                      </a:endParaRP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just" fontAlgn="ctr"/>
                      <a:r>
                        <a:rPr lang="en-GB" sz="2400" b="0" dirty="0">
                          <a:effectLst/>
                        </a:rPr>
                        <a:t>Increases the integer value of the variable by one.</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GB" sz="2400" b="0">
                          <a:effectLst/>
                        </a:rPr>
                        <a:t>++h or h++</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 xmlns:a16="http://schemas.microsoft.com/office/drawing/2014/main" val="1234790819"/>
                  </a:ext>
                </a:extLst>
              </a:tr>
              <a:tr h="0">
                <a:tc>
                  <a:txBody>
                    <a:bodyPr/>
                    <a:lstStyle/>
                    <a:p>
                      <a:pPr algn="ctr" fontAlgn="ctr"/>
                      <a:r>
                        <a:rPr lang="en-GB" sz="2400" b="0">
                          <a:effectLst/>
                        </a:rPr>
                        <a:t>Unary Plus Operator</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base"/>
                      <a:r>
                        <a:rPr lang="en-GB" sz="2400" b="1">
                          <a:effectLst/>
                        </a:rPr>
                        <a:t>+</a:t>
                      </a:r>
                      <a:endParaRPr lang="en-GB" sz="2400" b="0">
                        <a:effectLst/>
                      </a:endParaRP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just" fontAlgn="ctr"/>
                      <a:r>
                        <a:rPr lang="en-GB" sz="2400" b="0" dirty="0">
                          <a:effectLst/>
                        </a:rPr>
                        <a:t>Returns the value of its operand.</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GB" sz="2400" b="0">
                          <a:effectLst/>
                        </a:rPr>
                        <a:t>+h</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 xmlns:a16="http://schemas.microsoft.com/office/drawing/2014/main" val="1331626807"/>
                  </a:ext>
                </a:extLst>
              </a:tr>
              <a:tr h="0">
                <a:tc>
                  <a:txBody>
                    <a:bodyPr/>
                    <a:lstStyle/>
                    <a:p>
                      <a:pPr algn="ctr" fontAlgn="ctr"/>
                      <a:r>
                        <a:rPr lang="en-GB" sz="2400" b="0">
                          <a:effectLst/>
                        </a:rPr>
                        <a:t>Unary Minus Operator</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base"/>
                      <a:r>
                        <a:rPr lang="en-GB" sz="2400" b="1">
                          <a:effectLst/>
                        </a:rPr>
                        <a:t>–</a:t>
                      </a:r>
                      <a:endParaRPr lang="en-GB" sz="2400" b="0">
                        <a:effectLst/>
                      </a:endParaRP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just" fontAlgn="ctr"/>
                      <a:r>
                        <a:rPr lang="en-GB" sz="2400" b="0" dirty="0">
                          <a:effectLst/>
                        </a:rPr>
                        <a:t>Returns the negative of the value of its operand.</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GB" sz="2400" b="0" dirty="0">
                          <a:effectLst/>
                        </a:rPr>
                        <a:t>-h</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 xmlns:a16="http://schemas.microsoft.com/office/drawing/2014/main" val="3110242471"/>
                  </a:ext>
                </a:extLst>
              </a:tr>
            </a:tbl>
          </a:graphicData>
        </a:graphic>
      </p:graphicFrame>
    </p:spTree>
    <p:extLst>
      <p:ext uri="{BB962C8B-B14F-4D97-AF65-F5344CB8AC3E}">
        <p14:creationId xmlns:p14="http://schemas.microsoft.com/office/powerpoint/2010/main" val="116849551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023182"/>
                </a:solidFill>
                <a:latin typeface="Times New Roman"/>
                <a:cs typeface="Times New Roman"/>
                <a:sym typeface="Times New Roman"/>
              </a:rPr>
              <a:t>Relational Operators </a:t>
            </a:r>
            <a:endParaRPr lang="en-GB" dirty="0"/>
          </a:p>
        </p:txBody>
      </p:sp>
      <p:sp>
        <p:nvSpPr>
          <p:cNvPr id="3" name="Content Placeholder 2"/>
          <p:cNvSpPr>
            <a:spLocks noGrp="1"/>
          </p:cNvSpPr>
          <p:nvPr>
            <p:ph idx="1"/>
          </p:nvPr>
        </p:nvSpPr>
        <p:spPr/>
        <p:txBody>
          <a:bodyPr>
            <a:normAutofit fontScale="92500" lnSpcReduction="10000"/>
          </a:bodyPr>
          <a:lstStyle/>
          <a:p>
            <a:pPr algn="just">
              <a:lnSpc>
                <a:spcPct val="150000"/>
              </a:lnSpc>
            </a:pPr>
            <a:r>
              <a:rPr lang="en-GB" dirty="0" smtClean="0">
                <a:latin typeface="Times New Roman" panose="02020603050405020304" pitchFamily="18" charset="0"/>
                <a:cs typeface="Times New Roman" panose="02020603050405020304" pitchFamily="18" charset="0"/>
              </a:rPr>
              <a:t>In C, </a:t>
            </a:r>
            <a:r>
              <a:rPr lang="en-GB" b="1" dirty="0" smtClean="0">
                <a:latin typeface="Times New Roman" panose="02020603050405020304" pitchFamily="18" charset="0"/>
                <a:cs typeface="Times New Roman" panose="02020603050405020304" pitchFamily="18" charset="0"/>
              </a:rPr>
              <a:t>relational operators </a:t>
            </a:r>
            <a:r>
              <a:rPr lang="en-GB" dirty="0" smtClean="0">
                <a:latin typeface="Times New Roman" panose="02020603050405020304" pitchFamily="18" charset="0"/>
                <a:cs typeface="Times New Roman" panose="02020603050405020304" pitchFamily="18" charset="0"/>
              </a:rPr>
              <a:t>are the symbols that are used for comparison between two values to understand the type of relationship a pair of numbers shares. </a:t>
            </a:r>
          </a:p>
          <a:p>
            <a:pPr algn="just">
              <a:lnSpc>
                <a:spcPct val="150000"/>
              </a:lnSpc>
            </a:pPr>
            <a:r>
              <a:rPr lang="en-GB" dirty="0" smtClean="0">
                <a:latin typeface="Times New Roman" panose="02020603050405020304" pitchFamily="18" charset="0"/>
                <a:cs typeface="Times New Roman" panose="02020603050405020304" pitchFamily="18" charset="0"/>
              </a:rPr>
              <a:t>The result that we get after the relational operation is a </a:t>
            </a:r>
            <a:r>
              <a:rPr lang="en-GB" dirty="0" err="1" smtClean="0">
                <a:latin typeface="Times New Roman" panose="02020603050405020304" pitchFamily="18" charset="0"/>
                <a:cs typeface="Times New Roman" panose="02020603050405020304" pitchFamily="18" charset="0"/>
              </a:rPr>
              <a:t>boolean</a:t>
            </a:r>
            <a:r>
              <a:rPr lang="en-GB" dirty="0" smtClean="0">
                <a:latin typeface="Times New Roman" panose="02020603050405020304" pitchFamily="18" charset="0"/>
                <a:cs typeface="Times New Roman" panose="02020603050405020304" pitchFamily="18" charset="0"/>
              </a:rPr>
              <a:t> value, that tells whether the comparison is true or false. </a:t>
            </a:r>
          </a:p>
          <a:p>
            <a:pPr algn="just">
              <a:lnSpc>
                <a:spcPct val="150000"/>
              </a:lnSpc>
            </a:pPr>
            <a:r>
              <a:rPr lang="en-GB" dirty="0" smtClean="0">
                <a:latin typeface="Times New Roman" panose="02020603050405020304" pitchFamily="18" charset="0"/>
                <a:cs typeface="Times New Roman" panose="02020603050405020304" pitchFamily="18" charset="0"/>
              </a:rPr>
              <a:t>Relational operators are mainly used in conditional statements and loops to check the conditions in C programming.</a:t>
            </a:r>
          </a:p>
          <a:p>
            <a:pPr marL="0" indent="0">
              <a:buNone/>
            </a:pPr>
            <a:endParaRPr lang="en-GB" dirty="0"/>
          </a:p>
        </p:txBody>
      </p:sp>
    </p:spTree>
    <p:extLst>
      <p:ext uri="{BB962C8B-B14F-4D97-AF65-F5344CB8AC3E}">
        <p14:creationId xmlns:p14="http://schemas.microsoft.com/office/powerpoint/2010/main" val="44370694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875210" y="391885"/>
            <a:ext cx="9757955" cy="6152605"/>
          </a:xfrm>
          <a:prstGeom prst="rect">
            <a:avLst/>
          </a:prstGeom>
        </p:spPr>
      </p:pic>
    </p:spTree>
    <p:extLst>
      <p:ext uri="{BB962C8B-B14F-4D97-AF65-F5344CB8AC3E}">
        <p14:creationId xmlns:p14="http://schemas.microsoft.com/office/powerpoint/2010/main" val="203919783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023182"/>
                </a:solidFill>
                <a:latin typeface="Times New Roman"/>
                <a:cs typeface="Times New Roman"/>
                <a:sym typeface="Times New Roman"/>
              </a:rPr>
              <a:t>Equal to operator (==)</a:t>
            </a:r>
            <a:endParaRPr lang="en-GB" dirty="0"/>
          </a:p>
        </p:txBody>
      </p:sp>
      <p:sp>
        <p:nvSpPr>
          <p:cNvPr id="3" name="Content Placeholder 2"/>
          <p:cNvSpPr>
            <a:spLocks noGrp="1"/>
          </p:cNvSpPr>
          <p:nvPr>
            <p:ph idx="1"/>
          </p:nvPr>
        </p:nvSpPr>
        <p:spPr/>
        <p:txBody>
          <a:bodyPr/>
          <a:lstStyle/>
          <a:p>
            <a:pPr algn="just" fontAlgn="base">
              <a:lnSpc>
                <a:spcPct val="150000"/>
              </a:lnSpc>
            </a:pPr>
            <a:r>
              <a:rPr lang="en-GB" dirty="0" smtClean="0">
                <a:latin typeface="Times New Roman" panose="02020603050405020304" pitchFamily="18" charset="0"/>
                <a:cs typeface="Times New Roman" panose="02020603050405020304" pitchFamily="18" charset="0"/>
              </a:rPr>
              <a:t>The C </a:t>
            </a:r>
            <a:r>
              <a:rPr lang="en-GB" b="1" dirty="0" smtClean="0">
                <a:latin typeface="Times New Roman" panose="02020603050405020304" pitchFamily="18" charset="0"/>
                <a:cs typeface="Times New Roman" panose="02020603050405020304" pitchFamily="18" charset="0"/>
              </a:rPr>
              <a:t>equal to</a:t>
            </a:r>
            <a:r>
              <a:rPr lang="en-GB" dirty="0" smtClean="0">
                <a:latin typeface="Times New Roman" panose="02020603050405020304" pitchFamily="18" charset="0"/>
                <a:cs typeface="Times New Roman" panose="02020603050405020304" pitchFamily="18" charset="0"/>
              </a:rPr>
              <a:t> operator (==) is a relational operator that is used to check whether the two given operands are equal or not.</a:t>
            </a:r>
          </a:p>
          <a:p>
            <a:pPr algn="just" fontAlgn="base">
              <a:lnSpc>
                <a:spcPct val="150000"/>
              </a:lnSpc>
            </a:pPr>
            <a:r>
              <a:rPr lang="en-GB" dirty="0" smtClean="0">
                <a:latin typeface="Times New Roman" panose="02020603050405020304" pitchFamily="18" charset="0"/>
                <a:cs typeface="Times New Roman" panose="02020603050405020304" pitchFamily="18" charset="0"/>
              </a:rPr>
              <a:t>Equal to operator is a binary operator hence it requires two operands to perform the comparison.</a:t>
            </a:r>
          </a:p>
          <a:p>
            <a:pPr algn="just" fontAlgn="base">
              <a:lnSpc>
                <a:spcPct val="150000"/>
              </a:lnSpc>
            </a:pPr>
            <a:r>
              <a:rPr lang="en-GB" dirty="0" smtClean="0">
                <a:latin typeface="Times New Roman" panose="02020603050405020304" pitchFamily="18" charset="0"/>
                <a:cs typeface="Times New Roman" panose="02020603050405020304" pitchFamily="18" charset="0"/>
              </a:rPr>
              <a:t>If the two values are equal, it returns true. Otherwise, it returns false.</a:t>
            </a:r>
          </a:p>
          <a:p>
            <a:pPr marL="0" indent="0">
              <a:buNone/>
            </a:pPr>
            <a:endParaRPr lang="en-GB" dirty="0"/>
          </a:p>
        </p:txBody>
      </p:sp>
    </p:spTree>
    <p:extLst>
      <p:ext uri="{BB962C8B-B14F-4D97-AF65-F5344CB8AC3E}">
        <p14:creationId xmlns:p14="http://schemas.microsoft.com/office/powerpoint/2010/main" val="416710224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023182"/>
                </a:solidFill>
                <a:latin typeface="Times New Roman"/>
                <a:cs typeface="Times New Roman"/>
                <a:sym typeface="Times New Roman"/>
              </a:rPr>
              <a:t>Syntax</a:t>
            </a:r>
            <a:endParaRPr lang="en-GB" dirty="0"/>
          </a:p>
        </p:txBody>
      </p:sp>
      <p:sp>
        <p:nvSpPr>
          <p:cNvPr id="3" name="Content Placeholder 2"/>
          <p:cNvSpPr>
            <a:spLocks noGrp="1"/>
          </p:cNvSpPr>
          <p:nvPr>
            <p:ph idx="1"/>
          </p:nvPr>
        </p:nvSpPr>
        <p:spPr/>
        <p:txBody>
          <a:bodyPr/>
          <a:lstStyle/>
          <a:p>
            <a:r>
              <a:rPr lang="en-GB" dirty="0" smtClean="0">
                <a:latin typeface="Times New Roman" panose="02020603050405020304" pitchFamily="18" charset="0"/>
                <a:cs typeface="Times New Roman" panose="02020603050405020304" pitchFamily="18" charset="0"/>
              </a:rPr>
              <a:t>operand1 == operand2</a:t>
            </a:r>
          </a:p>
          <a:p>
            <a:r>
              <a:rPr lang="en-GB" dirty="0" smtClean="0">
                <a:latin typeface="Times New Roman" panose="02020603050405020304" pitchFamily="18" charset="0"/>
                <a:cs typeface="Times New Roman" panose="02020603050405020304" pitchFamily="18" charset="0"/>
              </a:rPr>
              <a:t>For example</a:t>
            </a:r>
            <a:r>
              <a:rPr lang="en-GB" b="1" dirty="0" smtClean="0">
                <a:latin typeface="Times New Roman" panose="02020603050405020304" pitchFamily="18" charset="0"/>
                <a:cs typeface="Times New Roman" panose="02020603050405020304" pitchFamily="18" charset="0"/>
              </a:rPr>
              <a:t>, 5==5</a:t>
            </a:r>
            <a:r>
              <a:rPr lang="en-GB" dirty="0" smtClean="0">
                <a:latin typeface="Times New Roman" panose="02020603050405020304" pitchFamily="18" charset="0"/>
                <a:cs typeface="Times New Roman" panose="02020603050405020304" pitchFamily="18" charset="0"/>
              </a:rPr>
              <a:t> will return true</a:t>
            </a:r>
            <a:endParaRPr lang="en-GB"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1529252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023182"/>
                </a:solidFill>
                <a:latin typeface="Times New Roman"/>
                <a:cs typeface="Times New Roman"/>
                <a:sym typeface="Times New Roman"/>
              </a:rPr>
              <a:t>Not equal to operator (!=)</a:t>
            </a:r>
            <a:endParaRPr lang="en-GB" dirty="0"/>
          </a:p>
        </p:txBody>
      </p:sp>
      <p:sp>
        <p:nvSpPr>
          <p:cNvPr id="3" name="Content Placeholder 2"/>
          <p:cNvSpPr>
            <a:spLocks noGrp="1"/>
          </p:cNvSpPr>
          <p:nvPr>
            <p:ph idx="1"/>
          </p:nvPr>
        </p:nvSpPr>
        <p:spPr/>
        <p:txBody>
          <a:bodyPr/>
          <a:lstStyle/>
          <a:p>
            <a:pPr marL="0" indent="0" algn="just" fontAlgn="base">
              <a:lnSpc>
                <a:spcPct val="150000"/>
              </a:lnSpc>
              <a:buNone/>
            </a:pPr>
            <a:r>
              <a:rPr lang="en-GB" dirty="0" smtClean="0">
                <a:latin typeface="Times New Roman" panose="02020603050405020304" pitchFamily="18" charset="0"/>
                <a:cs typeface="Times New Roman" panose="02020603050405020304" pitchFamily="18" charset="0"/>
              </a:rPr>
              <a:t>The C not equal </a:t>
            </a:r>
            <a:r>
              <a:rPr lang="en-GB" dirty="0" smtClean="0">
                <a:latin typeface="Times New Roman" panose="02020603050405020304" pitchFamily="18" charset="0"/>
                <a:cs typeface="Times New Roman" panose="02020603050405020304" pitchFamily="18" charset="0"/>
              </a:rPr>
              <a:t>(!=) </a:t>
            </a:r>
            <a:r>
              <a:rPr lang="en-GB" dirty="0" smtClean="0">
                <a:latin typeface="Times New Roman" panose="02020603050405020304" pitchFamily="18" charset="0"/>
                <a:cs typeface="Times New Roman" panose="02020603050405020304" pitchFamily="18" charset="0"/>
              </a:rPr>
              <a:t>to operator is another relational operator used for checking whether the two given operands are equal or not.</a:t>
            </a:r>
          </a:p>
          <a:p>
            <a:pPr marL="0" indent="0" algn="just" fontAlgn="base">
              <a:lnSpc>
                <a:spcPct val="150000"/>
              </a:lnSpc>
              <a:buNone/>
            </a:pPr>
            <a:r>
              <a:rPr lang="en-GB" dirty="0" smtClean="0">
                <a:latin typeface="Times New Roman" panose="02020603050405020304" pitchFamily="18" charset="0"/>
                <a:cs typeface="Times New Roman" panose="02020603050405020304" pitchFamily="18" charset="0"/>
              </a:rPr>
              <a:t>It is also a binary operator, requiring two operands to perform the comparison.</a:t>
            </a:r>
          </a:p>
          <a:p>
            <a:pPr marL="0" indent="0" algn="just" fontAlgn="base">
              <a:lnSpc>
                <a:spcPct val="150000"/>
              </a:lnSpc>
              <a:buNone/>
            </a:pPr>
            <a:r>
              <a:rPr lang="en-GB" dirty="0" smtClean="0">
                <a:latin typeface="Times New Roman" panose="02020603050405020304" pitchFamily="18" charset="0"/>
                <a:cs typeface="Times New Roman" panose="02020603050405020304" pitchFamily="18" charset="0"/>
              </a:rPr>
              <a:t>It is the exact </a:t>
            </a:r>
            <a:r>
              <a:rPr lang="en-GB" dirty="0" err="1" smtClean="0">
                <a:latin typeface="Times New Roman" panose="02020603050405020304" pitchFamily="18" charset="0"/>
                <a:cs typeface="Times New Roman" panose="02020603050405020304" pitchFamily="18" charset="0"/>
              </a:rPr>
              <a:t>boolean</a:t>
            </a:r>
            <a:r>
              <a:rPr lang="en-GB" dirty="0" smtClean="0">
                <a:latin typeface="Times New Roman" panose="02020603050405020304" pitchFamily="18" charset="0"/>
                <a:cs typeface="Times New Roman" panose="02020603050405020304" pitchFamily="18" charset="0"/>
              </a:rPr>
              <a:t> complement of the </a:t>
            </a:r>
            <a:r>
              <a:rPr lang="en-GB" b="1" dirty="0" smtClean="0">
                <a:latin typeface="Times New Roman" panose="02020603050405020304" pitchFamily="18" charset="0"/>
                <a:cs typeface="Times New Roman" panose="02020603050405020304" pitchFamily="18" charset="0"/>
              </a:rPr>
              <a:t>‘==’</a:t>
            </a:r>
            <a:r>
              <a:rPr lang="en-GB" dirty="0" smtClean="0">
                <a:latin typeface="Times New Roman" panose="02020603050405020304" pitchFamily="18" charset="0"/>
                <a:cs typeface="Times New Roman" panose="02020603050405020304" pitchFamily="18" charset="0"/>
              </a:rPr>
              <a:t> operator which returns true if the two values are not equal, false otherwise.</a:t>
            </a:r>
          </a:p>
          <a:p>
            <a:pPr marL="0" indent="0">
              <a:buNone/>
            </a:pPr>
            <a:endParaRPr lang="en-GB" dirty="0"/>
          </a:p>
        </p:txBody>
      </p:sp>
    </p:spTree>
    <p:extLst>
      <p:ext uri="{BB962C8B-B14F-4D97-AF65-F5344CB8AC3E}">
        <p14:creationId xmlns:p14="http://schemas.microsoft.com/office/powerpoint/2010/main" val="136160477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023182"/>
                </a:solidFill>
                <a:latin typeface="Times New Roman"/>
                <a:cs typeface="Times New Roman"/>
                <a:sym typeface="Times New Roman"/>
              </a:rPr>
              <a:t>Syntax</a:t>
            </a:r>
            <a:endParaRPr lang="en-GB" dirty="0"/>
          </a:p>
        </p:txBody>
      </p:sp>
      <p:sp>
        <p:nvSpPr>
          <p:cNvPr id="3" name="Content Placeholder 2"/>
          <p:cNvSpPr>
            <a:spLocks noGrp="1"/>
          </p:cNvSpPr>
          <p:nvPr>
            <p:ph idx="1"/>
          </p:nvPr>
        </p:nvSpPr>
        <p:spPr/>
        <p:txBody>
          <a:bodyPr/>
          <a:lstStyle/>
          <a:p>
            <a:r>
              <a:rPr lang="en-GB" b="1" dirty="0" smtClean="0">
                <a:latin typeface="Times New Roman" panose="02020603050405020304" pitchFamily="18" charset="0"/>
                <a:cs typeface="Times New Roman" panose="02020603050405020304" pitchFamily="18" charset="0"/>
              </a:rPr>
              <a:t>operand1 != operand2</a:t>
            </a:r>
          </a:p>
          <a:p>
            <a:r>
              <a:rPr lang="en-GB" dirty="0" smtClean="0">
                <a:latin typeface="Times New Roman" panose="02020603050405020304" pitchFamily="18" charset="0"/>
                <a:cs typeface="Times New Roman" panose="02020603050405020304" pitchFamily="18" charset="0"/>
              </a:rPr>
              <a:t>For example, </a:t>
            </a:r>
            <a:r>
              <a:rPr lang="en-GB" b="1" dirty="0" smtClean="0">
                <a:latin typeface="Times New Roman" panose="02020603050405020304" pitchFamily="18" charset="0"/>
                <a:cs typeface="Times New Roman" panose="02020603050405020304" pitchFamily="18" charset="0"/>
              </a:rPr>
              <a:t>5!=5</a:t>
            </a:r>
            <a:r>
              <a:rPr lang="en-GB" dirty="0" smtClean="0">
                <a:latin typeface="Times New Roman" panose="02020603050405020304" pitchFamily="18" charset="0"/>
                <a:cs typeface="Times New Roman" panose="02020603050405020304" pitchFamily="18" charset="0"/>
              </a:rPr>
              <a:t> will return false.</a:t>
            </a:r>
          </a:p>
          <a:p>
            <a:pPr marL="0" indent="0">
              <a:buNone/>
            </a:pPr>
            <a:endParaRPr lang="en-GB" dirty="0"/>
          </a:p>
        </p:txBody>
      </p:sp>
    </p:spTree>
    <p:extLst>
      <p:ext uri="{BB962C8B-B14F-4D97-AF65-F5344CB8AC3E}">
        <p14:creationId xmlns:p14="http://schemas.microsoft.com/office/powerpoint/2010/main" val="195852169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023182"/>
                </a:solidFill>
                <a:latin typeface="Times New Roman"/>
                <a:cs typeface="Times New Roman"/>
                <a:sym typeface="Times New Roman"/>
              </a:rPr>
              <a:t>Logical operators</a:t>
            </a:r>
            <a:endParaRPr lang="en-GB" dirty="0"/>
          </a:p>
        </p:txBody>
      </p:sp>
      <p:sp>
        <p:nvSpPr>
          <p:cNvPr id="3" name="Content Placeholder 2"/>
          <p:cNvSpPr>
            <a:spLocks noGrp="1"/>
          </p:cNvSpPr>
          <p:nvPr>
            <p:ph idx="1"/>
          </p:nvPr>
        </p:nvSpPr>
        <p:spPr/>
        <p:txBody>
          <a:bodyPr>
            <a:normAutofit fontScale="92500" lnSpcReduction="20000"/>
          </a:bodyPr>
          <a:lstStyle/>
          <a:p>
            <a:pPr algn="just" fontAlgn="base">
              <a:lnSpc>
                <a:spcPct val="150000"/>
              </a:lnSpc>
            </a:pPr>
            <a:r>
              <a:rPr lang="en-GB" dirty="0" smtClean="0">
                <a:latin typeface="Times New Roman" panose="02020603050405020304" pitchFamily="18" charset="0"/>
                <a:cs typeface="Times New Roman" panose="02020603050405020304" pitchFamily="18" charset="0"/>
              </a:rPr>
              <a:t>Logical operators in C are used to combine multiple conditions/constraints. Logical Operators returns either 0 or 1, it depends on whether the expression result is true or false. In C programming for decision-making, we use logical operators.</a:t>
            </a:r>
          </a:p>
          <a:p>
            <a:pPr algn="just" fontAlgn="base">
              <a:lnSpc>
                <a:spcPct val="150000"/>
              </a:lnSpc>
            </a:pPr>
            <a:r>
              <a:rPr lang="en-GB" dirty="0" smtClean="0">
                <a:latin typeface="Times New Roman" panose="02020603050405020304" pitchFamily="18" charset="0"/>
                <a:cs typeface="Times New Roman" panose="02020603050405020304" pitchFamily="18" charset="0"/>
              </a:rPr>
              <a:t>We have 3 logical operators in the C language:</a:t>
            </a:r>
          </a:p>
          <a:p>
            <a:pPr lvl="1" algn="just" fontAlgn="base">
              <a:lnSpc>
                <a:spcPct val="150000"/>
              </a:lnSpc>
            </a:pPr>
            <a:r>
              <a:rPr lang="en-GB" b="1" dirty="0" smtClean="0">
                <a:latin typeface="Times New Roman" panose="02020603050405020304" pitchFamily="18" charset="0"/>
                <a:cs typeface="Times New Roman" panose="02020603050405020304" pitchFamily="18" charset="0"/>
              </a:rPr>
              <a:t>Logical AND ( &amp;&amp; )</a:t>
            </a:r>
            <a:endParaRPr lang="en-GB" dirty="0" smtClean="0">
              <a:latin typeface="Times New Roman" panose="02020603050405020304" pitchFamily="18" charset="0"/>
              <a:cs typeface="Times New Roman" panose="02020603050405020304" pitchFamily="18" charset="0"/>
            </a:endParaRPr>
          </a:p>
          <a:p>
            <a:pPr lvl="1" algn="just" fontAlgn="base">
              <a:lnSpc>
                <a:spcPct val="150000"/>
              </a:lnSpc>
            </a:pPr>
            <a:r>
              <a:rPr lang="en-GB" b="1" dirty="0" smtClean="0">
                <a:latin typeface="Times New Roman" panose="02020603050405020304" pitchFamily="18" charset="0"/>
                <a:cs typeface="Times New Roman" panose="02020603050405020304" pitchFamily="18" charset="0"/>
              </a:rPr>
              <a:t>Logical OR ( || )</a:t>
            </a:r>
            <a:endParaRPr lang="en-GB" dirty="0" smtClean="0">
              <a:latin typeface="Times New Roman" panose="02020603050405020304" pitchFamily="18" charset="0"/>
              <a:cs typeface="Times New Roman" panose="02020603050405020304" pitchFamily="18" charset="0"/>
            </a:endParaRPr>
          </a:p>
          <a:p>
            <a:pPr lvl="1" algn="just" fontAlgn="base">
              <a:lnSpc>
                <a:spcPct val="150000"/>
              </a:lnSpc>
            </a:pPr>
            <a:r>
              <a:rPr lang="en-GB" b="1" dirty="0" smtClean="0">
                <a:latin typeface="Times New Roman" panose="02020603050405020304" pitchFamily="18" charset="0"/>
                <a:cs typeface="Times New Roman" panose="02020603050405020304" pitchFamily="18" charset="0"/>
              </a:rPr>
              <a:t>Logical NOT ( ! )</a:t>
            </a:r>
            <a:endParaRPr lang="en-GB" dirty="0" smtClean="0">
              <a:latin typeface="Times New Roman" panose="02020603050405020304" pitchFamily="18" charset="0"/>
              <a:cs typeface="Times New Roman" panose="02020603050405020304" pitchFamily="18" charset="0"/>
            </a:endParaRPr>
          </a:p>
          <a:p>
            <a:pPr marL="0" indent="0">
              <a:buNone/>
            </a:pPr>
            <a:endParaRPr lang="en-GB" dirty="0"/>
          </a:p>
        </p:txBody>
      </p:sp>
    </p:spTree>
    <p:extLst>
      <p:ext uri="{BB962C8B-B14F-4D97-AF65-F5344CB8AC3E}">
        <p14:creationId xmlns:p14="http://schemas.microsoft.com/office/powerpoint/2010/main" val="35323221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023182"/>
                </a:solidFill>
                <a:latin typeface="Times New Roman"/>
                <a:cs typeface="Times New Roman"/>
                <a:sym typeface="Times New Roman"/>
              </a:rPr>
              <a:t>Types of Logical Operators</a:t>
            </a:r>
            <a:endParaRPr lang="en-GB" dirty="0"/>
          </a:p>
        </p:txBody>
      </p:sp>
      <p:sp>
        <p:nvSpPr>
          <p:cNvPr id="3" name="Content Placeholder 2"/>
          <p:cNvSpPr>
            <a:spLocks noGrp="1"/>
          </p:cNvSpPr>
          <p:nvPr>
            <p:ph idx="1"/>
          </p:nvPr>
        </p:nvSpPr>
        <p:spPr/>
        <p:txBody>
          <a:bodyPr/>
          <a:lstStyle/>
          <a:p>
            <a:pPr marL="0" indent="0">
              <a:buNone/>
            </a:pPr>
            <a:r>
              <a:rPr lang="en-GB" b="1" dirty="0" smtClean="0">
                <a:latin typeface="Times New Roman" panose="02020603050405020304" pitchFamily="18" charset="0"/>
                <a:cs typeface="Times New Roman" panose="02020603050405020304" pitchFamily="18" charset="0"/>
              </a:rPr>
              <a:t>Logical AND Operator ( &amp;&amp; )</a:t>
            </a:r>
          </a:p>
          <a:p>
            <a:pPr marL="0" indent="0">
              <a:buNone/>
            </a:pPr>
            <a:endParaRPr lang="en-GB" b="1" dirty="0" smtClean="0">
              <a:latin typeface="Times New Roman" panose="02020603050405020304" pitchFamily="18" charset="0"/>
              <a:cs typeface="Times New Roman" panose="02020603050405020304" pitchFamily="18" charset="0"/>
            </a:endParaRPr>
          </a:p>
          <a:p>
            <a:pPr marL="0" indent="0" algn="just">
              <a:lnSpc>
                <a:spcPct val="150000"/>
              </a:lnSpc>
              <a:buNone/>
            </a:pPr>
            <a:r>
              <a:rPr lang="en-GB" dirty="0" smtClean="0">
                <a:latin typeface="Times New Roman" panose="02020603050405020304" pitchFamily="18" charset="0"/>
                <a:cs typeface="Times New Roman" panose="02020603050405020304" pitchFamily="18" charset="0"/>
              </a:rPr>
              <a:t>The logical </a:t>
            </a:r>
            <a:r>
              <a:rPr lang="en-GB" b="1" dirty="0" smtClean="0">
                <a:latin typeface="Times New Roman" panose="02020603050405020304" pitchFamily="18" charset="0"/>
                <a:cs typeface="Times New Roman" panose="02020603050405020304" pitchFamily="18" charset="0"/>
              </a:rPr>
              <a:t>AND</a:t>
            </a:r>
            <a:r>
              <a:rPr lang="en-GB" dirty="0" smtClean="0">
                <a:latin typeface="Times New Roman" panose="02020603050405020304" pitchFamily="18" charset="0"/>
                <a:cs typeface="Times New Roman" panose="02020603050405020304" pitchFamily="18" charset="0"/>
              </a:rPr>
              <a:t> operator (</a:t>
            </a:r>
            <a:r>
              <a:rPr lang="en-GB" b="1" dirty="0" smtClean="0">
                <a:latin typeface="Times New Roman" panose="02020603050405020304" pitchFamily="18" charset="0"/>
                <a:cs typeface="Times New Roman" panose="02020603050405020304" pitchFamily="18" charset="0"/>
              </a:rPr>
              <a:t>&amp;&amp;</a:t>
            </a:r>
            <a:r>
              <a:rPr lang="en-GB" dirty="0" smtClean="0">
                <a:latin typeface="Times New Roman" panose="02020603050405020304" pitchFamily="18" charset="0"/>
                <a:cs typeface="Times New Roman" panose="02020603050405020304" pitchFamily="18" charset="0"/>
              </a:rPr>
              <a:t>) returns true only if both operands are non-zero. Otherwise, it returns false (0). The return type of the result is int. Below is the truth table for the logical AND operator.</a:t>
            </a:r>
          </a:p>
          <a:p>
            <a:pPr marL="0" indent="0">
              <a:buNone/>
            </a:pPr>
            <a:endParaRPr lang="en-GB" dirty="0"/>
          </a:p>
        </p:txBody>
      </p:sp>
    </p:spTree>
    <p:extLst>
      <p:ext uri="{BB962C8B-B14F-4D97-AF65-F5344CB8AC3E}">
        <p14:creationId xmlns:p14="http://schemas.microsoft.com/office/powerpoint/2010/main" val="314305136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ext uri="{D42A27DB-BD31-4B8C-83A1-F6EECF244321}">
                <p14:modId xmlns:p14="http://schemas.microsoft.com/office/powerpoint/2010/main" val="2836957006"/>
              </p:ext>
            </p:extLst>
          </p:nvPr>
        </p:nvGraphicFramePr>
        <p:xfrm>
          <a:off x="707572" y="1543845"/>
          <a:ext cx="10515600" cy="3451860"/>
        </p:xfrm>
        <a:graphic>
          <a:graphicData uri="http://schemas.openxmlformats.org/drawingml/2006/table">
            <a:tbl>
              <a:tblPr/>
              <a:tblGrid>
                <a:gridCol w="3505200">
                  <a:extLst>
                    <a:ext uri="{9D8B030D-6E8A-4147-A177-3AD203B41FA5}">
                      <a16:colId xmlns="" xmlns:a16="http://schemas.microsoft.com/office/drawing/2014/main" val="3746891718"/>
                    </a:ext>
                  </a:extLst>
                </a:gridCol>
                <a:gridCol w="3505200">
                  <a:extLst>
                    <a:ext uri="{9D8B030D-6E8A-4147-A177-3AD203B41FA5}">
                      <a16:colId xmlns="" xmlns:a16="http://schemas.microsoft.com/office/drawing/2014/main" val="2381552434"/>
                    </a:ext>
                  </a:extLst>
                </a:gridCol>
                <a:gridCol w="3505200">
                  <a:extLst>
                    <a:ext uri="{9D8B030D-6E8A-4147-A177-3AD203B41FA5}">
                      <a16:colId xmlns="" xmlns:a16="http://schemas.microsoft.com/office/drawing/2014/main" val="3663739206"/>
                    </a:ext>
                  </a:extLst>
                </a:gridCol>
              </a:tblGrid>
              <a:tr h="570127">
                <a:tc>
                  <a:txBody>
                    <a:bodyPr/>
                    <a:lstStyle/>
                    <a:p>
                      <a:pPr algn="ctr" rtl="0" fontAlgn="base"/>
                      <a:r>
                        <a:rPr lang="en-GB" sz="3200" b="1" dirty="0">
                          <a:effectLst/>
                        </a:rPr>
                        <a:t> X     </a:t>
                      </a:r>
                    </a:p>
                  </a:txBody>
                  <a:tcPr marL="38100" marR="38100" marT="95250" marB="952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base"/>
                      <a:r>
                        <a:rPr lang="en-GB" sz="3200" b="1">
                          <a:effectLst/>
                        </a:rPr>
                        <a:t>     Y     </a:t>
                      </a:r>
                    </a:p>
                  </a:txBody>
                  <a:tcPr marL="95250" marR="95250" marT="95250" marB="952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base"/>
                      <a:r>
                        <a:rPr lang="en-GB" sz="3200" b="1">
                          <a:effectLst/>
                        </a:rPr>
                        <a:t>     X &amp;&amp; Y     </a:t>
                      </a:r>
                    </a:p>
                  </a:txBody>
                  <a:tcPr marL="95250" marR="95250" marT="95250" marB="952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 xmlns:a16="http://schemas.microsoft.com/office/drawing/2014/main" val="2612897624"/>
                  </a:ext>
                </a:extLst>
              </a:tr>
              <a:tr h="582939">
                <a:tc>
                  <a:txBody>
                    <a:bodyPr/>
                    <a:lstStyle/>
                    <a:p>
                      <a:pPr algn="ctr" fontAlgn="base"/>
                      <a:r>
                        <a:rPr lang="en-GB" sz="2800" b="0">
                          <a:effectLst/>
                        </a:rPr>
                        <a:t>1</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base"/>
                      <a:r>
                        <a:rPr lang="en-GB" sz="2800" b="0" dirty="0">
                          <a:effectLst/>
                        </a:rPr>
                        <a:t>1</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base"/>
                      <a:r>
                        <a:rPr lang="en-GB" sz="2800" b="0">
                          <a:effectLst/>
                        </a:rPr>
                        <a:t>1</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 xmlns:a16="http://schemas.microsoft.com/office/drawing/2014/main" val="3033752050"/>
                  </a:ext>
                </a:extLst>
              </a:tr>
              <a:tr h="582939">
                <a:tc>
                  <a:txBody>
                    <a:bodyPr/>
                    <a:lstStyle/>
                    <a:p>
                      <a:pPr algn="ctr" fontAlgn="base"/>
                      <a:r>
                        <a:rPr lang="en-GB" sz="2800" b="0">
                          <a:effectLst/>
                        </a:rPr>
                        <a:t>1</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base"/>
                      <a:r>
                        <a:rPr lang="en-GB" sz="2800" b="0">
                          <a:effectLst/>
                        </a:rPr>
                        <a:t>0</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base"/>
                      <a:r>
                        <a:rPr lang="en-GB" sz="2800" b="0">
                          <a:effectLst/>
                        </a:rPr>
                        <a:t>0</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 xmlns:a16="http://schemas.microsoft.com/office/drawing/2014/main" val="1173757901"/>
                  </a:ext>
                </a:extLst>
              </a:tr>
              <a:tr h="582939">
                <a:tc>
                  <a:txBody>
                    <a:bodyPr/>
                    <a:lstStyle/>
                    <a:p>
                      <a:pPr algn="ctr" fontAlgn="base"/>
                      <a:r>
                        <a:rPr lang="en-GB" sz="2800" b="0" dirty="0">
                          <a:effectLst/>
                        </a:rPr>
                        <a:t>0</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base"/>
                      <a:r>
                        <a:rPr lang="en-GB" sz="2800" b="0">
                          <a:effectLst/>
                        </a:rPr>
                        <a:t>1</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base"/>
                      <a:r>
                        <a:rPr lang="en-GB" sz="2800" b="0">
                          <a:effectLst/>
                        </a:rPr>
                        <a:t>0</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 xmlns:a16="http://schemas.microsoft.com/office/drawing/2014/main" val="2508391835"/>
                  </a:ext>
                </a:extLst>
              </a:tr>
              <a:tr h="582939">
                <a:tc>
                  <a:txBody>
                    <a:bodyPr/>
                    <a:lstStyle/>
                    <a:p>
                      <a:pPr algn="ctr" fontAlgn="base"/>
                      <a:r>
                        <a:rPr lang="en-GB" sz="2800" b="0">
                          <a:effectLst/>
                        </a:rPr>
                        <a:t>0</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base"/>
                      <a:r>
                        <a:rPr lang="en-GB" sz="2800" b="0" dirty="0">
                          <a:effectLst/>
                        </a:rPr>
                        <a:t>0</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base"/>
                      <a:r>
                        <a:rPr lang="en-GB" sz="2800" b="0" dirty="0">
                          <a:effectLst/>
                        </a:rPr>
                        <a:t>0</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 xmlns:a16="http://schemas.microsoft.com/office/drawing/2014/main" val="2935324210"/>
                  </a:ext>
                </a:extLst>
              </a:tr>
            </a:tbl>
          </a:graphicData>
        </a:graphic>
      </p:graphicFrame>
    </p:spTree>
    <p:extLst>
      <p:ext uri="{BB962C8B-B14F-4D97-AF65-F5344CB8AC3E}">
        <p14:creationId xmlns:p14="http://schemas.microsoft.com/office/powerpoint/2010/main" val="311408173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023182"/>
                </a:solidFill>
                <a:latin typeface="Times New Roman"/>
                <a:cs typeface="Times New Roman"/>
                <a:sym typeface="Times New Roman"/>
              </a:rPr>
              <a:t>Syntax</a:t>
            </a:r>
            <a:endParaRPr lang="en-GB" dirty="0"/>
          </a:p>
        </p:txBody>
      </p:sp>
      <p:sp>
        <p:nvSpPr>
          <p:cNvPr id="3" name="Content Placeholder 2"/>
          <p:cNvSpPr>
            <a:spLocks noGrp="1"/>
          </p:cNvSpPr>
          <p:nvPr>
            <p:ph idx="1"/>
          </p:nvPr>
        </p:nvSpPr>
        <p:spPr/>
        <p:txBody>
          <a:bodyPr/>
          <a:lstStyle/>
          <a:p>
            <a:pPr marL="0" indent="0">
              <a:buNone/>
            </a:pPr>
            <a:r>
              <a:rPr lang="en-GB" dirty="0">
                <a:latin typeface="Times New Roman" panose="02020603050405020304" pitchFamily="18" charset="0"/>
                <a:cs typeface="Times New Roman" panose="02020603050405020304" pitchFamily="18" charset="0"/>
              </a:rPr>
              <a:t>(operand_1 &amp;&amp; operand_2)</a:t>
            </a:r>
          </a:p>
          <a:p>
            <a:pPr marL="0" indent="0">
              <a:buNone/>
            </a:pPr>
            <a:endParaRPr lang="en-GB" dirty="0"/>
          </a:p>
        </p:txBody>
      </p:sp>
    </p:spTree>
    <p:extLst>
      <p:ext uri="{BB962C8B-B14F-4D97-AF65-F5344CB8AC3E}">
        <p14:creationId xmlns:p14="http://schemas.microsoft.com/office/powerpoint/2010/main" val="3026135907"/>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479606"/>
          </a:xfrm>
        </p:spPr>
        <p:txBody>
          <a:bodyPr>
            <a:normAutofit fontScale="90000"/>
          </a:bodyPr>
          <a:lstStyle/>
          <a:p>
            <a:r>
              <a:rPr lang="en-US" dirty="0" smtClean="0">
                <a:solidFill>
                  <a:srgbClr val="023182"/>
                </a:solidFill>
                <a:latin typeface="Times New Roman"/>
                <a:cs typeface="Times New Roman"/>
                <a:sym typeface="Times New Roman"/>
              </a:rPr>
              <a:t>Example</a:t>
            </a:r>
            <a:endParaRPr lang="en-GB" dirty="0"/>
          </a:p>
        </p:txBody>
      </p:sp>
      <p:sp>
        <p:nvSpPr>
          <p:cNvPr id="3" name="Content Placeholder 2"/>
          <p:cNvSpPr>
            <a:spLocks noGrp="1"/>
          </p:cNvSpPr>
          <p:nvPr>
            <p:ph idx="1"/>
          </p:nvPr>
        </p:nvSpPr>
        <p:spPr>
          <a:xfrm>
            <a:off x="838200" y="1584960"/>
            <a:ext cx="10515600" cy="4592003"/>
          </a:xfrm>
        </p:spPr>
        <p:txBody>
          <a:bodyPr>
            <a:normAutofit fontScale="47500" lnSpcReduction="20000"/>
          </a:bodyPr>
          <a:lstStyle/>
          <a:p>
            <a:pPr marL="0" indent="0">
              <a:buNone/>
            </a:pPr>
            <a:r>
              <a:rPr lang="en-GB" dirty="0" smtClean="0">
                <a:latin typeface="Times New Roman" panose="02020603050405020304" pitchFamily="18" charset="0"/>
                <a:cs typeface="Times New Roman" panose="02020603050405020304" pitchFamily="18" charset="0"/>
              </a:rPr>
              <a:t>// C program for Logical</a:t>
            </a:r>
          </a:p>
          <a:p>
            <a:pPr marL="0" indent="0">
              <a:buNone/>
            </a:pPr>
            <a:r>
              <a:rPr lang="en-GB" dirty="0" smtClean="0">
                <a:latin typeface="Times New Roman" panose="02020603050405020304" pitchFamily="18" charset="0"/>
                <a:cs typeface="Times New Roman" panose="02020603050405020304" pitchFamily="18" charset="0"/>
              </a:rPr>
              <a:t>// AND Operator</a:t>
            </a:r>
          </a:p>
          <a:p>
            <a:pPr marL="0" indent="0">
              <a:buNone/>
            </a:pPr>
            <a:r>
              <a:rPr lang="en-GB" dirty="0" smtClean="0">
                <a:latin typeface="Times New Roman" panose="02020603050405020304" pitchFamily="18" charset="0"/>
                <a:cs typeface="Times New Roman" panose="02020603050405020304" pitchFamily="18" charset="0"/>
              </a:rPr>
              <a:t>#include &lt;</a:t>
            </a:r>
            <a:r>
              <a:rPr lang="en-GB" dirty="0" err="1" smtClean="0">
                <a:latin typeface="Times New Roman" panose="02020603050405020304" pitchFamily="18" charset="0"/>
                <a:cs typeface="Times New Roman" panose="02020603050405020304" pitchFamily="18" charset="0"/>
              </a:rPr>
              <a:t>stdio.h</a:t>
            </a:r>
            <a:r>
              <a:rPr lang="en-GB" dirty="0" smtClean="0">
                <a:latin typeface="Times New Roman" panose="02020603050405020304" pitchFamily="18" charset="0"/>
                <a:cs typeface="Times New Roman" panose="02020603050405020304" pitchFamily="18" charset="0"/>
              </a:rPr>
              <a:t>&gt;</a:t>
            </a:r>
          </a:p>
          <a:p>
            <a:pPr marL="0" indent="0">
              <a:buNone/>
            </a:pPr>
            <a:endParaRPr lang="en-GB" dirty="0" smtClean="0">
              <a:latin typeface="Times New Roman" panose="02020603050405020304" pitchFamily="18" charset="0"/>
              <a:cs typeface="Times New Roman" panose="02020603050405020304" pitchFamily="18" charset="0"/>
            </a:endParaRPr>
          </a:p>
          <a:p>
            <a:pPr marL="0" indent="0">
              <a:buNone/>
            </a:pPr>
            <a:r>
              <a:rPr lang="en-GB" dirty="0" smtClean="0">
                <a:latin typeface="Times New Roman" panose="02020603050405020304" pitchFamily="18" charset="0"/>
                <a:cs typeface="Times New Roman" panose="02020603050405020304" pitchFamily="18" charset="0"/>
              </a:rPr>
              <a:t>// Driver code</a:t>
            </a:r>
          </a:p>
          <a:p>
            <a:pPr marL="0" indent="0">
              <a:buNone/>
            </a:pPr>
            <a:r>
              <a:rPr lang="en-GB" dirty="0" err="1" smtClean="0">
                <a:latin typeface="Times New Roman" panose="02020603050405020304" pitchFamily="18" charset="0"/>
                <a:cs typeface="Times New Roman" panose="02020603050405020304" pitchFamily="18" charset="0"/>
              </a:rPr>
              <a:t>int</a:t>
            </a:r>
            <a:r>
              <a:rPr lang="en-GB" dirty="0" smtClean="0">
                <a:latin typeface="Times New Roman" panose="02020603050405020304" pitchFamily="18" charset="0"/>
                <a:cs typeface="Times New Roman" panose="02020603050405020304" pitchFamily="18" charset="0"/>
              </a:rPr>
              <a:t> main()</a:t>
            </a:r>
          </a:p>
          <a:p>
            <a:pPr marL="0" indent="0">
              <a:buNone/>
            </a:pPr>
            <a:r>
              <a:rPr lang="en-GB" dirty="0" smtClean="0">
                <a:latin typeface="Times New Roman" panose="02020603050405020304" pitchFamily="18" charset="0"/>
                <a:cs typeface="Times New Roman" panose="02020603050405020304" pitchFamily="18" charset="0"/>
              </a:rPr>
              <a:t>{</a:t>
            </a:r>
          </a:p>
          <a:p>
            <a:pPr marL="0" indent="0">
              <a:buNone/>
            </a:pPr>
            <a:r>
              <a:rPr lang="en-GB" dirty="0" smtClean="0">
                <a:latin typeface="Times New Roman" panose="02020603050405020304" pitchFamily="18" charset="0"/>
                <a:cs typeface="Times New Roman" panose="02020603050405020304" pitchFamily="18" charset="0"/>
              </a:rPr>
              <a:t>    </a:t>
            </a:r>
            <a:r>
              <a:rPr lang="en-GB" dirty="0" err="1" smtClean="0">
                <a:latin typeface="Times New Roman" panose="02020603050405020304" pitchFamily="18" charset="0"/>
                <a:cs typeface="Times New Roman" panose="02020603050405020304" pitchFamily="18" charset="0"/>
              </a:rPr>
              <a:t>int</a:t>
            </a:r>
            <a:r>
              <a:rPr lang="en-GB" dirty="0" smtClean="0">
                <a:latin typeface="Times New Roman" panose="02020603050405020304" pitchFamily="18" charset="0"/>
                <a:cs typeface="Times New Roman" panose="02020603050405020304" pitchFamily="18" charset="0"/>
              </a:rPr>
              <a:t> a = 10, b = 20;</a:t>
            </a:r>
          </a:p>
          <a:p>
            <a:pPr marL="0" indent="0">
              <a:buNone/>
            </a:pPr>
            <a:endParaRPr lang="en-GB" dirty="0" smtClean="0">
              <a:latin typeface="Times New Roman" panose="02020603050405020304" pitchFamily="18" charset="0"/>
              <a:cs typeface="Times New Roman" panose="02020603050405020304" pitchFamily="18" charset="0"/>
            </a:endParaRPr>
          </a:p>
          <a:p>
            <a:pPr marL="0" indent="0">
              <a:buNone/>
            </a:pPr>
            <a:r>
              <a:rPr lang="en-GB" dirty="0" smtClean="0">
                <a:latin typeface="Times New Roman" panose="02020603050405020304" pitchFamily="18" charset="0"/>
                <a:cs typeface="Times New Roman" panose="02020603050405020304" pitchFamily="18" charset="0"/>
              </a:rPr>
              <a:t>    if (a &gt; 0 &amp;&amp; b &gt; 0) {</a:t>
            </a:r>
          </a:p>
          <a:p>
            <a:pPr marL="0" indent="0">
              <a:buNone/>
            </a:pPr>
            <a:r>
              <a:rPr lang="en-GB" dirty="0" smtClean="0">
                <a:latin typeface="Times New Roman" panose="02020603050405020304" pitchFamily="18" charset="0"/>
                <a:cs typeface="Times New Roman" panose="02020603050405020304" pitchFamily="18" charset="0"/>
              </a:rPr>
              <a:t>        </a:t>
            </a:r>
            <a:r>
              <a:rPr lang="en-GB" dirty="0" err="1" smtClean="0">
                <a:latin typeface="Times New Roman" panose="02020603050405020304" pitchFamily="18" charset="0"/>
                <a:cs typeface="Times New Roman" panose="02020603050405020304" pitchFamily="18" charset="0"/>
              </a:rPr>
              <a:t>printf</a:t>
            </a:r>
            <a:r>
              <a:rPr lang="en-GB" dirty="0" smtClean="0">
                <a:latin typeface="Times New Roman" panose="02020603050405020304" pitchFamily="18" charset="0"/>
                <a:cs typeface="Times New Roman" panose="02020603050405020304" pitchFamily="18" charset="0"/>
              </a:rPr>
              <a:t>("Both values are greater than 0\n");</a:t>
            </a:r>
          </a:p>
          <a:p>
            <a:pPr marL="0" indent="0">
              <a:buNone/>
            </a:pPr>
            <a:r>
              <a:rPr lang="en-GB" dirty="0" smtClean="0">
                <a:latin typeface="Times New Roman" panose="02020603050405020304" pitchFamily="18" charset="0"/>
                <a:cs typeface="Times New Roman" panose="02020603050405020304" pitchFamily="18" charset="0"/>
              </a:rPr>
              <a:t>    }</a:t>
            </a:r>
          </a:p>
          <a:p>
            <a:pPr marL="0" indent="0">
              <a:buNone/>
            </a:pPr>
            <a:r>
              <a:rPr lang="en-GB" dirty="0" smtClean="0">
                <a:latin typeface="Times New Roman" panose="02020603050405020304" pitchFamily="18" charset="0"/>
                <a:cs typeface="Times New Roman" panose="02020603050405020304" pitchFamily="18" charset="0"/>
              </a:rPr>
              <a:t>    else {</a:t>
            </a:r>
          </a:p>
          <a:p>
            <a:pPr marL="0" indent="0">
              <a:buNone/>
            </a:pPr>
            <a:r>
              <a:rPr lang="en-GB" dirty="0" smtClean="0">
                <a:latin typeface="Times New Roman" panose="02020603050405020304" pitchFamily="18" charset="0"/>
                <a:cs typeface="Times New Roman" panose="02020603050405020304" pitchFamily="18" charset="0"/>
              </a:rPr>
              <a:t>        </a:t>
            </a:r>
            <a:r>
              <a:rPr lang="en-GB" dirty="0" err="1" smtClean="0">
                <a:latin typeface="Times New Roman" panose="02020603050405020304" pitchFamily="18" charset="0"/>
                <a:cs typeface="Times New Roman" panose="02020603050405020304" pitchFamily="18" charset="0"/>
              </a:rPr>
              <a:t>printf</a:t>
            </a:r>
            <a:r>
              <a:rPr lang="en-GB" dirty="0" smtClean="0">
                <a:latin typeface="Times New Roman" panose="02020603050405020304" pitchFamily="18" charset="0"/>
                <a:cs typeface="Times New Roman" panose="02020603050405020304" pitchFamily="18" charset="0"/>
              </a:rPr>
              <a:t>("Both values are less than 0\n");</a:t>
            </a:r>
          </a:p>
          <a:p>
            <a:pPr marL="0" indent="0">
              <a:buNone/>
            </a:pPr>
            <a:r>
              <a:rPr lang="en-GB" dirty="0" smtClean="0">
                <a:latin typeface="Times New Roman" panose="02020603050405020304" pitchFamily="18" charset="0"/>
                <a:cs typeface="Times New Roman" panose="02020603050405020304" pitchFamily="18" charset="0"/>
              </a:rPr>
              <a:t>    }</a:t>
            </a:r>
          </a:p>
          <a:p>
            <a:pPr marL="0" indent="0">
              <a:buNone/>
            </a:pPr>
            <a:r>
              <a:rPr lang="en-GB" dirty="0" smtClean="0">
                <a:latin typeface="Times New Roman" panose="02020603050405020304" pitchFamily="18" charset="0"/>
                <a:cs typeface="Times New Roman" panose="02020603050405020304" pitchFamily="18" charset="0"/>
              </a:rPr>
              <a:t>    return 0;</a:t>
            </a:r>
          </a:p>
          <a:p>
            <a:pPr marL="0" indent="0">
              <a:buNone/>
            </a:pPr>
            <a:r>
              <a:rPr lang="en-GB" dirty="0" smtClean="0">
                <a:latin typeface="Times New Roman" panose="02020603050405020304" pitchFamily="18" charset="0"/>
                <a:cs typeface="Times New Roman" panose="02020603050405020304" pitchFamily="18" charset="0"/>
              </a:rPr>
              <a:t>}</a:t>
            </a:r>
          </a:p>
          <a:p>
            <a:pPr marL="0" indent="0">
              <a:buNone/>
            </a:pPr>
            <a:endParaRPr lang="en-GB" dirty="0"/>
          </a:p>
        </p:txBody>
      </p:sp>
    </p:spTree>
    <p:extLst>
      <p:ext uri="{BB962C8B-B14F-4D97-AF65-F5344CB8AC3E}">
        <p14:creationId xmlns:p14="http://schemas.microsoft.com/office/powerpoint/2010/main" val="359687051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023182"/>
                </a:solidFill>
                <a:latin typeface="Times New Roman"/>
                <a:cs typeface="Times New Roman"/>
                <a:sym typeface="Times New Roman"/>
              </a:rPr>
              <a:t>Logical OR Operator ( || )</a:t>
            </a:r>
            <a:endParaRPr lang="en-GB" dirty="0"/>
          </a:p>
        </p:txBody>
      </p:sp>
      <p:sp>
        <p:nvSpPr>
          <p:cNvPr id="3" name="Content Placeholder 2"/>
          <p:cNvSpPr>
            <a:spLocks noGrp="1"/>
          </p:cNvSpPr>
          <p:nvPr>
            <p:ph idx="1"/>
          </p:nvPr>
        </p:nvSpPr>
        <p:spPr/>
        <p:txBody>
          <a:bodyPr/>
          <a:lstStyle/>
          <a:p>
            <a:pPr marL="0" indent="0">
              <a:buNone/>
            </a:pPr>
            <a:r>
              <a:rPr lang="en-GB" dirty="0" smtClean="0">
                <a:latin typeface="Times New Roman" panose="02020603050405020304" pitchFamily="18" charset="0"/>
                <a:cs typeface="Times New Roman" panose="02020603050405020304" pitchFamily="18" charset="0"/>
              </a:rPr>
              <a:t>The logical OR operator returns true if any one of the operands is non-zero. Otherwise, it returns false i.e., 0 as the value. Below is the truth table for the logical OR operator.</a:t>
            </a:r>
          </a:p>
          <a:p>
            <a:pPr marL="0" indent="0">
              <a:buNone/>
            </a:pPr>
            <a:endParaRPr lang="en-GB" dirty="0"/>
          </a:p>
        </p:txBody>
      </p:sp>
    </p:spTree>
    <p:extLst>
      <p:ext uri="{BB962C8B-B14F-4D97-AF65-F5344CB8AC3E}">
        <p14:creationId xmlns:p14="http://schemas.microsoft.com/office/powerpoint/2010/main" val="4291619924"/>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ext uri="{D42A27DB-BD31-4B8C-83A1-F6EECF244321}">
                <p14:modId xmlns:p14="http://schemas.microsoft.com/office/powerpoint/2010/main" val="1357153598"/>
              </p:ext>
            </p:extLst>
          </p:nvPr>
        </p:nvGraphicFramePr>
        <p:xfrm>
          <a:off x="751114" y="1622222"/>
          <a:ext cx="10515600" cy="3147060"/>
        </p:xfrm>
        <a:graphic>
          <a:graphicData uri="http://schemas.openxmlformats.org/drawingml/2006/table">
            <a:tbl>
              <a:tblPr/>
              <a:tblGrid>
                <a:gridCol w="3505200">
                  <a:extLst>
                    <a:ext uri="{9D8B030D-6E8A-4147-A177-3AD203B41FA5}">
                      <a16:colId xmlns="" xmlns:a16="http://schemas.microsoft.com/office/drawing/2014/main" val="4047177253"/>
                    </a:ext>
                  </a:extLst>
                </a:gridCol>
                <a:gridCol w="3505200">
                  <a:extLst>
                    <a:ext uri="{9D8B030D-6E8A-4147-A177-3AD203B41FA5}">
                      <a16:colId xmlns="" xmlns:a16="http://schemas.microsoft.com/office/drawing/2014/main" val="189332758"/>
                    </a:ext>
                  </a:extLst>
                </a:gridCol>
                <a:gridCol w="3505200">
                  <a:extLst>
                    <a:ext uri="{9D8B030D-6E8A-4147-A177-3AD203B41FA5}">
                      <a16:colId xmlns="" xmlns:a16="http://schemas.microsoft.com/office/drawing/2014/main" val="2989428359"/>
                    </a:ext>
                  </a:extLst>
                </a:gridCol>
              </a:tblGrid>
              <a:tr h="0">
                <a:tc>
                  <a:txBody>
                    <a:bodyPr/>
                    <a:lstStyle/>
                    <a:p>
                      <a:pPr algn="ctr" fontAlgn="base"/>
                      <a:r>
                        <a:rPr lang="en-GB" sz="2800" b="1" dirty="0">
                          <a:effectLst/>
                        </a:rPr>
                        <a:t>     X     </a:t>
                      </a:r>
                    </a:p>
                  </a:txBody>
                  <a:tcPr marL="38100" marR="38100" marT="95250" marB="952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base"/>
                      <a:r>
                        <a:rPr lang="en-GB" sz="2800" b="1">
                          <a:effectLst/>
                        </a:rPr>
                        <a:t>     Y     </a:t>
                      </a:r>
                    </a:p>
                  </a:txBody>
                  <a:tcPr marL="95250" marR="95250" marT="95250" marB="952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base"/>
                      <a:r>
                        <a:rPr lang="en-GB" sz="2800" b="1">
                          <a:effectLst/>
                        </a:rPr>
                        <a:t>     X || Y     </a:t>
                      </a:r>
                    </a:p>
                  </a:txBody>
                  <a:tcPr marL="95250" marR="95250" marT="95250" marB="952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 xmlns:a16="http://schemas.microsoft.com/office/drawing/2014/main" val="747995115"/>
                  </a:ext>
                </a:extLst>
              </a:tr>
              <a:tr h="0">
                <a:tc>
                  <a:txBody>
                    <a:bodyPr/>
                    <a:lstStyle/>
                    <a:p>
                      <a:pPr algn="ctr" fontAlgn="base"/>
                      <a:r>
                        <a:rPr lang="en-GB" sz="2400" b="0">
                          <a:effectLst/>
                        </a:rPr>
                        <a:t>1</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base"/>
                      <a:r>
                        <a:rPr lang="en-GB" sz="2400" b="0">
                          <a:effectLst/>
                        </a:rPr>
                        <a:t>1</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base"/>
                      <a:r>
                        <a:rPr lang="en-GB" sz="2400" b="0">
                          <a:effectLst/>
                        </a:rPr>
                        <a:t>1</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 xmlns:a16="http://schemas.microsoft.com/office/drawing/2014/main" val="1755756803"/>
                  </a:ext>
                </a:extLst>
              </a:tr>
              <a:tr h="0">
                <a:tc>
                  <a:txBody>
                    <a:bodyPr/>
                    <a:lstStyle/>
                    <a:p>
                      <a:pPr algn="ctr" fontAlgn="base"/>
                      <a:r>
                        <a:rPr lang="en-GB" sz="2400" b="0">
                          <a:effectLst/>
                        </a:rPr>
                        <a:t>1</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base"/>
                      <a:r>
                        <a:rPr lang="en-GB" sz="2400" b="0">
                          <a:effectLst/>
                        </a:rPr>
                        <a:t>0</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base"/>
                      <a:r>
                        <a:rPr lang="en-GB" sz="2400" b="0">
                          <a:effectLst/>
                        </a:rPr>
                        <a:t>1</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 xmlns:a16="http://schemas.microsoft.com/office/drawing/2014/main" val="3314152848"/>
                  </a:ext>
                </a:extLst>
              </a:tr>
              <a:tr h="0">
                <a:tc>
                  <a:txBody>
                    <a:bodyPr/>
                    <a:lstStyle/>
                    <a:p>
                      <a:pPr algn="ctr" fontAlgn="base"/>
                      <a:r>
                        <a:rPr lang="en-GB" sz="2400" b="0">
                          <a:effectLst/>
                        </a:rPr>
                        <a:t>0</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base"/>
                      <a:r>
                        <a:rPr lang="en-GB" sz="2400" b="0">
                          <a:effectLst/>
                        </a:rPr>
                        <a:t>1</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base"/>
                      <a:r>
                        <a:rPr lang="en-GB" sz="2400" b="0">
                          <a:effectLst/>
                        </a:rPr>
                        <a:t>1</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 xmlns:a16="http://schemas.microsoft.com/office/drawing/2014/main" val="3344305793"/>
                  </a:ext>
                </a:extLst>
              </a:tr>
              <a:tr h="0">
                <a:tc>
                  <a:txBody>
                    <a:bodyPr/>
                    <a:lstStyle/>
                    <a:p>
                      <a:pPr algn="ctr" fontAlgn="base"/>
                      <a:r>
                        <a:rPr lang="en-GB" sz="2400" b="0">
                          <a:effectLst/>
                        </a:rPr>
                        <a:t>0</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base"/>
                      <a:r>
                        <a:rPr lang="en-GB" sz="2400" b="0">
                          <a:effectLst/>
                        </a:rPr>
                        <a:t>0</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base"/>
                      <a:r>
                        <a:rPr lang="en-GB" sz="2400" b="0" dirty="0">
                          <a:effectLst/>
                        </a:rPr>
                        <a:t>0</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 xmlns:a16="http://schemas.microsoft.com/office/drawing/2014/main" val="2462423179"/>
                  </a:ext>
                </a:extLst>
              </a:tr>
            </a:tbl>
          </a:graphicData>
        </a:graphic>
      </p:graphicFrame>
    </p:spTree>
    <p:extLst>
      <p:ext uri="{BB962C8B-B14F-4D97-AF65-F5344CB8AC3E}">
        <p14:creationId xmlns:p14="http://schemas.microsoft.com/office/powerpoint/2010/main" val="883719252"/>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023182"/>
                </a:solidFill>
                <a:latin typeface="Times New Roman"/>
                <a:cs typeface="Times New Roman"/>
                <a:sym typeface="Times New Roman"/>
              </a:rPr>
              <a:t>Syntax</a:t>
            </a:r>
            <a:endParaRPr lang="en-GB" dirty="0"/>
          </a:p>
        </p:txBody>
      </p:sp>
      <p:sp>
        <p:nvSpPr>
          <p:cNvPr id="3" name="Content Placeholder 2"/>
          <p:cNvSpPr>
            <a:spLocks noGrp="1"/>
          </p:cNvSpPr>
          <p:nvPr>
            <p:ph idx="1"/>
          </p:nvPr>
        </p:nvSpPr>
        <p:spPr/>
        <p:txBody>
          <a:bodyPr/>
          <a:lstStyle/>
          <a:p>
            <a:pPr marL="0" indent="0">
              <a:buNone/>
            </a:pPr>
            <a:r>
              <a:rPr lang="en-GB" dirty="0">
                <a:latin typeface="Times New Roman" panose="02020603050405020304" pitchFamily="18" charset="0"/>
                <a:cs typeface="Times New Roman" panose="02020603050405020304" pitchFamily="18" charset="0"/>
              </a:rPr>
              <a:t>(operand_1 || operand_2)</a:t>
            </a:r>
          </a:p>
          <a:p>
            <a:pPr marL="0" indent="0">
              <a:buNone/>
            </a:pPr>
            <a:endParaRPr lang="en-GB" dirty="0"/>
          </a:p>
        </p:txBody>
      </p:sp>
    </p:spTree>
    <p:extLst>
      <p:ext uri="{BB962C8B-B14F-4D97-AF65-F5344CB8AC3E}">
        <p14:creationId xmlns:p14="http://schemas.microsoft.com/office/powerpoint/2010/main" val="2329217440"/>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470898"/>
          </a:xfrm>
        </p:spPr>
        <p:txBody>
          <a:bodyPr>
            <a:normAutofit fontScale="90000"/>
          </a:bodyPr>
          <a:lstStyle/>
          <a:p>
            <a:r>
              <a:rPr lang="en-US" dirty="0" smtClean="0">
                <a:solidFill>
                  <a:srgbClr val="023182"/>
                </a:solidFill>
                <a:latin typeface="Times New Roman"/>
                <a:cs typeface="Times New Roman"/>
                <a:sym typeface="Times New Roman"/>
              </a:rPr>
              <a:t>Example</a:t>
            </a:r>
            <a:endParaRPr lang="en-GB" dirty="0"/>
          </a:p>
        </p:txBody>
      </p:sp>
      <p:sp>
        <p:nvSpPr>
          <p:cNvPr id="3" name="Content Placeholder 2"/>
          <p:cNvSpPr>
            <a:spLocks noGrp="1"/>
          </p:cNvSpPr>
          <p:nvPr>
            <p:ph idx="1"/>
          </p:nvPr>
        </p:nvSpPr>
        <p:spPr>
          <a:xfrm>
            <a:off x="838200" y="1097280"/>
            <a:ext cx="10515600" cy="5451566"/>
          </a:xfrm>
        </p:spPr>
        <p:txBody>
          <a:bodyPr>
            <a:normAutofit fontScale="55000" lnSpcReduction="20000"/>
          </a:bodyPr>
          <a:lstStyle/>
          <a:p>
            <a:pPr marL="0" indent="0">
              <a:buNone/>
            </a:pPr>
            <a:r>
              <a:rPr lang="en-GB" dirty="0" smtClean="0">
                <a:latin typeface="Times New Roman" panose="02020603050405020304" pitchFamily="18" charset="0"/>
                <a:cs typeface="Times New Roman" panose="02020603050405020304" pitchFamily="18" charset="0"/>
              </a:rPr>
              <a:t>// C program for Logical</a:t>
            </a:r>
          </a:p>
          <a:p>
            <a:pPr marL="0" indent="0">
              <a:buNone/>
            </a:pPr>
            <a:r>
              <a:rPr lang="en-GB" dirty="0" smtClean="0">
                <a:latin typeface="Times New Roman" panose="02020603050405020304" pitchFamily="18" charset="0"/>
                <a:cs typeface="Times New Roman" panose="02020603050405020304" pitchFamily="18" charset="0"/>
              </a:rPr>
              <a:t>// OR Operator</a:t>
            </a:r>
          </a:p>
          <a:p>
            <a:pPr marL="0" indent="0">
              <a:buNone/>
            </a:pPr>
            <a:r>
              <a:rPr lang="en-GB" dirty="0" smtClean="0">
                <a:latin typeface="Times New Roman" panose="02020603050405020304" pitchFamily="18" charset="0"/>
                <a:cs typeface="Times New Roman" panose="02020603050405020304" pitchFamily="18" charset="0"/>
              </a:rPr>
              <a:t>#include &lt;</a:t>
            </a:r>
            <a:r>
              <a:rPr lang="en-GB" dirty="0" err="1" smtClean="0">
                <a:latin typeface="Times New Roman" panose="02020603050405020304" pitchFamily="18" charset="0"/>
                <a:cs typeface="Times New Roman" panose="02020603050405020304" pitchFamily="18" charset="0"/>
              </a:rPr>
              <a:t>stdio.h</a:t>
            </a:r>
            <a:r>
              <a:rPr lang="en-GB" dirty="0" smtClean="0">
                <a:latin typeface="Times New Roman" panose="02020603050405020304" pitchFamily="18" charset="0"/>
                <a:cs typeface="Times New Roman" panose="02020603050405020304" pitchFamily="18" charset="0"/>
              </a:rPr>
              <a:t>&gt;</a:t>
            </a:r>
          </a:p>
          <a:p>
            <a:pPr marL="0" indent="0">
              <a:buNone/>
            </a:pPr>
            <a:endParaRPr lang="en-GB" dirty="0" smtClean="0">
              <a:latin typeface="Times New Roman" panose="02020603050405020304" pitchFamily="18" charset="0"/>
              <a:cs typeface="Times New Roman" panose="02020603050405020304" pitchFamily="18" charset="0"/>
            </a:endParaRPr>
          </a:p>
          <a:p>
            <a:pPr marL="0" indent="0">
              <a:buNone/>
            </a:pPr>
            <a:r>
              <a:rPr lang="en-GB" dirty="0" smtClean="0">
                <a:latin typeface="Times New Roman" panose="02020603050405020304" pitchFamily="18" charset="0"/>
                <a:cs typeface="Times New Roman" panose="02020603050405020304" pitchFamily="18" charset="0"/>
              </a:rPr>
              <a:t>// Driver code</a:t>
            </a:r>
          </a:p>
          <a:p>
            <a:pPr marL="0" indent="0">
              <a:buNone/>
            </a:pPr>
            <a:r>
              <a:rPr lang="en-GB" dirty="0" err="1" smtClean="0">
                <a:latin typeface="Times New Roman" panose="02020603050405020304" pitchFamily="18" charset="0"/>
                <a:cs typeface="Times New Roman" panose="02020603050405020304" pitchFamily="18" charset="0"/>
              </a:rPr>
              <a:t>int</a:t>
            </a:r>
            <a:r>
              <a:rPr lang="en-GB" dirty="0" smtClean="0">
                <a:latin typeface="Times New Roman" panose="02020603050405020304" pitchFamily="18" charset="0"/>
                <a:cs typeface="Times New Roman" panose="02020603050405020304" pitchFamily="18" charset="0"/>
              </a:rPr>
              <a:t> main()</a:t>
            </a:r>
          </a:p>
          <a:p>
            <a:pPr marL="0" indent="0">
              <a:buNone/>
            </a:pPr>
            <a:r>
              <a:rPr lang="en-GB" dirty="0" smtClean="0">
                <a:latin typeface="Times New Roman" panose="02020603050405020304" pitchFamily="18" charset="0"/>
                <a:cs typeface="Times New Roman" panose="02020603050405020304" pitchFamily="18" charset="0"/>
              </a:rPr>
              <a:t>{</a:t>
            </a:r>
          </a:p>
          <a:p>
            <a:pPr marL="0" indent="0">
              <a:buNone/>
            </a:pPr>
            <a:r>
              <a:rPr lang="en-GB" dirty="0" smtClean="0">
                <a:latin typeface="Times New Roman" panose="02020603050405020304" pitchFamily="18" charset="0"/>
                <a:cs typeface="Times New Roman" panose="02020603050405020304" pitchFamily="18" charset="0"/>
              </a:rPr>
              <a:t>    </a:t>
            </a:r>
            <a:r>
              <a:rPr lang="en-GB" dirty="0" err="1" smtClean="0">
                <a:latin typeface="Times New Roman" panose="02020603050405020304" pitchFamily="18" charset="0"/>
                <a:cs typeface="Times New Roman" panose="02020603050405020304" pitchFamily="18" charset="0"/>
              </a:rPr>
              <a:t>int</a:t>
            </a:r>
            <a:r>
              <a:rPr lang="en-GB" dirty="0" smtClean="0">
                <a:latin typeface="Times New Roman" panose="02020603050405020304" pitchFamily="18" charset="0"/>
                <a:cs typeface="Times New Roman" panose="02020603050405020304" pitchFamily="18" charset="0"/>
              </a:rPr>
              <a:t> a = -1, b = 20;</a:t>
            </a:r>
          </a:p>
          <a:p>
            <a:pPr marL="0" indent="0">
              <a:buNone/>
            </a:pPr>
            <a:endParaRPr lang="en-GB" dirty="0" smtClean="0">
              <a:latin typeface="Times New Roman" panose="02020603050405020304" pitchFamily="18" charset="0"/>
              <a:cs typeface="Times New Roman" panose="02020603050405020304" pitchFamily="18" charset="0"/>
            </a:endParaRPr>
          </a:p>
          <a:p>
            <a:pPr marL="0" indent="0">
              <a:buNone/>
            </a:pPr>
            <a:r>
              <a:rPr lang="en-GB" dirty="0" smtClean="0">
                <a:latin typeface="Times New Roman" panose="02020603050405020304" pitchFamily="18" charset="0"/>
                <a:cs typeface="Times New Roman" panose="02020603050405020304" pitchFamily="18" charset="0"/>
              </a:rPr>
              <a:t>    if (a &gt; 0 || b &gt; 0) {</a:t>
            </a:r>
          </a:p>
          <a:p>
            <a:pPr marL="0" indent="0">
              <a:buNone/>
            </a:pPr>
            <a:r>
              <a:rPr lang="en-GB" dirty="0" smtClean="0">
                <a:latin typeface="Times New Roman" panose="02020603050405020304" pitchFamily="18" charset="0"/>
                <a:cs typeface="Times New Roman" panose="02020603050405020304" pitchFamily="18" charset="0"/>
              </a:rPr>
              <a:t>        </a:t>
            </a:r>
            <a:r>
              <a:rPr lang="en-GB" dirty="0" err="1" smtClean="0">
                <a:latin typeface="Times New Roman" panose="02020603050405020304" pitchFamily="18" charset="0"/>
                <a:cs typeface="Times New Roman" panose="02020603050405020304" pitchFamily="18" charset="0"/>
              </a:rPr>
              <a:t>printf</a:t>
            </a:r>
            <a:r>
              <a:rPr lang="en-GB" dirty="0" smtClean="0">
                <a:latin typeface="Times New Roman" panose="02020603050405020304" pitchFamily="18" charset="0"/>
                <a:cs typeface="Times New Roman" panose="02020603050405020304" pitchFamily="18" charset="0"/>
              </a:rPr>
              <a:t>("Any one of the given value is "</a:t>
            </a:r>
          </a:p>
          <a:p>
            <a:pPr marL="0" indent="0">
              <a:buNone/>
            </a:pPr>
            <a:r>
              <a:rPr lang="en-GB" dirty="0" smtClean="0">
                <a:latin typeface="Times New Roman" panose="02020603050405020304" pitchFamily="18" charset="0"/>
                <a:cs typeface="Times New Roman" panose="02020603050405020304" pitchFamily="18" charset="0"/>
              </a:rPr>
              <a:t>               "greater than 0\n");</a:t>
            </a:r>
          </a:p>
          <a:p>
            <a:pPr marL="0" indent="0">
              <a:buNone/>
            </a:pPr>
            <a:r>
              <a:rPr lang="en-GB" dirty="0" smtClean="0">
                <a:latin typeface="Times New Roman" panose="02020603050405020304" pitchFamily="18" charset="0"/>
                <a:cs typeface="Times New Roman" panose="02020603050405020304" pitchFamily="18" charset="0"/>
              </a:rPr>
              <a:t>    }</a:t>
            </a:r>
          </a:p>
          <a:p>
            <a:pPr marL="0" indent="0">
              <a:buNone/>
            </a:pPr>
            <a:r>
              <a:rPr lang="en-GB" dirty="0" smtClean="0">
                <a:latin typeface="Times New Roman" panose="02020603050405020304" pitchFamily="18" charset="0"/>
                <a:cs typeface="Times New Roman" panose="02020603050405020304" pitchFamily="18" charset="0"/>
              </a:rPr>
              <a:t>    else {</a:t>
            </a:r>
          </a:p>
          <a:p>
            <a:pPr marL="0" indent="0">
              <a:buNone/>
            </a:pPr>
            <a:r>
              <a:rPr lang="en-GB" dirty="0" smtClean="0">
                <a:latin typeface="Times New Roman" panose="02020603050405020304" pitchFamily="18" charset="0"/>
                <a:cs typeface="Times New Roman" panose="02020603050405020304" pitchFamily="18" charset="0"/>
              </a:rPr>
              <a:t>        </a:t>
            </a:r>
            <a:r>
              <a:rPr lang="en-GB" dirty="0" err="1" smtClean="0">
                <a:latin typeface="Times New Roman" panose="02020603050405020304" pitchFamily="18" charset="0"/>
                <a:cs typeface="Times New Roman" panose="02020603050405020304" pitchFamily="18" charset="0"/>
              </a:rPr>
              <a:t>printf</a:t>
            </a:r>
            <a:r>
              <a:rPr lang="en-GB" dirty="0" smtClean="0">
                <a:latin typeface="Times New Roman" panose="02020603050405020304" pitchFamily="18" charset="0"/>
                <a:cs typeface="Times New Roman" panose="02020603050405020304" pitchFamily="18" charset="0"/>
              </a:rPr>
              <a:t>("Both values are less than 0\n");</a:t>
            </a:r>
          </a:p>
          <a:p>
            <a:pPr marL="0" indent="0">
              <a:buNone/>
            </a:pPr>
            <a:r>
              <a:rPr lang="en-GB" dirty="0" smtClean="0">
                <a:latin typeface="Times New Roman" panose="02020603050405020304" pitchFamily="18" charset="0"/>
                <a:cs typeface="Times New Roman" panose="02020603050405020304" pitchFamily="18" charset="0"/>
              </a:rPr>
              <a:t>    }</a:t>
            </a:r>
          </a:p>
          <a:p>
            <a:pPr marL="0" indent="0">
              <a:buNone/>
            </a:pPr>
            <a:r>
              <a:rPr lang="en-GB" dirty="0" smtClean="0">
                <a:latin typeface="Times New Roman" panose="02020603050405020304" pitchFamily="18" charset="0"/>
                <a:cs typeface="Times New Roman" panose="02020603050405020304" pitchFamily="18" charset="0"/>
              </a:rPr>
              <a:t>    return 0;</a:t>
            </a:r>
          </a:p>
          <a:p>
            <a:pPr marL="0" indent="0">
              <a:buNone/>
            </a:pPr>
            <a:r>
              <a:rPr lang="en-GB" dirty="0" smtClean="0">
                <a:latin typeface="Times New Roman" panose="02020603050405020304" pitchFamily="18" charset="0"/>
                <a:cs typeface="Times New Roman" panose="02020603050405020304" pitchFamily="18" charset="0"/>
              </a:rPr>
              <a:t>}</a:t>
            </a:r>
          </a:p>
          <a:p>
            <a:pPr marL="0" indent="0">
              <a:buNone/>
            </a:pPr>
            <a:endParaRPr lang="en-GB" dirty="0"/>
          </a:p>
        </p:txBody>
      </p:sp>
    </p:spTree>
    <p:extLst>
      <p:ext uri="{BB962C8B-B14F-4D97-AF65-F5344CB8AC3E}">
        <p14:creationId xmlns:p14="http://schemas.microsoft.com/office/powerpoint/2010/main" val="1503602724"/>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80201"/>
          </a:xfrm>
        </p:spPr>
        <p:txBody>
          <a:bodyPr/>
          <a:lstStyle/>
          <a:p>
            <a:r>
              <a:rPr lang="en-US" dirty="0" smtClean="0">
                <a:solidFill>
                  <a:srgbClr val="023182"/>
                </a:solidFill>
                <a:latin typeface="Times New Roman"/>
                <a:cs typeface="Times New Roman"/>
                <a:sym typeface="Times New Roman"/>
              </a:rPr>
              <a:t>Logical NOT Operator ( ! )</a:t>
            </a:r>
            <a:endParaRPr lang="en-GB" dirty="0"/>
          </a:p>
        </p:txBody>
      </p:sp>
      <p:sp>
        <p:nvSpPr>
          <p:cNvPr id="3" name="Content Placeholder 2"/>
          <p:cNvSpPr>
            <a:spLocks noGrp="1"/>
          </p:cNvSpPr>
          <p:nvPr>
            <p:ph idx="1"/>
          </p:nvPr>
        </p:nvSpPr>
        <p:spPr>
          <a:xfrm>
            <a:off x="838200" y="1825625"/>
            <a:ext cx="10515600" cy="1492341"/>
          </a:xfrm>
        </p:spPr>
        <p:txBody>
          <a:bodyPr/>
          <a:lstStyle/>
          <a:p>
            <a:pPr marL="0" indent="0">
              <a:buNone/>
            </a:pPr>
            <a:r>
              <a:rPr lang="en-GB" dirty="0" smtClean="0">
                <a:latin typeface="Times New Roman" panose="02020603050405020304" pitchFamily="18" charset="0"/>
                <a:cs typeface="Times New Roman" panose="02020603050405020304" pitchFamily="18" charset="0"/>
              </a:rPr>
              <a:t>If the given operand is true then the logical NOT operator will make it false and vice-versa. Below is the truth table for the logical NOT operator. </a:t>
            </a:r>
          </a:p>
          <a:p>
            <a:pPr marL="0" indent="0">
              <a:buNone/>
            </a:pPr>
            <a:endParaRPr lang="en-GB" dirty="0" smtClean="0">
              <a:latin typeface="Times New Roman" panose="02020603050405020304" pitchFamily="18" charset="0"/>
              <a:cs typeface="Times New Roman" panose="02020603050405020304" pitchFamily="18" charset="0"/>
            </a:endParaRPr>
          </a:p>
          <a:p>
            <a:pPr marL="0" indent="0">
              <a:buNone/>
            </a:pPr>
            <a:endParaRPr lang="en-GB" dirty="0"/>
          </a:p>
        </p:txBody>
      </p:sp>
      <p:graphicFrame>
        <p:nvGraphicFramePr>
          <p:cNvPr id="4" name="Table 3"/>
          <p:cNvGraphicFramePr>
            <a:graphicFrameLocks noGrp="1"/>
          </p:cNvGraphicFramePr>
          <p:nvPr>
            <p:extLst>
              <p:ext uri="{D42A27DB-BD31-4B8C-83A1-F6EECF244321}">
                <p14:modId xmlns:p14="http://schemas.microsoft.com/office/powerpoint/2010/main" val="2609615955"/>
              </p:ext>
            </p:extLst>
          </p:nvPr>
        </p:nvGraphicFramePr>
        <p:xfrm>
          <a:off x="751115" y="3898265"/>
          <a:ext cx="10515600" cy="1797763"/>
        </p:xfrm>
        <a:graphic>
          <a:graphicData uri="http://schemas.openxmlformats.org/drawingml/2006/table">
            <a:tbl>
              <a:tblPr/>
              <a:tblGrid>
                <a:gridCol w="5257800">
                  <a:extLst>
                    <a:ext uri="{9D8B030D-6E8A-4147-A177-3AD203B41FA5}">
                      <a16:colId xmlns="" xmlns:a16="http://schemas.microsoft.com/office/drawing/2014/main" val="317891214"/>
                    </a:ext>
                  </a:extLst>
                </a:gridCol>
                <a:gridCol w="5257800">
                  <a:extLst>
                    <a:ext uri="{9D8B030D-6E8A-4147-A177-3AD203B41FA5}">
                      <a16:colId xmlns="" xmlns:a16="http://schemas.microsoft.com/office/drawing/2014/main" val="389177904"/>
                    </a:ext>
                  </a:extLst>
                </a:gridCol>
              </a:tblGrid>
              <a:tr h="654763">
                <a:tc>
                  <a:txBody>
                    <a:bodyPr/>
                    <a:lstStyle/>
                    <a:p>
                      <a:pPr algn="ctr" fontAlgn="base"/>
                      <a:r>
                        <a:rPr lang="en-GB" sz="2400" b="1" dirty="0">
                          <a:effectLst/>
                        </a:rPr>
                        <a:t>     X     </a:t>
                      </a:r>
                    </a:p>
                  </a:txBody>
                  <a:tcPr marL="38100" marR="38100" marT="95250" marB="952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base"/>
                      <a:r>
                        <a:rPr lang="en-GB" sz="2400" b="1">
                          <a:effectLst/>
                        </a:rPr>
                        <a:t>     !X     </a:t>
                      </a:r>
                    </a:p>
                  </a:txBody>
                  <a:tcPr marL="95250" marR="95250" marT="95250" marB="952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 xmlns:a16="http://schemas.microsoft.com/office/drawing/2014/main" val="1627739335"/>
                  </a:ext>
                </a:extLst>
              </a:tr>
              <a:tr h="391075">
                <a:tc>
                  <a:txBody>
                    <a:bodyPr/>
                    <a:lstStyle/>
                    <a:p>
                      <a:pPr algn="ctr" fontAlgn="base"/>
                      <a:r>
                        <a:rPr lang="en-GB" sz="2000" b="0">
                          <a:effectLst/>
                        </a:rPr>
                        <a:t>0</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base"/>
                      <a:r>
                        <a:rPr lang="en-GB" sz="2000" b="0" dirty="0">
                          <a:effectLst/>
                        </a:rPr>
                        <a:t>1</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 xmlns:a16="http://schemas.microsoft.com/office/drawing/2014/main" val="2908887618"/>
                  </a:ext>
                </a:extLst>
              </a:tr>
              <a:tr h="391075">
                <a:tc>
                  <a:txBody>
                    <a:bodyPr/>
                    <a:lstStyle/>
                    <a:p>
                      <a:pPr algn="ctr" fontAlgn="base"/>
                      <a:r>
                        <a:rPr lang="en-GB" sz="2000" b="0">
                          <a:effectLst/>
                        </a:rPr>
                        <a:t>1</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base"/>
                      <a:r>
                        <a:rPr lang="en-GB" sz="2000" b="0" dirty="0">
                          <a:effectLst/>
                        </a:rPr>
                        <a:t>0</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 xmlns:a16="http://schemas.microsoft.com/office/drawing/2014/main" val="1652995103"/>
                  </a:ext>
                </a:extLst>
              </a:tr>
            </a:tbl>
          </a:graphicData>
        </a:graphic>
      </p:graphicFrame>
    </p:spTree>
    <p:extLst>
      <p:ext uri="{BB962C8B-B14F-4D97-AF65-F5344CB8AC3E}">
        <p14:creationId xmlns:p14="http://schemas.microsoft.com/office/powerpoint/2010/main" val="655555491"/>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023182"/>
                </a:solidFill>
                <a:latin typeface="Times New Roman"/>
                <a:cs typeface="Times New Roman"/>
                <a:sym typeface="Times New Roman"/>
              </a:rPr>
              <a:t>Syntax</a:t>
            </a:r>
            <a:endParaRPr lang="en-GB" dirty="0"/>
          </a:p>
        </p:txBody>
      </p:sp>
      <p:sp>
        <p:nvSpPr>
          <p:cNvPr id="3" name="Content Placeholder 2"/>
          <p:cNvSpPr>
            <a:spLocks noGrp="1"/>
          </p:cNvSpPr>
          <p:nvPr>
            <p:ph idx="1"/>
          </p:nvPr>
        </p:nvSpPr>
        <p:spPr/>
        <p:txBody>
          <a:bodyPr/>
          <a:lstStyle/>
          <a:p>
            <a:pPr marL="0" indent="0">
              <a:buNone/>
            </a:pPr>
            <a:r>
              <a:rPr lang="en-GB" dirty="0" smtClean="0">
                <a:latin typeface="Times New Roman" panose="02020603050405020304" pitchFamily="18" charset="0"/>
                <a:cs typeface="Times New Roman" panose="02020603050405020304" pitchFamily="18" charset="0"/>
              </a:rPr>
              <a:t>!(operand_1 &amp;&amp; operand_2)</a:t>
            </a:r>
          </a:p>
          <a:p>
            <a:pPr marL="0" indent="0">
              <a:buNone/>
            </a:pPr>
            <a:endParaRPr lang="en-GB" dirty="0"/>
          </a:p>
        </p:txBody>
      </p:sp>
    </p:spTree>
    <p:extLst>
      <p:ext uri="{BB962C8B-B14F-4D97-AF65-F5344CB8AC3E}">
        <p14:creationId xmlns:p14="http://schemas.microsoft.com/office/powerpoint/2010/main" val="3290566686"/>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540566"/>
          </a:xfrm>
        </p:spPr>
        <p:txBody>
          <a:bodyPr>
            <a:normAutofit fontScale="90000"/>
          </a:bodyPr>
          <a:lstStyle/>
          <a:p>
            <a:r>
              <a:rPr lang="en-US" dirty="0" smtClean="0">
                <a:solidFill>
                  <a:srgbClr val="023182"/>
                </a:solidFill>
                <a:latin typeface="Times New Roman"/>
                <a:cs typeface="Times New Roman"/>
                <a:sym typeface="Times New Roman"/>
              </a:rPr>
              <a:t>Example</a:t>
            </a:r>
            <a:endParaRPr lang="en-GB" dirty="0"/>
          </a:p>
        </p:txBody>
      </p:sp>
      <p:sp>
        <p:nvSpPr>
          <p:cNvPr id="3" name="Content Placeholder 2"/>
          <p:cNvSpPr>
            <a:spLocks noGrp="1"/>
          </p:cNvSpPr>
          <p:nvPr>
            <p:ph idx="1"/>
          </p:nvPr>
        </p:nvSpPr>
        <p:spPr>
          <a:xfrm>
            <a:off x="838200" y="1088571"/>
            <a:ext cx="10515600" cy="5329646"/>
          </a:xfrm>
        </p:spPr>
        <p:txBody>
          <a:bodyPr>
            <a:normAutofit fontScale="40000" lnSpcReduction="20000"/>
          </a:bodyPr>
          <a:lstStyle/>
          <a:p>
            <a:pPr marL="0" indent="0">
              <a:buNone/>
            </a:pPr>
            <a:r>
              <a:rPr lang="en-GB" sz="2900" dirty="0" smtClean="0">
                <a:latin typeface="Times New Roman" panose="02020603050405020304" pitchFamily="18" charset="0"/>
                <a:cs typeface="Times New Roman" panose="02020603050405020304" pitchFamily="18" charset="0"/>
              </a:rPr>
              <a:t>// C program for Logical</a:t>
            </a:r>
          </a:p>
          <a:p>
            <a:pPr marL="0" indent="0">
              <a:buNone/>
            </a:pPr>
            <a:r>
              <a:rPr lang="en-GB" sz="2900" dirty="0" smtClean="0">
                <a:latin typeface="Times New Roman" panose="02020603050405020304" pitchFamily="18" charset="0"/>
                <a:cs typeface="Times New Roman" panose="02020603050405020304" pitchFamily="18" charset="0"/>
              </a:rPr>
              <a:t>// NOT Operator</a:t>
            </a:r>
          </a:p>
          <a:p>
            <a:pPr marL="0" indent="0">
              <a:buNone/>
            </a:pPr>
            <a:r>
              <a:rPr lang="en-GB" sz="2900" dirty="0" smtClean="0">
                <a:latin typeface="Times New Roman" panose="02020603050405020304" pitchFamily="18" charset="0"/>
                <a:cs typeface="Times New Roman" panose="02020603050405020304" pitchFamily="18" charset="0"/>
              </a:rPr>
              <a:t>#include &lt;</a:t>
            </a:r>
            <a:r>
              <a:rPr lang="en-GB" sz="2900" dirty="0" err="1" smtClean="0">
                <a:latin typeface="Times New Roman" panose="02020603050405020304" pitchFamily="18" charset="0"/>
                <a:cs typeface="Times New Roman" panose="02020603050405020304" pitchFamily="18" charset="0"/>
              </a:rPr>
              <a:t>stdio.h</a:t>
            </a:r>
            <a:r>
              <a:rPr lang="en-GB" sz="2900" dirty="0" smtClean="0">
                <a:latin typeface="Times New Roman" panose="02020603050405020304" pitchFamily="18" charset="0"/>
                <a:cs typeface="Times New Roman" panose="02020603050405020304" pitchFamily="18" charset="0"/>
              </a:rPr>
              <a:t>&gt;</a:t>
            </a:r>
          </a:p>
          <a:p>
            <a:pPr marL="0" indent="0">
              <a:buNone/>
            </a:pPr>
            <a:endParaRPr lang="en-GB" sz="2900" dirty="0" smtClean="0">
              <a:latin typeface="Times New Roman" panose="02020603050405020304" pitchFamily="18" charset="0"/>
              <a:cs typeface="Times New Roman" panose="02020603050405020304" pitchFamily="18" charset="0"/>
            </a:endParaRPr>
          </a:p>
          <a:p>
            <a:pPr marL="0" indent="0">
              <a:buNone/>
            </a:pPr>
            <a:r>
              <a:rPr lang="en-GB" sz="2900" dirty="0" smtClean="0">
                <a:latin typeface="Times New Roman" panose="02020603050405020304" pitchFamily="18" charset="0"/>
                <a:cs typeface="Times New Roman" panose="02020603050405020304" pitchFamily="18" charset="0"/>
              </a:rPr>
              <a:t>// Driver code</a:t>
            </a:r>
          </a:p>
          <a:p>
            <a:pPr marL="0" indent="0">
              <a:buNone/>
            </a:pPr>
            <a:r>
              <a:rPr lang="en-GB" sz="2900" dirty="0" err="1" smtClean="0">
                <a:latin typeface="Times New Roman" panose="02020603050405020304" pitchFamily="18" charset="0"/>
                <a:cs typeface="Times New Roman" panose="02020603050405020304" pitchFamily="18" charset="0"/>
              </a:rPr>
              <a:t>int</a:t>
            </a:r>
            <a:r>
              <a:rPr lang="en-GB" sz="2900" dirty="0" smtClean="0">
                <a:latin typeface="Times New Roman" panose="02020603050405020304" pitchFamily="18" charset="0"/>
                <a:cs typeface="Times New Roman" panose="02020603050405020304" pitchFamily="18" charset="0"/>
              </a:rPr>
              <a:t> main()</a:t>
            </a:r>
          </a:p>
          <a:p>
            <a:pPr marL="0" indent="0">
              <a:buNone/>
            </a:pPr>
            <a:r>
              <a:rPr lang="en-GB" sz="2900" dirty="0" smtClean="0">
                <a:latin typeface="Times New Roman" panose="02020603050405020304" pitchFamily="18" charset="0"/>
                <a:cs typeface="Times New Roman" panose="02020603050405020304" pitchFamily="18" charset="0"/>
              </a:rPr>
              <a:t>{</a:t>
            </a:r>
          </a:p>
          <a:p>
            <a:pPr marL="0" indent="0">
              <a:buNone/>
            </a:pPr>
            <a:r>
              <a:rPr lang="en-GB" sz="2900" dirty="0" smtClean="0">
                <a:latin typeface="Times New Roman" panose="02020603050405020304" pitchFamily="18" charset="0"/>
                <a:cs typeface="Times New Roman" panose="02020603050405020304" pitchFamily="18" charset="0"/>
              </a:rPr>
              <a:t>    </a:t>
            </a:r>
            <a:r>
              <a:rPr lang="en-GB" sz="2900" dirty="0" err="1" smtClean="0">
                <a:latin typeface="Times New Roman" panose="02020603050405020304" pitchFamily="18" charset="0"/>
                <a:cs typeface="Times New Roman" panose="02020603050405020304" pitchFamily="18" charset="0"/>
              </a:rPr>
              <a:t>int</a:t>
            </a:r>
            <a:r>
              <a:rPr lang="en-GB" sz="2900" dirty="0" smtClean="0">
                <a:latin typeface="Times New Roman" panose="02020603050405020304" pitchFamily="18" charset="0"/>
                <a:cs typeface="Times New Roman" panose="02020603050405020304" pitchFamily="18" charset="0"/>
              </a:rPr>
              <a:t> a = 10, b = 20;</a:t>
            </a:r>
          </a:p>
          <a:p>
            <a:pPr marL="0" indent="0">
              <a:buNone/>
            </a:pPr>
            <a:endParaRPr lang="en-GB" sz="2900" dirty="0" smtClean="0">
              <a:latin typeface="Times New Roman" panose="02020603050405020304" pitchFamily="18" charset="0"/>
              <a:cs typeface="Times New Roman" panose="02020603050405020304" pitchFamily="18" charset="0"/>
            </a:endParaRPr>
          </a:p>
          <a:p>
            <a:pPr marL="0" indent="0">
              <a:buNone/>
            </a:pPr>
            <a:r>
              <a:rPr lang="en-GB" sz="2900" dirty="0" smtClean="0">
                <a:latin typeface="Times New Roman" panose="02020603050405020304" pitchFamily="18" charset="0"/>
                <a:cs typeface="Times New Roman" panose="02020603050405020304" pitchFamily="18" charset="0"/>
              </a:rPr>
              <a:t>    if (!(a &gt; 0 &amp;&amp; b &gt; 0)) {</a:t>
            </a:r>
          </a:p>
          <a:p>
            <a:pPr marL="0" indent="0">
              <a:buNone/>
            </a:pPr>
            <a:r>
              <a:rPr lang="en-GB" sz="2900" dirty="0" smtClean="0">
                <a:latin typeface="Times New Roman" panose="02020603050405020304" pitchFamily="18" charset="0"/>
                <a:cs typeface="Times New Roman" panose="02020603050405020304" pitchFamily="18" charset="0"/>
              </a:rPr>
              <a:t>        // condition returned true but</a:t>
            </a:r>
          </a:p>
          <a:p>
            <a:pPr marL="0" indent="0">
              <a:buNone/>
            </a:pPr>
            <a:r>
              <a:rPr lang="en-GB" sz="2900" dirty="0" smtClean="0">
                <a:latin typeface="Times New Roman" panose="02020603050405020304" pitchFamily="18" charset="0"/>
                <a:cs typeface="Times New Roman" panose="02020603050405020304" pitchFamily="18" charset="0"/>
              </a:rPr>
              <a:t>        // logical NOT operator changed</a:t>
            </a:r>
          </a:p>
          <a:p>
            <a:pPr marL="0" indent="0">
              <a:buNone/>
            </a:pPr>
            <a:r>
              <a:rPr lang="en-GB" sz="2900" dirty="0" smtClean="0">
                <a:latin typeface="Times New Roman" panose="02020603050405020304" pitchFamily="18" charset="0"/>
                <a:cs typeface="Times New Roman" panose="02020603050405020304" pitchFamily="18" charset="0"/>
              </a:rPr>
              <a:t>        // it to false</a:t>
            </a:r>
          </a:p>
          <a:p>
            <a:pPr marL="0" indent="0">
              <a:buNone/>
            </a:pPr>
            <a:r>
              <a:rPr lang="en-GB" sz="2900" dirty="0" smtClean="0">
                <a:latin typeface="Times New Roman" panose="02020603050405020304" pitchFamily="18" charset="0"/>
                <a:cs typeface="Times New Roman" panose="02020603050405020304" pitchFamily="18" charset="0"/>
              </a:rPr>
              <a:t>        </a:t>
            </a:r>
            <a:r>
              <a:rPr lang="en-GB" sz="2900" dirty="0" err="1" smtClean="0">
                <a:latin typeface="Times New Roman" panose="02020603050405020304" pitchFamily="18" charset="0"/>
                <a:cs typeface="Times New Roman" panose="02020603050405020304" pitchFamily="18" charset="0"/>
              </a:rPr>
              <a:t>printf</a:t>
            </a:r>
            <a:r>
              <a:rPr lang="en-GB" sz="2900" dirty="0" smtClean="0">
                <a:latin typeface="Times New Roman" panose="02020603050405020304" pitchFamily="18" charset="0"/>
                <a:cs typeface="Times New Roman" panose="02020603050405020304" pitchFamily="18" charset="0"/>
              </a:rPr>
              <a:t>("Both values are greater than 0\n");</a:t>
            </a:r>
          </a:p>
          <a:p>
            <a:pPr marL="0" indent="0">
              <a:buNone/>
            </a:pPr>
            <a:r>
              <a:rPr lang="en-GB" sz="2900" dirty="0" smtClean="0">
                <a:latin typeface="Times New Roman" panose="02020603050405020304" pitchFamily="18" charset="0"/>
                <a:cs typeface="Times New Roman" panose="02020603050405020304" pitchFamily="18" charset="0"/>
              </a:rPr>
              <a:t>    }</a:t>
            </a:r>
          </a:p>
          <a:p>
            <a:pPr marL="0" indent="0">
              <a:buNone/>
            </a:pPr>
            <a:r>
              <a:rPr lang="en-GB" sz="2900" dirty="0" smtClean="0">
                <a:latin typeface="Times New Roman" panose="02020603050405020304" pitchFamily="18" charset="0"/>
                <a:cs typeface="Times New Roman" panose="02020603050405020304" pitchFamily="18" charset="0"/>
              </a:rPr>
              <a:t>    else {</a:t>
            </a:r>
          </a:p>
          <a:p>
            <a:pPr marL="0" indent="0">
              <a:buNone/>
            </a:pPr>
            <a:r>
              <a:rPr lang="en-GB" sz="2900" dirty="0" smtClean="0">
                <a:latin typeface="Times New Roman" panose="02020603050405020304" pitchFamily="18" charset="0"/>
                <a:cs typeface="Times New Roman" panose="02020603050405020304" pitchFamily="18" charset="0"/>
              </a:rPr>
              <a:t>        </a:t>
            </a:r>
            <a:r>
              <a:rPr lang="en-GB" sz="2900" dirty="0" err="1" smtClean="0">
                <a:latin typeface="Times New Roman" panose="02020603050405020304" pitchFamily="18" charset="0"/>
                <a:cs typeface="Times New Roman" panose="02020603050405020304" pitchFamily="18" charset="0"/>
              </a:rPr>
              <a:t>printf</a:t>
            </a:r>
            <a:r>
              <a:rPr lang="en-GB" sz="2900" dirty="0" smtClean="0">
                <a:latin typeface="Times New Roman" panose="02020603050405020304" pitchFamily="18" charset="0"/>
                <a:cs typeface="Times New Roman" panose="02020603050405020304" pitchFamily="18" charset="0"/>
              </a:rPr>
              <a:t>("Both values are less than 0\n");</a:t>
            </a:r>
          </a:p>
          <a:p>
            <a:pPr marL="0" indent="0">
              <a:buNone/>
            </a:pPr>
            <a:r>
              <a:rPr lang="en-GB" sz="2900" dirty="0" smtClean="0">
                <a:latin typeface="Times New Roman" panose="02020603050405020304" pitchFamily="18" charset="0"/>
                <a:cs typeface="Times New Roman" panose="02020603050405020304" pitchFamily="18" charset="0"/>
              </a:rPr>
              <a:t>    }</a:t>
            </a:r>
          </a:p>
          <a:p>
            <a:pPr marL="0" indent="0">
              <a:buNone/>
            </a:pPr>
            <a:r>
              <a:rPr lang="en-GB" sz="2900" dirty="0" smtClean="0">
                <a:latin typeface="Times New Roman" panose="02020603050405020304" pitchFamily="18" charset="0"/>
                <a:cs typeface="Times New Roman" panose="02020603050405020304" pitchFamily="18" charset="0"/>
              </a:rPr>
              <a:t>    return 0; </a:t>
            </a:r>
          </a:p>
          <a:p>
            <a:pPr marL="0" indent="0">
              <a:buNone/>
            </a:pPr>
            <a:r>
              <a:rPr lang="en-GB" sz="2900" dirty="0" smtClean="0">
                <a:latin typeface="Times New Roman" panose="02020603050405020304" pitchFamily="18" charset="0"/>
                <a:cs typeface="Times New Roman" panose="02020603050405020304" pitchFamily="18" charset="0"/>
              </a:rPr>
              <a:t>}</a:t>
            </a:r>
          </a:p>
          <a:p>
            <a:pPr marL="0" indent="0">
              <a:buNone/>
            </a:pPr>
            <a:endParaRPr lang="en-GB" dirty="0"/>
          </a:p>
        </p:txBody>
      </p:sp>
    </p:spTree>
    <p:extLst>
      <p:ext uri="{BB962C8B-B14F-4D97-AF65-F5344CB8AC3E}">
        <p14:creationId xmlns:p14="http://schemas.microsoft.com/office/powerpoint/2010/main" val="1301504857"/>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023182"/>
                </a:solidFill>
                <a:latin typeface="Times New Roman"/>
                <a:cs typeface="Times New Roman"/>
                <a:sym typeface="Times New Roman"/>
              </a:rPr>
              <a:t>Bitwise operators</a:t>
            </a:r>
            <a:endParaRPr lang="en-GB" dirty="0"/>
          </a:p>
        </p:txBody>
      </p:sp>
      <p:sp>
        <p:nvSpPr>
          <p:cNvPr id="3" name="Content Placeholder 2"/>
          <p:cNvSpPr>
            <a:spLocks noGrp="1"/>
          </p:cNvSpPr>
          <p:nvPr>
            <p:ph idx="1"/>
          </p:nvPr>
        </p:nvSpPr>
        <p:spPr/>
        <p:txBody>
          <a:bodyPr/>
          <a:lstStyle/>
          <a:p>
            <a:pPr marL="0" indent="0">
              <a:buNone/>
            </a:pPr>
            <a:r>
              <a:rPr lang="en-GB" dirty="0" smtClean="0">
                <a:latin typeface="Times New Roman" panose="02020603050405020304" pitchFamily="18" charset="0"/>
                <a:cs typeface="Times New Roman" panose="02020603050405020304" pitchFamily="18" charset="0"/>
              </a:rPr>
              <a:t>In C, the following 6 operators are bitwise operators (also known as bit operators as they work at the bit-level).</a:t>
            </a:r>
          </a:p>
          <a:p>
            <a:pPr marL="0" indent="0">
              <a:buNone/>
            </a:pPr>
            <a:endParaRPr lang="en-GB" dirty="0"/>
          </a:p>
        </p:txBody>
      </p:sp>
    </p:spTree>
    <p:extLst>
      <p:ext uri="{BB962C8B-B14F-4D97-AF65-F5344CB8AC3E}">
        <p14:creationId xmlns:p14="http://schemas.microsoft.com/office/powerpoint/2010/main" val="1908563707"/>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18944"/>
          </a:xfrm>
        </p:spPr>
        <p:txBody>
          <a:bodyPr>
            <a:normAutofit fontScale="90000"/>
          </a:bodyPr>
          <a:lstStyle/>
          <a:p>
            <a:r>
              <a:rPr lang="en-GB" dirty="0" smtClean="0">
                <a:solidFill>
                  <a:srgbClr val="023182"/>
                </a:solidFill>
                <a:latin typeface="Times New Roman"/>
                <a:cs typeface="Times New Roman"/>
                <a:sym typeface="Times New Roman"/>
              </a:rPr>
              <a:t>C provides six operators for bit manipulation.</a:t>
            </a:r>
            <a:endParaRPr lang="en-GB" dirty="0"/>
          </a:p>
        </p:txBody>
      </p:sp>
      <p:graphicFrame>
        <p:nvGraphicFramePr>
          <p:cNvPr id="4" name="Table 3"/>
          <p:cNvGraphicFramePr>
            <a:graphicFrameLocks noGrp="1"/>
          </p:cNvGraphicFramePr>
          <p:nvPr>
            <p:extLst>
              <p:ext uri="{D42A27DB-BD31-4B8C-83A1-F6EECF244321}">
                <p14:modId xmlns:p14="http://schemas.microsoft.com/office/powerpoint/2010/main" val="2294188144"/>
              </p:ext>
            </p:extLst>
          </p:nvPr>
        </p:nvGraphicFramePr>
        <p:xfrm>
          <a:off x="418009" y="2172494"/>
          <a:ext cx="9117876" cy="3566160"/>
        </p:xfrm>
        <a:graphic>
          <a:graphicData uri="http://schemas.openxmlformats.org/drawingml/2006/table">
            <a:tbl>
              <a:tblPr/>
              <a:tblGrid>
                <a:gridCol w="4558938">
                  <a:extLst>
                    <a:ext uri="{9D8B030D-6E8A-4147-A177-3AD203B41FA5}">
                      <a16:colId xmlns="" xmlns:a16="http://schemas.microsoft.com/office/drawing/2014/main" val="1006074284"/>
                    </a:ext>
                  </a:extLst>
                </a:gridCol>
                <a:gridCol w="4558938">
                  <a:extLst>
                    <a:ext uri="{9D8B030D-6E8A-4147-A177-3AD203B41FA5}">
                      <a16:colId xmlns="" xmlns:a16="http://schemas.microsoft.com/office/drawing/2014/main" val="1805831671"/>
                    </a:ext>
                  </a:extLst>
                </a:gridCol>
              </a:tblGrid>
              <a:tr h="0">
                <a:tc>
                  <a:txBody>
                    <a:bodyPr/>
                    <a:lstStyle/>
                    <a:p>
                      <a:pPr algn="ctr"/>
                      <a:r>
                        <a:rPr lang="en-GB" sz="2400" dirty="0">
                          <a:effectLst/>
                        </a:rPr>
                        <a:t>Symbol</a:t>
                      </a:r>
                    </a:p>
                  </a:txBody>
                  <a:tcPr anchor="ctr">
                    <a:lnL>
                      <a:noFill/>
                    </a:lnL>
                    <a:lnR>
                      <a:noFill/>
                    </a:lnR>
                    <a:lnT>
                      <a:noFill/>
                    </a:lnT>
                    <a:lnB>
                      <a:noFill/>
                    </a:lnB>
                  </a:tcPr>
                </a:tc>
                <a:tc>
                  <a:txBody>
                    <a:bodyPr/>
                    <a:lstStyle/>
                    <a:p>
                      <a:pPr algn="l"/>
                      <a:r>
                        <a:rPr lang="en-GB" sz="2400" dirty="0">
                          <a:effectLst/>
                        </a:rPr>
                        <a:t>Operator</a:t>
                      </a:r>
                    </a:p>
                  </a:txBody>
                  <a:tcPr anchor="ctr">
                    <a:lnL>
                      <a:noFill/>
                    </a:lnL>
                    <a:lnR>
                      <a:noFill/>
                    </a:lnR>
                    <a:lnT>
                      <a:noFill/>
                    </a:lnT>
                    <a:lnB>
                      <a:noFill/>
                    </a:lnB>
                  </a:tcPr>
                </a:tc>
                <a:extLst>
                  <a:ext uri="{0D108BD9-81ED-4DB2-BD59-A6C34878D82A}">
                    <a16:rowId xmlns="" xmlns:a16="http://schemas.microsoft.com/office/drawing/2014/main" val="2608267682"/>
                  </a:ext>
                </a:extLst>
              </a:tr>
              <a:tr h="0">
                <a:tc>
                  <a:txBody>
                    <a:bodyPr/>
                    <a:lstStyle/>
                    <a:p>
                      <a:pPr algn="ctr"/>
                      <a:r>
                        <a:rPr lang="en-GB" sz="2400" dirty="0">
                          <a:effectLst/>
                        </a:rPr>
                        <a:t>&amp;</a:t>
                      </a:r>
                    </a:p>
                  </a:txBody>
                  <a:tcPr anchor="ctr">
                    <a:lnL>
                      <a:noFill/>
                    </a:lnL>
                    <a:lnR>
                      <a:noFill/>
                    </a:lnR>
                    <a:lnT>
                      <a:noFill/>
                    </a:lnT>
                    <a:lnB>
                      <a:noFill/>
                    </a:lnB>
                  </a:tcPr>
                </a:tc>
                <a:tc>
                  <a:txBody>
                    <a:bodyPr/>
                    <a:lstStyle/>
                    <a:p>
                      <a:r>
                        <a:rPr lang="en-GB" sz="2400">
                          <a:effectLst/>
                        </a:rPr>
                        <a:t>bitwise AND</a:t>
                      </a:r>
                    </a:p>
                  </a:txBody>
                  <a:tcPr anchor="ctr">
                    <a:lnL>
                      <a:noFill/>
                    </a:lnL>
                    <a:lnR>
                      <a:noFill/>
                    </a:lnR>
                    <a:lnT>
                      <a:noFill/>
                    </a:lnT>
                    <a:lnB>
                      <a:noFill/>
                    </a:lnB>
                  </a:tcPr>
                </a:tc>
                <a:extLst>
                  <a:ext uri="{0D108BD9-81ED-4DB2-BD59-A6C34878D82A}">
                    <a16:rowId xmlns="" xmlns:a16="http://schemas.microsoft.com/office/drawing/2014/main" val="2785357615"/>
                  </a:ext>
                </a:extLst>
              </a:tr>
              <a:tr h="0">
                <a:tc>
                  <a:txBody>
                    <a:bodyPr/>
                    <a:lstStyle/>
                    <a:p>
                      <a:pPr algn="ctr"/>
                      <a:r>
                        <a:rPr lang="en-GB" sz="2400" dirty="0">
                          <a:effectLst/>
                        </a:rPr>
                        <a:t>|</a:t>
                      </a:r>
                    </a:p>
                  </a:txBody>
                  <a:tcPr anchor="ctr">
                    <a:lnL>
                      <a:noFill/>
                    </a:lnL>
                    <a:lnR>
                      <a:noFill/>
                    </a:lnR>
                    <a:lnT>
                      <a:noFill/>
                    </a:lnT>
                    <a:lnB>
                      <a:noFill/>
                    </a:lnB>
                  </a:tcPr>
                </a:tc>
                <a:tc>
                  <a:txBody>
                    <a:bodyPr/>
                    <a:lstStyle/>
                    <a:p>
                      <a:r>
                        <a:rPr lang="en-GB" sz="2400">
                          <a:effectLst/>
                        </a:rPr>
                        <a:t>bitwise inclusive OR</a:t>
                      </a:r>
                    </a:p>
                  </a:txBody>
                  <a:tcPr anchor="ctr">
                    <a:lnL>
                      <a:noFill/>
                    </a:lnL>
                    <a:lnR>
                      <a:noFill/>
                    </a:lnR>
                    <a:lnT>
                      <a:noFill/>
                    </a:lnT>
                    <a:lnB>
                      <a:noFill/>
                    </a:lnB>
                  </a:tcPr>
                </a:tc>
                <a:extLst>
                  <a:ext uri="{0D108BD9-81ED-4DB2-BD59-A6C34878D82A}">
                    <a16:rowId xmlns="" xmlns:a16="http://schemas.microsoft.com/office/drawing/2014/main" val="3094461825"/>
                  </a:ext>
                </a:extLst>
              </a:tr>
              <a:tr h="0">
                <a:tc>
                  <a:txBody>
                    <a:bodyPr/>
                    <a:lstStyle/>
                    <a:p>
                      <a:pPr algn="ctr"/>
                      <a:r>
                        <a:rPr lang="en-GB" sz="2400" dirty="0">
                          <a:effectLst/>
                        </a:rPr>
                        <a:t>^</a:t>
                      </a:r>
                    </a:p>
                  </a:txBody>
                  <a:tcPr anchor="ctr">
                    <a:lnL>
                      <a:noFill/>
                    </a:lnL>
                    <a:lnR>
                      <a:noFill/>
                    </a:lnR>
                    <a:lnT>
                      <a:noFill/>
                    </a:lnT>
                    <a:lnB>
                      <a:noFill/>
                    </a:lnB>
                  </a:tcPr>
                </a:tc>
                <a:tc>
                  <a:txBody>
                    <a:bodyPr/>
                    <a:lstStyle/>
                    <a:p>
                      <a:r>
                        <a:rPr lang="en-GB" sz="2400" dirty="0">
                          <a:effectLst/>
                        </a:rPr>
                        <a:t>bitwise XOR (exclusive OR)</a:t>
                      </a:r>
                    </a:p>
                  </a:txBody>
                  <a:tcPr anchor="ctr">
                    <a:lnL>
                      <a:noFill/>
                    </a:lnL>
                    <a:lnR>
                      <a:noFill/>
                    </a:lnR>
                    <a:lnT>
                      <a:noFill/>
                    </a:lnT>
                    <a:lnB>
                      <a:noFill/>
                    </a:lnB>
                  </a:tcPr>
                </a:tc>
                <a:extLst>
                  <a:ext uri="{0D108BD9-81ED-4DB2-BD59-A6C34878D82A}">
                    <a16:rowId xmlns="" xmlns:a16="http://schemas.microsoft.com/office/drawing/2014/main" val="4119637765"/>
                  </a:ext>
                </a:extLst>
              </a:tr>
              <a:tr h="0">
                <a:tc>
                  <a:txBody>
                    <a:bodyPr/>
                    <a:lstStyle/>
                    <a:p>
                      <a:pPr algn="ctr"/>
                      <a:r>
                        <a:rPr lang="en-GB" sz="2400" dirty="0">
                          <a:effectLst/>
                        </a:rPr>
                        <a:t>&lt;&lt;</a:t>
                      </a:r>
                    </a:p>
                  </a:txBody>
                  <a:tcPr anchor="ctr">
                    <a:lnL>
                      <a:noFill/>
                    </a:lnL>
                    <a:lnR>
                      <a:noFill/>
                    </a:lnR>
                    <a:lnT>
                      <a:noFill/>
                    </a:lnT>
                    <a:lnB>
                      <a:noFill/>
                    </a:lnB>
                  </a:tcPr>
                </a:tc>
                <a:tc>
                  <a:txBody>
                    <a:bodyPr/>
                    <a:lstStyle/>
                    <a:p>
                      <a:r>
                        <a:rPr lang="en-GB" sz="2400">
                          <a:effectLst/>
                        </a:rPr>
                        <a:t>left shift</a:t>
                      </a:r>
                    </a:p>
                  </a:txBody>
                  <a:tcPr anchor="ctr">
                    <a:lnL>
                      <a:noFill/>
                    </a:lnL>
                    <a:lnR>
                      <a:noFill/>
                    </a:lnR>
                    <a:lnT>
                      <a:noFill/>
                    </a:lnT>
                    <a:lnB>
                      <a:noFill/>
                    </a:lnB>
                  </a:tcPr>
                </a:tc>
                <a:extLst>
                  <a:ext uri="{0D108BD9-81ED-4DB2-BD59-A6C34878D82A}">
                    <a16:rowId xmlns="" xmlns:a16="http://schemas.microsoft.com/office/drawing/2014/main" val="932688468"/>
                  </a:ext>
                </a:extLst>
              </a:tr>
              <a:tr h="0">
                <a:tc>
                  <a:txBody>
                    <a:bodyPr/>
                    <a:lstStyle/>
                    <a:p>
                      <a:pPr algn="ctr"/>
                      <a:r>
                        <a:rPr lang="en-GB" sz="2400" dirty="0">
                          <a:effectLst/>
                        </a:rPr>
                        <a:t>&gt;&gt;</a:t>
                      </a:r>
                    </a:p>
                  </a:txBody>
                  <a:tcPr anchor="ctr">
                    <a:lnL>
                      <a:noFill/>
                    </a:lnL>
                    <a:lnR>
                      <a:noFill/>
                    </a:lnR>
                    <a:lnT>
                      <a:noFill/>
                    </a:lnT>
                    <a:lnB>
                      <a:noFill/>
                    </a:lnB>
                  </a:tcPr>
                </a:tc>
                <a:tc>
                  <a:txBody>
                    <a:bodyPr/>
                    <a:lstStyle/>
                    <a:p>
                      <a:r>
                        <a:rPr lang="en-GB" sz="2400">
                          <a:effectLst/>
                        </a:rPr>
                        <a:t>right shift</a:t>
                      </a:r>
                    </a:p>
                  </a:txBody>
                  <a:tcPr anchor="ctr">
                    <a:lnL>
                      <a:noFill/>
                    </a:lnL>
                    <a:lnR>
                      <a:noFill/>
                    </a:lnR>
                    <a:lnT>
                      <a:noFill/>
                    </a:lnT>
                    <a:lnB>
                      <a:noFill/>
                    </a:lnB>
                  </a:tcPr>
                </a:tc>
                <a:extLst>
                  <a:ext uri="{0D108BD9-81ED-4DB2-BD59-A6C34878D82A}">
                    <a16:rowId xmlns="" xmlns:a16="http://schemas.microsoft.com/office/drawing/2014/main" val="1939441620"/>
                  </a:ext>
                </a:extLst>
              </a:tr>
              <a:tr h="0">
                <a:tc>
                  <a:txBody>
                    <a:bodyPr/>
                    <a:lstStyle/>
                    <a:p>
                      <a:pPr algn="ctr"/>
                      <a:r>
                        <a:rPr lang="en-GB" sz="2400" dirty="0">
                          <a:effectLst/>
                        </a:rPr>
                        <a:t>~</a:t>
                      </a:r>
                    </a:p>
                  </a:txBody>
                  <a:tcPr anchor="ctr">
                    <a:lnL>
                      <a:noFill/>
                    </a:lnL>
                    <a:lnR>
                      <a:noFill/>
                    </a:lnR>
                    <a:lnT>
                      <a:noFill/>
                    </a:lnT>
                    <a:lnB>
                      <a:noFill/>
                    </a:lnB>
                  </a:tcPr>
                </a:tc>
                <a:tc>
                  <a:txBody>
                    <a:bodyPr/>
                    <a:lstStyle/>
                    <a:p>
                      <a:r>
                        <a:rPr lang="en-GB" sz="2400" dirty="0">
                          <a:effectLst/>
                        </a:rPr>
                        <a:t>bitwise NOT (</a:t>
                      </a:r>
                      <a:r>
                        <a:rPr lang="en-GB" sz="2400" u="none" strike="noStrike" dirty="0">
                          <a:effectLst/>
                        </a:rPr>
                        <a:t>ones' complement</a:t>
                      </a:r>
                      <a:r>
                        <a:rPr lang="en-GB" sz="2400" dirty="0">
                          <a:effectLst/>
                        </a:rPr>
                        <a:t>) (unary)</a:t>
                      </a:r>
                    </a:p>
                  </a:txBody>
                  <a:tcPr anchor="ctr">
                    <a:lnL>
                      <a:noFill/>
                    </a:lnL>
                    <a:lnR>
                      <a:noFill/>
                    </a:lnR>
                    <a:lnT>
                      <a:noFill/>
                    </a:lnT>
                    <a:lnB>
                      <a:noFill/>
                    </a:lnB>
                  </a:tcPr>
                </a:tc>
                <a:extLst>
                  <a:ext uri="{0D108BD9-81ED-4DB2-BD59-A6C34878D82A}">
                    <a16:rowId xmlns="" xmlns:a16="http://schemas.microsoft.com/office/drawing/2014/main" val="1508173077"/>
                  </a:ext>
                </a:extLst>
              </a:tr>
            </a:tbl>
          </a:graphicData>
        </a:graphic>
      </p:graphicFrame>
    </p:spTree>
    <p:extLst>
      <p:ext uri="{BB962C8B-B14F-4D97-AF65-F5344CB8AC3E}">
        <p14:creationId xmlns:p14="http://schemas.microsoft.com/office/powerpoint/2010/main" val="692082680"/>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505732"/>
          </a:xfrm>
        </p:spPr>
        <p:txBody>
          <a:bodyPr>
            <a:normAutofit fontScale="90000"/>
          </a:bodyPr>
          <a:lstStyle/>
          <a:p>
            <a:r>
              <a:rPr lang="en-US" dirty="0" smtClean="0">
                <a:solidFill>
                  <a:srgbClr val="023182"/>
                </a:solidFill>
                <a:latin typeface="Times New Roman"/>
                <a:cs typeface="Times New Roman"/>
                <a:sym typeface="Times New Roman"/>
              </a:rPr>
              <a:t>Bitwise AND &amp;</a:t>
            </a:r>
            <a:endParaRPr lang="en-GB" dirty="0"/>
          </a:p>
        </p:txBody>
      </p:sp>
      <p:graphicFrame>
        <p:nvGraphicFramePr>
          <p:cNvPr id="4" name="Table 3"/>
          <p:cNvGraphicFramePr>
            <a:graphicFrameLocks noGrp="1"/>
          </p:cNvGraphicFramePr>
          <p:nvPr>
            <p:extLst>
              <p:ext uri="{D42A27DB-BD31-4B8C-83A1-F6EECF244321}">
                <p14:modId xmlns:p14="http://schemas.microsoft.com/office/powerpoint/2010/main" val="1451699493"/>
              </p:ext>
            </p:extLst>
          </p:nvPr>
        </p:nvGraphicFramePr>
        <p:xfrm>
          <a:off x="905692" y="1850276"/>
          <a:ext cx="7889965" cy="3026525"/>
        </p:xfrm>
        <a:graphic>
          <a:graphicData uri="http://schemas.openxmlformats.org/drawingml/2006/table">
            <a:tbl>
              <a:tblPr/>
              <a:tblGrid>
                <a:gridCol w="2413421">
                  <a:extLst>
                    <a:ext uri="{9D8B030D-6E8A-4147-A177-3AD203B41FA5}">
                      <a16:colId xmlns="" xmlns:a16="http://schemas.microsoft.com/office/drawing/2014/main" val="3523341055"/>
                    </a:ext>
                  </a:extLst>
                </a:gridCol>
                <a:gridCol w="2738272">
                  <a:extLst>
                    <a:ext uri="{9D8B030D-6E8A-4147-A177-3AD203B41FA5}">
                      <a16:colId xmlns="" xmlns:a16="http://schemas.microsoft.com/office/drawing/2014/main" val="394909830"/>
                    </a:ext>
                  </a:extLst>
                </a:gridCol>
                <a:gridCol w="2738272">
                  <a:extLst>
                    <a:ext uri="{9D8B030D-6E8A-4147-A177-3AD203B41FA5}">
                      <a16:colId xmlns="" xmlns:a16="http://schemas.microsoft.com/office/drawing/2014/main" val="2198481266"/>
                    </a:ext>
                  </a:extLst>
                </a:gridCol>
              </a:tblGrid>
              <a:tr h="605305">
                <a:tc>
                  <a:txBody>
                    <a:bodyPr/>
                    <a:lstStyle/>
                    <a:p>
                      <a:pPr algn="ctr"/>
                      <a:r>
                        <a:rPr lang="en-GB" sz="2400" dirty="0">
                          <a:effectLst/>
                        </a:rPr>
                        <a:t>bit a</a:t>
                      </a:r>
                    </a:p>
                  </a:txBody>
                  <a:tcPr anchor="ctr">
                    <a:lnL>
                      <a:noFill/>
                    </a:lnL>
                    <a:lnR>
                      <a:noFill/>
                    </a:lnR>
                    <a:lnT>
                      <a:noFill/>
                    </a:lnT>
                    <a:lnB>
                      <a:noFill/>
                    </a:lnB>
                  </a:tcPr>
                </a:tc>
                <a:tc>
                  <a:txBody>
                    <a:bodyPr/>
                    <a:lstStyle/>
                    <a:p>
                      <a:pPr algn="ctr"/>
                      <a:r>
                        <a:rPr lang="en-GB" sz="2400" dirty="0">
                          <a:effectLst/>
                        </a:rPr>
                        <a:t>bit b</a:t>
                      </a:r>
                    </a:p>
                  </a:txBody>
                  <a:tcPr anchor="ctr">
                    <a:lnL>
                      <a:noFill/>
                    </a:lnL>
                    <a:lnR>
                      <a:noFill/>
                    </a:lnR>
                    <a:lnT>
                      <a:noFill/>
                    </a:lnT>
                    <a:lnB>
                      <a:noFill/>
                    </a:lnB>
                  </a:tcPr>
                </a:tc>
                <a:tc>
                  <a:txBody>
                    <a:bodyPr/>
                    <a:lstStyle/>
                    <a:p>
                      <a:pPr algn="ctr"/>
                      <a:r>
                        <a:rPr lang="en-GB" sz="2400" dirty="0">
                          <a:effectLst/>
                        </a:rPr>
                        <a:t>a &amp; b (a AND b)</a:t>
                      </a:r>
                    </a:p>
                  </a:txBody>
                  <a:tcPr anchor="ctr">
                    <a:lnL>
                      <a:noFill/>
                    </a:lnL>
                    <a:lnR>
                      <a:noFill/>
                    </a:lnR>
                    <a:lnT>
                      <a:noFill/>
                    </a:lnT>
                    <a:lnB>
                      <a:noFill/>
                    </a:lnB>
                  </a:tcPr>
                </a:tc>
                <a:extLst>
                  <a:ext uri="{0D108BD9-81ED-4DB2-BD59-A6C34878D82A}">
                    <a16:rowId xmlns="" xmlns:a16="http://schemas.microsoft.com/office/drawing/2014/main" val="671510620"/>
                  </a:ext>
                </a:extLst>
              </a:tr>
              <a:tr h="605305">
                <a:tc>
                  <a:txBody>
                    <a:bodyPr/>
                    <a:lstStyle/>
                    <a:p>
                      <a:pPr algn="ctr"/>
                      <a:r>
                        <a:rPr lang="en-GB" sz="2400" dirty="0">
                          <a:effectLst/>
                        </a:rPr>
                        <a:t>0</a:t>
                      </a:r>
                    </a:p>
                  </a:txBody>
                  <a:tcPr anchor="ctr">
                    <a:lnL>
                      <a:noFill/>
                    </a:lnL>
                    <a:lnR>
                      <a:noFill/>
                    </a:lnR>
                    <a:lnT>
                      <a:noFill/>
                    </a:lnT>
                    <a:lnB>
                      <a:noFill/>
                    </a:lnB>
                  </a:tcPr>
                </a:tc>
                <a:tc>
                  <a:txBody>
                    <a:bodyPr/>
                    <a:lstStyle/>
                    <a:p>
                      <a:pPr algn="ctr"/>
                      <a:r>
                        <a:rPr lang="en-GB" sz="2400" dirty="0">
                          <a:effectLst/>
                        </a:rPr>
                        <a:t>0</a:t>
                      </a:r>
                    </a:p>
                  </a:txBody>
                  <a:tcPr anchor="ctr">
                    <a:lnL>
                      <a:noFill/>
                    </a:lnL>
                    <a:lnR>
                      <a:noFill/>
                    </a:lnR>
                    <a:lnT>
                      <a:noFill/>
                    </a:lnT>
                    <a:lnB>
                      <a:noFill/>
                    </a:lnB>
                  </a:tcPr>
                </a:tc>
                <a:tc>
                  <a:txBody>
                    <a:bodyPr/>
                    <a:lstStyle/>
                    <a:p>
                      <a:pPr algn="ctr"/>
                      <a:r>
                        <a:rPr lang="en-GB" sz="2400" dirty="0">
                          <a:effectLst/>
                        </a:rPr>
                        <a:t>0</a:t>
                      </a:r>
                    </a:p>
                  </a:txBody>
                  <a:tcPr anchor="ctr">
                    <a:lnL>
                      <a:noFill/>
                    </a:lnL>
                    <a:lnR>
                      <a:noFill/>
                    </a:lnR>
                    <a:lnT>
                      <a:noFill/>
                    </a:lnT>
                    <a:lnB>
                      <a:noFill/>
                    </a:lnB>
                  </a:tcPr>
                </a:tc>
                <a:extLst>
                  <a:ext uri="{0D108BD9-81ED-4DB2-BD59-A6C34878D82A}">
                    <a16:rowId xmlns="" xmlns:a16="http://schemas.microsoft.com/office/drawing/2014/main" val="2133887477"/>
                  </a:ext>
                </a:extLst>
              </a:tr>
              <a:tr h="605305">
                <a:tc>
                  <a:txBody>
                    <a:bodyPr/>
                    <a:lstStyle/>
                    <a:p>
                      <a:pPr algn="ctr"/>
                      <a:r>
                        <a:rPr lang="en-GB" sz="2400" dirty="0">
                          <a:effectLst/>
                        </a:rPr>
                        <a:t>0</a:t>
                      </a:r>
                    </a:p>
                  </a:txBody>
                  <a:tcPr anchor="ctr">
                    <a:lnL>
                      <a:noFill/>
                    </a:lnL>
                    <a:lnR>
                      <a:noFill/>
                    </a:lnR>
                    <a:lnT>
                      <a:noFill/>
                    </a:lnT>
                    <a:lnB>
                      <a:noFill/>
                    </a:lnB>
                  </a:tcPr>
                </a:tc>
                <a:tc>
                  <a:txBody>
                    <a:bodyPr/>
                    <a:lstStyle/>
                    <a:p>
                      <a:pPr algn="ctr"/>
                      <a:r>
                        <a:rPr lang="en-GB" sz="2400" dirty="0">
                          <a:effectLst/>
                        </a:rPr>
                        <a:t>1</a:t>
                      </a:r>
                    </a:p>
                  </a:txBody>
                  <a:tcPr anchor="ctr">
                    <a:lnL>
                      <a:noFill/>
                    </a:lnL>
                    <a:lnR>
                      <a:noFill/>
                    </a:lnR>
                    <a:lnT>
                      <a:noFill/>
                    </a:lnT>
                    <a:lnB>
                      <a:noFill/>
                    </a:lnB>
                  </a:tcPr>
                </a:tc>
                <a:tc>
                  <a:txBody>
                    <a:bodyPr/>
                    <a:lstStyle/>
                    <a:p>
                      <a:pPr algn="ctr"/>
                      <a:r>
                        <a:rPr lang="en-GB" sz="2400" dirty="0">
                          <a:effectLst/>
                        </a:rPr>
                        <a:t>0</a:t>
                      </a:r>
                    </a:p>
                  </a:txBody>
                  <a:tcPr anchor="ctr">
                    <a:lnL>
                      <a:noFill/>
                    </a:lnL>
                    <a:lnR>
                      <a:noFill/>
                    </a:lnR>
                    <a:lnT>
                      <a:noFill/>
                    </a:lnT>
                    <a:lnB>
                      <a:noFill/>
                    </a:lnB>
                  </a:tcPr>
                </a:tc>
                <a:extLst>
                  <a:ext uri="{0D108BD9-81ED-4DB2-BD59-A6C34878D82A}">
                    <a16:rowId xmlns="" xmlns:a16="http://schemas.microsoft.com/office/drawing/2014/main" val="1362460779"/>
                  </a:ext>
                </a:extLst>
              </a:tr>
              <a:tr h="605305">
                <a:tc>
                  <a:txBody>
                    <a:bodyPr/>
                    <a:lstStyle/>
                    <a:p>
                      <a:pPr algn="ctr"/>
                      <a:r>
                        <a:rPr lang="en-GB" sz="2400" dirty="0">
                          <a:effectLst/>
                        </a:rPr>
                        <a:t>1</a:t>
                      </a:r>
                    </a:p>
                  </a:txBody>
                  <a:tcPr anchor="ctr">
                    <a:lnL>
                      <a:noFill/>
                    </a:lnL>
                    <a:lnR>
                      <a:noFill/>
                    </a:lnR>
                    <a:lnT>
                      <a:noFill/>
                    </a:lnT>
                    <a:lnB>
                      <a:noFill/>
                    </a:lnB>
                  </a:tcPr>
                </a:tc>
                <a:tc>
                  <a:txBody>
                    <a:bodyPr/>
                    <a:lstStyle/>
                    <a:p>
                      <a:pPr algn="ctr"/>
                      <a:r>
                        <a:rPr lang="en-GB" sz="2400" dirty="0">
                          <a:effectLst/>
                        </a:rPr>
                        <a:t>0</a:t>
                      </a:r>
                    </a:p>
                  </a:txBody>
                  <a:tcPr anchor="ctr">
                    <a:lnL>
                      <a:noFill/>
                    </a:lnL>
                    <a:lnR>
                      <a:noFill/>
                    </a:lnR>
                    <a:lnT>
                      <a:noFill/>
                    </a:lnT>
                    <a:lnB>
                      <a:noFill/>
                    </a:lnB>
                  </a:tcPr>
                </a:tc>
                <a:tc>
                  <a:txBody>
                    <a:bodyPr/>
                    <a:lstStyle/>
                    <a:p>
                      <a:pPr algn="ctr"/>
                      <a:r>
                        <a:rPr lang="en-GB" sz="2400" dirty="0">
                          <a:effectLst/>
                        </a:rPr>
                        <a:t>0</a:t>
                      </a:r>
                    </a:p>
                  </a:txBody>
                  <a:tcPr anchor="ctr">
                    <a:lnL>
                      <a:noFill/>
                    </a:lnL>
                    <a:lnR>
                      <a:noFill/>
                    </a:lnR>
                    <a:lnT>
                      <a:noFill/>
                    </a:lnT>
                    <a:lnB>
                      <a:noFill/>
                    </a:lnB>
                  </a:tcPr>
                </a:tc>
                <a:extLst>
                  <a:ext uri="{0D108BD9-81ED-4DB2-BD59-A6C34878D82A}">
                    <a16:rowId xmlns="" xmlns:a16="http://schemas.microsoft.com/office/drawing/2014/main" val="239906401"/>
                  </a:ext>
                </a:extLst>
              </a:tr>
              <a:tr h="605305">
                <a:tc>
                  <a:txBody>
                    <a:bodyPr/>
                    <a:lstStyle/>
                    <a:p>
                      <a:pPr algn="ctr"/>
                      <a:r>
                        <a:rPr lang="en-GB" sz="2400" dirty="0">
                          <a:effectLst/>
                        </a:rPr>
                        <a:t>1</a:t>
                      </a:r>
                    </a:p>
                  </a:txBody>
                  <a:tcPr anchor="ctr">
                    <a:lnL>
                      <a:noFill/>
                    </a:lnL>
                    <a:lnR>
                      <a:noFill/>
                    </a:lnR>
                    <a:lnT>
                      <a:noFill/>
                    </a:lnT>
                    <a:lnB>
                      <a:noFill/>
                    </a:lnB>
                  </a:tcPr>
                </a:tc>
                <a:tc>
                  <a:txBody>
                    <a:bodyPr/>
                    <a:lstStyle/>
                    <a:p>
                      <a:pPr algn="ctr"/>
                      <a:r>
                        <a:rPr lang="en-GB" sz="2400" dirty="0">
                          <a:effectLst/>
                        </a:rPr>
                        <a:t>1</a:t>
                      </a:r>
                    </a:p>
                  </a:txBody>
                  <a:tcPr anchor="ctr">
                    <a:lnL>
                      <a:noFill/>
                    </a:lnL>
                    <a:lnR>
                      <a:noFill/>
                    </a:lnR>
                    <a:lnT>
                      <a:noFill/>
                    </a:lnT>
                    <a:lnB>
                      <a:noFill/>
                    </a:lnB>
                  </a:tcPr>
                </a:tc>
                <a:tc>
                  <a:txBody>
                    <a:bodyPr/>
                    <a:lstStyle/>
                    <a:p>
                      <a:pPr algn="ctr"/>
                      <a:r>
                        <a:rPr lang="en-GB" sz="2400" dirty="0">
                          <a:effectLst/>
                        </a:rPr>
                        <a:t>1</a:t>
                      </a:r>
                    </a:p>
                  </a:txBody>
                  <a:tcPr anchor="ctr">
                    <a:lnL>
                      <a:noFill/>
                    </a:lnL>
                    <a:lnR>
                      <a:noFill/>
                    </a:lnR>
                    <a:lnT>
                      <a:noFill/>
                    </a:lnT>
                    <a:lnB>
                      <a:noFill/>
                    </a:lnB>
                  </a:tcPr>
                </a:tc>
                <a:extLst>
                  <a:ext uri="{0D108BD9-81ED-4DB2-BD59-A6C34878D82A}">
                    <a16:rowId xmlns="" xmlns:a16="http://schemas.microsoft.com/office/drawing/2014/main" val="3991184389"/>
                  </a:ext>
                </a:extLst>
              </a:tr>
            </a:tbl>
          </a:graphicData>
        </a:graphic>
      </p:graphicFrame>
    </p:spTree>
    <p:extLst>
      <p:ext uri="{BB962C8B-B14F-4D97-AF65-F5344CB8AC3E}">
        <p14:creationId xmlns:p14="http://schemas.microsoft.com/office/powerpoint/2010/main" val="112500469"/>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81446" y="841556"/>
            <a:ext cx="10515600" cy="4351338"/>
          </a:xfrm>
        </p:spPr>
        <p:txBody>
          <a:bodyPr/>
          <a:lstStyle/>
          <a:p>
            <a:pPr algn="just">
              <a:lnSpc>
                <a:spcPct val="150000"/>
              </a:lnSpc>
            </a:pPr>
            <a:r>
              <a:rPr lang="en-GB" dirty="0" smtClean="0">
                <a:latin typeface="Times New Roman" panose="02020603050405020304" pitchFamily="18" charset="0"/>
                <a:cs typeface="Times New Roman" panose="02020603050405020304" pitchFamily="18" charset="0"/>
              </a:rPr>
              <a:t>The bitwise AND operator is a single ampersand: &amp;. It is just a representation of AND which does its work on the bits of the operands rather than the truth value of the operands. </a:t>
            </a:r>
          </a:p>
          <a:p>
            <a:pPr algn="just">
              <a:lnSpc>
                <a:spcPct val="150000"/>
              </a:lnSpc>
            </a:pPr>
            <a:r>
              <a:rPr lang="en-GB" dirty="0" smtClean="0">
                <a:latin typeface="Times New Roman" panose="02020603050405020304" pitchFamily="18" charset="0"/>
                <a:cs typeface="Times New Roman" panose="02020603050405020304" pitchFamily="18" charset="0"/>
              </a:rPr>
              <a:t>Bitwise binary AND performs logical conjunction (shown in the table above) of the bits in each position of a number in its binary form.</a:t>
            </a:r>
          </a:p>
          <a:p>
            <a:pPr marL="0" indent="0">
              <a:buNone/>
            </a:pPr>
            <a:endParaRPr lang="en-GB" dirty="0"/>
          </a:p>
        </p:txBody>
      </p:sp>
    </p:spTree>
    <p:extLst>
      <p:ext uri="{BB962C8B-B14F-4D97-AF65-F5344CB8AC3E}">
        <p14:creationId xmlns:p14="http://schemas.microsoft.com/office/powerpoint/2010/main" val="2116651523"/>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023182"/>
                </a:solidFill>
                <a:latin typeface="Times New Roman"/>
                <a:cs typeface="Times New Roman"/>
                <a:sym typeface="Times New Roman"/>
              </a:rPr>
              <a:t>Bitwise XOR ^ </a:t>
            </a:r>
            <a:endParaRPr lang="en-GB" dirty="0"/>
          </a:p>
        </p:txBody>
      </p:sp>
      <p:graphicFrame>
        <p:nvGraphicFramePr>
          <p:cNvPr id="4" name="Table 3"/>
          <p:cNvGraphicFramePr>
            <a:graphicFrameLocks noGrp="1"/>
          </p:cNvGraphicFramePr>
          <p:nvPr>
            <p:extLst>
              <p:ext uri="{D42A27DB-BD31-4B8C-83A1-F6EECF244321}">
                <p14:modId xmlns:p14="http://schemas.microsoft.com/office/powerpoint/2010/main" val="2996818690"/>
              </p:ext>
            </p:extLst>
          </p:nvPr>
        </p:nvGraphicFramePr>
        <p:xfrm>
          <a:off x="587828" y="2629695"/>
          <a:ext cx="9235440" cy="2286000"/>
        </p:xfrm>
        <a:graphic>
          <a:graphicData uri="http://schemas.openxmlformats.org/drawingml/2006/table">
            <a:tbl>
              <a:tblPr/>
              <a:tblGrid>
                <a:gridCol w="3078480">
                  <a:extLst>
                    <a:ext uri="{9D8B030D-6E8A-4147-A177-3AD203B41FA5}">
                      <a16:colId xmlns="" xmlns:a16="http://schemas.microsoft.com/office/drawing/2014/main" val="457224201"/>
                    </a:ext>
                  </a:extLst>
                </a:gridCol>
                <a:gridCol w="3078480">
                  <a:extLst>
                    <a:ext uri="{9D8B030D-6E8A-4147-A177-3AD203B41FA5}">
                      <a16:colId xmlns="" xmlns:a16="http://schemas.microsoft.com/office/drawing/2014/main" val="3910518442"/>
                    </a:ext>
                  </a:extLst>
                </a:gridCol>
                <a:gridCol w="3078480">
                  <a:extLst>
                    <a:ext uri="{9D8B030D-6E8A-4147-A177-3AD203B41FA5}">
                      <a16:colId xmlns="" xmlns:a16="http://schemas.microsoft.com/office/drawing/2014/main" val="174882099"/>
                    </a:ext>
                  </a:extLst>
                </a:gridCol>
              </a:tblGrid>
              <a:tr h="0">
                <a:tc>
                  <a:txBody>
                    <a:bodyPr/>
                    <a:lstStyle/>
                    <a:p>
                      <a:pPr algn="ctr"/>
                      <a:r>
                        <a:rPr lang="en-GB" sz="2400" dirty="0">
                          <a:effectLst/>
                        </a:rPr>
                        <a:t>bit a</a:t>
                      </a:r>
                    </a:p>
                  </a:txBody>
                  <a:tcPr anchor="ctr">
                    <a:lnL>
                      <a:noFill/>
                    </a:lnL>
                    <a:lnR>
                      <a:noFill/>
                    </a:lnR>
                    <a:lnT>
                      <a:noFill/>
                    </a:lnT>
                    <a:lnB>
                      <a:noFill/>
                    </a:lnB>
                  </a:tcPr>
                </a:tc>
                <a:tc>
                  <a:txBody>
                    <a:bodyPr/>
                    <a:lstStyle/>
                    <a:p>
                      <a:pPr algn="ctr"/>
                      <a:r>
                        <a:rPr lang="en-GB" sz="2400">
                          <a:effectLst/>
                        </a:rPr>
                        <a:t>bit b</a:t>
                      </a:r>
                    </a:p>
                  </a:txBody>
                  <a:tcPr anchor="ctr">
                    <a:lnL>
                      <a:noFill/>
                    </a:lnL>
                    <a:lnR>
                      <a:noFill/>
                    </a:lnR>
                    <a:lnT>
                      <a:noFill/>
                    </a:lnT>
                    <a:lnB>
                      <a:noFill/>
                    </a:lnB>
                  </a:tcPr>
                </a:tc>
                <a:tc>
                  <a:txBody>
                    <a:bodyPr/>
                    <a:lstStyle/>
                    <a:p>
                      <a:pPr algn="ctr"/>
                      <a:r>
                        <a:rPr lang="pt-BR" sz="2400">
                          <a:effectLst/>
                        </a:rPr>
                        <a:t>a ^ b (a XOR b)</a:t>
                      </a:r>
                    </a:p>
                  </a:txBody>
                  <a:tcPr anchor="ctr">
                    <a:lnL>
                      <a:noFill/>
                    </a:lnL>
                    <a:lnR>
                      <a:noFill/>
                    </a:lnR>
                    <a:lnT>
                      <a:noFill/>
                    </a:lnT>
                    <a:lnB>
                      <a:noFill/>
                    </a:lnB>
                  </a:tcPr>
                </a:tc>
                <a:extLst>
                  <a:ext uri="{0D108BD9-81ED-4DB2-BD59-A6C34878D82A}">
                    <a16:rowId xmlns="" xmlns:a16="http://schemas.microsoft.com/office/drawing/2014/main" val="2029774841"/>
                  </a:ext>
                </a:extLst>
              </a:tr>
              <a:tr h="0">
                <a:tc>
                  <a:txBody>
                    <a:bodyPr/>
                    <a:lstStyle/>
                    <a:p>
                      <a:pPr algn="ctr"/>
                      <a:r>
                        <a:rPr lang="en-GB" sz="2400" dirty="0">
                          <a:effectLst/>
                        </a:rPr>
                        <a:t>0</a:t>
                      </a:r>
                    </a:p>
                  </a:txBody>
                  <a:tcPr anchor="ctr">
                    <a:lnL>
                      <a:noFill/>
                    </a:lnL>
                    <a:lnR>
                      <a:noFill/>
                    </a:lnR>
                    <a:lnT>
                      <a:noFill/>
                    </a:lnT>
                    <a:lnB>
                      <a:noFill/>
                    </a:lnB>
                  </a:tcPr>
                </a:tc>
                <a:tc>
                  <a:txBody>
                    <a:bodyPr/>
                    <a:lstStyle/>
                    <a:p>
                      <a:pPr algn="ctr"/>
                      <a:r>
                        <a:rPr lang="en-GB" sz="2400" dirty="0">
                          <a:effectLst/>
                        </a:rPr>
                        <a:t>0</a:t>
                      </a:r>
                    </a:p>
                  </a:txBody>
                  <a:tcPr anchor="ctr">
                    <a:lnL>
                      <a:noFill/>
                    </a:lnL>
                    <a:lnR>
                      <a:noFill/>
                    </a:lnR>
                    <a:lnT>
                      <a:noFill/>
                    </a:lnT>
                    <a:lnB>
                      <a:noFill/>
                    </a:lnB>
                  </a:tcPr>
                </a:tc>
                <a:tc>
                  <a:txBody>
                    <a:bodyPr/>
                    <a:lstStyle/>
                    <a:p>
                      <a:pPr algn="ctr"/>
                      <a:r>
                        <a:rPr lang="en-GB" sz="2400" dirty="0">
                          <a:effectLst/>
                        </a:rPr>
                        <a:t>0</a:t>
                      </a:r>
                    </a:p>
                  </a:txBody>
                  <a:tcPr anchor="ctr">
                    <a:lnL>
                      <a:noFill/>
                    </a:lnL>
                    <a:lnR>
                      <a:noFill/>
                    </a:lnR>
                    <a:lnT>
                      <a:noFill/>
                    </a:lnT>
                    <a:lnB>
                      <a:noFill/>
                    </a:lnB>
                  </a:tcPr>
                </a:tc>
                <a:extLst>
                  <a:ext uri="{0D108BD9-81ED-4DB2-BD59-A6C34878D82A}">
                    <a16:rowId xmlns="" xmlns:a16="http://schemas.microsoft.com/office/drawing/2014/main" val="4258530928"/>
                  </a:ext>
                </a:extLst>
              </a:tr>
              <a:tr h="0">
                <a:tc>
                  <a:txBody>
                    <a:bodyPr/>
                    <a:lstStyle/>
                    <a:p>
                      <a:pPr algn="ctr"/>
                      <a:r>
                        <a:rPr lang="en-GB" sz="2400" dirty="0">
                          <a:effectLst/>
                        </a:rPr>
                        <a:t>0</a:t>
                      </a:r>
                    </a:p>
                  </a:txBody>
                  <a:tcPr anchor="ctr">
                    <a:lnL>
                      <a:noFill/>
                    </a:lnL>
                    <a:lnR>
                      <a:noFill/>
                    </a:lnR>
                    <a:lnT>
                      <a:noFill/>
                    </a:lnT>
                    <a:lnB>
                      <a:noFill/>
                    </a:lnB>
                  </a:tcPr>
                </a:tc>
                <a:tc>
                  <a:txBody>
                    <a:bodyPr/>
                    <a:lstStyle/>
                    <a:p>
                      <a:pPr algn="ctr"/>
                      <a:r>
                        <a:rPr lang="en-GB" sz="2400" dirty="0">
                          <a:effectLst/>
                        </a:rPr>
                        <a:t>1</a:t>
                      </a:r>
                    </a:p>
                  </a:txBody>
                  <a:tcPr anchor="ctr">
                    <a:lnL>
                      <a:noFill/>
                    </a:lnL>
                    <a:lnR>
                      <a:noFill/>
                    </a:lnR>
                    <a:lnT>
                      <a:noFill/>
                    </a:lnT>
                    <a:lnB>
                      <a:noFill/>
                    </a:lnB>
                  </a:tcPr>
                </a:tc>
                <a:tc>
                  <a:txBody>
                    <a:bodyPr/>
                    <a:lstStyle/>
                    <a:p>
                      <a:pPr algn="ctr"/>
                      <a:r>
                        <a:rPr lang="en-GB" sz="2400" dirty="0">
                          <a:effectLst/>
                        </a:rPr>
                        <a:t>1</a:t>
                      </a:r>
                    </a:p>
                  </a:txBody>
                  <a:tcPr anchor="ctr">
                    <a:lnL>
                      <a:noFill/>
                    </a:lnL>
                    <a:lnR>
                      <a:noFill/>
                    </a:lnR>
                    <a:lnT>
                      <a:noFill/>
                    </a:lnT>
                    <a:lnB>
                      <a:noFill/>
                    </a:lnB>
                  </a:tcPr>
                </a:tc>
                <a:extLst>
                  <a:ext uri="{0D108BD9-81ED-4DB2-BD59-A6C34878D82A}">
                    <a16:rowId xmlns="" xmlns:a16="http://schemas.microsoft.com/office/drawing/2014/main" val="1691863753"/>
                  </a:ext>
                </a:extLst>
              </a:tr>
              <a:tr h="0">
                <a:tc>
                  <a:txBody>
                    <a:bodyPr/>
                    <a:lstStyle/>
                    <a:p>
                      <a:pPr algn="ctr"/>
                      <a:r>
                        <a:rPr lang="en-GB" sz="2400" dirty="0">
                          <a:effectLst/>
                        </a:rPr>
                        <a:t>1</a:t>
                      </a:r>
                    </a:p>
                  </a:txBody>
                  <a:tcPr anchor="ctr">
                    <a:lnL>
                      <a:noFill/>
                    </a:lnL>
                    <a:lnR>
                      <a:noFill/>
                    </a:lnR>
                    <a:lnT>
                      <a:noFill/>
                    </a:lnT>
                    <a:lnB>
                      <a:noFill/>
                    </a:lnB>
                  </a:tcPr>
                </a:tc>
                <a:tc>
                  <a:txBody>
                    <a:bodyPr/>
                    <a:lstStyle/>
                    <a:p>
                      <a:pPr algn="ctr"/>
                      <a:r>
                        <a:rPr lang="en-GB" sz="2400" dirty="0">
                          <a:effectLst/>
                        </a:rPr>
                        <a:t>0</a:t>
                      </a:r>
                    </a:p>
                  </a:txBody>
                  <a:tcPr anchor="ctr">
                    <a:lnL>
                      <a:noFill/>
                    </a:lnL>
                    <a:lnR>
                      <a:noFill/>
                    </a:lnR>
                    <a:lnT>
                      <a:noFill/>
                    </a:lnT>
                    <a:lnB>
                      <a:noFill/>
                    </a:lnB>
                  </a:tcPr>
                </a:tc>
                <a:tc>
                  <a:txBody>
                    <a:bodyPr/>
                    <a:lstStyle/>
                    <a:p>
                      <a:pPr algn="ctr"/>
                      <a:r>
                        <a:rPr lang="en-GB" sz="2400" dirty="0">
                          <a:effectLst/>
                        </a:rPr>
                        <a:t>1</a:t>
                      </a:r>
                    </a:p>
                  </a:txBody>
                  <a:tcPr anchor="ctr">
                    <a:lnL>
                      <a:noFill/>
                    </a:lnL>
                    <a:lnR>
                      <a:noFill/>
                    </a:lnR>
                    <a:lnT>
                      <a:noFill/>
                    </a:lnT>
                    <a:lnB>
                      <a:noFill/>
                    </a:lnB>
                  </a:tcPr>
                </a:tc>
                <a:extLst>
                  <a:ext uri="{0D108BD9-81ED-4DB2-BD59-A6C34878D82A}">
                    <a16:rowId xmlns="" xmlns:a16="http://schemas.microsoft.com/office/drawing/2014/main" val="426725840"/>
                  </a:ext>
                </a:extLst>
              </a:tr>
              <a:tr h="0">
                <a:tc>
                  <a:txBody>
                    <a:bodyPr/>
                    <a:lstStyle/>
                    <a:p>
                      <a:pPr algn="ctr"/>
                      <a:r>
                        <a:rPr lang="en-GB" sz="2400" dirty="0">
                          <a:effectLst/>
                        </a:rPr>
                        <a:t>1</a:t>
                      </a:r>
                    </a:p>
                  </a:txBody>
                  <a:tcPr anchor="ctr">
                    <a:lnL>
                      <a:noFill/>
                    </a:lnL>
                    <a:lnR>
                      <a:noFill/>
                    </a:lnR>
                    <a:lnT>
                      <a:noFill/>
                    </a:lnT>
                    <a:lnB>
                      <a:noFill/>
                    </a:lnB>
                  </a:tcPr>
                </a:tc>
                <a:tc>
                  <a:txBody>
                    <a:bodyPr/>
                    <a:lstStyle/>
                    <a:p>
                      <a:pPr algn="ctr"/>
                      <a:r>
                        <a:rPr lang="en-GB" sz="2400" dirty="0">
                          <a:effectLst/>
                        </a:rPr>
                        <a:t>1</a:t>
                      </a:r>
                    </a:p>
                  </a:txBody>
                  <a:tcPr anchor="ctr">
                    <a:lnL>
                      <a:noFill/>
                    </a:lnL>
                    <a:lnR>
                      <a:noFill/>
                    </a:lnR>
                    <a:lnT>
                      <a:noFill/>
                    </a:lnT>
                    <a:lnB>
                      <a:noFill/>
                    </a:lnB>
                  </a:tcPr>
                </a:tc>
                <a:tc>
                  <a:txBody>
                    <a:bodyPr/>
                    <a:lstStyle/>
                    <a:p>
                      <a:pPr algn="ctr"/>
                      <a:r>
                        <a:rPr lang="en-GB" sz="2400" dirty="0">
                          <a:effectLst/>
                        </a:rPr>
                        <a:t>0</a:t>
                      </a:r>
                    </a:p>
                  </a:txBody>
                  <a:tcPr anchor="ctr">
                    <a:lnL>
                      <a:noFill/>
                    </a:lnL>
                    <a:lnR>
                      <a:noFill/>
                    </a:lnR>
                    <a:lnT>
                      <a:noFill/>
                    </a:lnT>
                    <a:lnB>
                      <a:noFill/>
                    </a:lnB>
                  </a:tcPr>
                </a:tc>
                <a:extLst>
                  <a:ext uri="{0D108BD9-81ED-4DB2-BD59-A6C34878D82A}">
                    <a16:rowId xmlns="" xmlns:a16="http://schemas.microsoft.com/office/drawing/2014/main" val="3175272528"/>
                  </a:ext>
                </a:extLst>
              </a:tr>
            </a:tbl>
          </a:graphicData>
        </a:graphic>
      </p:graphicFrame>
    </p:spTree>
    <p:extLst>
      <p:ext uri="{BB962C8B-B14F-4D97-AF65-F5344CB8AC3E}">
        <p14:creationId xmlns:p14="http://schemas.microsoft.com/office/powerpoint/2010/main" val="1348647335"/>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53440"/>
            <a:ext cx="10515600" cy="5323523"/>
          </a:xfrm>
        </p:spPr>
        <p:txBody>
          <a:bodyPr/>
          <a:lstStyle/>
          <a:p>
            <a:pPr marL="0" indent="0">
              <a:buNone/>
            </a:pPr>
            <a:r>
              <a:rPr lang="en-GB" dirty="0" smtClean="0">
                <a:latin typeface="Times New Roman" panose="02020603050405020304" pitchFamily="18" charset="0"/>
                <a:cs typeface="Times New Roman" panose="02020603050405020304" pitchFamily="18" charset="0"/>
              </a:rPr>
              <a:t>The bitwise XOR (exclusive or) performs an exclusive disjunction, which is equivalent to adding two bits and discarding the carry. The result is zero only when we have two zeroes or two ones.[3] XOR can be used to toggle the bits between 1 and 0. Thus </a:t>
            </a:r>
            <a:r>
              <a:rPr lang="en-GB" dirty="0" err="1" smtClean="0">
                <a:latin typeface="Times New Roman" panose="02020603050405020304" pitchFamily="18" charset="0"/>
                <a:cs typeface="Times New Roman" panose="02020603050405020304" pitchFamily="18" charset="0"/>
              </a:rPr>
              <a:t>i</a:t>
            </a:r>
            <a:r>
              <a:rPr lang="en-GB" dirty="0" smtClean="0">
                <a:latin typeface="Times New Roman" panose="02020603050405020304" pitchFamily="18" charset="0"/>
                <a:cs typeface="Times New Roman" panose="02020603050405020304" pitchFamily="18" charset="0"/>
              </a:rPr>
              <a:t> = </a:t>
            </a:r>
            <a:r>
              <a:rPr lang="en-GB" dirty="0" err="1" smtClean="0">
                <a:latin typeface="Times New Roman" panose="02020603050405020304" pitchFamily="18" charset="0"/>
                <a:cs typeface="Times New Roman" panose="02020603050405020304" pitchFamily="18" charset="0"/>
              </a:rPr>
              <a:t>i</a:t>
            </a:r>
            <a:r>
              <a:rPr lang="en-GB" dirty="0" smtClean="0">
                <a:latin typeface="Times New Roman" panose="02020603050405020304" pitchFamily="18" charset="0"/>
                <a:cs typeface="Times New Roman" panose="02020603050405020304" pitchFamily="18" charset="0"/>
              </a:rPr>
              <a:t> ^ 1 when used in a loop toggles its values between 1 and 0</a:t>
            </a:r>
          </a:p>
          <a:p>
            <a:pPr marL="0" indent="0">
              <a:buNone/>
            </a:pPr>
            <a:endParaRPr lang="en-US" dirty="0">
              <a:latin typeface="Times New Roman" panose="02020603050405020304" pitchFamily="18" charset="0"/>
              <a:cs typeface="Times New Roman" panose="02020603050405020304" pitchFamily="18" charset="0"/>
            </a:endParaRPr>
          </a:p>
          <a:p>
            <a:r>
              <a:rPr lang="en-GB" dirty="0" smtClean="0"/>
              <a:t> 11001000  </a:t>
            </a:r>
          </a:p>
          <a:p>
            <a:r>
              <a:rPr lang="en-GB" dirty="0" smtClean="0"/>
              <a:t>  ^ 10111000 </a:t>
            </a:r>
          </a:p>
          <a:p>
            <a:r>
              <a:rPr lang="en-GB" dirty="0" smtClean="0"/>
              <a:t>      -------- ------</a:t>
            </a:r>
          </a:p>
          <a:p>
            <a:r>
              <a:rPr lang="en-GB" dirty="0" smtClean="0"/>
              <a:t>    = 01110000</a:t>
            </a:r>
            <a:endParaRPr lang="en-GB" dirty="0" smtClean="0">
              <a:latin typeface="Times New Roman" panose="02020603050405020304" pitchFamily="18" charset="0"/>
              <a:cs typeface="Times New Roman" panose="02020603050405020304" pitchFamily="18" charset="0"/>
            </a:endParaRPr>
          </a:p>
          <a:p>
            <a:pPr marL="0" indent="0">
              <a:buNone/>
            </a:pPr>
            <a:endParaRPr lang="en-GB" dirty="0"/>
          </a:p>
        </p:txBody>
      </p:sp>
    </p:spTree>
    <p:extLst>
      <p:ext uri="{BB962C8B-B14F-4D97-AF65-F5344CB8AC3E}">
        <p14:creationId xmlns:p14="http://schemas.microsoft.com/office/powerpoint/2010/main" val="960218537"/>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444772"/>
          </a:xfrm>
        </p:spPr>
        <p:txBody>
          <a:bodyPr>
            <a:normAutofit fontScale="90000"/>
          </a:bodyPr>
          <a:lstStyle/>
          <a:p>
            <a:r>
              <a:rPr lang="en-GB" dirty="0" smtClean="0">
                <a:solidFill>
                  <a:srgbClr val="023182"/>
                </a:solidFill>
                <a:latin typeface="Times New Roman"/>
                <a:cs typeface="Times New Roman"/>
                <a:sym typeface="Times New Roman"/>
              </a:rPr>
              <a:t>Conditional or Ternary Operator (?:)</a:t>
            </a:r>
            <a:endParaRPr lang="en-GB" dirty="0"/>
          </a:p>
        </p:txBody>
      </p:sp>
      <p:sp>
        <p:nvSpPr>
          <p:cNvPr id="3" name="Content Placeholder 2"/>
          <p:cNvSpPr>
            <a:spLocks noGrp="1"/>
          </p:cNvSpPr>
          <p:nvPr>
            <p:ph idx="1"/>
          </p:nvPr>
        </p:nvSpPr>
        <p:spPr/>
        <p:txBody>
          <a:bodyPr/>
          <a:lstStyle/>
          <a:p>
            <a:pPr marL="0" indent="0">
              <a:buNone/>
            </a:pPr>
            <a:r>
              <a:rPr lang="en-GB" dirty="0" smtClean="0">
                <a:latin typeface="Times New Roman" panose="02020603050405020304" pitchFamily="18" charset="0"/>
                <a:cs typeface="Times New Roman" panose="02020603050405020304" pitchFamily="18" charset="0"/>
              </a:rPr>
              <a:t>The </a:t>
            </a:r>
            <a:r>
              <a:rPr lang="en-GB" b="1" dirty="0" smtClean="0">
                <a:latin typeface="Times New Roman" panose="02020603050405020304" pitchFamily="18" charset="0"/>
                <a:cs typeface="Times New Roman" panose="02020603050405020304" pitchFamily="18" charset="0"/>
              </a:rPr>
              <a:t>conditional operator in C </a:t>
            </a:r>
            <a:r>
              <a:rPr lang="en-GB" dirty="0" smtClean="0">
                <a:latin typeface="Times New Roman" panose="02020603050405020304" pitchFamily="18" charset="0"/>
                <a:cs typeface="Times New Roman" panose="02020603050405020304" pitchFamily="18" charset="0"/>
              </a:rPr>
              <a:t>is kind of similar to the if-else statement as it follows the same algorithm as of </a:t>
            </a:r>
            <a:r>
              <a:rPr lang="en-GB" u="sng" dirty="0" smtClean="0">
                <a:latin typeface="Times New Roman" panose="02020603050405020304" pitchFamily="18" charset="0"/>
                <a:cs typeface="Times New Roman" panose="02020603050405020304" pitchFamily="18" charset="0"/>
              </a:rPr>
              <a:t>if-else statement</a:t>
            </a:r>
            <a:r>
              <a:rPr lang="en-GB" dirty="0" smtClean="0">
                <a:latin typeface="Times New Roman" panose="02020603050405020304" pitchFamily="18" charset="0"/>
                <a:cs typeface="Times New Roman" panose="02020603050405020304" pitchFamily="18" charset="0"/>
              </a:rPr>
              <a:t> but the conditional operator takes less space and helps to write the if-else statements in the shortest way possible. It is also known as the </a:t>
            </a:r>
            <a:r>
              <a:rPr lang="en-GB" b="1" dirty="0" smtClean="0">
                <a:latin typeface="Times New Roman" panose="02020603050405020304" pitchFamily="18" charset="0"/>
                <a:cs typeface="Times New Roman" panose="02020603050405020304" pitchFamily="18" charset="0"/>
              </a:rPr>
              <a:t>ternary operator in C</a:t>
            </a:r>
            <a:r>
              <a:rPr lang="en-GB" dirty="0" smtClean="0">
                <a:latin typeface="Times New Roman" panose="02020603050405020304" pitchFamily="18" charset="0"/>
                <a:cs typeface="Times New Roman" panose="02020603050405020304" pitchFamily="18" charset="0"/>
              </a:rPr>
              <a:t> as it operates on three operands.</a:t>
            </a:r>
          </a:p>
          <a:p>
            <a:pPr marL="0" indent="0">
              <a:buNone/>
            </a:pPr>
            <a:endParaRPr lang="en-GB" dirty="0"/>
          </a:p>
        </p:txBody>
      </p:sp>
    </p:spTree>
    <p:extLst>
      <p:ext uri="{BB962C8B-B14F-4D97-AF65-F5344CB8AC3E}">
        <p14:creationId xmlns:p14="http://schemas.microsoft.com/office/powerpoint/2010/main" val="1336268575"/>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27314"/>
            <a:ext cx="10515600" cy="5349649"/>
          </a:xfrm>
        </p:spPr>
        <p:txBody>
          <a:bodyPr>
            <a:normAutofit/>
          </a:bodyPr>
          <a:lstStyle/>
          <a:p>
            <a:pPr>
              <a:lnSpc>
                <a:spcPct val="150000"/>
              </a:lnSpc>
            </a:pPr>
            <a:r>
              <a:rPr lang="en-GB" dirty="0" smtClean="0">
                <a:latin typeface="Times New Roman" panose="02020603050405020304" pitchFamily="18" charset="0"/>
                <a:cs typeface="Times New Roman" panose="02020603050405020304" pitchFamily="18" charset="0"/>
              </a:rPr>
              <a:t>The conditional operator can be in the form:</a:t>
            </a:r>
          </a:p>
          <a:p>
            <a:pPr marL="0" indent="0">
              <a:lnSpc>
                <a:spcPct val="150000"/>
              </a:lnSpc>
              <a:buNone/>
            </a:pPr>
            <a:r>
              <a:rPr lang="en-GB" dirty="0" smtClean="0">
                <a:latin typeface="Times New Roman" panose="02020603050405020304" pitchFamily="18" charset="0"/>
                <a:cs typeface="Times New Roman" panose="02020603050405020304" pitchFamily="18" charset="0"/>
              </a:rPr>
              <a:t>	variable = Expression1 ? Expression2 : Expression3;</a:t>
            </a:r>
          </a:p>
          <a:p>
            <a:pPr>
              <a:lnSpc>
                <a:spcPct val="150000"/>
              </a:lnSpc>
            </a:pPr>
            <a:r>
              <a:rPr lang="en-GB" dirty="0" smtClean="0">
                <a:latin typeface="Times New Roman" panose="02020603050405020304" pitchFamily="18" charset="0"/>
                <a:cs typeface="Times New Roman" panose="02020603050405020304" pitchFamily="18" charset="0"/>
              </a:rPr>
              <a:t>Or the syntax can also be in this form:</a:t>
            </a:r>
          </a:p>
          <a:p>
            <a:pPr marL="0" indent="0">
              <a:lnSpc>
                <a:spcPct val="150000"/>
              </a:lnSpc>
              <a:buNone/>
            </a:pPr>
            <a:r>
              <a:rPr lang="en-GB" dirty="0" smtClean="0">
                <a:latin typeface="Times New Roman" panose="02020603050405020304" pitchFamily="18" charset="0"/>
                <a:cs typeface="Times New Roman" panose="02020603050405020304" pitchFamily="18" charset="0"/>
              </a:rPr>
              <a:t>	variable = (condition) ? Expression2 : Expression3;</a:t>
            </a:r>
          </a:p>
          <a:p>
            <a:pPr>
              <a:lnSpc>
                <a:spcPct val="150000"/>
              </a:lnSpc>
            </a:pPr>
            <a:r>
              <a:rPr lang="en-GB" dirty="0" smtClean="0">
                <a:latin typeface="Times New Roman" panose="02020603050405020304" pitchFamily="18" charset="0"/>
                <a:cs typeface="Times New Roman" panose="02020603050405020304" pitchFamily="18" charset="0"/>
              </a:rPr>
              <a:t>Or syntax can also be in this form:</a:t>
            </a:r>
          </a:p>
          <a:p>
            <a:pPr marL="0" indent="0">
              <a:lnSpc>
                <a:spcPct val="150000"/>
              </a:lnSpc>
              <a:buNone/>
            </a:pPr>
            <a:r>
              <a:rPr lang="fr-FR" dirty="0" smtClean="0">
                <a:latin typeface="Times New Roman" panose="02020603050405020304" pitchFamily="18" charset="0"/>
                <a:cs typeface="Times New Roman" panose="02020603050405020304" pitchFamily="18" charset="0"/>
              </a:rPr>
              <a:t>	(condition) ? (variable = Expression2) : (variable = Expression3);</a:t>
            </a:r>
          </a:p>
          <a:p>
            <a:pPr marL="0" indent="0">
              <a:buNone/>
            </a:pPr>
            <a:endParaRPr lang="en-GB" dirty="0"/>
          </a:p>
        </p:txBody>
      </p:sp>
    </p:spTree>
    <p:extLst>
      <p:ext uri="{BB962C8B-B14F-4D97-AF65-F5344CB8AC3E}">
        <p14:creationId xmlns:p14="http://schemas.microsoft.com/office/powerpoint/2010/main" val="3749937959"/>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766354"/>
            <a:ext cx="10515600" cy="5410609"/>
          </a:xfrm>
        </p:spPr>
        <p:txBody>
          <a:bodyPr/>
          <a:lstStyle/>
          <a:p>
            <a:pPr marL="0" indent="0">
              <a:buNone/>
            </a:pPr>
            <a:r>
              <a:rPr lang="en-GB" dirty="0" smtClean="0">
                <a:latin typeface="Times New Roman" panose="02020603050405020304" pitchFamily="18" charset="0"/>
                <a:cs typeface="Times New Roman" panose="02020603050405020304" pitchFamily="18" charset="0"/>
              </a:rPr>
              <a:t>#include &lt;</a:t>
            </a:r>
            <a:r>
              <a:rPr lang="en-GB" dirty="0" err="1" smtClean="0">
                <a:latin typeface="Times New Roman" panose="02020603050405020304" pitchFamily="18" charset="0"/>
                <a:cs typeface="Times New Roman" panose="02020603050405020304" pitchFamily="18" charset="0"/>
              </a:rPr>
              <a:t>stdio.h</a:t>
            </a:r>
            <a:r>
              <a:rPr lang="en-GB" dirty="0" smtClean="0">
                <a:latin typeface="Times New Roman" panose="02020603050405020304" pitchFamily="18" charset="0"/>
                <a:cs typeface="Times New Roman" panose="02020603050405020304" pitchFamily="18" charset="0"/>
              </a:rPr>
              <a:t>&gt;  </a:t>
            </a:r>
          </a:p>
          <a:p>
            <a:pPr marL="0" indent="0">
              <a:buNone/>
            </a:pPr>
            <a:r>
              <a:rPr lang="en-GB" b="1" dirty="0" err="1" smtClean="0">
                <a:latin typeface="Times New Roman" panose="02020603050405020304" pitchFamily="18" charset="0"/>
                <a:cs typeface="Times New Roman" panose="02020603050405020304" pitchFamily="18" charset="0"/>
              </a:rPr>
              <a:t>int</a:t>
            </a:r>
            <a:r>
              <a:rPr lang="en-GB" dirty="0" smtClean="0">
                <a:latin typeface="Times New Roman" panose="02020603050405020304" pitchFamily="18" charset="0"/>
                <a:cs typeface="Times New Roman" panose="02020603050405020304" pitchFamily="18" charset="0"/>
              </a:rPr>
              <a:t> main()  </a:t>
            </a:r>
          </a:p>
          <a:p>
            <a:pPr marL="0" indent="0">
              <a:buNone/>
            </a:pPr>
            <a:r>
              <a:rPr lang="en-GB" dirty="0" smtClean="0">
                <a:latin typeface="Times New Roman" panose="02020603050405020304" pitchFamily="18" charset="0"/>
                <a:cs typeface="Times New Roman" panose="02020603050405020304" pitchFamily="18" charset="0"/>
              </a:rPr>
              <a:t>{  </a:t>
            </a:r>
          </a:p>
          <a:p>
            <a:pPr marL="0" indent="0">
              <a:buNone/>
            </a:pPr>
            <a:r>
              <a:rPr lang="en-GB" dirty="0" smtClean="0">
                <a:latin typeface="Times New Roman" panose="02020603050405020304" pitchFamily="18" charset="0"/>
                <a:cs typeface="Times New Roman" panose="02020603050405020304" pitchFamily="18" charset="0"/>
              </a:rPr>
              <a:t>   </a:t>
            </a:r>
            <a:r>
              <a:rPr lang="en-GB" b="1" dirty="0" err="1" smtClean="0">
                <a:latin typeface="Times New Roman" panose="02020603050405020304" pitchFamily="18" charset="0"/>
                <a:cs typeface="Times New Roman" panose="02020603050405020304" pitchFamily="18" charset="0"/>
              </a:rPr>
              <a:t>int</a:t>
            </a:r>
            <a:r>
              <a:rPr lang="en-GB" dirty="0" smtClean="0">
                <a:latin typeface="Times New Roman" panose="02020603050405020304" pitchFamily="18" charset="0"/>
                <a:cs typeface="Times New Roman" panose="02020603050405020304" pitchFamily="18" charset="0"/>
              </a:rPr>
              <a:t> a=5,b;  // variable declaration  </a:t>
            </a:r>
          </a:p>
          <a:p>
            <a:pPr marL="0" indent="0">
              <a:buNone/>
            </a:pPr>
            <a:r>
              <a:rPr lang="en-GB" dirty="0" smtClean="0">
                <a:latin typeface="Times New Roman" panose="02020603050405020304" pitchFamily="18" charset="0"/>
                <a:cs typeface="Times New Roman" panose="02020603050405020304" pitchFamily="18" charset="0"/>
              </a:rPr>
              <a:t>   b=((a==5)?(3):(2)); // conditional operator  </a:t>
            </a:r>
          </a:p>
          <a:p>
            <a:pPr marL="0" indent="0">
              <a:buNone/>
            </a:pPr>
            <a:r>
              <a:rPr lang="en-GB" dirty="0" smtClean="0">
                <a:latin typeface="Times New Roman" panose="02020603050405020304" pitchFamily="18" charset="0"/>
                <a:cs typeface="Times New Roman" panose="02020603050405020304" pitchFamily="18" charset="0"/>
              </a:rPr>
              <a:t>   </a:t>
            </a:r>
            <a:r>
              <a:rPr lang="en-GB" dirty="0" err="1" smtClean="0">
                <a:latin typeface="Times New Roman" panose="02020603050405020304" pitchFamily="18" charset="0"/>
                <a:cs typeface="Times New Roman" panose="02020603050405020304" pitchFamily="18" charset="0"/>
              </a:rPr>
              <a:t>printf</a:t>
            </a:r>
            <a:r>
              <a:rPr lang="en-GB" dirty="0" smtClean="0">
                <a:latin typeface="Times New Roman" panose="02020603050405020304" pitchFamily="18" charset="0"/>
                <a:cs typeface="Times New Roman" panose="02020603050405020304" pitchFamily="18" charset="0"/>
              </a:rPr>
              <a:t>("The value of 'b' variable is : %</a:t>
            </a:r>
            <a:r>
              <a:rPr lang="en-GB" dirty="0" err="1" smtClean="0">
                <a:latin typeface="Times New Roman" panose="02020603050405020304" pitchFamily="18" charset="0"/>
                <a:cs typeface="Times New Roman" panose="02020603050405020304" pitchFamily="18" charset="0"/>
              </a:rPr>
              <a:t>d",b</a:t>
            </a:r>
            <a:r>
              <a:rPr lang="en-GB" dirty="0" smtClean="0">
                <a:latin typeface="Times New Roman" panose="02020603050405020304" pitchFamily="18" charset="0"/>
                <a:cs typeface="Times New Roman" panose="02020603050405020304" pitchFamily="18" charset="0"/>
              </a:rPr>
              <a:t>);  </a:t>
            </a:r>
          </a:p>
          <a:p>
            <a:pPr marL="0" indent="0">
              <a:buNone/>
            </a:pPr>
            <a:r>
              <a:rPr lang="en-GB" dirty="0" smtClean="0">
                <a:latin typeface="Times New Roman" panose="02020603050405020304" pitchFamily="18" charset="0"/>
                <a:cs typeface="Times New Roman" panose="02020603050405020304" pitchFamily="18" charset="0"/>
              </a:rPr>
              <a:t>    </a:t>
            </a:r>
            <a:r>
              <a:rPr lang="en-GB" b="1" dirty="0" smtClean="0">
                <a:latin typeface="Times New Roman" panose="02020603050405020304" pitchFamily="18" charset="0"/>
                <a:cs typeface="Times New Roman" panose="02020603050405020304" pitchFamily="18" charset="0"/>
              </a:rPr>
              <a:t>return</a:t>
            </a:r>
            <a:r>
              <a:rPr lang="en-GB" dirty="0" smtClean="0">
                <a:latin typeface="Times New Roman" panose="02020603050405020304" pitchFamily="18" charset="0"/>
                <a:cs typeface="Times New Roman" panose="02020603050405020304" pitchFamily="18" charset="0"/>
              </a:rPr>
              <a:t> 0;  </a:t>
            </a:r>
          </a:p>
          <a:p>
            <a:pPr marL="0" indent="0">
              <a:buNone/>
            </a:pPr>
            <a:r>
              <a:rPr lang="en-GB" dirty="0" smtClean="0">
                <a:latin typeface="Times New Roman" panose="02020603050405020304" pitchFamily="18" charset="0"/>
                <a:cs typeface="Times New Roman" panose="02020603050405020304" pitchFamily="18" charset="0"/>
              </a:rPr>
              <a:t>}</a:t>
            </a:r>
            <a:endParaRPr lang="en-GB"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50475707"/>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88274"/>
            <a:ext cx="10515600" cy="2664823"/>
          </a:xfrm>
        </p:spPr>
        <p:txBody>
          <a:bodyPr/>
          <a:lstStyle/>
          <a:p>
            <a:pPr marL="0" indent="0">
              <a:buNone/>
            </a:pPr>
            <a:r>
              <a:rPr lang="en-GB" dirty="0" smtClean="0">
                <a:latin typeface="Times New Roman" panose="02020603050405020304" pitchFamily="18" charset="0"/>
                <a:cs typeface="Times New Roman" panose="02020603050405020304" pitchFamily="18" charset="0"/>
              </a:rPr>
              <a:t>In the above code, we have declared two variables, i.e., 'a' and 'b', and assign 5 value to the 'a' variable. After the declaration, we are assigning value to the 'b' variable by using the conditional operator. If the value of 'a' is equal to 5 then 'b' is assigned with a 3 value otherwise 2.</a:t>
            </a:r>
          </a:p>
          <a:p>
            <a:pPr marL="0" indent="0">
              <a:buNone/>
            </a:pPr>
            <a:endParaRPr lang="en-GB" dirty="0"/>
          </a:p>
        </p:txBody>
      </p:sp>
    </p:spTree>
    <p:extLst>
      <p:ext uri="{BB962C8B-B14F-4D97-AF65-F5344CB8AC3E}">
        <p14:creationId xmlns:p14="http://schemas.microsoft.com/office/powerpoint/2010/main" val="199458397"/>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023182"/>
                </a:solidFill>
                <a:latin typeface="Times New Roman"/>
                <a:cs typeface="Times New Roman"/>
                <a:sym typeface="Times New Roman"/>
              </a:rPr>
              <a:t>Comma operator</a:t>
            </a:r>
            <a:endParaRPr lang="en-GB" dirty="0"/>
          </a:p>
        </p:txBody>
      </p:sp>
      <p:sp>
        <p:nvSpPr>
          <p:cNvPr id="3" name="Content Placeholder 2"/>
          <p:cNvSpPr>
            <a:spLocks noGrp="1"/>
          </p:cNvSpPr>
          <p:nvPr>
            <p:ph idx="1"/>
          </p:nvPr>
        </p:nvSpPr>
        <p:spPr/>
        <p:txBody>
          <a:bodyPr/>
          <a:lstStyle/>
          <a:p>
            <a:pPr marL="0" indent="0">
              <a:buNone/>
            </a:pPr>
            <a:r>
              <a:rPr lang="en-GB" dirty="0" smtClean="0">
                <a:latin typeface="Times New Roman" panose="02020603050405020304" pitchFamily="18" charset="0"/>
                <a:cs typeface="Times New Roman" panose="02020603050405020304" pitchFamily="18" charset="0"/>
              </a:rPr>
              <a:t>In the C and C++ programming languages, the comma operator (represented by the token ,) is a binary operator that evaluates its first operand and discards the result, and then evaluates the second operand and returns this value (and type); there is a sequence point between these evaluations.</a:t>
            </a:r>
          </a:p>
          <a:p>
            <a:pPr marL="0" indent="0">
              <a:buNone/>
            </a:pPr>
            <a:endParaRPr lang="en-GB" dirty="0"/>
          </a:p>
        </p:txBody>
      </p:sp>
    </p:spTree>
    <p:extLst>
      <p:ext uri="{BB962C8B-B14F-4D97-AF65-F5344CB8AC3E}">
        <p14:creationId xmlns:p14="http://schemas.microsoft.com/office/powerpoint/2010/main" val="4109556388"/>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757646"/>
            <a:ext cx="11136086" cy="5419317"/>
          </a:xfrm>
        </p:spPr>
        <p:txBody>
          <a:bodyPr>
            <a:normAutofit fontScale="92500" lnSpcReduction="20000"/>
          </a:bodyPr>
          <a:lstStyle/>
          <a:p>
            <a:pPr marL="0" indent="0">
              <a:buNone/>
            </a:pPr>
            <a:endParaRPr lang="en-GB" dirty="0"/>
          </a:p>
          <a:p>
            <a:pPr marL="0" indent="0">
              <a:buNone/>
            </a:pPr>
            <a:r>
              <a:rPr lang="en-GB" dirty="0"/>
              <a:t> </a:t>
            </a:r>
            <a:r>
              <a:rPr lang="en-GB" dirty="0" smtClean="0">
                <a:latin typeface="Times New Roman" panose="02020603050405020304" pitchFamily="18" charset="0"/>
                <a:cs typeface="Times New Roman" panose="02020603050405020304" pitchFamily="18" charset="0"/>
              </a:rPr>
              <a:t>//Commas </a:t>
            </a:r>
            <a:r>
              <a:rPr lang="en-GB" dirty="0">
                <a:latin typeface="Times New Roman" panose="02020603050405020304" pitchFamily="18" charset="0"/>
                <a:cs typeface="Times New Roman" panose="02020603050405020304" pitchFamily="18" charset="0"/>
              </a:rPr>
              <a:t>act as separators in this line, not as an operator.</a:t>
            </a:r>
          </a:p>
          <a:p>
            <a:pPr marL="0" indent="0">
              <a:buNone/>
            </a:pPr>
            <a:r>
              <a:rPr lang="en-GB" dirty="0">
                <a:latin typeface="Times New Roman" panose="02020603050405020304" pitchFamily="18" charset="0"/>
                <a:cs typeface="Times New Roman" panose="02020603050405020304" pitchFamily="18" charset="0"/>
              </a:rPr>
              <a:t> </a:t>
            </a:r>
            <a:r>
              <a:rPr lang="en-GB" dirty="0" smtClean="0">
                <a:latin typeface="Times New Roman" panose="02020603050405020304" pitchFamily="18" charset="0"/>
                <a:cs typeface="Times New Roman" panose="02020603050405020304" pitchFamily="18" charset="0"/>
              </a:rPr>
              <a:t>//Results</a:t>
            </a:r>
            <a:r>
              <a:rPr lang="en-GB" dirty="0">
                <a:latin typeface="Times New Roman" panose="02020603050405020304" pitchFamily="18" charset="0"/>
                <a:cs typeface="Times New Roman" panose="02020603050405020304" pitchFamily="18" charset="0"/>
              </a:rPr>
              <a:t>: a=1, b=2, c=3, </a:t>
            </a:r>
            <a:r>
              <a:rPr lang="en-GB" dirty="0" err="1" smtClean="0">
                <a:latin typeface="Times New Roman" panose="02020603050405020304" pitchFamily="18" charset="0"/>
                <a:cs typeface="Times New Roman" panose="02020603050405020304" pitchFamily="18" charset="0"/>
              </a:rPr>
              <a:t>i</a:t>
            </a:r>
            <a:r>
              <a:rPr lang="en-GB" dirty="0" smtClean="0">
                <a:latin typeface="Times New Roman" panose="02020603050405020304" pitchFamily="18" charset="0"/>
                <a:cs typeface="Times New Roman" panose="02020603050405020304" pitchFamily="18" charset="0"/>
              </a:rPr>
              <a:t>=0</a:t>
            </a:r>
          </a:p>
          <a:p>
            <a:pPr marL="0" indent="0">
              <a:buNone/>
            </a:pPr>
            <a:endParaRPr lang="en-GB" dirty="0">
              <a:latin typeface="Times New Roman" panose="02020603050405020304" pitchFamily="18" charset="0"/>
              <a:cs typeface="Times New Roman" panose="02020603050405020304" pitchFamily="18" charset="0"/>
            </a:endParaRPr>
          </a:p>
          <a:p>
            <a:pPr marL="0" indent="0">
              <a:buNone/>
            </a:pPr>
            <a:r>
              <a:rPr lang="en-GB" dirty="0" smtClean="0">
                <a:latin typeface="Times New Roman" panose="02020603050405020304" pitchFamily="18" charset="0"/>
                <a:cs typeface="Times New Roman" panose="02020603050405020304" pitchFamily="18" charset="0"/>
              </a:rPr>
              <a:t>	</a:t>
            </a:r>
            <a:r>
              <a:rPr lang="en-GB" dirty="0" err="1" smtClean="0">
                <a:latin typeface="Times New Roman" panose="02020603050405020304" pitchFamily="18" charset="0"/>
                <a:cs typeface="Times New Roman" panose="02020603050405020304" pitchFamily="18" charset="0"/>
              </a:rPr>
              <a:t>int</a:t>
            </a:r>
            <a:r>
              <a:rPr lang="en-GB" dirty="0" smtClean="0">
                <a:latin typeface="Times New Roman" panose="02020603050405020304" pitchFamily="18" charset="0"/>
                <a:cs typeface="Times New Roman" panose="02020603050405020304" pitchFamily="18" charset="0"/>
              </a:rPr>
              <a:t> </a:t>
            </a:r>
            <a:r>
              <a:rPr lang="en-GB" dirty="0">
                <a:latin typeface="Times New Roman" panose="02020603050405020304" pitchFamily="18" charset="0"/>
                <a:cs typeface="Times New Roman" panose="02020603050405020304" pitchFamily="18" charset="0"/>
              </a:rPr>
              <a:t>a=1, b=2, c=3, </a:t>
            </a:r>
            <a:r>
              <a:rPr lang="en-GB" dirty="0" err="1">
                <a:latin typeface="Times New Roman" panose="02020603050405020304" pitchFamily="18" charset="0"/>
                <a:cs typeface="Times New Roman" panose="02020603050405020304" pitchFamily="18" charset="0"/>
              </a:rPr>
              <a:t>i</a:t>
            </a:r>
            <a:r>
              <a:rPr lang="en-GB" dirty="0">
                <a:latin typeface="Times New Roman" panose="02020603050405020304" pitchFamily="18" charset="0"/>
                <a:cs typeface="Times New Roman" panose="02020603050405020304" pitchFamily="18" charset="0"/>
              </a:rPr>
              <a:t>=0;</a:t>
            </a:r>
          </a:p>
          <a:p>
            <a:pPr marL="0" indent="0">
              <a:buNone/>
            </a:pPr>
            <a:endParaRPr lang="en-GB" dirty="0">
              <a:latin typeface="Times New Roman" panose="02020603050405020304" pitchFamily="18" charset="0"/>
              <a:cs typeface="Times New Roman" panose="02020603050405020304" pitchFamily="18" charset="0"/>
            </a:endParaRPr>
          </a:p>
          <a:p>
            <a:pPr marL="0" indent="0">
              <a:buNone/>
            </a:pPr>
            <a:r>
              <a:rPr lang="en-GB" dirty="0">
                <a:latin typeface="Times New Roman" panose="02020603050405020304" pitchFamily="18" charset="0"/>
                <a:cs typeface="Times New Roman" panose="02020603050405020304" pitchFamily="18" charset="0"/>
              </a:rPr>
              <a:t> </a:t>
            </a:r>
            <a:r>
              <a:rPr lang="en-GB" dirty="0" smtClean="0">
                <a:latin typeface="Times New Roman" panose="02020603050405020304" pitchFamily="18" charset="0"/>
                <a:cs typeface="Times New Roman" panose="02020603050405020304" pitchFamily="18" charset="0"/>
              </a:rPr>
              <a:t>//Assigns </a:t>
            </a:r>
            <a:r>
              <a:rPr lang="en-GB" dirty="0">
                <a:latin typeface="Times New Roman" panose="02020603050405020304" pitchFamily="18" charset="0"/>
                <a:cs typeface="Times New Roman" panose="02020603050405020304" pitchFamily="18" charset="0"/>
              </a:rPr>
              <a:t>value of b into </a:t>
            </a:r>
            <a:r>
              <a:rPr lang="en-GB" dirty="0" err="1">
                <a:latin typeface="Times New Roman" panose="02020603050405020304" pitchFamily="18" charset="0"/>
                <a:cs typeface="Times New Roman" panose="02020603050405020304" pitchFamily="18" charset="0"/>
              </a:rPr>
              <a:t>i</a:t>
            </a:r>
            <a:r>
              <a:rPr lang="en-GB" dirty="0">
                <a:latin typeface="Times New Roman" panose="02020603050405020304" pitchFamily="18" charset="0"/>
                <a:cs typeface="Times New Roman" panose="02020603050405020304" pitchFamily="18" charset="0"/>
              </a:rPr>
              <a:t>.</a:t>
            </a:r>
          </a:p>
          <a:p>
            <a:pPr marL="0" indent="0">
              <a:buNone/>
            </a:pPr>
            <a:r>
              <a:rPr lang="en-GB" dirty="0">
                <a:latin typeface="Times New Roman" panose="02020603050405020304" pitchFamily="18" charset="0"/>
                <a:cs typeface="Times New Roman" panose="02020603050405020304" pitchFamily="18" charset="0"/>
              </a:rPr>
              <a:t> </a:t>
            </a:r>
            <a:r>
              <a:rPr lang="en-GB" dirty="0" smtClean="0">
                <a:latin typeface="Times New Roman" panose="02020603050405020304" pitchFamily="18" charset="0"/>
                <a:cs typeface="Times New Roman" panose="02020603050405020304" pitchFamily="18" charset="0"/>
              </a:rPr>
              <a:t>//Commas </a:t>
            </a:r>
            <a:r>
              <a:rPr lang="en-GB" dirty="0">
                <a:latin typeface="Times New Roman" panose="02020603050405020304" pitchFamily="18" charset="0"/>
                <a:cs typeface="Times New Roman" panose="02020603050405020304" pitchFamily="18" charset="0"/>
              </a:rPr>
              <a:t>act as separators in the first line and as an operator in the second line.</a:t>
            </a:r>
          </a:p>
          <a:p>
            <a:pPr marL="0" indent="0">
              <a:buNone/>
            </a:pPr>
            <a:r>
              <a:rPr lang="en-GB" dirty="0">
                <a:latin typeface="Times New Roman" panose="02020603050405020304" pitchFamily="18" charset="0"/>
                <a:cs typeface="Times New Roman" panose="02020603050405020304" pitchFamily="18" charset="0"/>
              </a:rPr>
              <a:t> </a:t>
            </a:r>
            <a:r>
              <a:rPr lang="en-GB" dirty="0" smtClean="0">
                <a:latin typeface="Times New Roman" panose="02020603050405020304" pitchFamily="18" charset="0"/>
                <a:cs typeface="Times New Roman" panose="02020603050405020304" pitchFamily="18" charset="0"/>
              </a:rPr>
              <a:t>//Results</a:t>
            </a:r>
            <a:r>
              <a:rPr lang="en-GB" dirty="0">
                <a:latin typeface="Times New Roman" panose="02020603050405020304" pitchFamily="18" charset="0"/>
                <a:cs typeface="Times New Roman" panose="02020603050405020304" pitchFamily="18" charset="0"/>
              </a:rPr>
              <a:t>: a=1, b=2, c=3, </a:t>
            </a:r>
            <a:r>
              <a:rPr lang="en-GB" dirty="0" err="1" smtClean="0">
                <a:latin typeface="Times New Roman" panose="02020603050405020304" pitchFamily="18" charset="0"/>
                <a:cs typeface="Times New Roman" panose="02020603050405020304" pitchFamily="18" charset="0"/>
              </a:rPr>
              <a:t>i</a:t>
            </a:r>
            <a:r>
              <a:rPr lang="en-GB" dirty="0" smtClean="0">
                <a:latin typeface="Times New Roman" panose="02020603050405020304" pitchFamily="18" charset="0"/>
                <a:cs typeface="Times New Roman" panose="02020603050405020304" pitchFamily="18" charset="0"/>
              </a:rPr>
              <a:t>=2</a:t>
            </a:r>
          </a:p>
          <a:p>
            <a:pPr marL="0" indent="0">
              <a:buNone/>
            </a:pPr>
            <a:endParaRPr lang="en-GB" dirty="0">
              <a:latin typeface="Times New Roman" panose="02020603050405020304" pitchFamily="18" charset="0"/>
              <a:cs typeface="Times New Roman" panose="02020603050405020304" pitchFamily="18" charset="0"/>
            </a:endParaRPr>
          </a:p>
          <a:p>
            <a:pPr marL="457200" lvl="1" indent="0">
              <a:buNone/>
            </a:pPr>
            <a:r>
              <a:rPr lang="en-GB" dirty="0" err="1">
                <a:latin typeface="Times New Roman" panose="02020603050405020304" pitchFamily="18" charset="0"/>
                <a:cs typeface="Times New Roman" panose="02020603050405020304" pitchFamily="18" charset="0"/>
              </a:rPr>
              <a:t>int</a:t>
            </a:r>
            <a:r>
              <a:rPr lang="en-GB" dirty="0">
                <a:latin typeface="Times New Roman" panose="02020603050405020304" pitchFamily="18" charset="0"/>
                <a:cs typeface="Times New Roman" panose="02020603050405020304" pitchFamily="18" charset="0"/>
              </a:rPr>
              <a:t> a=1, b=2, c=3;              </a:t>
            </a:r>
          </a:p>
          <a:p>
            <a:pPr marL="457200" lvl="1" indent="0">
              <a:buNone/>
            </a:pPr>
            <a:r>
              <a:rPr lang="en-GB" dirty="0" err="1">
                <a:latin typeface="Times New Roman" panose="02020603050405020304" pitchFamily="18" charset="0"/>
                <a:cs typeface="Times New Roman" panose="02020603050405020304" pitchFamily="18" charset="0"/>
              </a:rPr>
              <a:t>int</a:t>
            </a:r>
            <a:r>
              <a:rPr lang="en-GB" dirty="0">
                <a:latin typeface="Times New Roman" panose="02020603050405020304" pitchFamily="18" charset="0"/>
                <a:cs typeface="Times New Roman" panose="02020603050405020304" pitchFamily="18" charset="0"/>
              </a:rPr>
              <a:t> </a:t>
            </a:r>
            <a:r>
              <a:rPr lang="en-GB" dirty="0" err="1">
                <a:latin typeface="Times New Roman" panose="02020603050405020304" pitchFamily="18" charset="0"/>
                <a:cs typeface="Times New Roman" panose="02020603050405020304" pitchFamily="18" charset="0"/>
              </a:rPr>
              <a:t>i</a:t>
            </a:r>
            <a:r>
              <a:rPr lang="en-GB" dirty="0">
                <a:latin typeface="Times New Roman" panose="02020603050405020304" pitchFamily="18" charset="0"/>
                <a:cs typeface="Times New Roman" panose="02020603050405020304" pitchFamily="18" charset="0"/>
              </a:rPr>
              <a:t> = (a, b); </a:t>
            </a:r>
          </a:p>
          <a:p>
            <a:pPr marL="0" indent="0">
              <a:buNone/>
            </a:pPr>
            <a:r>
              <a:rPr lang="en-GB" dirty="0"/>
              <a:t> </a:t>
            </a:r>
          </a:p>
          <a:p>
            <a:pPr marL="0" indent="0">
              <a:buNone/>
            </a:pPr>
            <a:endParaRPr lang="en-GB" dirty="0"/>
          </a:p>
        </p:txBody>
      </p:sp>
    </p:spTree>
    <p:extLst>
      <p:ext uri="{BB962C8B-B14F-4D97-AF65-F5344CB8AC3E}">
        <p14:creationId xmlns:p14="http://schemas.microsoft.com/office/powerpoint/2010/main" val="713944680"/>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77500" lnSpcReduction="20000"/>
          </a:bodyPr>
          <a:lstStyle/>
          <a:p>
            <a:pPr marL="0" indent="0">
              <a:buNone/>
            </a:pPr>
            <a:r>
              <a:rPr lang="en-GB" dirty="0">
                <a:latin typeface="Times New Roman" panose="02020603050405020304" pitchFamily="18" charset="0"/>
                <a:cs typeface="Times New Roman" panose="02020603050405020304" pitchFamily="18" charset="0"/>
              </a:rPr>
              <a:t>#include &lt;</a:t>
            </a:r>
            <a:r>
              <a:rPr lang="en-GB" dirty="0" err="1">
                <a:latin typeface="Times New Roman" panose="02020603050405020304" pitchFamily="18" charset="0"/>
                <a:cs typeface="Times New Roman" panose="02020603050405020304" pitchFamily="18" charset="0"/>
              </a:rPr>
              <a:t>stdio.h</a:t>
            </a:r>
            <a:r>
              <a:rPr lang="en-GB" dirty="0">
                <a:latin typeface="Times New Roman" panose="02020603050405020304" pitchFamily="18" charset="0"/>
                <a:cs typeface="Times New Roman" panose="02020603050405020304" pitchFamily="18" charset="0"/>
              </a:rPr>
              <a:t>&gt;</a:t>
            </a:r>
          </a:p>
          <a:p>
            <a:pPr marL="0" indent="0">
              <a:buNone/>
            </a:pPr>
            <a:endParaRPr lang="en-GB" dirty="0">
              <a:latin typeface="Times New Roman" panose="02020603050405020304" pitchFamily="18" charset="0"/>
              <a:cs typeface="Times New Roman" panose="02020603050405020304" pitchFamily="18" charset="0"/>
            </a:endParaRPr>
          </a:p>
          <a:p>
            <a:pPr marL="0" indent="0">
              <a:buNone/>
            </a:pPr>
            <a:r>
              <a:rPr lang="en-GB" dirty="0" err="1">
                <a:latin typeface="Times New Roman" panose="02020603050405020304" pitchFamily="18" charset="0"/>
                <a:cs typeface="Times New Roman" panose="02020603050405020304" pitchFamily="18" charset="0"/>
              </a:rPr>
              <a:t>int</a:t>
            </a:r>
            <a:r>
              <a:rPr lang="en-GB" dirty="0">
                <a:latin typeface="Times New Roman" panose="02020603050405020304" pitchFamily="18" charset="0"/>
                <a:cs typeface="Times New Roman" panose="02020603050405020304" pitchFamily="18" charset="0"/>
              </a:rPr>
              <a:t> main() {</a:t>
            </a:r>
          </a:p>
          <a:p>
            <a:pPr marL="0" indent="0">
              <a:buNone/>
            </a:pPr>
            <a:r>
              <a:rPr lang="en-GB" dirty="0">
                <a:latin typeface="Times New Roman" panose="02020603050405020304" pitchFamily="18" charset="0"/>
                <a:cs typeface="Times New Roman" panose="02020603050405020304" pitchFamily="18" charset="0"/>
              </a:rPr>
              <a:t>    </a:t>
            </a:r>
            <a:r>
              <a:rPr lang="en-GB" dirty="0" err="1">
                <a:latin typeface="Times New Roman" panose="02020603050405020304" pitchFamily="18" charset="0"/>
                <a:cs typeface="Times New Roman" panose="02020603050405020304" pitchFamily="18" charset="0"/>
              </a:rPr>
              <a:t>int</a:t>
            </a:r>
            <a:r>
              <a:rPr lang="en-GB" dirty="0">
                <a:latin typeface="Times New Roman" panose="02020603050405020304" pitchFamily="18" charset="0"/>
                <a:cs typeface="Times New Roman" panose="02020603050405020304" pitchFamily="18" charset="0"/>
              </a:rPr>
              <a:t> a, b, c;</a:t>
            </a:r>
          </a:p>
          <a:p>
            <a:pPr marL="0" indent="0">
              <a:buNone/>
            </a:pPr>
            <a:r>
              <a:rPr lang="en-GB" dirty="0">
                <a:latin typeface="Times New Roman" panose="02020603050405020304" pitchFamily="18" charset="0"/>
                <a:cs typeface="Times New Roman" panose="02020603050405020304" pitchFamily="18" charset="0"/>
              </a:rPr>
              <a:t>    </a:t>
            </a:r>
          </a:p>
          <a:p>
            <a:pPr marL="0" indent="0">
              <a:buNone/>
            </a:pPr>
            <a:r>
              <a:rPr lang="en-GB" dirty="0">
                <a:latin typeface="Times New Roman" panose="02020603050405020304" pitchFamily="18" charset="0"/>
                <a:cs typeface="Times New Roman" panose="02020603050405020304" pitchFamily="18" charset="0"/>
              </a:rPr>
              <a:t>    // Comma operator: evaluates left to right, returns last value</a:t>
            </a:r>
          </a:p>
          <a:p>
            <a:pPr marL="0" indent="0">
              <a:buNone/>
            </a:pPr>
            <a:r>
              <a:rPr lang="en-GB" dirty="0">
                <a:latin typeface="Times New Roman" panose="02020603050405020304" pitchFamily="18" charset="0"/>
                <a:cs typeface="Times New Roman" panose="02020603050405020304" pitchFamily="18" charset="0"/>
              </a:rPr>
              <a:t>    a = (5, 10, 15);</a:t>
            </a:r>
          </a:p>
          <a:p>
            <a:pPr marL="0" indent="0">
              <a:buNone/>
            </a:pPr>
            <a:r>
              <a:rPr lang="en-GB" dirty="0">
                <a:latin typeface="Times New Roman" panose="02020603050405020304" pitchFamily="18" charset="0"/>
                <a:cs typeface="Times New Roman" panose="02020603050405020304" pitchFamily="18" charset="0"/>
              </a:rPr>
              <a:t>    </a:t>
            </a:r>
          </a:p>
          <a:p>
            <a:pPr marL="0" indent="0">
              <a:buNone/>
            </a:pPr>
            <a:r>
              <a:rPr lang="en-GB" dirty="0">
                <a:latin typeface="Times New Roman" panose="02020603050405020304" pitchFamily="18" charset="0"/>
                <a:cs typeface="Times New Roman" panose="02020603050405020304" pitchFamily="18" charset="0"/>
              </a:rPr>
              <a:t>    </a:t>
            </a:r>
            <a:r>
              <a:rPr lang="en-GB" dirty="0" err="1">
                <a:latin typeface="Times New Roman" panose="02020603050405020304" pitchFamily="18" charset="0"/>
                <a:cs typeface="Times New Roman" panose="02020603050405020304" pitchFamily="18" charset="0"/>
              </a:rPr>
              <a:t>printf</a:t>
            </a:r>
            <a:r>
              <a:rPr lang="en-GB" dirty="0">
                <a:latin typeface="Times New Roman" panose="02020603050405020304" pitchFamily="18" charset="0"/>
                <a:cs typeface="Times New Roman" panose="02020603050405020304" pitchFamily="18" charset="0"/>
              </a:rPr>
              <a:t>("a = %d\n", a);  // Output: a = 15</a:t>
            </a:r>
          </a:p>
          <a:p>
            <a:pPr marL="0" indent="0">
              <a:buNone/>
            </a:pPr>
            <a:r>
              <a:rPr lang="en-GB" dirty="0">
                <a:latin typeface="Times New Roman" panose="02020603050405020304" pitchFamily="18" charset="0"/>
                <a:cs typeface="Times New Roman" panose="02020603050405020304" pitchFamily="18" charset="0"/>
              </a:rPr>
              <a:t>    </a:t>
            </a:r>
          </a:p>
          <a:p>
            <a:pPr marL="0" indent="0">
              <a:buNone/>
            </a:pPr>
            <a:r>
              <a:rPr lang="en-GB" dirty="0">
                <a:latin typeface="Times New Roman" panose="02020603050405020304" pitchFamily="18" charset="0"/>
                <a:cs typeface="Times New Roman" panose="02020603050405020304" pitchFamily="18" charset="0"/>
              </a:rPr>
              <a:t>    return 0;</a:t>
            </a:r>
          </a:p>
          <a:p>
            <a:pPr marL="0" indent="0">
              <a:buNone/>
            </a:pPr>
            <a:r>
              <a:rPr lang="en-GB"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660131648"/>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62500" lnSpcReduction="20000"/>
          </a:bodyPr>
          <a:lstStyle/>
          <a:p>
            <a:pPr marL="0" indent="0">
              <a:buNone/>
            </a:pPr>
            <a:r>
              <a:rPr lang="en-GB" dirty="0">
                <a:latin typeface="Times New Roman" panose="02020603050405020304" pitchFamily="18" charset="0"/>
                <a:cs typeface="Times New Roman" panose="02020603050405020304" pitchFamily="18" charset="0"/>
              </a:rPr>
              <a:t>#include &lt;</a:t>
            </a:r>
            <a:r>
              <a:rPr lang="en-GB" dirty="0" err="1">
                <a:latin typeface="Times New Roman" panose="02020603050405020304" pitchFamily="18" charset="0"/>
                <a:cs typeface="Times New Roman" panose="02020603050405020304" pitchFamily="18" charset="0"/>
              </a:rPr>
              <a:t>stdio.h</a:t>
            </a:r>
            <a:r>
              <a:rPr lang="en-GB" dirty="0">
                <a:latin typeface="Times New Roman" panose="02020603050405020304" pitchFamily="18" charset="0"/>
                <a:cs typeface="Times New Roman" panose="02020603050405020304" pitchFamily="18" charset="0"/>
              </a:rPr>
              <a:t>&gt;</a:t>
            </a:r>
          </a:p>
          <a:p>
            <a:pPr marL="0" indent="0">
              <a:buNone/>
            </a:pPr>
            <a:endParaRPr lang="en-GB" dirty="0">
              <a:latin typeface="Times New Roman" panose="02020603050405020304" pitchFamily="18" charset="0"/>
              <a:cs typeface="Times New Roman" panose="02020603050405020304" pitchFamily="18" charset="0"/>
            </a:endParaRPr>
          </a:p>
          <a:p>
            <a:pPr marL="0" indent="0">
              <a:buNone/>
            </a:pPr>
            <a:r>
              <a:rPr lang="en-GB" dirty="0" err="1">
                <a:latin typeface="Times New Roman" panose="02020603050405020304" pitchFamily="18" charset="0"/>
                <a:cs typeface="Times New Roman" panose="02020603050405020304" pitchFamily="18" charset="0"/>
              </a:rPr>
              <a:t>int</a:t>
            </a:r>
            <a:r>
              <a:rPr lang="en-GB" dirty="0">
                <a:latin typeface="Times New Roman" panose="02020603050405020304" pitchFamily="18" charset="0"/>
                <a:cs typeface="Times New Roman" panose="02020603050405020304" pitchFamily="18" charset="0"/>
              </a:rPr>
              <a:t> main() {</a:t>
            </a:r>
          </a:p>
          <a:p>
            <a:pPr marL="0" indent="0">
              <a:buNone/>
            </a:pPr>
            <a:r>
              <a:rPr lang="en-GB" dirty="0">
                <a:latin typeface="Times New Roman" panose="02020603050405020304" pitchFamily="18" charset="0"/>
                <a:cs typeface="Times New Roman" panose="02020603050405020304" pitchFamily="18" charset="0"/>
              </a:rPr>
              <a:t>    </a:t>
            </a:r>
            <a:r>
              <a:rPr lang="en-GB" dirty="0" err="1">
                <a:latin typeface="Times New Roman" panose="02020603050405020304" pitchFamily="18" charset="0"/>
                <a:cs typeface="Times New Roman" panose="02020603050405020304" pitchFamily="18" charset="0"/>
              </a:rPr>
              <a:t>int</a:t>
            </a:r>
            <a:r>
              <a:rPr lang="en-GB" dirty="0">
                <a:latin typeface="Times New Roman" panose="02020603050405020304" pitchFamily="18" charset="0"/>
                <a:cs typeface="Times New Roman" panose="02020603050405020304" pitchFamily="18" charset="0"/>
              </a:rPr>
              <a:t> a = 1, b = 2, c;</a:t>
            </a:r>
          </a:p>
          <a:p>
            <a:pPr marL="0" indent="0">
              <a:buNone/>
            </a:pPr>
            <a:r>
              <a:rPr lang="en-GB" dirty="0">
                <a:latin typeface="Times New Roman" panose="02020603050405020304" pitchFamily="18" charset="0"/>
                <a:cs typeface="Times New Roman" panose="02020603050405020304" pitchFamily="18" charset="0"/>
              </a:rPr>
              <a:t>    </a:t>
            </a:r>
          </a:p>
          <a:p>
            <a:pPr marL="0" indent="0">
              <a:buNone/>
            </a:pPr>
            <a:r>
              <a:rPr lang="en-GB" dirty="0">
                <a:latin typeface="Times New Roman" panose="02020603050405020304" pitchFamily="18" charset="0"/>
                <a:cs typeface="Times New Roman" panose="02020603050405020304" pitchFamily="18" charset="0"/>
              </a:rPr>
              <a:t>    c = (a++, b++, a + b);</a:t>
            </a:r>
          </a:p>
          <a:p>
            <a:pPr marL="0" indent="0">
              <a:buNone/>
            </a:pPr>
            <a:r>
              <a:rPr lang="en-GB" dirty="0">
                <a:latin typeface="Times New Roman" panose="02020603050405020304" pitchFamily="18" charset="0"/>
                <a:cs typeface="Times New Roman" panose="02020603050405020304" pitchFamily="18" charset="0"/>
              </a:rPr>
              <a:t>    </a:t>
            </a:r>
          </a:p>
          <a:p>
            <a:pPr marL="0" indent="0">
              <a:buNone/>
            </a:pPr>
            <a:r>
              <a:rPr lang="en-GB" dirty="0">
                <a:latin typeface="Times New Roman" panose="02020603050405020304" pitchFamily="18" charset="0"/>
                <a:cs typeface="Times New Roman" panose="02020603050405020304" pitchFamily="18" charset="0"/>
              </a:rPr>
              <a:t>    </a:t>
            </a:r>
            <a:r>
              <a:rPr lang="en-GB" dirty="0" err="1">
                <a:latin typeface="Times New Roman" panose="02020603050405020304" pitchFamily="18" charset="0"/>
                <a:cs typeface="Times New Roman" panose="02020603050405020304" pitchFamily="18" charset="0"/>
              </a:rPr>
              <a:t>printf</a:t>
            </a:r>
            <a:r>
              <a:rPr lang="en-GB" dirty="0">
                <a:latin typeface="Times New Roman" panose="02020603050405020304" pitchFamily="18" charset="0"/>
                <a:cs typeface="Times New Roman" panose="02020603050405020304" pitchFamily="18" charset="0"/>
              </a:rPr>
              <a:t>("a = %d\n", a);  // Output: a = 2</a:t>
            </a:r>
          </a:p>
          <a:p>
            <a:pPr marL="0" indent="0">
              <a:buNone/>
            </a:pPr>
            <a:r>
              <a:rPr lang="en-GB" dirty="0">
                <a:latin typeface="Times New Roman" panose="02020603050405020304" pitchFamily="18" charset="0"/>
                <a:cs typeface="Times New Roman" panose="02020603050405020304" pitchFamily="18" charset="0"/>
              </a:rPr>
              <a:t>    </a:t>
            </a:r>
            <a:r>
              <a:rPr lang="en-GB" dirty="0" err="1">
                <a:latin typeface="Times New Roman" panose="02020603050405020304" pitchFamily="18" charset="0"/>
                <a:cs typeface="Times New Roman" panose="02020603050405020304" pitchFamily="18" charset="0"/>
              </a:rPr>
              <a:t>printf</a:t>
            </a:r>
            <a:r>
              <a:rPr lang="en-GB" dirty="0">
                <a:latin typeface="Times New Roman" panose="02020603050405020304" pitchFamily="18" charset="0"/>
                <a:cs typeface="Times New Roman" panose="02020603050405020304" pitchFamily="18" charset="0"/>
              </a:rPr>
              <a:t>("b = %d\n", b);  // Output: b = 3</a:t>
            </a:r>
          </a:p>
          <a:p>
            <a:pPr marL="0" indent="0">
              <a:buNone/>
            </a:pPr>
            <a:r>
              <a:rPr lang="en-GB" dirty="0">
                <a:latin typeface="Times New Roman" panose="02020603050405020304" pitchFamily="18" charset="0"/>
                <a:cs typeface="Times New Roman" panose="02020603050405020304" pitchFamily="18" charset="0"/>
              </a:rPr>
              <a:t>    </a:t>
            </a:r>
            <a:r>
              <a:rPr lang="en-GB" dirty="0" err="1">
                <a:latin typeface="Times New Roman" panose="02020603050405020304" pitchFamily="18" charset="0"/>
                <a:cs typeface="Times New Roman" panose="02020603050405020304" pitchFamily="18" charset="0"/>
              </a:rPr>
              <a:t>printf</a:t>
            </a:r>
            <a:r>
              <a:rPr lang="en-GB" dirty="0">
                <a:latin typeface="Times New Roman" panose="02020603050405020304" pitchFamily="18" charset="0"/>
                <a:cs typeface="Times New Roman" panose="02020603050405020304" pitchFamily="18" charset="0"/>
              </a:rPr>
              <a:t>("c = %d\n", c);  // Output: c = 5</a:t>
            </a:r>
          </a:p>
          <a:p>
            <a:pPr marL="0" indent="0">
              <a:buNone/>
            </a:pPr>
            <a:r>
              <a:rPr lang="en-GB" dirty="0">
                <a:latin typeface="Times New Roman" panose="02020603050405020304" pitchFamily="18" charset="0"/>
                <a:cs typeface="Times New Roman" panose="02020603050405020304" pitchFamily="18" charset="0"/>
              </a:rPr>
              <a:t>    </a:t>
            </a:r>
          </a:p>
          <a:p>
            <a:pPr marL="0" indent="0">
              <a:buNone/>
            </a:pPr>
            <a:r>
              <a:rPr lang="en-GB" dirty="0">
                <a:latin typeface="Times New Roman" panose="02020603050405020304" pitchFamily="18" charset="0"/>
                <a:cs typeface="Times New Roman" panose="02020603050405020304" pitchFamily="18" charset="0"/>
              </a:rPr>
              <a:t>    return 0;</a:t>
            </a:r>
          </a:p>
          <a:p>
            <a:pPr marL="0" indent="0">
              <a:buNone/>
            </a:pPr>
            <a:r>
              <a:rPr lang="en-GB"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509403528"/>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480</TotalTime>
  <Words>1587</Words>
  <Application>Microsoft Office PowerPoint</Application>
  <PresentationFormat>Widescreen</PresentationFormat>
  <Paragraphs>347</Paragraphs>
  <Slides>42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42</vt:i4>
      </vt:variant>
    </vt:vector>
  </HeadingPairs>
  <TitlesOfParts>
    <vt:vector size="48" baseType="lpstr">
      <vt:lpstr>Arial</vt:lpstr>
      <vt:lpstr>Calibri</vt:lpstr>
      <vt:lpstr>Calibri Light</vt:lpstr>
      <vt:lpstr>Tahoma</vt:lpstr>
      <vt:lpstr>Times New Roman</vt:lpstr>
      <vt:lpstr>Office Theme</vt:lpstr>
      <vt:lpstr>PowerPoint Presentation</vt:lpstr>
      <vt:lpstr>Outlines</vt:lpstr>
      <vt:lpstr>Arithmetic operators</vt:lpstr>
      <vt:lpstr>Types of Arithmetic Operators </vt:lpstr>
      <vt:lpstr>Binary Arithmetic Operators </vt:lpstr>
      <vt:lpstr>PowerPoint Presentation</vt:lpstr>
      <vt:lpstr>PowerPoint Presentation</vt:lpstr>
      <vt:lpstr>Output</vt:lpstr>
      <vt:lpstr>Unary Arithmetic Operators </vt:lpstr>
      <vt:lpstr>PowerPoint Presentation</vt:lpstr>
      <vt:lpstr>Relational Operators </vt:lpstr>
      <vt:lpstr>PowerPoint Presentation</vt:lpstr>
      <vt:lpstr>Equal to operator (==)</vt:lpstr>
      <vt:lpstr>Syntax</vt:lpstr>
      <vt:lpstr>Not equal to operator (!=)</vt:lpstr>
      <vt:lpstr>Syntax</vt:lpstr>
      <vt:lpstr>Logical operators</vt:lpstr>
      <vt:lpstr>Types of Logical Operators</vt:lpstr>
      <vt:lpstr>PowerPoint Presentation</vt:lpstr>
      <vt:lpstr>Syntax</vt:lpstr>
      <vt:lpstr>Example</vt:lpstr>
      <vt:lpstr>Logical OR Operator ( || )</vt:lpstr>
      <vt:lpstr>PowerPoint Presentation</vt:lpstr>
      <vt:lpstr>Syntax</vt:lpstr>
      <vt:lpstr>Example</vt:lpstr>
      <vt:lpstr>Logical NOT Operator ( ! )</vt:lpstr>
      <vt:lpstr>Syntax</vt:lpstr>
      <vt:lpstr>Example</vt:lpstr>
      <vt:lpstr>Bitwise operators</vt:lpstr>
      <vt:lpstr>C provides six operators for bit manipulation.</vt:lpstr>
      <vt:lpstr>Bitwise AND &amp;</vt:lpstr>
      <vt:lpstr>PowerPoint Presentation</vt:lpstr>
      <vt:lpstr>Bitwise XOR ^ </vt:lpstr>
      <vt:lpstr>PowerPoint Presentation</vt:lpstr>
      <vt:lpstr>Conditional or Ternary Operator (?:)</vt:lpstr>
      <vt:lpstr>PowerPoint Presentation</vt:lpstr>
      <vt:lpstr>PowerPoint Presentation</vt:lpstr>
      <vt:lpstr>PowerPoint Presentation</vt:lpstr>
      <vt:lpstr>Comma operator</vt:lpstr>
      <vt:lpstr>PowerPoint Presentation</vt:lpstr>
      <vt:lpstr>PowerPoint Presentation</vt:lpstr>
      <vt:lpstr>PowerPoint Presentation</vt:lpstr>
    </vt:vector>
  </TitlesOfParts>
  <Company>HP Inc.</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account</dc:creator>
  <cp:lastModifiedBy>Microsoft account</cp:lastModifiedBy>
  <cp:revision>34</cp:revision>
  <dcterms:created xsi:type="dcterms:W3CDTF">2026-02-12T08:23:38Z</dcterms:created>
  <dcterms:modified xsi:type="dcterms:W3CDTF">2026-02-13T09:10:39Z</dcterms:modified>
</cp:coreProperties>
</file>