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84" r:id="rId4"/>
    <p:sldId id="285"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7" r:id="rId32"/>
    <p:sldId id="288" r:id="rId33"/>
    <p:sldId id="289" r:id="rId34"/>
    <p:sldId id="286" r:id="rId35"/>
    <p:sldId id="290" r:id="rId36"/>
    <p:sldId id="291" r:id="rId37"/>
    <p:sldId id="292" r:id="rId38"/>
    <p:sldId id="293" r:id="rId39"/>
    <p:sldId id="294" r:id="rId40"/>
    <p:sldId id="29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3ADE496-DBB1-433C-A04D-BC7F3BD6DA65}"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332756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3ADE496-DBB1-433C-A04D-BC7F3BD6DA65}"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164666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DE496-DBB1-433C-A04D-BC7F3BD6DA65}"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263732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3ADE496-DBB1-433C-A04D-BC7F3BD6DA65}" type="datetimeFigureOut">
              <a:rPr lang="en-GB" smtClean="0"/>
              <a:t>24/04/2026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3113631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3ADE496-DBB1-433C-A04D-BC7F3BD6DA65}" type="datetimeFigureOut">
              <a:rPr lang="en-GB" smtClean="0"/>
              <a:t>24/04/2026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4270840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3ADE496-DBB1-433C-A04D-BC7F3BD6DA65}" type="datetimeFigureOut">
              <a:rPr lang="en-GB" smtClean="0"/>
              <a:t>24/04/2026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2255714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DE496-DBB1-433C-A04D-BC7F3BD6DA65}" type="datetimeFigureOut">
              <a:rPr lang="en-GB" smtClean="0"/>
              <a:t>24/04/2026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2355216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DE496-DBB1-433C-A04D-BC7F3BD6DA65}" type="datetimeFigureOut">
              <a:rPr lang="en-GB" smtClean="0"/>
              <a:t>24/04/2026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1032995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DE496-DBB1-433C-A04D-BC7F3BD6DA65}" type="datetimeFigureOut">
              <a:rPr lang="en-GB" smtClean="0"/>
              <a:t>24/04/2026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2178081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3ADE496-DBB1-433C-A04D-BC7F3BD6DA65}"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3214278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3ADE496-DBB1-433C-A04D-BC7F3BD6DA65}"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1FD0C-C169-4062-A746-9632E0FF4E8D}" type="slidenum">
              <a:rPr lang="en-GB" smtClean="0"/>
              <a:t>‹#›</a:t>
            </a:fld>
            <a:endParaRPr lang="en-GB"/>
          </a:p>
        </p:txBody>
      </p:sp>
    </p:spTree>
    <p:extLst>
      <p:ext uri="{BB962C8B-B14F-4D97-AF65-F5344CB8AC3E}">
        <p14:creationId xmlns:p14="http://schemas.microsoft.com/office/powerpoint/2010/main" val="3312692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DE496-DBB1-433C-A04D-BC7F3BD6DA65}" type="datetimeFigureOut">
              <a:rPr lang="en-GB" smtClean="0"/>
              <a:t>24/04/2026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C1FD0C-C169-4062-A746-9632E0FF4E8D}" type="slidenum">
              <a:rPr lang="en-GB" smtClean="0"/>
              <a:t>‹#›</a:t>
            </a:fld>
            <a:endParaRPr lang="en-GB"/>
          </a:p>
        </p:txBody>
      </p:sp>
    </p:spTree>
    <p:extLst>
      <p:ext uri="{BB962C8B-B14F-4D97-AF65-F5344CB8AC3E}">
        <p14:creationId xmlns:p14="http://schemas.microsoft.com/office/powerpoint/2010/main" val="1272532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644434"/>
            <a:ext cx="9144000" cy="5843452"/>
          </a:xfrm>
        </p:spPr>
        <p:txBody>
          <a:bodyPr>
            <a:normAutofit/>
          </a:bodyPr>
          <a:lstStyle/>
          <a:p>
            <a:r>
              <a:rPr lang="en-GB" sz="4000" dirty="0" smtClean="0">
                <a:solidFill>
                  <a:srgbClr val="023182"/>
                </a:solidFill>
                <a:latin typeface="Times New Roman"/>
                <a:ea typeface="Times New Roman"/>
                <a:cs typeface="Times New Roman"/>
                <a:sym typeface="Times New Roman"/>
              </a:rPr>
              <a:t>Programming with C</a:t>
            </a: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Lecturer : Odile Nzambazamariya</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 6: </a:t>
            </a:r>
            <a:r>
              <a:rPr lang="en-GB" dirty="0" smtClean="0">
                <a:latin typeface="Times New Roman"/>
                <a:ea typeface="Times New Roman"/>
                <a:cs typeface="Times New Roman"/>
                <a:sym typeface="Times New Roman"/>
              </a:rPr>
              <a:t>Functions and Structures</a:t>
            </a:r>
            <a:endParaRPr lang="en-GB" dirty="0" smtClean="0">
              <a:latin typeface="Times New Roman"/>
              <a:ea typeface="Times New Roman"/>
              <a:cs typeface="Times New Roman"/>
              <a:sym typeface="Times New Roman"/>
            </a:endParaRPr>
          </a:p>
          <a:p>
            <a:endParaRPr lang="en-GB" dirty="0" smtClean="0">
              <a:latin typeface="Times New Roman"/>
              <a:ea typeface="Times New Roman"/>
              <a:cs typeface="Times New Roman"/>
              <a:sym typeface="Times New Roman"/>
            </a:endParaRPr>
          </a:p>
          <a:p>
            <a:r>
              <a:rPr lang="en-GB" sz="3600" dirty="0" smtClean="0">
                <a:latin typeface="Times New Roman"/>
                <a:ea typeface="Times New Roman"/>
                <a:cs typeface="Times New Roman"/>
                <a:sym typeface="Times New Roman"/>
              </a:rPr>
              <a:t>Adventist University of Central Africa</a:t>
            </a:r>
            <a:endParaRPr lang="en-GB" sz="3600" dirty="0" smtClean="0"/>
          </a:p>
          <a:p>
            <a:endParaRPr lang="en-GB" dirty="0"/>
          </a:p>
        </p:txBody>
      </p:sp>
    </p:spTree>
    <p:extLst>
      <p:ext uri="{BB962C8B-B14F-4D97-AF65-F5344CB8AC3E}">
        <p14:creationId xmlns:p14="http://schemas.microsoft.com/office/powerpoint/2010/main" val="13486240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ea typeface="Times New Roman"/>
                <a:cs typeface="Times New Roman"/>
                <a:sym typeface="Times New Roman"/>
              </a:rPr>
              <a:t>Defining </a:t>
            </a:r>
            <a:r>
              <a:rPr lang="en-GB" dirty="0">
                <a:solidFill>
                  <a:srgbClr val="023182"/>
                </a:solidFill>
                <a:latin typeface="Times New Roman"/>
                <a:ea typeface="Times New Roman"/>
                <a:cs typeface="Times New Roman"/>
                <a:sym typeface="Times New Roman"/>
              </a:rPr>
              <a:t>a function</a:t>
            </a:r>
            <a:endParaRPr lang="en-GB" b="1" dirty="0"/>
          </a:p>
        </p:txBody>
      </p:sp>
      <p:sp>
        <p:nvSpPr>
          <p:cNvPr id="3" name="Content Placeholder 2"/>
          <p:cNvSpPr>
            <a:spLocks noGrp="1"/>
          </p:cNvSpPr>
          <p:nvPr>
            <p:ph idx="1"/>
          </p:nvPr>
        </p:nvSpPr>
        <p:spPr/>
        <p:txBody>
          <a:bodyPr/>
          <a:lstStyle/>
          <a:p>
            <a:pPr algn="just">
              <a:lnSpc>
                <a:spcPct val="150000"/>
              </a:lnSpc>
            </a:pPr>
            <a:r>
              <a:rPr lang="en-GB" dirty="0">
                <a:latin typeface="Times New Roman" panose="02020603050405020304" pitchFamily="18" charset="0"/>
                <a:cs typeface="Times New Roman" panose="02020603050405020304" pitchFamily="18" charset="0"/>
              </a:rPr>
              <a:t>A function is a block of code which only runs when it is called.</a:t>
            </a:r>
          </a:p>
          <a:p>
            <a:pPr algn="just">
              <a:lnSpc>
                <a:spcPct val="150000"/>
              </a:lnSpc>
            </a:pPr>
            <a:r>
              <a:rPr lang="en-GB" dirty="0">
                <a:latin typeface="Times New Roman" panose="02020603050405020304" pitchFamily="18" charset="0"/>
                <a:cs typeface="Times New Roman" panose="02020603050405020304" pitchFamily="18" charset="0"/>
              </a:rPr>
              <a:t>You can pass data, known as parameters, into a function.</a:t>
            </a:r>
          </a:p>
          <a:p>
            <a:pPr algn="just">
              <a:lnSpc>
                <a:spcPct val="150000"/>
              </a:lnSpc>
            </a:pPr>
            <a:r>
              <a:rPr lang="en-GB" dirty="0">
                <a:latin typeface="Times New Roman" panose="02020603050405020304" pitchFamily="18" charset="0"/>
                <a:cs typeface="Times New Roman" panose="02020603050405020304" pitchFamily="18" charset="0"/>
              </a:rPr>
              <a:t>Functions are used to perform certain actions, and they are important for reusing code: Define the code once, and use it many times.</a:t>
            </a:r>
          </a:p>
          <a:p>
            <a:pPr marL="0" indent="0" algn="just">
              <a:lnSpc>
                <a:spcPct val="150000"/>
              </a:lnSpc>
              <a:buNone/>
            </a:pPr>
            <a:r>
              <a:rPr lang="en-GB" dirty="0"/>
              <a:t/>
            </a:r>
            <a:br>
              <a:rPr lang="en-GB" dirty="0"/>
            </a:br>
            <a:endParaRPr lang="en-GB" dirty="0"/>
          </a:p>
        </p:txBody>
      </p:sp>
    </p:spTree>
    <p:extLst>
      <p:ext uri="{BB962C8B-B14F-4D97-AF65-F5344CB8AC3E}">
        <p14:creationId xmlns:p14="http://schemas.microsoft.com/office/powerpoint/2010/main" val="30313301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Predefined </a:t>
            </a:r>
            <a:r>
              <a:rPr lang="en-GB" dirty="0">
                <a:solidFill>
                  <a:srgbClr val="023182"/>
                </a:solidFill>
                <a:latin typeface="Times New Roman"/>
                <a:ea typeface="Times New Roman"/>
                <a:cs typeface="Times New Roman"/>
                <a:sym typeface="Times New Roman"/>
              </a:rPr>
              <a:t>Functions</a:t>
            </a:r>
            <a:r>
              <a:rPr lang="en-GB" dirty="0"/>
              <a:t/>
            </a:r>
            <a:br>
              <a:rPr lang="en-GB" dirty="0"/>
            </a:br>
            <a:endParaRPr lang="en-GB" dirty="0"/>
          </a:p>
        </p:txBody>
      </p:sp>
      <p:sp>
        <p:nvSpPr>
          <p:cNvPr id="3" name="Content Placeholder 2"/>
          <p:cNvSpPr>
            <a:spLocks noGrp="1"/>
          </p:cNvSpPr>
          <p:nvPr>
            <p:ph idx="1"/>
          </p:nvPr>
        </p:nvSpPr>
        <p:spPr/>
        <p:txBody>
          <a:bodyPr>
            <a:normAutofit fontScale="92500"/>
          </a:bodyPr>
          <a:lstStyle/>
          <a:p>
            <a:pPr algn="just">
              <a:lnSpc>
                <a:spcPct val="200000"/>
              </a:lnSpc>
            </a:pPr>
            <a:r>
              <a:rPr lang="en-GB" dirty="0">
                <a:latin typeface="Times New Roman" panose="02020603050405020304" pitchFamily="18" charset="0"/>
                <a:cs typeface="Times New Roman" panose="02020603050405020304" pitchFamily="18" charset="0"/>
              </a:rPr>
              <a:t>Predefined functions in C, also known as built-in functions or standard library functions, are functions that are already provided by the C programming language itself or by standard libraries. We include the math. h library to access mathematical functions like </a:t>
            </a:r>
            <a:r>
              <a:rPr lang="en-GB" dirty="0" err="1">
                <a:latin typeface="Times New Roman" panose="02020603050405020304" pitchFamily="18" charset="0"/>
                <a:cs typeface="Times New Roman" panose="02020603050405020304" pitchFamily="18" charset="0"/>
              </a:rPr>
              <a:t>sqrt</a:t>
            </a:r>
            <a:r>
              <a:rPr lang="en-GB" dirty="0">
                <a:latin typeface="Times New Roman" panose="02020603050405020304" pitchFamily="18" charset="0"/>
                <a:cs typeface="Times New Roman" panose="02020603050405020304" pitchFamily="18" charset="0"/>
              </a:rPr>
              <a:t>(), abs()/</a:t>
            </a:r>
            <a:r>
              <a:rPr lang="en-GB" dirty="0" smtClean="0">
                <a:latin typeface="Times New Roman" panose="02020603050405020304" pitchFamily="18" charset="0"/>
                <a:cs typeface="Times New Roman" panose="02020603050405020304" pitchFamily="18" charset="0"/>
              </a:rPr>
              <a:t>absolute value, </a:t>
            </a:r>
            <a:r>
              <a:rPr lang="en-GB" dirty="0">
                <a:latin typeface="Times New Roman" panose="02020603050405020304" pitchFamily="18" charset="0"/>
                <a:cs typeface="Times New Roman" panose="02020603050405020304" pitchFamily="18" charset="0"/>
              </a:rPr>
              <a:t>pow(), ceil()/</a:t>
            </a:r>
            <a:r>
              <a:rPr lang="en-GB" dirty="0" smtClean="0">
                <a:latin typeface="Times New Roman" panose="02020603050405020304" pitchFamily="18" charset="0"/>
                <a:cs typeface="Times New Roman" panose="02020603050405020304" pitchFamily="18" charset="0"/>
              </a:rPr>
              <a:t>nearest value(), </a:t>
            </a:r>
            <a:r>
              <a:rPr lang="en-GB" dirty="0">
                <a:latin typeface="Times New Roman" panose="02020603050405020304" pitchFamily="18" charset="0"/>
                <a:cs typeface="Times New Roman" panose="02020603050405020304" pitchFamily="18" charset="0"/>
              </a:rPr>
              <a:t>and floor</a:t>
            </a:r>
            <a:r>
              <a:rPr lang="en-GB" dirty="0" smtClean="0">
                <a:latin typeface="Times New Roman" panose="02020603050405020304" pitchFamily="18" charset="0"/>
                <a:cs typeface="Times New Roman" panose="02020603050405020304" pitchFamily="18" charset="0"/>
              </a:rPr>
              <a:t>() return </a:t>
            </a:r>
            <a:r>
              <a:rPr lang="en-GB" dirty="0">
                <a:latin typeface="Times New Roman" panose="02020603050405020304" pitchFamily="18" charset="0"/>
                <a:cs typeface="Times New Roman" panose="02020603050405020304" pitchFamily="18" charset="0"/>
              </a:rPr>
              <a:t>the </a:t>
            </a:r>
            <a:r>
              <a:rPr lang="en-GB" dirty="0" smtClean="0">
                <a:latin typeface="Times New Roman" panose="02020603050405020304" pitchFamily="18" charset="0"/>
                <a:cs typeface="Times New Roman" panose="02020603050405020304" pitchFamily="18" charset="0"/>
              </a:rPr>
              <a:t>greatest integer.</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4298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4658" y="1224734"/>
            <a:ext cx="10515600" cy="4351338"/>
          </a:xfrm>
        </p:spPr>
        <p:txBody>
          <a:bodyPr>
            <a:normAutofit fontScale="92500" lnSpcReduction="10000"/>
          </a:bodyPr>
          <a:lstStyle/>
          <a:p>
            <a:pPr>
              <a:lnSpc>
                <a:spcPct val="150000"/>
              </a:lnSpc>
            </a:pPr>
            <a:r>
              <a:rPr lang="en-GB" dirty="0">
                <a:latin typeface="Times New Roman" panose="02020603050405020304" pitchFamily="18" charset="0"/>
                <a:cs typeface="Times New Roman" panose="02020603050405020304" pitchFamily="18" charset="0"/>
              </a:rPr>
              <a:t>For example, main() is a function, which is used to execute code, and </a:t>
            </a:r>
            <a:r>
              <a:rPr lang="en-GB" dirty="0" err="1">
                <a:latin typeface="Times New Roman" panose="02020603050405020304" pitchFamily="18" charset="0"/>
                <a:cs typeface="Times New Roman" panose="02020603050405020304" pitchFamily="18" charset="0"/>
              </a:rPr>
              <a:t>printf</a:t>
            </a:r>
            <a:r>
              <a:rPr lang="en-GB" dirty="0">
                <a:latin typeface="Times New Roman" panose="02020603050405020304" pitchFamily="18" charset="0"/>
                <a:cs typeface="Times New Roman" panose="02020603050405020304" pitchFamily="18" charset="0"/>
              </a:rPr>
              <a:t>() is a function; used to output/print text to the </a:t>
            </a:r>
            <a:r>
              <a:rPr lang="en-GB" dirty="0" smtClean="0">
                <a:latin typeface="Times New Roman" panose="02020603050405020304" pitchFamily="18" charset="0"/>
                <a:cs typeface="Times New Roman" panose="02020603050405020304" pitchFamily="18" charset="0"/>
              </a:rPr>
              <a:t>screen</a:t>
            </a:r>
            <a:endParaRPr lang="en-GB" dirty="0">
              <a:latin typeface="Times New Roman" panose="02020603050405020304" pitchFamily="18" charset="0"/>
              <a:cs typeface="Times New Roman" panose="02020603050405020304" pitchFamily="18" charset="0"/>
            </a:endParaRPr>
          </a:p>
          <a:p>
            <a:pPr>
              <a:lnSpc>
                <a:spcPct val="150000"/>
              </a:lnSpc>
            </a:pPr>
            <a:r>
              <a:rPr lang="en-GB" dirty="0">
                <a:latin typeface="Times New Roman" panose="02020603050405020304" pitchFamily="18" charset="0"/>
                <a:cs typeface="Times New Roman" panose="02020603050405020304" pitchFamily="18" charset="0"/>
              </a:rPr>
              <a:t>Example</a:t>
            </a:r>
          </a:p>
          <a:p>
            <a:pPr>
              <a:lnSpc>
                <a:spcPct val="150000"/>
              </a:lnSpc>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main()</a:t>
            </a:r>
            <a:r>
              <a:rPr lang="en-GB" dirty="0">
                <a:latin typeface="Times New Roman" panose="02020603050405020304" pitchFamily="18" charset="0"/>
                <a:cs typeface="Times New Roman" panose="02020603050405020304" pitchFamily="18" charset="0"/>
              </a:rPr>
              <a:t>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t>
            </a:r>
            <a:r>
              <a:rPr lang="en-GB" b="1" dirty="0" err="1">
                <a:latin typeface="Times New Roman" panose="02020603050405020304" pitchFamily="18" charset="0"/>
                <a:cs typeface="Times New Roman" panose="02020603050405020304" pitchFamily="18" charset="0"/>
              </a:rPr>
              <a:t>printf</a:t>
            </a:r>
            <a:r>
              <a:rPr lang="en-GB" b="1" dirty="0">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"Hello World!"</a:t>
            </a:r>
            <a:r>
              <a:rPr lang="en-GB" b="1" dirty="0">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return 0;</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a:t>
            </a:r>
            <a:endParaRPr lang="en-GB" dirty="0" smtClean="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7404979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ea typeface="Times New Roman"/>
                <a:cs typeface="Times New Roman"/>
                <a:sym typeface="Times New Roman"/>
              </a:rPr>
              <a:t>Create a Function</a:t>
            </a:r>
            <a:r>
              <a:rPr lang="en-GB" dirty="0"/>
              <a:t/>
            </a:r>
            <a:br>
              <a:rPr lang="en-GB" dirty="0"/>
            </a:br>
            <a:endParaRPr lang="en-GB" dirty="0"/>
          </a:p>
        </p:txBody>
      </p:sp>
      <p:sp>
        <p:nvSpPr>
          <p:cNvPr id="3" name="Content Placeholder 2"/>
          <p:cNvSpPr>
            <a:spLocks noGrp="1"/>
          </p:cNvSpPr>
          <p:nvPr>
            <p:ph idx="1"/>
          </p:nvPr>
        </p:nvSpPr>
        <p:spPr/>
        <p:txBody>
          <a:bodyPr/>
          <a:lstStyle/>
          <a:p>
            <a:pPr>
              <a:lnSpc>
                <a:spcPct val="150000"/>
              </a:lnSpc>
            </a:pPr>
            <a:r>
              <a:rPr lang="en-GB" dirty="0">
                <a:latin typeface="Times New Roman" panose="02020603050405020304" pitchFamily="18" charset="0"/>
                <a:cs typeface="Times New Roman" panose="02020603050405020304" pitchFamily="18" charset="0"/>
              </a:rPr>
              <a:t>To create (often referred to as declare) your own function, specify the name of the function, followed by parentheses () and curly brackets </a:t>
            </a:r>
            <a:r>
              <a:rPr lang="en-GB" dirty="0" smtClean="0">
                <a:latin typeface="Times New Roman" panose="02020603050405020304" pitchFamily="18" charset="0"/>
                <a:cs typeface="Times New Roman" panose="02020603050405020304" pitchFamily="18" charset="0"/>
              </a:rPr>
              <a:t>{}</a:t>
            </a:r>
          </a:p>
          <a:p>
            <a:pPr>
              <a:lnSpc>
                <a:spcPct val="150000"/>
              </a:lnSpc>
            </a:pPr>
            <a:r>
              <a:rPr lang="en-GB" b="1" dirty="0">
                <a:latin typeface="Times New Roman" panose="02020603050405020304" pitchFamily="18" charset="0"/>
                <a:cs typeface="Times New Roman" panose="02020603050405020304" pitchFamily="18" charset="0"/>
              </a:rPr>
              <a:t>Syntax</a:t>
            </a:r>
          </a:p>
          <a:p>
            <a:pPr>
              <a:lnSpc>
                <a:spcPct val="150000"/>
              </a:lnSpc>
            </a:pPr>
            <a:r>
              <a:rPr lang="en-GB" dirty="0">
                <a:latin typeface="Times New Roman" panose="02020603050405020304" pitchFamily="18" charset="0"/>
                <a:cs typeface="Times New Roman" panose="02020603050405020304" pitchFamily="18" charset="0"/>
              </a:rPr>
              <a:t>void </a:t>
            </a:r>
            <a:r>
              <a:rPr lang="en-GB" i="1" dirty="0" err="1">
                <a:latin typeface="Times New Roman" panose="02020603050405020304" pitchFamily="18" charset="0"/>
                <a:cs typeface="Times New Roman" panose="02020603050405020304" pitchFamily="18" charset="0"/>
              </a:rPr>
              <a:t>myFunction</a:t>
            </a:r>
            <a:r>
              <a:rPr lang="en-GB" dirty="0">
                <a:latin typeface="Times New Roman" panose="02020603050405020304" pitchFamily="18" charset="0"/>
                <a:cs typeface="Times New Roman" panose="02020603050405020304" pitchFamily="18" charset="0"/>
              </a:rPr>
              <a:t>()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statement </a:t>
            </a:r>
            <a:r>
              <a:rPr lang="en-GB" dirty="0">
                <a:latin typeface="Times New Roman" panose="02020603050405020304" pitchFamily="18" charset="0"/>
                <a:cs typeface="Times New Roman" panose="02020603050405020304" pitchFamily="18" charset="0"/>
              </a:rPr>
              <a:t>to be executed</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365670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ea typeface="Times New Roman"/>
                <a:cs typeface="Times New Roman"/>
                <a:sym typeface="Times New Roman"/>
              </a:rPr>
              <a:t>Example Explained</a:t>
            </a:r>
            <a:r>
              <a:rPr lang="en-GB" b="1" dirty="0"/>
              <a:t/>
            </a:r>
            <a:br>
              <a:rPr lang="en-GB" b="1" dirty="0"/>
            </a:br>
            <a:endParaRPr lang="en-GB" b="1" dirty="0"/>
          </a:p>
        </p:txBody>
      </p:sp>
      <p:sp>
        <p:nvSpPr>
          <p:cNvPr id="3" name="Content Placeholder 2"/>
          <p:cNvSpPr>
            <a:spLocks noGrp="1"/>
          </p:cNvSpPr>
          <p:nvPr>
            <p:ph idx="1"/>
          </p:nvPr>
        </p:nvSpPr>
        <p:spPr/>
        <p:txBody>
          <a:bodyPr>
            <a:normAutofit lnSpcReduction="10000"/>
          </a:bodyPr>
          <a:lstStyle/>
          <a:p>
            <a:pPr algn="just">
              <a:lnSpc>
                <a:spcPct val="150000"/>
              </a:lnSpc>
            </a:pPr>
            <a:r>
              <a:rPr lang="en-GB" dirty="0" err="1">
                <a:solidFill>
                  <a:srgbClr val="002060"/>
                </a:solidFill>
                <a:latin typeface="Times New Roman" panose="02020603050405020304" pitchFamily="18" charset="0"/>
                <a:cs typeface="Times New Roman" panose="02020603050405020304" pitchFamily="18" charset="0"/>
              </a:rPr>
              <a:t>myFunction</a:t>
            </a:r>
            <a:r>
              <a:rPr lang="en-GB" dirty="0" smtClean="0">
                <a:solidFill>
                  <a:srgbClr val="002060"/>
                </a:solidFill>
                <a:latin typeface="Times New Roman" panose="02020603050405020304" pitchFamily="18" charset="0"/>
                <a:cs typeface="Times New Roman" panose="02020603050405020304" pitchFamily="18" charset="0"/>
              </a:rPr>
              <a:t>()</a:t>
            </a:r>
            <a:r>
              <a:rPr lang="en-GB" dirty="0">
                <a:solidFill>
                  <a:srgbClr val="002060"/>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is the name of the </a:t>
            </a:r>
            <a:r>
              <a:rPr lang="en-GB" dirty="0" smtClean="0">
                <a:latin typeface="Times New Roman" panose="02020603050405020304" pitchFamily="18" charset="0"/>
                <a:cs typeface="Times New Roman" panose="02020603050405020304" pitchFamily="18" charset="0"/>
              </a:rPr>
              <a:t>function</a:t>
            </a:r>
          </a:p>
          <a:p>
            <a:pPr algn="just">
              <a:lnSpc>
                <a:spcPct val="150000"/>
              </a:lnSpc>
            </a:pPr>
            <a:r>
              <a:rPr lang="en-GB" dirty="0" smtClean="0">
                <a:solidFill>
                  <a:srgbClr val="002060"/>
                </a:solidFill>
                <a:latin typeface="Times New Roman" panose="02020603050405020304" pitchFamily="18" charset="0"/>
                <a:cs typeface="Times New Roman" panose="02020603050405020304" pitchFamily="18" charset="0"/>
              </a:rPr>
              <a:t>Void</a:t>
            </a:r>
            <a:r>
              <a:rPr lang="en-GB" dirty="0" smtClean="0">
                <a:solidFill>
                  <a:srgbClr val="DC143C"/>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means that the function does not have a return value. You will learn more about return values later in the next </a:t>
            </a:r>
            <a:r>
              <a:rPr lang="en-GB" dirty="0" smtClean="0">
                <a:latin typeface="Times New Roman" panose="02020603050405020304" pitchFamily="18" charset="0"/>
                <a:cs typeface="Times New Roman" panose="02020603050405020304" pitchFamily="18" charset="0"/>
              </a:rPr>
              <a:t>chapter</a:t>
            </a:r>
          </a:p>
          <a:p>
            <a:pPr algn="just">
              <a:lnSpc>
                <a:spcPct val="150000"/>
              </a:lnSpc>
            </a:pPr>
            <a:r>
              <a:rPr lang="en-GB" dirty="0">
                <a:latin typeface="Times New Roman" panose="02020603050405020304" pitchFamily="18" charset="0"/>
                <a:cs typeface="Times New Roman" panose="02020603050405020304" pitchFamily="18" charset="0"/>
              </a:rPr>
              <a:t>Inside the function (the body), add code that defines what the function should do</a:t>
            </a:r>
          </a:p>
          <a:p>
            <a:pPr marL="0" indent="0">
              <a:buNone/>
            </a:pPr>
            <a:r>
              <a:rPr lang="en-GB" dirty="0"/>
              <a:t/>
            </a:r>
            <a:br>
              <a:rPr lang="en-GB" dirty="0"/>
            </a:br>
            <a:endParaRPr lang="en-GB" dirty="0"/>
          </a:p>
        </p:txBody>
      </p:sp>
    </p:spTree>
    <p:extLst>
      <p:ext uri="{BB962C8B-B14F-4D97-AF65-F5344CB8AC3E}">
        <p14:creationId xmlns:p14="http://schemas.microsoft.com/office/powerpoint/2010/main" val="1016265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Call a Function</a:t>
            </a:r>
            <a:r>
              <a:rPr lang="en-GB" b="1" dirty="0"/>
              <a:t/>
            </a:r>
            <a:br>
              <a:rPr lang="en-GB" b="1" dirty="0"/>
            </a:br>
            <a:endParaRPr lang="en-GB" b="1" dirty="0"/>
          </a:p>
        </p:txBody>
      </p:sp>
      <p:sp>
        <p:nvSpPr>
          <p:cNvPr id="3" name="Content Placeholder 2"/>
          <p:cNvSpPr>
            <a:spLocks noGrp="1"/>
          </p:cNvSpPr>
          <p:nvPr>
            <p:ph idx="1"/>
          </p:nvPr>
        </p:nvSpPr>
        <p:spPr/>
        <p:txBody>
          <a:bodyPr/>
          <a:lstStyle/>
          <a:p>
            <a:pPr algn="just">
              <a:lnSpc>
                <a:spcPct val="150000"/>
              </a:lnSpc>
            </a:pPr>
            <a:r>
              <a:rPr lang="en-GB" dirty="0">
                <a:latin typeface="Times New Roman" panose="02020603050405020304" pitchFamily="18" charset="0"/>
                <a:cs typeface="Times New Roman" panose="02020603050405020304" pitchFamily="18" charset="0"/>
              </a:rPr>
              <a:t>Declared functions are not executed immediately. They are "saved for later use", and will be executed when they are called.</a:t>
            </a:r>
          </a:p>
          <a:p>
            <a:pPr algn="just">
              <a:lnSpc>
                <a:spcPct val="150000"/>
              </a:lnSpc>
            </a:pPr>
            <a:r>
              <a:rPr lang="en-GB" dirty="0">
                <a:latin typeface="Times New Roman" panose="02020603050405020304" pitchFamily="18" charset="0"/>
                <a:cs typeface="Times New Roman" panose="02020603050405020304" pitchFamily="18" charset="0"/>
              </a:rPr>
              <a:t>To call a function, write the function's name followed by two </a:t>
            </a:r>
            <a:r>
              <a:rPr lang="en-GB" dirty="0" smtClean="0">
                <a:latin typeface="Times New Roman" panose="02020603050405020304" pitchFamily="18" charset="0"/>
                <a:cs typeface="Times New Roman" panose="02020603050405020304" pitchFamily="18" charset="0"/>
              </a:rPr>
              <a:t>parentheses </a:t>
            </a:r>
            <a:r>
              <a:rPr lang="en-GB" dirty="0" smtClean="0">
                <a:solidFill>
                  <a:srgbClr val="DC143C"/>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and a semicolon </a:t>
            </a:r>
            <a:r>
              <a:rPr lang="en-GB" dirty="0">
                <a:solidFill>
                  <a:srgbClr val="DC143C"/>
                </a:solidFill>
                <a:latin typeface="Times New Roman" panose="02020603050405020304" pitchFamily="18" charset="0"/>
                <a:cs typeface="Times New Roman" panose="02020603050405020304" pitchFamily="18" charset="0"/>
              </a:rPr>
              <a:t> </a:t>
            </a:r>
            <a:r>
              <a:rPr lang="en-GB" dirty="0" smtClean="0">
                <a:solidFill>
                  <a:srgbClr val="DC143C"/>
                </a:solidFill>
                <a:latin typeface="Times New Roman" panose="02020603050405020304" pitchFamily="18" charset="0"/>
                <a:cs typeface="Times New Roman" panose="02020603050405020304" pitchFamily="18" charset="0"/>
              </a:rPr>
              <a:t>;</a:t>
            </a:r>
          </a:p>
          <a:p>
            <a:pPr algn="just">
              <a:lnSpc>
                <a:spcPct val="150000"/>
              </a:lnSpc>
            </a:pPr>
            <a:r>
              <a:rPr lang="en-GB" dirty="0">
                <a:latin typeface="Times New Roman" panose="02020603050405020304" pitchFamily="18" charset="0"/>
                <a:cs typeface="Times New Roman" panose="02020603050405020304" pitchFamily="18" charset="0"/>
              </a:rPr>
              <a:t>In the following example</a:t>
            </a:r>
            <a:r>
              <a:rPr lang="en-GB" dirty="0" smtClean="0">
                <a:latin typeface="Times New Roman" panose="02020603050405020304" pitchFamily="18" charset="0"/>
                <a:cs typeface="Times New Roman" panose="02020603050405020304" pitchFamily="18" charset="0"/>
              </a:rPr>
              <a:t>,</a:t>
            </a:r>
            <a:r>
              <a:rPr lang="en-GB" dirty="0">
                <a:solidFill>
                  <a:srgbClr val="DC143C"/>
                </a:solidFill>
                <a:latin typeface="Times New Roman" panose="02020603050405020304" pitchFamily="18" charset="0"/>
                <a:cs typeface="Times New Roman" panose="02020603050405020304" pitchFamily="18" charset="0"/>
              </a:rPr>
              <a:t> </a:t>
            </a:r>
            <a:r>
              <a:rPr lang="en-GB" dirty="0" err="1">
                <a:solidFill>
                  <a:srgbClr val="DC143C"/>
                </a:solidFill>
                <a:latin typeface="Times New Roman" panose="02020603050405020304" pitchFamily="18" charset="0"/>
                <a:cs typeface="Times New Roman" panose="02020603050405020304" pitchFamily="18" charset="0"/>
              </a:rPr>
              <a:t>myFunction</a:t>
            </a:r>
            <a:r>
              <a:rPr lang="en-GB" dirty="0" smtClean="0">
                <a:solidFill>
                  <a:srgbClr val="DC143C"/>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is used to print a text (the action), when it is called:</a:t>
            </a:r>
          </a:p>
          <a:p>
            <a:endParaRPr lang="en-GB" dirty="0"/>
          </a:p>
        </p:txBody>
      </p:sp>
    </p:spTree>
    <p:extLst>
      <p:ext uri="{BB962C8B-B14F-4D97-AF65-F5344CB8AC3E}">
        <p14:creationId xmlns:p14="http://schemas.microsoft.com/office/powerpoint/2010/main" val="4244029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
            </a:r>
            <a:br>
              <a:rPr lang="en-GB" b="1" dirty="0"/>
            </a:br>
            <a:r>
              <a:rPr lang="en-GB" dirty="0" smtClean="0">
                <a:solidFill>
                  <a:srgbClr val="023182"/>
                </a:solidFill>
                <a:latin typeface="Times New Roman"/>
                <a:ea typeface="Times New Roman"/>
                <a:cs typeface="Times New Roman"/>
                <a:sym typeface="Times New Roman"/>
              </a:rPr>
              <a:t>Example</a:t>
            </a:r>
            <a:br>
              <a:rPr lang="en-GB" dirty="0" smtClean="0">
                <a:solidFill>
                  <a:srgbClr val="023182"/>
                </a:solidFill>
                <a:latin typeface="Times New Roman"/>
                <a:ea typeface="Times New Roman"/>
                <a:cs typeface="Times New Roman"/>
                <a:sym typeface="Times New Roman"/>
              </a:rPr>
            </a:br>
            <a:r>
              <a:rPr lang="en-GB" dirty="0" smtClean="0">
                <a:solidFill>
                  <a:srgbClr val="023182"/>
                </a:solidFill>
                <a:latin typeface="Times New Roman"/>
                <a:ea typeface="Times New Roman"/>
                <a:cs typeface="Times New Roman"/>
                <a:sym typeface="Times New Roman"/>
              </a:rPr>
              <a:t>Inside main, call </a:t>
            </a:r>
            <a:r>
              <a:rPr lang="en-GB" dirty="0" err="1" smtClean="0">
                <a:solidFill>
                  <a:srgbClr val="023182"/>
                </a:solidFill>
                <a:latin typeface="Times New Roman"/>
                <a:ea typeface="Times New Roman"/>
                <a:cs typeface="Times New Roman"/>
                <a:sym typeface="Times New Roman"/>
              </a:rPr>
              <a:t>myFunction</a:t>
            </a:r>
            <a:r>
              <a:rPr lang="en-GB" dirty="0" smtClean="0">
                <a:solidFill>
                  <a:srgbClr val="023182"/>
                </a:solidFill>
                <a:latin typeface="Times New Roman"/>
                <a:ea typeface="Times New Roman"/>
                <a:cs typeface="Times New Roman"/>
                <a:sym typeface="Times New Roman"/>
              </a:rPr>
              <a:t>():</a:t>
            </a:r>
            <a:r>
              <a:rPr lang="en-GB" b="1" dirty="0"/>
              <a:t/>
            </a:r>
            <a:br>
              <a:rPr lang="en-GB" b="1" dirty="0"/>
            </a:br>
            <a:endParaRPr lang="en-GB" b="1" dirty="0"/>
          </a:p>
        </p:txBody>
      </p:sp>
      <p:sp>
        <p:nvSpPr>
          <p:cNvPr id="4" name="Rectangle 3"/>
          <p:cNvSpPr/>
          <p:nvPr/>
        </p:nvSpPr>
        <p:spPr>
          <a:xfrm>
            <a:off x="1062445" y="2042220"/>
            <a:ext cx="7127966" cy="4154984"/>
          </a:xfrm>
          <a:prstGeom prst="rect">
            <a:avLst/>
          </a:prstGeom>
        </p:spPr>
        <p:txBody>
          <a:bodyPr wrap="square">
            <a:spAutoFit/>
          </a:bodyPr>
          <a:lstStyle/>
          <a:p>
            <a:r>
              <a:rPr lang="en-GB" sz="2400" dirty="0">
                <a:solidFill>
                  <a:srgbClr val="008000"/>
                </a:solidFill>
                <a:latin typeface="Times New Roman" panose="02020603050405020304" pitchFamily="18" charset="0"/>
                <a:cs typeface="Times New Roman" panose="02020603050405020304" pitchFamily="18" charset="0"/>
              </a:rPr>
              <a:t>// Create a function</a:t>
            </a:r>
            <a:br>
              <a:rPr lang="en-GB" sz="2400" dirty="0">
                <a:solidFill>
                  <a:srgbClr val="008000"/>
                </a:solidFill>
                <a:latin typeface="Times New Roman" panose="02020603050405020304" pitchFamily="18" charset="0"/>
                <a:cs typeface="Times New Roman" panose="02020603050405020304" pitchFamily="18" charset="0"/>
              </a:rPr>
            </a:br>
            <a:r>
              <a:rPr lang="en-GB" sz="2400" dirty="0">
                <a:solidFill>
                  <a:srgbClr val="0000CD"/>
                </a:solidFill>
                <a:latin typeface="Times New Roman" panose="02020603050405020304" pitchFamily="18" charset="0"/>
                <a:cs typeface="Times New Roman" panose="02020603050405020304" pitchFamily="18" charset="0"/>
              </a:rPr>
              <a:t>void</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myFunction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printf</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solidFill>
                  <a:srgbClr val="A52A2A"/>
                </a:solidFill>
                <a:latin typeface="Times New Roman" panose="02020603050405020304" pitchFamily="18" charset="0"/>
                <a:cs typeface="Times New Roman" panose="02020603050405020304" pitchFamily="18" charset="0"/>
              </a:rPr>
              <a:t>"I just got executed!"</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err="1">
                <a:solidFill>
                  <a:srgbClr val="0000CD"/>
                </a:solidFill>
                <a:latin typeface="Times New Roman" panose="02020603050405020304" pitchFamily="18" charset="0"/>
                <a:cs typeface="Times New Roman" panose="02020603050405020304" pitchFamily="18" charset="0"/>
              </a:rPr>
              <a:t>int</a:t>
            </a:r>
            <a:r>
              <a:rPr lang="en-GB" sz="2400" dirty="0">
                <a:solidFill>
                  <a:srgbClr val="000000"/>
                </a:solidFill>
                <a:latin typeface="Times New Roman" panose="02020603050405020304" pitchFamily="18" charset="0"/>
                <a:cs typeface="Times New Roman" panose="02020603050405020304" pitchFamily="18" charset="0"/>
              </a:rPr>
              <a:t> main()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b="1" dirty="0" err="1">
                <a:solidFill>
                  <a:srgbClr val="000000"/>
                </a:solidFill>
                <a:latin typeface="Times New Roman" panose="02020603050405020304" pitchFamily="18" charset="0"/>
                <a:cs typeface="Times New Roman" panose="02020603050405020304" pitchFamily="18" charset="0"/>
              </a:rPr>
              <a:t>myFunction</a:t>
            </a:r>
            <a:r>
              <a:rPr lang="en-GB" sz="2400" b="1" dirty="0">
                <a:solidFill>
                  <a:srgbClr val="000000"/>
                </a:solidFill>
                <a:latin typeface="Times New Roman" panose="02020603050405020304" pitchFamily="18" charset="0"/>
                <a:cs typeface="Times New Roman" panose="02020603050405020304" pitchFamily="18" charset="0"/>
              </a:rPr>
              <a:t>();</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008000"/>
                </a:solidFill>
                <a:latin typeface="Times New Roman" panose="02020603050405020304" pitchFamily="18" charset="0"/>
                <a:cs typeface="Times New Roman" panose="02020603050405020304" pitchFamily="18" charset="0"/>
              </a:rPr>
              <a:t>// call the function</a:t>
            </a:r>
            <a:br>
              <a:rPr lang="en-GB" sz="2400" dirty="0">
                <a:solidFill>
                  <a:srgbClr val="008000"/>
                </a:solidFill>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0000CD"/>
                </a:solidFill>
                <a:latin typeface="Times New Roman" panose="02020603050405020304" pitchFamily="18" charset="0"/>
                <a:cs typeface="Times New Roman" panose="02020603050405020304" pitchFamily="18" charset="0"/>
              </a:rPr>
              <a:t>return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FF0000"/>
                </a:solidFill>
                <a:latin typeface="Times New Roman" panose="02020603050405020304" pitchFamily="18" charset="0"/>
                <a:cs typeface="Times New Roman" panose="02020603050405020304" pitchFamily="18" charset="0"/>
              </a:rPr>
              <a:t>0</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8000"/>
                </a:solidFill>
                <a:latin typeface="Times New Roman" panose="02020603050405020304" pitchFamily="18" charset="0"/>
                <a:cs typeface="Times New Roman" panose="02020603050405020304" pitchFamily="18" charset="0"/>
              </a:rPr>
              <a:t>// Outputs "I just got executed!"</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2564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normAutofit/>
          </a:bodyPr>
          <a:lstStyle/>
          <a:p>
            <a:r>
              <a:rPr lang="en-GB" dirty="0" smtClean="0">
                <a:solidFill>
                  <a:srgbClr val="023182"/>
                </a:solidFill>
                <a:latin typeface="Times New Roman"/>
                <a:ea typeface="Times New Roman"/>
                <a:cs typeface="Times New Roman"/>
                <a:sym typeface="Times New Roman"/>
              </a:rPr>
              <a:t>A function can be called multiple times:</a:t>
            </a:r>
            <a:endParaRPr lang="en-GB" b="1" dirty="0"/>
          </a:p>
        </p:txBody>
      </p:sp>
      <p:sp>
        <p:nvSpPr>
          <p:cNvPr id="4" name="Rectangle 3"/>
          <p:cNvSpPr/>
          <p:nvPr/>
        </p:nvSpPr>
        <p:spPr>
          <a:xfrm>
            <a:off x="948318" y="1227911"/>
            <a:ext cx="1643399" cy="584775"/>
          </a:xfrm>
          <a:prstGeom prst="rect">
            <a:avLst/>
          </a:prstGeom>
        </p:spPr>
        <p:txBody>
          <a:bodyPr wrap="none">
            <a:spAutoFit/>
          </a:bodyPr>
          <a:lstStyle/>
          <a:p>
            <a:r>
              <a:rPr lang="en-GB" sz="3200" dirty="0">
                <a:latin typeface="Times New Roman" panose="02020603050405020304" pitchFamily="18" charset="0"/>
                <a:cs typeface="Times New Roman" panose="02020603050405020304" pitchFamily="18" charset="0"/>
              </a:rPr>
              <a:t>Example</a:t>
            </a:r>
          </a:p>
        </p:txBody>
      </p:sp>
      <p:sp>
        <p:nvSpPr>
          <p:cNvPr id="5" name="Rectangle 4"/>
          <p:cNvSpPr/>
          <p:nvPr/>
        </p:nvSpPr>
        <p:spPr>
          <a:xfrm>
            <a:off x="838200" y="1966356"/>
            <a:ext cx="6096000" cy="3970318"/>
          </a:xfrm>
          <a:prstGeom prst="rect">
            <a:avLst/>
          </a:prstGeom>
        </p:spPr>
        <p:txBody>
          <a:bodyPr>
            <a:spAutoFit/>
          </a:bodyPr>
          <a:lstStyle/>
          <a:p>
            <a:r>
              <a:rPr lang="en-GB" dirty="0">
                <a:solidFill>
                  <a:srgbClr val="0000CD"/>
                </a:solidFill>
                <a:latin typeface="Times New Roman" panose="02020603050405020304" pitchFamily="18" charset="0"/>
                <a:cs typeface="Times New Roman" panose="02020603050405020304" pitchFamily="18" charset="0"/>
              </a:rPr>
              <a:t>void</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"I just got executed!"</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b="1" dirty="0" err="1">
                <a:solidFill>
                  <a:srgbClr val="000000"/>
                </a:solidFill>
                <a:latin typeface="Times New Roman" panose="02020603050405020304" pitchFamily="18" charset="0"/>
                <a:cs typeface="Times New Roman" panose="02020603050405020304" pitchFamily="18" charset="0"/>
              </a:rPr>
              <a:t>myFunction</a:t>
            </a:r>
            <a:r>
              <a:rPr lang="en-GB" b="1"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b="1" dirty="0" err="1">
                <a:solidFill>
                  <a:srgbClr val="000000"/>
                </a:solidFill>
                <a:latin typeface="Times New Roman" panose="02020603050405020304" pitchFamily="18" charset="0"/>
                <a:cs typeface="Times New Roman" panose="02020603050405020304" pitchFamily="18" charset="0"/>
              </a:rPr>
              <a:t>myFunction</a:t>
            </a:r>
            <a:r>
              <a:rPr lang="en-GB" b="1"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b="1" dirty="0" err="1">
                <a:solidFill>
                  <a:srgbClr val="000000"/>
                </a:solidFill>
                <a:latin typeface="Times New Roman" panose="02020603050405020304" pitchFamily="18" charset="0"/>
                <a:cs typeface="Times New Roman" panose="02020603050405020304" pitchFamily="18" charset="0"/>
              </a:rPr>
              <a:t>myFunction</a:t>
            </a:r>
            <a:r>
              <a:rPr lang="en-GB" b="1"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8000"/>
                </a:solidFill>
                <a:latin typeface="Times New Roman" panose="02020603050405020304" pitchFamily="18" charset="0"/>
                <a:cs typeface="Times New Roman" panose="02020603050405020304" pitchFamily="18" charset="0"/>
              </a:rPr>
              <a:t>// I just got executed!</a:t>
            </a:r>
            <a:br>
              <a:rPr lang="en-GB" dirty="0">
                <a:solidFill>
                  <a:srgbClr val="008000"/>
                </a:solidFill>
                <a:latin typeface="Times New Roman" panose="02020603050405020304" pitchFamily="18" charset="0"/>
                <a:cs typeface="Times New Roman" panose="02020603050405020304" pitchFamily="18" charset="0"/>
              </a:rPr>
            </a:br>
            <a:r>
              <a:rPr lang="en-GB" dirty="0">
                <a:solidFill>
                  <a:srgbClr val="008000"/>
                </a:solidFill>
                <a:latin typeface="Times New Roman" panose="02020603050405020304" pitchFamily="18" charset="0"/>
                <a:cs typeface="Times New Roman" panose="02020603050405020304" pitchFamily="18" charset="0"/>
              </a:rPr>
              <a:t>// I just got executed!</a:t>
            </a:r>
            <a:br>
              <a:rPr lang="en-GB" dirty="0">
                <a:solidFill>
                  <a:srgbClr val="008000"/>
                </a:solidFill>
                <a:latin typeface="Times New Roman" panose="02020603050405020304" pitchFamily="18" charset="0"/>
                <a:cs typeface="Times New Roman" panose="02020603050405020304" pitchFamily="18" charset="0"/>
              </a:rPr>
            </a:br>
            <a:r>
              <a:rPr lang="en-GB" dirty="0">
                <a:solidFill>
                  <a:srgbClr val="008000"/>
                </a:solidFill>
                <a:latin typeface="Times New Roman" panose="02020603050405020304" pitchFamily="18" charset="0"/>
                <a:cs typeface="Times New Roman" panose="02020603050405020304" pitchFamily="18" charset="0"/>
              </a:rPr>
              <a:t>// I just got executed!</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74381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solidFill>
                  <a:srgbClr val="023182"/>
                </a:solidFill>
                <a:latin typeface="Times New Roman"/>
                <a:ea typeface="Times New Roman"/>
                <a:cs typeface="Times New Roman"/>
                <a:sym typeface="Times New Roman"/>
              </a:rPr>
              <a:t>Calculate the Sum of Numbers</a:t>
            </a:r>
            <a:r>
              <a:rPr lang="en-GB" b="1" dirty="0"/>
              <a:t/>
            </a:r>
            <a:br>
              <a:rPr lang="en-GB" b="1" dirty="0"/>
            </a:br>
            <a:endParaRPr lang="en-GB" b="1" dirty="0"/>
          </a:p>
        </p:txBody>
      </p:sp>
      <p:sp>
        <p:nvSpPr>
          <p:cNvPr id="3" name="Content Placeholder 2"/>
          <p:cNvSpPr>
            <a:spLocks noGrp="1"/>
          </p:cNvSpPr>
          <p:nvPr>
            <p:ph idx="1"/>
          </p:nvPr>
        </p:nvSpPr>
        <p:spPr>
          <a:xfrm>
            <a:off x="838200" y="1825625"/>
            <a:ext cx="10839994" cy="4351338"/>
          </a:xfrm>
        </p:spPr>
        <p:txBody>
          <a:bodyPr>
            <a:normAutofit lnSpcReduction="10000"/>
          </a:bodyPr>
          <a:lstStyle/>
          <a:p>
            <a:pPr algn="just">
              <a:lnSpc>
                <a:spcPct val="200000"/>
              </a:lnSpc>
            </a:pPr>
            <a:r>
              <a:rPr lang="en-GB" dirty="0">
                <a:latin typeface="Times New Roman" panose="02020603050405020304" pitchFamily="18" charset="0"/>
                <a:cs typeface="Times New Roman" panose="02020603050405020304" pitchFamily="18" charset="0"/>
              </a:rPr>
              <a:t>You can put almost whatever you want inside a function. The purpose of the function is to save the code, and execute it when you need it.</a:t>
            </a:r>
          </a:p>
          <a:p>
            <a:pPr algn="just">
              <a:lnSpc>
                <a:spcPct val="200000"/>
              </a:lnSpc>
            </a:pPr>
            <a:r>
              <a:rPr lang="en-GB" dirty="0" smtClean="0">
                <a:latin typeface="Times New Roman" panose="02020603050405020304" pitchFamily="18" charset="0"/>
                <a:cs typeface="Times New Roman" panose="02020603050405020304" pitchFamily="18" charset="0"/>
              </a:rPr>
              <a:t>Like </a:t>
            </a:r>
            <a:r>
              <a:rPr lang="en-GB" dirty="0">
                <a:latin typeface="Times New Roman" panose="02020603050405020304" pitchFamily="18" charset="0"/>
                <a:cs typeface="Times New Roman" panose="02020603050405020304" pitchFamily="18" charset="0"/>
              </a:rPr>
              <a:t>in the example below, we have created a function to calculate the sum of two numbers. Whenever you are ready to execute the function (and perform the calculation), you just call it:</a:t>
            </a:r>
          </a:p>
        </p:txBody>
      </p:sp>
    </p:spTree>
    <p:extLst>
      <p:ext uri="{BB962C8B-B14F-4D97-AF65-F5344CB8AC3E}">
        <p14:creationId xmlns:p14="http://schemas.microsoft.com/office/powerpoint/2010/main" val="26304896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994" y="121286"/>
            <a:ext cx="10515600" cy="875846"/>
          </a:xfrm>
        </p:spPr>
        <p:txBody>
          <a:bodyPr>
            <a:normAutofit fontScale="90000"/>
          </a:bodyPr>
          <a:lstStyle/>
          <a:p>
            <a:r>
              <a:rPr lang="en-GB" dirty="0" smtClean="0"/>
              <a:t/>
            </a:r>
            <a:br>
              <a:rPr lang="en-GB" dirty="0" smtClean="0"/>
            </a:br>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dirty="0"/>
              <a:t/>
            </a:r>
            <a:br>
              <a:rPr lang="en-GB" dirty="0"/>
            </a:br>
            <a:endParaRPr lang="en-GB" dirty="0"/>
          </a:p>
        </p:txBody>
      </p:sp>
      <p:sp>
        <p:nvSpPr>
          <p:cNvPr id="4" name="Rectangle 3"/>
          <p:cNvSpPr/>
          <p:nvPr/>
        </p:nvSpPr>
        <p:spPr>
          <a:xfrm>
            <a:off x="838199" y="1240972"/>
            <a:ext cx="7783287" cy="4524315"/>
          </a:xfrm>
          <a:prstGeom prst="rect">
            <a:avLst/>
          </a:prstGeom>
        </p:spPr>
        <p:txBody>
          <a:bodyPr wrap="square">
            <a:spAutoFit/>
          </a:bodyPr>
          <a:lstStyle/>
          <a:p>
            <a:r>
              <a:rPr lang="en-GB" sz="2400" dirty="0">
                <a:solidFill>
                  <a:srgbClr val="0000CD"/>
                </a:solidFill>
                <a:latin typeface="Times New Roman" panose="02020603050405020304" pitchFamily="18" charset="0"/>
                <a:cs typeface="Times New Roman" panose="02020603050405020304" pitchFamily="18" charset="0"/>
              </a:rPr>
              <a:t>void</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calculateSum</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CD"/>
                </a:solidFill>
                <a:latin typeface="Times New Roman" panose="02020603050405020304" pitchFamily="18" charset="0"/>
                <a:cs typeface="Times New Roman" panose="02020603050405020304" pitchFamily="18" charset="0"/>
              </a:rPr>
              <a:t>int</a:t>
            </a:r>
            <a:r>
              <a:rPr lang="en-GB" sz="2400" dirty="0">
                <a:solidFill>
                  <a:srgbClr val="000000"/>
                </a:solidFill>
                <a:latin typeface="Times New Roman" panose="02020603050405020304" pitchFamily="18" charset="0"/>
                <a:cs typeface="Times New Roman" panose="02020603050405020304" pitchFamily="18" charset="0"/>
              </a:rPr>
              <a:t> x = </a:t>
            </a:r>
            <a:r>
              <a:rPr lang="en-GB" sz="2400" dirty="0">
                <a:solidFill>
                  <a:srgbClr val="FF0000"/>
                </a:solidFill>
                <a:latin typeface="Times New Roman" panose="02020603050405020304" pitchFamily="18" charset="0"/>
                <a:cs typeface="Times New Roman" panose="02020603050405020304" pitchFamily="18" charset="0"/>
              </a:rPr>
              <a:t>5</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CD"/>
                </a:solidFill>
                <a:latin typeface="Times New Roman" panose="02020603050405020304" pitchFamily="18" charset="0"/>
                <a:cs typeface="Times New Roman" panose="02020603050405020304" pitchFamily="18" charset="0"/>
              </a:rPr>
              <a:t>int</a:t>
            </a:r>
            <a:r>
              <a:rPr lang="en-GB" sz="2400" dirty="0">
                <a:solidFill>
                  <a:srgbClr val="000000"/>
                </a:solidFill>
                <a:latin typeface="Times New Roman" panose="02020603050405020304" pitchFamily="18" charset="0"/>
                <a:cs typeface="Times New Roman" panose="02020603050405020304" pitchFamily="18" charset="0"/>
              </a:rPr>
              <a:t> y = </a:t>
            </a:r>
            <a:r>
              <a:rPr lang="en-GB" sz="2400" dirty="0">
                <a:solidFill>
                  <a:srgbClr val="FF0000"/>
                </a:solidFill>
                <a:latin typeface="Times New Roman" panose="02020603050405020304" pitchFamily="18" charset="0"/>
                <a:cs typeface="Times New Roman" panose="02020603050405020304" pitchFamily="18" charset="0"/>
              </a:rPr>
              <a:t>10</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CD"/>
                </a:solidFill>
                <a:latin typeface="Times New Roman" panose="02020603050405020304" pitchFamily="18" charset="0"/>
                <a:cs typeface="Times New Roman" panose="02020603050405020304" pitchFamily="18" charset="0"/>
              </a:rPr>
              <a:t>int</a:t>
            </a:r>
            <a:r>
              <a:rPr lang="en-GB" sz="2400" dirty="0">
                <a:solidFill>
                  <a:srgbClr val="000000"/>
                </a:solidFill>
                <a:latin typeface="Times New Roman" panose="02020603050405020304" pitchFamily="18" charset="0"/>
                <a:cs typeface="Times New Roman" panose="02020603050405020304" pitchFamily="18" charset="0"/>
              </a:rPr>
              <a:t> sum = x + y;</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printf</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solidFill>
                  <a:srgbClr val="A52A2A"/>
                </a:solidFill>
                <a:latin typeface="Times New Roman" panose="02020603050405020304" pitchFamily="18" charset="0"/>
                <a:cs typeface="Times New Roman" panose="02020603050405020304" pitchFamily="18" charset="0"/>
              </a:rPr>
              <a:t>"The sum of x + y is: %d"</a:t>
            </a:r>
            <a:r>
              <a:rPr lang="en-GB" sz="2400" dirty="0">
                <a:solidFill>
                  <a:srgbClr val="000000"/>
                </a:solidFill>
                <a:latin typeface="Times New Roman" panose="02020603050405020304" pitchFamily="18" charset="0"/>
                <a:cs typeface="Times New Roman" panose="02020603050405020304" pitchFamily="18" charset="0"/>
              </a:rPr>
              <a:t>, sum</a:t>
            </a:r>
            <a:r>
              <a:rPr lang="en-GB" sz="2400" dirty="0" smtClean="0">
                <a:solidFill>
                  <a:srgbClr val="00000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err="1">
                <a:solidFill>
                  <a:srgbClr val="0000CD"/>
                </a:solidFill>
                <a:latin typeface="Times New Roman" panose="02020603050405020304" pitchFamily="18" charset="0"/>
                <a:cs typeface="Times New Roman" panose="02020603050405020304" pitchFamily="18" charset="0"/>
              </a:rPr>
              <a:t>int</a:t>
            </a:r>
            <a:r>
              <a:rPr lang="en-GB" sz="2400" dirty="0">
                <a:solidFill>
                  <a:srgbClr val="000000"/>
                </a:solidFill>
                <a:latin typeface="Times New Roman" panose="02020603050405020304" pitchFamily="18" charset="0"/>
                <a:cs typeface="Times New Roman" panose="02020603050405020304" pitchFamily="18" charset="0"/>
              </a:rPr>
              <a:t> main()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calculateSum</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008000"/>
                </a:solidFill>
                <a:latin typeface="Times New Roman" panose="02020603050405020304" pitchFamily="18" charset="0"/>
                <a:cs typeface="Times New Roman" panose="02020603050405020304" pitchFamily="18" charset="0"/>
              </a:rPr>
              <a:t>// call the function</a:t>
            </a:r>
            <a:br>
              <a:rPr lang="en-GB" sz="2400" dirty="0">
                <a:solidFill>
                  <a:srgbClr val="008000"/>
                </a:solidFill>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0000CD"/>
                </a:solidFill>
                <a:latin typeface="Times New Roman" panose="02020603050405020304" pitchFamily="18" charset="0"/>
                <a:cs typeface="Times New Roman" panose="02020603050405020304" pitchFamily="18" charset="0"/>
              </a:rPr>
              <a:t>return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FF0000"/>
                </a:solidFill>
                <a:latin typeface="Times New Roman" panose="02020603050405020304" pitchFamily="18" charset="0"/>
                <a:cs typeface="Times New Roman" panose="02020603050405020304" pitchFamily="18" charset="0"/>
              </a:rPr>
              <a:t>0</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8000"/>
                </a:solidFill>
                <a:latin typeface="Times New Roman" panose="02020603050405020304" pitchFamily="18" charset="0"/>
                <a:cs typeface="Times New Roman" panose="02020603050405020304" pitchFamily="18" charset="0"/>
              </a:rPr>
              <a:t>// Outputs The sum of x + y is: 15</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68460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C Function Parameters</a:t>
            </a:r>
            <a:r>
              <a:rPr lang="en-GB" dirty="0"/>
              <a:t/>
            </a:r>
            <a:br>
              <a:rPr lang="en-GB" dirty="0"/>
            </a:br>
            <a:endParaRPr lang="en-GB" dirty="0"/>
          </a:p>
        </p:txBody>
      </p:sp>
      <p:sp>
        <p:nvSpPr>
          <p:cNvPr id="3" name="Content Placeholder 2"/>
          <p:cNvSpPr>
            <a:spLocks noGrp="1"/>
          </p:cNvSpPr>
          <p:nvPr>
            <p:ph idx="1"/>
          </p:nvPr>
        </p:nvSpPr>
        <p:spPr>
          <a:xfrm>
            <a:off x="838200" y="1825625"/>
            <a:ext cx="10515600" cy="4705804"/>
          </a:xfrm>
        </p:spPr>
        <p:txBody>
          <a:bodyPr/>
          <a:lstStyle/>
          <a:p>
            <a:r>
              <a:rPr lang="en-GB" b="1" dirty="0">
                <a:latin typeface="Times New Roman" panose="02020603050405020304" pitchFamily="18" charset="0"/>
                <a:cs typeface="Times New Roman" panose="02020603050405020304" pitchFamily="18" charset="0"/>
              </a:rPr>
              <a:t>Parameters and Arguments</a:t>
            </a:r>
          </a:p>
          <a:p>
            <a:pPr algn="just">
              <a:lnSpc>
                <a:spcPct val="150000"/>
              </a:lnSpc>
            </a:pPr>
            <a:r>
              <a:rPr lang="en-GB" dirty="0">
                <a:latin typeface="Times New Roman" panose="02020603050405020304" pitchFamily="18" charset="0"/>
                <a:cs typeface="Times New Roman" panose="02020603050405020304" pitchFamily="18" charset="0"/>
              </a:rPr>
              <a:t>Information can be passed to functions as a parameter. Parameters act as variables inside the function.</a:t>
            </a:r>
          </a:p>
          <a:p>
            <a:pPr algn="just">
              <a:lnSpc>
                <a:spcPct val="150000"/>
              </a:lnSpc>
            </a:pPr>
            <a:r>
              <a:rPr lang="en-GB" dirty="0">
                <a:latin typeface="Times New Roman" panose="02020603050405020304" pitchFamily="18" charset="0"/>
                <a:cs typeface="Times New Roman" panose="02020603050405020304" pitchFamily="18" charset="0"/>
              </a:rPr>
              <a:t>Parameters are specified after the function name, inside the parentheses. You can add as many parameters as you want, just separate them with a comma:</a:t>
            </a:r>
          </a:p>
          <a:p>
            <a:endParaRPr lang="en-GB" dirty="0"/>
          </a:p>
        </p:txBody>
      </p:sp>
    </p:spTree>
    <p:extLst>
      <p:ext uri="{BB962C8B-B14F-4D97-AF65-F5344CB8AC3E}">
        <p14:creationId xmlns:p14="http://schemas.microsoft.com/office/powerpoint/2010/main" val="8663470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ea typeface="Times New Roman"/>
                <a:cs typeface="Times New Roman"/>
                <a:sym typeface="Times New Roman"/>
              </a:rPr>
              <a:t>Syntax</a:t>
            </a:r>
            <a:r>
              <a:rPr lang="en-GB" b="1" dirty="0"/>
              <a:t/>
            </a:r>
            <a:br>
              <a:rPr lang="en-GB" b="1" dirty="0"/>
            </a:br>
            <a:endParaRPr lang="en-GB" b="1" dirty="0"/>
          </a:p>
        </p:txBody>
      </p:sp>
      <p:sp>
        <p:nvSpPr>
          <p:cNvPr id="3" name="Content Placeholder 2"/>
          <p:cNvSpPr>
            <a:spLocks noGrp="1"/>
          </p:cNvSpPr>
          <p:nvPr>
            <p:ph idx="1"/>
          </p:nvPr>
        </p:nvSpPr>
        <p:spPr/>
        <p:txBody>
          <a:bodyPr/>
          <a:lstStyle/>
          <a:p>
            <a:pPr>
              <a:lnSpc>
                <a:spcPct val="150000"/>
              </a:lnSpc>
            </a:pPr>
            <a:r>
              <a:rPr lang="en-GB" i="1" dirty="0" err="1">
                <a:solidFill>
                  <a:srgbClr val="000000"/>
                </a:solidFill>
                <a:latin typeface="Times New Roman" panose="02020603050405020304" pitchFamily="18" charset="0"/>
                <a:cs typeface="Times New Roman" panose="02020603050405020304" pitchFamily="18" charset="0"/>
              </a:rPr>
              <a:t>returnType</a:t>
            </a:r>
            <a:r>
              <a:rPr lang="en-GB" dirty="0">
                <a:solidFill>
                  <a:srgbClr val="000000"/>
                </a:solidFill>
                <a:latin typeface="Times New Roman" panose="02020603050405020304" pitchFamily="18" charset="0"/>
                <a:cs typeface="Times New Roman" panose="02020603050405020304" pitchFamily="18" charset="0"/>
              </a:rPr>
              <a:t> </a:t>
            </a:r>
            <a:r>
              <a:rPr lang="en-GB" i="1" dirty="0" err="1">
                <a:solidFill>
                  <a:srgbClr val="000000"/>
                </a:solidFill>
                <a:latin typeface="Times New Roman" panose="02020603050405020304" pitchFamily="18" charset="0"/>
                <a:cs typeface="Times New Roman" panose="02020603050405020304" pitchFamily="18" charset="0"/>
              </a:rPr>
              <a:t>functionName</a:t>
            </a:r>
            <a:r>
              <a:rPr lang="en-GB" dirty="0">
                <a:solidFill>
                  <a:srgbClr val="000000"/>
                </a:solidFill>
                <a:latin typeface="Times New Roman" panose="02020603050405020304" pitchFamily="18" charset="0"/>
                <a:cs typeface="Times New Roman" panose="02020603050405020304" pitchFamily="18" charset="0"/>
              </a:rPr>
              <a:t>(</a:t>
            </a:r>
            <a:r>
              <a:rPr lang="en-GB" i="1" dirty="0">
                <a:solidFill>
                  <a:srgbClr val="000000"/>
                </a:solidFill>
                <a:latin typeface="Times New Roman" panose="02020603050405020304" pitchFamily="18" charset="0"/>
                <a:cs typeface="Times New Roman" panose="02020603050405020304" pitchFamily="18" charset="0"/>
              </a:rPr>
              <a:t>parameter1</a:t>
            </a:r>
            <a:r>
              <a:rPr lang="en-GB" dirty="0">
                <a:solidFill>
                  <a:srgbClr val="000000"/>
                </a:solidFill>
                <a:latin typeface="Times New Roman" panose="02020603050405020304" pitchFamily="18" charset="0"/>
                <a:cs typeface="Times New Roman" panose="02020603050405020304" pitchFamily="18" charset="0"/>
              </a:rPr>
              <a:t>, </a:t>
            </a:r>
            <a:r>
              <a:rPr lang="en-GB" i="1" dirty="0">
                <a:solidFill>
                  <a:srgbClr val="000000"/>
                </a:solidFill>
                <a:latin typeface="Times New Roman" panose="02020603050405020304" pitchFamily="18" charset="0"/>
                <a:cs typeface="Times New Roman" panose="02020603050405020304" pitchFamily="18" charset="0"/>
              </a:rPr>
              <a:t>parameter2</a:t>
            </a:r>
            <a:r>
              <a:rPr lang="en-GB" dirty="0">
                <a:solidFill>
                  <a:srgbClr val="000000"/>
                </a:solidFill>
                <a:latin typeface="Times New Roman" panose="02020603050405020304" pitchFamily="18" charset="0"/>
                <a:cs typeface="Times New Roman" panose="02020603050405020304" pitchFamily="18" charset="0"/>
              </a:rPr>
              <a:t>, </a:t>
            </a:r>
            <a:r>
              <a:rPr lang="en-GB" i="1" dirty="0">
                <a:solidFill>
                  <a:srgbClr val="000000"/>
                </a:solidFill>
                <a:latin typeface="Times New Roman" panose="02020603050405020304" pitchFamily="18" charset="0"/>
                <a:cs typeface="Times New Roman" panose="02020603050405020304" pitchFamily="18" charset="0"/>
              </a:rPr>
              <a:t>parameter3</a:t>
            </a:r>
            <a:r>
              <a:rPr lang="en-GB" dirty="0">
                <a:solidFill>
                  <a:srgbClr val="000000"/>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8000"/>
                </a:solidFill>
                <a:latin typeface="Times New Roman" panose="02020603050405020304" pitchFamily="18" charset="0"/>
                <a:cs typeface="Times New Roman" panose="02020603050405020304" pitchFamily="18" charset="0"/>
              </a:rPr>
              <a:t>// code to be executed</a:t>
            </a:r>
            <a:br>
              <a:rPr lang="en-GB" dirty="0">
                <a:solidFill>
                  <a:srgbClr val="008000"/>
                </a:solidFill>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35118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lnSpc>
                <a:spcPct val="150000"/>
              </a:lnSpc>
            </a:pPr>
            <a:r>
              <a:rPr lang="en-GB" dirty="0" smtClean="0">
                <a:latin typeface="Times New Roman" panose="02020603050405020304" pitchFamily="18" charset="0"/>
                <a:cs typeface="Times New Roman" panose="02020603050405020304" pitchFamily="18" charset="0"/>
              </a:rPr>
              <a:t>In </a:t>
            </a:r>
            <a:r>
              <a:rPr lang="en-GB" dirty="0">
                <a:latin typeface="Times New Roman" panose="02020603050405020304" pitchFamily="18" charset="0"/>
                <a:cs typeface="Times New Roman" panose="02020603050405020304" pitchFamily="18" charset="0"/>
              </a:rPr>
              <a:t>the example below, the function takes a string </a:t>
            </a:r>
            <a:r>
              <a:rPr lang="en-GB" dirty="0" smtClean="0">
                <a:latin typeface="Times New Roman" panose="02020603050405020304" pitchFamily="18" charset="0"/>
                <a:cs typeface="Times New Roman" panose="02020603050405020304" pitchFamily="18" charset="0"/>
              </a:rPr>
              <a:t>of  characters</a:t>
            </a:r>
            <a:r>
              <a:rPr lang="en-GB" dirty="0">
                <a:latin typeface="Times New Roman" panose="02020603050405020304" pitchFamily="18" charset="0"/>
                <a:cs typeface="Times New Roman" panose="02020603050405020304" pitchFamily="18" charset="0"/>
              </a:rPr>
              <a:t> with </a:t>
            </a:r>
            <a:r>
              <a:rPr lang="en-GB" b="1" dirty="0">
                <a:latin typeface="Times New Roman" panose="02020603050405020304" pitchFamily="18" charset="0"/>
                <a:cs typeface="Times New Roman" panose="02020603050405020304" pitchFamily="18" charset="0"/>
              </a:rPr>
              <a:t>name</a:t>
            </a:r>
            <a:r>
              <a:rPr lang="en-GB" dirty="0">
                <a:latin typeface="Times New Roman" panose="02020603050405020304" pitchFamily="18" charset="0"/>
                <a:cs typeface="Times New Roman" panose="02020603050405020304" pitchFamily="18" charset="0"/>
              </a:rPr>
              <a:t> as parameter. When the function is called, we pass along a name, which is used inside the function to print "Hello" and the name of each person:</a:t>
            </a:r>
          </a:p>
        </p:txBody>
      </p:sp>
    </p:spTree>
    <p:extLst>
      <p:ext uri="{BB962C8B-B14F-4D97-AF65-F5344CB8AC3E}">
        <p14:creationId xmlns:p14="http://schemas.microsoft.com/office/powerpoint/2010/main" val="28567217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8098"/>
          </a:xfrm>
        </p:spPr>
        <p:txBody>
          <a:bodyPr>
            <a:normAutofit fontScale="90000"/>
          </a:bodyPr>
          <a:lstStyle/>
          <a:p>
            <a:r>
              <a:rPr lang="en-GB" dirty="0" smtClean="0">
                <a:solidFill>
                  <a:srgbClr val="023182"/>
                </a:solidFill>
                <a:latin typeface="Times New Roman"/>
                <a:ea typeface="Times New Roman"/>
                <a:cs typeface="Times New Roman"/>
                <a:sym typeface="Times New Roman"/>
              </a:rPr>
              <a:t>Example</a:t>
            </a:r>
            <a:r>
              <a:rPr lang="en-GB" dirty="0"/>
              <a:t/>
            </a:r>
            <a:br>
              <a:rPr lang="en-GB" dirty="0"/>
            </a:br>
            <a:endParaRPr lang="en-GB" dirty="0"/>
          </a:p>
        </p:txBody>
      </p:sp>
      <p:sp>
        <p:nvSpPr>
          <p:cNvPr id="4" name="Rectangle 3"/>
          <p:cNvSpPr/>
          <p:nvPr/>
        </p:nvSpPr>
        <p:spPr>
          <a:xfrm>
            <a:off x="683623" y="1293224"/>
            <a:ext cx="8055428" cy="4524315"/>
          </a:xfrm>
          <a:prstGeom prst="rect">
            <a:avLst/>
          </a:prstGeom>
        </p:spPr>
        <p:txBody>
          <a:bodyPr wrap="square">
            <a:spAutoFit/>
          </a:bodyPr>
          <a:lstStyle/>
          <a:p>
            <a:r>
              <a:rPr lang="en-GB" sz="2400" dirty="0">
                <a:solidFill>
                  <a:srgbClr val="0000CD"/>
                </a:solidFill>
                <a:latin typeface="Times New Roman" panose="02020603050405020304" pitchFamily="18" charset="0"/>
                <a:cs typeface="Times New Roman" panose="02020603050405020304" pitchFamily="18" charset="0"/>
              </a:rPr>
              <a:t>void</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myFunction</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solidFill>
                  <a:srgbClr val="0000CD"/>
                </a:solidFill>
                <a:latin typeface="Times New Roman" panose="02020603050405020304" pitchFamily="18" charset="0"/>
                <a:cs typeface="Times New Roman" panose="02020603050405020304" pitchFamily="18" charset="0"/>
              </a:rPr>
              <a:t>char</a:t>
            </a:r>
            <a:r>
              <a:rPr lang="en-GB" sz="2400" dirty="0">
                <a:solidFill>
                  <a:srgbClr val="000000"/>
                </a:solidFill>
                <a:latin typeface="Times New Roman" panose="02020603050405020304" pitchFamily="18" charset="0"/>
                <a:cs typeface="Times New Roman" panose="02020603050405020304" pitchFamily="18" charset="0"/>
              </a:rPr>
              <a:t> name[])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printf</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solidFill>
                  <a:srgbClr val="A52A2A"/>
                </a:solidFill>
                <a:latin typeface="Times New Roman" panose="02020603050405020304" pitchFamily="18" charset="0"/>
                <a:cs typeface="Times New Roman" panose="02020603050405020304" pitchFamily="18" charset="0"/>
              </a:rPr>
              <a:t>"Hello %s\n"</a:t>
            </a:r>
            <a:r>
              <a:rPr lang="en-GB" sz="2400" dirty="0">
                <a:solidFill>
                  <a:srgbClr val="000000"/>
                </a:solidFill>
                <a:latin typeface="Times New Roman" panose="02020603050405020304" pitchFamily="18" charset="0"/>
                <a:cs typeface="Times New Roman" panose="02020603050405020304" pitchFamily="18" charset="0"/>
              </a:rPr>
              <a:t>, name</a:t>
            </a:r>
            <a:r>
              <a:rPr lang="en-GB" sz="2400" dirty="0" smtClean="0">
                <a:solidFill>
                  <a:srgbClr val="00000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err="1">
                <a:solidFill>
                  <a:srgbClr val="0000CD"/>
                </a:solidFill>
                <a:latin typeface="Times New Roman" panose="02020603050405020304" pitchFamily="18" charset="0"/>
                <a:cs typeface="Times New Roman" panose="02020603050405020304" pitchFamily="18" charset="0"/>
              </a:rPr>
              <a:t>int</a:t>
            </a:r>
            <a:r>
              <a:rPr lang="en-GB" sz="2400" dirty="0">
                <a:solidFill>
                  <a:srgbClr val="000000"/>
                </a:solidFill>
                <a:latin typeface="Times New Roman" panose="02020603050405020304" pitchFamily="18" charset="0"/>
                <a:cs typeface="Times New Roman" panose="02020603050405020304" pitchFamily="18" charset="0"/>
              </a:rPr>
              <a:t> main()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myFunction</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solidFill>
                  <a:srgbClr val="A52A2A"/>
                </a:solidFill>
                <a:latin typeface="Times New Roman" panose="02020603050405020304" pitchFamily="18" charset="0"/>
                <a:cs typeface="Times New Roman" panose="02020603050405020304" pitchFamily="18" charset="0"/>
              </a:rPr>
              <a:t>"Liam"</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myFunction</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solidFill>
                  <a:srgbClr val="A52A2A"/>
                </a:solidFill>
                <a:latin typeface="Times New Roman" panose="02020603050405020304" pitchFamily="18" charset="0"/>
                <a:cs typeface="Times New Roman" panose="02020603050405020304" pitchFamily="18" charset="0"/>
              </a:rPr>
              <a:t>"Jenny"</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myFunction</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solidFill>
                  <a:srgbClr val="A52A2A"/>
                </a:solidFill>
                <a:latin typeface="Times New Roman" panose="02020603050405020304" pitchFamily="18" charset="0"/>
                <a:cs typeface="Times New Roman" panose="02020603050405020304" pitchFamily="18" charset="0"/>
              </a:rPr>
              <a:t>"</a:t>
            </a:r>
            <a:r>
              <a:rPr lang="en-GB" sz="2400" dirty="0" err="1">
                <a:solidFill>
                  <a:srgbClr val="A52A2A"/>
                </a:solidFill>
                <a:latin typeface="Times New Roman" panose="02020603050405020304" pitchFamily="18" charset="0"/>
                <a:cs typeface="Times New Roman" panose="02020603050405020304" pitchFamily="18" charset="0"/>
              </a:rPr>
              <a:t>Anja</a:t>
            </a:r>
            <a:r>
              <a:rPr lang="en-GB" sz="2400" dirty="0">
                <a:solidFill>
                  <a:srgbClr val="A52A2A"/>
                </a:solidFill>
                <a:latin typeface="Times New Roman" panose="02020603050405020304" pitchFamily="18" charset="0"/>
                <a:cs typeface="Times New Roman" panose="02020603050405020304" pitchFamily="18" charset="0"/>
              </a:rPr>
              <a:t>"</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0000CD"/>
                </a:solidFill>
                <a:latin typeface="Times New Roman" panose="02020603050405020304" pitchFamily="18" charset="0"/>
                <a:cs typeface="Times New Roman" panose="02020603050405020304" pitchFamily="18" charset="0"/>
              </a:rPr>
              <a:t>return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a:solidFill>
                  <a:srgbClr val="FF0000"/>
                </a:solidFill>
                <a:latin typeface="Times New Roman" panose="02020603050405020304" pitchFamily="18" charset="0"/>
                <a:cs typeface="Times New Roman" panose="02020603050405020304" pitchFamily="18" charset="0"/>
              </a:rPr>
              <a:t>0</a:t>
            </a: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smtClean="0">
                <a:solidFill>
                  <a:srgbClr val="008000"/>
                </a:solidFill>
                <a:latin typeface="Times New Roman" panose="02020603050405020304" pitchFamily="18" charset="0"/>
                <a:cs typeface="Times New Roman" panose="02020603050405020304" pitchFamily="18" charset="0"/>
              </a:rPr>
              <a:t>// </a:t>
            </a:r>
            <a:r>
              <a:rPr lang="en-GB" sz="2400" dirty="0">
                <a:solidFill>
                  <a:srgbClr val="008000"/>
                </a:solidFill>
                <a:latin typeface="Times New Roman" panose="02020603050405020304" pitchFamily="18" charset="0"/>
                <a:cs typeface="Times New Roman" panose="02020603050405020304" pitchFamily="18" charset="0"/>
              </a:rPr>
              <a:t>Hello Liam</a:t>
            </a:r>
            <a:br>
              <a:rPr lang="en-GB" sz="2400" dirty="0">
                <a:solidFill>
                  <a:srgbClr val="008000"/>
                </a:solidFill>
                <a:latin typeface="Times New Roman" panose="02020603050405020304" pitchFamily="18" charset="0"/>
                <a:cs typeface="Times New Roman" panose="02020603050405020304" pitchFamily="18" charset="0"/>
              </a:rPr>
            </a:br>
            <a:r>
              <a:rPr lang="en-GB" sz="2400" dirty="0">
                <a:solidFill>
                  <a:srgbClr val="008000"/>
                </a:solidFill>
                <a:latin typeface="Times New Roman" panose="02020603050405020304" pitchFamily="18" charset="0"/>
                <a:cs typeface="Times New Roman" panose="02020603050405020304" pitchFamily="18" charset="0"/>
              </a:rPr>
              <a:t>// Hello Jenny</a:t>
            </a:r>
            <a:br>
              <a:rPr lang="en-GB" sz="2400" dirty="0">
                <a:solidFill>
                  <a:srgbClr val="008000"/>
                </a:solidFill>
                <a:latin typeface="Times New Roman" panose="02020603050405020304" pitchFamily="18" charset="0"/>
                <a:cs typeface="Times New Roman" panose="02020603050405020304" pitchFamily="18" charset="0"/>
              </a:rPr>
            </a:br>
            <a:r>
              <a:rPr lang="en-GB" sz="2400" dirty="0">
                <a:solidFill>
                  <a:srgbClr val="008000"/>
                </a:solidFill>
                <a:latin typeface="Times New Roman" panose="02020603050405020304" pitchFamily="18" charset="0"/>
                <a:cs typeface="Times New Roman" panose="02020603050405020304" pitchFamily="18" charset="0"/>
              </a:rPr>
              <a:t>// Hello </a:t>
            </a:r>
            <a:r>
              <a:rPr lang="en-GB" sz="2400" dirty="0" err="1">
                <a:solidFill>
                  <a:srgbClr val="008000"/>
                </a:solidFill>
                <a:latin typeface="Times New Roman" panose="02020603050405020304" pitchFamily="18" charset="0"/>
                <a:cs typeface="Times New Roman" panose="02020603050405020304" pitchFamily="18" charset="0"/>
              </a:rPr>
              <a:t>Anja</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3682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63774"/>
            <a:ext cx="10515600" cy="4351338"/>
          </a:xfrm>
        </p:spPr>
        <p:txBody>
          <a:bodyPr/>
          <a:lstStyle/>
          <a:p>
            <a:pPr algn="just">
              <a:lnSpc>
                <a:spcPct val="200000"/>
              </a:lnSpc>
            </a:pPr>
            <a:r>
              <a:rPr lang="en-GB" dirty="0">
                <a:latin typeface="Times New Roman" panose="02020603050405020304" pitchFamily="18" charset="0"/>
                <a:cs typeface="Times New Roman" panose="02020603050405020304" pitchFamily="18" charset="0"/>
              </a:rPr>
              <a:t>When a parameter is passed to the function, it is called an argument. So, from the example above: name is a parameter, while Liam, Jenny and </a:t>
            </a:r>
            <a:r>
              <a:rPr lang="en-GB" dirty="0" err="1">
                <a:latin typeface="Times New Roman" panose="02020603050405020304" pitchFamily="18" charset="0"/>
                <a:cs typeface="Times New Roman" panose="02020603050405020304" pitchFamily="18" charset="0"/>
              </a:rPr>
              <a:t>Anja</a:t>
            </a:r>
            <a:r>
              <a:rPr lang="en-GB" dirty="0">
                <a:latin typeface="Times New Roman" panose="02020603050405020304" pitchFamily="18" charset="0"/>
                <a:cs typeface="Times New Roman" panose="02020603050405020304" pitchFamily="18" charset="0"/>
              </a:rPr>
              <a:t> are arguments.</a:t>
            </a:r>
          </a:p>
        </p:txBody>
      </p:sp>
    </p:spTree>
    <p:extLst>
      <p:ext uri="{BB962C8B-B14F-4D97-AF65-F5344CB8AC3E}">
        <p14:creationId xmlns:p14="http://schemas.microsoft.com/office/powerpoint/2010/main" val="35563622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Multiple Parameters</a:t>
            </a:r>
            <a:r>
              <a:rPr lang="en-GB" dirty="0"/>
              <a:t/>
            </a:r>
            <a:br>
              <a:rPr lang="en-GB" dirty="0"/>
            </a:br>
            <a:endParaRPr lang="en-GB" dirty="0"/>
          </a:p>
        </p:txBody>
      </p:sp>
      <p:sp>
        <p:nvSpPr>
          <p:cNvPr id="3" name="Content Placeholder 2"/>
          <p:cNvSpPr>
            <a:spLocks noGrp="1"/>
          </p:cNvSpPr>
          <p:nvPr>
            <p:ph idx="1"/>
          </p:nvPr>
        </p:nvSpPr>
        <p:spPr>
          <a:xfrm>
            <a:off x="838200" y="1825625"/>
            <a:ext cx="10515600" cy="4797244"/>
          </a:xfrm>
        </p:spPr>
        <p:txBody>
          <a:bodyPr>
            <a:normAutofit fontScale="92500" lnSpcReduction="20000"/>
          </a:bodyPr>
          <a:lstStyle/>
          <a:p>
            <a:pPr marL="0" indent="0">
              <a:buNone/>
            </a:pPr>
            <a:r>
              <a:rPr lang="en-GB" dirty="0">
                <a:latin typeface="Times New Roman" panose="02020603050405020304" pitchFamily="18" charset="0"/>
                <a:cs typeface="Times New Roman" panose="02020603050405020304" pitchFamily="18" charset="0"/>
              </a:rPr>
              <a:t>Inside the function, you can add as many parameters as you </a:t>
            </a:r>
            <a:r>
              <a:rPr lang="en-GB" dirty="0" smtClean="0">
                <a:latin typeface="Times New Roman" panose="02020603050405020304" pitchFamily="18" charset="0"/>
                <a:cs typeface="Times New Roman" panose="02020603050405020304" pitchFamily="18" charset="0"/>
              </a:rPr>
              <a:t>want</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Example</a:t>
            </a:r>
          </a:p>
          <a:p>
            <a:pPr marL="0" indent="0">
              <a:buNone/>
            </a:pPr>
            <a:r>
              <a:rPr lang="en-GB" dirty="0">
                <a:solidFill>
                  <a:srgbClr val="0000CD"/>
                </a:solidFill>
                <a:latin typeface="Times New Roman" panose="02020603050405020304" pitchFamily="18" charset="0"/>
                <a:cs typeface="Times New Roman" panose="02020603050405020304" pitchFamily="18" charset="0"/>
              </a:rPr>
              <a:t>void</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0000CD"/>
                </a:solidFill>
                <a:latin typeface="Times New Roman" panose="02020603050405020304" pitchFamily="18" charset="0"/>
                <a:cs typeface="Times New Roman" panose="02020603050405020304" pitchFamily="18" charset="0"/>
              </a:rPr>
              <a:t>char</a:t>
            </a:r>
            <a:r>
              <a:rPr lang="en-GB" dirty="0">
                <a:solidFill>
                  <a:srgbClr val="000000"/>
                </a:solidFill>
                <a:latin typeface="Times New Roman" panose="02020603050405020304" pitchFamily="18" charset="0"/>
                <a:cs typeface="Times New Roman" panose="02020603050405020304" pitchFamily="18" charset="0"/>
              </a:rPr>
              <a:t> name[],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age)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"Hello %s. You are %d years old.\n"</a:t>
            </a:r>
            <a:r>
              <a:rPr lang="en-GB" dirty="0">
                <a:solidFill>
                  <a:srgbClr val="000000"/>
                </a:solidFill>
                <a:latin typeface="Times New Roman" panose="02020603050405020304" pitchFamily="18" charset="0"/>
                <a:cs typeface="Times New Roman" panose="02020603050405020304" pitchFamily="18" charset="0"/>
              </a:rPr>
              <a:t>, name, age);</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"Liam"</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3</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"Jenny"</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14</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a:t>
            </a:r>
            <a:r>
              <a:rPr lang="en-GB" dirty="0" err="1">
                <a:solidFill>
                  <a:srgbClr val="A52A2A"/>
                </a:solidFill>
                <a:latin typeface="Times New Roman" panose="02020603050405020304" pitchFamily="18" charset="0"/>
                <a:cs typeface="Times New Roman" panose="02020603050405020304" pitchFamily="18" charset="0"/>
              </a:rPr>
              <a:t>Anja</a:t>
            </a:r>
            <a:r>
              <a:rPr lang="en-GB" dirty="0">
                <a:solidFill>
                  <a:srgbClr val="A52A2A"/>
                </a:solidFill>
                <a:latin typeface="Times New Roman" panose="02020603050405020304" pitchFamily="18" charset="0"/>
                <a:cs typeface="Times New Roman" panose="02020603050405020304" pitchFamily="18" charset="0"/>
              </a:rPr>
              <a:t>"</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30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t/>
            </a:r>
            <a:br>
              <a:rPr lang="en-GB" dirty="0"/>
            </a:br>
            <a:endParaRPr lang="en-GB" dirty="0"/>
          </a:p>
        </p:txBody>
      </p:sp>
    </p:spTree>
    <p:extLst>
      <p:ext uri="{BB962C8B-B14F-4D97-AF65-F5344CB8AC3E}">
        <p14:creationId xmlns:p14="http://schemas.microsoft.com/office/powerpoint/2010/main" val="19319861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23406"/>
            <a:ext cx="10515600" cy="5447211"/>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If we consider the "</a:t>
            </a:r>
            <a:r>
              <a:rPr lang="en-GB" b="1" dirty="0">
                <a:latin typeface="Times New Roman" panose="02020603050405020304" pitchFamily="18" charset="0"/>
                <a:cs typeface="Times New Roman" panose="02020603050405020304" pitchFamily="18" charset="0"/>
              </a:rPr>
              <a:t>Calculate the Sum of </a:t>
            </a:r>
            <a:r>
              <a:rPr lang="en-GB" b="1" dirty="0" smtClean="0">
                <a:latin typeface="Times New Roman" panose="02020603050405020304" pitchFamily="18" charset="0"/>
                <a:cs typeface="Times New Roman" panose="02020603050405020304" pitchFamily="18" charset="0"/>
              </a:rPr>
              <a:t>Numbers</a:t>
            </a:r>
            <a:r>
              <a:rPr lang="en-GB" dirty="0" smtClean="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we can make a </a:t>
            </a:r>
            <a:r>
              <a:rPr lang="en-GB" dirty="0" smtClean="0">
                <a:latin typeface="Times New Roman" panose="02020603050405020304" pitchFamily="18" charset="0"/>
                <a:cs typeface="Times New Roman" panose="02020603050405020304" pitchFamily="18" charset="0"/>
              </a:rPr>
              <a:t>more </a:t>
            </a:r>
            <a:r>
              <a:rPr lang="en-GB" dirty="0">
                <a:latin typeface="Times New Roman" panose="02020603050405020304" pitchFamily="18" charset="0"/>
                <a:cs typeface="Times New Roman" panose="02020603050405020304" pitchFamily="18" charset="0"/>
              </a:rPr>
              <a:t>sustainable program by using function </a:t>
            </a:r>
            <a:r>
              <a:rPr lang="en-GB" dirty="0" smtClean="0">
                <a:latin typeface="Times New Roman" panose="02020603050405020304" pitchFamily="18" charset="0"/>
                <a:cs typeface="Times New Roman" panose="02020603050405020304" pitchFamily="18" charset="0"/>
              </a:rPr>
              <a:t>parameters</a:t>
            </a:r>
          </a:p>
          <a:p>
            <a:pPr marL="0" indent="0">
              <a:buNone/>
            </a:pPr>
            <a:r>
              <a:rPr lang="en-GB" dirty="0">
                <a:solidFill>
                  <a:srgbClr val="0000CD"/>
                </a:solidFill>
                <a:latin typeface="Times New Roman" panose="02020603050405020304" pitchFamily="18" charset="0"/>
                <a:cs typeface="Times New Roman" panose="02020603050405020304" pitchFamily="18" charset="0"/>
              </a:rPr>
              <a:t>void</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x,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y)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sum = x + y;</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"The sum of %d + %d is: %d\n"</a:t>
            </a:r>
            <a:r>
              <a:rPr lang="en-GB" dirty="0">
                <a:solidFill>
                  <a:srgbClr val="000000"/>
                </a:solidFill>
                <a:latin typeface="Times New Roman" panose="02020603050405020304" pitchFamily="18" charset="0"/>
                <a:cs typeface="Times New Roman" panose="02020603050405020304" pitchFamily="18" charset="0"/>
              </a:rPr>
              <a:t>, x, y, sum);</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3</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8</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2</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15</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15</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79222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9195" y="858974"/>
            <a:ext cx="10515600" cy="4351338"/>
          </a:xfrm>
        </p:spPr>
        <p:txBody>
          <a:bodyPr/>
          <a:lstStyle/>
          <a:p>
            <a:pPr marL="0" indent="0" algn="just">
              <a:lnSpc>
                <a:spcPct val="200000"/>
              </a:lnSpc>
              <a:buNone/>
            </a:pPr>
            <a:r>
              <a:rPr lang="en-GB" b="1" dirty="0">
                <a:latin typeface="Times New Roman" panose="02020603050405020304" pitchFamily="18" charset="0"/>
                <a:cs typeface="Times New Roman" panose="02020603050405020304" pitchFamily="18" charset="0"/>
              </a:rPr>
              <a:t>Notes on Parameters</a:t>
            </a:r>
          </a:p>
          <a:p>
            <a:pPr marL="0" indent="0" algn="just">
              <a:lnSpc>
                <a:spcPct val="200000"/>
              </a:lnSpc>
              <a:buNone/>
            </a:pPr>
            <a:r>
              <a:rPr lang="en-GB" dirty="0">
                <a:latin typeface="Times New Roman" panose="02020603050405020304" pitchFamily="18" charset="0"/>
                <a:cs typeface="Times New Roman" panose="02020603050405020304" pitchFamily="18" charset="0"/>
              </a:rPr>
              <a:t>Note that when you are working with multiple parameters, the function call must have the same number of arguments as there are parameters, and the arguments must be passed in the same order.</a:t>
            </a:r>
          </a:p>
          <a:p>
            <a:pPr algn="just">
              <a:lnSpc>
                <a:spcPct val="200000"/>
              </a:lnSpc>
            </a:pPr>
            <a:endParaRPr lang="en-GB" dirty="0"/>
          </a:p>
        </p:txBody>
      </p:sp>
    </p:spTree>
    <p:extLst>
      <p:ext uri="{BB962C8B-B14F-4D97-AF65-F5344CB8AC3E}">
        <p14:creationId xmlns:p14="http://schemas.microsoft.com/office/powerpoint/2010/main" val="19278704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Pass Arrays as Function Parameters</a:t>
            </a:r>
            <a:r>
              <a:rPr lang="en-GB" b="1" dirty="0" smtClean="0"/>
              <a:t/>
            </a:r>
            <a:br>
              <a:rPr lang="en-GB" b="1" dirty="0" smtClean="0"/>
            </a:br>
            <a:endParaRPr lang="en-GB" b="1" dirty="0"/>
          </a:p>
        </p:txBody>
      </p:sp>
      <p:sp>
        <p:nvSpPr>
          <p:cNvPr id="3" name="Content Placeholder 2"/>
          <p:cNvSpPr>
            <a:spLocks noGrp="1"/>
          </p:cNvSpPr>
          <p:nvPr>
            <p:ph idx="1"/>
          </p:nvPr>
        </p:nvSpPr>
        <p:spPr/>
        <p:txBody>
          <a:bodyPr>
            <a:normAutofit lnSpcReduction="10000"/>
          </a:bodyPr>
          <a:lstStyle/>
          <a:p>
            <a:pPr marL="0" indent="0">
              <a:buNone/>
            </a:pPr>
            <a:r>
              <a:rPr lang="en-GB" dirty="0">
                <a:latin typeface="Times New Roman" panose="02020603050405020304" pitchFamily="18" charset="0"/>
                <a:cs typeface="Times New Roman" panose="02020603050405020304" pitchFamily="18" charset="0"/>
              </a:rPr>
              <a:t>You can also pass arrays to a function</a:t>
            </a:r>
            <a:r>
              <a:rPr lang="en-GB" dirty="0" smtClean="0">
                <a:latin typeface="Times New Roman" panose="02020603050405020304" pitchFamily="18" charset="0"/>
                <a:cs typeface="Times New Roman" panose="02020603050405020304" pitchFamily="18" charset="0"/>
              </a:rPr>
              <a:t>:</a:t>
            </a:r>
          </a:p>
          <a:p>
            <a:pPr marL="0" indent="0">
              <a:buNone/>
            </a:pPr>
            <a:r>
              <a:rPr lang="en-GB" dirty="0">
                <a:solidFill>
                  <a:srgbClr val="0000CD"/>
                </a:solidFill>
                <a:latin typeface="Times New Roman" panose="02020603050405020304" pitchFamily="18" charset="0"/>
                <a:cs typeface="Times New Roman" panose="02020603050405020304" pitchFamily="18" charset="0"/>
              </a:rPr>
              <a:t>void</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myNumbers</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for</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i</a:t>
            </a:r>
            <a:r>
              <a:rPr lang="en-GB" dirty="0">
                <a:solidFill>
                  <a:srgbClr val="000000"/>
                </a:solidFill>
                <a:latin typeface="Times New Roman" panose="02020603050405020304" pitchFamily="18" charset="0"/>
                <a:cs typeface="Times New Roman" panose="02020603050405020304" pitchFamily="18" charset="0"/>
              </a:rPr>
              <a:t> =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i</a:t>
            </a:r>
            <a:r>
              <a:rPr lang="en-GB" dirty="0">
                <a:solidFill>
                  <a:srgbClr val="000000"/>
                </a:solidFill>
                <a:latin typeface="Times New Roman" panose="02020603050405020304" pitchFamily="18" charset="0"/>
                <a:cs typeface="Times New Roman" panose="02020603050405020304" pitchFamily="18" charset="0"/>
              </a:rPr>
              <a:t> &lt; </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i</a:t>
            </a:r>
            <a:r>
              <a:rPr lang="en-GB" dirty="0">
                <a:solidFill>
                  <a:srgbClr val="000000"/>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"%d\n"</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myNumbers</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00"/>
                </a:solidFill>
                <a:latin typeface="Times New Roman" panose="02020603050405020304" pitchFamily="18" charset="0"/>
                <a:cs typeface="Times New Roman" panose="02020603050405020304" pitchFamily="18" charset="0"/>
              </a:rPr>
              <a:t>i</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myNumbers</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 {</a:t>
            </a:r>
            <a:r>
              <a:rPr lang="en-GB" dirty="0">
                <a:solidFill>
                  <a:srgbClr val="FF0000"/>
                </a:solidFill>
                <a:latin typeface="Times New Roman" panose="02020603050405020304" pitchFamily="18" charset="0"/>
                <a:cs typeface="Times New Roman" panose="02020603050405020304" pitchFamily="18" charset="0"/>
              </a:rPr>
              <a:t>10</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20</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30</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40</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50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00"/>
                </a:solidFill>
                <a:latin typeface="Times New Roman" panose="02020603050405020304" pitchFamily="18" charset="0"/>
                <a:cs typeface="Times New Roman" panose="02020603050405020304" pitchFamily="18" charset="0"/>
              </a:rPr>
              <a:t>myNumbers</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9295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7606" y="580300"/>
            <a:ext cx="10515600" cy="4351338"/>
          </a:xfrm>
        </p:spPr>
        <p:txBody>
          <a:bodyPr/>
          <a:lstStyle/>
          <a:p>
            <a:pPr algn="just">
              <a:lnSpc>
                <a:spcPct val="150000"/>
              </a:lnSpc>
            </a:pPr>
            <a:r>
              <a:rPr lang="en-GB" dirty="0">
                <a:latin typeface="Times New Roman" panose="02020603050405020304" pitchFamily="18" charset="0"/>
                <a:cs typeface="Times New Roman" panose="02020603050405020304" pitchFamily="18" charset="0"/>
              </a:rPr>
              <a:t>The function (</a:t>
            </a:r>
            <a:r>
              <a:rPr lang="en-GB" dirty="0" err="1">
                <a:latin typeface="Times New Roman" panose="02020603050405020304" pitchFamily="18" charset="0"/>
                <a:cs typeface="Times New Roman" panose="02020603050405020304" pitchFamily="18" charset="0"/>
              </a:rPr>
              <a:t>myFunction</a:t>
            </a:r>
            <a:r>
              <a:rPr lang="en-GB" dirty="0">
                <a:latin typeface="Times New Roman" panose="02020603050405020304" pitchFamily="18" charset="0"/>
                <a:cs typeface="Times New Roman" panose="02020603050405020304" pitchFamily="18" charset="0"/>
              </a:rPr>
              <a:t>) takes an array as its parameter (</a:t>
            </a: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myNumbers</a:t>
            </a:r>
            <a:r>
              <a:rPr lang="en-GB" dirty="0">
                <a:latin typeface="Times New Roman" panose="02020603050405020304" pitchFamily="18" charset="0"/>
                <a:cs typeface="Times New Roman" panose="02020603050405020304" pitchFamily="18" charset="0"/>
              </a:rPr>
              <a:t>[5]), and loops through the array elements with the for loop.</a:t>
            </a:r>
          </a:p>
          <a:p>
            <a:pPr algn="just">
              <a:lnSpc>
                <a:spcPct val="150000"/>
              </a:lnSpc>
            </a:pPr>
            <a:r>
              <a:rPr lang="en-GB" dirty="0" smtClean="0">
                <a:latin typeface="Times New Roman" panose="02020603050405020304" pitchFamily="18" charset="0"/>
                <a:cs typeface="Times New Roman" panose="02020603050405020304" pitchFamily="18" charset="0"/>
              </a:rPr>
              <a:t>When </a:t>
            </a:r>
            <a:r>
              <a:rPr lang="en-GB" dirty="0">
                <a:latin typeface="Times New Roman" panose="02020603050405020304" pitchFamily="18" charset="0"/>
                <a:cs typeface="Times New Roman" panose="02020603050405020304" pitchFamily="18" charset="0"/>
              </a:rPr>
              <a:t>the function is called inside main(), we pass along the </a:t>
            </a:r>
            <a:r>
              <a:rPr lang="en-GB" dirty="0" err="1">
                <a:latin typeface="Times New Roman" panose="02020603050405020304" pitchFamily="18" charset="0"/>
                <a:cs typeface="Times New Roman" panose="02020603050405020304" pitchFamily="18" charset="0"/>
              </a:rPr>
              <a:t>myNumbers</a:t>
            </a:r>
            <a:r>
              <a:rPr lang="en-GB" dirty="0">
                <a:latin typeface="Times New Roman" panose="02020603050405020304" pitchFamily="18" charset="0"/>
                <a:cs typeface="Times New Roman" panose="02020603050405020304" pitchFamily="18" charset="0"/>
              </a:rPr>
              <a:t> array, which outputs the array elements.</a:t>
            </a:r>
          </a:p>
        </p:txBody>
      </p:sp>
    </p:spTree>
    <p:extLst>
      <p:ext uri="{BB962C8B-B14F-4D97-AF65-F5344CB8AC3E}">
        <p14:creationId xmlns:p14="http://schemas.microsoft.com/office/powerpoint/2010/main" val="6297810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566" y="745762"/>
            <a:ext cx="10515600" cy="4351338"/>
          </a:xfrm>
        </p:spPr>
        <p:txBody>
          <a:bodyPr/>
          <a:lstStyle/>
          <a:p>
            <a:pPr algn="just">
              <a:lnSpc>
                <a:spcPct val="200000"/>
              </a:lnSpc>
            </a:pPr>
            <a:r>
              <a:rPr lang="en-GB" dirty="0">
                <a:latin typeface="Times New Roman" panose="02020603050405020304" pitchFamily="18" charset="0"/>
                <a:cs typeface="Times New Roman" panose="02020603050405020304" pitchFamily="18" charset="0"/>
              </a:rPr>
              <a:t>Note that when you call the function, you only need to use the name of the array when passing it as an argument </a:t>
            </a:r>
            <a:r>
              <a:rPr lang="en-GB" dirty="0" err="1">
                <a:solidFill>
                  <a:srgbClr val="00B050"/>
                </a:solidFill>
                <a:latin typeface="Times New Roman" panose="02020603050405020304" pitchFamily="18" charset="0"/>
                <a:cs typeface="Times New Roman" panose="02020603050405020304" pitchFamily="18" charset="0"/>
              </a:rPr>
              <a:t>myFunction</a:t>
            </a:r>
            <a:r>
              <a:rPr lang="en-GB" dirty="0">
                <a:latin typeface="Times New Roman" panose="02020603050405020304" pitchFamily="18" charset="0"/>
                <a:cs typeface="Times New Roman" panose="02020603050405020304" pitchFamily="18" charset="0"/>
              </a:rPr>
              <a:t>(</a:t>
            </a:r>
            <a:r>
              <a:rPr lang="en-GB" dirty="0" err="1">
                <a:solidFill>
                  <a:srgbClr val="FF0000"/>
                </a:solidFill>
                <a:latin typeface="Times New Roman" panose="02020603050405020304" pitchFamily="18" charset="0"/>
                <a:cs typeface="Times New Roman" panose="02020603050405020304" pitchFamily="18" charset="0"/>
              </a:rPr>
              <a:t>myNumbers</a:t>
            </a:r>
            <a:r>
              <a:rPr lang="en-GB" dirty="0">
                <a:latin typeface="Times New Roman" panose="02020603050405020304" pitchFamily="18" charset="0"/>
                <a:cs typeface="Times New Roman" panose="02020603050405020304" pitchFamily="18" charset="0"/>
              </a:rPr>
              <a:t>). However, the full declaration of the array is needed in the function parameter </a:t>
            </a:r>
            <a:r>
              <a:rPr lang="en-GB" dirty="0">
                <a:solidFill>
                  <a:srgbClr val="FF0000"/>
                </a:solidFill>
                <a:latin typeface="Times New Roman" panose="02020603050405020304" pitchFamily="18" charset="0"/>
                <a:cs typeface="Times New Roman" panose="02020603050405020304" pitchFamily="18" charset="0"/>
              </a:rPr>
              <a:t>(</a:t>
            </a:r>
            <a:r>
              <a:rPr lang="en-GB" dirty="0" err="1">
                <a:solidFill>
                  <a:srgbClr val="FF0000"/>
                </a:solidFill>
                <a:latin typeface="Times New Roman" panose="02020603050405020304" pitchFamily="18" charset="0"/>
                <a:cs typeface="Times New Roman" panose="02020603050405020304" pitchFamily="18" charset="0"/>
              </a:rPr>
              <a:t>int</a:t>
            </a:r>
            <a:r>
              <a:rPr lang="en-GB" dirty="0">
                <a:solidFill>
                  <a:srgbClr val="FF0000"/>
                </a:solidFill>
                <a:latin typeface="Times New Roman" panose="02020603050405020304" pitchFamily="18" charset="0"/>
                <a:cs typeface="Times New Roman" panose="02020603050405020304" pitchFamily="18" charset="0"/>
              </a:rPr>
              <a:t> </a:t>
            </a:r>
            <a:r>
              <a:rPr lang="en-GB" dirty="0" err="1">
                <a:solidFill>
                  <a:srgbClr val="FF0000"/>
                </a:solidFill>
                <a:latin typeface="Times New Roman" panose="02020603050405020304" pitchFamily="18" charset="0"/>
                <a:cs typeface="Times New Roman" panose="02020603050405020304" pitchFamily="18" charset="0"/>
              </a:rPr>
              <a:t>myNumbers</a:t>
            </a:r>
            <a:r>
              <a:rPr lang="en-GB" dirty="0">
                <a:solidFill>
                  <a:srgbClr val="FF0000"/>
                </a:solidFill>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19086758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Return Values</a:t>
            </a:r>
            <a:r>
              <a:rPr lang="en-GB" b="1" dirty="0"/>
              <a:t/>
            </a:r>
            <a:br>
              <a:rPr lang="en-GB" b="1" dirty="0"/>
            </a:br>
            <a:endParaRPr lang="en-GB" b="1" dirty="0"/>
          </a:p>
        </p:txBody>
      </p:sp>
      <p:sp>
        <p:nvSpPr>
          <p:cNvPr id="3" name="Content Placeholder 2"/>
          <p:cNvSpPr>
            <a:spLocks noGrp="1"/>
          </p:cNvSpPr>
          <p:nvPr>
            <p:ph idx="1"/>
          </p:nvPr>
        </p:nvSpPr>
        <p:spPr/>
        <p:txBody>
          <a:bodyPr/>
          <a:lstStyle/>
          <a:p>
            <a:pPr algn="just">
              <a:lnSpc>
                <a:spcPct val="200000"/>
              </a:lnSpc>
            </a:pPr>
            <a:r>
              <a:rPr lang="en-GB" dirty="0">
                <a:latin typeface="Times New Roman" panose="02020603050405020304" pitchFamily="18" charset="0"/>
                <a:cs typeface="Times New Roman" panose="02020603050405020304" pitchFamily="18" charset="0"/>
              </a:rPr>
              <a:t>The void keyword, used in the previous examples, indicates that the function should not return a value. If you want the function to return a value, you can use a data type (such as </a:t>
            </a:r>
            <a:r>
              <a:rPr lang="en-GB" dirty="0" err="1">
                <a:solidFill>
                  <a:srgbClr val="FF0000"/>
                </a:solidFill>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or </a:t>
            </a:r>
            <a:r>
              <a:rPr lang="en-GB" dirty="0">
                <a:solidFill>
                  <a:srgbClr val="FF0000"/>
                </a:solidFill>
                <a:latin typeface="Times New Roman" panose="02020603050405020304" pitchFamily="18" charset="0"/>
                <a:cs typeface="Times New Roman" panose="02020603050405020304" pitchFamily="18" charset="0"/>
              </a:rPr>
              <a:t>float</a:t>
            </a:r>
            <a:r>
              <a:rPr lang="en-GB" dirty="0">
                <a:latin typeface="Times New Roman" panose="02020603050405020304" pitchFamily="18" charset="0"/>
                <a:cs typeface="Times New Roman" panose="02020603050405020304" pitchFamily="18" charset="0"/>
              </a:rPr>
              <a:t>, etc.) instead of </a:t>
            </a:r>
            <a:r>
              <a:rPr lang="en-GB" dirty="0">
                <a:solidFill>
                  <a:srgbClr val="00B050"/>
                </a:solidFill>
                <a:latin typeface="Times New Roman" panose="02020603050405020304" pitchFamily="18" charset="0"/>
                <a:cs typeface="Times New Roman" panose="02020603050405020304" pitchFamily="18" charset="0"/>
              </a:rPr>
              <a:t>void</a:t>
            </a:r>
            <a:r>
              <a:rPr lang="en-GB" dirty="0">
                <a:latin typeface="Times New Roman" panose="02020603050405020304" pitchFamily="18" charset="0"/>
                <a:cs typeface="Times New Roman" panose="02020603050405020304" pitchFamily="18" charset="0"/>
              </a:rPr>
              <a:t>, and use the return keyword inside the function</a:t>
            </a:r>
          </a:p>
        </p:txBody>
      </p:sp>
    </p:spTree>
    <p:extLst>
      <p:ext uri="{BB962C8B-B14F-4D97-AF65-F5344CB8AC3E}">
        <p14:creationId xmlns:p14="http://schemas.microsoft.com/office/powerpoint/2010/main" val="28131637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b="1" dirty="0"/>
              <a:t/>
            </a:r>
            <a:br>
              <a:rPr lang="en-GB" b="1" dirty="0"/>
            </a:br>
            <a:endParaRPr lang="en-GB" b="1" dirty="0"/>
          </a:p>
        </p:txBody>
      </p:sp>
      <p:sp>
        <p:nvSpPr>
          <p:cNvPr id="3" name="Content Placeholder 2"/>
          <p:cNvSpPr>
            <a:spLocks noGrp="1"/>
          </p:cNvSpPr>
          <p:nvPr>
            <p:ph idx="1"/>
          </p:nvPr>
        </p:nvSpPr>
        <p:spPr/>
        <p:txBody>
          <a:bodyPr/>
          <a:lstStyle/>
          <a:p>
            <a:pPr marL="0" indent="0">
              <a:buNone/>
            </a:pPr>
            <a:r>
              <a:rPr lang="en-GB" b="1"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x)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b="1"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 x;</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"Result is: %d"</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3</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8000"/>
                </a:solidFill>
                <a:latin typeface="Times New Roman" panose="02020603050405020304" pitchFamily="18" charset="0"/>
                <a:cs typeface="Times New Roman" panose="02020603050405020304" pitchFamily="18" charset="0"/>
              </a:rPr>
              <a:t>// Outputs 8 (5 + 3</a:t>
            </a:r>
            <a:r>
              <a:rPr lang="en-GB" dirty="0" smtClean="0">
                <a:solidFill>
                  <a:srgbClr val="008000"/>
                </a:solidFill>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This example returns the sum of a function with </a:t>
            </a:r>
            <a:r>
              <a:rPr lang="en-GB" b="1" dirty="0">
                <a:latin typeface="Times New Roman" panose="02020603050405020304" pitchFamily="18" charset="0"/>
                <a:cs typeface="Times New Roman" panose="02020603050405020304" pitchFamily="18" charset="0"/>
              </a:rPr>
              <a:t>two parameters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0524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dirty="0"/>
              <a:t/>
            </a:r>
            <a:br>
              <a:rPr lang="en-GB" dirty="0"/>
            </a:br>
            <a:endParaRPr lang="en-GB" dirty="0"/>
          </a:p>
        </p:txBody>
      </p:sp>
      <p:sp>
        <p:nvSpPr>
          <p:cNvPr id="3" name="Content Placeholder 2"/>
          <p:cNvSpPr>
            <a:spLocks noGrp="1"/>
          </p:cNvSpPr>
          <p:nvPr>
            <p:ph idx="1"/>
          </p:nvPr>
        </p:nvSpPr>
        <p:spPr/>
        <p:txBody>
          <a:bodyPr/>
          <a:lstStyle/>
          <a:p>
            <a:pPr marL="0" indent="0">
              <a:buNone/>
            </a:pP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x,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y)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x + y;</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"Result is: %d"</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3</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8000"/>
                </a:solidFill>
                <a:latin typeface="Times New Roman" panose="02020603050405020304" pitchFamily="18" charset="0"/>
                <a:cs typeface="Times New Roman" panose="02020603050405020304" pitchFamily="18" charset="0"/>
              </a:rPr>
              <a:t>// Outputs 8 (5 + </a:t>
            </a:r>
            <a:r>
              <a:rPr lang="en-GB" dirty="0" smtClean="0">
                <a:solidFill>
                  <a:srgbClr val="008000"/>
                </a:solidFill>
                <a:latin typeface="Times New Roman" panose="02020603050405020304" pitchFamily="18" charset="0"/>
                <a:cs typeface="Times New Roman" panose="02020603050405020304" pitchFamily="18" charset="0"/>
              </a:rPr>
              <a:t>3). </a:t>
            </a:r>
            <a:r>
              <a:rPr lang="en-GB" dirty="0">
                <a:latin typeface="Times New Roman" panose="02020603050405020304" pitchFamily="18" charset="0"/>
                <a:cs typeface="Times New Roman" panose="02020603050405020304" pitchFamily="18" charset="0"/>
              </a:rPr>
              <a:t>You can also store the result in a variable</a:t>
            </a:r>
          </a:p>
        </p:txBody>
      </p:sp>
    </p:spTree>
    <p:extLst>
      <p:ext uri="{BB962C8B-B14F-4D97-AF65-F5344CB8AC3E}">
        <p14:creationId xmlns:p14="http://schemas.microsoft.com/office/powerpoint/2010/main" val="3163056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dirty="0"/>
              <a:t/>
            </a:r>
            <a:br>
              <a:rPr lang="en-GB" dirty="0"/>
            </a:br>
            <a:endParaRPr lang="en-GB" dirty="0"/>
          </a:p>
        </p:txBody>
      </p:sp>
      <p:sp>
        <p:nvSpPr>
          <p:cNvPr id="3" name="Content Placeholder 2"/>
          <p:cNvSpPr>
            <a:spLocks noGrp="1"/>
          </p:cNvSpPr>
          <p:nvPr>
            <p:ph idx="1"/>
          </p:nvPr>
        </p:nvSpPr>
        <p:spPr/>
        <p:txBody>
          <a:bodyPr/>
          <a:lstStyle/>
          <a:p>
            <a:pPr marL="0" indent="0">
              <a:buNone/>
            </a:pP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x,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y)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x + y;</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result = </a:t>
            </a:r>
            <a:r>
              <a:rPr lang="en-GB" dirty="0" err="1">
                <a:solidFill>
                  <a:srgbClr val="000000"/>
                </a:solidFill>
                <a:latin typeface="Times New Roman" panose="02020603050405020304" pitchFamily="18" charset="0"/>
                <a:cs typeface="Times New Roman" panose="02020603050405020304" pitchFamily="18" charset="0"/>
              </a:rPr>
              <a:t>myFunction</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3</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"Result is = %d"</a:t>
            </a:r>
            <a:r>
              <a:rPr lang="en-GB" dirty="0">
                <a:solidFill>
                  <a:srgbClr val="000000"/>
                </a:solidFill>
                <a:latin typeface="Times New Roman" panose="02020603050405020304" pitchFamily="18" charset="0"/>
                <a:cs typeface="Times New Roman" panose="02020603050405020304" pitchFamily="18" charset="0"/>
              </a:rPr>
              <a:t>, result);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8000"/>
                </a:solidFill>
                <a:latin typeface="Times New Roman" panose="02020603050405020304" pitchFamily="18" charset="0"/>
                <a:cs typeface="Times New Roman" panose="02020603050405020304" pitchFamily="18" charset="0"/>
              </a:rPr>
              <a:t>// Outputs 8 (5 + 3)</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7159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811" y="954768"/>
            <a:ext cx="10515600" cy="4351338"/>
          </a:xfrm>
        </p:spPr>
        <p:txBody>
          <a:bodyPr/>
          <a:lstStyle/>
          <a:p>
            <a:pPr marL="0" indent="0" algn="just">
              <a:lnSpc>
                <a:spcPct val="200000"/>
              </a:lnSpc>
              <a:buNone/>
            </a:pPr>
            <a:r>
              <a:rPr lang="en-GB" dirty="0">
                <a:latin typeface="Times New Roman" panose="02020603050405020304" pitchFamily="18" charset="0"/>
                <a:cs typeface="Times New Roman" panose="02020603050405020304" pitchFamily="18" charset="0"/>
              </a:rPr>
              <a:t>If we consider the "Calculate the Sum of Numbers" example one more time, we can use return instead and store the results in different variables. This will make the program even more flexible and easier to </a:t>
            </a:r>
            <a:r>
              <a:rPr lang="en-GB" dirty="0" smtClean="0">
                <a:latin typeface="Times New Roman" panose="02020603050405020304" pitchFamily="18" charset="0"/>
                <a:cs typeface="Times New Roman" panose="02020603050405020304" pitchFamily="18" charset="0"/>
              </a:rPr>
              <a:t>control.</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79865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b="1" dirty="0"/>
              <a:t/>
            </a:r>
            <a:br>
              <a:rPr lang="en-GB" b="1" dirty="0"/>
            </a:br>
            <a:endParaRPr lang="en-GB" b="1" dirty="0"/>
          </a:p>
        </p:txBody>
      </p:sp>
      <p:sp>
        <p:nvSpPr>
          <p:cNvPr id="4" name="Rectangle 3"/>
          <p:cNvSpPr/>
          <p:nvPr/>
        </p:nvSpPr>
        <p:spPr>
          <a:xfrm>
            <a:off x="1180011" y="1690688"/>
            <a:ext cx="8186058" cy="4524315"/>
          </a:xfrm>
          <a:prstGeom prst="rect">
            <a:avLst/>
          </a:prstGeom>
        </p:spPr>
        <p:txBody>
          <a:bodyPr wrap="square">
            <a:spAutoFit/>
          </a:bodyPr>
          <a:lstStyle/>
          <a:p>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x,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y)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x + y;</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main() {</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result1 =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5</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3</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result2 =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8</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2</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CD"/>
                </a:solidFill>
                <a:latin typeface="Times New Roman" panose="02020603050405020304" pitchFamily="18" charset="0"/>
                <a:cs typeface="Times New Roman" panose="02020603050405020304" pitchFamily="18" charset="0"/>
              </a:rPr>
              <a:t>int</a:t>
            </a:r>
            <a:r>
              <a:rPr lang="en-GB" dirty="0">
                <a:solidFill>
                  <a:srgbClr val="000000"/>
                </a:solidFill>
                <a:latin typeface="Times New Roman" panose="02020603050405020304" pitchFamily="18" charset="0"/>
                <a:cs typeface="Times New Roman" panose="02020603050405020304" pitchFamily="18" charset="0"/>
              </a:rPr>
              <a:t> result3 = </a:t>
            </a:r>
            <a:r>
              <a:rPr lang="en-GB" dirty="0" err="1">
                <a:solidFill>
                  <a:srgbClr val="000000"/>
                </a:solidFill>
                <a:latin typeface="Times New Roman" panose="02020603050405020304" pitchFamily="18" charset="0"/>
                <a:cs typeface="Times New Roman" panose="02020603050405020304" pitchFamily="18" charset="0"/>
              </a:rPr>
              <a:t>calculateSum</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FF0000"/>
                </a:solidFill>
                <a:latin typeface="Times New Roman" panose="02020603050405020304" pitchFamily="18" charset="0"/>
                <a:cs typeface="Times New Roman" panose="02020603050405020304" pitchFamily="18" charset="0"/>
              </a:rPr>
              <a:t>15</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15</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"Result1 is: %d\n"</a:t>
            </a:r>
            <a:r>
              <a:rPr lang="en-GB" dirty="0">
                <a:solidFill>
                  <a:srgbClr val="000000"/>
                </a:solidFill>
                <a:latin typeface="Times New Roman" panose="02020603050405020304" pitchFamily="18" charset="0"/>
                <a:cs typeface="Times New Roman" panose="02020603050405020304" pitchFamily="18" charset="0"/>
              </a:rPr>
              <a:t>, result1);</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"Result2 is: %d\n"</a:t>
            </a:r>
            <a:r>
              <a:rPr lang="en-GB" dirty="0">
                <a:solidFill>
                  <a:srgbClr val="000000"/>
                </a:solidFill>
                <a:latin typeface="Times New Roman" panose="02020603050405020304" pitchFamily="18" charset="0"/>
                <a:cs typeface="Times New Roman" panose="02020603050405020304" pitchFamily="18" charset="0"/>
              </a:rPr>
              <a:t>, result2);</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err="1">
                <a:solidFill>
                  <a:srgbClr val="000000"/>
                </a:solidFill>
                <a:latin typeface="Times New Roman" panose="02020603050405020304" pitchFamily="18" charset="0"/>
                <a:cs typeface="Times New Roman" panose="02020603050405020304" pitchFamily="18" charset="0"/>
              </a:rPr>
              <a:t>printf</a:t>
            </a:r>
            <a:r>
              <a:rPr lang="en-GB" dirty="0">
                <a:solidFill>
                  <a:srgbClr val="000000"/>
                </a:solidFill>
                <a:latin typeface="Times New Roman" panose="02020603050405020304" pitchFamily="18" charset="0"/>
                <a:cs typeface="Times New Roman" panose="02020603050405020304" pitchFamily="18" charset="0"/>
              </a:rPr>
              <a:t>(</a:t>
            </a:r>
            <a:r>
              <a:rPr lang="en-GB" dirty="0">
                <a:solidFill>
                  <a:srgbClr val="A52A2A"/>
                </a:solidFill>
                <a:latin typeface="Times New Roman" panose="02020603050405020304" pitchFamily="18" charset="0"/>
                <a:cs typeface="Times New Roman" panose="02020603050405020304" pitchFamily="18" charset="0"/>
              </a:rPr>
              <a:t>"Result3 is: %d\n"</a:t>
            </a:r>
            <a:r>
              <a:rPr lang="en-GB" dirty="0">
                <a:solidFill>
                  <a:srgbClr val="000000"/>
                </a:solidFill>
                <a:latin typeface="Times New Roman" panose="02020603050405020304" pitchFamily="18" charset="0"/>
                <a:cs typeface="Times New Roman" panose="02020603050405020304" pitchFamily="18" charset="0"/>
              </a:rPr>
              <a:t>, result3);</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0000CD"/>
                </a:solidFill>
                <a:latin typeface="Times New Roman" panose="02020603050405020304" pitchFamily="18" charset="0"/>
                <a:cs typeface="Times New Roman" panose="02020603050405020304" pitchFamily="18" charset="0"/>
              </a:rPr>
              <a:t>return</a:t>
            </a:r>
            <a:r>
              <a:rPr lang="en-GB" dirty="0">
                <a:solidFill>
                  <a:srgbClr val="00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0</a:t>
            </a:r>
            <a:r>
              <a:rPr lang="en-GB" dirty="0">
                <a:solidFill>
                  <a:srgbClr val="000000"/>
                </a:solidFill>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smtClean="0">
                <a:solidFill>
                  <a:srgbClr val="000000"/>
                </a:solidFill>
                <a:latin typeface="Times New Roman" panose="02020603050405020304" pitchFamily="18" charset="0"/>
                <a:cs typeface="Times New Roman" panose="02020603050405020304" pitchFamily="18" charset="0"/>
              </a:rPr>
              <a:t>} </a:t>
            </a:r>
          </a:p>
          <a:p>
            <a:r>
              <a:rPr lang="en-GB" dirty="0" smtClean="0">
                <a:latin typeface="Times New Roman" panose="02020603050405020304" pitchFamily="18" charset="0"/>
                <a:cs typeface="Times New Roman" panose="02020603050405020304" pitchFamily="18" charset="0"/>
              </a:rPr>
              <a:t>If </a:t>
            </a:r>
            <a:r>
              <a:rPr lang="en-GB" dirty="0">
                <a:latin typeface="Times New Roman" panose="02020603050405020304" pitchFamily="18" charset="0"/>
                <a:cs typeface="Times New Roman" panose="02020603050405020304" pitchFamily="18" charset="0"/>
              </a:rPr>
              <a:t>you have many "result variables", it is better to store the results in an array</a:t>
            </a:r>
          </a:p>
        </p:txBody>
      </p:sp>
    </p:spTree>
    <p:extLst>
      <p:ext uri="{BB962C8B-B14F-4D97-AF65-F5344CB8AC3E}">
        <p14:creationId xmlns:p14="http://schemas.microsoft.com/office/powerpoint/2010/main" val="6357485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b="1" dirty="0"/>
              <a:t/>
            </a:r>
            <a:br>
              <a:rPr lang="en-GB" b="1" dirty="0"/>
            </a:br>
            <a:endParaRPr lang="en-GB" b="1" dirty="0"/>
          </a:p>
        </p:txBody>
      </p:sp>
      <p:sp>
        <p:nvSpPr>
          <p:cNvPr id="4" name="Rectangle 3"/>
          <p:cNvSpPr/>
          <p:nvPr/>
        </p:nvSpPr>
        <p:spPr>
          <a:xfrm>
            <a:off x="396240" y="1690688"/>
            <a:ext cx="4267200" cy="2031325"/>
          </a:xfrm>
          <a:prstGeom prst="rect">
            <a:avLst/>
          </a:prstGeom>
        </p:spPr>
        <p:txBody>
          <a:bodyPr wrap="square">
            <a:spAutoFit/>
          </a:bodyPr>
          <a:lstStyle/>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calculateSum</a:t>
            </a:r>
            <a:r>
              <a:rPr lang="en-GB" dirty="0">
                <a:solidFill>
                  <a:srgbClr val="000000"/>
                </a:solidFill>
                <a:latin typeface="Consolas" panose="020B0609020204030204" pitchFamily="49" charset="0"/>
              </a:rPr>
              <a:t>(</a:t>
            </a: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x, </a:t>
            </a: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y) {</a:t>
            </a:r>
            <a:r>
              <a:rPr lang="en-GB" dirty="0"/>
              <a:t/>
            </a:r>
            <a:br>
              <a:rPr lang="en-GB" dirty="0"/>
            </a:br>
            <a:r>
              <a:rPr lang="en-GB" dirty="0">
                <a:solidFill>
                  <a:srgbClr val="000000"/>
                </a:solidFill>
                <a:latin typeface="Consolas" panose="020B0609020204030204" pitchFamily="49" charset="0"/>
              </a:rPr>
              <a:t>  </a:t>
            </a:r>
            <a:r>
              <a:rPr lang="en-GB" dirty="0">
                <a:solidFill>
                  <a:srgbClr val="0000CD"/>
                </a:solidFill>
                <a:latin typeface="Consolas" panose="020B0609020204030204" pitchFamily="49" charset="0"/>
              </a:rPr>
              <a:t>return</a:t>
            </a:r>
            <a:r>
              <a:rPr lang="en-GB" dirty="0">
                <a:solidFill>
                  <a:srgbClr val="000000"/>
                </a:solidFill>
                <a:latin typeface="Consolas" panose="020B0609020204030204" pitchFamily="49" charset="0"/>
              </a:rPr>
              <a:t> x + y;</a:t>
            </a:r>
            <a:r>
              <a:rPr lang="en-GB" dirty="0"/>
              <a:t/>
            </a:r>
            <a:br>
              <a:rPr lang="en-GB" dirty="0"/>
            </a:b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main() {</a:t>
            </a:r>
            <a:r>
              <a:rPr lang="en-GB" dirty="0"/>
              <a:t/>
            </a:r>
            <a:br>
              <a:rPr lang="en-GB" dirty="0"/>
            </a:b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 Create an array</a:t>
            </a:r>
            <a:br>
              <a:rPr lang="en-GB" dirty="0">
                <a:solidFill>
                  <a:srgbClr val="008000"/>
                </a:solidFill>
                <a:latin typeface="Consolas" panose="020B0609020204030204" pitchFamily="49" charset="0"/>
              </a:rPr>
            </a:br>
            <a:r>
              <a:rPr lang="en-GB" dirty="0">
                <a:solidFill>
                  <a:srgbClr val="000000"/>
                </a:solidFill>
                <a:latin typeface="Consolas" panose="020B0609020204030204" pitchFamily="49" charset="0"/>
              </a:rPr>
              <a:t>  </a:t>
            </a: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6</a:t>
            </a:r>
            <a:r>
              <a:rPr lang="en-GB" dirty="0">
                <a:solidFill>
                  <a:srgbClr val="000000"/>
                </a:solidFill>
                <a:latin typeface="Consolas" panose="020B0609020204030204" pitchFamily="49" charset="0"/>
              </a:rPr>
              <a:t>];</a:t>
            </a:r>
            <a:endParaRPr lang="en-GB" dirty="0"/>
          </a:p>
        </p:txBody>
      </p:sp>
      <p:sp>
        <p:nvSpPr>
          <p:cNvPr id="5" name="Rectangle 4"/>
          <p:cNvSpPr/>
          <p:nvPr/>
        </p:nvSpPr>
        <p:spPr>
          <a:xfrm>
            <a:off x="4960619" y="1127655"/>
            <a:ext cx="7004957" cy="4247317"/>
          </a:xfrm>
          <a:prstGeom prst="rect">
            <a:avLst/>
          </a:prstGeom>
        </p:spPr>
        <p:txBody>
          <a:bodyPr wrap="square">
            <a:spAutoFit/>
          </a:bodyPr>
          <a:lstStyle/>
          <a:p>
            <a:r>
              <a:rPr lang="en-GB" dirty="0">
                <a:solidFill>
                  <a:srgbClr val="008000"/>
                </a:solidFill>
                <a:latin typeface="Consolas" panose="020B0609020204030204" pitchFamily="49" charset="0"/>
              </a:rPr>
              <a:t>// Call the function with different arguments and store the results in the array</a:t>
            </a:r>
            <a:br>
              <a:rPr lang="en-GB" dirty="0">
                <a:solidFill>
                  <a:srgbClr val="008000"/>
                </a:solidFill>
                <a:latin typeface="Consolas" panose="020B0609020204030204" pitchFamily="49" charset="0"/>
              </a:rPr>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calculateSum</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3</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calculateSum</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8</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calculateSum</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15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15</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3</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calculateSum</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9</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calculateSum</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7</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5</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calculateSum</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0000"/>
                </a:solidFill>
                <a:latin typeface="Consolas" panose="020B0609020204030204" pitchFamily="49" charset="0"/>
              </a:rPr>
              <a:t>  </a:t>
            </a:r>
            <a:r>
              <a:rPr lang="en-GB" dirty="0">
                <a:solidFill>
                  <a:srgbClr val="0000CD"/>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&lt; </a:t>
            </a:r>
            <a:r>
              <a:rPr lang="en-GB" dirty="0">
                <a:solidFill>
                  <a:srgbClr val="FF0000"/>
                </a:solidFill>
                <a:latin typeface="Consolas" panose="020B0609020204030204" pitchFamily="49" charset="0"/>
              </a:rPr>
              <a:t>6</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a:t>
            </a:r>
            <a:r>
              <a:rPr lang="en-GB" dirty="0" err="1">
                <a:solidFill>
                  <a:srgbClr val="A52A2A"/>
                </a:solidFill>
                <a:latin typeface="Consolas" panose="020B0609020204030204" pitchFamily="49" charset="0"/>
              </a:rPr>
              <a:t>Result%d</a:t>
            </a:r>
            <a:r>
              <a:rPr lang="en-GB" dirty="0">
                <a:solidFill>
                  <a:srgbClr val="A52A2A"/>
                </a:solidFill>
                <a:latin typeface="Consolas" panose="020B0609020204030204" pitchFamily="49" charset="0"/>
              </a:rPr>
              <a:t> is = %d\n"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resultArr</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  }</a:t>
            </a:r>
            <a:r>
              <a:rPr lang="en-GB" dirty="0"/>
              <a:t/>
            </a:r>
            <a:br>
              <a:rPr lang="en-GB" dirty="0"/>
            </a:br>
            <a:r>
              <a:rPr lang="en-GB" dirty="0"/>
              <a:t/>
            </a:r>
            <a:br>
              <a:rPr lang="en-GB" dirty="0"/>
            </a:br>
            <a:r>
              <a:rPr lang="en-GB" dirty="0">
                <a:solidFill>
                  <a:srgbClr val="000000"/>
                </a:solidFill>
                <a:latin typeface="Consolas" panose="020B0609020204030204" pitchFamily="49" charset="0"/>
              </a:rPr>
              <a:t>  </a:t>
            </a:r>
            <a:r>
              <a:rPr lang="en-GB" dirty="0">
                <a:solidFill>
                  <a:srgbClr val="0000CD"/>
                </a:solidFill>
                <a:latin typeface="Consolas" panose="020B0609020204030204" pitchFamily="49" charset="0"/>
              </a:rPr>
              <a:t>return</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31885178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Exercise</a:t>
            </a:r>
            <a:endParaRPr lang="en-GB" dirty="0"/>
          </a:p>
        </p:txBody>
      </p:sp>
      <p:sp>
        <p:nvSpPr>
          <p:cNvPr id="3" name="Content Placeholder 2"/>
          <p:cNvSpPr>
            <a:spLocks noGrp="1"/>
          </p:cNvSpPr>
          <p:nvPr>
            <p:ph idx="1"/>
          </p:nvPr>
        </p:nvSpPr>
        <p:spPr/>
        <p:txBody>
          <a:bodyPr/>
          <a:lstStyle/>
          <a:p>
            <a:pPr algn="just">
              <a:lnSpc>
                <a:spcPct val="150000"/>
              </a:lnSpc>
            </a:pPr>
            <a:r>
              <a:rPr lang="en-GB" dirty="0"/>
              <a:t>To demonstrate a practical example of using functions, let's create a program that converts a value from </a:t>
            </a:r>
            <a:r>
              <a:rPr lang="en-GB" dirty="0" err="1"/>
              <a:t>fahrenheit</a:t>
            </a:r>
            <a:r>
              <a:rPr lang="en-GB" dirty="0"/>
              <a:t> to </a:t>
            </a:r>
            <a:r>
              <a:rPr lang="en-GB" dirty="0" smtClean="0"/>
              <a:t>Celsius.</a:t>
            </a:r>
          </a:p>
          <a:p>
            <a:pPr algn="just">
              <a:lnSpc>
                <a:spcPct val="150000"/>
              </a:lnSpc>
            </a:pPr>
            <a:r>
              <a:rPr lang="en-GB" dirty="0"/>
              <a:t>(</a:t>
            </a:r>
            <a:r>
              <a:rPr lang="en-GB" dirty="0" err="1"/>
              <a:t>fahrenheit</a:t>
            </a:r>
            <a:r>
              <a:rPr lang="en-GB" dirty="0"/>
              <a:t> </a:t>
            </a:r>
            <a:r>
              <a:rPr lang="en-GB" dirty="0"/>
              <a:t>-</a:t>
            </a:r>
            <a:r>
              <a:rPr lang="en-GB" dirty="0"/>
              <a:t> </a:t>
            </a:r>
            <a:r>
              <a:rPr lang="en-GB" dirty="0"/>
              <a:t>32)</a:t>
            </a:r>
            <a:r>
              <a:rPr lang="en-GB" dirty="0"/>
              <a:t> </a:t>
            </a:r>
            <a:r>
              <a:rPr lang="en-GB" dirty="0"/>
              <a:t>*</a:t>
            </a:r>
            <a:r>
              <a:rPr lang="en-GB" dirty="0"/>
              <a:t> </a:t>
            </a:r>
            <a:r>
              <a:rPr lang="en-GB" dirty="0"/>
              <a:t>5</a:t>
            </a:r>
            <a:r>
              <a:rPr lang="en-GB" dirty="0"/>
              <a:t> </a:t>
            </a:r>
            <a:r>
              <a:rPr lang="en-GB" dirty="0"/>
              <a:t>/</a:t>
            </a:r>
            <a:r>
              <a:rPr lang="en-GB" dirty="0"/>
              <a:t> </a:t>
            </a:r>
            <a:r>
              <a:rPr lang="en-GB" dirty="0"/>
              <a:t>9</a:t>
            </a:r>
            <a:endParaRPr lang="en-GB" dirty="0"/>
          </a:p>
        </p:txBody>
      </p:sp>
    </p:spTree>
    <p:extLst>
      <p:ext uri="{BB962C8B-B14F-4D97-AF65-F5344CB8AC3E}">
        <p14:creationId xmlns:p14="http://schemas.microsoft.com/office/powerpoint/2010/main" val="2122142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What </a:t>
            </a:r>
            <a:r>
              <a:rPr lang="en-GB" dirty="0">
                <a:solidFill>
                  <a:srgbClr val="023182"/>
                </a:solidFill>
                <a:latin typeface="Times New Roman"/>
                <a:ea typeface="Times New Roman"/>
                <a:cs typeface="Times New Roman"/>
                <a:sym typeface="Times New Roman"/>
              </a:rPr>
              <a:t>is a Structure?</a:t>
            </a:r>
            <a:endParaRPr lang="en-GB" dirty="0"/>
          </a:p>
        </p:txBody>
      </p:sp>
      <p:sp>
        <p:nvSpPr>
          <p:cNvPr id="3" name="Content Placeholder 2"/>
          <p:cNvSpPr>
            <a:spLocks noGrp="1"/>
          </p:cNvSpPr>
          <p:nvPr>
            <p:ph idx="1"/>
          </p:nvPr>
        </p:nvSpPr>
        <p:spPr/>
        <p:txBody>
          <a:bodyPr/>
          <a:lstStyle/>
          <a:p>
            <a:pPr marL="0" indent="0" algn="just">
              <a:lnSpc>
                <a:spcPct val="150000"/>
              </a:lnSpc>
              <a:buNone/>
            </a:pPr>
            <a:r>
              <a:rPr lang="en-GB" dirty="0">
                <a:latin typeface="Times New Roman" panose="02020603050405020304" pitchFamily="18" charset="0"/>
                <a:cs typeface="Times New Roman" panose="02020603050405020304" pitchFamily="18" charset="0"/>
              </a:rPr>
              <a:t>A structure is a user-defined data type that groups related variables of </a:t>
            </a:r>
            <a:r>
              <a:rPr lang="en-GB" b="1" dirty="0">
                <a:latin typeface="Times New Roman" panose="02020603050405020304" pitchFamily="18" charset="0"/>
                <a:cs typeface="Times New Roman" panose="02020603050405020304" pitchFamily="18" charset="0"/>
              </a:rPr>
              <a:t>different data types</a:t>
            </a:r>
            <a:r>
              <a:rPr lang="en-GB" dirty="0">
                <a:latin typeface="Times New Roman" panose="02020603050405020304" pitchFamily="18" charset="0"/>
                <a:cs typeface="Times New Roman" panose="02020603050405020304" pitchFamily="18" charset="0"/>
              </a:rPr>
              <a:t> under one name.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08444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637" y="452846"/>
            <a:ext cx="10160726" cy="1010193"/>
          </a:xfrm>
        </p:spPr>
        <p:txBody>
          <a:bodyPr>
            <a:normAutofit/>
          </a:bodyPr>
          <a:lstStyle/>
          <a:p>
            <a:r>
              <a:rPr lang="en-GB" sz="3200" dirty="0" smtClean="0">
                <a:solidFill>
                  <a:srgbClr val="023182"/>
                </a:solidFill>
                <a:latin typeface="Times New Roman"/>
                <a:ea typeface="Times New Roman"/>
                <a:cs typeface="Times New Roman"/>
                <a:sym typeface="Times New Roman"/>
              </a:rPr>
              <a:t>Syntax</a:t>
            </a:r>
            <a:endParaRPr lang="en-GB" sz="3200" dirty="0"/>
          </a:p>
        </p:txBody>
      </p:sp>
      <p:sp>
        <p:nvSpPr>
          <p:cNvPr id="3" name="Content Placeholder 2"/>
          <p:cNvSpPr>
            <a:spLocks noGrp="1"/>
          </p:cNvSpPr>
          <p:nvPr>
            <p:ph idx="1"/>
          </p:nvPr>
        </p:nvSpPr>
        <p:spPr/>
        <p:txBody>
          <a:bodyPr/>
          <a:lstStyle/>
          <a:p>
            <a:pPr marL="0" indent="0" algn="just">
              <a:lnSpc>
                <a:spcPct val="150000"/>
              </a:lnSpc>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structureName</a:t>
            </a:r>
            <a:r>
              <a:rPr lang="en-GB" dirty="0">
                <a:latin typeface="Times New Roman" panose="02020603050405020304" pitchFamily="18" charset="0"/>
                <a:cs typeface="Times New Roman" panose="02020603050405020304" pitchFamily="18" charset="0"/>
              </a:rPr>
              <a:t> {</a:t>
            </a:r>
          </a:p>
          <a:p>
            <a:pPr marL="0" indent="0" algn="just">
              <a:lnSpc>
                <a:spcPct val="150000"/>
              </a:lnSpc>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dataType</a:t>
            </a:r>
            <a:r>
              <a:rPr lang="en-GB" dirty="0">
                <a:latin typeface="Times New Roman" panose="02020603050405020304" pitchFamily="18" charset="0"/>
                <a:cs typeface="Times New Roman" panose="02020603050405020304" pitchFamily="18" charset="0"/>
              </a:rPr>
              <a:t> member1;</a:t>
            </a:r>
          </a:p>
          <a:p>
            <a:pPr marL="0" indent="0" algn="just">
              <a:lnSpc>
                <a:spcPct val="150000"/>
              </a:lnSpc>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dataType</a:t>
            </a:r>
            <a:r>
              <a:rPr lang="en-GB" dirty="0">
                <a:latin typeface="Times New Roman" panose="02020603050405020304" pitchFamily="18" charset="0"/>
                <a:cs typeface="Times New Roman" panose="02020603050405020304" pitchFamily="18" charset="0"/>
              </a:rPr>
              <a:t> member2;</a:t>
            </a:r>
          </a:p>
          <a:p>
            <a:pPr marL="0" indent="0" algn="just">
              <a:lnSpc>
                <a:spcPct val="150000"/>
              </a:lnSpc>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dataType</a:t>
            </a:r>
            <a:r>
              <a:rPr lang="en-GB" dirty="0">
                <a:latin typeface="Times New Roman" panose="02020603050405020304" pitchFamily="18" charset="0"/>
                <a:cs typeface="Times New Roman" panose="02020603050405020304" pitchFamily="18" charset="0"/>
              </a:rPr>
              <a:t> member3;</a:t>
            </a:r>
          </a:p>
          <a:p>
            <a:pPr marL="0" indent="0" algn="just">
              <a:lnSpc>
                <a:spcPct val="150000"/>
              </a:lnSpc>
              <a:buNone/>
            </a:pPr>
            <a:r>
              <a:rPr lang="en-GB"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6806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637" y="452846"/>
            <a:ext cx="10160726" cy="1010193"/>
          </a:xfrm>
        </p:spPr>
        <p:txBody>
          <a:bodyPr>
            <a:normAutofit/>
          </a:bodyPr>
          <a:lstStyle/>
          <a:p>
            <a:r>
              <a:rPr lang="en-GB" sz="3200" dirty="0" smtClean="0">
                <a:solidFill>
                  <a:srgbClr val="023182"/>
                </a:solidFill>
                <a:latin typeface="Times New Roman"/>
                <a:ea typeface="Times New Roman"/>
                <a:cs typeface="Times New Roman"/>
                <a:sym typeface="Times New Roman"/>
              </a:rPr>
              <a:t>Example</a:t>
            </a:r>
            <a:r>
              <a:rPr lang="en-GB" sz="3200" dirty="0">
                <a:solidFill>
                  <a:srgbClr val="023182"/>
                </a:solidFill>
                <a:latin typeface="Times New Roman"/>
                <a:ea typeface="Times New Roman"/>
                <a:cs typeface="Times New Roman"/>
                <a:sym typeface="Times New Roman"/>
              </a:rPr>
              <a:t>:</a:t>
            </a:r>
            <a:endParaRPr lang="en-GB" sz="3200" dirty="0"/>
          </a:p>
        </p:txBody>
      </p:sp>
      <p:sp>
        <p:nvSpPr>
          <p:cNvPr id="3" name="Content Placeholder 2"/>
          <p:cNvSpPr>
            <a:spLocks noGrp="1"/>
          </p:cNvSpPr>
          <p:nvPr>
            <p:ph idx="1"/>
          </p:nvPr>
        </p:nvSpPr>
        <p:spPr>
          <a:xfrm>
            <a:off x="742406" y="1346652"/>
            <a:ext cx="10515600" cy="5358947"/>
          </a:xfrm>
        </p:spPr>
        <p:txBody>
          <a:bodyPr>
            <a:normAutofit/>
          </a:bodyPr>
          <a:lstStyle/>
          <a:p>
            <a:pPr marL="0" indent="0" algn="just">
              <a:lnSpc>
                <a:spcPct val="150000"/>
              </a:lnSpc>
              <a:buNone/>
            </a:pPr>
            <a:r>
              <a:rPr lang="en-GB" sz="2400" dirty="0" err="1">
                <a:latin typeface="Times New Roman" panose="02020603050405020304" pitchFamily="18" charset="0"/>
                <a:cs typeface="Times New Roman" panose="02020603050405020304" pitchFamily="18" charset="0"/>
              </a:rPr>
              <a:t>struct</a:t>
            </a:r>
            <a:r>
              <a:rPr lang="en-GB" sz="2400" dirty="0">
                <a:latin typeface="Times New Roman" panose="02020603050405020304" pitchFamily="18" charset="0"/>
                <a:cs typeface="Times New Roman" panose="02020603050405020304" pitchFamily="18" charset="0"/>
              </a:rPr>
              <a:t> Student {    </a:t>
            </a:r>
            <a:endParaRPr lang="en-GB" sz="2400"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GB" sz="2400" dirty="0" smtClean="0">
                <a:latin typeface="Times New Roman" panose="02020603050405020304" pitchFamily="18" charset="0"/>
                <a:cs typeface="Times New Roman" panose="02020603050405020304" pitchFamily="18" charset="0"/>
              </a:rPr>
              <a:t>char </a:t>
            </a:r>
            <a:r>
              <a:rPr lang="en-GB" sz="2400" dirty="0">
                <a:latin typeface="Times New Roman" panose="02020603050405020304" pitchFamily="18" charset="0"/>
                <a:cs typeface="Times New Roman" panose="02020603050405020304" pitchFamily="18" charset="0"/>
              </a:rPr>
              <a:t>name[50];   </a:t>
            </a:r>
            <a:endParaRPr lang="en-GB" sz="2400"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GB" sz="2400" dirty="0" smtClean="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int</a:t>
            </a:r>
            <a:r>
              <a:rPr lang="en-GB" sz="2400" dirty="0">
                <a:latin typeface="Times New Roman" panose="02020603050405020304" pitchFamily="18" charset="0"/>
                <a:cs typeface="Times New Roman" panose="02020603050405020304" pitchFamily="18" charset="0"/>
              </a:rPr>
              <a:t> age;    </a:t>
            </a:r>
            <a:endParaRPr lang="en-GB" sz="2400"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GB" sz="2400" dirty="0" smtClean="0">
                <a:latin typeface="Times New Roman" panose="02020603050405020304" pitchFamily="18" charset="0"/>
                <a:cs typeface="Times New Roman" panose="02020603050405020304" pitchFamily="18" charset="0"/>
              </a:rPr>
              <a:t>float </a:t>
            </a:r>
            <a:r>
              <a:rPr lang="en-GB" sz="2400" dirty="0" err="1">
                <a:latin typeface="Times New Roman" panose="02020603050405020304" pitchFamily="18" charset="0"/>
                <a:cs typeface="Times New Roman" panose="02020603050405020304" pitchFamily="18" charset="0"/>
              </a:rPr>
              <a:t>gpa</a:t>
            </a:r>
            <a:r>
              <a:rPr lang="en-GB" sz="2400"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GB" sz="2400"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GB" sz="2400" dirty="0">
                <a:latin typeface="Times New Roman" panose="02020603050405020304" pitchFamily="18" charset="0"/>
                <a:cs typeface="Times New Roman" panose="02020603050405020304" pitchFamily="18" charset="0"/>
              </a:rPr>
              <a:t>Think of a structure like a </a:t>
            </a:r>
            <a:r>
              <a:rPr lang="en-GB" sz="2400" b="1" dirty="0" smtClean="0">
                <a:latin typeface="Times New Roman" panose="02020603050405020304" pitchFamily="18" charset="0"/>
                <a:cs typeface="Times New Roman" panose="02020603050405020304" pitchFamily="18" charset="0"/>
              </a:rPr>
              <a:t>form</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one form holds many different pieces of information about one person.</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9748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95160"/>
            <a:ext cx="10515600" cy="801824"/>
          </a:xfrm>
        </p:spPr>
        <p:txBody>
          <a:bodyPr>
            <a:normAutofit/>
          </a:bodyPr>
          <a:lstStyle/>
          <a:p>
            <a:r>
              <a:rPr lang="en-GB" sz="4000" dirty="0" smtClean="0">
                <a:solidFill>
                  <a:srgbClr val="023182"/>
                </a:solidFill>
                <a:latin typeface="Times New Roman"/>
                <a:ea typeface="Times New Roman"/>
                <a:cs typeface="Times New Roman"/>
                <a:sym typeface="Times New Roman"/>
              </a:rPr>
              <a:t>How </a:t>
            </a:r>
            <a:r>
              <a:rPr lang="en-GB" sz="4000" dirty="0">
                <a:solidFill>
                  <a:srgbClr val="023182"/>
                </a:solidFill>
                <a:latin typeface="Times New Roman"/>
                <a:ea typeface="Times New Roman"/>
                <a:cs typeface="Times New Roman"/>
                <a:sym typeface="Times New Roman"/>
              </a:rPr>
              <a:t>to declare structure variables?</a:t>
            </a:r>
            <a:endParaRPr lang="en-GB" sz="4000" dirty="0"/>
          </a:p>
        </p:txBody>
      </p:sp>
      <p:sp>
        <p:nvSpPr>
          <p:cNvPr id="3" name="Content Placeholder 2"/>
          <p:cNvSpPr>
            <a:spLocks noGrp="1"/>
          </p:cNvSpPr>
          <p:nvPr>
            <p:ph idx="1"/>
          </p:nvPr>
        </p:nvSpPr>
        <p:spPr>
          <a:xfrm>
            <a:off x="681445" y="1036320"/>
            <a:ext cx="10515600" cy="5547360"/>
          </a:xfrm>
        </p:spPr>
        <p:txBody>
          <a:bodyPr>
            <a:normAutofit fontScale="70000" lnSpcReduction="20000"/>
          </a:bodyPr>
          <a:lstStyle/>
          <a:p>
            <a:pPr marL="0" indent="0">
              <a:buNone/>
            </a:pPr>
            <a:r>
              <a:rPr lang="en-GB" dirty="0">
                <a:latin typeface="Times New Roman" panose="02020603050405020304" pitchFamily="18" charset="0"/>
                <a:cs typeface="Times New Roman" panose="02020603050405020304" pitchFamily="18" charset="0"/>
              </a:rPr>
              <a:t>A structure variable can either be declared with structure declaration or as a separate declaration</a:t>
            </a:r>
          </a:p>
          <a:p>
            <a:pPr marL="0" indent="0">
              <a:buNone/>
            </a:pPr>
            <a:r>
              <a:rPr lang="en-GB" dirty="0">
                <a:latin typeface="Times New Roman" panose="02020603050405020304" pitchFamily="18" charset="0"/>
                <a:cs typeface="Times New Roman" panose="02020603050405020304" pitchFamily="18" charset="0"/>
              </a:rPr>
              <a:t>like basic types.</a:t>
            </a:r>
          </a:p>
          <a:p>
            <a:pPr marL="0" indent="0">
              <a:buNone/>
            </a:pPr>
            <a:r>
              <a:rPr lang="en-GB" dirty="0">
                <a:latin typeface="Times New Roman" panose="02020603050405020304" pitchFamily="18" charset="0"/>
                <a:cs typeface="Times New Roman" panose="02020603050405020304" pitchFamily="18" charset="0"/>
              </a:rPr>
              <a:t>// Type-1Structure variable declaration.</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x, y;</a:t>
            </a:r>
          </a:p>
          <a:p>
            <a:pPr marL="0" indent="0">
              <a:buNone/>
            </a:pPr>
            <a:r>
              <a:rPr lang="en-GB" dirty="0">
                <a:latin typeface="Times New Roman" panose="02020603050405020304" pitchFamily="18" charset="0"/>
                <a:cs typeface="Times New Roman" panose="02020603050405020304" pitchFamily="18" charset="0"/>
              </a:rPr>
              <a:t>} p1; // The variable p1 is declared with 'Point'</a:t>
            </a:r>
          </a:p>
          <a:p>
            <a:pPr marL="0" indent="0">
              <a:buNone/>
            </a:pPr>
            <a:r>
              <a:rPr lang="en-GB" dirty="0">
                <a:latin typeface="Times New Roman" panose="02020603050405020304" pitchFamily="18" charset="0"/>
                <a:cs typeface="Times New Roman" panose="02020603050405020304" pitchFamily="18" charset="0"/>
              </a:rPr>
              <a:t>// Type-2 Structure variable declaration.</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x, y;</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void main()</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 p1; // The variable p1 is declared like a normal variable</a:t>
            </a:r>
          </a:p>
          <a:p>
            <a:pPr marL="0" indent="0">
              <a:buNone/>
            </a:pPr>
            <a:r>
              <a:rPr lang="en-GB"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03661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95160"/>
            <a:ext cx="10515600" cy="801824"/>
          </a:xfrm>
        </p:spPr>
        <p:txBody>
          <a:bodyPr>
            <a:normAutofit/>
          </a:bodyPr>
          <a:lstStyle/>
          <a:p>
            <a:r>
              <a:rPr lang="en-GB" sz="4000" dirty="0" smtClean="0">
                <a:solidFill>
                  <a:srgbClr val="023182"/>
                </a:solidFill>
                <a:latin typeface="Times New Roman"/>
                <a:ea typeface="Times New Roman"/>
                <a:cs typeface="Times New Roman"/>
                <a:sym typeface="Times New Roman"/>
              </a:rPr>
              <a:t>How </a:t>
            </a:r>
            <a:r>
              <a:rPr lang="en-GB" sz="4000" dirty="0">
                <a:solidFill>
                  <a:srgbClr val="023182"/>
                </a:solidFill>
                <a:latin typeface="Times New Roman"/>
                <a:ea typeface="Times New Roman"/>
                <a:cs typeface="Times New Roman"/>
                <a:sym typeface="Times New Roman"/>
              </a:rPr>
              <a:t>to initialize structure members?</a:t>
            </a:r>
            <a:endParaRPr lang="en-GB" sz="4000" dirty="0"/>
          </a:p>
        </p:txBody>
      </p:sp>
      <p:sp>
        <p:nvSpPr>
          <p:cNvPr id="3" name="Content Placeholder 2"/>
          <p:cNvSpPr>
            <a:spLocks noGrp="1"/>
          </p:cNvSpPr>
          <p:nvPr>
            <p:ph idx="1"/>
          </p:nvPr>
        </p:nvSpPr>
        <p:spPr>
          <a:xfrm>
            <a:off x="681445" y="1036320"/>
            <a:ext cx="10515600" cy="5547360"/>
          </a:xfrm>
        </p:spPr>
        <p:txBody>
          <a:bodyPr>
            <a:normAutofit fontScale="55000" lnSpcReduction="20000"/>
          </a:bodyPr>
          <a:lstStyle/>
          <a:p>
            <a:pPr marL="0" indent="0">
              <a:buNone/>
            </a:pPr>
            <a:r>
              <a:rPr lang="en-GB" dirty="0">
                <a:latin typeface="Times New Roman" panose="02020603050405020304" pitchFamily="18" charset="0"/>
                <a:cs typeface="Times New Roman" panose="02020603050405020304" pitchFamily="18" charset="0"/>
              </a:rPr>
              <a:t>Structure members cannot be initialized with declaration.</a:t>
            </a:r>
          </a:p>
          <a:p>
            <a:pPr marL="0" indent="0">
              <a:buNone/>
            </a:pPr>
            <a:r>
              <a:rPr lang="en-GB" dirty="0">
                <a:latin typeface="Times New Roman" panose="02020603050405020304" pitchFamily="18" charset="0"/>
                <a:cs typeface="Times New Roman" panose="02020603050405020304" pitchFamily="18" charset="0"/>
              </a:rPr>
              <a:t>For example, the following C program used to show WRONG initialization</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x = 0; // COMPILER ERROR: cannot initialize members here</a:t>
            </a: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y = 0; // COMPILER ERROR: cannot initialize members here</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The reason for above error is simple, when a datatype is declared; no memory is allocated for it.</a:t>
            </a:r>
          </a:p>
          <a:p>
            <a:pPr marL="0" indent="0">
              <a:buNone/>
            </a:pPr>
            <a:r>
              <a:rPr lang="en-GB" dirty="0">
                <a:latin typeface="Times New Roman" panose="02020603050405020304" pitchFamily="18" charset="0"/>
                <a:cs typeface="Times New Roman" panose="02020603050405020304" pitchFamily="18" charset="0"/>
              </a:rPr>
              <a:t>Memory is allocated only when variables are created.</a:t>
            </a:r>
          </a:p>
          <a:p>
            <a:pPr marL="0" indent="0">
              <a:buNone/>
            </a:pPr>
            <a:r>
              <a:rPr lang="en-GB" dirty="0">
                <a:latin typeface="Times New Roman" panose="02020603050405020304" pitchFamily="18" charset="0"/>
                <a:cs typeface="Times New Roman" panose="02020603050405020304" pitchFamily="18" charset="0"/>
              </a:rPr>
              <a:t>Structure members can be initialized using curly braces ‘{}’.</a:t>
            </a:r>
          </a:p>
          <a:p>
            <a:pPr marL="0" indent="0">
              <a:buNone/>
            </a:pPr>
            <a:r>
              <a:rPr lang="en-GB" dirty="0">
                <a:latin typeface="Times New Roman" panose="02020603050405020304" pitchFamily="18" charset="0"/>
                <a:cs typeface="Times New Roman" panose="02020603050405020304" pitchFamily="18" charset="0"/>
              </a:rPr>
              <a:t>For example, following is a CORRECT initialization.</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x, y;</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void main()</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 p1 = {0, 1};</a:t>
            </a:r>
          </a:p>
          <a:p>
            <a:pPr marL="0" indent="0">
              <a:buNone/>
            </a:pPr>
            <a:r>
              <a:rPr lang="en-GB" dirty="0">
                <a:latin typeface="Times New Roman" panose="02020603050405020304" pitchFamily="18" charset="0"/>
                <a:cs typeface="Times New Roman" panose="02020603050405020304" pitchFamily="18" charset="0"/>
              </a:rPr>
              <a:t>}</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2763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95160"/>
            <a:ext cx="10515600" cy="801824"/>
          </a:xfrm>
        </p:spPr>
        <p:txBody>
          <a:bodyPr>
            <a:normAutofit/>
          </a:bodyPr>
          <a:lstStyle/>
          <a:p>
            <a:r>
              <a:rPr lang="en-GB" sz="4000" dirty="0" smtClean="0">
                <a:solidFill>
                  <a:srgbClr val="023182"/>
                </a:solidFill>
                <a:latin typeface="Times New Roman"/>
                <a:ea typeface="Times New Roman"/>
                <a:cs typeface="Times New Roman"/>
                <a:sym typeface="Times New Roman"/>
              </a:rPr>
              <a:t>How </a:t>
            </a:r>
            <a:r>
              <a:rPr lang="en-GB" sz="4000" dirty="0">
                <a:solidFill>
                  <a:srgbClr val="023182"/>
                </a:solidFill>
                <a:latin typeface="Times New Roman"/>
                <a:ea typeface="Times New Roman"/>
                <a:cs typeface="Times New Roman"/>
                <a:sym typeface="Times New Roman"/>
              </a:rPr>
              <a:t>to access structure elements?</a:t>
            </a:r>
            <a:endParaRPr lang="en-GB" sz="4000" dirty="0"/>
          </a:p>
        </p:txBody>
      </p:sp>
      <p:sp>
        <p:nvSpPr>
          <p:cNvPr id="3" name="Content Placeholder 2"/>
          <p:cNvSpPr>
            <a:spLocks noGrp="1"/>
          </p:cNvSpPr>
          <p:nvPr>
            <p:ph idx="1"/>
          </p:nvPr>
        </p:nvSpPr>
        <p:spPr>
          <a:xfrm>
            <a:off x="681445" y="1036320"/>
            <a:ext cx="10515600" cy="5547360"/>
          </a:xfrm>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Structure members are accessed using dot (.) operator.</a:t>
            </a:r>
          </a:p>
          <a:p>
            <a:pPr marL="0" indent="0">
              <a:buNone/>
            </a:pPr>
            <a:r>
              <a:rPr lang="en-GB" dirty="0">
                <a:latin typeface="Times New Roman" panose="02020603050405020304" pitchFamily="18" charset="0"/>
                <a:cs typeface="Times New Roman" panose="02020603050405020304" pitchFamily="18" charset="0"/>
              </a:rPr>
              <a:t>#include&lt;</a:t>
            </a:r>
            <a:r>
              <a:rPr lang="en-GB" dirty="0" err="1">
                <a:latin typeface="Times New Roman" panose="02020603050405020304" pitchFamily="18" charset="0"/>
                <a:cs typeface="Times New Roman" panose="02020603050405020304" pitchFamily="18" charset="0"/>
              </a:rPr>
              <a:t>stdio.h</a:t>
            </a:r>
            <a:r>
              <a:rPr lang="en-GB" dirty="0">
                <a:latin typeface="Times New Roman" panose="02020603050405020304" pitchFamily="18" charset="0"/>
                <a:cs typeface="Times New Roman" panose="02020603050405020304" pitchFamily="18" charset="0"/>
              </a:rPr>
              <a:t>&gt;</a:t>
            </a:r>
          </a:p>
          <a:p>
            <a:pPr marL="0" indent="0">
              <a:buNone/>
            </a:pPr>
            <a:r>
              <a:rPr lang="en-GB" dirty="0">
                <a:latin typeface="Times New Roman" panose="02020603050405020304" pitchFamily="18" charset="0"/>
                <a:cs typeface="Times New Roman" panose="02020603050405020304" pitchFamily="18" charset="0"/>
              </a:rPr>
              <a:t>#include&lt;</a:t>
            </a:r>
            <a:r>
              <a:rPr lang="en-GB" dirty="0" err="1">
                <a:latin typeface="Times New Roman" panose="02020603050405020304" pitchFamily="18" charset="0"/>
                <a:cs typeface="Times New Roman" panose="02020603050405020304" pitchFamily="18" charset="0"/>
              </a:rPr>
              <a:t>conio.h</a:t>
            </a:r>
            <a:r>
              <a:rPr lang="en-GB" dirty="0">
                <a:latin typeface="Times New Roman" panose="02020603050405020304" pitchFamily="18" charset="0"/>
                <a:cs typeface="Times New Roman" panose="02020603050405020304" pitchFamily="18" charset="0"/>
              </a:rPr>
              <a:t>&gt;</a:t>
            </a:r>
          </a:p>
          <a:p>
            <a:pPr marL="0" indent="0">
              <a:buNone/>
            </a:pPr>
            <a:r>
              <a:rPr lang="en-GB" dirty="0" err="1">
                <a:latin typeface="Times New Roman" panose="02020603050405020304" pitchFamily="18" charset="0"/>
                <a:cs typeface="Times New Roman" panose="02020603050405020304" pitchFamily="18" charset="0"/>
              </a:rPr>
              <a:t>s</a:t>
            </a:r>
            <a:r>
              <a:rPr lang="en-GB" dirty="0" err="1" smtClean="0">
                <a:latin typeface="Times New Roman" panose="02020603050405020304" pitchFamily="18" charset="0"/>
                <a:cs typeface="Times New Roman" panose="02020603050405020304" pitchFamily="18" charset="0"/>
              </a:rPr>
              <a:t>truct</a:t>
            </a:r>
            <a:r>
              <a:rPr lang="en-GB" dirty="0" smtClean="0">
                <a:latin typeface="Times New Roman" panose="02020603050405020304" pitchFamily="18" charset="0"/>
                <a:cs typeface="Times New Roman" panose="02020603050405020304" pitchFamily="18" charset="0"/>
              </a:rPr>
              <a:t> TEST</a:t>
            </a: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x, y;</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void main()</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s</a:t>
            </a:r>
            <a:r>
              <a:rPr lang="en-GB" dirty="0" err="1" smtClean="0">
                <a:latin typeface="Times New Roman" panose="02020603050405020304" pitchFamily="18" charset="0"/>
                <a:cs typeface="Times New Roman" panose="02020603050405020304" pitchFamily="18" charset="0"/>
              </a:rPr>
              <a:t>truct</a:t>
            </a:r>
            <a:r>
              <a:rPr lang="en-GB" dirty="0" smtClean="0">
                <a:latin typeface="Times New Roman" panose="02020603050405020304" pitchFamily="18" charset="0"/>
                <a:cs typeface="Times New Roman" panose="02020603050405020304" pitchFamily="18" charset="0"/>
              </a:rPr>
              <a:t> TEST t1 </a:t>
            </a:r>
            <a:r>
              <a:rPr lang="en-GB" dirty="0">
                <a:latin typeface="Times New Roman" panose="02020603050405020304" pitchFamily="18" charset="0"/>
                <a:cs typeface="Times New Roman" panose="02020603050405020304" pitchFamily="18" charset="0"/>
              </a:rPr>
              <a:t>= {0, 1};</a:t>
            </a:r>
          </a:p>
          <a:p>
            <a:pPr marL="0" indent="0">
              <a:buNone/>
            </a:pPr>
            <a:r>
              <a:rPr lang="en-GB" dirty="0">
                <a:latin typeface="Times New Roman" panose="02020603050405020304" pitchFamily="18" charset="0"/>
                <a:cs typeface="Times New Roman" panose="02020603050405020304" pitchFamily="18" charset="0"/>
              </a:rPr>
              <a:t>// Accessing members of TEST t1</a:t>
            </a:r>
          </a:p>
          <a:p>
            <a:pPr marL="0" indent="0">
              <a:buNone/>
            </a:pPr>
            <a:r>
              <a:rPr lang="en-GB" dirty="0">
                <a:latin typeface="Times New Roman" panose="02020603050405020304" pitchFamily="18" charset="0"/>
                <a:cs typeface="Times New Roman" panose="02020603050405020304" pitchFamily="18" charset="0"/>
              </a:rPr>
              <a:t>t1.x = 20;</a:t>
            </a:r>
          </a:p>
          <a:p>
            <a:pPr marL="0" indent="0">
              <a:buNone/>
            </a:pPr>
            <a:r>
              <a:rPr lang="en-GB" dirty="0" err="1">
                <a:latin typeface="Times New Roman" panose="02020603050405020304" pitchFamily="18" charset="0"/>
                <a:cs typeface="Times New Roman" panose="02020603050405020304" pitchFamily="18" charset="0"/>
              </a:rPr>
              <a:t>printf</a:t>
            </a:r>
            <a:r>
              <a:rPr lang="en-GB" dirty="0">
                <a:latin typeface="Times New Roman" panose="02020603050405020304" pitchFamily="18" charset="0"/>
                <a:cs typeface="Times New Roman" panose="02020603050405020304" pitchFamily="18" charset="0"/>
              </a:rPr>
              <a:t> ("x = %d, y = %d", t1.x, t1.y);</a:t>
            </a:r>
          </a:p>
          <a:p>
            <a:pPr marL="0" indent="0">
              <a:buNone/>
            </a:pPr>
            <a:r>
              <a:rPr lang="en-GB" dirty="0" err="1">
                <a:latin typeface="Times New Roman" panose="02020603050405020304" pitchFamily="18" charset="0"/>
                <a:cs typeface="Times New Roman" panose="02020603050405020304" pitchFamily="18" charset="0"/>
              </a:rPr>
              <a:t>getch</a:t>
            </a: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138075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95160"/>
            <a:ext cx="10515600" cy="801824"/>
          </a:xfrm>
        </p:spPr>
        <p:txBody>
          <a:bodyPr>
            <a:normAutofit/>
          </a:bodyPr>
          <a:lstStyle/>
          <a:p>
            <a:r>
              <a:rPr lang="en-GB" sz="4000" dirty="0" smtClean="0">
                <a:solidFill>
                  <a:srgbClr val="023182"/>
                </a:solidFill>
                <a:latin typeface="Times New Roman"/>
                <a:ea typeface="Times New Roman"/>
                <a:cs typeface="Times New Roman"/>
                <a:sym typeface="Times New Roman"/>
              </a:rPr>
              <a:t>What </a:t>
            </a:r>
            <a:r>
              <a:rPr lang="en-GB" sz="4000" dirty="0">
                <a:solidFill>
                  <a:srgbClr val="023182"/>
                </a:solidFill>
                <a:latin typeface="Times New Roman"/>
                <a:ea typeface="Times New Roman"/>
                <a:cs typeface="Times New Roman"/>
                <a:sym typeface="Times New Roman"/>
              </a:rPr>
              <a:t>is an array of structures?</a:t>
            </a:r>
            <a:endParaRPr lang="en-GB" sz="4000" dirty="0"/>
          </a:p>
        </p:txBody>
      </p:sp>
      <p:sp>
        <p:nvSpPr>
          <p:cNvPr id="3" name="Content Placeholder 2"/>
          <p:cNvSpPr>
            <a:spLocks noGrp="1"/>
          </p:cNvSpPr>
          <p:nvPr>
            <p:ph idx="1"/>
          </p:nvPr>
        </p:nvSpPr>
        <p:spPr>
          <a:xfrm>
            <a:off x="420188" y="1428206"/>
            <a:ext cx="10515600" cy="5547360"/>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Structure is collection of different data type. An object of structure represents a single record in memory, but if we want more than one record of structure type, we have to create an array of </a:t>
            </a:r>
            <a:r>
              <a:rPr lang="en-GB" dirty="0" err="1">
                <a:latin typeface="Times New Roman" panose="02020603050405020304" pitchFamily="18" charset="0"/>
                <a:cs typeface="Times New Roman" panose="02020603050405020304" pitchFamily="18" charset="0"/>
              </a:rPr>
              <a:t>structure.Like</a:t>
            </a:r>
            <a:r>
              <a:rPr lang="en-GB" dirty="0">
                <a:latin typeface="Times New Roman" panose="02020603050405020304" pitchFamily="18" charset="0"/>
                <a:cs typeface="Times New Roman" panose="02020603050405020304" pitchFamily="18" charset="0"/>
              </a:rPr>
              <a:t> other primitive data types, we can create an array of structures.</a:t>
            </a:r>
          </a:p>
        </p:txBody>
      </p:sp>
    </p:spTree>
    <p:extLst>
      <p:ext uri="{BB962C8B-B14F-4D97-AF65-F5344CB8AC3E}">
        <p14:creationId xmlns:p14="http://schemas.microsoft.com/office/powerpoint/2010/main" val="39816278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0194"/>
            <a:ext cx="10515600" cy="5166769"/>
          </a:xfrm>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#include&lt;</a:t>
            </a:r>
            <a:r>
              <a:rPr lang="en-GB" dirty="0" err="1">
                <a:latin typeface="Times New Roman" panose="02020603050405020304" pitchFamily="18" charset="0"/>
                <a:cs typeface="Times New Roman" panose="02020603050405020304" pitchFamily="18" charset="0"/>
              </a:rPr>
              <a:t>stdio.h</a:t>
            </a:r>
            <a:r>
              <a:rPr lang="en-GB" dirty="0">
                <a:latin typeface="Times New Roman" panose="02020603050405020304" pitchFamily="18" charset="0"/>
                <a:cs typeface="Times New Roman" panose="02020603050405020304" pitchFamily="18" charset="0"/>
              </a:rPr>
              <a:t>&gt;</a:t>
            </a:r>
          </a:p>
          <a:p>
            <a:pPr marL="0" indent="0">
              <a:buNone/>
            </a:pPr>
            <a:r>
              <a:rPr lang="en-GB" dirty="0">
                <a:latin typeface="Times New Roman" panose="02020603050405020304" pitchFamily="18" charset="0"/>
                <a:cs typeface="Times New Roman" panose="02020603050405020304" pitchFamily="18" charset="0"/>
              </a:rPr>
              <a:t>#include&lt;</a:t>
            </a:r>
            <a:r>
              <a:rPr lang="en-GB" dirty="0" err="1">
                <a:latin typeface="Times New Roman" panose="02020603050405020304" pitchFamily="18" charset="0"/>
                <a:cs typeface="Times New Roman" panose="02020603050405020304" pitchFamily="18" charset="0"/>
              </a:rPr>
              <a:t>conio.h</a:t>
            </a:r>
            <a:r>
              <a:rPr lang="en-GB" dirty="0">
                <a:latin typeface="Times New Roman" panose="02020603050405020304" pitchFamily="18" charset="0"/>
                <a:cs typeface="Times New Roman" panose="02020603050405020304" pitchFamily="18" charset="0"/>
              </a:rPr>
              <a:t>&gt;</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 // Structure declaration</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x, y;</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void main()</a:t>
            </a:r>
          </a:p>
          <a:p>
            <a:pPr marL="0" indent="0">
              <a:buNone/>
            </a:pPr>
            <a:r>
              <a:rPr lang="en-GB" dirty="0">
                <a:latin typeface="Times New Roman" panose="02020603050405020304" pitchFamily="18" charset="0"/>
                <a:cs typeface="Times New Roman" panose="02020603050405020304" pitchFamily="18" charset="0"/>
              </a:rPr>
              <a:t>{</a:t>
            </a:r>
          </a:p>
          <a:p>
            <a:pPr marL="0" indent="0">
              <a:buNone/>
            </a:pPr>
            <a:r>
              <a:rPr lang="en-GB" dirty="0" err="1">
                <a:latin typeface="Times New Roman" panose="02020603050405020304" pitchFamily="18" charset="0"/>
                <a:cs typeface="Times New Roman" panose="02020603050405020304" pitchFamily="18" charset="0"/>
              </a:rPr>
              <a:t>struct</a:t>
            </a:r>
            <a:r>
              <a:rPr lang="en-GB" dirty="0">
                <a:latin typeface="Times New Roman" panose="02020603050405020304" pitchFamily="18" charset="0"/>
                <a:cs typeface="Times New Roman" panose="02020603050405020304" pitchFamily="18" charset="0"/>
              </a:rPr>
              <a:t> Point </a:t>
            </a:r>
            <a:r>
              <a:rPr lang="en-GB" dirty="0" err="1">
                <a:latin typeface="Times New Roman" panose="02020603050405020304" pitchFamily="18" charset="0"/>
                <a:cs typeface="Times New Roman" panose="02020603050405020304" pitchFamily="18" charset="0"/>
              </a:rPr>
              <a:t>arr</a:t>
            </a:r>
            <a:r>
              <a:rPr lang="en-GB" dirty="0">
                <a:latin typeface="Times New Roman" panose="02020603050405020304" pitchFamily="18" charset="0"/>
                <a:cs typeface="Times New Roman" panose="02020603050405020304" pitchFamily="18" charset="0"/>
              </a:rPr>
              <a:t>[10]; // Create an array of structures</a:t>
            </a:r>
          </a:p>
          <a:p>
            <a:pPr marL="0" indent="0">
              <a:buNone/>
            </a:pPr>
            <a:r>
              <a:rPr lang="en-GB" dirty="0" err="1">
                <a:latin typeface="Times New Roman" panose="02020603050405020304" pitchFamily="18" charset="0"/>
                <a:cs typeface="Times New Roman" panose="02020603050405020304" pitchFamily="18" charset="0"/>
              </a:rPr>
              <a:t>arr</a:t>
            </a:r>
            <a:r>
              <a:rPr lang="en-GB" dirty="0">
                <a:latin typeface="Times New Roman" panose="02020603050405020304" pitchFamily="18" charset="0"/>
                <a:cs typeface="Times New Roman" panose="02020603050405020304" pitchFamily="18" charset="0"/>
              </a:rPr>
              <a:t>[0].x = 10; // Access array members</a:t>
            </a:r>
          </a:p>
          <a:p>
            <a:pPr marL="0" indent="0">
              <a:buNone/>
            </a:pPr>
            <a:r>
              <a:rPr lang="en-GB" dirty="0" err="1">
                <a:latin typeface="Times New Roman" panose="02020603050405020304" pitchFamily="18" charset="0"/>
                <a:cs typeface="Times New Roman" panose="02020603050405020304" pitchFamily="18" charset="0"/>
              </a:rPr>
              <a:t>arr</a:t>
            </a:r>
            <a:r>
              <a:rPr lang="en-GB" dirty="0">
                <a:latin typeface="Times New Roman" panose="02020603050405020304" pitchFamily="18" charset="0"/>
                <a:cs typeface="Times New Roman" panose="02020603050405020304" pitchFamily="18" charset="0"/>
              </a:rPr>
              <a:t>[0].y = 20;</a:t>
            </a:r>
          </a:p>
          <a:p>
            <a:pPr marL="0" indent="0">
              <a:buNone/>
            </a:pPr>
            <a:r>
              <a:rPr lang="en-GB" dirty="0" err="1">
                <a:latin typeface="Times New Roman" panose="02020603050405020304" pitchFamily="18" charset="0"/>
                <a:cs typeface="Times New Roman" panose="02020603050405020304" pitchFamily="18" charset="0"/>
              </a:rPr>
              <a:t>printf</a:t>
            </a:r>
            <a:r>
              <a:rPr lang="en-GB" dirty="0">
                <a:latin typeface="Times New Roman" panose="02020603050405020304" pitchFamily="18" charset="0"/>
                <a:cs typeface="Times New Roman" panose="02020603050405020304" pitchFamily="18" charset="0"/>
              </a:rPr>
              <a:t>("%d %d", </a:t>
            </a:r>
            <a:r>
              <a:rPr lang="en-GB" dirty="0" err="1">
                <a:latin typeface="Times New Roman" panose="02020603050405020304" pitchFamily="18" charset="0"/>
                <a:cs typeface="Times New Roman" panose="02020603050405020304" pitchFamily="18" charset="0"/>
              </a:rPr>
              <a:t>arr</a:t>
            </a:r>
            <a:r>
              <a:rPr lang="en-GB" dirty="0">
                <a:latin typeface="Times New Roman" panose="02020603050405020304" pitchFamily="18" charset="0"/>
                <a:cs typeface="Times New Roman" panose="02020603050405020304" pitchFamily="18" charset="0"/>
              </a:rPr>
              <a:t>[0].x, </a:t>
            </a:r>
            <a:r>
              <a:rPr lang="en-GB" dirty="0" err="1">
                <a:latin typeface="Times New Roman" panose="02020603050405020304" pitchFamily="18" charset="0"/>
                <a:cs typeface="Times New Roman" panose="02020603050405020304" pitchFamily="18" charset="0"/>
              </a:rPr>
              <a:t>arr</a:t>
            </a:r>
            <a:r>
              <a:rPr lang="en-GB" dirty="0">
                <a:latin typeface="Times New Roman" panose="02020603050405020304" pitchFamily="18" charset="0"/>
                <a:cs typeface="Times New Roman" panose="02020603050405020304" pitchFamily="18" charset="0"/>
              </a:rPr>
              <a:t>[0].y);</a:t>
            </a:r>
          </a:p>
          <a:p>
            <a:pPr marL="0" indent="0">
              <a:buNone/>
            </a:pPr>
            <a:r>
              <a:rPr lang="en-GB" dirty="0" err="1">
                <a:latin typeface="Times New Roman" panose="02020603050405020304" pitchFamily="18" charset="0"/>
                <a:cs typeface="Times New Roman" panose="02020603050405020304" pitchFamily="18" charset="0"/>
              </a:rPr>
              <a:t>getch</a:t>
            </a: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855194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95160"/>
            <a:ext cx="10515600" cy="801824"/>
          </a:xfrm>
        </p:spPr>
        <p:txBody>
          <a:bodyPr>
            <a:normAutofit/>
          </a:bodyPr>
          <a:lstStyle/>
          <a:p>
            <a:r>
              <a:rPr lang="en-GB" sz="4000" dirty="0" smtClean="0">
                <a:solidFill>
                  <a:srgbClr val="023182"/>
                </a:solidFill>
                <a:latin typeface="Times New Roman"/>
                <a:ea typeface="Times New Roman"/>
                <a:cs typeface="Times New Roman"/>
                <a:sym typeface="Times New Roman"/>
              </a:rPr>
              <a:t>Limitations </a:t>
            </a:r>
            <a:r>
              <a:rPr lang="en-GB" sz="4000" dirty="0">
                <a:solidFill>
                  <a:srgbClr val="023182"/>
                </a:solidFill>
                <a:latin typeface="Times New Roman"/>
                <a:ea typeface="Times New Roman"/>
                <a:cs typeface="Times New Roman"/>
                <a:sym typeface="Times New Roman"/>
              </a:rPr>
              <a:t>of C Structures</a:t>
            </a:r>
            <a:endParaRPr lang="en-GB" sz="4000" dirty="0"/>
          </a:p>
        </p:txBody>
      </p:sp>
      <p:sp>
        <p:nvSpPr>
          <p:cNvPr id="3" name="Content Placeholder 2"/>
          <p:cNvSpPr>
            <a:spLocks noGrp="1"/>
          </p:cNvSpPr>
          <p:nvPr>
            <p:ph idx="1"/>
          </p:nvPr>
        </p:nvSpPr>
        <p:spPr>
          <a:xfrm>
            <a:off x="420188" y="1428206"/>
            <a:ext cx="10515600" cy="5547360"/>
          </a:xfrm>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In C language, Structures provide a method for packing together data of different types. A </a:t>
            </a:r>
            <a:r>
              <a:rPr lang="en-GB" sz="2400" dirty="0" smtClean="0">
                <a:latin typeface="Times New Roman" panose="02020603050405020304" pitchFamily="18" charset="0"/>
                <a:cs typeface="Times New Roman" panose="02020603050405020304" pitchFamily="18" charset="0"/>
              </a:rPr>
              <a:t>Structure is </a:t>
            </a:r>
            <a:r>
              <a:rPr lang="en-GB" sz="2400" dirty="0">
                <a:latin typeface="Times New Roman" panose="02020603050405020304" pitchFamily="18" charset="0"/>
                <a:cs typeface="Times New Roman" panose="02020603050405020304" pitchFamily="18" charset="0"/>
              </a:rPr>
              <a:t>a helpful tool to handle a group of logically related data items. However, C structures have </a:t>
            </a:r>
            <a:r>
              <a:rPr lang="en-GB" sz="2400" dirty="0" smtClean="0">
                <a:latin typeface="Times New Roman" panose="02020603050405020304" pitchFamily="18" charset="0"/>
                <a:cs typeface="Times New Roman" panose="02020603050405020304" pitchFamily="18" charset="0"/>
              </a:rPr>
              <a:t>some limitations.</a:t>
            </a:r>
          </a:p>
          <a:p>
            <a:pPr marL="0" indent="0">
              <a:buNone/>
            </a:pPr>
            <a:endParaRPr lang="en-GB" sz="2400" dirty="0">
              <a:latin typeface="Times New Roman" panose="02020603050405020304" pitchFamily="18" charset="0"/>
              <a:cs typeface="Times New Roman" panose="02020603050405020304" pitchFamily="18" charset="0"/>
            </a:endParaRPr>
          </a:p>
          <a:p>
            <a:pPr marL="0" indent="0">
              <a:buNone/>
            </a:pPr>
            <a:r>
              <a:rPr lang="en-GB" sz="2400" dirty="0">
                <a:latin typeface="Times New Roman" panose="02020603050405020304" pitchFamily="18" charset="0"/>
                <a:cs typeface="Times New Roman" panose="02020603050405020304" pitchFamily="18" charset="0"/>
              </a:rPr>
              <a:t>a. The C structure does not allow the </a:t>
            </a:r>
            <a:r>
              <a:rPr lang="en-GB" sz="2400" dirty="0" err="1">
                <a:latin typeface="Times New Roman" panose="02020603050405020304" pitchFamily="18" charset="0"/>
                <a:cs typeface="Times New Roman" panose="02020603050405020304" pitchFamily="18" charset="0"/>
              </a:rPr>
              <a:t>struct</a:t>
            </a:r>
            <a:r>
              <a:rPr lang="en-GB" sz="2400" dirty="0">
                <a:latin typeface="Times New Roman" panose="02020603050405020304" pitchFamily="18" charset="0"/>
                <a:cs typeface="Times New Roman" panose="02020603050405020304" pitchFamily="18" charset="0"/>
              </a:rPr>
              <a:t> data type to be treated like built-in data </a:t>
            </a:r>
            <a:r>
              <a:rPr lang="en-GB" sz="2400" dirty="0" err="1" smtClean="0">
                <a:latin typeface="Times New Roman" panose="02020603050405020304" pitchFamily="18" charset="0"/>
                <a:cs typeface="Times New Roman" panose="02020603050405020304" pitchFamily="18" charset="0"/>
              </a:rPr>
              <a:t>types.We</a:t>
            </a:r>
            <a:r>
              <a:rPr lang="en-GB" sz="2400" dirty="0" smtClean="0">
                <a:latin typeface="Times New Roman" panose="02020603050405020304" pitchFamily="18" charset="0"/>
                <a:cs typeface="Times New Roman" panose="02020603050405020304" pitchFamily="18" charset="0"/>
              </a:rPr>
              <a:t> cannot </a:t>
            </a:r>
            <a:r>
              <a:rPr lang="en-GB" sz="2400" dirty="0">
                <a:latin typeface="Times New Roman" panose="02020603050405020304" pitchFamily="18" charset="0"/>
                <a:cs typeface="Times New Roman" panose="02020603050405020304" pitchFamily="18" charset="0"/>
              </a:rPr>
              <a:t>use operators like +,- etc. on Structure variables.</a:t>
            </a:r>
          </a:p>
          <a:p>
            <a:pPr marL="0" indent="0">
              <a:buNone/>
            </a:pPr>
            <a:r>
              <a:rPr lang="en-GB" sz="2400" dirty="0">
                <a:latin typeface="Times New Roman" panose="02020603050405020304" pitchFamily="18" charset="0"/>
                <a:cs typeface="Times New Roman" panose="02020603050405020304" pitchFamily="18" charset="0"/>
              </a:rPr>
              <a:t>b. No Data </a:t>
            </a:r>
            <a:r>
              <a:rPr lang="en-GB" sz="2400" dirty="0" err="1">
                <a:latin typeface="Times New Roman" panose="02020603050405020304" pitchFamily="18" charset="0"/>
                <a:cs typeface="Times New Roman" panose="02020603050405020304" pitchFamily="18" charset="0"/>
              </a:rPr>
              <a:t>Hiding:C</a:t>
            </a:r>
            <a:r>
              <a:rPr lang="en-GB" sz="2400" dirty="0">
                <a:latin typeface="Times New Roman" panose="02020603050405020304" pitchFamily="18" charset="0"/>
                <a:cs typeface="Times New Roman" panose="02020603050405020304" pitchFamily="18" charset="0"/>
              </a:rPr>
              <a:t> Structures do not permit data hiding. Structure members can </a:t>
            </a:r>
            <a:r>
              <a:rPr lang="en-GB" sz="2400" dirty="0" smtClean="0">
                <a:latin typeface="Times New Roman" panose="02020603050405020304" pitchFamily="18" charset="0"/>
                <a:cs typeface="Times New Roman" panose="02020603050405020304" pitchFamily="18" charset="0"/>
              </a:rPr>
              <a:t>be accessed </a:t>
            </a:r>
            <a:r>
              <a:rPr lang="en-GB" sz="2400" dirty="0">
                <a:latin typeface="Times New Roman" panose="02020603050405020304" pitchFamily="18" charset="0"/>
                <a:cs typeface="Times New Roman" panose="02020603050405020304" pitchFamily="18" charset="0"/>
              </a:rPr>
              <a:t>by any function, anywhere in the scope of the Structure.</a:t>
            </a:r>
          </a:p>
          <a:p>
            <a:pPr marL="0" indent="0">
              <a:buNone/>
            </a:pPr>
            <a:r>
              <a:rPr lang="en-GB" sz="2400" dirty="0">
                <a:latin typeface="Times New Roman" panose="02020603050405020304" pitchFamily="18" charset="0"/>
                <a:cs typeface="Times New Roman" panose="02020603050405020304" pitchFamily="18" charset="0"/>
              </a:rPr>
              <a:t>c. Functions inside Structure: C structures do not permit functions inside Structure.</a:t>
            </a:r>
          </a:p>
          <a:p>
            <a:pPr marL="0" indent="0">
              <a:buNone/>
            </a:pPr>
            <a:r>
              <a:rPr lang="en-GB" sz="2400" dirty="0">
                <a:latin typeface="Times New Roman" panose="02020603050405020304" pitchFamily="18" charset="0"/>
                <a:cs typeface="Times New Roman" panose="02020603050405020304" pitchFamily="18" charset="0"/>
              </a:rPr>
              <a:t>d. Static Members: C Structures cannot have static members inside their body.</a:t>
            </a:r>
          </a:p>
          <a:p>
            <a:pPr marL="0" indent="0">
              <a:buNone/>
            </a:pPr>
            <a:r>
              <a:rPr lang="en-GB" sz="2400" dirty="0">
                <a:latin typeface="Times New Roman" panose="02020603050405020304" pitchFamily="18" charset="0"/>
                <a:cs typeface="Times New Roman" panose="02020603050405020304" pitchFamily="18" charset="0"/>
              </a:rPr>
              <a:t>e. Access Modifiers: C Programming language do not support access </a:t>
            </a:r>
            <a:r>
              <a:rPr lang="en-GB" sz="2400" dirty="0" smtClean="0">
                <a:latin typeface="Times New Roman" panose="02020603050405020304" pitchFamily="18" charset="0"/>
                <a:cs typeface="Times New Roman" panose="02020603050405020304" pitchFamily="18" charset="0"/>
              </a:rPr>
              <a:t> modifiers</a:t>
            </a:r>
            <a:r>
              <a:rPr lang="en-GB" sz="2400" dirty="0">
                <a:latin typeface="Times New Roman" panose="02020603050405020304" pitchFamily="18" charset="0"/>
                <a:cs typeface="Times New Roman" panose="02020603050405020304" pitchFamily="18" charset="0"/>
              </a:rPr>
              <a:t>. So </a:t>
            </a:r>
            <a:r>
              <a:rPr lang="en-GB" sz="2400" dirty="0" smtClean="0">
                <a:latin typeface="Times New Roman" panose="02020603050405020304" pitchFamily="18" charset="0"/>
                <a:cs typeface="Times New Roman" panose="02020603050405020304" pitchFamily="18" charset="0"/>
              </a:rPr>
              <a:t>they cannot </a:t>
            </a:r>
            <a:r>
              <a:rPr lang="en-GB" sz="2400" dirty="0">
                <a:latin typeface="Times New Roman" panose="02020603050405020304" pitchFamily="18" charset="0"/>
                <a:cs typeface="Times New Roman" panose="02020603050405020304" pitchFamily="18" charset="0"/>
              </a:rPr>
              <a:t>be used in C </a:t>
            </a:r>
            <a:r>
              <a:rPr lang="en-GB" sz="2400" dirty="0" smtClean="0">
                <a:latin typeface="Times New Roman" panose="02020603050405020304" pitchFamily="18" charset="0"/>
                <a:cs typeface="Times New Roman" panose="02020603050405020304" pitchFamily="18" charset="0"/>
              </a:rPr>
              <a:t>Structures.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57825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Exercise</a:t>
            </a:r>
            <a:endParaRPr lang="en-GB" dirty="0"/>
          </a:p>
        </p:txBody>
      </p:sp>
      <p:sp>
        <p:nvSpPr>
          <p:cNvPr id="4" name="Rectangle 1"/>
          <p:cNvSpPr>
            <a:spLocks noGrp="1" noChangeArrowheads="1"/>
          </p:cNvSpPr>
          <p:nvPr>
            <p:ph idx="1"/>
          </p:nvPr>
        </p:nvSpPr>
        <p:spPr bwMode="auto">
          <a:xfrm>
            <a:off x="838200" y="1690688"/>
            <a:ext cx="987334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Write a C program that manages records for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employees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a company.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Define a structure Employee with the following fields: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name (string)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id (integer)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department (string)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hoursWorked</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(float)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hourlyRate</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(float)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Your program must: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Read details for 3 employees from the user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Calculate the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gross salary</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each employee: </a:t>
            </a:r>
            <a:r>
              <a:rPr kumimoji="0" lang="en-US" alt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hoursWorked</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hourlyRate</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Calculate a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tax</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15% on the gross salary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Calculate the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net salary</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gross salary minus tax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Display a formatted </a:t>
            </a:r>
            <a:r>
              <a:rPr kumimoji="0" lang="en-US" alt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payslip</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each employee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Display the employee with the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highest net salary</a:t>
            </a: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43303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1431</Words>
  <Application>Microsoft Office PowerPoint</Application>
  <PresentationFormat>Widescreen</PresentationFormat>
  <Paragraphs>188</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Consolas</vt:lpstr>
      <vt:lpstr>Times New Roman</vt:lpstr>
      <vt:lpstr>Office Theme</vt:lpstr>
      <vt:lpstr>PowerPoint Presentation</vt:lpstr>
      <vt:lpstr>Defining a function</vt:lpstr>
      <vt:lpstr> Predefined Functions </vt:lpstr>
      <vt:lpstr>PowerPoint Presentation</vt:lpstr>
      <vt:lpstr>Create a Function </vt:lpstr>
      <vt:lpstr>Example Explained </vt:lpstr>
      <vt:lpstr> Call a Function </vt:lpstr>
      <vt:lpstr> Example Inside main, call myFunction(): </vt:lpstr>
      <vt:lpstr>A function can be called multiple times:</vt:lpstr>
      <vt:lpstr>Calculate the Sum of Numbers </vt:lpstr>
      <vt:lpstr>  Example </vt:lpstr>
      <vt:lpstr> C Function Parameters </vt:lpstr>
      <vt:lpstr>Syntax </vt:lpstr>
      <vt:lpstr>PowerPoint Presentation</vt:lpstr>
      <vt:lpstr>Example </vt:lpstr>
      <vt:lpstr>PowerPoint Presentation</vt:lpstr>
      <vt:lpstr> Multiple Parameters </vt:lpstr>
      <vt:lpstr>PowerPoint Presentation</vt:lpstr>
      <vt:lpstr>PowerPoint Presentation</vt:lpstr>
      <vt:lpstr> Pass Arrays as Function Parameters </vt:lpstr>
      <vt:lpstr>PowerPoint Presentation</vt:lpstr>
      <vt:lpstr>PowerPoint Presentation</vt:lpstr>
      <vt:lpstr> Return Values </vt:lpstr>
      <vt:lpstr> Example </vt:lpstr>
      <vt:lpstr> Example </vt:lpstr>
      <vt:lpstr> Example </vt:lpstr>
      <vt:lpstr>PowerPoint Presentation</vt:lpstr>
      <vt:lpstr> Example </vt:lpstr>
      <vt:lpstr> Example </vt:lpstr>
      <vt:lpstr> Exercise</vt:lpstr>
      <vt:lpstr> What is a Structure?</vt:lpstr>
      <vt:lpstr>Syntax</vt:lpstr>
      <vt:lpstr>Example:</vt:lpstr>
      <vt:lpstr>How to declare structure variables?</vt:lpstr>
      <vt:lpstr>How to initialize structure members?</vt:lpstr>
      <vt:lpstr>How to access structure elements?</vt:lpstr>
      <vt:lpstr>What is an array of structures?</vt:lpstr>
      <vt:lpstr>PowerPoint Presentation</vt:lpstr>
      <vt:lpstr>Limitations of C Structures</vt:lpstr>
      <vt:lpstr>Exercise</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16</cp:revision>
  <dcterms:created xsi:type="dcterms:W3CDTF">2026-04-15T15:43:40Z</dcterms:created>
  <dcterms:modified xsi:type="dcterms:W3CDTF">2026-04-24T09:04:00Z</dcterms:modified>
</cp:coreProperties>
</file>