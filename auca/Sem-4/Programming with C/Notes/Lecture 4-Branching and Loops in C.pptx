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 id="261" r:id="rId8"/>
    <p:sldId id="264" r:id="rId9"/>
    <p:sldId id="263" r:id="rId10"/>
    <p:sldId id="265" r:id="rId11"/>
    <p:sldId id="267" r:id="rId12"/>
    <p:sldId id="266" r:id="rId13"/>
    <p:sldId id="268" r:id="rId14"/>
    <p:sldId id="269" r:id="rId15"/>
    <p:sldId id="270" r:id="rId16"/>
    <p:sldId id="271" r:id="rId17"/>
    <p:sldId id="272" r:id="rId18"/>
    <p:sldId id="273" r:id="rId19"/>
    <p:sldId id="274" r:id="rId20"/>
    <p:sldId id="276" r:id="rId21"/>
    <p:sldId id="277" r:id="rId22"/>
    <p:sldId id="275" r:id="rId23"/>
    <p:sldId id="279" r:id="rId24"/>
    <p:sldId id="278" r:id="rId25"/>
    <p:sldId id="281" r:id="rId26"/>
    <p:sldId id="280" r:id="rId27"/>
    <p:sldId id="283" r:id="rId28"/>
    <p:sldId id="284" r:id="rId29"/>
    <p:sldId id="282" r:id="rId30"/>
    <p:sldId id="286" r:id="rId31"/>
    <p:sldId id="285" r:id="rId32"/>
    <p:sldId id="288" r:id="rId33"/>
    <p:sldId id="289" r:id="rId34"/>
    <p:sldId id="290" r:id="rId35"/>
    <p:sldId id="287" r:id="rId36"/>
    <p:sldId id="292" r:id="rId37"/>
    <p:sldId id="293" r:id="rId38"/>
    <p:sldId id="294" r:id="rId39"/>
    <p:sldId id="295" r:id="rId40"/>
    <p:sldId id="291" r:id="rId41"/>
    <p:sldId id="297" r:id="rId42"/>
    <p:sldId id="298" r:id="rId43"/>
    <p:sldId id="299" r:id="rId44"/>
    <p:sldId id="30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1DA50CD-8AE3-4301-ACBC-0DFC9657CF1C}"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3760581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DA50CD-8AE3-4301-ACBC-0DFC9657CF1C}"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662816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1DA50CD-8AE3-4301-ACBC-0DFC9657CF1C}"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39650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1DA50CD-8AE3-4301-ACBC-0DFC9657CF1C}"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296084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1DA50CD-8AE3-4301-ACBC-0DFC9657CF1C}" type="datetimeFigureOut">
              <a:rPr lang="en-GB" smtClean="0"/>
              <a:t>19/02/2026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3969808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1DA50CD-8AE3-4301-ACBC-0DFC9657CF1C}" type="datetimeFigureOut">
              <a:rPr lang="en-GB" smtClean="0"/>
              <a:t>19/02/2026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749960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DA50CD-8AE3-4301-ACBC-0DFC9657CF1C}" type="datetimeFigureOut">
              <a:rPr lang="en-GB" smtClean="0"/>
              <a:t>19/02/2026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96358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DA50CD-8AE3-4301-ACBC-0DFC9657CF1C}"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983053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DA50CD-8AE3-4301-ACBC-0DFC9657CF1C}" type="datetimeFigureOut">
              <a:rPr lang="en-GB" smtClean="0"/>
              <a:t>19/02/2026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341214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DA50CD-8AE3-4301-ACBC-0DFC9657CF1C}"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1469552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1DA50CD-8AE3-4301-ACBC-0DFC9657CF1C}" type="datetimeFigureOut">
              <a:rPr lang="en-GB" smtClean="0"/>
              <a:t>19/02/2026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392ADF8-7E25-4D3D-962F-772879A0E326}" type="slidenum">
              <a:rPr lang="en-GB" smtClean="0"/>
              <a:t>‹#›</a:t>
            </a:fld>
            <a:endParaRPr lang="en-GB"/>
          </a:p>
        </p:txBody>
      </p:sp>
    </p:spTree>
    <p:extLst>
      <p:ext uri="{BB962C8B-B14F-4D97-AF65-F5344CB8AC3E}">
        <p14:creationId xmlns:p14="http://schemas.microsoft.com/office/powerpoint/2010/main" val="409666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A50CD-8AE3-4301-ACBC-0DFC9657CF1C}" type="datetimeFigureOut">
              <a:rPr lang="en-GB" smtClean="0"/>
              <a:t>19/02/2026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92ADF8-7E25-4D3D-962F-772879A0E326}" type="slidenum">
              <a:rPr lang="en-GB" smtClean="0"/>
              <a:t>‹#›</a:t>
            </a:fld>
            <a:endParaRPr lang="en-GB"/>
          </a:p>
        </p:txBody>
      </p:sp>
    </p:spTree>
    <p:extLst>
      <p:ext uri="{BB962C8B-B14F-4D97-AF65-F5344CB8AC3E}">
        <p14:creationId xmlns:p14="http://schemas.microsoft.com/office/powerpoint/2010/main" val="1838638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54034" y="435428"/>
            <a:ext cx="9144000" cy="5939245"/>
          </a:xfrm>
        </p:spPr>
        <p:txBody>
          <a:bodyPr>
            <a:normAutofit/>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Lecturer : Odile Nzambazamariya</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 4: Branching and Loops in C</a:t>
            </a:r>
          </a:p>
          <a:p>
            <a:endParaRPr lang="en-GB" dirty="0" smtClean="0">
              <a:latin typeface="Times New Roman"/>
              <a:ea typeface="Times New Roman"/>
              <a:cs typeface="Times New Roman"/>
              <a:sym typeface="Times New Roman"/>
            </a:endParaRPr>
          </a:p>
          <a:p>
            <a:r>
              <a:rPr lang="en-GB" sz="3600" dirty="0" smtClean="0">
                <a:latin typeface="Times New Roman"/>
                <a:ea typeface="Times New Roman"/>
                <a:cs typeface="Times New Roman"/>
                <a:sym typeface="Times New Roman"/>
              </a:rPr>
              <a:t>Adventist University of Central Africa</a:t>
            </a:r>
            <a:endParaRPr lang="en-GB" sz="3600" dirty="0"/>
          </a:p>
        </p:txBody>
      </p:sp>
    </p:spTree>
    <p:extLst>
      <p:ext uri="{BB962C8B-B14F-4D97-AF65-F5344CB8AC3E}">
        <p14:creationId xmlns:p14="http://schemas.microsoft.com/office/powerpoint/2010/main" val="19947501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Outlines</a:t>
            </a:r>
            <a:endParaRPr lang="en-GB"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If statement</a:t>
            </a:r>
          </a:p>
          <a:p>
            <a:r>
              <a:rPr lang="en-US" dirty="0" smtClean="0">
                <a:latin typeface="Times New Roman" panose="02020603050405020304" pitchFamily="18" charset="0"/>
                <a:cs typeface="Times New Roman" panose="02020603050405020304" pitchFamily="18" charset="0"/>
                <a:sym typeface="Times New Roman"/>
              </a:rPr>
              <a:t>if-else statement</a:t>
            </a:r>
          </a:p>
          <a:p>
            <a:r>
              <a:rPr lang="en-US" dirty="0" smtClean="0">
                <a:latin typeface="Times New Roman" panose="02020603050405020304" pitchFamily="18" charset="0"/>
                <a:cs typeface="Times New Roman" panose="02020603050405020304" pitchFamily="18" charset="0"/>
                <a:sym typeface="Times New Roman"/>
              </a:rPr>
              <a:t>Switch Statement</a:t>
            </a:r>
          </a:p>
          <a:p>
            <a:r>
              <a:rPr lang="en-US" dirty="0" smtClean="0">
                <a:latin typeface="Times New Roman" panose="02020603050405020304" pitchFamily="18" charset="0"/>
                <a:cs typeface="Times New Roman" panose="02020603050405020304" pitchFamily="18" charset="0"/>
                <a:sym typeface="Times New Roman"/>
              </a:rPr>
              <a:t>While Loop</a:t>
            </a:r>
          </a:p>
          <a:p>
            <a:r>
              <a:rPr lang="en-US" dirty="0" smtClean="0">
                <a:latin typeface="Times New Roman" panose="02020603050405020304" pitchFamily="18" charset="0"/>
                <a:cs typeface="Times New Roman" panose="02020603050405020304" pitchFamily="18" charset="0"/>
                <a:sym typeface="Times New Roman"/>
              </a:rPr>
              <a:t>For Loop</a:t>
            </a:r>
          </a:p>
          <a:p>
            <a:r>
              <a:rPr lang="en-US" dirty="0" smtClean="0">
                <a:latin typeface="Times New Roman" panose="02020603050405020304" pitchFamily="18" charset="0"/>
                <a:cs typeface="Times New Roman" panose="02020603050405020304" pitchFamily="18" charset="0"/>
                <a:sym typeface="Times New Roman"/>
              </a:rPr>
              <a:t>break statement</a:t>
            </a:r>
          </a:p>
          <a:p>
            <a:r>
              <a:rPr lang="en-US" dirty="0" smtClean="0">
                <a:latin typeface="Times New Roman" panose="02020603050405020304" pitchFamily="18" charset="0"/>
                <a:cs typeface="Times New Roman" panose="02020603050405020304" pitchFamily="18" charset="0"/>
                <a:sym typeface="Times New Roman"/>
              </a:rPr>
              <a:t>Continue Statement</a:t>
            </a:r>
          </a:p>
          <a:p>
            <a:r>
              <a:rPr lang="en-US" dirty="0" smtClean="0">
                <a:latin typeface="Times New Roman" panose="02020603050405020304" pitchFamily="18" charset="0"/>
                <a:cs typeface="Times New Roman" panose="02020603050405020304" pitchFamily="18" charset="0"/>
                <a:sym typeface="Times New Roman"/>
              </a:rPr>
              <a:t>Nested Loops</a:t>
            </a:r>
            <a:endParaRPr lang="en-US" dirty="0" smtClean="0">
              <a:latin typeface="Times New Roman" panose="02020603050405020304" pitchFamily="18" charset="0"/>
              <a:cs typeface="Times New Roman" panose="02020603050405020304" pitchFamily="18" charset="0"/>
            </a:endParaRPr>
          </a:p>
          <a:p>
            <a:endParaRPr lang="en-US" b="1" dirty="0" smtClean="0"/>
          </a:p>
          <a:p>
            <a:endParaRPr lang="en-GB" dirty="0"/>
          </a:p>
        </p:txBody>
      </p:sp>
    </p:spTree>
    <p:extLst>
      <p:ext uri="{BB962C8B-B14F-4D97-AF65-F5344CB8AC3E}">
        <p14:creationId xmlns:p14="http://schemas.microsoft.com/office/powerpoint/2010/main" val="1946290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smtClean="0">
                <a:solidFill>
                  <a:srgbClr val="023182"/>
                </a:solidFill>
                <a:latin typeface="Times New Roman"/>
                <a:cs typeface="Times New Roman"/>
                <a:sym typeface="Times New Roman"/>
              </a:rPr>
              <a:t>If statement</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if in C is the most simple decision-making statement. It consists of the test condition and if block or body. If the given condition is true only then the if block will be executed.</a:t>
            </a:r>
          </a:p>
          <a:p>
            <a:pPr marL="0" indent="0">
              <a:buNone/>
            </a:pPr>
            <a:endParaRPr lang="en-GB" dirty="0"/>
          </a:p>
        </p:txBody>
      </p:sp>
    </p:spTree>
    <p:extLst>
      <p:ext uri="{BB962C8B-B14F-4D97-AF65-F5344CB8AC3E}">
        <p14:creationId xmlns:p14="http://schemas.microsoft.com/office/powerpoint/2010/main" val="11846835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smtClean="0">
                <a:solidFill>
                  <a:srgbClr val="023182"/>
                </a:solidFill>
                <a:latin typeface="Times New Roman"/>
                <a:cs typeface="Times New Roman"/>
                <a:sym typeface="Times New Roman"/>
              </a:rPr>
              <a:t>If statement</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if in C is a decision-making statement that is used to execute a block of code based on the value of the given expression. It is one of the core concepts of C programming and is used to include conditional code in our program.</a:t>
            </a:r>
          </a:p>
          <a:p>
            <a:pPr marL="0" indent="0">
              <a:buNone/>
            </a:pPr>
            <a:endParaRPr lang="en-GB" dirty="0"/>
          </a:p>
        </p:txBody>
      </p:sp>
    </p:spTree>
    <p:extLst>
      <p:ext uri="{BB962C8B-B14F-4D97-AF65-F5344CB8AC3E}">
        <p14:creationId xmlns:p14="http://schemas.microsoft.com/office/powerpoint/2010/main" val="42437847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cs typeface="Times New Roman"/>
                <a:sym typeface="Times New Roman"/>
              </a:rPr>
              <a:t>Syntax of if Statement in C</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if(condition) </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 if body</a:t>
            </a:r>
          </a:p>
          <a:p>
            <a:pPr marL="0" indent="0">
              <a:buNone/>
            </a:pPr>
            <a:r>
              <a:rPr lang="en-GB" dirty="0" smtClean="0">
                <a:latin typeface="Times New Roman" panose="02020603050405020304" pitchFamily="18" charset="0"/>
                <a:cs typeface="Times New Roman" panose="02020603050405020304" pitchFamily="18" charset="0"/>
              </a:rPr>
              <a:t>    // Statements to execute if condition is true</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700014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0263"/>
            <a:ext cx="10515600" cy="6252754"/>
          </a:xfrm>
        </p:spPr>
        <p:txBody>
          <a:bodyPr>
            <a:normAutofit fontScale="62500" lnSpcReduction="20000"/>
          </a:bodyPr>
          <a:lstStyle/>
          <a:p>
            <a:pPr marL="0" indent="0">
              <a:buNone/>
            </a:pPr>
            <a:r>
              <a:rPr lang="en-GB" dirty="0" smtClean="0">
                <a:latin typeface="Times New Roman" panose="02020603050405020304" pitchFamily="18" charset="0"/>
                <a:cs typeface="Times New Roman" panose="02020603050405020304" pitchFamily="18" charset="0"/>
              </a:rPr>
              <a:t>// C Program to demonstrate the syntax of if statement</a:t>
            </a:r>
          </a:p>
          <a:p>
            <a:pPr marL="0" indent="0">
              <a:buNone/>
            </a:pPr>
            <a:r>
              <a:rPr lang="en-GB" dirty="0" smtClean="0">
                <a:latin typeface="Times New Roman" panose="02020603050405020304" pitchFamily="18" charset="0"/>
                <a:cs typeface="Times New Roman" panose="02020603050405020304" pitchFamily="18" charset="0"/>
              </a:rPr>
              <a:t>#include &lt;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int main()</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int a = 9;</a:t>
            </a:r>
          </a:p>
          <a:p>
            <a:pPr marL="0" indent="0">
              <a:buNone/>
            </a:pPr>
            <a:r>
              <a:rPr lang="en-GB" dirty="0" smtClean="0">
                <a:latin typeface="Times New Roman" panose="02020603050405020304" pitchFamily="18" charset="0"/>
                <a:cs typeface="Times New Roman" panose="02020603050405020304" pitchFamily="18" charset="0"/>
              </a:rPr>
              <a:t>    // if statement with true condition</a:t>
            </a:r>
          </a:p>
          <a:p>
            <a:pPr marL="0" indent="0">
              <a:buNone/>
            </a:pPr>
            <a:r>
              <a:rPr lang="en-GB" dirty="0" smtClean="0">
                <a:latin typeface="Times New Roman" panose="02020603050405020304" pitchFamily="18" charset="0"/>
                <a:cs typeface="Times New Roman" panose="02020603050405020304" pitchFamily="18" charset="0"/>
              </a:rPr>
              <a:t>    if (a &lt; 10) {</a:t>
            </a:r>
          </a:p>
          <a:p>
            <a:pPr marL="0" indent="0">
              <a:buNone/>
            </a:pPr>
            <a:r>
              <a:rPr lang="en-GB" dirty="0" smtClean="0">
                <a:latin typeface="Times New Roman" panose="02020603050405020304" pitchFamily="18" charset="0"/>
                <a:cs typeface="Times New Roman" panose="02020603050405020304" pitchFamily="18" charset="0"/>
              </a:rPr>
              <a:t>        printf("%d is less than 10", a);</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 if statement with false condition</a:t>
            </a:r>
          </a:p>
          <a:p>
            <a:pPr marL="0" indent="0">
              <a:buNone/>
            </a:pPr>
            <a:r>
              <a:rPr lang="en-GB" dirty="0" smtClean="0">
                <a:latin typeface="Times New Roman" panose="02020603050405020304" pitchFamily="18" charset="0"/>
                <a:cs typeface="Times New Roman" panose="02020603050405020304" pitchFamily="18" charset="0"/>
              </a:rPr>
              <a:t>    if (a &gt; 20) {</a:t>
            </a:r>
          </a:p>
          <a:p>
            <a:pPr marL="0" indent="0">
              <a:buNone/>
            </a:pPr>
            <a:r>
              <a:rPr lang="en-GB" dirty="0" smtClean="0">
                <a:latin typeface="Times New Roman" panose="02020603050405020304" pitchFamily="18" charset="0"/>
                <a:cs typeface="Times New Roman" panose="02020603050405020304" pitchFamily="18" charset="0"/>
              </a:rPr>
              <a:t>        printf("%d is greater than 20", a);</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return 0;</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088884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if-else statement</a:t>
            </a:r>
            <a:endParaRPr lang="en-GB" dirty="0"/>
          </a:p>
        </p:txBody>
      </p:sp>
      <p:sp>
        <p:nvSpPr>
          <p:cNvPr id="3" name="Content Placeholder 2"/>
          <p:cNvSpPr>
            <a:spLocks noGrp="1"/>
          </p:cNvSpPr>
          <p:nvPr>
            <p:ph idx="1"/>
          </p:nvPr>
        </p:nvSpPr>
        <p:spPr/>
        <p:txBody>
          <a:bodyPr/>
          <a:lstStyle/>
          <a:p>
            <a:pPr algn="just">
              <a:lnSpc>
                <a:spcPct val="150000"/>
              </a:lnSpc>
            </a:pPr>
            <a:r>
              <a:rPr lang="en-GB" dirty="0" smtClean="0">
                <a:latin typeface="Times New Roman" panose="02020603050405020304" pitchFamily="18" charset="0"/>
                <a:cs typeface="Times New Roman" panose="02020603050405020304" pitchFamily="18" charset="0"/>
              </a:rPr>
              <a:t>The if-else statement in C programming is a fundamental control structure that allows a computer to execute certain code blocks based on specific conditions.</a:t>
            </a:r>
          </a:p>
          <a:p>
            <a:pPr algn="just">
              <a:lnSpc>
                <a:spcPct val="150000"/>
              </a:lnSpc>
            </a:pPr>
            <a:r>
              <a:rPr lang="en-GB" dirty="0" smtClean="0">
                <a:latin typeface="Times New Roman" panose="02020603050405020304" pitchFamily="18" charset="0"/>
                <a:cs typeface="Times New Roman" panose="02020603050405020304" pitchFamily="18" charset="0"/>
              </a:rPr>
              <a:t>This conditional logic is crucial for creating dynamic and responsive programs, guiding the program flow based on user input or other data.</a:t>
            </a:r>
          </a:p>
          <a:p>
            <a:pPr marL="0" indent="0">
              <a:buNone/>
            </a:pPr>
            <a:endParaRPr lang="en-GB" dirty="0"/>
          </a:p>
        </p:txBody>
      </p:sp>
    </p:spTree>
    <p:extLst>
      <p:ext uri="{BB962C8B-B14F-4D97-AF65-F5344CB8AC3E}">
        <p14:creationId xmlns:p14="http://schemas.microsoft.com/office/powerpoint/2010/main" val="40719961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if-else statement</a:t>
            </a:r>
            <a:endParaRPr lang="en-GB" dirty="0"/>
          </a:p>
        </p:txBody>
      </p:sp>
      <p:sp>
        <p:nvSpPr>
          <p:cNvPr id="3" name="Content Placeholder 2"/>
          <p:cNvSpPr>
            <a:spLocks noGrp="1"/>
          </p:cNvSpPr>
          <p:nvPr>
            <p:ph idx="1"/>
          </p:nvPr>
        </p:nvSpPr>
        <p:spPr/>
        <p:txBody>
          <a:bodyPr/>
          <a:lstStyle/>
          <a:p>
            <a:pPr marL="0" indent="0" algn="just">
              <a:lnSpc>
                <a:spcPct val="200000"/>
              </a:lnSpc>
              <a:buNone/>
            </a:pPr>
            <a:r>
              <a:rPr lang="en-GB" b="1" dirty="0" smtClean="0">
                <a:latin typeface="Times New Roman" panose="02020603050405020304" pitchFamily="18" charset="0"/>
                <a:cs typeface="Times New Roman" panose="02020603050405020304" pitchFamily="18" charset="0"/>
              </a:rPr>
              <a:t>The else Statement</a:t>
            </a:r>
          </a:p>
          <a:p>
            <a:pPr algn="just">
              <a:lnSpc>
                <a:spcPct val="200000"/>
              </a:lnSpc>
            </a:pPr>
            <a:r>
              <a:rPr lang="en-GB" dirty="0" smtClean="0">
                <a:latin typeface="Times New Roman" panose="02020603050405020304" pitchFamily="18" charset="0"/>
                <a:cs typeface="Times New Roman" panose="02020603050405020304" pitchFamily="18" charset="0"/>
              </a:rPr>
              <a:t>Use the </a:t>
            </a:r>
            <a:r>
              <a:rPr lang="en-GB" b="1" dirty="0" smtClean="0">
                <a:latin typeface="Times New Roman" panose="02020603050405020304" pitchFamily="18" charset="0"/>
                <a:cs typeface="Times New Roman" panose="02020603050405020304" pitchFamily="18" charset="0"/>
              </a:rPr>
              <a:t>else </a:t>
            </a:r>
            <a:r>
              <a:rPr lang="en-GB" dirty="0" smtClean="0">
                <a:latin typeface="Times New Roman" panose="02020603050405020304" pitchFamily="18" charset="0"/>
                <a:cs typeface="Times New Roman" panose="02020603050405020304" pitchFamily="18" charset="0"/>
              </a:rPr>
              <a:t>statement to specify a block of code to be executed if the condition is </a:t>
            </a:r>
            <a:r>
              <a:rPr lang="en-GB" b="1" dirty="0" smtClean="0">
                <a:latin typeface="Times New Roman" panose="02020603050405020304" pitchFamily="18" charset="0"/>
                <a:cs typeface="Times New Roman" panose="02020603050405020304" pitchFamily="18" charset="0"/>
              </a:rPr>
              <a:t>false.</a:t>
            </a:r>
          </a:p>
          <a:p>
            <a:pPr marL="0" indent="0">
              <a:buNone/>
            </a:pPr>
            <a:endParaRPr lang="en-GB" dirty="0"/>
          </a:p>
        </p:txBody>
      </p:sp>
    </p:spTree>
    <p:extLst>
      <p:ext uri="{BB962C8B-B14F-4D97-AF65-F5344CB8AC3E}">
        <p14:creationId xmlns:p14="http://schemas.microsoft.com/office/powerpoint/2010/main" val="40990465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if (</a:t>
            </a:r>
            <a:r>
              <a:rPr lang="en-GB" i="1" dirty="0" smtClean="0">
                <a:latin typeface="Times New Roman" panose="02020603050405020304" pitchFamily="18" charset="0"/>
                <a:cs typeface="Times New Roman" panose="02020603050405020304" pitchFamily="18" charset="0"/>
              </a:rPr>
              <a:t>condition</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block of code to be executed if the condition is true</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else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block of code to be executed if the condition is false</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41490909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int time = 20;</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if (time &lt; 18)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printf("Good 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else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printf("Good evening.");</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396635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In the example above, time (20) is greater than 18, so the condition is false. Because of this, we move on to the else condition and print to the screen "Good evening". If the time was less than 18, the program would print "Good day".</a:t>
            </a:r>
          </a:p>
          <a:p>
            <a:pPr marL="0" indent="0">
              <a:buNone/>
            </a:pPr>
            <a:endParaRPr lang="en-GB" dirty="0"/>
          </a:p>
        </p:txBody>
      </p:sp>
    </p:spTree>
    <p:extLst>
      <p:ext uri="{BB962C8B-B14F-4D97-AF65-F5344CB8AC3E}">
        <p14:creationId xmlns:p14="http://schemas.microsoft.com/office/powerpoint/2010/main" val="41790868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r>
              <a:rPr lang="en-US" dirty="0" smtClean="0">
                <a:solidFill>
                  <a:srgbClr val="023182"/>
                </a:solidFill>
                <a:latin typeface="Times New Roman"/>
                <a:cs typeface="Times New Roman"/>
                <a:sym typeface="Times New Roman"/>
              </a:rPr>
              <a:t>The else if Statement</a:t>
            </a:r>
            <a:endParaRPr lang="en-GB" dirty="0"/>
          </a:p>
        </p:txBody>
      </p:sp>
      <p:sp>
        <p:nvSpPr>
          <p:cNvPr id="3" name="Content Placeholder 2"/>
          <p:cNvSpPr>
            <a:spLocks noGrp="1"/>
          </p:cNvSpPr>
          <p:nvPr>
            <p:ph idx="1"/>
          </p:nvPr>
        </p:nvSpPr>
        <p:spPr/>
        <p:txBody>
          <a:bodyPr>
            <a:normAutofit/>
          </a:bodyPr>
          <a:lstStyle/>
          <a:p>
            <a:pPr marL="0" indent="0">
              <a:buNone/>
            </a:pPr>
            <a:r>
              <a:rPr lang="en-GB" dirty="0" smtClean="0">
                <a:latin typeface="Times New Roman" panose="02020603050405020304" pitchFamily="18" charset="0"/>
                <a:cs typeface="Times New Roman" panose="02020603050405020304" pitchFamily="18" charset="0"/>
              </a:rPr>
              <a:t>Use the </a:t>
            </a:r>
            <a:r>
              <a:rPr lang="en-GB" b="1" dirty="0" smtClean="0">
                <a:latin typeface="Times New Roman" panose="02020603050405020304" pitchFamily="18" charset="0"/>
                <a:cs typeface="Times New Roman" panose="02020603050405020304" pitchFamily="18" charset="0"/>
              </a:rPr>
              <a:t>else if </a:t>
            </a:r>
            <a:r>
              <a:rPr lang="en-GB" dirty="0" smtClean="0">
                <a:latin typeface="Times New Roman" panose="02020603050405020304" pitchFamily="18" charset="0"/>
                <a:cs typeface="Times New Roman" panose="02020603050405020304" pitchFamily="18" charset="0"/>
              </a:rPr>
              <a:t>statement to specify a new condition if the first condition is false.</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Syntax</a:t>
            </a:r>
          </a:p>
          <a:p>
            <a:pPr marL="457200" lvl="1" indent="0">
              <a:buNone/>
            </a:pPr>
            <a:r>
              <a:rPr lang="en-GB" b="1" dirty="0" smtClean="0">
                <a:latin typeface="Times New Roman" panose="02020603050405020304" pitchFamily="18" charset="0"/>
                <a:cs typeface="Times New Roman" panose="02020603050405020304" pitchFamily="18" charset="0"/>
              </a:rPr>
              <a:t>if</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condition1</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block of code to be executed if condition1 is true</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else if</a:t>
            </a: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condition2</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block of code to be executed if the condition1 is false and condition2 is true</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else</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block of code to be executed if the condition1 is false and condition2 is false</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98022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int time = 22;</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if (time &lt; 10)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printf("Good morning.");</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else if (time &lt; 20)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printf("Good 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else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printf("Good evening.");</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22044037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Switch Statement</a:t>
            </a:r>
            <a:endParaRPr lang="en-GB" dirty="0"/>
          </a:p>
        </p:txBody>
      </p:sp>
      <p:sp>
        <p:nvSpPr>
          <p:cNvPr id="3" name="Content Placeholder 2"/>
          <p:cNvSpPr>
            <a:spLocks noGrp="1"/>
          </p:cNvSpPr>
          <p:nvPr>
            <p:ph idx="1"/>
          </p:nvPr>
        </p:nvSpPr>
        <p:spPr/>
        <p:txBody>
          <a:bodyPr/>
          <a:lstStyle/>
          <a:p>
            <a:pPr marL="0" indent="0" algn="just">
              <a:lnSpc>
                <a:spcPct val="150000"/>
              </a:lnSpc>
              <a:buNone/>
            </a:pPr>
            <a:r>
              <a:rPr lang="en-GB" dirty="0" smtClean="0">
                <a:latin typeface="Times New Roman" panose="02020603050405020304" pitchFamily="18" charset="0"/>
                <a:cs typeface="Times New Roman" panose="02020603050405020304" pitchFamily="18" charset="0"/>
              </a:rPr>
              <a:t>Instead of writing many </a:t>
            </a:r>
            <a:r>
              <a:rPr lang="en-GB" b="1" dirty="0" err="1" smtClean="0">
                <a:latin typeface="Times New Roman" panose="02020603050405020304" pitchFamily="18" charset="0"/>
                <a:cs typeface="Times New Roman" panose="02020603050405020304" pitchFamily="18" charset="0"/>
              </a:rPr>
              <a:t>if..else</a:t>
            </a:r>
            <a:r>
              <a:rPr lang="en-GB" b="1"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statements, you can use the </a:t>
            </a:r>
            <a:r>
              <a:rPr lang="en-GB" b="1" dirty="0" smtClean="0">
                <a:latin typeface="Times New Roman" panose="02020603050405020304" pitchFamily="18" charset="0"/>
                <a:cs typeface="Times New Roman" panose="02020603050405020304" pitchFamily="18" charset="0"/>
              </a:rPr>
              <a:t>switch</a:t>
            </a:r>
            <a:r>
              <a:rPr lang="en-GB" dirty="0" smtClean="0">
                <a:latin typeface="Times New Roman" panose="02020603050405020304" pitchFamily="18" charset="0"/>
                <a:cs typeface="Times New Roman" panose="02020603050405020304" pitchFamily="18" charset="0"/>
              </a:rPr>
              <a:t> statement.</a:t>
            </a:r>
          </a:p>
          <a:p>
            <a:pPr marL="0" indent="0" algn="just">
              <a:lnSpc>
                <a:spcPct val="150000"/>
              </a:lnSpc>
              <a:buNone/>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switch</a:t>
            </a:r>
            <a:r>
              <a:rPr lang="en-GB" dirty="0" smtClean="0">
                <a:latin typeface="Times New Roman" panose="02020603050405020304" pitchFamily="18" charset="0"/>
                <a:cs typeface="Times New Roman" panose="02020603050405020304" pitchFamily="18" charset="0"/>
              </a:rPr>
              <a:t> statement selects one of many code blocks to be executed:</a:t>
            </a:r>
          </a:p>
          <a:p>
            <a:pPr marL="0" indent="0">
              <a:buNone/>
            </a:pPr>
            <a:endParaRPr lang="en-GB" dirty="0"/>
          </a:p>
        </p:txBody>
      </p:sp>
    </p:spTree>
    <p:extLst>
      <p:ext uri="{BB962C8B-B14F-4D97-AF65-F5344CB8AC3E}">
        <p14:creationId xmlns:p14="http://schemas.microsoft.com/office/powerpoint/2010/main" val="32178617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switch (</a:t>
            </a:r>
            <a:r>
              <a:rPr lang="en-GB" i="1" dirty="0" smtClean="0">
                <a:latin typeface="Times New Roman" panose="02020603050405020304" pitchFamily="18" charset="0"/>
                <a:cs typeface="Times New Roman" panose="02020603050405020304" pitchFamily="18" charset="0"/>
              </a:rPr>
              <a:t>expression</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x:</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code block</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code block</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default: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code block</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4527612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p:spPr>
        <p:txBody>
          <a:bodyPr/>
          <a:lstStyle/>
          <a:p>
            <a:r>
              <a:rPr lang="en-GB" dirty="0" smtClean="0">
                <a:solidFill>
                  <a:srgbClr val="023182"/>
                </a:solidFill>
                <a:latin typeface="Times New Roman"/>
                <a:cs typeface="Times New Roman"/>
                <a:sym typeface="Times New Roman"/>
              </a:rPr>
              <a:t>This is how it works:</a:t>
            </a:r>
            <a:endParaRPr lang="en-GB" dirty="0"/>
          </a:p>
        </p:txBody>
      </p:sp>
      <p:sp>
        <p:nvSpPr>
          <p:cNvPr id="3" name="Content Placeholder 2"/>
          <p:cNvSpPr>
            <a:spLocks noGrp="1"/>
          </p:cNvSpPr>
          <p:nvPr>
            <p:ph idx="1"/>
          </p:nvPr>
        </p:nvSpPr>
        <p:spPr/>
        <p:txBody>
          <a:bodyPr>
            <a:normAutofit fontScale="92500"/>
          </a:bodyPr>
          <a:lstStyle/>
          <a:p>
            <a:pPr>
              <a:lnSpc>
                <a:spcPct val="150000"/>
              </a:lnSpc>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switch</a:t>
            </a:r>
            <a:r>
              <a:rPr lang="en-GB" dirty="0" smtClean="0">
                <a:latin typeface="Times New Roman" panose="02020603050405020304" pitchFamily="18" charset="0"/>
                <a:cs typeface="Times New Roman" panose="02020603050405020304" pitchFamily="18" charset="0"/>
              </a:rPr>
              <a:t> expression is evaluated once</a:t>
            </a:r>
          </a:p>
          <a:p>
            <a:pPr>
              <a:lnSpc>
                <a:spcPct val="150000"/>
              </a:lnSpc>
            </a:pPr>
            <a:r>
              <a:rPr lang="en-GB" dirty="0" smtClean="0">
                <a:latin typeface="Times New Roman" panose="02020603050405020304" pitchFamily="18" charset="0"/>
                <a:cs typeface="Times New Roman" panose="02020603050405020304" pitchFamily="18" charset="0"/>
              </a:rPr>
              <a:t>The value of the expression is compared with the values of each case</a:t>
            </a:r>
          </a:p>
          <a:p>
            <a:pPr>
              <a:lnSpc>
                <a:spcPct val="150000"/>
              </a:lnSpc>
            </a:pPr>
            <a:r>
              <a:rPr lang="en-GB" dirty="0" smtClean="0">
                <a:latin typeface="Times New Roman" panose="02020603050405020304" pitchFamily="18" charset="0"/>
                <a:cs typeface="Times New Roman" panose="02020603050405020304" pitchFamily="18" charset="0"/>
              </a:rPr>
              <a:t>If there is a match, the associated block of code is executed</a:t>
            </a:r>
          </a:p>
          <a:p>
            <a:pPr>
              <a:lnSpc>
                <a:spcPct val="150000"/>
              </a:lnSpc>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break</a:t>
            </a:r>
            <a:r>
              <a:rPr lang="en-GB" dirty="0" smtClean="0">
                <a:latin typeface="Times New Roman" panose="02020603050405020304" pitchFamily="18" charset="0"/>
                <a:cs typeface="Times New Roman" panose="02020603050405020304" pitchFamily="18" charset="0"/>
              </a:rPr>
              <a:t> statement breaks out of the switch block and stops the execution</a:t>
            </a:r>
          </a:p>
          <a:p>
            <a:pPr>
              <a:lnSpc>
                <a:spcPct val="150000"/>
              </a:lnSpc>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default</a:t>
            </a:r>
            <a:r>
              <a:rPr lang="en-GB" dirty="0" smtClean="0">
                <a:latin typeface="Times New Roman" panose="02020603050405020304" pitchFamily="18" charset="0"/>
                <a:cs typeface="Times New Roman" panose="02020603050405020304" pitchFamily="18" charset="0"/>
              </a:rPr>
              <a:t> statement is optional, and specifies some code to run if there is no case match</a:t>
            </a:r>
          </a:p>
          <a:p>
            <a:pPr marL="0" indent="0">
              <a:buNone/>
            </a:pPr>
            <a:endParaRPr lang="en-GB" dirty="0"/>
          </a:p>
        </p:txBody>
      </p:sp>
    </p:spTree>
    <p:extLst>
      <p:ext uri="{BB962C8B-B14F-4D97-AF65-F5344CB8AC3E}">
        <p14:creationId xmlns:p14="http://schemas.microsoft.com/office/powerpoint/2010/main" val="3843182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a:xfrm>
            <a:off x="977537" y="1763188"/>
            <a:ext cx="3733800" cy="4351338"/>
          </a:xfrm>
        </p:spPr>
        <p:txBody>
          <a:bodyPr>
            <a:normAutofit fontScale="85000" lnSpcReduction="20000"/>
          </a:bodyPr>
          <a:lstStyle/>
          <a:p>
            <a:pPr marL="0" indent="0">
              <a:buNone/>
            </a:pPr>
            <a:r>
              <a:rPr lang="en-GB" dirty="0" smtClean="0">
                <a:latin typeface="Times New Roman" panose="02020603050405020304" pitchFamily="18" charset="0"/>
                <a:cs typeface="Times New Roman" panose="02020603050405020304" pitchFamily="18" charset="0"/>
              </a:rPr>
              <a:t>int day = 4;</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switch (day)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1:</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printf("Monday");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2:</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printf("Tuesday");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3:</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printf("Wednesday");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case 4:</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printf("Thursday");</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break;</a:t>
            </a:r>
          </a:p>
          <a:p>
            <a:pPr marL="0" indent="0">
              <a:buNone/>
            </a:pPr>
            <a:endParaRPr lang="en-GB" dirty="0"/>
          </a:p>
        </p:txBody>
      </p:sp>
      <p:sp>
        <p:nvSpPr>
          <p:cNvPr id="5" name="Rectangle 4"/>
          <p:cNvSpPr/>
          <p:nvPr/>
        </p:nvSpPr>
        <p:spPr>
          <a:xfrm>
            <a:off x="6561909" y="1590211"/>
            <a:ext cx="4541520" cy="4524315"/>
          </a:xfrm>
          <a:prstGeom prst="rect">
            <a:avLst/>
          </a:prstGeom>
        </p:spPr>
        <p:txBody>
          <a:bodyPr wrap="square">
            <a:spAutoFit/>
          </a:bodyPr>
          <a:lstStyle/>
          <a:p>
            <a:r>
              <a:rPr lang="en-GB" sz="2400" dirty="0">
                <a:latin typeface="Times New Roman" panose="02020603050405020304" pitchFamily="18" charset="0"/>
                <a:cs typeface="Times New Roman" panose="02020603050405020304" pitchFamily="18" charset="0"/>
              </a:rPr>
              <a:t>case 5:</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printf</a:t>
            </a:r>
            <a:r>
              <a:rPr lang="en-GB" sz="2400" dirty="0">
                <a:latin typeface="Times New Roman" panose="02020603050405020304" pitchFamily="18" charset="0"/>
                <a:cs typeface="Times New Roman" panose="02020603050405020304" pitchFamily="18" charset="0"/>
              </a:rPr>
              <a:t>("Friday");</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break;</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case 6:</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printf</a:t>
            </a:r>
            <a:r>
              <a:rPr lang="en-GB" sz="2400" dirty="0">
                <a:latin typeface="Times New Roman" panose="02020603050405020304" pitchFamily="18" charset="0"/>
                <a:cs typeface="Times New Roman" panose="02020603050405020304" pitchFamily="18" charset="0"/>
              </a:rPr>
              <a:t>("Saturday");</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break;</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case 7:</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printf</a:t>
            </a:r>
            <a:r>
              <a:rPr lang="en-GB" sz="2400" dirty="0">
                <a:latin typeface="Times New Roman" panose="02020603050405020304" pitchFamily="18" charset="0"/>
                <a:cs typeface="Times New Roman" panose="02020603050405020304" pitchFamily="18" charset="0"/>
              </a:rPr>
              <a:t>("Sunday");</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break;</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0475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smtClean="0">
                <a:solidFill>
                  <a:srgbClr val="023182"/>
                </a:solidFill>
                <a:latin typeface="Times New Roman"/>
                <a:cs typeface="Times New Roman"/>
                <a:sym typeface="Times New Roman"/>
              </a:rPr>
              <a:t>The break Keyword</a:t>
            </a:r>
            <a:endParaRPr lang="en-GB" dirty="0"/>
          </a:p>
        </p:txBody>
      </p:sp>
      <p:sp>
        <p:nvSpPr>
          <p:cNvPr id="3" name="Content Placeholder 2"/>
          <p:cNvSpPr>
            <a:spLocks noGrp="1"/>
          </p:cNvSpPr>
          <p:nvPr>
            <p:ph idx="1"/>
          </p:nvPr>
        </p:nvSpPr>
        <p:spPr/>
        <p:txBody>
          <a:bodyPr>
            <a:normAutofit fontScale="92500"/>
          </a:bodyPr>
          <a:lstStyle/>
          <a:p>
            <a:pPr algn="just">
              <a:lnSpc>
                <a:spcPct val="150000"/>
              </a:lnSpc>
            </a:pPr>
            <a:r>
              <a:rPr lang="en-GB" dirty="0" smtClean="0">
                <a:latin typeface="Times New Roman" panose="02020603050405020304" pitchFamily="18" charset="0"/>
                <a:cs typeface="Times New Roman" panose="02020603050405020304" pitchFamily="18" charset="0"/>
              </a:rPr>
              <a:t>When C reaches a break keyword, it breaks out of the switch block.</a:t>
            </a:r>
          </a:p>
          <a:p>
            <a:pPr algn="just">
              <a:lnSpc>
                <a:spcPct val="150000"/>
              </a:lnSpc>
            </a:pPr>
            <a:r>
              <a:rPr lang="en-GB" dirty="0" smtClean="0">
                <a:latin typeface="Times New Roman" panose="02020603050405020304" pitchFamily="18" charset="0"/>
                <a:cs typeface="Times New Roman" panose="02020603050405020304" pitchFamily="18" charset="0"/>
              </a:rPr>
              <a:t>This will stop the execution of more code and case testing inside the block.</a:t>
            </a:r>
          </a:p>
          <a:p>
            <a:pPr algn="just">
              <a:lnSpc>
                <a:spcPct val="150000"/>
              </a:lnSpc>
            </a:pPr>
            <a:r>
              <a:rPr lang="en-GB" dirty="0" smtClean="0">
                <a:latin typeface="Times New Roman" panose="02020603050405020304" pitchFamily="18" charset="0"/>
                <a:cs typeface="Times New Roman" panose="02020603050405020304" pitchFamily="18" charset="0"/>
              </a:rPr>
              <a:t>When a match is found, and the job is done, it's time for a break. There is no need for more testing.</a:t>
            </a:r>
          </a:p>
          <a:p>
            <a:pPr algn="just">
              <a:lnSpc>
                <a:spcPct val="150000"/>
              </a:lnSpc>
            </a:pPr>
            <a:r>
              <a:rPr lang="en-GB" dirty="0" smtClean="0">
                <a:latin typeface="Times New Roman" panose="02020603050405020304" pitchFamily="18" charset="0"/>
                <a:cs typeface="Times New Roman" panose="02020603050405020304" pitchFamily="18" charset="0"/>
              </a:rPr>
              <a:t>A break can save a lot of execution time because it "ignores" the execution of all the rest of the code in the switch block.</a:t>
            </a:r>
          </a:p>
          <a:p>
            <a:pPr marL="0" indent="0">
              <a:buNone/>
            </a:pPr>
            <a:endParaRPr lang="en-GB" dirty="0"/>
          </a:p>
        </p:txBody>
      </p:sp>
    </p:spTree>
    <p:extLst>
      <p:ext uri="{BB962C8B-B14F-4D97-AF65-F5344CB8AC3E}">
        <p14:creationId xmlns:p14="http://schemas.microsoft.com/office/powerpoint/2010/main" val="20873797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While Loop</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Loops</a:t>
            </a:r>
          </a:p>
          <a:p>
            <a:pPr algn="just">
              <a:lnSpc>
                <a:spcPct val="150000"/>
              </a:lnSpc>
            </a:pPr>
            <a:r>
              <a:rPr lang="en-GB" dirty="0" smtClean="0">
                <a:latin typeface="Times New Roman" panose="02020603050405020304" pitchFamily="18" charset="0"/>
                <a:cs typeface="Times New Roman" panose="02020603050405020304" pitchFamily="18" charset="0"/>
              </a:rPr>
              <a:t>Loops can execute a block of code as long as a specified condition is reached.</a:t>
            </a:r>
          </a:p>
          <a:p>
            <a:pPr algn="just">
              <a:lnSpc>
                <a:spcPct val="150000"/>
              </a:lnSpc>
            </a:pPr>
            <a:r>
              <a:rPr lang="en-GB" dirty="0" smtClean="0">
                <a:latin typeface="Times New Roman" panose="02020603050405020304" pitchFamily="18" charset="0"/>
                <a:cs typeface="Times New Roman" panose="02020603050405020304" pitchFamily="18" charset="0"/>
              </a:rPr>
              <a:t>Loops are handy because they save time, reduce errors, and they make code more readable.</a:t>
            </a:r>
          </a:p>
          <a:p>
            <a:pPr marL="0" indent="0">
              <a:buNone/>
            </a:pPr>
            <a:endParaRPr lang="en-GB" dirty="0"/>
          </a:p>
        </p:txBody>
      </p:sp>
    </p:spTree>
    <p:extLst>
      <p:ext uri="{BB962C8B-B14F-4D97-AF65-F5344CB8AC3E}">
        <p14:creationId xmlns:p14="http://schemas.microsoft.com/office/powerpoint/2010/main" val="4137102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While Loop</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while loop loops through a block of code as long as a specified condition is true:</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Syntax</a:t>
            </a:r>
          </a:p>
          <a:p>
            <a:pPr marL="0" indent="0">
              <a:buNone/>
            </a:pPr>
            <a:r>
              <a:rPr lang="en-GB" dirty="0" smtClean="0">
                <a:latin typeface="Times New Roman" panose="02020603050405020304" pitchFamily="18" charset="0"/>
                <a:cs typeface="Times New Roman" panose="02020603050405020304" pitchFamily="18" charset="0"/>
              </a:rPr>
              <a:t>while (condition)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 code block to be executed</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5331956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309"/>
            <a:ext cx="10515600" cy="5558654"/>
          </a:xfrm>
        </p:spPr>
        <p:txBody>
          <a:bodyPr>
            <a:normAutofit fontScale="92500" lnSpcReduction="10000"/>
          </a:bodyPr>
          <a:lstStyle/>
          <a:p>
            <a:pPr marL="0" indent="0">
              <a:buNone/>
            </a:pPr>
            <a:r>
              <a:rPr lang="en-GB" dirty="0" smtClean="0">
                <a:latin typeface="Times New Roman" panose="02020603050405020304" pitchFamily="18" charset="0"/>
                <a:cs typeface="Times New Roman" panose="02020603050405020304" pitchFamily="18" charset="0"/>
              </a:rPr>
              <a:t>In the example below, the code in the loop will run, over and over again, as long as a variable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is less than 5:</a:t>
            </a:r>
          </a:p>
          <a:p>
            <a:pPr marL="0" indent="0">
              <a:lnSpc>
                <a:spcPct val="150000"/>
              </a:lnSpc>
              <a:buNone/>
            </a:pPr>
            <a:r>
              <a:rPr lang="nn-NO" dirty="0" smtClean="0">
                <a:latin typeface="Times New Roman" panose="02020603050405020304" pitchFamily="18" charset="0"/>
                <a:cs typeface="Times New Roman" panose="02020603050405020304" pitchFamily="18" charset="0"/>
              </a:rPr>
              <a:t>int i = 0;</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while (i &lt; 5)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printf("%d\n",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a:t>
            </a:r>
          </a:p>
          <a:p>
            <a:pPr marL="0" indent="0" algn="just">
              <a:lnSpc>
                <a:spcPct val="150000"/>
              </a:lnSpc>
              <a:buNone/>
            </a:pPr>
            <a:endParaRPr lang="en-GB"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dirty="0" smtClean="0">
                <a:latin typeface="Times New Roman" panose="02020603050405020304" pitchFamily="18" charset="0"/>
                <a:cs typeface="Times New Roman" panose="02020603050405020304" pitchFamily="18" charset="0"/>
              </a:rPr>
              <a:t>Note: Do not forget to increase the variable used in the condition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otherwise the loop will never end!</a:t>
            </a:r>
          </a:p>
          <a:p>
            <a:pPr marL="0" indent="0">
              <a:buNone/>
            </a:pPr>
            <a:endParaRPr lang="en-GB" dirty="0" smtClean="0"/>
          </a:p>
          <a:p>
            <a:pPr marL="0" indent="0">
              <a:buNone/>
            </a:pPr>
            <a:endParaRPr lang="en-GB" dirty="0"/>
          </a:p>
        </p:txBody>
      </p:sp>
    </p:spTree>
    <p:extLst>
      <p:ext uri="{BB962C8B-B14F-4D97-AF65-F5344CB8AC3E}">
        <p14:creationId xmlns:p14="http://schemas.microsoft.com/office/powerpoint/2010/main" val="2104332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Do/While Loop</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do/while</a:t>
            </a:r>
            <a:r>
              <a:rPr lang="en-GB" dirty="0" smtClean="0">
                <a:latin typeface="Times New Roman" panose="02020603050405020304" pitchFamily="18" charset="0"/>
                <a:cs typeface="Times New Roman" panose="02020603050405020304" pitchFamily="18" charset="0"/>
              </a:rPr>
              <a:t> loop is a variant of the while loop. This loop will execute the code block once, before checking if the condition is true, then it will repeat the loop as long as the condition is true.</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Syntax:</a:t>
            </a:r>
          </a:p>
          <a:p>
            <a:pPr marL="0" indent="0">
              <a:buNone/>
            </a:pPr>
            <a:r>
              <a:rPr lang="en-GB" dirty="0" smtClean="0">
                <a:latin typeface="Times New Roman" panose="02020603050405020304" pitchFamily="18" charset="0"/>
                <a:cs typeface="Times New Roman" panose="02020603050405020304" pitchFamily="18" charset="0"/>
              </a:rPr>
              <a:t>do {</a:t>
            </a:r>
            <a:br>
              <a:rPr lang="en-GB" dirty="0" smtClean="0">
                <a:latin typeface="Times New Roman" panose="02020603050405020304" pitchFamily="18" charset="0"/>
                <a:cs typeface="Times New Roman" panose="02020603050405020304" pitchFamily="18" charset="0"/>
              </a:rPr>
            </a:br>
            <a:r>
              <a:rPr lang="en-GB" i="1" dirty="0" smtClean="0">
                <a:latin typeface="Times New Roman" panose="02020603050405020304" pitchFamily="18" charset="0"/>
                <a:cs typeface="Times New Roman" panose="02020603050405020304" pitchFamily="18" charset="0"/>
              </a:rPr>
              <a:t>  // code block to be executed</a:t>
            </a:r>
            <a:br>
              <a:rPr lang="en-GB" i="1"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while (</a:t>
            </a:r>
            <a:r>
              <a:rPr lang="en-GB" i="1" dirty="0" smtClean="0">
                <a:latin typeface="Times New Roman" panose="02020603050405020304" pitchFamily="18" charset="0"/>
                <a:cs typeface="Times New Roman" panose="02020603050405020304" pitchFamily="18" charset="0"/>
              </a:rPr>
              <a:t>condition</a:t>
            </a:r>
            <a:r>
              <a:rPr lang="en-GB" dirty="0" smtClean="0">
                <a:latin typeface="Times New Roman" panose="02020603050405020304" pitchFamily="18" charset="0"/>
                <a:cs typeface="Times New Roman" panose="02020603050405020304" pitchFamily="18" charset="0"/>
              </a:rPr>
              <a:t>);</a:t>
            </a:r>
          </a:p>
          <a:p>
            <a:pPr marL="0" indent="0">
              <a:buNone/>
            </a:pP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7362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5726"/>
            <a:ext cx="10515600" cy="5541237"/>
          </a:xfrm>
        </p:spPr>
        <p:txBody>
          <a:bodyPr>
            <a:normAutofit fontScale="92500" lnSpcReduction="10000"/>
          </a:bodyPr>
          <a:lstStyle/>
          <a:p>
            <a:pPr marL="0" indent="0">
              <a:buNone/>
            </a:pPr>
            <a:r>
              <a:rPr lang="en-GB" dirty="0" smtClean="0">
                <a:latin typeface="Times New Roman" panose="02020603050405020304" pitchFamily="18" charset="0"/>
                <a:cs typeface="Times New Roman" panose="02020603050405020304" pitchFamily="18" charset="0"/>
              </a:rPr>
              <a:t>The example below uses a do/while loop. The loop will always be executed at least once, even if the condition is false, because the code block is executed before the condition is tested:</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0;</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do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printf("%d\n",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while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&lt; 5);</a:t>
            </a:r>
          </a:p>
          <a:p>
            <a:pPr marL="0" indent="0">
              <a:buNone/>
            </a:pPr>
            <a:endParaRPr lang="en-GB"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dirty="0" smtClean="0">
                <a:latin typeface="Times New Roman" panose="02020603050405020304" pitchFamily="18" charset="0"/>
                <a:cs typeface="Times New Roman" panose="02020603050405020304" pitchFamily="18" charset="0"/>
              </a:rPr>
              <a:t>Do not forget to increase the variable used in the condition, otherwise the loop will never end!</a:t>
            </a:r>
          </a:p>
          <a:p>
            <a:pPr marL="0" indent="0">
              <a:buNone/>
            </a:pPr>
            <a:endParaRPr lang="en-GB" dirty="0" smtClean="0"/>
          </a:p>
          <a:p>
            <a:pPr marL="0" indent="0">
              <a:buNone/>
            </a:pPr>
            <a:endParaRPr lang="en-GB" dirty="0"/>
          </a:p>
        </p:txBody>
      </p:sp>
    </p:spTree>
    <p:extLst>
      <p:ext uri="{BB962C8B-B14F-4D97-AF65-F5344CB8AC3E}">
        <p14:creationId xmlns:p14="http://schemas.microsoft.com/office/powerpoint/2010/main" val="39297465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8944"/>
          </a:xfrm>
        </p:spPr>
        <p:txBody>
          <a:bodyPr>
            <a:normAutofit fontScale="90000"/>
          </a:bodyPr>
          <a:lstStyle/>
          <a:p>
            <a:r>
              <a:rPr lang="en-US" dirty="0" smtClean="0">
                <a:solidFill>
                  <a:srgbClr val="023182"/>
                </a:solidFill>
                <a:latin typeface="Times New Roman"/>
                <a:cs typeface="Times New Roman"/>
                <a:sym typeface="Times New Roman"/>
              </a:rPr>
              <a:t>Real-Life Examples</a:t>
            </a:r>
            <a:endParaRPr lang="en-GB" dirty="0"/>
          </a:p>
        </p:txBody>
      </p:sp>
      <p:sp>
        <p:nvSpPr>
          <p:cNvPr id="3" name="Content Placeholder 2"/>
          <p:cNvSpPr>
            <a:spLocks noGrp="1"/>
          </p:cNvSpPr>
          <p:nvPr>
            <p:ph idx="1"/>
          </p:nvPr>
        </p:nvSpPr>
        <p:spPr>
          <a:xfrm>
            <a:off x="838200" y="1825624"/>
            <a:ext cx="10515600" cy="4670969"/>
          </a:xfrm>
        </p:spPr>
        <p:txBody>
          <a:bodyPr>
            <a:normAutofit/>
          </a:bodyPr>
          <a:lstStyle/>
          <a:p>
            <a:pPr marL="0" indent="0" algn="just">
              <a:lnSpc>
                <a:spcPct val="150000"/>
              </a:lnSpc>
              <a:buNone/>
            </a:pPr>
            <a:r>
              <a:rPr lang="en-GB" dirty="0" smtClean="0">
                <a:latin typeface="Times New Roman" panose="02020603050405020304" pitchFamily="18" charset="0"/>
                <a:cs typeface="Times New Roman" panose="02020603050405020304" pitchFamily="18" charset="0"/>
              </a:rPr>
              <a:t>To demonstrate a practical example of the </a:t>
            </a:r>
            <a:r>
              <a:rPr lang="en-GB" b="1" dirty="0" smtClean="0">
                <a:latin typeface="Times New Roman" panose="02020603050405020304" pitchFamily="18" charset="0"/>
                <a:cs typeface="Times New Roman" panose="02020603050405020304" pitchFamily="18" charset="0"/>
              </a:rPr>
              <a:t>while loop</a:t>
            </a:r>
            <a:r>
              <a:rPr lang="en-GB" dirty="0" smtClean="0">
                <a:latin typeface="Times New Roman" panose="02020603050405020304" pitchFamily="18" charset="0"/>
                <a:cs typeface="Times New Roman" panose="02020603050405020304" pitchFamily="18" charset="0"/>
              </a:rPr>
              <a:t>, we have created a simple "countdown" program:</a:t>
            </a:r>
          </a:p>
          <a:p>
            <a:pPr marL="0" indent="0" algn="just">
              <a:lnSpc>
                <a:spcPct val="150000"/>
              </a:lnSpc>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int countdown = 3;</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while (countdown &gt; 0)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printf("%d\n", countdown);</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countdown--;</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printf("Happy New Year!!\n");</a:t>
            </a:r>
          </a:p>
          <a:p>
            <a:pPr marL="0" indent="0">
              <a:buNone/>
            </a:pPr>
            <a:endParaRPr lang="en-GB" dirty="0"/>
          </a:p>
        </p:txBody>
      </p:sp>
    </p:spTree>
    <p:extLst>
      <p:ext uri="{BB962C8B-B14F-4D97-AF65-F5344CB8AC3E}">
        <p14:creationId xmlns:p14="http://schemas.microsoft.com/office/powerpoint/2010/main" val="42306157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lstStyle/>
          <a:p>
            <a:pPr marL="0" indent="0" algn="just">
              <a:lnSpc>
                <a:spcPct val="150000"/>
              </a:lnSpc>
              <a:buNone/>
            </a:pPr>
            <a:r>
              <a:rPr lang="en-GB" dirty="0" smtClean="0">
                <a:latin typeface="Times New Roman" panose="02020603050405020304" pitchFamily="18" charset="0"/>
                <a:cs typeface="Times New Roman" panose="02020603050405020304" pitchFamily="18" charset="0"/>
              </a:rPr>
              <a:t>In this example, we create a program that only print even numbers between 0 and 10 (inclusive):</a:t>
            </a:r>
          </a:p>
          <a:p>
            <a:pPr marL="0" indent="0" algn="just">
              <a:lnSpc>
                <a:spcPct val="150000"/>
              </a:lnSpc>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Example</a:t>
            </a:r>
          </a:p>
          <a:p>
            <a:pPr marL="0" indent="0">
              <a:buNone/>
            </a:pPr>
            <a:r>
              <a:rPr lang="en-GB" dirty="0" smtClean="0">
                <a:latin typeface="Times New Roman" panose="02020603050405020304" pitchFamily="18" charset="0"/>
                <a:cs typeface="Times New Roman" panose="02020603050405020304" pitchFamily="18" charset="0"/>
              </a:rPr>
              <a:t>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0;</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while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&lt;= 10)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printf("%d\n",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2;</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25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smtClean="0">
                <a:solidFill>
                  <a:srgbClr val="023182"/>
                </a:solidFill>
                <a:latin typeface="Times New Roman"/>
                <a:cs typeface="Times New Roman"/>
                <a:sym typeface="Times New Roman"/>
              </a:rPr>
              <a:t>For Loop</a:t>
            </a:r>
            <a:endParaRPr lang="en-GB" dirty="0"/>
          </a:p>
        </p:txBody>
      </p:sp>
      <p:sp>
        <p:nvSpPr>
          <p:cNvPr id="3" name="Content Placeholder 2"/>
          <p:cNvSpPr>
            <a:spLocks noGrp="1"/>
          </p:cNvSpPr>
          <p:nvPr>
            <p:ph idx="1"/>
          </p:nvPr>
        </p:nvSpPr>
        <p:spPr>
          <a:xfrm>
            <a:off x="838200" y="1524000"/>
            <a:ext cx="10515600" cy="5268685"/>
          </a:xfrm>
        </p:spPr>
        <p:txBody>
          <a:bodyPr>
            <a:normAutofit fontScale="85000" lnSpcReduction="10000"/>
          </a:bodyPr>
          <a:lstStyle/>
          <a:p>
            <a:pPr marL="0" indent="0">
              <a:buNone/>
            </a:pPr>
            <a:r>
              <a:rPr lang="en-GB" dirty="0" smtClean="0">
                <a:latin typeface="Times New Roman" panose="02020603050405020304" pitchFamily="18" charset="0"/>
                <a:cs typeface="Times New Roman" panose="02020603050405020304" pitchFamily="18" charset="0"/>
              </a:rPr>
              <a:t>When you know exactly how many times you want to loop through a block of code, use the for loop instead of a while loop:</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Syntax</a:t>
            </a:r>
          </a:p>
          <a:p>
            <a:pPr marL="0" indent="0">
              <a:lnSpc>
                <a:spcPct val="150000"/>
              </a:lnSpc>
              <a:buNone/>
            </a:pPr>
            <a:r>
              <a:rPr lang="en-GB" dirty="0" smtClean="0">
                <a:latin typeface="Times New Roman" panose="02020603050405020304" pitchFamily="18" charset="0"/>
                <a:cs typeface="Times New Roman" panose="02020603050405020304" pitchFamily="18" charset="0"/>
              </a:rPr>
              <a:t>for (</a:t>
            </a:r>
            <a:r>
              <a:rPr lang="en-GB" i="1" dirty="0" smtClean="0">
                <a:latin typeface="Times New Roman" panose="02020603050405020304" pitchFamily="18" charset="0"/>
                <a:cs typeface="Times New Roman" panose="02020603050405020304" pitchFamily="18" charset="0"/>
              </a:rPr>
              <a:t>expression 1</a:t>
            </a:r>
            <a:r>
              <a:rPr lang="en-GB" dirty="0" smtClean="0">
                <a:latin typeface="Times New Roman" panose="02020603050405020304" pitchFamily="18" charset="0"/>
                <a:cs typeface="Times New Roman" panose="02020603050405020304" pitchFamily="18" charset="0"/>
              </a:rPr>
              <a:t>;</a:t>
            </a:r>
            <a:r>
              <a:rPr lang="en-GB" i="1" dirty="0" smtClean="0">
                <a:latin typeface="Times New Roman" panose="02020603050405020304" pitchFamily="18" charset="0"/>
                <a:cs typeface="Times New Roman" panose="02020603050405020304" pitchFamily="18" charset="0"/>
              </a:rPr>
              <a:t> expression 2</a:t>
            </a:r>
            <a:r>
              <a:rPr lang="en-GB" dirty="0" smtClean="0">
                <a:latin typeface="Times New Roman" panose="02020603050405020304" pitchFamily="18" charset="0"/>
                <a:cs typeface="Times New Roman" panose="02020603050405020304" pitchFamily="18" charset="0"/>
              </a:rPr>
              <a:t>;</a:t>
            </a:r>
            <a:r>
              <a:rPr lang="en-GB" i="1" dirty="0" smtClean="0">
                <a:latin typeface="Times New Roman" panose="02020603050405020304" pitchFamily="18" charset="0"/>
                <a:cs typeface="Times New Roman" panose="02020603050405020304" pitchFamily="18" charset="0"/>
              </a:rPr>
              <a:t> expression 3</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t>
            </a:r>
            <a:r>
              <a:rPr lang="en-GB" i="1" dirty="0" smtClean="0">
                <a:latin typeface="Times New Roman" panose="02020603050405020304" pitchFamily="18" charset="0"/>
                <a:cs typeface="Times New Roman" panose="02020603050405020304" pitchFamily="18" charset="0"/>
              </a:rPr>
              <a:t>// code block to be executed</a:t>
            </a: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algn="just">
              <a:lnSpc>
                <a:spcPct val="150000"/>
              </a:lnSpc>
            </a:pPr>
            <a:r>
              <a:rPr lang="en-GB" dirty="0" smtClean="0">
                <a:latin typeface="Times New Roman" panose="02020603050405020304" pitchFamily="18" charset="0"/>
                <a:cs typeface="Times New Roman" panose="02020603050405020304" pitchFamily="18" charset="0"/>
              </a:rPr>
              <a:t>Expression 1 is executed (one time) before the execution of the code block.</a:t>
            </a:r>
          </a:p>
          <a:p>
            <a:pPr algn="just">
              <a:lnSpc>
                <a:spcPct val="150000"/>
              </a:lnSpc>
            </a:pPr>
            <a:r>
              <a:rPr lang="en-GB" dirty="0" smtClean="0">
                <a:latin typeface="Times New Roman" panose="02020603050405020304" pitchFamily="18" charset="0"/>
                <a:cs typeface="Times New Roman" panose="02020603050405020304" pitchFamily="18" charset="0"/>
              </a:rPr>
              <a:t>Expression 2 defines the condition for executing the code block.</a:t>
            </a:r>
          </a:p>
          <a:p>
            <a:pPr algn="just">
              <a:lnSpc>
                <a:spcPct val="150000"/>
              </a:lnSpc>
            </a:pPr>
            <a:r>
              <a:rPr lang="en-GB" dirty="0" smtClean="0">
                <a:latin typeface="Times New Roman" panose="02020603050405020304" pitchFamily="18" charset="0"/>
                <a:cs typeface="Times New Roman" panose="02020603050405020304" pitchFamily="18" charset="0"/>
              </a:rPr>
              <a:t>Expression 3 is executed (every time) after the code block has been executed.</a:t>
            </a:r>
          </a:p>
          <a:p>
            <a:pPr marL="0" indent="0">
              <a:buNone/>
            </a:pPr>
            <a:endParaRPr lang="en-GB" dirty="0"/>
          </a:p>
        </p:txBody>
      </p:sp>
    </p:spTree>
    <p:extLst>
      <p:ext uri="{BB962C8B-B14F-4D97-AF65-F5344CB8AC3E}">
        <p14:creationId xmlns:p14="http://schemas.microsoft.com/office/powerpoint/2010/main" val="1436672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smtClean="0">
                <a:solidFill>
                  <a:srgbClr val="023182"/>
                </a:solidFill>
                <a:latin typeface="Times New Roman"/>
                <a:cs typeface="Times New Roman"/>
                <a:sym typeface="Times New Roman"/>
              </a:rPr>
              <a:t>For Loop</a:t>
            </a:r>
            <a:endParaRPr lang="en-GB" dirty="0"/>
          </a:p>
        </p:txBody>
      </p:sp>
      <p:sp>
        <p:nvSpPr>
          <p:cNvPr id="3" name="Content Placeholder 2"/>
          <p:cNvSpPr>
            <a:spLocks noGrp="1"/>
          </p:cNvSpPr>
          <p:nvPr>
            <p:ph idx="1"/>
          </p:nvPr>
        </p:nvSpPr>
        <p:spPr>
          <a:xfrm>
            <a:off x="838200" y="1524000"/>
            <a:ext cx="10515600" cy="5268685"/>
          </a:xfrm>
        </p:spPr>
        <p:txBody>
          <a:bodyPr>
            <a:normAutofit/>
          </a:bodyPr>
          <a:lstStyle/>
          <a:p>
            <a:pPr marL="0" indent="0">
              <a:buNone/>
            </a:pPr>
            <a:r>
              <a:rPr lang="en-GB" dirty="0" smtClean="0">
                <a:latin typeface="Times New Roman" panose="02020603050405020304" pitchFamily="18" charset="0"/>
                <a:cs typeface="Times New Roman" panose="02020603050405020304" pitchFamily="18" charset="0"/>
              </a:rPr>
              <a:t>Example</a:t>
            </a:r>
          </a:p>
          <a:p>
            <a:pPr marL="0" indent="0">
              <a:buNone/>
            </a:pPr>
            <a:r>
              <a:rPr lang="en-GB" dirty="0" smtClean="0">
                <a:latin typeface="Times New Roman" panose="02020603050405020304" pitchFamily="18" charset="0"/>
                <a:cs typeface="Times New Roman" panose="02020603050405020304" pitchFamily="18" charset="0"/>
              </a:rPr>
              <a:t>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for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0;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&lt; 5;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  printf("%d\n",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24442566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2480"/>
            <a:ext cx="10515600" cy="5384483"/>
          </a:xfrm>
        </p:spPr>
        <p:txBody>
          <a:bodyPr/>
          <a:lstStyle/>
          <a:p>
            <a:pPr algn="just">
              <a:lnSpc>
                <a:spcPct val="150000"/>
              </a:lnSpc>
            </a:pPr>
            <a:r>
              <a:rPr lang="en-GB" dirty="0" smtClean="0">
                <a:latin typeface="Times New Roman" panose="02020603050405020304" pitchFamily="18" charset="0"/>
                <a:cs typeface="Times New Roman" panose="02020603050405020304" pitchFamily="18" charset="0"/>
              </a:rPr>
              <a:t>Expression 1 sets a variable before the loop starts (int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0).</a:t>
            </a:r>
          </a:p>
          <a:p>
            <a:pPr algn="just">
              <a:lnSpc>
                <a:spcPct val="150000"/>
              </a:lnSpc>
            </a:pPr>
            <a:r>
              <a:rPr lang="en-GB" dirty="0" smtClean="0">
                <a:latin typeface="Times New Roman" panose="02020603050405020304" pitchFamily="18" charset="0"/>
                <a:cs typeface="Times New Roman" panose="02020603050405020304" pitchFamily="18" charset="0"/>
              </a:rPr>
              <a:t>Expression 2 defines the condition for the loop to run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must be less than 5). If the condition is true, the loop will start over again, if it is false, the loop will end.</a:t>
            </a:r>
          </a:p>
          <a:p>
            <a:pPr algn="just">
              <a:lnSpc>
                <a:spcPct val="150000"/>
              </a:lnSpc>
            </a:pPr>
            <a:r>
              <a:rPr lang="en-GB" dirty="0" smtClean="0">
                <a:latin typeface="Times New Roman" panose="02020603050405020304" pitchFamily="18" charset="0"/>
                <a:cs typeface="Times New Roman" panose="02020603050405020304" pitchFamily="18" charset="0"/>
              </a:rPr>
              <a:t>Expression 3 increases a value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each time the code block in the loop has been executed.</a:t>
            </a:r>
          </a:p>
          <a:p>
            <a:pPr marL="0" indent="0">
              <a:buNone/>
            </a:pPr>
            <a:endParaRPr lang="en-GB" dirty="0"/>
          </a:p>
        </p:txBody>
      </p:sp>
    </p:spTree>
    <p:extLst>
      <p:ext uri="{BB962C8B-B14F-4D97-AF65-F5344CB8AC3E}">
        <p14:creationId xmlns:p14="http://schemas.microsoft.com/office/powerpoint/2010/main" val="26263342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break statement</a:t>
            </a:r>
            <a:endParaRPr lang="en-GB" dirty="0"/>
          </a:p>
        </p:txBody>
      </p:sp>
      <p:sp>
        <p:nvSpPr>
          <p:cNvPr id="3" name="Content Placeholder 2"/>
          <p:cNvSpPr>
            <a:spLocks noGrp="1"/>
          </p:cNvSpPr>
          <p:nvPr>
            <p:ph idx="1"/>
          </p:nvPr>
        </p:nvSpPr>
        <p:spPr/>
        <p:txBody>
          <a:bodyPr/>
          <a:lstStyle/>
          <a:p>
            <a:pPr algn="just">
              <a:lnSpc>
                <a:spcPct val="200000"/>
              </a:lnSpc>
            </a:pPr>
            <a:r>
              <a:rPr lang="en-GB" dirty="0" smtClean="0">
                <a:latin typeface="Times New Roman" panose="02020603050405020304" pitchFamily="18" charset="0"/>
                <a:cs typeface="Times New Roman" panose="02020603050405020304" pitchFamily="18" charset="0"/>
              </a:rPr>
              <a:t>You have already seen the </a:t>
            </a:r>
            <a:r>
              <a:rPr lang="en-GB" b="1" dirty="0" smtClean="0">
                <a:latin typeface="Times New Roman" panose="02020603050405020304" pitchFamily="18" charset="0"/>
                <a:cs typeface="Times New Roman" panose="02020603050405020304" pitchFamily="18" charset="0"/>
              </a:rPr>
              <a:t>break</a:t>
            </a:r>
            <a:r>
              <a:rPr lang="en-GB" dirty="0" smtClean="0">
                <a:latin typeface="Times New Roman" panose="02020603050405020304" pitchFamily="18" charset="0"/>
                <a:cs typeface="Times New Roman" panose="02020603050405020304" pitchFamily="18" charset="0"/>
              </a:rPr>
              <a:t> statement used in an earlier chapter of this tutorial. It was used to "</a:t>
            </a:r>
            <a:r>
              <a:rPr lang="en-GB" b="1" dirty="0" smtClean="0">
                <a:latin typeface="Times New Roman" panose="02020603050405020304" pitchFamily="18" charset="0"/>
                <a:cs typeface="Times New Roman" panose="02020603050405020304" pitchFamily="18" charset="0"/>
              </a:rPr>
              <a:t>jump out</a:t>
            </a:r>
            <a:r>
              <a:rPr lang="en-GB" dirty="0" smtClean="0">
                <a:latin typeface="Times New Roman" panose="02020603050405020304" pitchFamily="18" charset="0"/>
                <a:cs typeface="Times New Roman" panose="02020603050405020304" pitchFamily="18" charset="0"/>
              </a:rPr>
              <a:t>" of a switch statement.</a:t>
            </a:r>
          </a:p>
          <a:p>
            <a:pPr algn="just">
              <a:lnSpc>
                <a:spcPct val="200000"/>
              </a:lnSpc>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break</a:t>
            </a:r>
            <a:r>
              <a:rPr lang="en-GB" dirty="0" smtClean="0">
                <a:latin typeface="Times New Roman" panose="02020603050405020304" pitchFamily="18" charset="0"/>
                <a:cs typeface="Times New Roman" panose="02020603050405020304" pitchFamily="18" charset="0"/>
              </a:rPr>
              <a:t> statement can also be used to jump out of a </a:t>
            </a:r>
            <a:r>
              <a:rPr lang="en-GB" b="1" dirty="0" smtClean="0">
                <a:latin typeface="Times New Roman" panose="02020603050405020304" pitchFamily="18" charset="0"/>
                <a:cs typeface="Times New Roman" panose="02020603050405020304" pitchFamily="18" charset="0"/>
              </a:rPr>
              <a:t>loop</a:t>
            </a:r>
            <a:r>
              <a:rPr lang="en-GB" dirty="0" smtClean="0">
                <a:latin typeface="Times New Roman" panose="02020603050405020304" pitchFamily="18" charset="0"/>
                <a:cs typeface="Times New Roman" panose="02020603050405020304" pitchFamily="18" charset="0"/>
              </a:rPr>
              <a:t>.</a:t>
            </a:r>
          </a:p>
          <a:p>
            <a:pPr algn="just">
              <a:lnSpc>
                <a:spcPct val="200000"/>
              </a:lnSpc>
            </a:pPr>
            <a:r>
              <a:rPr lang="en-GB" dirty="0" smtClean="0">
                <a:latin typeface="Times New Roman" panose="02020603050405020304" pitchFamily="18" charset="0"/>
                <a:cs typeface="Times New Roman" panose="02020603050405020304" pitchFamily="18" charset="0"/>
              </a:rPr>
              <a:t>This example jumps out of the for loop when </a:t>
            </a:r>
            <a:r>
              <a:rPr lang="en-GB" b="1"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is equal to 4:</a:t>
            </a:r>
          </a:p>
          <a:p>
            <a:pPr marL="0" indent="0">
              <a:buNone/>
            </a:pPr>
            <a:endParaRPr lang="en-GB" dirty="0"/>
          </a:p>
        </p:txBody>
      </p:sp>
    </p:spTree>
    <p:extLst>
      <p:ext uri="{BB962C8B-B14F-4D97-AF65-F5344CB8AC3E}">
        <p14:creationId xmlns:p14="http://schemas.microsoft.com/office/powerpoint/2010/main" val="22107798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5394"/>
            <a:ext cx="10515600" cy="5471569"/>
          </a:xfrm>
        </p:spPr>
        <p:txBody>
          <a:bodyPr/>
          <a:lstStyle/>
          <a:p>
            <a:pPr marL="0" indent="0">
              <a:buNone/>
            </a:pPr>
            <a:r>
              <a:rPr lang="en-GB" b="1" dirty="0" smtClean="0">
                <a:latin typeface="Times New Roman" panose="02020603050405020304" pitchFamily="18" charset="0"/>
                <a:cs typeface="Times New Roman" panose="02020603050405020304" pitchFamily="18" charset="0"/>
              </a:rPr>
              <a:t>Example</a:t>
            </a:r>
            <a:endParaRPr lang="en-GB" b="1" dirty="0">
              <a:latin typeface="Times New Roman" panose="02020603050405020304" pitchFamily="18" charset="0"/>
              <a:cs typeface="Times New Roman" panose="02020603050405020304" pitchFamily="18" charset="0"/>
            </a:endParaRPr>
          </a:p>
          <a:p>
            <a:pPr marL="0" indent="0">
              <a:buNone/>
            </a:pPr>
            <a:r>
              <a:rPr lang="nn-NO" dirty="0" smtClean="0">
                <a:latin typeface="Times New Roman" panose="02020603050405020304" pitchFamily="18" charset="0"/>
                <a:cs typeface="Times New Roman" panose="02020603050405020304" pitchFamily="18" charset="0"/>
              </a:rPr>
              <a:t>int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for (i = 0; i &lt; 10; i++)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if (i == 4)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break;</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printf("%d\n",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a:t>
            </a:r>
          </a:p>
          <a:p>
            <a:pPr marL="0" indent="0">
              <a:lnSpc>
                <a:spcPct val="150000"/>
              </a:lnSpc>
              <a:buNone/>
            </a:pPr>
            <a:r>
              <a:rPr lang="en-GB" dirty="0" smtClean="0">
                <a:latin typeface="Times New Roman" panose="02020603050405020304" pitchFamily="18" charset="0"/>
                <a:cs typeface="Times New Roman" panose="02020603050405020304" pitchFamily="18" charset="0"/>
              </a:rPr>
              <a:t>In a </a:t>
            </a:r>
            <a:r>
              <a:rPr lang="en-GB" b="1" dirty="0" smtClean="0">
                <a:latin typeface="Times New Roman" panose="02020603050405020304" pitchFamily="18" charset="0"/>
                <a:cs typeface="Times New Roman" panose="02020603050405020304" pitchFamily="18" charset="0"/>
              </a:rPr>
              <a:t>looping</a:t>
            </a:r>
            <a:r>
              <a:rPr lang="en-GB" dirty="0" smtClean="0">
                <a:latin typeface="Times New Roman" panose="02020603050405020304" pitchFamily="18" charset="0"/>
                <a:cs typeface="Times New Roman" panose="02020603050405020304" pitchFamily="18" charset="0"/>
              </a:rPr>
              <a:t> statement, the </a:t>
            </a:r>
            <a:r>
              <a:rPr lang="en-GB" b="1" dirty="0" smtClean="0">
                <a:latin typeface="Times New Roman" panose="02020603050405020304" pitchFamily="18" charset="0"/>
                <a:cs typeface="Times New Roman" panose="02020603050405020304" pitchFamily="18" charset="0"/>
              </a:rPr>
              <a:t>break </a:t>
            </a:r>
            <a:r>
              <a:rPr lang="en-GB" dirty="0" smtClean="0">
                <a:latin typeface="Times New Roman" panose="02020603050405020304" pitchFamily="18" charset="0"/>
                <a:cs typeface="Times New Roman" panose="02020603050405020304" pitchFamily="18" charset="0"/>
              </a:rPr>
              <a:t>command ends the loop and moves control to the next command outside the loop</a:t>
            </a:r>
          </a:p>
          <a:p>
            <a:pPr marL="0" indent="0">
              <a:buNone/>
            </a:pPr>
            <a:endParaRPr lang="en-GB" dirty="0"/>
          </a:p>
        </p:txBody>
      </p:sp>
    </p:spTree>
    <p:extLst>
      <p:ext uri="{BB962C8B-B14F-4D97-AF65-F5344CB8AC3E}">
        <p14:creationId xmlns:p14="http://schemas.microsoft.com/office/powerpoint/2010/main" val="31507818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Continue Statement</a:t>
            </a:r>
            <a:endParaRPr lang="en-GB" dirty="0"/>
          </a:p>
        </p:txBody>
      </p:sp>
      <p:sp>
        <p:nvSpPr>
          <p:cNvPr id="3" name="Content Placeholder 2"/>
          <p:cNvSpPr>
            <a:spLocks noGrp="1"/>
          </p:cNvSpPr>
          <p:nvPr>
            <p:ph idx="1"/>
          </p:nvPr>
        </p:nvSpPr>
        <p:spPr/>
        <p:txBody>
          <a:bodyPr/>
          <a:lstStyle/>
          <a:p>
            <a:pPr marL="0" indent="0" algn="just">
              <a:lnSpc>
                <a:spcPct val="200000"/>
              </a:lnSpc>
              <a:buNone/>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continue</a:t>
            </a:r>
            <a:r>
              <a:rPr lang="en-GB" dirty="0" smtClean="0">
                <a:latin typeface="Times New Roman" panose="02020603050405020304" pitchFamily="18" charset="0"/>
                <a:cs typeface="Times New Roman" panose="02020603050405020304" pitchFamily="18" charset="0"/>
              </a:rPr>
              <a:t> statement breaks one iteration (in the loop), if a specified condition occurs, and continues with the next iteration in the loop.</a:t>
            </a:r>
          </a:p>
          <a:p>
            <a:pPr marL="0" indent="0" algn="just">
              <a:lnSpc>
                <a:spcPct val="200000"/>
              </a:lnSpc>
              <a:buNone/>
            </a:pPr>
            <a:r>
              <a:rPr lang="en-GB" dirty="0" smtClean="0">
                <a:latin typeface="Times New Roman" panose="02020603050405020304" pitchFamily="18" charset="0"/>
                <a:cs typeface="Times New Roman" panose="02020603050405020304" pitchFamily="18" charset="0"/>
              </a:rPr>
              <a:t>This example skips the value of 4:</a:t>
            </a:r>
          </a:p>
          <a:p>
            <a:pPr marL="0" indent="0">
              <a:buNone/>
            </a:pPr>
            <a:endParaRPr lang="en-GB" dirty="0"/>
          </a:p>
        </p:txBody>
      </p:sp>
    </p:spTree>
    <p:extLst>
      <p:ext uri="{BB962C8B-B14F-4D97-AF65-F5344CB8AC3E}">
        <p14:creationId xmlns:p14="http://schemas.microsoft.com/office/powerpoint/2010/main" val="27448432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3806"/>
            <a:ext cx="10515600" cy="5663157"/>
          </a:xfrm>
        </p:spPr>
        <p:txBody>
          <a:bodyPr/>
          <a:lstStyle/>
          <a:p>
            <a:pPr marL="0" indent="0">
              <a:buNone/>
            </a:pPr>
            <a:r>
              <a:rPr lang="en-GB" b="1" dirty="0" smtClean="0">
                <a:latin typeface="Times New Roman" panose="02020603050405020304" pitchFamily="18" charset="0"/>
                <a:cs typeface="Times New Roman" panose="02020603050405020304" pitchFamily="18" charset="0"/>
              </a:rPr>
              <a:t>Example</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nn-NO" dirty="0" smtClean="0">
                <a:latin typeface="Times New Roman" panose="02020603050405020304" pitchFamily="18" charset="0"/>
                <a:cs typeface="Times New Roman" panose="02020603050405020304" pitchFamily="18" charset="0"/>
              </a:rPr>
              <a:t>int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for (i = 0; i &lt; 10; i++)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if (i == 4)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continue;</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  printf("%d\n", i);</a:t>
            </a:r>
            <a:br>
              <a:rPr lang="nn-NO" dirty="0" smtClean="0">
                <a:latin typeface="Times New Roman" panose="02020603050405020304" pitchFamily="18" charset="0"/>
                <a:cs typeface="Times New Roman" panose="02020603050405020304" pitchFamily="18" charset="0"/>
              </a:rPr>
            </a:br>
            <a:r>
              <a:rPr lang="nn-NO" dirty="0" smtClean="0">
                <a:latin typeface="Times New Roman" panose="02020603050405020304" pitchFamily="18" charset="0"/>
                <a:cs typeface="Times New Roman" panose="02020603050405020304" pitchFamily="18" charset="0"/>
              </a:rPr>
              <a:t>}</a:t>
            </a:r>
            <a:endParaRPr lang="en-GB" dirty="0" smtClean="0">
              <a:latin typeface="Times New Roman" panose="02020603050405020304" pitchFamily="18" charset="0"/>
              <a:cs typeface="Times New Roman" panose="02020603050405020304" pitchFamily="18" charset="0"/>
            </a:endParaRPr>
          </a:p>
          <a:p>
            <a:pPr marL="0" indent="0">
              <a:buNone/>
            </a:pPr>
            <a:endParaRPr lang="en-GB" b="1" dirty="0" smtClean="0"/>
          </a:p>
          <a:p>
            <a:pPr marL="0" indent="0">
              <a:buNone/>
            </a:pPr>
            <a:endParaRPr lang="en-GB" dirty="0"/>
          </a:p>
        </p:txBody>
      </p:sp>
    </p:spTree>
    <p:extLst>
      <p:ext uri="{BB962C8B-B14F-4D97-AF65-F5344CB8AC3E}">
        <p14:creationId xmlns:p14="http://schemas.microsoft.com/office/powerpoint/2010/main" val="17209238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520"/>
            <a:ext cx="10515600" cy="5445443"/>
          </a:xfrm>
        </p:spPr>
        <p:txBody>
          <a:bodyPr/>
          <a:lstStyle/>
          <a:p>
            <a:pPr marL="0" indent="0">
              <a:buNone/>
            </a:pPr>
            <a:r>
              <a:rPr lang="en-GB" dirty="0">
                <a:latin typeface="Times New Roman" panose="02020603050405020304" pitchFamily="18" charset="0"/>
                <a:cs typeface="Times New Roman" panose="02020603050405020304" pitchFamily="18" charset="0"/>
              </a:rPr>
              <a:t>Break and Continue in While </a:t>
            </a:r>
            <a:r>
              <a:rPr lang="en-GB" dirty="0" smtClean="0">
                <a:latin typeface="Times New Roman" panose="02020603050405020304" pitchFamily="18" charset="0"/>
                <a:cs typeface="Times New Roman" panose="02020603050405020304" pitchFamily="18" charset="0"/>
              </a:rPr>
              <a:t>Loop</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int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 0;</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while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&lt; 10)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if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 4)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break;</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printf("%d\n",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t>
            </a:r>
          </a:p>
          <a:p>
            <a:pPr marL="0" indent="0">
              <a:buNone/>
            </a:pPr>
            <a:endParaRPr lang="en-GB" dirty="0">
              <a:solidFill>
                <a:srgbClr val="000000"/>
              </a:solidFill>
              <a:latin typeface="Segoe UI" panose="020B0502040204020203" pitchFamily="34" charset="0"/>
            </a:endParaRPr>
          </a:p>
          <a:p>
            <a:pPr marL="0" indent="0">
              <a:buNone/>
            </a:pPr>
            <a:endParaRPr lang="en-GB" dirty="0"/>
          </a:p>
        </p:txBody>
      </p:sp>
    </p:spTree>
    <p:extLst>
      <p:ext uri="{BB962C8B-B14F-4D97-AF65-F5344CB8AC3E}">
        <p14:creationId xmlns:p14="http://schemas.microsoft.com/office/powerpoint/2010/main" val="24164978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7977"/>
            <a:ext cx="10515600" cy="5488986"/>
          </a:xfrm>
        </p:spPr>
        <p:txBody>
          <a:bodyPr/>
          <a:lstStyle/>
          <a:p>
            <a:pPr marL="0" indent="0">
              <a:buNone/>
            </a:pPr>
            <a:r>
              <a:rPr lang="en-GB" b="1" dirty="0" smtClean="0">
                <a:latin typeface="Times New Roman" panose="02020603050405020304" pitchFamily="18" charset="0"/>
                <a:cs typeface="Times New Roman" panose="02020603050405020304" pitchFamily="18" charset="0"/>
              </a:rPr>
              <a:t>Continue Example</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int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 0;</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while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&lt; 10)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if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 4)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continue;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printf("%d\n",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5920807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023182"/>
                </a:solidFill>
                <a:latin typeface="Times New Roman"/>
                <a:cs typeface="Times New Roman"/>
                <a:sym typeface="Times New Roman"/>
              </a:rPr>
              <a:t>goto</a:t>
            </a:r>
            <a:r>
              <a:rPr lang="en-US" dirty="0" smtClean="0">
                <a:solidFill>
                  <a:srgbClr val="023182"/>
                </a:solidFill>
                <a:latin typeface="Times New Roman"/>
                <a:cs typeface="Times New Roman"/>
                <a:sym typeface="Times New Roman"/>
              </a:rPr>
              <a:t> Statement in C</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C </a:t>
            </a:r>
            <a:r>
              <a:rPr lang="en-GB" b="1" dirty="0" err="1" smtClean="0">
                <a:latin typeface="Times New Roman" panose="02020603050405020304" pitchFamily="18" charset="0"/>
                <a:cs typeface="Times New Roman" panose="02020603050405020304" pitchFamily="18" charset="0"/>
              </a:rPr>
              <a:t>goto</a:t>
            </a:r>
            <a:r>
              <a:rPr lang="en-GB" b="1" dirty="0" smtClean="0">
                <a:latin typeface="Times New Roman" panose="02020603050405020304" pitchFamily="18" charset="0"/>
                <a:cs typeface="Times New Roman" panose="02020603050405020304" pitchFamily="18" charset="0"/>
              </a:rPr>
              <a:t> statement</a:t>
            </a:r>
            <a:r>
              <a:rPr lang="en-GB" dirty="0" smtClean="0">
                <a:latin typeface="Times New Roman" panose="02020603050405020304" pitchFamily="18" charset="0"/>
                <a:cs typeface="Times New Roman" panose="02020603050405020304" pitchFamily="18" charset="0"/>
              </a:rPr>
              <a:t> is a jump statement which is sometimes also referred to as an </a:t>
            </a:r>
            <a:r>
              <a:rPr lang="en-GB" b="1" dirty="0" smtClean="0">
                <a:latin typeface="Times New Roman" panose="02020603050405020304" pitchFamily="18" charset="0"/>
                <a:cs typeface="Times New Roman" panose="02020603050405020304" pitchFamily="18" charset="0"/>
              </a:rPr>
              <a:t>unconditional jump</a:t>
            </a:r>
            <a:r>
              <a:rPr lang="en-GB" dirty="0" smtClean="0">
                <a:latin typeface="Times New Roman" panose="02020603050405020304" pitchFamily="18" charset="0"/>
                <a:cs typeface="Times New Roman" panose="02020603050405020304" pitchFamily="18" charset="0"/>
              </a:rPr>
              <a:t> statement. The </a:t>
            </a:r>
            <a:r>
              <a:rPr lang="en-GB" dirty="0" err="1" smtClean="0">
                <a:latin typeface="Times New Roman" panose="02020603050405020304" pitchFamily="18" charset="0"/>
                <a:cs typeface="Times New Roman" panose="02020603050405020304" pitchFamily="18" charset="0"/>
              </a:rPr>
              <a:t>goto</a:t>
            </a:r>
            <a:r>
              <a:rPr lang="en-GB" dirty="0" smtClean="0">
                <a:latin typeface="Times New Roman" panose="02020603050405020304" pitchFamily="18" charset="0"/>
                <a:cs typeface="Times New Roman" panose="02020603050405020304" pitchFamily="18" charset="0"/>
              </a:rPr>
              <a:t> statement can be used to jump from anywhere to anywhere within a function.</a:t>
            </a:r>
            <a:r>
              <a:rPr lang="en-GB" dirty="0" smtClean="0"/>
              <a:t> </a:t>
            </a:r>
          </a:p>
          <a:p>
            <a:pPr marL="0" indent="0">
              <a:buNone/>
            </a:pPr>
            <a:endParaRPr lang="en-GB" dirty="0"/>
          </a:p>
        </p:txBody>
      </p:sp>
    </p:spTree>
    <p:extLst>
      <p:ext uri="{BB962C8B-B14F-4D97-AF65-F5344CB8AC3E}">
        <p14:creationId xmlns:p14="http://schemas.microsoft.com/office/powerpoint/2010/main" val="28738937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goto statement"/>
          <p:cNvSpPr>
            <a:spLocks noGrp="1" noChangeAspect="1" noChangeArrowheads="1"/>
          </p:cNvSpPr>
          <p:nvPr>
            <p:ph idx="1"/>
          </p:nvPr>
        </p:nvSpPr>
        <p:spPr bwMode="auto">
          <a:xfrm>
            <a:off x="838200" y="1123406"/>
            <a:ext cx="10515600" cy="50535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GB" dirty="0" smtClean="0"/>
              <a:t>Syntax1       |   Syntax2</a:t>
            </a:r>
          </a:p>
          <a:p>
            <a:r>
              <a:rPr lang="en-GB" dirty="0" smtClean="0"/>
              <a:t>----------------------------</a:t>
            </a:r>
          </a:p>
          <a:p>
            <a:r>
              <a:rPr lang="en-GB" dirty="0" err="1" smtClean="0"/>
              <a:t>goto</a:t>
            </a:r>
            <a:r>
              <a:rPr lang="en-GB" dirty="0" smtClean="0"/>
              <a:t> label;  |    label:  </a:t>
            </a:r>
          </a:p>
          <a:p>
            <a:r>
              <a:rPr lang="en-GB" dirty="0" smtClean="0"/>
              <a:t>.                    |    .</a:t>
            </a:r>
          </a:p>
          <a:p>
            <a:r>
              <a:rPr lang="en-GB" dirty="0" smtClean="0"/>
              <a:t>.                    |    .</a:t>
            </a:r>
          </a:p>
          <a:p>
            <a:r>
              <a:rPr lang="en-GB" dirty="0" smtClean="0"/>
              <a:t>.                    |    .</a:t>
            </a:r>
          </a:p>
          <a:p>
            <a:r>
              <a:rPr lang="en-GB" dirty="0" smtClean="0"/>
              <a:t>label:           |    </a:t>
            </a:r>
            <a:r>
              <a:rPr lang="en-GB" dirty="0" err="1" smtClean="0"/>
              <a:t>goto</a:t>
            </a:r>
            <a:r>
              <a:rPr lang="en-GB" dirty="0" smtClean="0"/>
              <a:t> label;</a:t>
            </a:r>
          </a:p>
          <a:p>
            <a:pPr marL="0" indent="0">
              <a:buNone/>
            </a:pPr>
            <a:endParaRPr lang="en-GB" dirty="0"/>
          </a:p>
        </p:txBody>
      </p:sp>
    </p:spTree>
    <p:extLst>
      <p:ext uri="{BB962C8B-B14F-4D97-AF65-F5344CB8AC3E}">
        <p14:creationId xmlns:p14="http://schemas.microsoft.com/office/powerpoint/2010/main" val="8320648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5691"/>
            <a:ext cx="10515600" cy="5271272"/>
          </a:xfrm>
        </p:spPr>
        <p:txBody>
          <a:bodyPr/>
          <a:lstStyle/>
          <a:p>
            <a:pPr algn="just" fontAlgn="base">
              <a:lnSpc>
                <a:spcPct val="150000"/>
              </a:lnSpc>
            </a:pPr>
            <a:r>
              <a:rPr lang="en-GB" dirty="0" smtClean="0">
                <a:latin typeface="Times New Roman" panose="02020603050405020304" pitchFamily="18" charset="0"/>
                <a:cs typeface="Times New Roman" panose="02020603050405020304" pitchFamily="18" charset="0"/>
              </a:rPr>
              <a:t>In the above syntax, the first line tells the compiler to </a:t>
            </a:r>
            <a:r>
              <a:rPr lang="en-GB" b="1" dirty="0" smtClean="0">
                <a:latin typeface="Times New Roman" panose="02020603050405020304" pitchFamily="18" charset="0"/>
                <a:cs typeface="Times New Roman" panose="02020603050405020304" pitchFamily="18" charset="0"/>
              </a:rPr>
              <a:t>go to </a:t>
            </a:r>
            <a:r>
              <a:rPr lang="en-GB" dirty="0" smtClean="0">
                <a:latin typeface="Times New Roman" panose="02020603050405020304" pitchFamily="18" charset="0"/>
                <a:cs typeface="Times New Roman" panose="02020603050405020304" pitchFamily="18" charset="0"/>
              </a:rPr>
              <a:t>or jump to the statement marked as a label. Here, the label is a user-defined identifier that indicates the target statement. </a:t>
            </a:r>
          </a:p>
          <a:p>
            <a:pPr algn="just" fontAlgn="base">
              <a:lnSpc>
                <a:spcPct val="150000"/>
              </a:lnSpc>
            </a:pPr>
            <a:r>
              <a:rPr lang="en-GB" dirty="0" smtClean="0">
                <a:latin typeface="Times New Roman" panose="02020603050405020304" pitchFamily="18" charset="0"/>
                <a:cs typeface="Times New Roman" panose="02020603050405020304" pitchFamily="18" charset="0"/>
              </a:rPr>
              <a:t>The statement immediately followed after ‘label:’ is the destination statement. The ‘label:’ can also appear before the ‘</a:t>
            </a:r>
            <a:r>
              <a:rPr lang="en-GB" dirty="0" err="1" smtClean="0">
                <a:latin typeface="Times New Roman" panose="02020603050405020304" pitchFamily="18" charset="0"/>
                <a:cs typeface="Times New Roman" panose="02020603050405020304" pitchFamily="18" charset="0"/>
              </a:rPr>
              <a:t>goto</a:t>
            </a:r>
            <a:r>
              <a:rPr lang="en-GB" dirty="0" smtClean="0">
                <a:latin typeface="Times New Roman" panose="02020603050405020304" pitchFamily="18" charset="0"/>
                <a:cs typeface="Times New Roman" panose="02020603050405020304" pitchFamily="18" charset="0"/>
              </a:rPr>
              <a:t> label;’ statement in the above syntax. </a:t>
            </a:r>
          </a:p>
          <a:p>
            <a:pPr marL="0" indent="0">
              <a:buNone/>
            </a:pPr>
            <a:endParaRPr lang="en-GB" dirty="0"/>
          </a:p>
        </p:txBody>
      </p:sp>
    </p:spTree>
    <p:extLst>
      <p:ext uri="{BB962C8B-B14F-4D97-AF65-F5344CB8AC3E}">
        <p14:creationId xmlns:p14="http://schemas.microsoft.com/office/powerpoint/2010/main" val="11559515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1010" y="1050562"/>
            <a:ext cx="6527007" cy="4351338"/>
          </a:xfrm>
        </p:spPr>
      </p:pic>
    </p:spTree>
    <p:extLst>
      <p:ext uri="{BB962C8B-B14F-4D97-AF65-F5344CB8AC3E}">
        <p14:creationId xmlns:p14="http://schemas.microsoft.com/office/powerpoint/2010/main" val="9530234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8011"/>
            <a:ext cx="10515600" cy="5758952"/>
          </a:xfrm>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Exercise:</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Stop the loop if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is 5.</a:t>
            </a:r>
          </a:p>
          <a:p>
            <a:pPr marL="0" indent="0">
              <a:buNone/>
            </a:pPr>
            <a:r>
              <a:rPr lang="nn-NO" dirty="0" smtClean="0">
                <a:latin typeface="Times New Roman" panose="02020603050405020304" pitchFamily="18" charset="0"/>
                <a:cs typeface="Times New Roman" panose="02020603050405020304" pitchFamily="18" charset="0"/>
              </a:rPr>
              <a:t>for (int i = 0; i &lt; 10; i++) {</a:t>
            </a:r>
          </a:p>
          <a:p>
            <a:pPr marL="0" indent="0">
              <a:buNone/>
            </a:pPr>
            <a:r>
              <a:rPr lang="nn-NO" dirty="0" smtClean="0">
                <a:latin typeface="Times New Roman" panose="02020603050405020304" pitchFamily="18" charset="0"/>
                <a:cs typeface="Times New Roman" panose="02020603050405020304" pitchFamily="18" charset="0"/>
              </a:rPr>
              <a:t>  if (i == 5) {</a:t>
            </a:r>
          </a:p>
          <a:p>
            <a:pPr marL="0" indent="0">
              <a:buNone/>
            </a:pPr>
            <a:r>
              <a:rPr lang="nn-NO" dirty="0" smtClean="0">
                <a:latin typeface="Times New Roman" panose="02020603050405020304" pitchFamily="18" charset="0"/>
                <a:cs typeface="Times New Roman" panose="02020603050405020304" pitchFamily="18" charset="0"/>
              </a:rPr>
              <a:t>  ??????  </a:t>
            </a:r>
          </a:p>
          <a:p>
            <a:pPr marL="0" indent="0">
              <a:buNone/>
            </a:pPr>
            <a:r>
              <a:rPr lang="nn-NO" dirty="0" smtClean="0">
                <a:latin typeface="Times New Roman" panose="02020603050405020304" pitchFamily="18" charset="0"/>
                <a:cs typeface="Times New Roman" panose="02020603050405020304" pitchFamily="18" charset="0"/>
              </a:rPr>
              <a:t>;</a:t>
            </a:r>
          </a:p>
          <a:p>
            <a:pPr marL="0" indent="0">
              <a:buNone/>
            </a:pPr>
            <a:r>
              <a:rPr lang="nn-NO" dirty="0" smtClean="0">
                <a:latin typeface="Times New Roman" panose="02020603050405020304" pitchFamily="18" charset="0"/>
                <a:cs typeface="Times New Roman" panose="02020603050405020304" pitchFamily="18" charset="0"/>
              </a:rPr>
              <a:t>  }</a:t>
            </a:r>
          </a:p>
          <a:p>
            <a:pPr marL="0" indent="0">
              <a:buNone/>
            </a:pPr>
            <a:r>
              <a:rPr lang="nn-NO" dirty="0" smtClean="0">
                <a:latin typeface="Times New Roman" panose="02020603050405020304" pitchFamily="18" charset="0"/>
                <a:cs typeface="Times New Roman" panose="02020603050405020304" pitchFamily="18" charset="0"/>
              </a:rPr>
              <a:t>  printf("%d\n", i);</a:t>
            </a:r>
          </a:p>
          <a:p>
            <a:pPr marL="0" indent="0">
              <a:buNone/>
            </a:pPr>
            <a:r>
              <a:rPr lang="nn-NO" dirty="0" smtClean="0">
                <a:latin typeface="Times New Roman" panose="02020603050405020304" pitchFamily="18" charset="0"/>
                <a:cs typeface="Times New Roman" panose="02020603050405020304" pitchFamily="18" charset="0"/>
              </a:rPr>
              <a:t>}</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113926917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Nested Loops</a:t>
            </a:r>
            <a:endParaRPr lang="en-GB" dirty="0"/>
          </a:p>
        </p:txBody>
      </p:sp>
      <p:sp>
        <p:nvSpPr>
          <p:cNvPr id="3" name="Content Placeholder 2"/>
          <p:cNvSpPr>
            <a:spLocks noGrp="1"/>
          </p:cNvSpPr>
          <p:nvPr>
            <p:ph idx="1"/>
          </p:nvPr>
        </p:nvSpPr>
        <p:spPr/>
        <p:txBody>
          <a:bodyPr/>
          <a:lstStyle/>
          <a:p>
            <a:pPr algn="just">
              <a:lnSpc>
                <a:spcPct val="200000"/>
              </a:lnSpc>
            </a:pPr>
            <a:r>
              <a:rPr lang="en-GB" dirty="0" smtClean="0">
                <a:latin typeface="Times New Roman" panose="02020603050405020304" pitchFamily="18" charset="0"/>
                <a:cs typeface="Times New Roman" panose="02020603050405020304" pitchFamily="18" charset="0"/>
              </a:rPr>
              <a:t>It is also possible to place a loop inside another loop. This is called a </a:t>
            </a:r>
            <a:r>
              <a:rPr lang="en-GB" b="1" dirty="0" smtClean="0">
                <a:latin typeface="Times New Roman" panose="02020603050405020304" pitchFamily="18" charset="0"/>
                <a:cs typeface="Times New Roman" panose="02020603050405020304" pitchFamily="18" charset="0"/>
              </a:rPr>
              <a:t>nested loop</a:t>
            </a:r>
            <a:r>
              <a:rPr lang="en-GB" dirty="0" smtClean="0">
                <a:latin typeface="Times New Roman" panose="02020603050405020304" pitchFamily="18" charset="0"/>
                <a:cs typeface="Times New Roman" panose="02020603050405020304" pitchFamily="18" charset="0"/>
              </a:rPr>
              <a:t>.</a:t>
            </a:r>
          </a:p>
          <a:p>
            <a:pPr algn="just">
              <a:lnSpc>
                <a:spcPct val="200000"/>
              </a:lnSpc>
            </a:pPr>
            <a:r>
              <a:rPr lang="en-GB" dirty="0" smtClean="0">
                <a:latin typeface="Times New Roman" panose="02020603050405020304" pitchFamily="18" charset="0"/>
                <a:cs typeface="Times New Roman" panose="02020603050405020304" pitchFamily="18" charset="0"/>
              </a:rPr>
              <a:t>The "inner loop" will be executed one time for each iteration of the "outer loop":</a:t>
            </a:r>
          </a:p>
          <a:p>
            <a:pPr marL="0" indent="0">
              <a:buNone/>
            </a:pPr>
            <a:endParaRPr lang="en-GB" dirty="0"/>
          </a:p>
        </p:txBody>
      </p:sp>
    </p:spTree>
    <p:extLst>
      <p:ext uri="{BB962C8B-B14F-4D97-AF65-F5344CB8AC3E}">
        <p14:creationId xmlns:p14="http://schemas.microsoft.com/office/powerpoint/2010/main" val="31317852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normAutofit fontScale="92500" lnSpcReduction="20000"/>
          </a:bodyPr>
          <a:lstStyle/>
          <a:p>
            <a:pPr marL="0" indent="0">
              <a:buNone/>
            </a:pPr>
            <a:r>
              <a:rPr lang="en-GB" b="1" dirty="0" smtClean="0">
                <a:latin typeface="Times New Roman" panose="02020603050405020304" pitchFamily="18" charset="0"/>
                <a:cs typeface="Times New Roman" panose="02020603050405020304" pitchFamily="18" charset="0"/>
              </a:rPr>
              <a:t>Example1</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#include&lt;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r>
              <a:rPr lang="en-GB" dirty="0" smtClean="0">
                <a:latin typeface="Times New Roman" panose="02020603050405020304" pitchFamily="18" charset="0"/>
                <a:cs typeface="Times New Roman" panose="02020603050405020304" pitchFamily="18" charset="0"/>
              </a:rPr>
              <a:t>main(){</a:t>
            </a:r>
          </a:p>
          <a:p>
            <a:pPr marL="0" indent="0">
              <a:buNone/>
            </a:pPr>
            <a:r>
              <a:rPr lang="en-GB" dirty="0" smtClean="0">
                <a:latin typeface="Times New Roman" panose="02020603050405020304" pitchFamily="18" charset="0"/>
                <a:cs typeface="Times New Roman" panose="02020603050405020304" pitchFamily="18" charset="0"/>
              </a:rPr>
              <a:t> 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j;</a:t>
            </a:r>
          </a:p>
          <a:p>
            <a:pPr marL="0" indent="0">
              <a:buNone/>
            </a:pPr>
            <a:r>
              <a:rPr lang="en-GB" dirty="0" smtClean="0">
                <a:latin typeface="Times New Roman" panose="02020603050405020304" pitchFamily="18" charset="0"/>
                <a:cs typeface="Times New Roman" panose="02020603050405020304" pitchFamily="18" charset="0"/>
              </a:rPr>
              <a:t> for(j=1;j&lt;=6; </a:t>
            </a:r>
            <a:r>
              <a:rPr lang="en-GB" dirty="0" err="1" smtClean="0">
                <a:latin typeface="Times New Roman" panose="02020603050405020304" pitchFamily="18" charset="0"/>
                <a:cs typeface="Times New Roman" panose="02020603050405020304" pitchFamily="18" charset="0"/>
              </a:rPr>
              <a:t>j++</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for(</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=1;i&lt;=5;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printf("*");</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printf("\n");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9350463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normAutofit fontScale="92500" lnSpcReduction="20000"/>
          </a:bodyPr>
          <a:lstStyle/>
          <a:p>
            <a:pPr marL="0" indent="0">
              <a:buNone/>
            </a:pPr>
            <a:r>
              <a:rPr lang="en-GB" b="1" dirty="0" smtClean="0">
                <a:latin typeface="Times New Roman" panose="02020603050405020304" pitchFamily="18" charset="0"/>
                <a:cs typeface="Times New Roman" panose="02020603050405020304" pitchFamily="18" charset="0"/>
              </a:rPr>
              <a:t>Example2</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#include&lt;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r>
              <a:rPr lang="en-GB" dirty="0" smtClean="0">
                <a:latin typeface="Times New Roman" panose="02020603050405020304" pitchFamily="18" charset="0"/>
                <a:cs typeface="Times New Roman" panose="02020603050405020304" pitchFamily="18" charset="0"/>
              </a:rPr>
              <a:t>main(){</a:t>
            </a:r>
          </a:p>
          <a:p>
            <a:pPr marL="0" indent="0">
              <a:buNone/>
            </a:pPr>
            <a:r>
              <a:rPr lang="en-GB" dirty="0" smtClean="0">
                <a:latin typeface="Times New Roman" panose="02020603050405020304" pitchFamily="18" charset="0"/>
                <a:cs typeface="Times New Roman" panose="02020603050405020304" pitchFamily="18" charset="0"/>
              </a:rPr>
              <a:t> 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j;</a:t>
            </a:r>
          </a:p>
          <a:p>
            <a:pPr marL="0" indent="0">
              <a:buNone/>
            </a:pPr>
            <a:r>
              <a:rPr lang="en-GB" dirty="0" smtClean="0">
                <a:latin typeface="Times New Roman" panose="02020603050405020304" pitchFamily="18" charset="0"/>
                <a:cs typeface="Times New Roman" panose="02020603050405020304" pitchFamily="18" charset="0"/>
              </a:rPr>
              <a:t> for(</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=1;i&lt;=4;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for(j=1;j&lt;=5; </a:t>
            </a:r>
            <a:r>
              <a:rPr lang="en-GB" dirty="0" err="1" smtClean="0">
                <a:latin typeface="Times New Roman" panose="02020603050405020304" pitchFamily="18" charset="0"/>
                <a:cs typeface="Times New Roman" panose="02020603050405020304" pitchFamily="18" charset="0"/>
              </a:rPr>
              <a:t>j++</a:t>
            </a:r>
            <a:r>
              <a:rPr lang="en-GB" dirty="0" smtClean="0">
                <a:latin typeface="Times New Roman" panose="02020603050405020304" pitchFamily="18" charset="0"/>
                <a:cs typeface="Times New Roman" panose="02020603050405020304" pitchFamily="18" charset="0"/>
              </a:rPr>
              <a: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printf("%d", j);</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printf("\n");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5468722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normAutofit fontScale="92500" lnSpcReduction="20000"/>
          </a:bodyPr>
          <a:lstStyle/>
          <a:p>
            <a:pPr marL="0" indent="0">
              <a:buNone/>
            </a:pPr>
            <a:r>
              <a:rPr lang="en-GB" b="1" dirty="0" smtClean="0">
                <a:latin typeface="Times New Roman" panose="02020603050405020304" pitchFamily="18" charset="0"/>
                <a:cs typeface="Times New Roman" panose="02020603050405020304" pitchFamily="18" charset="0"/>
              </a:rPr>
              <a:t>Example3</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#include&lt;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r>
              <a:rPr lang="en-GB" dirty="0" smtClean="0">
                <a:latin typeface="Times New Roman" panose="02020603050405020304" pitchFamily="18" charset="0"/>
                <a:cs typeface="Times New Roman" panose="02020603050405020304" pitchFamily="18" charset="0"/>
              </a:rPr>
              <a:t>main(){</a:t>
            </a:r>
          </a:p>
          <a:p>
            <a:pPr marL="0" indent="0">
              <a:buNone/>
            </a:pPr>
            <a:r>
              <a:rPr lang="en-GB" dirty="0" smtClean="0">
                <a:latin typeface="Times New Roman" panose="02020603050405020304" pitchFamily="18" charset="0"/>
                <a:cs typeface="Times New Roman" panose="02020603050405020304" pitchFamily="18" charset="0"/>
              </a:rPr>
              <a:t> 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j;</a:t>
            </a:r>
          </a:p>
          <a:p>
            <a:pPr marL="0" indent="0">
              <a:buNone/>
            </a:pPr>
            <a:r>
              <a:rPr lang="en-GB" dirty="0" smtClean="0">
                <a:latin typeface="Times New Roman" panose="02020603050405020304" pitchFamily="18" charset="0"/>
                <a:cs typeface="Times New Roman" panose="02020603050405020304" pitchFamily="18" charset="0"/>
              </a:rPr>
              <a:t> for(</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=1;i&lt;=4;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for(j=1;j&lt;=5; </a:t>
            </a:r>
            <a:r>
              <a:rPr lang="en-GB" dirty="0" err="1" smtClean="0">
                <a:latin typeface="Times New Roman" panose="02020603050405020304" pitchFamily="18" charset="0"/>
                <a:cs typeface="Times New Roman" panose="02020603050405020304" pitchFamily="18" charset="0"/>
              </a:rPr>
              <a:t>j++</a:t>
            </a:r>
            <a:r>
              <a:rPr lang="en-GB" dirty="0" smtClean="0">
                <a:latin typeface="Times New Roman" panose="02020603050405020304" pitchFamily="18" charset="0"/>
                <a:cs typeface="Times New Roman" panose="02020603050405020304" pitchFamily="18" charset="0"/>
              </a:rPr>
              <a: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printf("%d",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printf("\n");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4621855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normAutofit fontScale="92500" lnSpcReduction="20000"/>
          </a:bodyPr>
          <a:lstStyle/>
          <a:p>
            <a:pPr marL="0" indent="0">
              <a:buNone/>
            </a:pPr>
            <a:r>
              <a:rPr lang="en-GB" b="1" dirty="0" smtClean="0">
                <a:latin typeface="Times New Roman" panose="02020603050405020304" pitchFamily="18" charset="0"/>
                <a:cs typeface="Times New Roman" panose="02020603050405020304" pitchFamily="18" charset="0"/>
              </a:rPr>
              <a:t>Example4</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#include&lt;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r>
              <a:rPr lang="en-GB" dirty="0" smtClean="0">
                <a:latin typeface="Times New Roman" panose="02020603050405020304" pitchFamily="18" charset="0"/>
                <a:cs typeface="Times New Roman" panose="02020603050405020304" pitchFamily="18" charset="0"/>
              </a:rPr>
              <a:t>main(){</a:t>
            </a:r>
          </a:p>
          <a:p>
            <a:pPr marL="0" indent="0">
              <a:buNone/>
            </a:pPr>
            <a:r>
              <a:rPr lang="en-GB" dirty="0" smtClean="0">
                <a:latin typeface="Times New Roman" panose="02020603050405020304" pitchFamily="18" charset="0"/>
                <a:cs typeface="Times New Roman" panose="02020603050405020304" pitchFamily="18" charset="0"/>
              </a:rPr>
              <a:t> int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j;</a:t>
            </a:r>
          </a:p>
          <a:p>
            <a:pPr marL="0" indent="0">
              <a:buNone/>
            </a:pPr>
            <a:r>
              <a:rPr lang="en-GB" dirty="0" smtClean="0">
                <a:latin typeface="Times New Roman" panose="02020603050405020304" pitchFamily="18" charset="0"/>
                <a:cs typeface="Times New Roman" panose="02020603050405020304" pitchFamily="18" charset="0"/>
              </a:rPr>
              <a:t> for(</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=1;i&lt;=5;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for(j=5;j&gt;=1; j--){</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printf("%d", j);</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printf("\n");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81774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1175</TotalTime>
  <Words>1255</Words>
  <Application>Microsoft Office PowerPoint</Application>
  <PresentationFormat>Widescreen</PresentationFormat>
  <Paragraphs>219</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Segoe UI</vt:lpstr>
      <vt:lpstr>Times New Roman</vt:lpstr>
      <vt:lpstr>Office Theme</vt:lpstr>
      <vt:lpstr>PowerPoint Presentation</vt:lpstr>
      <vt:lpstr>Outlines</vt:lpstr>
      <vt:lpstr>If statement</vt:lpstr>
      <vt:lpstr>If statement</vt:lpstr>
      <vt:lpstr>Syntax of if Statement in C</vt:lpstr>
      <vt:lpstr>PowerPoint Presentation</vt:lpstr>
      <vt:lpstr>if-else statement</vt:lpstr>
      <vt:lpstr>if-else statement</vt:lpstr>
      <vt:lpstr>Syntax</vt:lpstr>
      <vt:lpstr>Example</vt:lpstr>
      <vt:lpstr>PowerPoint Presentation</vt:lpstr>
      <vt:lpstr>The else if Statement</vt:lpstr>
      <vt:lpstr>Example</vt:lpstr>
      <vt:lpstr>Switch Statement</vt:lpstr>
      <vt:lpstr>Syntax</vt:lpstr>
      <vt:lpstr>This is how it works:</vt:lpstr>
      <vt:lpstr>Example</vt:lpstr>
      <vt:lpstr>The break Keyword</vt:lpstr>
      <vt:lpstr>While Loop</vt:lpstr>
      <vt:lpstr>While Loop</vt:lpstr>
      <vt:lpstr>PowerPoint Presentation</vt:lpstr>
      <vt:lpstr>Do/While Loop</vt:lpstr>
      <vt:lpstr>PowerPoint Presentation</vt:lpstr>
      <vt:lpstr>Real-Life Examples</vt:lpstr>
      <vt:lpstr>PowerPoint Presentation</vt:lpstr>
      <vt:lpstr>For Loop</vt:lpstr>
      <vt:lpstr>For Loop</vt:lpstr>
      <vt:lpstr>PowerPoint Presentation</vt:lpstr>
      <vt:lpstr>break statement</vt:lpstr>
      <vt:lpstr>PowerPoint Presentation</vt:lpstr>
      <vt:lpstr>Continue Statement</vt:lpstr>
      <vt:lpstr>PowerPoint Presentation</vt:lpstr>
      <vt:lpstr>PowerPoint Presentation</vt:lpstr>
      <vt:lpstr>PowerPoint Presentation</vt:lpstr>
      <vt:lpstr>goto Statement in C</vt:lpstr>
      <vt:lpstr>PowerPoint Presentation</vt:lpstr>
      <vt:lpstr>PowerPoint Presentation</vt:lpstr>
      <vt:lpstr>PowerPoint Presentation</vt:lpstr>
      <vt:lpstr>PowerPoint Presentation</vt:lpstr>
      <vt:lpstr>Nested Loops</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34</cp:revision>
  <dcterms:created xsi:type="dcterms:W3CDTF">2026-02-18T14:09:51Z</dcterms:created>
  <dcterms:modified xsi:type="dcterms:W3CDTF">2026-02-20T11:02:48Z</dcterms:modified>
</cp:coreProperties>
</file>