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3"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9" r:id="rId28"/>
    <p:sldId id="282" r:id="rId29"/>
    <p:sldId id="283" r:id="rId30"/>
    <p:sldId id="284" r:id="rId31"/>
    <p:sldId id="285" r:id="rId32"/>
    <p:sldId id="286" r:id="rId33"/>
    <p:sldId id="287" r:id="rId34"/>
    <p:sldId id="288"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2A214ACA-F7B5-4701-8D07-A472C5873560}" type="datetimeFigureOut">
              <a:rPr lang="en-GB" smtClean="0"/>
              <a:t>28/01/2026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2508121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A214ACA-F7B5-4701-8D07-A472C5873560}" type="datetimeFigureOut">
              <a:rPr lang="en-GB" smtClean="0"/>
              <a:t>28/01/2026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4060179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A214ACA-F7B5-4701-8D07-A472C5873560}" type="datetimeFigureOut">
              <a:rPr lang="en-GB" smtClean="0"/>
              <a:t>28/01/2026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1522127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2A214ACA-F7B5-4701-8D07-A472C5873560}" type="datetimeFigureOut">
              <a:rPr lang="en-GB" smtClean="0"/>
              <a:t>28/01/2026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534595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2A214ACA-F7B5-4701-8D07-A472C5873560}" type="datetimeFigureOut">
              <a:rPr lang="en-GB" smtClean="0"/>
              <a:t>28/01/2026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4085295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A214ACA-F7B5-4701-8D07-A472C5873560}" type="datetimeFigureOut">
              <a:rPr lang="en-GB" smtClean="0"/>
              <a:t>28/01/2026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2098567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214ACA-F7B5-4701-8D07-A472C5873560}" type="datetimeFigureOut">
              <a:rPr lang="en-GB" smtClean="0"/>
              <a:t>28/01/2026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3470588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214ACA-F7B5-4701-8D07-A472C5873560}" type="datetimeFigureOut">
              <a:rPr lang="en-GB" smtClean="0"/>
              <a:t>28/01/2026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2590060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A214ACA-F7B5-4701-8D07-A472C5873560}" type="datetimeFigureOut">
              <a:rPr lang="en-GB" smtClean="0"/>
              <a:t>28/01/2026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928719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A214ACA-F7B5-4701-8D07-A472C5873560}" type="datetimeFigureOut">
              <a:rPr lang="en-GB" smtClean="0"/>
              <a:t>28/01/2026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22986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A214ACA-F7B5-4701-8D07-A472C5873560}" type="datetimeFigureOut">
              <a:rPr lang="en-GB" smtClean="0"/>
              <a:t>28/01/2026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9C723CC-280B-46EE-AEA7-E6385814FBB6}" type="slidenum">
              <a:rPr lang="en-GB" smtClean="0"/>
              <a:t>‹#›</a:t>
            </a:fld>
            <a:endParaRPr lang="en-GB"/>
          </a:p>
        </p:txBody>
      </p:sp>
    </p:spTree>
    <p:extLst>
      <p:ext uri="{BB962C8B-B14F-4D97-AF65-F5344CB8AC3E}">
        <p14:creationId xmlns:p14="http://schemas.microsoft.com/office/powerpoint/2010/main" val="1888643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214ACA-F7B5-4701-8D07-A472C5873560}" type="datetimeFigureOut">
              <a:rPr lang="en-GB" smtClean="0"/>
              <a:t>28/01/2026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C723CC-280B-46EE-AEA7-E6385814FBB6}" type="slidenum">
              <a:rPr lang="en-GB" smtClean="0"/>
              <a:t>‹#›</a:t>
            </a:fld>
            <a:endParaRPr lang="en-GB"/>
          </a:p>
        </p:txBody>
      </p:sp>
    </p:spTree>
    <p:extLst>
      <p:ext uri="{BB962C8B-B14F-4D97-AF65-F5344CB8AC3E}">
        <p14:creationId xmlns:p14="http://schemas.microsoft.com/office/powerpoint/2010/main" val="359724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0552" y="370936"/>
            <a:ext cx="11585274" cy="5805577"/>
          </a:xfrm>
        </p:spPr>
        <p:txBody>
          <a:bodyPr>
            <a:noAutofit/>
          </a:bodyPr>
          <a:lstStyle/>
          <a:p>
            <a:r>
              <a:rPr lang="en-GB" sz="4000" dirty="0" smtClean="0">
                <a:solidFill>
                  <a:srgbClr val="023182"/>
                </a:solidFill>
                <a:latin typeface="Times New Roman"/>
                <a:ea typeface="Times New Roman"/>
                <a:cs typeface="Times New Roman"/>
                <a:sym typeface="Times New Roman"/>
              </a:rPr>
              <a:t>Programming with C</a:t>
            </a: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a:solidFill>
                  <a:srgbClr val="023182"/>
                </a:solidFill>
                <a:latin typeface="Times New Roman"/>
                <a:ea typeface="Times New Roman"/>
                <a:cs typeface="Times New Roman"/>
                <a:sym typeface="Times New Roman"/>
              </a:rPr>
              <a:t/>
            </a:r>
            <a:br>
              <a:rPr lang="en" sz="3200" dirty="0">
                <a:solidFill>
                  <a:srgbClr val="023182"/>
                </a:solidFill>
                <a:latin typeface="Times New Roman"/>
                <a:ea typeface="Times New Roman"/>
                <a:cs typeface="Times New Roman"/>
                <a:sym typeface="Times New Roman"/>
              </a:rPr>
            </a:br>
            <a:r>
              <a:rPr lang="en" sz="3200" dirty="0" smtClean="0">
                <a:solidFill>
                  <a:srgbClr val="023182"/>
                </a:solidFill>
                <a:latin typeface="Times New Roman"/>
                <a:ea typeface="Times New Roman"/>
                <a:cs typeface="Times New Roman"/>
                <a:sym typeface="Times New Roman"/>
              </a:rPr>
              <a:t/>
            </a:r>
            <a:br>
              <a:rPr lang="en" sz="3200" dirty="0" smtClean="0">
                <a:solidFill>
                  <a:srgbClr val="023182"/>
                </a:solidFill>
                <a:latin typeface="Times New Roman"/>
                <a:ea typeface="Times New Roman"/>
                <a:cs typeface="Times New Roman"/>
                <a:sym typeface="Times New Roman"/>
              </a:rPr>
            </a:br>
            <a:r>
              <a:rPr lang="en" sz="3200" dirty="0">
                <a:solidFill>
                  <a:srgbClr val="023182"/>
                </a:solidFill>
                <a:latin typeface="Times New Roman"/>
                <a:ea typeface="Times New Roman"/>
                <a:cs typeface="Times New Roman"/>
                <a:sym typeface="Times New Roman"/>
              </a:rPr>
              <a:t/>
            </a:r>
            <a:br>
              <a:rPr lang="en" sz="3200" dirty="0">
                <a:solidFill>
                  <a:srgbClr val="023182"/>
                </a:solidFill>
                <a:latin typeface="Times New Roman"/>
                <a:ea typeface="Times New Roman"/>
                <a:cs typeface="Times New Roman"/>
                <a:sym typeface="Times New Roman"/>
              </a:rPr>
            </a:br>
            <a:r>
              <a:rPr lang="en-GB" sz="2400" dirty="0" smtClean="0">
                <a:latin typeface="Times New Roman"/>
                <a:ea typeface="Times New Roman"/>
                <a:cs typeface="Times New Roman"/>
                <a:sym typeface="Times New Roman"/>
              </a:rPr>
              <a:t>Lecturer : Odile Nzambazamariya</a:t>
            </a:r>
            <a:br>
              <a:rPr lang="en-GB" sz="2400" dirty="0" smtClean="0">
                <a:latin typeface="Times New Roman"/>
                <a:ea typeface="Times New Roman"/>
                <a:cs typeface="Times New Roman"/>
                <a:sym typeface="Times New Roman"/>
              </a:rPr>
            </a:br>
            <a:r>
              <a:rPr lang="en-GB" sz="2400" dirty="0" smtClean="0">
                <a:latin typeface="Times New Roman"/>
                <a:ea typeface="Times New Roman"/>
                <a:cs typeface="Times New Roman"/>
                <a:sym typeface="Times New Roman"/>
              </a:rPr>
              <a:t/>
            </a:r>
            <a:br>
              <a:rPr lang="en-GB" sz="2400" dirty="0" smtClean="0">
                <a:latin typeface="Times New Roman"/>
                <a:ea typeface="Times New Roman"/>
                <a:cs typeface="Times New Roman"/>
                <a:sym typeface="Times New Roman"/>
              </a:rPr>
            </a:br>
            <a:r>
              <a:rPr lang="en-GB" sz="2400" dirty="0" smtClean="0">
                <a:latin typeface="Times New Roman"/>
                <a:ea typeface="Times New Roman"/>
                <a:cs typeface="Times New Roman"/>
                <a:sym typeface="Times New Roman"/>
              </a:rPr>
              <a:t>Lecture 1: Understand basic programming concepts with C</a:t>
            </a:r>
            <a:br>
              <a:rPr lang="en-GB" sz="2400" dirty="0" smtClean="0">
                <a:latin typeface="Times New Roman"/>
                <a:ea typeface="Times New Roman"/>
                <a:cs typeface="Times New Roman"/>
                <a:sym typeface="Times New Roman"/>
              </a:rPr>
            </a:br>
            <a:r>
              <a:rPr lang="en-GB" sz="2400" dirty="0" smtClean="0">
                <a:latin typeface="Times New Roman"/>
                <a:ea typeface="Times New Roman"/>
                <a:cs typeface="Times New Roman"/>
                <a:sym typeface="Times New Roman"/>
              </a:rPr>
              <a:t/>
            </a:r>
            <a:br>
              <a:rPr lang="en-GB" sz="2400" dirty="0" smtClean="0">
                <a:latin typeface="Times New Roman"/>
                <a:ea typeface="Times New Roman"/>
                <a:cs typeface="Times New Roman"/>
                <a:sym typeface="Times New Roman"/>
              </a:rPr>
            </a:br>
            <a:r>
              <a:rPr lang="en-GB" sz="2400" dirty="0" smtClean="0">
                <a:latin typeface="Times New Roman"/>
                <a:ea typeface="Times New Roman"/>
                <a:cs typeface="Times New Roman"/>
                <a:sym typeface="Times New Roman"/>
              </a:rPr>
              <a:t>Adventist University of Central Africa</a:t>
            </a:r>
            <a:endParaRPr lang="en-GB" sz="2400" dirty="0"/>
          </a:p>
        </p:txBody>
      </p:sp>
    </p:spTree>
    <p:extLst>
      <p:ext uri="{BB962C8B-B14F-4D97-AF65-F5344CB8AC3E}">
        <p14:creationId xmlns:p14="http://schemas.microsoft.com/office/powerpoint/2010/main" val="26428008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3148"/>
            <a:ext cx="10515600" cy="514769"/>
          </a:xfrm>
        </p:spPr>
        <p:txBody>
          <a:bodyPr>
            <a:normAutofit fontScale="90000"/>
          </a:bodyPr>
          <a:lstStyle/>
          <a:p>
            <a:r>
              <a:rPr lang="en-US" dirty="0" smtClean="0">
                <a:solidFill>
                  <a:srgbClr val="023182"/>
                </a:solidFill>
                <a:latin typeface="Times New Roman"/>
                <a:cs typeface="Times New Roman"/>
                <a:sym typeface="Times New Roman"/>
              </a:rPr>
              <a:t>Outlines</a:t>
            </a:r>
            <a:endParaRPr lang="en-GB" dirty="0"/>
          </a:p>
        </p:txBody>
      </p:sp>
      <p:sp>
        <p:nvSpPr>
          <p:cNvPr id="3" name="Content Placeholder 2"/>
          <p:cNvSpPr>
            <a:spLocks noGrp="1"/>
          </p:cNvSpPr>
          <p:nvPr>
            <p:ph idx="1"/>
          </p:nvPr>
        </p:nvSpPr>
        <p:spPr/>
        <p:txBody>
          <a:bodyPr/>
          <a:lstStyle/>
          <a:p>
            <a:r>
              <a:rPr lang="en-GB" b="1" dirty="0" smtClean="0">
                <a:latin typeface="Times New Roman" panose="02020603050405020304" pitchFamily="18" charset="0"/>
                <a:cs typeface="Times New Roman" panose="02020603050405020304" pitchFamily="18" charset="0"/>
              </a:rPr>
              <a:t>Introduction to computers</a:t>
            </a:r>
            <a:endParaRPr lang="en-GB" b="1" dirty="0">
              <a:latin typeface="Times New Roman" panose="02020603050405020304" pitchFamily="18" charset="0"/>
              <a:cs typeface="Times New Roman" panose="02020603050405020304" pitchFamily="18" charset="0"/>
            </a:endParaRPr>
          </a:p>
          <a:p>
            <a:r>
              <a:rPr lang="en-GB" b="1" dirty="0" smtClean="0">
                <a:latin typeface="Times New Roman" panose="02020603050405020304" pitchFamily="18" charset="0"/>
                <a:cs typeface="Times New Roman" panose="02020603050405020304" pitchFamily="18" charset="0"/>
              </a:rPr>
              <a:t>Types of programming languages</a:t>
            </a:r>
            <a:endParaRPr lang="en-GB" b="1" dirty="0">
              <a:latin typeface="Times New Roman" panose="02020603050405020304" pitchFamily="18" charset="0"/>
              <a:cs typeface="Times New Roman" panose="02020603050405020304" pitchFamily="18" charset="0"/>
            </a:endParaRPr>
          </a:p>
          <a:p>
            <a:r>
              <a:rPr lang="en-GB" b="1" dirty="0" smtClean="0">
                <a:latin typeface="Times New Roman" panose="02020603050405020304" pitchFamily="18" charset="0"/>
                <a:cs typeface="Times New Roman" panose="02020603050405020304" pitchFamily="18" charset="0"/>
              </a:rPr>
              <a:t>Introduction to C</a:t>
            </a:r>
          </a:p>
          <a:p>
            <a:r>
              <a:rPr lang="en-GB" b="1" dirty="0" smtClean="0">
                <a:latin typeface="Times New Roman" panose="02020603050405020304" pitchFamily="18" charset="0"/>
                <a:cs typeface="Times New Roman" panose="02020603050405020304" pitchFamily="18" charset="0"/>
              </a:rPr>
              <a:t>Features of C</a:t>
            </a:r>
          </a:p>
          <a:p>
            <a:r>
              <a:rPr lang="en-US" b="1" dirty="0" smtClean="0">
                <a:latin typeface="Times New Roman" panose="02020603050405020304" pitchFamily="18" charset="0"/>
                <a:cs typeface="Times New Roman" panose="02020603050405020304" pitchFamily="18" charset="0"/>
              </a:rPr>
              <a:t>Applications of C</a:t>
            </a:r>
            <a:endParaRPr lang="en-GB" b="1" dirty="0" smtClean="0">
              <a:latin typeface="Times New Roman" panose="02020603050405020304" pitchFamily="18" charset="0"/>
              <a:cs typeface="Times New Roman" panose="02020603050405020304" pitchFamily="18" charset="0"/>
            </a:endParaRPr>
          </a:p>
          <a:p>
            <a:r>
              <a:rPr lang="en-GB" b="1" dirty="0" smtClean="0">
                <a:latin typeface="Times New Roman" panose="02020603050405020304" pitchFamily="18" charset="0"/>
                <a:cs typeface="Times New Roman" panose="02020603050405020304" pitchFamily="18" charset="0"/>
              </a:rPr>
              <a:t>Compilers</a:t>
            </a:r>
          </a:p>
          <a:p>
            <a:r>
              <a:rPr lang="en-GB" b="1" dirty="0" smtClean="0">
                <a:latin typeface="Times New Roman" panose="02020603050405020304" pitchFamily="18" charset="0"/>
                <a:cs typeface="Times New Roman" panose="02020603050405020304" pitchFamily="18" charset="0"/>
              </a:rPr>
              <a:t>Running C programs. </a:t>
            </a: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95318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913" y="1"/>
            <a:ext cx="10515600" cy="966158"/>
          </a:xfrm>
        </p:spPr>
        <p:txBody>
          <a:bodyPr/>
          <a:lstStyle/>
          <a:p>
            <a:r>
              <a:rPr lang="en-US" dirty="0" smtClean="0">
                <a:solidFill>
                  <a:srgbClr val="023182"/>
                </a:solidFill>
                <a:latin typeface="Times New Roman"/>
                <a:cs typeface="Times New Roman"/>
                <a:sym typeface="Times New Roman"/>
              </a:rPr>
              <a:t>Introduction to computers</a:t>
            </a:r>
            <a:endParaRPr lang="en-GB"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3913" y="1420183"/>
            <a:ext cx="10515600" cy="4351338"/>
          </a:xfrm>
        </p:spPr>
        <p:txBody>
          <a:bodyPr>
            <a:normAutofit/>
          </a:bodyPr>
          <a:lstStyle/>
          <a:p>
            <a:pPr fontAlgn="base">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A computer is an electronic device (a tool) which accepts data or information in one form and processes it to produce data or information in another form </a:t>
            </a:r>
          </a:p>
          <a:p>
            <a:pPr marL="457200" lvl="1" indent="0" fontAlgn="base">
              <a:buNone/>
            </a:pPr>
            <a:r>
              <a:rPr lang="en-GB" dirty="0" smtClean="0">
                <a:latin typeface="Times New Roman" panose="02020603050405020304" pitchFamily="18" charset="0"/>
                <a:cs typeface="Times New Roman" panose="02020603050405020304" pitchFamily="18" charset="0"/>
              </a:rPr>
              <a:t>      i.e</a:t>
            </a:r>
            <a:r>
              <a:rPr lang="en-GB" dirty="0">
                <a:latin typeface="Times New Roman" panose="02020603050405020304" pitchFamily="18" charset="0"/>
                <a:cs typeface="Times New Roman" panose="02020603050405020304" pitchFamily="18" charset="0"/>
              </a:rPr>
              <a:t>. in a more meaningful manner. </a:t>
            </a:r>
            <a:endParaRPr lang="en-GB" dirty="0" smtClean="0">
              <a:latin typeface="Times New Roman" panose="02020603050405020304" pitchFamily="18" charset="0"/>
              <a:cs typeface="Times New Roman" panose="02020603050405020304" pitchFamily="18" charset="0"/>
            </a:endParaRPr>
          </a:p>
          <a:p>
            <a:pPr lvl="1" fontAlgn="base">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v"/>
            </a:pPr>
            <a:r>
              <a:rPr lang="en-GB" sz="2400" dirty="0" smtClean="0">
                <a:latin typeface="Times New Roman" panose="02020603050405020304" pitchFamily="18" charset="0"/>
                <a:cs typeface="Times New Roman" panose="02020603050405020304" pitchFamily="18" charset="0"/>
              </a:rPr>
              <a:t>It </a:t>
            </a:r>
            <a:r>
              <a:rPr lang="en-GB" sz="2400" dirty="0">
                <a:latin typeface="Times New Roman" panose="02020603050405020304" pitchFamily="18" charset="0"/>
                <a:cs typeface="Times New Roman" panose="02020603050405020304" pitchFamily="18" charset="0"/>
              </a:rPr>
              <a:t>accepts data as its input, process data according to the predefined rules (programs) and  produces results (output) in the form of data and/or actions. </a:t>
            </a:r>
          </a:p>
          <a:p>
            <a:pPr marL="457200" lvl="1" indent="0" fontAlgn="base">
              <a:buNone/>
            </a:pPr>
            <a:r>
              <a:rPr lang="en-GB" dirty="0">
                <a:latin typeface="Times New Roman" panose="02020603050405020304" pitchFamily="18" charset="0"/>
                <a:cs typeface="Times New Roman" panose="02020603050405020304" pitchFamily="18" charset="0"/>
              </a:rPr>
              <a:t>It can convert data into information that is useful to people</a:t>
            </a:r>
            <a:r>
              <a:rPr lang="en-GB" dirty="0" smtClean="0">
                <a:latin typeface="Times New Roman" panose="02020603050405020304" pitchFamily="18" charset="0"/>
                <a:cs typeface="Times New Roman" panose="02020603050405020304" pitchFamily="18" charset="0"/>
              </a:rPr>
              <a:t>.</a:t>
            </a:r>
          </a:p>
          <a:p>
            <a:pPr lvl="1" fontAlgn="base">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sz="2400" dirty="0" smtClean="0">
                <a:latin typeface="Times New Roman" panose="02020603050405020304" pitchFamily="18" charset="0"/>
                <a:cs typeface="Times New Roman" panose="02020603050405020304" pitchFamily="18" charset="0"/>
              </a:rPr>
              <a:t>In </a:t>
            </a:r>
            <a:r>
              <a:rPr lang="en-GB" sz="2400" dirty="0">
                <a:latin typeface="Times New Roman" panose="02020603050405020304" pitchFamily="18" charset="0"/>
                <a:cs typeface="Times New Roman" panose="02020603050405020304" pitchFamily="18" charset="0"/>
              </a:rPr>
              <a:t>other words a computer is a machine which collects, stores, retrieves, manipulates and displays information.</a:t>
            </a:r>
          </a:p>
        </p:txBody>
      </p:sp>
    </p:spTree>
    <p:extLst>
      <p:ext uri="{BB962C8B-B14F-4D97-AF65-F5344CB8AC3E}">
        <p14:creationId xmlns:p14="http://schemas.microsoft.com/office/powerpoint/2010/main" val="14216394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211"/>
          </a:xfrm>
        </p:spPr>
        <p:txBody>
          <a:bodyPr/>
          <a:lstStyle/>
          <a:p>
            <a:r>
              <a:rPr lang="en-US" dirty="0" smtClean="0">
                <a:solidFill>
                  <a:srgbClr val="023182"/>
                </a:solidFill>
                <a:latin typeface="Times New Roman"/>
                <a:cs typeface="Times New Roman"/>
                <a:sym typeface="Times New Roman"/>
              </a:rPr>
              <a:t>Introduction to computers</a:t>
            </a:r>
            <a:endParaRPr lang="en-GB"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GB" sz="3200" dirty="0" smtClean="0">
                <a:latin typeface="Times New Roman" panose="02020603050405020304" pitchFamily="18" charset="0"/>
                <a:cs typeface="Times New Roman" panose="02020603050405020304" pitchFamily="18" charset="0"/>
              </a:rPr>
              <a:t> A </a:t>
            </a:r>
            <a:r>
              <a:rPr lang="en-GB" sz="3200" dirty="0">
                <a:latin typeface="Times New Roman" panose="02020603050405020304" pitchFamily="18" charset="0"/>
                <a:cs typeface="Times New Roman" panose="02020603050405020304" pitchFamily="18" charset="0"/>
              </a:rPr>
              <a:t>computer is a fabulous instrument that turns human inputs into electronic information that it then can store or share/distribute through various output devices. </a:t>
            </a:r>
          </a:p>
        </p:txBody>
      </p:sp>
    </p:spTree>
    <p:extLst>
      <p:ext uri="{BB962C8B-B14F-4D97-AF65-F5344CB8AC3E}">
        <p14:creationId xmlns:p14="http://schemas.microsoft.com/office/powerpoint/2010/main" val="23270556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4935"/>
          </a:xfrm>
        </p:spPr>
        <p:txBody>
          <a:bodyPr/>
          <a:lstStyle/>
          <a:p>
            <a:r>
              <a:rPr lang="en-US" dirty="0" smtClean="0">
                <a:solidFill>
                  <a:srgbClr val="023182"/>
                </a:solidFill>
                <a:latin typeface="Times New Roman"/>
                <a:cs typeface="Times New Roman"/>
                <a:sym typeface="Times New Roman"/>
              </a:rPr>
              <a:t>Introduction to computers</a:t>
            </a:r>
            <a:endParaRPr lang="en-GB" dirty="0"/>
          </a:p>
        </p:txBody>
      </p:sp>
      <p:sp>
        <p:nvSpPr>
          <p:cNvPr id="3" name="Content Placeholder 2"/>
          <p:cNvSpPr>
            <a:spLocks noGrp="1"/>
          </p:cNvSpPr>
          <p:nvPr>
            <p:ph idx="1"/>
          </p:nvPr>
        </p:nvSpPr>
        <p:spPr/>
        <p:txBody>
          <a:bodyPr>
            <a:normAutofit/>
          </a:bodyPr>
          <a:lstStyle/>
          <a:p>
            <a:pPr marL="0" indent="0" fontAlgn="base">
              <a:buNone/>
            </a:pPr>
            <a:r>
              <a:rPr lang="en-GB" dirty="0" smtClean="0">
                <a:latin typeface="Times New Roman" panose="02020603050405020304" pitchFamily="18" charset="0"/>
                <a:cs typeface="Times New Roman" panose="02020603050405020304" pitchFamily="18" charset="0"/>
              </a:rPr>
              <a:t>A </a:t>
            </a:r>
            <a:r>
              <a:rPr lang="en-GB" dirty="0">
                <a:latin typeface="Times New Roman" panose="02020603050405020304" pitchFamily="18" charset="0"/>
                <a:cs typeface="Times New Roman" panose="02020603050405020304" pitchFamily="18" charset="0"/>
              </a:rPr>
              <a:t>complete computer system has four distinct parts</a:t>
            </a:r>
            <a:r>
              <a:rPr lang="en-GB" dirty="0" smtClean="0">
                <a:latin typeface="Times New Roman" panose="02020603050405020304" pitchFamily="18" charset="0"/>
                <a:cs typeface="Times New Roman" panose="02020603050405020304" pitchFamily="18" charset="0"/>
              </a:rPr>
              <a:t>:</a:t>
            </a:r>
          </a:p>
          <a:p>
            <a:pPr lvl="1" fontAlgn="base">
              <a:buFont typeface="Wingdings" panose="05000000000000000000" pitchFamily="2" charset="2"/>
              <a:buChar char="v"/>
            </a:pPr>
            <a:endParaRPr lang="en-GB" sz="2800" dirty="0">
              <a:latin typeface="Times New Roman" panose="02020603050405020304" pitchFamily="18" charset="0"/>
              <a:cs typeface="Times New Roman" panose="02020603050405020304" pitchFamily="18" charset="0"/>
            </a:endParaRPr>
          </a:p>
          <a:p>
            <a:pPr lvl="1" fontAlgn="base">
              <a:buFont typeface="Wingdings" panose="05000000000000000000" pitchFamily="2" charset="2"/>
              <a:buChar char="v"/>
            </a:pPr>
            <a:r>
              <a:rPr lang="en-GB" sz="2800" dirty="0" smtClean="0">
                <a:latin typeface="Times New Roman" panose="02020603050405020304" pitchFamily="18" charset="0"/>
                <a:cs typeface="Times New Roman" panose="02020603050405020304" pitchFamily="18" charset="0"/>
              </a:rPr>
              <a:t>Hardware</a:t>
            </a:r>
            <a:endParaRPr lang="en-GB" sz="2800" dirty="0">
              <a:latin typeface="Times New Roman" panose="02020603050405020304" pitchFamily="18" charset="0"/>
              <a:cs typeface="Times New Roman" panose="02020603050405020304" pitchFamily="18" charset="0"/>
            </a:endParaRPr>
          </a:p>
          <a:p>
            <a:pPr lvl="1" fontAlgn="base">
              <a:buFont typeface="Wingdings" panose="05000000000000000000" pitchFamily="2" charset="2"/>
              <a:buChar char="v"/>
            </a:pPr>
            <a:r>
              <a:rPr lang="en-GB" sz="2800" dirty="0">
                <a:latin typeface="Times New Roman" panose="02020603050405020304" pitchFamily="18" charset="0"/>
                <a:cs typeface="Times New Roman" panose="02020603050405020304" pitchFamily="18" charset="0"/>
              </a:rPr>
              <a:t>Software</a:t>
            </a:r>
          </a:p>
          <a:p>
            <a:pPr lvl="1" fontAlgn="base">
              <a:buFont typeface="Wingdings" panose="05000000000000000000" pitchFamily="2" charset="2"/>
              <a:buChar char="v"/>
            </a:pPr>
            <a:r>
              <a:rPr lang="en-GB" sz="2800" dirty="0">
                <a:latin typeface="Times New Roman" panose="02020603050405020304" pitchFamily="18" charset="0"/>
                <a:cs typeface="Times New Roman" panose="02020603050405020304" pitchFamily="18" charset="0"/>
              </a:rPr>
              <a:t>Data</a:t>
            </a:r>
          </a:p>
          <a:p>
            <a:pPr lvl="1" fontAlgn="base">
              <a:buFont typeface="Wingdings" panose="05000000000000000000" pitchFamily="2" charset="2"/>
              <a:buChar char="v"/>
            </a:pPr>
            <a:r>
              <a:rPr lang="en-GB" sz="2800" dirty="0">
                <a:latin typeface="Times New Roman" panose="02020603050405020304" pitchFamily="18" charset="0"/>
                <a:cs typeface="Times New Roman" panose="02020603050405020304" pitchFamily="18" charset="0"/>
              </a:rPr>
              <a:t>User</a:t>
            </a:r>
          </a:p>
        </p:txBody>
      </p:sp>
    </p:spTree>
    <p:extLst>
      <p:ext uri="{BB962C8B-B14F-4D97-AF65-F5344CB8AC3E}">
        <p14:creationId xmlns:p14="http://schemas.microsoft.com/office/powerpoint/2010/main" val="29266761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9222"/>
          </a:xfrm>
        </p:spPr>
        <p:txBody>
          <a:bodyPr/>
          <a:lstStyle/>
          <a:p>
            <a:r>
              <a:rPr lang="en-US" dirty="0" smtClean="0">
                <a:solidFill>
                  <a:srgbClr val="023182"/>
                </a:solidFill>
                <a:latin typeface="Times New Roman"/>
                <a:cs typeface="Times New Roman"/>
                <a:sym typeface="Times New Roman"/>
              </a:rPr>
              <a:t>Introduction to computers</a:t>
            </a:r>
            <a:endParaRPr lang="en-GB" dirty="0"/>
          </a:p>
        </p:txBody>
      </p:sp>
      <p:sp>
        <p:nvSpPr>
          <p:cNvPr id="9" name="AutoShape 12" descr="test2"/>
          <p:cNvSpPr>
            <a:spLocks noChangeAspect="1" noChangeArrowheads="1"/>
          </p:cNvSpPr>
          <p:nvPr/>
        </p:nvSpPr>
        <p:spPr bwMode="auto">
          <a:xfrm>
            <a:off x="155574" y="84137"/>
            <a:ext cx="3271537" cy="32715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 name="Picture 3" descr="test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12117"/>
          <a:stretch>
            <a:fillRect/>
          </a:stretch>
        </p:blipFill>
        <p:spPr bwMode="auto">
          <a:xfrm>
            <a:off x="1500996" y="1825624"/>
            <a:ext cx="9187131" cy="4704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21295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Introduction to computers</a:t>
            </a:r>
            <a:endParaRPr lang="en-GB"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GB" sz="2600" b="1" dirty="0" smtClean="0">
                <a:latin typeface="Times New Roman" panose="02020603050405020304" pitchFamily="18" charset="0"/>
                <a:cs typeface="Times New Roman" panose="02020603050405020304" pitchFamily="18" charset="0"/>
              </a:rPr>
              <a:t>Hardware: </a:t>
            </a:r>
            <a:r>
              <a:rPr lang="en-GB" sz="2600" dirty="0" smtClean="0">
                <a:latin typeface="Times New Roman" panose="02020603050405020304" pitchFamily="18" charset="0"/>
                <a:cs typeface="Times New Roman" panose="02020603050405020304" pitchFamily="18" charset="0"/>
              </a:rPr>
              <a:t>refers to the physical components of a computer system that you can see and touch.</a:t>
            </a:r>
            <a:br>
              <a:rPr lang="en-GB" sz="2600" dirty="0" smtClean="0">
                <a:latin typeface="Times New Roman" panose="02020603050405020304" pitchFamily="18" charset="0"/>
                <a:cs typeface="Times New Roman" panose="02020603050405020304" pitchFamily="18" charset="0"/>
              </a:rPr>
            </a:br>
            <a:r>
              <a:rPr lang="en-GB" sz="2600" dirty="0" smtClean="0">
                <a:latin typeface="Times New Roman" panose="02020603050405020304" pitchFamily="18" charset="0"/>
                <a:cs typeface="Times New Roman" panose="02020603050405020304" pitchFamily="18" charset="0"/>
              </a:rPr>
              <a:t>Examples include the keyboard, mouse, monitor, CPU, memory, and printer.</a:t>
            </a:r>
          </a:p>
          <a:p>
            <a:pPr marL="514350" indent="-514350">
              <a:buFont typeface="+mj-lt"/>
              <a:buAutoNum type="arabicPeriod"/>
            </a:pPr>
            <a:r>
              <a:rPr lang="en-GB" sz="2600" b="1" dirty="0" smtClean="0">
                <a:latin typeface="Times New Roman" panose="02020603050405020304" pitchFamily="18" charset="0"/>
                <a:cs typeface="Times New Roman" panose="02020603050405020304" pitchFamily="18" charset="0"/>
              </a:rPr>
              <a:t>Software: </a:t>
            </a:r>
            <a:r>
              <a:rPr lang="en-GB" sz="2600" dirty="0" smtClean="0">
                <a:latin typeface="Times New Roman" panose="02020603050405020304" pitchFamily="18" charset="0"/>
                <a:cs typeface="Times New Roman" panose="02020603050405020304" pitchFamily="18" charset="0"/>
              </a:rPr>
              <a:t>is a set of programs and instructions that tell the hardware what to do.</a:t>
            </a:r>
            <a:br>
              <a:rPr lang="en-GB" sz="2600" dirty="0" smtClean="0">
                <a:latin typeface="Times New Roman" panose="02020603050405020304" pitchFamily="18" charset="0"/>
                <a:cs typeface="Times New Roman" panose="02020603050405020304" pitchFamily="18" charset="0"/>
              </a:rPr>
            </a:br>
            <a:r>
              <a:rPr lang="en-GB" sz="2600" dirty="0" smtClean="0">
                <a:latin typeface="Times New Roman" panose="02020603050405020304" pitchFamily="18" charset="0"/>
                <a:cs typeface="Times New Roman" panose="02020603050405020304" pitchFamily="18" charset="0"/>
              </a:rPr>
              <a:t>Examples include the operating system, application programs, and programming languages like C.</a:t>
            </a:r>
          </a:p>
          <a:p>
            <a:pPr marL="514350" indent="-514350">
              <a:buFont typeface="+mj-lt"/>
              <a:buAutoNum type="arabicPeriod"/>
            </a:pPr>
            <a:r>
              <a:rPr lang="en-GB" sz="2600" b="1" dirty="0" smtClean="0">
                <a:latin typeface="Times New Roman" panose="02020603050405020304" pitchFamily="18" charset="0"/>
                <a:cs typeface="Times New Roman" panose="02020603050405020304" pitchFamily="18" charset="0"/>
              </a:rPr>
              <a:t>Data: </a:t>
            </a:r>
            <a:r>
              <a:rPr lang="en-GB" sz="2600" dirty="0" smtClean="0">
                <a:latin typeface="Times New Roman" panose="02020603050405020304" pitchFamily="18" charset="0"/>
                <a:cs typeface="Times New Roman" panose="02020603050405020304" pitchFamily="18" charset="0"/>
              </a:rPr>
              <a:t>is the raw facts and figures that are processed by the computer to produce meaningful information.</a:t>
            </a:r>
            <a:br>
              <a:rPr lang="en-GB" sz="2600" dirty="0" smtClean="0">
                <a:latin typeface="Times New Roman" panose="02020603050405020304" pitchFamily="18" charset="0"/>
                <a:cs typeface="Times New Roman" panose="02020603050405020304" pitchFamily="18" charset="0"/>
              </a:rPr>
            </a:br>
            <a:r>
              <a:rPr lang="en-GB" sz="2600" dirty="0" smtClean="0">
                <a:latin typeface="Times New Roman" panose="02020603050405020304" pitchFamily="18" charset="0"/>
                <a:cs typeface="Times New Roman" panose="02020603050405020304" pitchFamily="18" charset="0"/>
              </a:rPr>
              <a:t>Examples include numbers, text, images, and symbols.</a:t>
            </a:r>
          </a:p>
          <a:p>
            <a:pPr marL="514350" indent="-514350">
              <a:buFont typeface="+mj-lt"/>
              <a:buAutoNum type="arabicPeriod"/>
            </a:pPr>
            <a:r>
              <a:rPr lang="en-GB" sz="2600" b="1" dirty="0" smtClean="0">
                <a:latin typeface="Times New Roman" panose="02020603050405020304" pitchFamily="18" charset="0"/>
                <a:cs typeface="Times New Roman" panose="02020603050405020304" pitchFamily="18" charset="0"/>
              </a:rPr>
              <a:t>User: </a:t>
            </a:r>
            <a:r>
              <a:rPr lang="en-GB" sz="2600" dirty="0" smtClean="0">
                <a:latin typeface="Times New Roman" panose="02020603050405020304" pitchFamily="18" charset="0"/>
                <a:cs typeface="Times New Roman" panose="02020603050405020304" pitchFamily="18" charset="0"/>
              </a:rPr>
              <a:t>is the person who operates the computer system, provides input, and uses the output produced by the system.</a:t>
            </a:r>
          </a:p>
          <a:p>
            <a:pPr marL="0" indent="0">
              <a:buNone/>
            </a:pPr>
            <a:endParaRPr lang="en-GB" dirty="0"/>
          </a:p>
        </p:txBody>
      </p:sp>
    </p:spTree>
    <p:extLst>
      <p:ext uri="{BB962C8B-B14F-4D97-AF65-F5344CB8AC3E}">
        <p14:creationId xmlns:p14="http://schemas.microsoft.com/office/powerpoint/2010/main" val="5622901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9441"/>
          </a:xfrm>
        </p:spPr>
        <p:txBody>
          <a:bodyPr/>
          <a:lstStyle/>
          <a:p>
            <a:r>
              <a:rPr lang="en-US" dirty="0" smtClean="0">
                <a:solidFill>
                  <a:srgbClr val="333399"/>
                </a:solidFill>
                <a:latin typeface="Times New Roman" panose="02020603050405020304" pitchFamily="18" charset="0"/>
                <a:cs typeface="Times New Roman" panose="02020603050405020304" pitchFamily="18" charset="0"/>
              </a:rPr>
              <a:t>Functions of computer components</a:t>
            </a:r>
            <a:endParaRPr lang="en-GB" dirty="0">
              <a:solidFill>
                <a:srgbClr val="333399"/>
              </a:solidFill>
              <a:latin typeface="Times New Roman" panose="02020603050405020304" pitchFamily="18" charset="0"/>
              <a:cs typeface="Times New Roman" panose="02020603050405020304" pitchFamily="18" charset="0"/>
            </a:endParaRPr>
          </a:p>
        </p:txBody>
      </p:sp>
      <p:pic>
        <p:nvPicPr>
          <p:cNvPr id="2050" name="Picture 2" descr="Computer Parts or Components - Computer Lover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76249" y="1977321"/>
            <a:ext cx="3398807" cy="34400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60718" y="1615012"/>
            <a:ext cx="7194430" cy="4524315"/>
          </a:xfrm>
          <a:prstGeom prst="rect">
            <a:avLst/>
          </a:prstGeom>
          <a:noFill/>
        </p:spPr>
        <p:txBody>
          <a:bodyPr wrap="square" rtlCol="0">
            <a:spAutoFit/>
          </a:bodyPr>
          <a:lstStyle/>
          <a:p>
            <a:pPr marL="285750" indent="-285750">
              <a:buFont typeface="Arial" panose="020B0604020202020204" pitchFamily="34" charset="0"/>
              <a:buChar char="•"/>
            </a:pPr>
            <a:r>
              <a:rPr lang="en-GB" b="1" dirty="0" smtClean="0">
                <a:latin typeface="Times New Roman" panose="02020603050405020304" pitchFamily="18" charset="0"/>
                <a:cs typeface="Times New Roman" panose="02020603050405020304" pitchFamily="18" charset="0"/>
              </a:rPr>
              <a:t>Input Devices:</a:t>
            </a:r>
            <a:r>
              <a:rPr lang="en-GB" dirty="0" smtClean="0">
                <a:latin typeface="Times New Roman" panose="02020603050405020304" pitchFamily="18" charset="0"/>
                <a:cs typeface="Times New Roman" panose="02020603050405020304" pitchFamily="18" charset="0"/>
              </a:rPr>
              <a:t> are used to enter data and instructions into the computer system. They allow the user to communicate with the computer by providing raw data that will be processed.</a:t>
            </a:r>
          </a:p>
          <a:p>
            <a:pPr marL="285750" indent="-285750">
              <a:buFont typeface="Arial" panose="020B0604020202020204" pitchFamily="34" charset="0"/>
              <a:buChar char="•"/>
            </a:pPr>
            <a:r>
              <a:rPr lang="en-GB" b="1" dirty="0" smtClean="0">
                <a:latin typeface="Times New Roman" panose="02020603050405020304" pitchFamily="18" charset="0"/>
                <a:cs typeface="Times New Roman" panose="02020603050405020304" pitchFamily="18" charset="0"/>
              </a:rPr>
              <a:t>Central Processing Unit (CPU):</a:t>
            </a: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is the main processing unit of the computer and is often called the brain of the system. It interprets and executes instructions, performs arithmetic and logical operations, and controls all activities of the computer.</a:t>
            </a:r>
          </a:p>
          <a:p>
            <a:pPr marL="285750" indent="-285750">
              <a:buFont typeface="Arial" panose="020B0604020202020204" pitchFamily="34" charset="0"/>
              <a:buChar char="•"/>
            </a:pPr>
            <a:r>
              <a:rPr lang="en-GB" b="1" dirty="0" smtClean="0">
                <a:latin typeface="Times New Roman" panose="02020603050405020304" pitchFamily="18" charset="0"/>
                <a:cs typeface="Times New Roman" panose="02020603050405020304" pitchFamily="18" charset="0"/>
              </a:rPr>
              <a:t>Primary Memory(RAM):</a:t>
            </a:r>
            <a:r>
              <a:rPr lang="en-GB" dirty="0" smtClean="0">
                <a:latin typeface="Times New Roman" panose="02020603050405020304" pitchFamily="18" charset="0"/>
                <a:cs typeface="Times New Roman" panose="02020603050405020304" pitchFamily="18" charset="0"/>
              </a:rPr>
              <a:t> stores data and programs temporarily while the computer is in operation. It allows fast access to information needed by the CPU during processing.</a:t>
            </a:r>
          </a:p>
          <a:p>
            <a:pPr marL="285750" indent="-285750">
              <a:buFont typeface="Arial" panose="020B0604020202020204" pitchFamily="34" charset="0"/>
              <a:buChar char="•"/>
            </a:pPr>
            <a:r>
              <a:rPr lang="en-GB" b="1" dirty="0" smtClean="0">
                <a:latin typeface="Times New Roman" panose="02020603050405020304" pitchFamily="18" charset="0"/>
                <a:cs typeface="Times New Roman" panose="02020603050405020304" pitchFamily="18" charset="0"/>
              </a:rPr>
              <a:t>Secondary Storage Devices:</a:t>
            </a: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store data and programs permanently for future use. They retain information even when the computer is turned off.</a:t>
            </a:r>
          </a:p>
          <a:p>
            <a:pPr marL="285750" indent="-285750">
              <a:buFont typeface="Arial" panose="020B0604020202020204" pitchFamily="34" charset="0"/>
              <a:buChar char="•"/>
            </a:pPr>
            <a:r>
              <a:rPr lang="en-GB" b="1" dirty="0" smtClean="0">
                <a:latin typeface="Times New Roman" panose="02020603050405020304" pitchFamily="18" charset="0"/>
                <a:cs typeface="Times New Roman" panose="02020603050405020304" pitchFamily="18" charset="0"/>
              </a:rPr>
              <a:t>Output Devices:</a:t>
            </a: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display or produce the results of processed data. They present information to the user in a readable or usable form.</a:t>
            </a:r>
          </a:p>
          <a:p>
            <a:endParaRPr lang="en-GB" dirty="0"/>
          </a:p>
        </p:txBody>
      </p:sp>
    </p:spTree>
    <p:extLst>
      <p:ext uri="{BB962C8B-B14F-4D97-AF65-F5344CB8AC3E}">
        <p14:creationId xmlns:p14="http://schemas.microsoft.com/office/powerpoint/2010/main" val="28139525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5705"/>
          </a:xfrm>
        </p:spPr>
        <p:txBody>
          <a:bodyPr/>
          <a:lstStyle/>
          <a:p>
            <a:r>
              <a:rPr lang="en-US" dirty="0" smtClean="0">
                <a:solidFill>
                  <a:srgbClr val="333399"/>
                </a:solidFill>
                <a:latin typeface="Times New Roman" panose="02020603050405020304" pitchFamily="18" charset="0"/>
                <a:cs typeface="Times New Roman" panose="02020603050405020304" pitchFamily="18" charset="0"/>
              </a:rPr>
              <a:t>Functions of computer components</a:t>
            </a:r>
            <a:endParaRPr lang="en-GB" dirty="0"/>
          </a:p>
        </p:txBody>
      </p:sp>
      <p:sp>
        <p:nvSpPr>
          <p:cNvPr id="3" name="Content Placeholder 2"/>
          <p:cNvSpPr>
            <a:spLocks noGrp="1"/>
          </p:cNvSpPr>
          <p:nvPr>
            <p:ph idx="1"/>
          </p:nvPr>
        </p:nvSpPr>
        <p:spPr/>
        <p:txBody>
          <a:bodyPr/>
          <a:lstStyle/>
          <a:p>
            <a:pPr>
              <a:defRPr/>
            </a:pPr>
            <a:r>
              <a:rPr lang="en-US" b="1" dirty="0">
                <a:latin typeface="Times New Roman" panose="02020603050405020304" pitchFamily="18" charset="0"/>
                <a:cs typeface="Times New Roman" panose="02020603050405020304" pitchFamily="18" charset="0"/>
              </a:rPr>
              <a:t>An operating system (</a:t>
            </a:r>
            <a:r>
              <a:rPr lang="en-US" b="1" dirty="0" smtClean="0">
                <a:latin typeface="Times New Roman" panose="02020603050405020304" pitchFamily="18" charset="0"/>
                <a:cs typeface="Times New Roman" panose="02020603050405020304" pitchFamily="18" charset="0"/>
              </a:rPr>
              <a:t>OS): </a:t>
            </a:r>
            <a:r>
              <a:rPr lang="en-US" dirty="0" smtClean="0">
                <a:latin typeface="Times New Roman" panose="02020603050405020304" pitchFamily="18" charset="0"/>
                <a:cs typeface="Times New Roman" panose="02020603050405020304" pitchFamily="18" charset="0"/>
              </a:rPr>
              <a:t>is </a:t>
            </a:r>
            <a:r>
              <a:rPr lang="en-US" dirty="0">
                <a:latin typeface="Times New Roman" panose="02020603050405020304" pitchFamily="18" charset="0"/>
                <a:cs typeface="Times New Roman" panose="02020603050405020304" pitchFamily="18" charset="0"/>
              </a:rPr>
              <a:t>a set of programs containing instructions that coordinate all the activities among computer hardware resources. </a:t>
            </a:r>
          </a:p>
          <a:p>
            <a:pPr>
              <a:defRPr/>
            </a:pPr>
            <a:r>
              <a:rPr lang="en-US" dirty="0">
                <a:latin typeface="Times New Roman" panose="02020603050405020304" pitchFamily="18" charset="0"/>
                <a:cs typeface="Times New Roman" panose="02020603050405020304" pitchFamily="18" charset="0"/>
              </a:rPr>
              <a:t>Functions of OS:</a:t>
            </a:r>
          </a:p>
          <a:p>
            <a:pPr lvl="5">
              <a:defRPr/>
            </a:pPr>
            <a:r>
              <a:rPr lang="en-US" dirty="0">
                <a:latin typeface="Times New Roman" panose="02020603050405020304" pitchFamily="18" charset="0"/>
                <a:cs typeface="Times New Roman" panose="02020603050405020304" pitchFamily="18" charset="0"/>
              </a:rPr>
              <a:t>starting a computer</a:t>
            </a:r>
          </a:p>
          <a:p>
            <a:pPr lvl="5">
              <a:defRPr/>
            </a:pPr>
            <a:r>
              <a:rPr lang="en-US" dirty="0">
                <a:latin typeface="Times New Roman" panose="02020603050405020304" pitchFamily="18" charset="0"/>
                <a:cs typeface="Times New Roman" panose="02020603050405020304" pitchFamily="18" charset="0"/>
              </a:rPr>
              <a:t>providing a user interface</a:t>
            </a:r>
          </a:p>
          <a:p>
            <a:pPr lvl="5">
              <a:defRPr/>
            </a:pPr>
            <a:r>
              <a:rPr lang="en-US" dirty="0">
                <a:latin typeface="Times New Roman" panose="02020603050405020304" pitchFamily="18" charset="0"/>
                <a:cs typeface="Times New Roman" panose="02020603050405020304" pitchFamily="18" charset="0"/>
              </a:rPr>
              <a:t> managing programs</a:t>
            </a:r>
          </a:p>
          <a:p>
            <a:pPr lvl="5">
              <a:defRPr/>
            </a:pPr>
            <a:r>
              <a:rPr lang="en-US" dirty="0">
                <a:latin typeface="Times New Roman" panose="02020603050405020304" pitchFamily="18" charset="0"/>
                <a:cs typeface="Times New Roman" panose="02020603050405020304" pitchFamily="18" charset="0"/>
              </a:rPr>
              <a:t>managing memory</a:t>
            </a:r>
          </a:p>
          <a:p>
            <a:pPr lvl="5">
              <a:defRPr/>
            </a:pPr>
            <a:r>
              <a:rPr lang="en-US" dirty="0">
                <a:latin typeface="Times New Roman" panose="02020603050405020304" pitchFamily="18" charset="0"/>
                <a:cs typeface="Times New Roman" panose="02020603050405020304" pitchFamily="18" charset="0"/>
              </a:rPr>
              <a:t>scheduling jobs</a:t>
            </a:r>
          </a:p>
          <a:p>
            <a:pPr lvl="5">
              <a:defRPr/>
            </a:pPr>
            <a:r>
              <a:rPr lang="en-US" dirty="0">
                <a:latin typeface="Times New Roman" panose="02020603050405020304" pitchFamily="18" charset="0"/>
                <a:cs typeface="Times New Roman" panose="02020603050405020304" pitchFamily="18" charset="0"/>
              </a:rPr>
              <a:t> configuring devices</a:t>
            </a:r>
          </a:p>
          <a:p>
            <a:pPr lvl="5">
              <a:defRPr/>
            </a:pPr>
            <a:r>
              <a:rPr lang="en-US" dirty="0">
                <a:latin typeface="Times New Roman" panose="02020603050405020304" pitchFamily="18" charset="0"/>
                <a:cs typeface="Times New Roman" panose="02020603050405020304" pitchFamily="18" charset="0"/>
              </a:rPr>
              <a:t>establishing an internet connection, etc.</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54210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23182"/>
                </a:solidFill>
                <a:latin typeface="Times New Roman"/>
                <a:cs typeface="Times New Roman"/>
                <a:sym typeface="Times New Roman"/>
              </a:rPr>
              <a:t>P</a:t>
            </a:r>
            <a:r>
              <a:rPr lang="en-US" dirty="0" smtClean="0">
                <a:solidFill>
                  <a:srgbClr val="023182"/>
                </a:solidFill>
                <a:latin typeface="Times New Roman"/>
                <a:cs typeface="Times New Roman"/>
                <a:sym typeface="Times New Roman"/>
              </a:rPr>
              <a:t>rogramming languages </a:t>
            </a:r>
            <a:endParaRPr lang="en-GB" dirty="0"/>
          </a:p>
        </p:txBody>
      </p:sp>
      <p:sp>
        <p:nvSpPr>
          <p:cNvPr id="3" name="Content Placeholder 2"/>
          <p:cNvSpPr>
            <a:spLocks noGrp="1"/>
          </p:cNvSpPr>
          <p:nvPr>
            <p:ph idx="1"/>
          </p:nvPr>
        </p:nvSpPr>
        <p:spPr>
          <a:xfrm>
            <a:off x="751936" y="2291452"/>
            <a:ext cx="10515600" cy="4351338"/>
          </a:xfrm>
        </p:spPr>
        <p:txBody>
          <a:bodyPr/>
          <a:lstStyle/>
          <a:p>
            <a:pPr marL="0" indent="0">
              <a:buNone/>
            </a:pPr>
            <a:r>
              <a:rPr lang="en-GB" b="1" dirty="0" smtClean="0">
                <a:latin typeface="Times New Roman" panose="02020603050405020304" pitchFamily="18" charset="0"/>
                <a:cs typeface="Times New Roman" panose="02020603050405020304" pitchFamily="18" charset="0"/>
              </a:rPr>
              <a:t>A programming language</a:t>
            </a:r>
            <a:r>
              <a:rPr lang="en-GB" dirty="0" smtClean="0">
                <a:latin typeface="Times New Roman" panose="02020603050405020304" pitchFamily="18" charset="0"/>
                <a:cs typeface="Times New Roman" panose="02020603050405020304" pitchFamily="18" charset="0"/>
              </a:rPr>
              <a:t> is a language used by humans to write instructions that tell a computer what to do. It allows programmers to communicate with a computer in a structured and understandable way, instead of using binary numbers (1s and 0s).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6727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Types of programming languages </a:t>
            </a:r>
            <a:endParaRPr lang="en-GB" dirty="0"/>
          </a:p>
        </p:txBody>
      </p:sp>
      <p:pic>
        <p:nvPicPr>
          <p:cNvPr id="3074" name="Picture 2" descr="https://readersnepal.com/storage/post-images/cNdKD06jh8nBO851FP4YDg2mFsjyF1Y2yn5Zssp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9001125" cy="5067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2799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9826"/>
          </a:xfrm>
        </p:spPr>
        <p:txBody>
          <a:bodyPr>
            <a:normAutofit/>
          </a:bodyPr>
          <a:lstStyle/>
          <a:p>
            <a:r>
              <a:rPr lang="en-US" sz="4000" dirty="0" smtClean="0">
                <a:solidFill>
                  <a:srgbClr val="023182"/>
                </a:solidFill>
                <a:latin typeface="Times New Roman"/>
                <a:cs typeface="Times New Roman"/>
                <a:sym typeface="Times New Roman"/>
              </a:rPr>
              <a:t>Types of programming languages </a:t>
            </a:r>
            <a:endParaRPr lang="en-GB" sz="4000"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GB" sz="2600" b="1" dirty="0" smtClean="0">
                <a:latin typeface="Times New Roman" panose="02020603050405020304" pitchFamily="18" charset="0"/>
                <a:cs typeface="Times New Roman" panose="02020603050405020304" pitchFamily="18" charset="0"/>
              </a:rPr>
              <a:t>Low-Level Languages</a:t>
            </a:r>
          </a:p>
          <a:p>
            <a:pPr marL="0" indent="0">
              <a:buNone/>
            </a:pPr>
            <a:r>
              <a:rPr lang="en-US" sz="2600" b="1" dirty="0">
                <a:latin typeface="Times New Roman" panose="02020603050405020304" pitchFamily="18" charset="0"/>
                <a:cs typeface="Times New Roman" panose="02020603050405020304" pitchFamily="18" charset="0"/>
              </a:rPr>
              <a:t> </a:t>
            </a:r>
            <a:r>
              <a:rPr lang="en-GB" sz="2600" dirty="0" smtClean="0">
                <a:latin typeface="Times New Roman" panose="02020603050405020304" pitchFamily="18" charset="0"/>
                <a:cs typeface="Times New Roman" panose="02020603050405020304" pitchFamily="18" charset="0"/>
              </a:rPr>
              <a:t>Low-level languages are programming languages that are closer to the hardware. They provide little or no abstraction from the computer’s internal operations and are machine dependent.</a:t>
            </a:r>
          </a:p>
          <a:p>
            <a:pPr marL="0" indent="0">
              <a:buNone/>
            </a:pPr>
            <a:endParaRPr lang="en-GB" sz="2600" dirty="0" smtClean="0">
              <a:latin typeface="Times New Roman" panose="02020603050405020304" pitchFamily="18" charset="0"/>
              <a:cs typeface="Times New Roman" panose="02020603050405020304" pitchFamily="18" charset="0"/>
            </a:endParaRPr>
          </a:p>
          <a:p>
            <a:pPr marL="457200" lvl="1" indent="0">
              <a:buNone/>
            </a:pPr>
            <a:r>
              <a:rPr lang="en-GB" sz="2600" b="1" dirty="0" smtClean="0">
                <a:latin typeface="Times New Roman" panose="02020603050405020304" pitchFamily="18" charset="0"/>
                <a:cs typeface="Times New Roman" panose="02020603050405020304" pitchFamily="18" charset="0"/>
              </a:rPr>
              <a:t>a) Machine Level Language (1GL)</a:t>
            </a:r>
          </a:p>
          <a:p>
            <a:pPr marL="457200" lvl="1" indent="0">
              <a:buNone/>
            </a:pPr>
            <a:r>
              <a:rPr lang="en-GB" sz="2600" dirty="0" smtClean="0">
                <a:latin typeface="Times New Roman" panose="02020603050405020304" pitchFamily="18" charset="0"/>
                <a:cs typeface="Times New Roman" panose="02020603050405020304" pitchFamily="18" charset="0"/>
              </a:rPr>
              <a:t>Machine language is the lowest-level programming language, written in binary code (0s and 1s). It is directly understood by the computer without translation, but it is very difficult for humans to read, write, and debug.</a:t>
            </a:r>
          </a:p>
          <a:p>
            <a:pPr marL="457200" lvl="1" indent="0">
              <a:buNone/>
            </a:pPr>
            <a:endParaRPr lang="en-GB" sz="2600" dirty="0" smtClean="0">
              <a:latin typeface="Times New Roman" panose="02020603050405020304" pitchFamily="18" charset="0"/>
              <a:cs typeface="Times New Roman" panose="02020603050405020304" pitchFamily="18" charset="0"/>
            </a:endParaRPr>
          </a:p>
          <a:p>
            <a:pPr marL="457200" lvl="1" indent="0">
              <a:buNone/>
            </a:pPr>
            <a:r>
              <a:rPr lang="en-GB" sz="2600" b="1" dirty="0" smtClean="0">
                <a:latin typeface="Times New Roman" panose="02020603050405020304" pitchFamily="18" charset="0"/>
                <a:cs typeface="Times New Roman" panose="02020603050405020304" pitchFamily="18" charset="0"/>
              </a:rPr>
              <a:t>b) Assembly Language (2GL)</a:t>
            </a:r>
          </a:p>
          <a:p>
            <a:pPr marL="457200" lvl="1" indent="0">
              <a:buNone/>
            </a:pPr>
            <a:r>
              <a:rPr lang="en-GB" sz="2600" dirty="0" smtClean="0">
                <a:latin typeface="Times New Roman" panose="02020603050405020304" pitchFamily="18" charset="0"/>
                <a:cs typeface="Times New Roman" panose="02020603050405020304" pitchFamily="18" charset="0"/>
              </a:rPr>
              <a:t>Assembly language uses mnemonic codes (such as ADD, MOV, SUB) instead of binary. It is easier to understand than machine language but still machine dependent and requires an assembler to convert it into machine code.</a:t>
            </a:r>
          </a:p>
          <a:p>
            <a:pPr marL="0" indent="0">
              <a:buNone/>
            </a:pPr>
            <a:endParaRPr lang="en-GB"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44378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1803"/>
          </a:xfrm>
        </p:spPr>
        <p:txBody>
          <a:bodyPr/>
          <a:lstStyle/>
          <a:p>
            <a:r>
              <a:rPr lang="en-US" dirty="0" smtClean="0">
                <a:solidFill>
                  <a:srgbClr val="023182"/>
                </a:solidFill>
                <a:latin typeface="Times New Roman"/>
                <a:cs typeface="Times New Roman"/>
                <a:sym typeface="Times New Roman"/>
              </a:rPr>
              <a:t>Types of programming languages </a:t>
            </a:r>
            <a:endParaRPr lang="en-GB" dirty="0"/>
          </a:p>
        </p:txBody>
      </p:sp>
      <p:sp>
        <p:nvSpPr>
          <p:cNvPr id="3" name="Content Placeholder 2"/>
          <p:cNvSpPr>
            <a:spLocks noGrp="1"/>
          </p:cNvSpPr>
          <p:nvPr>
            <p:ph idx="1"/>
          </p:nvPr>
        </p:nvSpPr>
        <p:spPr>
          <a:xfrm>
            <a:off x="760562" y="1311216"/>
            <a:ext cx="10515600" cy="5339750"/>
          </a:xfrm>
        </p:spPr>
        <p:txBody>
          <a:bodyPr>
            <a:normAutofit fontScale="55000" lnSpcReduction="20000"/>
          </a:bodyPr>
          <a:lstStyle/>
          <a:p>
            <a:pPr marL="0" indent="0">
              <a:buNone/>
            </a:pPr>
            <a:r>
              <a:rPr lang="en-GB" sz="3600" b="1" dirty="0" smtClean="0">
                <a:latin typeface="Times New Roman" panose="02020603050405020304" pitchFamily="18" charset="0"/>
                <a:cs typeface="Times New Roman" panose="02020603050405020304" pitchFamily="18" charset="0"/>
              </a:rPr>
              <a:t>2. High-Level Languages</a:t>
            </a:r>
          </a:p>
          <a:p>
            <a:pPr marL="0" indent="0">
              <a:buNone/>
            </a:pPr>
            <a:r>
              <a:rPr lang="en-GB" sz="3600" dirty="0" smtClean="0">
                <a:latin typeface="Times New Roman" panose="02020603050405020304" pitchFamily="18" charset="0"/>
                <a:cs typeface="Times New Roman" panose="02020603050405020304" pitchFamily="18" charset="0"/>
              </a:rPr>
              <a:t>High-level languages are designed to be easy for humans to read, write, and understand. They are mostly machine independent and require a compiler or interpreter to translate them into machine language.</a:t>
            </a:r>
          </a:p>
          <a:p>
            <a:pPr marL="0" indent="0">
              <a:buNone/>
            </a:pPr>
            <a:endParaRPr lang="en-GB" sz="3600" dirty="0" smtClean="0">
              <a:latin typeface="Times New Roman" panose="02020603050405020304" pitchFamily="18" charset="0"/>
              <a:cs typeface="Times New Roman" panose="02020603050405020304" pitchFamily="18" charset="0"/>
            </a:endParaRPr>
          </a:p>
          <a:p>
            <a:pPr marL="457200" lvl="1" indent="0">
              <a:buNone/>
            </a:pPr>
            <a:r>
              <a:rPr lang="en-GB" sz="3600" b="1" dirty="0" smtClean="0">
                <a:latin typeface="Times New Roman" panose="02020603050405020304" pitchFamily="18" charset="0"/>
                <a:cs typeface="Times New Roman" panose="02020603050405020304" pitchFamily="18" charset="0"/>
              </a:rPr>
              <a:t>a) Procedural Oriented Language (3GL)</a:t>
            </a:r>
          </a:p>
          <a:p>
            <a:pPr marL="457200" lvl="1" indent="0">
              <a:buNone/>
            </a:pPr>
            <a:r>
              <a:rPr lang="en-GB" sz="3600" dirty="0" smtClean="0">
                <a:latin typeface="Times New Roman" panose="02020603050405020304" pitchFamily="18" charset="0"/>
                <a:cs typeface="Times New Roman" panose="02020603050405020304" pitchFamily="18" charset="0"/>
              </a:rPr>
              <a:t>Procedural languages focus on procedures or functions that operate on data. Programs are written as a sequence of steps or instructions.</a:t>
            </a:r>
            <a:br>
              <a:rPr lang="en-GB" sz="3600" dirty="0" smtClean="0">
                <a:latin typeface="Times New Roman" panose="02020603050405020304" pitchFamily="18" charset="0"/>
                <a:cs typeface="Times New Roman" panose="02020603050405020304" pitchFamily="18" charset="0"/>
              </a:rPr>
            </a:br>
            <a:r>
              <a:rPr lang="en-GB" sz="3600" dirty="0" smtClean="0">
                <a:latin typeface="Times New Roman" panose="02020603050405020304" pitchFamily="18" charset="0"/>
                <a:cs typeface="Times New Roman" panose="02020603050405020304" pitchFamily="18" charset="0"/>
              </a:rPr>
              <a:t>Examples: C, Pascal, FORTRAN</a:t>
            </a:r>
          </a:p>
          <a:p>
            <a:pPr marL="457200" lvl="1" indent="0">
              <a:buNone/>
            </a:pPr>
            <a:endParaRPr lang="en-GB" sz="3600" dirty="0" smtClean="0">
              <a:latin typeface="Times New Roman" panose="02020603050405020304" pitchFamily="18" charset="0"/>
              <a:cs typeface="Times New Roman" panose="02020603050405020304" pitchFamily="18" charset="0"/>
            </a:endParaRPr>
          </a:p>
          <a:p>
            <a:pPr marL="457200" lvl="1" indent="0">
              <a:buNone/>
            </a:pPr>
            <a:r>
              <a:rPr lang="en-GB" sz="3600" b="1" dirty="0" smtClean="0">
                <a:latin typeface="Times New Roman" panose="02020603050405020304" pitchFamily="18" charset="0"/>
                <a:cs typeface="Times New Roman" panose="02020603050405020304" pitchFamily="18" charset="0"/>
              </a:rPr>
              <a:t>b) Object Oriented Language (4GL)</a:t>
            </a:r>
          </a:p>
          <a:p>
            <a:pPr marL="457200" lvl="1" indent="0">
              <a:buNone/>
            </a:pPr>
            <a:r>
              <a:rPr lang="en-GB" sz="3600" dirty="0" smtClean="0">
                <a:latin typeface="Times New Roman" panose="02020603050405020304" pitchFamily="18" charset="0"/>
                <a:cs typeface="Times New Roman" panose="02020603050405020304" pitchFamily="18" charset="0"/>
              </a:rPr>
              <a:t>Object-oriented languages organize programs around objects, which combine data and </a:t>
            </a:r>
            <a:r>
              <a:rPr lang="en-GB" sz="3600" dirty="0" err="1" smtClean="0">
                <a:latin typeface="Times New Roman" panose="02020603050405020304" pitchFamily="18" charset="0"/>
                <a:cs typeface="Times New Roman" panose="02020603050405020304" pitchFamily="18" charset="0"/>
              </a:rPr>
              <a:t>behavior</a:t>
            </a:r>
            <a:r>
              <a:rPr lang="en-GB" sz="3600" dirty="0" smtClean="0">
                <a:latin typeface="Times New Roman" panose="02020603050405020304" pitchFamily="18" charset="0"/>
                <a:cs typeface="Times New Roman" panose="02020603050405020304" pitchFamily="18" charset="0"/>
              </a:rPr>
              <a:t>. They support concepts such as encapsulation, inheritance, and polymorphism, making programs easier to manage and reuse.</a:t>
            </a:r>
            <a:br>
              <a:rPr lang="en-GB" sz="3600" dirty="0" smtClean="0">
                <a:latin typeface="Times New Roman" panose="02020603050405020304" pitchFamily="18" charset="0"/>
                <a:cs typeface="Times New Roman" panose="02020603050405020304" pitchFamily="18" charset="0"/>
              </a:rPr>
            </a:br>
            <a:r>
              <a:rPr lang="en-GB" sz="3600" dirty="0" smtClean="0">
                <a:latin typeface="Times New Roman" panose="02020603050405020304" pitchFamily="18" charset="0"/>
                <a:cs typeface="Times New Roman" panose="02020603050405020304" pitchFamily="18" charset="0"/>
              </a:rPr>
              <a:t>Examples: C++, Java, Python</a:t>
            </a:r>
          </a:p>
          <a:p>
            <a:pPr marL="457200" lvl="1" indent="0">
              <a:buNone/>
            </a:pPr>
            <a:endParaRPr lang="en-GB" sz="3600" dirty="0" smtClean="0">
              <a:latin typeface="Times New Roman" panose="02020603050405020304" pitchFamily="18" charset="0"/>
              <a:cs typeface="Times New Roman" panose="02020603050405020304" pitchFamily="18" charset="0"/>
            </a:endParaRPr>
          </a:p>
          <a:p>
            <a:pPr marL="457200" lvl="1" indent="0">
              <a:buNone/>
            </a:pPr>
            <a:r>
              <a:rPr lang="en-GB" sz="3600" b="1" dirty="0" smtClean="0">
                <a:latin typeface="Times New Roman" panose="02020603050405020304" pitchFamily="18" charset="0"/>
                <a:cs typeface="Times New Roman" panose="02020603050405020304" pitchFamily="18" charset="0"/>
              </a:rPr>
              <a:t>c) Natural Language (5GL)</a:t>
            </a:r>
          </a:p>
          <a:p>
            <a:pPr marL="457200" lvl="1" indent="0">
              <a:buNone/>
            </a:pPr>
            <a:r>
              <a:rPr lang="en-GB" sz="3600" dirty="0" smtClean="0">
                <a:latin typeface="Times New Roman" panose="02020603050405020304" pitchFamily="18" charset="0"/>
                <a:cs typeface="Times New Roman" panose="02020603050405020304" pitchFamily="18" charset="0"/>
              </a:rPr>
              <a:t>Natural languages allow programmers to give instructions in a form that is close to human language. They are mainly used in artificial intelligence and problem-solving systems, where the programmer specifies </a:t>
            </a:r>
            <a:r>
              <a:rPr lang="en-GB" sz="3600" i="1" dirty="0" smtClean="0">
                <a:latin typeface="Times New Roman" panose="02020603050405020304" pitchFamily="18" charset="0"/>
                <a:cs typeface="Times New Roman" panose="02020603050405020304" pitchFamily="18" charset="0"/>
              </a:rPr>
              <a:t>what</a:t>
            </a:r>
            <a:r>
              <a:rPr lang="en-GB" sz="3600" dirty="0" smtClean="0">
                <a:latin typeface="Times New Roman" panose="02020603050405020304" pitchFamily="18" charset="0"/>
                <a:cs typeface="Times New Roman" panose="02020603050405020304" pitchFamily="18" charset="0"/>
              </a:rPr>
              <a:t> needs to be done rather than </a:t>
            </a:r>
            <a:r>
              <a:rPr lang="en-GB" sz="3600" i="1" dirty="0" smtClean="0">
                <a:latin typeface="Times New Roman" panose="02020603050405020304" pitchFamily="18" charset="0"/>
                <a:cs typeface="Times New Roman" panose="02020603050405020304" pitchFamily="18" charset="0"/>
              </a:rPr>
              <a:t>how</a:t>
            </a:r>
            <a:r>
              <a:rPr lang="en-GB" sz="3600" dirty="0" smtClean="0">
                <a:latin typeface="Times New Roman" panose="02020603050405020304" pitchFamily="18" charset="0"/>
                <a:cs typeface="Times New Roman" panose="02020603050405020304" pitchFamily="18" charset="0"/>
              </a:rPr>
              <a:t> to do it.</a:t>
            </a:r>
            <a:br>
              <a:rPr lang="en-GB" sz="3600" dirty="0" smtClean="0">
                <a:latin typeface="Times New Roman" panose="02020603050405020304" pitchFamily="18" charset="0"/>
                <a:cs typeface="Times New Roman" panose="02020603050405020304" pitchFamily="18" charset="0"/>
              </a:rPr>
            </a:br>
            <a:r>
              <a:rPr lang="en-GB" sz="3600" dirty="0" smtClean="0">
                <a:latin typeface="Times New Roman" panose="02020603050405020304" pitchFamily="18" charset="0"/>
                <a:cs typeface="Times New Roman" panose="02020603050405020304" pitchFamily="18" charset="0"/>
              </a:rPr>
              <a:t>Examples: </a:t>
            </a:r>
            <a:r>
              <a:rPr lang="en-GB" sz="3600" dirty="0" err="1" smtClean="0">
                <a:latin typeface="Times New Roman" panose="02020603050405020304" pitchFamily="18" charset="0"/>
                <a:cs typeface="Times New Roman" panose="02020603050405020304" pitchFamily="18" charset="0"/>
              </a:rPr>
              <a:t>Prolog</a:t>
            </a:r>
            <a:r>
              <a:rPr lang="en-GB" sz="3600" dirty="0" smtClean="0">
                <a:latin typeface="Times New Roman" panose="02020603050405020304" pitchFamily="18" charset="0"/>
                <a:cs typeface="Times New Roman" panose="02020603050405020304" pitchFamily="18" charset="0"/>
              </a:rPr>
              <a:t>, AI-based languages</a:t>
            </a:r>
          </a:p>
          <a:p>
            <a:pPr marL="0" indent="0">
              <a:buNone/>
            </a:pPr>
            <a:endParaRPr lang="en-GB" dirty="0"/>
          </a:p>
        </p:txBody>
      </p:sp>
    </p:spTree>
    <p:extLst>
      <p:ext uri="{BB962C8B-B14F-4D97-AF65-F5344CB8AC3E}">
        <p14:creationId xmlns:p14="http://schemas.microsoft.com/office/powerpoint/2010/main" val="26267433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US" dirty="0" smtClean="0">
                <a:solidFill>
                  <a:srgbClr val="023182"/>
                </a:solidFill>
                <a:latin typeface="Times New Roman"/>
                <a:cs typeface="Times New Roman"/>
                <a:sym typeface="Times New Roman"/>
              </a:rPr>
              <a:t>Programming Paradigms</a:t>
            </a:r>
            <a:endParaRPr lang="en-GB" dirty="0"/>
          </a:p>
        </p:txBody>
      </p:sp>
      <p:sp>
        <p:nvSpPr>
          <p:cNvPr id="3" name="Content Placeholder 2"/>
          <p:cNvSpPr>
            <a:spLocks noGrp="1"/>
          </p:cNvSpPr>
          <p:nvPr>
            <p:ph idx="1"/>
          </p:nvPr>
        </p:nvSpPr>
        <p:spPr>
          <a:xfrm>
            <a:off x="838200" y="1463040"/>
            <a:ext cx="10515600" cy="4713923"/>
          </a:xfrm>
        </p:spPr>
        <p:txBody>
          <a:bodyPr/>
          <a:lstStyle/>
          <a:p>
            <a:r>
              <a:rPr lang="en-GB" dirty="0" smtClean="0">
                <a:latin typeface="Times New Roman" panose="02020603050405020304" pitchFamily="18" charset="0"/>
                <a:cs typeface="Times New Roman" panose="02020603050405020304" pitchFamily="18" charset="0"/>
              </a:rPr>
              <a:t>Programming paradigm is an approach to solve problems using some programming language. </a:t>
            </a:r>
          </a:p>
          <a:p>
            <a:r>
              <a:rPr lang="en-GB" dirty="0">
                <a:latin typeface="Times New Roman" panose="02020603050405020304" pitchFamily="18" charset="0"/>
                <a:cs typeface="Times New Roman" panose="02020603050405020304" pitchFamily="18" charset="0"/>
              </a:rPr>
              <a:t>I</a:t>
            </a:r>
            <a:r>
              <a:rPr lang="en-GB" dirty="0" smtClean="0">
                <a:latin typeface="Times New Roman" panose="02020603050405020304" pitchFamily="18" charset="0"/>
                <a:cs typeface="Times New Roman" panose="02020603050405020304" pitchFamily="18" charset="0"/>
              </a:rPr>
              <a:t>t is a method to solve a problem using tools and techniques that are available to us following some approach. </a:t>
            </a:r>
          </a:p>
          <a:p>
            <a:r>
              <a:rPr lang="en-GB" dirty="0" smtClean="0">
                <a:latin typeface="Times New Roman" panose="02020603050405020304" pitchFamily="18" charset="0"/>
                <a:cs typeface="Times New Roman" panose="02020603050405020304" pitchFamily="18" charset="0"/>
              </a:rPr>
              <a:t>There are lots of programming languages that are known but all of them need to follow some strategy when they are implemented and this methodology/strategy is paradigms.</a:t>
            </a:r>
          </a:p>
          <a:p>
            <a:r>
              <a:rPr lang="en-GB" dirty="0" smtClean="0">
                <a:latin typeface="Times New Roman" panose="02020603050405020304" pitchFamily="18" charset="0"/>
                <a:cs typeface="Times New Roman" panose="02020603050405020304" pitchFamily="18" charset="0"/>
              </a:rPr>
              <a:t>Apart from varieties of programming languages, there are lots of paradigms to fulfil each and every demand.</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69028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US" dirty="0" smtClean="0">
                <a:solidFill>
                  <a:srgbClr val="023182"/>
                </a:solidFill>
                <a:latin typeface="Times New Roman"/>
                <a:cs typeface="Times New Roman"/>
                <a:sym typeface="Times New Roman"/>
              </a:rPr>
              <a:t>Programming Paradigms</a:t>
            </a:r>
            <a:endParaRPr lang="en-GB" dirty="0"/>
          </a:p>
        </p:txBody>
      </p:sp>
      <p:sp>
        <p:nvSpPr>
          <p:cNvPr id="3" name="Content Placeholder 2"/>
          <p:cNvSpPr>
            <a:spLocks noGrp="1"/>
          </p:cNvSpPr>
          <p:nvPr>
            <p:ph idx="1"/>
          </p:nvPr>
        </p:nvSpPr>
        <p:spPr>
          <a:xfrm>
            <a:off x="838200" y="1239520"/>
            <a:ext cx="10515600" cy="5455920"/>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There are many different programming paradigms. Some of them are:</a:t>
            </a:r>
          </a:p>
          <a:p>
            <a:r>
              <a:rPr lang="en-GB" b="1" dirty="0">
                <a:latin typeface="Times New Roman" panose="02020603050405020304" pitchFamily="18" charset="0"/>
                <a:cs typeface="Times New Roman" panose="02020603050405020304" pitchFamily="18" charset="0"/>
              </a:rPr>
              <a:t>Imperative </a:t>
            </a:r>
            <a:r>
              <a:rPr lang="en-GB" b="1" dirty="0" smtClean="0">
                <a:latin typeface="Times New Roman" panose="02020603050405020304" pitchFamily="18" charset="0"/>
                <a:cs typeface="Times New Roman" panose="02020603050405020304" pitchFamily="18" charset="0"/>
              </a:rPr>
              <a:t>programming: </a:t>
            </a:r>
            <a:r>
              <a:rPr lang="en-GB" dirty="0" smtClean="0">
                <a:latin typeface="Times New Roman" panose="02020603050405020304" pitchFamily="18" charset="0"/>
                <a:cs typeface="Times New Roman" panose="02020603050405020304" pitchFamily="18" charset="0"/>
              </a:rPr>
              <a:t>approach would be to write every single step to do the task.</a:t>
            </a:r>
            <a:endParaRPr lang="en-GB"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Functional </a:t>
            </a:r>
            <a:r>
              <a:rPr lang="en-GB" b="1" dirty="0" smtClean="0">
                <a:latin typeface="Times New Roman" panose="02020603050405020304" pitchFamily="18" charset="0"/>
                <a:cs typeface="Times New Roman" panose="02020603050405020304" pitchFamily="18" charset="0"/>
              </a:rPr>
              <a:t>programming: </a:t>
            </a:r>
            <a:r>
              <a:rPr lang="en-GB" dirty="0" smtClean="0">
                <a:latin typeface="Times New Roman" panose="02020603050405020304" pitchFamily="18" charset="0"/>
                <a:cs typeface="Times New Roman" panose="02020603050405020304" pitchFamily="18" charset="0"/>
              </a:rPr>
              <a:t>we don’t specify the steps to do the task. Instead, we specify what we want to do.</a:t>
            </a:r>
            <a:endParaRPr lang="en-GB"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Object-oriented </a:t>
            </a:r>
            <a:r>
              <a:rPr lang="en-GB" b="1" dirty="0" smtClean="0">
                <a:latin typeface="Times New Roman" panose="02020603050405020304" pitchFamily="18" charset="0"/>
                <a:cs typeface="Times New Roman" panose="02020603050405020304" pitchFamily="18" charset="0"/>
              </a:rPr>
              <a:t>programming: </a:t>
            </a:r>
            <a:r>
              <a:rPr lang="en-GB" dirty="0" smtClean="0">
                <a:latin typeface="Times New Roman" panose="02020603050405020304" pitchFamily="18" charset="0"/>
                <a:cs typeface="Times New Roman" panose="02020603050405020304" pitchFamily="18" charset="0"/>
              </a:rPr>
              <a:t>we create objects and we use those objects to do the task.</a:t>
            </a:r>
            <a:endParaRPr lang="en-GB"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Logic </a:t>
            </a:r>
            <a:r>
              <a:rPr lang="en-GB" b="1" dirty="0" smtClean="0">
                <a:latin typeface="Times New Roman" panose="02020603050405020304" pitchFamily="18" charset="0"/>
                <a:cs typeface="Times New Roman" panose="02020603050405020304" pitchFamily="18" charset="0"/>
              </a:rPr>
              <a:t>programming: </a:t>
            </a:r>
            <a:r>
              <a:rPr lang="en-GB" dirty="0" smtClean="0">
                <a:latin typeface="Times New Roman" panose="02020603050405020304" pitchFamily="18" charset="0"/>
                <a:cs typeface="Times New Roman" panose="02020603050405020304" pitchFamily="18" charset="0"/>
              </a:rPr>
              <a:t>we specify the rules and facts. Then we ask the computer to find the solution.</a:t>
            </a:r>
            <a:endParaRPr lang="en-GB"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Declarative </a:t>
            </a:r>
            <a:r>
              <a:rPr lang="en-GB" b="1" dirty="0" smtClean="0">
                <a:latin typeface="Times New Roman" panose="02020603050405020304" pitchFamily="18" charset="0"/>
                <a:cs typeface="Times New Roman" panose="02020603050405020304" pitchFamily="18" charset="0"/>
              </a:rPr>
              <a:t>programming: </a:t>
            </a:r>
            <a:r>
              <a:rPr lang="en-GB" dirty="0" smtClean="0">
                <a:latin typeface="Times New Roman" panose="02020603050405020304" pitchFamily="18" charset="0"/>
                <a:cs typeface="Times New Roman" panose="02020603050405020304" pitchFamily="18" charset="0"/>
              </a:rPr>
              <a:t>a programming style that focuses on what the program should do rather than how it should do it, emphasizing clarity and simplicity.</a:t>
            </a:r>
            <a:endParaRPr lang="en-GB" dirty="0"/>
          </a:p>
        </p:txBody>
      </p:sp>
    </p:spTree>
    <p:extLst>
      <p:ext uri="{BB962C8B-B14F-4D97-AF65-F5344CB8AC3E}">
        <p14:creationId xmlns:p14="http://schemas.microsoft.com/office/powerpoint/2010/main" val="7810182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1195"/>
          </a:xfrm>
        </p:spPr>
        <p:txBody>
          <a:bodyPr>
            <a:normAutofit fontScale="90000"/>
          </a:bodyPr>
          <a:lstStyle/>
          <a:p>
            <a:r>
              <a:rPr lang="en-US" dirty="0" smtClean="0">
                <a:solidFill>
                  <a:srgbClr val="023182"/>
                </a:solidFill>
                <a:latin typeface="Times New Roman"/>
                <a:cs typeface="Times New Roman"/>
                <a:sym typeface="Times New Roman"/>
              </a:rPr>
              <a:t>Introduction to C</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C is a programming language developed at </a:t>
            </a:r>
            <a:r>
              <a:rPr lang="en-GB" dirty="0" err="1" smtClean="0">
                <a:latin typeface="Times New Roman" panose="02020603050405020304" pitchFamily="18" charset="0"/>
                <a:cs typeface="Times New Roman" panose="02020603050405020304" pitchFamily="18" charset="0"/>
              </a:rPr>
              <a:t>AT</a:t>
            </a:r>
            <a:r>
              <a:rPr lang="en-GB" dirty="0" smtClean="0">
                <a:latin typeface="Times New Roman" panose="02020603050405020304" pitchFamily="18" charset="0"/>
                <a:cs typeface="Times New Roman" panose="02020603050405020304" pitchFamily="18" charset="0"/>
              </a:rPr>
              <a:t> &amp; T’s Bell Laboratories of USA in 1972. It was designed and written by a man named Dennis Ritchie. In the late seventies C began to replace the more familiar languages of that time like PL/I, ALGOL, etc.</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3446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Introduction to C</a:t>
            </a:r>
            <a:endParaRPr lang="en-GB" dirty="0"/>
          </a:p>
        </p:txBody>
      </p:sp>
      <p:sp>
        <p:nvSpPr>
          <p:cNvPr id="3" name="Content Placeholder 2"/>
          <p:cNvSpPr>
            <a:spLocks noGrp="1"/>
          </p:cNvSpPr>
          <p:nvPr>
            <p:ph idx="1"/>
          </p:nvPr>
        </p:nvSpPr>
        <p:spPr/>
        <p:txBody>
          <a:bodyPr/>
          <a:lstStyle/>
          <a:p>
            <a:r>
              <a:rPr lang="en-GB" sz="2400" dirty="0" smtClean="0">
                <a:latin typeface="Times New Roman" panose="02020603050405020304" pitchFamily="18" charset="0"/>
                <a:cs typeface="Times New Roman" panose="02020603050405020304" pitchFamily="18" charset="0"/>
              </a:rPr>
              <a:t>The C Language is a general purpose, high level and structured oriented programming language.</a:t>
            </a:r>
          </a:p>
          <a:p>
            <a:pPr marL="0" indent="0">
              <a:buNone/>
            </a:pPr>
            <a:endParaRPr lang="en-GB" sz="2400" dirty="0" smtClean="0">
              <a:latin typeface="Times New Roman" panose="02020603050405020304" pitchFamily="18" charset="0"/>
              <a:cs typeface="Times New Roman" panose="02020603050405020304" pitchFamily="18" charset="0"/>
            </a:endParaRPr>
          </a:p>
          <a:p>
            <a:r>
              <a:rPr lang="en-GB" sz="2400" dirty="0" smtClean="0">
                <a:latin typeface="Times New Roman" panose="02020603050405020304" pitchFamily="18" charset="0"/>
                <a:cs typeface="Times New Roman" panose="02020603050405020304" pitchFamily="18" charset="0"/>
              </a:rPr>
              <a:t> C programming features, where derived from an earlier language called ‘B’ (BCPL- Basic Combined Programming Language). </a:t>
            </a:r>
          </a:p>
          <a:p>
            <a:pPr marL="0" indent="0">
              <a:buNone/>
            </a:pPr>
            <a:endParaRPr lang="en-GB" sz="2400" dirty="0" smtClean="0">
              <a:latin typeface="Times New Roman" panose="02020603050405020304" pitchFamily="18" charset="0"/>
              <a:cs typeface="Times New Roman" panose="02020603050405020304" pitchFamily="18" charset="0"/>
            </a:endParaRPr>
          </a:p>
          <a:p>
            <a:r>
              <a:rPr lang="en-GB" sz="2400" dirty="0" smtClean="0">
                <a:latin typeface="Times New Roman" panose="02020603050405020304" pitchFamily="18" charset="0"/>
                <a:cs typeface="Times New Roman" panose="02020603050405020304" pitchFamily="18" charset="0"/>
              </a:rPr>
              <a:t>C language was invented for implementing UNIX operating system. </a:t>
            </a:r>
          </a:p>
          <a:p>
            <a:pPr marL="0" indent="0">
              <a:buNone/>
            </a:pPr>
            <a:endParaRPr lang="en-GB" sz="2400" dirty="0" smtClean="0">
              <a:latin typeface="Times New Roman" panose="02020603050405020304" pitchFamily="18" charset="0"/>
              <a:cs typeface="Times New Roman" panose="02020603050405020304" pitchFamily="18" charset="0"/>
            </a:endParaRPr>
          </a:p>
          <a:p>
            <a:r>
              <a:rPr lang="en-GB" sz="2400" dirty="0" smtClean="0">
                <a:latin typeface="Times New Roman" panose="02020603050405020304" pitchFamily="18" charset="0"/>
                <a:cs typeface="Times New Roman" panose="02020603050405020304" pitchFamily="18" charset="0"/>
              </a:rPr>
              <a:t>In 1978, Dennis Ritchie and Brian Kernighan published the first edition “ The C Programming Language” and commonly known as “K &amp; R C” .</a:t>
            </a:r>
          </a:p>
          <a:p>
            <a:pPr marL="0" indent="0">
              <a:buNone/>
            </a:pPr>
            <a:endParaRPr lang="en-GB" dirty="0"/>
          </a:p>
        </p:txBody>
      </p:sp>
    </p:spTree>
    <p:extLst>
      <p:ext uri="{BB962C8B-B14F-4D97-AF65-F5344CB8AC3E}">
        <p14:creationId xmlns:p14="http://schemas.microsoft.com/office/powerpoint/2010/main" val="24148474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2315"/>
          </a:xfrm>
        </p:spPr>
        <p:txBody>
          <a:bodyPr>
            <a:normAutofit/>
          </a:bodyPr>
          <a:lstStyle/>
          <a:p>
            <a:r>
              <a:rPr lang="en-US" dirty="0" smtClean="0">
                <a:solidFill>
                  <a:srgbClr val="023182"/>
                </a:solidFill>
                <a:latin typeface="Times New Roman"/>
                <a:cs typeface="Times New Roman"/>
                <a:sym typeface="Times New Roman"/>
              </a:rPr>
              <a:t>Features of C</a:t>
            </a:r>
            <a:endParaRPr lang="en-GB" b="1" dirty="0" smtClean="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Portability: </a:t>
            </a:r>
            <a:r>
              <a:rPr lang="en-GB" dirty="0" smtClean="0">
                <a:latin typeface="Times New Roman" panose="02020603050405020304" pitchFamily="18" charset="0"/>
                <a:cs typeface="Times New Roman" panose="02020603050405020304" pitchFamily="18" charset="0"/>
              </a:rPr>
              <a:t>Programs written in C language can be run on any compiler with little or no modifications of a program. </a:t>
            </a:r>
          </a:p>
          <a:p>
            <a:pPr marL="0" indent="0">
              <a:buNone/>
            </a:pP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Flexibility: </a:t>
            </a:r>
            <a:r>
              <a:rPr lang="en-GB" dirty="0" smtClean="0">
                <a:latin typeface="Times New Roman" panose="02020603050405020304" pitchFamily="18" charset="0"/>
                <a:cs typeface="Times New Roman" panose="02020603050405020304" pitchFamily="18" charset="0"/>
              </a:rPr>
              <a:t>C language has number of reserved keywords, which helps the programmers to take control over the usage of language and to modify the structure of program. </a:t>
            </a:r>
          </a:p>
          <a:p>
            <a:pPr marL="0" indent="0">
              <a:buNone/>
            </a:pP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Modularity: </a:t>
            </a:r>
            <a:r>
              <a:rPr lang="en-GB" dirty="0" smtClean="0">
                <a:latin typeface="Times New Roman" panose="02020603050405020304" pitchFamily="18" charset="0"/>
                <a:cs typeface="Times New Roman" panose="02020603050405020304" pitchFamily="18" charset="0"/>
              </a:rPr>
              <a:t>C language provides feature of modularity, i.e. we can breakdown a large program into manageable modules. This feature provides easy to understand and debugging of the program will become faster.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03350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lstStyle/>
          <a:p>
            <a:r>
              <a:rPr lang="en-US" dirty="0" smtClean="0">
                <a:solidFill>
                  <a:srgbClr val="023182"/>
                </a:solidFill>
                <a:latin typeface="Times New Roman"/>
                <a:cs typeface="Times New Roman"/>
                <a:sym typeface="Times New Roman"/>
              </a:rPr>
              <a:t>Features of C</a:t>
            </a:r>
            <a:endParaRPr lang="en-GB"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Robustness: </a:t>
            </a:r>
            <a:r>
              <a:rPr lang="en-GB" dirty="0" smtClean="0">
                <a:latin typeface="Times New Roman" panose="02020603050405020304" pitchFamily="18" charset="0"/>
                <a:cs typeface="Times New Roman" panose="02020603050405020304" pitchFamily="18" charset="0"/>
              </a:rPr>
              <a:t>C language is a robust language, with rich set of built-in functions and operators that can be used to write any complex programs. </a:t>
            </a:r>
          </a:p>
          <a:p>
            <a:pPr marL="0" indent="0">
              <a:buNone/>
            </a:pP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Extensibility: </a:t>
            </a:r>
            <a:r>
              <a:rPr lang="en-GB" dirty="0" smtClean="0">
                <a:latin typeface="Times New Roman" panose="02020603050405020304" pitchFamily="18" charset="0"/>
                <a:cs typeface="Times New Roman" panose="02020603050405020304" pitchFamily="18" charset="0"/>
              </a:rPr>
              <a:t>In C language program, the new features can be added at any time by the programmer to the existing program. </a:t>
            </a:r>
          </a:p>
          <a:p>
            <a:pPr marL="0" indent="0">
              <a:buNone/>
            </a:pP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Efficiency and effectiveness: </a:t>
            </a:r>
            <a:r>
              <a:rPr lang="en-GB" dirty="0" smtClean="0">
                <a:latin typeface="Times New Roman" panose="02020603050405020304" pitchFamily="18" charset="0"/>
                <a:cs typeface="Times New Roman" panose="02020603050405020304" pitchFamily="18" charset="0"/>
              </a:rPr>
              <a:t>Programs written in C language are fast and efficient, due to the variety of data types and powerful operators.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39082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1148080" y="609600"/>
            <a:ext cx="9550400" cy="5496560"/>
          </a:xfrm>
          <a:prstGeom prst="rect">
            <a:avLst/>
          </a:prstGeom>
        </p:spPr>
      </p:pic>
    </p:spTree>
    <p:extLst>
      <p:ext uri="{BB962C8B-B14F-4D97-AF65-F5344CB8AC3E}">
        <p14:creationId xmlns:p14="http://schemas.microsoft.com/office/powerpoint/2010/main" val="35765751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lstStyle/>
          <a:p>
            <a:r>
              <a:rPr lang="en-US" dirty="0" smtClean="0">
                <a:solidFill>
                  <a:srgbClr val="023182"/>
                </a:solidFill>
                <a:latin typeface="Times New Roman"/>
                <a:cs typeface="Times New Roman"/>
                <a:sym typeface="Times New Roman"/>
              </a:rPr>
              <a:t>Applications of C Language</a:t>
            </a:r>
            <a:endParaRPr lang="en-GB"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Operating Systems: </a:t>
            </a:r>
            <a:r>
              <a:rPr lang="en-GB" dirty="0" smtClean="0">
                <a:latin typeface="Times New Roman" panose="02020603050405020304" pitchFamily="18" charset="0"/>
                <a:cs typeface="Times New Roman" panose="02020603050405020304" pitchFamily="18" charset="0"/>
              </a:rPr>
              <a:t>C is used to develop operating systems because it provides direct control over hardware and efficient memory management.</a:t>
            </a: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Embedded Systems: </a:t>
            </a:r>
            <a:r>
              <a:rPr lang="en-GB" dirty="0" smtClean="0">
                <a:latin typeface="Times New Roman" panose="02020603050405020304" pitchFamily="18" charset="0"/>
                <a:cs typeface="Times New Roman" panose="02020603050405020304" pitchFamily="18" charset="0"/>
              </a:rPr>
              <a:t>C is widely used in embedded systems to program microcontrollers and hardware devices with limited memory and resources.</a:t>
            </a: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Real-Time Systems: </a:t>
            </a:r>
            <a:r>
              <a:rPr lang="en-GB" dirty="0" smtClean="0">
                <a:latin typeface="Times New Roman" panose="02020603050405020304" pitchFamily="18" charset="0"/>
                <a:cs typeface="Times New Roman" panose="02020603050405020304" pitchFamily="18" charset="0"/>
              </a:rPr>
              <a:t>C is suitable for real-time systems because it is fast and predictable, ensuring tasks are completed within fixed time limits.</a:t>
            </a: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Networking: </a:t>
            </a:r>
            <a:r>
              <a:rPr lang="en-GB" dirty="0" smtClean="0">
                <a:latin typeface="Times New Roman" panose="02020603050405020304" pitchFamily="18" charset="0"/>
                <a:cs typeface="Times New Roman" panose="02020603050405020304" pitchFamily="18" charset="0"/>
              </a:rPr>
              <a:t>C is used in networking to develop communication software, protocols, and network drivers.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83048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2795"/>
          </a:xfrm>
        </p:spPr>
        <p:txBody>
          <a:bodyPr/>
          <a:lstStyle/>
          <a:p>
            <a:r>
              <a:rPr lang="en-US" dirty="0" smtClean="0">
                <a:solidFill>
                  <a:srgbClr val="023182"/>
                </a:solidFill>
                <a:latin typeface="Times New Roman"/>
                <a:cs typeface="Times New Roman"/>
                <a:sym typeface="Times New Roman"/>
              </a:rPr>
              <a:t>Applications of C Language</a:t>
            </a:r>
            <a:endParaRPr lang="en-GB"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Database Management Systems (DBMS): </a:t>
            </a:r>
            <a:r>
              <a:rPr lang="en-GB" dirty="0" smtClean="0">
                <a:latin typeface="Times New Roman" panose="02020603050405020304" pitchFamily="18" charset="0"/>
                <a:cs typeface="Times New Roman" panose="02020603050405020304" pitchFamily="18" charset="0"/>
              </a:rPr>
              <a:t>C is used in DBMS development for high performance and efficient data processing.</a:t>
            </a:r>
          </a:p>
          <a:p>
            <a:pPr>
              <a:buFont typeface="Wingdings" panose="05000000000000000000" pitchFamily="2" charset="2"/>
              <a:buChar char="v"/>
            </a:pPr>
            <a:endParaRPr lang="en-GB"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Gaming Engines: </a:t>
            </a:r>
            <a:r>
              <a:rPr lang="en-GB" dirty="0" smtClean="0">
                <a:latin typeface="Times New Roman" panose="02020603050405020304" pitchFamily="18" charset="0"/>
                <a:cs typeface="Times New Roman" panose="02020603050405020304" pitchFamily="18" charset="0"/>
              </a:rPr>
              <a:t>C is used in game engines to build performance-critical components such as graphics and physics engines.</a:t>
            </a:r>
          </a:p>
          <a:p>
            <a:pPr marL="0" indent="0">
              <a:buNone/>
            </a:pP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b="1" dirty="0" smtClean="0">
                <a:latin typeface="Times New Roman" panose="02020603050405020304" pitchFamily="18" charset="0"/>
                <a:cs typeface="Times New Roman" panose="02020603050405020304" pitchFamily="18" charset="0"/>
              </a:rPr>
              <a:t>Medical Devices: </a:t>
            </a:r>
            <a:r>
              <a:rPr lang="en-GB" dirty="0" smtClean="0">
                <a:latin typeface="Times New Roman" panose="02020603050405020304" pitchFamily="18" charset="0"/>
                <a:cs typeface="Times New Roman" panose="02020603050405020304" pitchFamily="18" charset="0"/>
              </a:rPr>
              <a:t>C is used in medical devices where reliability, accuracy, and hardware control are essential.</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14733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r>
              <a:rPr lang="en-US" dirty="0" smtClean="0">
                <a:solidFill>
                  <a:srgbClr val="023182"/>
                </a:solidFill>
                <a:latin typeface="Times New Roman"/>
                <a:cs typeface="Times New Roman"/>
                <a:sym typeface="Times New Roman"/>
              </a:rPr>
              <a:t>Compilers</a:t>
            </a:r>
            <a:endParaRPr lang="en-GB" dirty="0"/>
          </a:p>
        </p:txBody>
      </p:sp>
      <p:sp>
        <p:nvSpPr>
          <p:cNvPr id="3" name="Content Placeholder 2"/>
          <p:cNvSpPr>
            <a:spLocks noGrp="1"/>
          </p:cNvSpPr>
          <p:nvPr>
            <p:ph idx="1"/>
          </p:nvPr>
        </p:nvSpPr>
        <p:spPr/>
        <p:txBody>
          <a:bodyPr>
            <a:normAutofit/>
          </a:bodyPr>
          <a:lstStyle/>
          <a:p>
            <a:pPr marL="0" indent="0">
              <a:buNone/>
            </a:pPr>
            <a:r>
              <a:rPr lang="en-GB" b="1" dirty="0" smtClean="0">
                <a:latin typeface="Times New Roman" panose="02020603050405020304" pitchFamily="18" charset="0"/>
                <a:cs typeface="Times New Roman" panose="02020603050405020304" pitchFamily="18" charset="0"/>
              </a:rPr>
              <a:t>Why do we need a Translator?</a:t>
            </a:r>
          </a:p>
          <a:p>
            <a:pPr marL="0" indent="0">
              <a:buNone/>
            </a:pPr>
            <a:endParaRPr lang="en-GB"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800" dirty="0" smtClean="0">
                <a:latin typeface="Times New Roman" panose="02020603050405020304" pitchFamily="18" charset="0"/>
                <a:cs typeface="Times New Roman" panose="02020603050405020304" pitchFamily="18" charset="0"/>
              </a:rPr>
              <a:t>A computer program is written using a high-level language.</a:t>
            </a:r>
          </a:p>
          <a:p>
            <a:pPr marL="457200" lvl="1" indent="0">
              <a:buNone/>
            </a:pPr>
            <a:endParaRPr lang="en-GB" sz="28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800" dirty="0" smtClean="0">
                <a:latin typeface="Times New Roman" panose="02020603050405020304" pitchFamily="18" charset="0"/>
                <a:cs typeface="Times New Roman" panose="02020603050405020304" pitchFamily="18" charset="0"/>
              </a:rPr>
              <a:t>Only humans are capable to understand these languages and not machines.</a:t>
            </a:r>
          </a:p>
          <a:p>
            <a:pPr marL="457200" lvl="1" indent="0">
              <a:buNone/>
            </a:pPr>
            <a:endParaRPr lang="en-GB" sz="28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r>
              <a:rPr lang="en-GB" sz="2800" b="1" dirty="0" smtClean="0">
                <a:latin typeface="Times New Roman" panose="02020603050405020304" pitchFamily="18" charset="0"/>
                <a:cs typeface="Times New Roman" panose="02020603050405020304" pitchFamily="18" charset="0"/>
              </a:rPr>
              <a:t>Translator</a:t>
            </a:r>
            <a:r>
              <a:rPr lang="en-GB" sz="2800" dirty="0" smtClean="0">
                <a:latin typeface="Times New Roman" panose="02020603050405020304" pitchFamily="18" charset="0"/>
                <a:cs typeface="Times New Roman" panose="02020603050405020304" pitchFamily="18" charset="0"/>
              </a:rPr>
              <a:t> - converts a high-level language code to the binary language code which machines can understand.</a:t>
            </a:r>
            <a:endParaRPr lang="en-GB"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98283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5195"/>
          </a:xfrm>
        </p:spPr>
        <p:txBody>
          <a:bodyPr/>
          <a:lstStyle/>
          <a:p>
            <a:r>
              <a:rPr lang="en-US" dirty="0" smtClean="0">
                <a:solidFill>
                  <a:srgbClr val="023182"/>
                </a:solidFill>
                <a:latin typeface="Times New Roman"/>
                <a:cs typeface="Times New Roman"/>
                <a:sym typeface="Times New Roman"/>
              </a:rPr>
              <a:t>Compilers</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A compiler is a system software that translates an entire program written in a high-level language into machine-understandable code (binary code) at once. This translation is done before execution, and any errors are reported after the compilation process.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75300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Compilers</a:t>
            </a:r>
            <a:endParaRPr lang="en-GB" dirty="0"/>
          </a:p>
        </p:txBody>
      </p:sp>
      <p:pic>
        <p:nvPicPr>
          <p:cNvPr id="4" name="Content Placeholder 3"/>
          <p:cNvPicPr>
            <a:picLocks noGrp="1" noChangeAspect="1"/>
          </p:cNvPicPr>
          <p:nvPr>
            <p:ph idx="1"/>
          </p:nvPr>
        </p:nvPicPr>
        <p:blipFill>
          <a:blip r:embed="rId2"/>
          <a:stretch>
            <a:fillRect/>
          </a:stretch>
        </p:blipFill>
        <p:spPr>
          <a:xfrm>
            <a:off x="1390242" y="2294266"/>
            <a:ext cx="9411516" cy="3414056"/>
          </a:xfrm>
          <a:prstGeom prst="rect">
            <a:avLst/>
          </a:prstGeom>
        </p:spPr>
      </p:pic>
    </p:spTree>
    <p:extLst>
      <p:ext uri="{BB962C8B-B14F-4D97-AF65-F5344CB8AC3E}">
        <p14:creationId xmlns:p14="http://schemas.microsoft.com/office/powerpoint/2010/main" val="35696402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IDE</a:t>
            </a:r>
            <a:endParaRPr lang="en-GB" dirty="0"/>
          </a:p>
        </p:txBody>
      </p:sp>
      <p:sp>
        <p:nvSpPr>
          <p:cNvPr id="3" name="Content Placeholder 2"/>
          <p:cNvSpPr>
            <a:spLocks noGrp="1"/>
          </p:cNvSpPr>
          <p:nvPr>
            <p:ph idx="1"/>
          </p:nvPr>
        </p:nvSpPr>
        <p:spPr/>
        <p:txBody>
          <a:bodyPr/>
          <a:lstStyle/>
          <a:p>
            <a:pPr marL="0" indent="0">
              <a:buNone/>
            </a:pPr>
            <a:r>
              <a:rPr lang="en-GB" b="1" dirty="0" smtClean="0">
                <a:latin typeface="Times New Roman" panose="02020603050405020304" pitchFamily="18" charset="0"/>
                <a:cs typeface="Times New Roman" panose="02020603050405020304" pitchFamily="18" charset="0"/>
              </a:rPr>
              <a:t>Integrated Development Environment (IDE)</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IDE is a software application that provides tools for writing, compiling, running, and debugging programs in one place, making software development easier and more efficient.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9717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4715"/>
          </a:xfrm>
        </p:spPr>
        <p:txBody>
          <a:bodyPr>
            <a:normAutofit/>
          </a:bodyPr>
          <a:lstStyle/>
          <a:p>
            <a:r>
              <a:rPr lang="en-US" sz="4000" dirty="0" smtClean="0">
                <a:solidFill>
                  <a:srgbClr val="023182"/>
                </a:solidFill>
                <a:latin typeface="Times New Roman"/>
                <a:cs typeface="Times New Roman"/>
                <a:sym typeface="Times New Roman"/>
              </a:rPr>
              <a:t>SOURCE CODE</a:t>
            </a:r>
            <a:endParaRPr lang="en-GB" sz="4000"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Source code is the original set of instructions written by a programmer to create a computer program. It is written in a human-readable programming language and consists of elements such as functions, definitions, methods, and statements that tell the computer what to do.</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smtClean="0">
                <a:latin typeface="Times New Roman" panose="02020603050405020304" pitchFamily="18" charset="0"/>
                <a:cs typeface="Times New Roman" panose="02020603050405020304" pitchFamily="18" charset="0"/>
              </a:rPr>
              <a:t> Source code serves as the foundation of software and is later translated into machine-readable form for execution.</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6017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4235"/>
          </a:xfrm>
        </p:spPr>
        <p:txBody>
          <a:bodyPr/>
          <a:lstStyle/>
          <a:p>
            <a:r>
              <a:rPr lang="en-US" dirty="0" smtClean="0">
                <a:solidFill>
                  <a:srgbClr val="023182"/>
                </a:solidFill>
                <a:latin typeface="Times New Roman"/>
                <a:cs typeface="Times New Roman"/>
                <a:sym typeface="Times New Roman"/>
              </a:rPr>
              <a:t>Running C programs</a:t>
            </a:r>
            <a:endParaRPr lang="en-GB" dirty="0"/>
          </a:p>
        </p:txBody>
      </p:sp>
      <p:sp>
        <p:nvSpPr>
          <p:cNvPr id="3" name="Content Placeholder 2"/>
          <p:cNvSpPr>
            <a:spLocks noGrp="1"/>
          </p:cNvSpPr>
          <p:nvPr>
            <p:ph idx="1"/>
          </p:nvPr>
        </p:nvSpPr>
        <p:spPr/>
        <p:txBody>
          <a:bodyPr>
            <a:normAutofit fontScale="77500" lnSpcReduction="20000"/>
          </a:bodyPr>
          <a:lstStyle/>
          <a:p>
            <a:pPr marL="0" indent="0">
              <a:buNone/>
            </a:pPr>
            <a:r>
              <a:rPr lang="en-GB" b="1" dirty="0" smtClean="0">
                <a:latin typeface="Times New Roman" panose="02020603050405020304" pitchFamily="18" charset="0"/>
                <a:cs typeface="Times New Roman" panose="02020603050405020304" pitchFamily="18" charset="0"/>
              </a:rPr>
              <a:t>Structure of  C Language program </a:t>
            </a:r>
          </a:p>
          <a:p>
            <a:pPr marL="0" indent="0">
              <a:buNone/>
            </a:pPr>
            <a:endParaRPr lang="en-GB" dirty="0" smtClean="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GB" dirty="0" smtClean="0">
                <a:latin typeface="Times New Roman" panose="02020603050405020304" pitchFamily="18" charset="0"/>
                <a:cs typeface="Times New Roman" panose="02020603050405020304" pitchFamily="18" charset="0"/>
              </a:rPr>
              <a:t>Comment line</a:t>
            </a:r>
          </a:p>
          <a:p>
            <a:pPr marL="971550" lvl="1" indent="-514350">
              <a:buFont typeface="+mj-lt"/>
              <a:buAutoNum type="arabicPeriod"/>
            </a:pPr>
            <a:r>
              <a:rPr lang="en-GB" dirty="0" smtClean="0">
                <a:latin typeface="Times New Roman" panose="02020603050405020304" pitchFamily="18" charset="0"/>
                <a:cs typeface="Times New Roman" panose="02020603050405020304" pitchFamily="18" charset="0"/>
              </a:rPr>
              <a:t>Pre-processor directive </a:t>
            </a:r>
          </a:p>
          <a:p>
            <a:pPr marL="971550" lvl="1" indent="-514350">
              <a:buFont typeface="+mj-lt"/>
              <a:buAutoNum type="arabicPeriod"/>
            </a:pPr>
            <a:r>
              <a:rPr lang="en-GB" dirty="0" smtClean="0">
                <a:latin typeface="Times New Roman" panose="02020603050405020304" pitchFamily="18" charset="0"/>
                <a:cs typeface="Times New Roman" panose="02020603050405020304" pitchFamily="18" charset="0"/>
              </a:rPr>
              <a:t>Global variable declaration </a:t>
            </a:r>
          </a:p>
          <a:p>
            <a:pPr marL="971550" lvl="1" indent="-514350">
              <a:buFont typeface="+mj-lt"/>
              <a:buAutoNum type="arabicPeriod"/>
            </a:pPr>
            <a:r>
              <a:rPr lang="en-GB" dirty="0" smtClean="0">
                <a:latin typeface="Times New Roman" panose="02020603050405020304" pitchFamily="18" charset="0"/>
                <a:cs typeface="Times New Roman" panose="02020603050405020304" pitchFamily="18" charset="0"/>
              </a:rPr>
              <a:t>main function( )</a:t>
            </a:r>
          </a:p>
          <a:p>
            <a:pPr marL="0" indent="0">
              <a:buNone/>
            </a:pPr>
            <a:r>
              <a:rPr lang="en-GB" dirty="0" smtClean="0">
                <a:latin typeface="Times New Roman" panose="02020603050405020304" pitchFamily="18" charset="0"/>
                <a:cs typeface="Times New Roman" panose="02020603050405020304" pitchFamily="18" charset="0"/>
              </a:rPr>
              <a:t>                       {                   </a:t>
            </a:r>
          </a:p>
          <a:p>
            <a:pPr marL="0" indent="0">
              <a:buNone/>
            </a:pPr>
            <a:r>
              <a:rPr lang="en-GB" dirty="0">
                <a:latin typeface="Times New Roman" panose="02020603050405020304" pitchFamily="18" charset="0"/>
                <a:cs typeface="Times New Roman" panose="02020603050405020304" pitchFamily="18" charset="0"/>
              </a:rPr>
              <a:t> </a:t>
            </a:r>
            <a:r>
              <a:rPr lang="en-GB" dirty="0" smtClean="0">
                <a:latin typeface="Times New Roman" panose="02020603050405020304" pitchFamily="18" charset="0"/>
                <a:cs typeface="Times New Roman" panose="02020603050405020304" pitchFamily="18" charset="0"/>
              </a:rPr>
              <a:t>                           Local variables;   </a:t>
            </a:r>
          </a:p>
          <a:p>
            <a:pPr marL="0" indent="0">
              <a:buNone/>
            </a:pPr>
            <a:r>
              <a:rPr lang="en-GB" dirty="0" smtClean="0">
                <a:latin typeface="Times New Roman" panose="02020603050405020304" pitchFamily="18" charset="0"/>
                <a:cs typeface="Times New Roman" panose="02020603050405020304" pitchFamily="18" charset="0"/>
              </a:rPr>
              <a:t>                   Statements;   </a:t>
            </a:r>
          </a:p>
          <a:p>
            <a:pPr marL="0" indent="0">
              <a:buNone/>
            </a:pPr>
            <a:r>
              <a:rPr lang="en-GB" dirty="0" smtClean="0">
                <a:latin typeface="Times New Roman" panose="02020603050405020304" pitchFamily="18" charset="0"/>
                <a:cs typeface="Times New Roman" panose="02020603050405020304" pitchFamily="18" charset="0"/>
              </a:rPr>
              <a:t>                 }   </a:t>
            </a:r>
          </a:p>
          <a:p>
            <a:pPr marL="0" indent="0">
              <a:buNone/>
            </a:pPr>
            <a:r>
              <a:rPr lang="en-GB" dirty="0" smtClean="0">
                <a:latin typeface="Times New Roman" panose="02020603050405020304" pitchFamily="18" charset="0"/>
                <a:cs typeface="Times New Roman" panose="02020603050405020304" pitchFamily="18" charset="0"/>
              </a:rPr>
              <a:t>                User defined function  </a:t>
            </a:r>
          </a:p>
          <a:p>
            <a:pPr marL="0" indent="0">
              <a:buNone/>
            </a:pPr>
            <a:r>
              <a:rPr lang="en-GB" dirty="0" smtClean="0">
                <a:latin typeface="Times New Roman" panose="02020603050405020304" pitchFamily="18" charset="0"/>
                <a:cs typeface="Times New Roman" panose="02020603050405020304" pitchFamily="18" charset="0"/>
              </a:rPr>
              <a:t>     } </a:t>
            </a:r>
          </a:p>
          <a:p>
            <a:pPr marL="0" indent="0">
              <a:buNone/>
            </a:pPr>
            <a:r>
              <a:rPr lang="en-GB" dirty="0" smtClean="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49206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2635"/>
          </a:xfrm>
        </p:spPr>
        <p:txBody>
          <a:bodyPr/>
          <a:lstStyle/>
          <a:p>
            <a:r>
              <a:rPr lang="en-US" dirty="0" smtClean="0">
                <a:solidFill>
                  <a:srgbClr val="023182"/>
                </a:solidFill>
                <a:latin typeface="Times New Roman"/>
                <a:cs typeface="Times New Roman"/>
                <a:sym typeface="Times New Roman"/>
              </a:rPr>
              <a:t>Running C programs</a:t>
            </a:r>
            <a:endParaRPr lang="en-GB" dirty="0"/>
          </a:p>
        </p:txBody>
      </p:sp>
      <p:sp>
        <p:nvSpPr>
          <p:cNvPr id="3" name="Content Placeholder 2"/>
          <p:cNvSpPr>
            <a:spLocks noGrp="1"/>
          </p:cNvSpPr>
          <p:nvPr>
            <p:ph idx="1"/>
          </p:nvPr>
        </p:nvSpPr>
        <p:spPr/>
        <p:txBody>
          <a:bodyPr/>
          <a:lstStyle/>
          <a:p>
            <a:pPr marL="0" indent="0">
              <a:buNone/>
            </a:pPr>
            <a:r>
              <a:rPr lang="en-GB" b="1" dirty="0" smtClean="0">
                <a:latin typeface="Times New Roman" panose="02020603050405020304" pitchFamily="18" charset="0"/>
                <a:cs typeface="Times New Roman" panose="02020603050405020304" pitchFamily="18" charset="0"/>
              </a:rPr>
              <a:t>Comment line</a:t>
            </a:r>
          </a:p>
          <a:p>
            <a:pPr marL="0" indent="0">
              <a:buNone/>
            </a:pPr>
            <a:r>
              <a:rPr lang="en-GB" dirty="0" smtClean="0">
                <a:latin typeface="Times New Roman" panose="02020603050405020304" pitchFamily="18" charset="0"/>
                <a:cs typeface="Times New Roman" panose="02020603050405020304" pitchFamily="18" charset="0"/>
              </a:rPr>
              <a:t> It indicates the purpose of the program.</a:t>
            </a:r>
          </a:p>
          <a:p>
            <a:pPr marL="0" indent="0">
              <a:buNone/>
            </a:pPr>
            <a:r>
              <a:rPr lang="en-GB" dirty="0" smtClean="0">
                <a:latin typeface="Times New Roman" panose="02020603050405020304" pitchFamily="18" charset="0"/>
                <a:cs typeface="Times New Roman" panose="02020603050405020304" pitchFamily="18" charset="0"/>
              </a:rPr>
              <a:t> It is represented as /*……………………………..*/ </a:t>
            </a:r>
          </a:p>
          <a:p>
            <a:pPr marL="0" indent="0">
              <a:buNone/>
            </a:pPr>
            <a:r>
              <a:rPr lang="en-GB" dirty="0" smtClean="0">
                <a:latin typeface="Times New Roman" panose="02020603050405020304" pitchFamily="18" charset="0"/>
                <a:cs typeface="Times New Roman" panose="02020603050405020304" pitchFamily="18" charset="0"/>
              </a:rPr>
              <a:t>Comment line is used for increasing the readability of the program. It is useful in explaining the program and generally used for documentation.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49880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23182"/>
                </a:solidFill>
                <a:latin typeface="Times New Roman"/>
                <a:cs typeface="Times New Roman"/>
                <a:sym typeface="Times New Roman"/>
              </a:rPr>
              <a:t>Running C programs</a:t>
            </a:r>
            <a:endParaRPr lang="en-GB" dirty="0"/>
          </a:p>
        </p:txBody>
      </p:sp>
      <p:sp>
        <p:nvSpPr>
          <p:cNvPr id="3" name="Content Placeholder 2"/>
          <p:cNvSpPr>
            <a:spLocks noGrp="1"/>
          </p:cNvSpPr>
          <p:nvPr>
            <p:ph idx="1"/>
          </p:nvPr>
        </p:nvSpPr>
        <p:spPr/>
        <p:txBody>
          <a:bodyPr>
            <a:normAutofit fontScale="92500" lnSpcReduction="10000"/>
          </a:bodyPr>
          <a:lstStyle/>
          <a:p>
            <a:pPr marL="0" indent="0">
              <a:buNone/>
            </a:pPr>
            <a:r>
              <a:rPr lang="en-GB" b="1" dirty="0" smtClean="0">
                <a:latin typeface="Times New Roman" panose="02020603050405020304" pitchFamily="18" charset="0"/>
                <a:cs typeface="Times New Roman" panose="02020603050405020304" pitchFamily="18" charset="0"/>
              </a:rPr>
              <a:t>Pre-processor  Directive:</a:t>
            </a:r>
            <a:endParaRPr lang="en-GB"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#include&lt;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 tells the compiler to include information about the standard input/output library. It is also used in symbolic constant such as #define PI 3.14(value). </a:t>
            </a:r>
          </a:p>
          <a:p>
            <a:pPr marL="0" indent="0">
              <a:buNone/>
            </a:pP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The </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 (standard input output header file)  contains definition &amp;declaration of system defined function such as </a:t>
            </a:r>
            <a:r>
              <a:rPr lang="en-GB" dirty="0" err="1"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 ),  </a:t>
            </a:r>
            <a:r>
              <a:rPr lang="en-GB" dirty="0" err="1" smtClean="0">
                <a:latin typeface="Times New Roman" panose="02020603050405020304" pitchFamily="18" charset="0"/>
                <a:cs typeface="Times New Roman" panose="02020603050405020304" pitchFamily="18" charset="0"/>
              </a:rPr>
              <a:t>scanf</a:t>
            </a:r>
            <a:r>
              <a:rPr lang="en-GB" dirty="0" smtClean="0">
                <a:latin typeface="Times New Roman" panose="02020603050405020304" pitchFamily="18" charset="0"/>
                <a:cs typeface="Times New Roman" panose="02020603050405020304" pitchFamily="18" charset="0"/>
              </a:rPr>
              <a:t>( ),  pow( ) etc. </a:t>
            </a:r>
          </a:p>
          <a:p>
            <a:pPr marL="0" indent="0">
              <a:buNone/>
            </a:pPr>
            <a:endParaRPr lang="en-GB"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GB" dirty="0" smtClean="0">
                <a:latin typeface="Times New Roman" panose="02020603050405020304" pitchFamily="18" charset="0"/>
                <a:cs typeface="Times New Roman" panose="02020603050405020304" pitchFamily="18" charset="0"/>
              </a:rPr>
              <a:t>Generally </a:t>
            </a:r>
            <a:r>
              <a:rPr lang="en-GB" dirty="0" err="1"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 function used to display and </a:t>
            </a:r>
            <a:r>
              <a:rPr lang="en-GB" dirty="0" err="1" smtClean="0">
                <a:latin typeface="Times New Roman" panose="02020603050405020304" pitchFamily="18" charset="0"/>
                <a:cs typeface="Times New Roman" panose="02020603050405020304" pitchFamily="18" charset="0"/>
              </a:rPr>
              <a:t>scanf</a:t>
            </a:r>
            <a:r>
              <a:rPr lang="en-GB" dirty="0" smtClean="0">
                <a:latin typeface="Times New Roman" panose="02020603050405020304" pitchFamily="18" charset="0"/>
                <a:cs typeface="Times New Roman" panose="02020603050405020304" pitchFamily="18" charset="0"/>
              </a:rPr>
              <a:t>()  function used to read value</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1438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2475"/>
          </a:xfrm>
        </p:spPr>
        <p:txBody>
          <a:bodyPr/>
          <a:lstStyle/>
          <a:p>
            <a:r>
              <a:rPr lang="en-US" dirty="0" smtClean="0">
                <a:solidFill>
                  <a:srgbClr val="023182"/>
                </a:solidFill>
                <a:latin typeface="Times New Roman"/>
                <a:cs typeface="Times New Roman"/>
                <a:sym typeface="Times New Roman"/>
              </a:rPr>
              <a:t>Running C programs</a:t>
            </a:r>
            <a:endParaRPr lang="en-GB" dirty="0"/>
          </a:p>
        </p:txBody>
      </p:sp>
      <p:sp>
        <p:nvSpPr>
          <p:cNvPr id="3" name="Content Placeholder 2"/>
          <p:cNvSpPr>
            <a:spLocks noGrp="1"/>
          </p:cNvSpPr>
          <p:nvPr>
            <p:ph idx="1"/>
          </p:nvPr>
        </p:nvSpPr>
        <p:spPr/>
        <p:txBody>
          <a:bodyPr>
            <a:normAutofit fontScale="92500" lnSpcReduction="10000"/>
          </a:bodyPr>
          <a:lstStyle/>
          <a:p>
            <a:pPr marL="0" indent="0">
              <a:buNone/>
            </a:pPr>
            <a:r>
              <a:rPr lang="en-GB" b="1" dirty="0" smtClean="0">
                <a:latin typeface="Times New Roman" panose="02020603050405020304" pitchFamily="18" charset="0"/>
                <a:cs typeface="Times New Roman" panose="02020603050405020304" pitchFamily="18" charset="0"/>
              </a:rPr>
              <a:t>Global Declaration:</a:t>
            </a: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This is the section of a program where variables are declared outside all functions, allowing them to be accessed by all functions in the program.</a:t>
            </a:r>
          </a:p>
          <a:p>
            <a:pPr marL="0" indent="0">
              <a:buNone/>
            </a:pPr>
            <a:endParaRPr lang="en-GB" dirty="0" smtClean="0">
              <a:latin typeface="Times New Roman" panose="02020603050405020304" pitchFamily="18" charset="0"/>
              <a:cs typeface="Times New Roman" panose="02020603050405020304" pitchFamily="18" charset="0"/>
            </a:endParaRPr>
          </a:p>
          <a:p>
            <a:pPr marL="0" indent="0">
              <a:buNone/>
            </a:pPr>
            <a:r>
              <a:rPr lang="en-GB" b="1" dirty="0" smtClean="0">
                <a:latin typeface="Times New Roman" panose="02020603050405020304" pitchFamily="18" charset="0"/>
                <a:cs typeface="Times New Roman" panose="02020603050405020304" pitchFamily="18" charset="0"/>
              </a:rPr>
              <a:t>main() Function: </a:t>
            </a:r>
          </a:p>
          <a:p>
            <a:pPr marL="0" indent="0">
              <a:buNone/>
            </a:pPr>
            <a:r>
              <a:rPr lang="en-GB" dirty="0" smtClean="0">
                <a:latin typeface="Times New Roman" panose="02020603050405020304" pitchFamily="18" charset="0"/>
                <a:cs typeface="Times New Roman" panose="02020603050405020304" pitchFamily="18" charset="0"/>
              </a:rPr>
              <a:t>The main() function is the entry point of a C program, where program execution begins. It contains declarations and executable statements enclosed within curly braces { }. </a:t>
            </a:r>
          </a:p>
          <a:p>
            <a:pPr marL="0" indent="0">
              <a:buNone/>
            </a:pPr>
            <a:r>
              <a:rPr lang="en-GB" dirty="0" smtClean="0">
                <a:latin typeface="Times New Roman" panose="02020603050405020304" pitchFamily="18" charset="0"/>
                <a:cs typeface="Times New Roman" panose="02020603050405020304" pitchFamily="18" charset="0"/>
              </a:rPr>
              <a:t>The function may return a value (commonly </a:t>
            </a:r>
            <a:r>
              <a:rPr lang="en-GB"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main() returning 0) or return no value using void main(). Each statement inside the function ends with a semicolon (;).</a:t>
            </a:r>
          </a:p>
          <a:p>
            <a:pPr marL="0" indent="0">
              <a:buNone/>
            </a:pP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49611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3435"/>
          </a:xfrm>
        </p:spPr>
        <p:txBody>
          <a:bodyPr/>
          <a:lstStyle/>
          <a:p>
            <a:r>
              <a:rPr lang="en-US" dirty="0" smtClean="0">
                <a:solidFill>
                  <a:srgbClr val="023182"/>
                </a:solidFill>
                <a:latin typeface="Times New Roman"/>
                <a:cs typeface="Times New Roman"/>
                <a:sym typeface="Times New Roman"/>
              </a:rPr>
              <a:t>Running C programs</a:t>
            </a:r>
            <a:endParaRPr lang="en-GB" dirty="0"/>
          </a:p>
        </p:txBody>
      </p:sp>
      <p:sp>
        <p:nvSpPr>
          <p:cNvPr id="3" name="Content Placeholder 2"/>
          <p:cNvSpPr>
            <a:spLocks noGrp="1"/>
          </p:cNvSpPr>
          <p:nvPr>
            <p:ph idx="1"/>
          </p:nvPr>
        </p:nvSpPr>
        <p:spPr/>
        <p:txBody>
          <a:bodyPr/>
          <a:lstStyle/>
          <a:p>
            <a:pPr marL="0" indent="0">
              <a:buNone/>
            </a:pPr>
            <a:r>
              <a:rPr lang="en-GB" dirty="0" smtClean="0">
                <a:latin typeface="Times New Roman" panose="02020603050405020304" pitchFamily="18" charset="0"/>
                <a:cs typeface="Times New Roman" panose="02020603050405020304" pitchFamily="18" charset="0"/>
              </a:rPr>
              <a:t>/*First  c program with  return  statement*/ </a:t>
            </a:r>
          </a:p>
          <a:p>
            <a:pPr marL="0" indent="0">
              <a:buNone/>
            </a:pPr>
            <a:r>
              <a:rPr lang="en-GB" dirty="0" smtClean="0">
                <a:latin typeface="Times New Roman" panose="02020603050405020304" pitchFamily="18" charset="0"/>
                <a:cs typeface="Times New Roman" panose="02020603050405020304" pitchFamily="18" charset="0"/>
              </a:rPr>
              <a:t>#include &lt;</a:t>
            </a:r>
            <a:r>
              <a:rPr lang="en-GB" dirty="0" err="1" smtClean="0">
                <a:latin typeface="Times New Roman" panose="02020603050405020304" pitchFamily="18" charset="0"/>
                <a:cs typeface="Times New Roman" panose="02020603050405020304" pitchFamily="18" charset="0"/>
              </a:rPr>
              <a:t>stdio.h</a:t>
            </a:r>
            <a:r>
              <a:rPr lang="en-GB" dirty="0" smtClean="0">
                <a:latin typeface="Times New Roman" panose="02020603050405020304" pitchFamily="18" charset="0"/>
                <a:cs typeface="Times New Roman" panose="02020603050405020304" pitchFamily="18" charset="0"/>
              </a:rPr>
              <a:t>&gt; </a:t>
            </a:r>
          </a:p>
          <a:p>
            <a:pPr marL="0" indent="0">
              <a:buNone/>
            </a:pPr>
            <a:r>
              <a:rPr lang="en-GB" dirty="0" err="1" smtClean="0">
                <a:latin typeface="Times New Roman" panose="02020603050405020304" pitchFamily="18" charset="0"/>
                <a:cs typeface="Times New Roman" panose="02020603050405020304" pitchFamily="18" charset="0"/>
              </a:rPr>
              <a:t>int</a:t>
            </a:r>
            <a:r>
              <a:rPr lang="en-GB" dirty="0" smtClean="0">
                <a:latin typeface="Times New Roman" panose="02020603050405020304" pitchFamily="18" charset="0"/>
                <a:cs typeface="Times New Roman" panose="02020603050405020304" pitchFamily="18" charset="0"/>
              </a:rPr>
              <a:t> main (void) { </a:t>
            </a:r>
          </a:p>
          <a:p>
            <a:pPr marL="0" indent="0">
              <a:buNone/>
            </a:pPr>
            <a:r>
              <a:rPr lang="en-GB" dirty="0" err="1" smtClean="0">
                <a:latin typeface="Times New Roman" panose="02020603050405020304" pitchFamily="18" charset="0"/>
                <a:cs typeface="Times New Roman" panose="02020603050405020304" pitchFamily="18" charset="0"/>
              </a:rPr>
              <a:t>printf</a:t>
            </a:r>
            <a:r>
              <a:rPr lang="en-GB" dirty="0" smtClean="0">
                <a:latin typeface="Times New Roman" panose="02020603050405020304" pitchFamily="18" charset="0"/>
                <a:cs typeface="Times New Roman" panose="02020603050405020304" pitchFamily="18" charset="0"/>
              </a:rPr>
              <a:t> (“Welcome to </a:t>
            </a:r>
            <a:r>
              <a:rPr lang="en-US" dirty="0">
                <a:latin typeface="Times New Roman" panose="02020603050405020304" pitchFamily="18" charset="0"/>
                <a:cs typeface="Times New Roman" panose="02020603050405020304" pitchFamily="18" charset="0"/>
              </a:rPr>
              <a:t>Programming with C</a:t>
            </a:r>
            <a:r>
              <a:rPr lang="en-GB" dirty="0" smtClean="0">
                <a:latin typeface="Times New Roman" panose="02020603050405020304" pitchFamily="18" charset="0"/>
                <a:cs typeface="Times New Roman" panose="02020603050405020304" pitchFamily="18" charset="0"/>
              </a:rPr>
              <a:t>.\n"); </a:t>
            </a:r>
          </a:p>
          <a:p>
            <a:pPr marL="0" indent="0">
              <a:buNone/>
            </a:pPr>
            <a:r>
              <a:rPr lang="en-GB" dirty="0" smtClean="0">
                <a:latin typeface="Times New Roman" panose="02020603050405020304" pitchFamily="18" charset="0"/>
                <a:cs typeface="Times New Roman" panose="02020603050405020304" pitchFamily="18" charset="0"/>
              </a:rPr>
              <a:t>return 0; </a:t>
            </a:r>
          </a:p>
          <a:p>
            <a:pPr marL="0" indent="0">
              <a:buNone/>
            </a:pPr>
            <a:r>
              <a:rPr lang="en-GB" dirty="0" smtClean="0">
                <a:latin typeface="Times New Roman" panose="02020603050405020304" pitchFamily="18" charset="0"/>
                <a:cs typeface="Times New Roman" panose="02020603050405020304" pitchFamily="18" charset="0"/>
              </a:rPr>
              <a:t>} </a:t>
            </a:r>
          </a:p>
          <a:p>
            <a:pPr marL="0" indent="0">
              <a:buNone/>
            </a:pPr>
            <a:r>
              <a:rPr lang="en-GB" dirty="0" smtClean="0">
                <a:latin typeface="Times New Roman" panose="02020603050405020304" pitchFamily="18" charset="0"/>
                <a:cs typeface="Times New Roman" panose="02020603050405020304" pitchFamily="18" charset="0"/>
              </a:rPr>
              <a:t>Output: </a:t>
            </a:r>
            <a:r>
              <a:rPr lang="en-GB" dirty="0" smtClean="0">
                <a:latin typeface="Times New Roman" panose="02020603050405020304" pitchFamily="18" charset="0"/>
                <a:cs typeface="Times New Roman" panose="02020603050405020304" pitchFamily="18" charset="0"/>
              </a:rPr>
              <a:t>Welcome to </a:t>
            </a:r>
            <a:r>
              <a:rPr lang="en-US" dirty="0" smtClean="0">
                <a:latin typeface="Times New Roman" panose="02020603050405020304" pitchFamily="18" charset="0"/>
                <a:cs typeface="Times New Roman" panose="02020603050405020304" pitchFamily="18" charset="0"/>
              </a:rPr>
              <a:t>Programming with C</a:t>
            </a:r>
            <a:r>
              <a:rPr lang="en-GB" dirty="0" smtClean="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5949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1516"/>
          </a:xfrm>
        </p:spPr>
        <p:txBody>
          <a:bodyPr>
            <a:normAutofit fontScale="90000"/>
          </a:bodyPr>
          <a:lstStyle/>
          <a:p>
            <a:r>
              <a:rPr lang="en-GB" dirty="0" smtClean="0">
                <a:solidFill>
                  <a:srgbClr val="023182"/>
                </a:solidFill>
                <a:latin typeface="Times New Roman"/>
                <a:cs typeface="Times New Roman"/>
                <a:sym typeface="Times New Roman"/>
              </a:rPr>
              <a:t>Steps for Compiling and Executing a C Program</a:t>
            </a:r>
            <a:r>
              <a:rPr lang="en-US" dirty="0" smtClean="0">
                <a:solidFill>
                  <a:srgbClr val="023182"/>
                </a:solidFill>
                <a:latin typeface="Times New Roman"/>
                <a:cs typeface="Times New Roman"/>
                <a:sym typeface="Times New Roman"/>
              </a:rPr>
              <a:t> </a:t>
            </a:r>
            <a:endParaRPr lang="en-GB" dirty="0"/>
          </a:p>
        </p:txBody>
      </p:sp>
      <p:sp>
        <p:nvSpPr>
          <p:cNvPr id="5" name="Rectangle 2"/>
          <p:cNvSpPr>
            <a:spLocks noGrp="1" noChangeArrowheads="1"/>
          </p:cNvSpPr>
          <p:nvPr>
            <p:ph idx="1"/>
          </p:nvPr>
        </p:nvSpPr>
        <p:spPr bwMode="auto">
          <a:xfrm>
            <a:off x="838200" y="1657231"/>
            <a:ext cx="1002284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Write the Source Program</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C program is written using a </a:t>
            </a:r>
            <a:r>
              <a:rPr lang="en-US" sz="2000" dirty="0" smtClean="0">
                <a:latin typeface="Times New Roman" panose="02020603050405020304" pitchFamily="18" charset="0"/>
                <a:cs typeface="Times New Roman" panose="02020603050405020304" pitchFamily="18" charset="0"/>
              </a:rPr>
              <a:t>text</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editor.</a:t>
            </a:r>
          </a:p>
          <a:p>
            <a:pPr lvl="1"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file is saved with a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 extension</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(e.g., prog1.c).</a:t>
            </a:r>
          </a:p>
          <a:p>
            <a:pPr lvl="1"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file is called the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source code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457200" lvl="1" indent="0" eaLnBrk="0" fontAlgn="base" hangingPunct="0">
              <a:lnSpc>
                <a:spcPct val="100000"/>
              </a:lnSpc>
              <a:spcBef>
                <a:spcPct val="0"/>
              </a:spcBef>
              <a:spcAft>
                <a:spcPct val="0"/>
              </a:spcAft>
              <a:buNone/>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Compile the Program</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compiler checks the source code for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syntax and semantic errors</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Compilation is done using commands like:</a:t>
            </a:r>
            <a:b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gcc</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prog1.c</a:t>
            </a:r>
          </a:p>
          <a:p>
            <a:pPr lvl="1"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Errors must be corrected before proceeding.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11568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80" y="365125"/>
            <a:ext cx="10866120" cy="803275"/>
          </a:xfrm>
        </p:spPr>
        <p:txBody>
          <a:bodyPr>
            <a:normAutofit fontScale="90000"/>
          </a:bodyPr>
          <a:lstStyle/>
          <a:p>
            <a:r>
              <a:rPr lang="en-GB" dirty="0" smtClean="0">
                <a:solidFill>
                  <a:srgbClr val="023182"/>
                </a:solidFill>
                <a:latin typeface="Times New Roman"/>
                <a:cs typeface="Times New Roman"/>
                <a:sym typeface="Times New Roman"/>
              </a:rPr>
              <a:t>Steps for Compiling and Executing a C Program</a:t>
            </a:r>
            <a:r>
              <a:rPr lang="en-US" dirty="0" smtClean="0">
                <a:solidFill>
                  <a:srgbClr val="023182"/>
                </a:solidFill>
                <a:latin typeface="Times New Roman"/>
                <a:cs typeface="Times New Roman"/>
                <a:sym typeface="Times New Roman"/>
              </a:rPr>
              <a:t> </a:t>
            </a:r>
            <a:endParaRPr lang="en-GB" dirty="0"/>
          </a:p>
        </p:txBody>
      </p:sp>
      <p:sp>
        <p:nvSpPr>
          <p:cNvPr id="4" name="Rectangle 1"/>
          <p:cNvSpPr>
            <a:spLocks noGrp="1" noChangeArrowheads="1"/>
          </p:cNvSpPr>
          <p:nvPr>
            <p:ph idx="1"/>
          </p:nvPr>
        </p:nvSpPr>
        <p:spPr bwMode="auto">
          <a:xfrm>
            <a:off x="777240" y="1594048"/>
            <a:ext cx="907492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indent="-457200" eaLnBrk="0" fontAlgn="base" hangingPunct="0">
              <a:lnSpc>
                <a:spcPct val="100000"/>
              </a:lnSpc>
              <a:spcBef>
                <a:spcPct val="0"/>
              </a:spcBef>
              <a:spcAft>
                <a:spcPct val="0"/>
              </a:spcAft>
              <a:buFont typeface="+mj-lt"/>
              <a:buAutoNum type="arabicPeriod"/>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Translate to Assembly Code</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compiler converts C statements into </a:t>
            </a: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assembly language</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914400" lvl="1" indent="-457200" eaLnBrk="0" fontAlgn="base" hangingPunct="0">
              <a:lnSpc>
                <a:spcPct val="100000"/>
              </a:lnSpc>
              <a:spcBef>
                <a:spcPct val="0"/>
              </a:spcBef>
              <a:spcAft>
                <a:spcPct val="0"/>
              </a:spcAft>
              <a:buFont typeface="+mj-lt"/>
              <a:buAutoNum type="arabicPeriod"/>
            </a:pP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indent="-457200" eaLnBrk="0" fontAlgn="base" hangingPunct="0">
              <a:lnSpc>
                <a:spcPct val="100000"/>
              </a:lnSpc>
              <a:spcBef>
                <a:spcPct val="0"/>
              </a:spcBef>
              <a:spcAft>
                <a:spcPct val="0"/>
              </a:spcAft>
              <a:buFont typeface="+mj-lt"/>
              <a:buAutoNum type="arabicPeriod"/>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Generate Object Code</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assembler converts assembly code into </a:t>
            </a: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object code</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 file).</a:t>
            </a:r>
          </a:p>
          <a:p>
            <a:pPr marL="914400" lvl="1" indent="-457200" eaLnBrk="0" fontAlgn="base" hangingPunct="0">
              <a:lnSpc>
                <a:spcPct val="100000"/>
              </a:lnSpc>
              <a:spcBef>
                <a:spcPct val="0"/>
              </a:spcBef>
              <a:spcAft>
                <a:spcPct val="0"/>
              </a:spcAft>
              <a:buFont typeface="+mj-lt"/>
              <a:buAutoNum type="arabicPeriod"/>
            </a:pP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indent="-457200" eaLnBrk="0" fontAlgn="base" hangingPunct="0">
              <a:lnSpc>
                <a:spcPct val="100000"/>
              </a:lnSpc>
              <a:spcBef>
                <a:spcPct val="0"/>
              </a:spcBef>
              <a:spcAft>
                <a:spcPct val="0"/>
              </a:spcAft>
              <a:buFont typeface="+mj-lt"/>
              <a:buAutoNum type="arabicPeriod"/>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Link the Program</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Object code is linked with required libraries.</a:t>
            </a:r>
          </a:p>
          <a:p>
            <a:pPr lvl="1" eaLnBrk="0" fontAlgn="base" hangingPunct="0">
              <a:lnSpc>
                <a:spcPct val="100000"/>
              </a:lnSpc>
              <a:spcBef>
                <a:spcPct val="0"/>
              </a:spcBef>
              <a:spcAft>
                <a:spcPct val="0"/>
              </a:spcAf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 </a:t>
            </a: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executable file</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created (</a:t>
            </a:r>
            <a:r>
              <a:rPr kumimoji="0" 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a.out</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 Unix, .exe in Windows).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98038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520" y="365125"/>
            <a:ext cx="10876280" cy="813435"/>
          </a:xfrm>
        </p:spPr>
        <p:txBody>
          <a:bodyPr>
            <a:normAutofit fontScale="90000"/>
          </a:bodyPr>
          <a:lstStyle/>
          <a:p>
            <a:r>
              <a:rPr lang="en-GB" dirty="0" smtClean="0">
                <a:solidFill>
                  <a:srgbClr val="023182"/>
                </a:solidFill>
                <a:latin typeface="Times New Roman"/>
                <a:cs typeface="Times New Roman"/>
                <a:sym typeface="Times New Roman"/>
              </a:rPr>
              <a:t>Steps for Compiling and Executing a C Program</a:t>
            </a:r>
            <a:r>
              <a:rPr lang="en-US" dirty="0" smtClean="0">
                <a:solidFill>
                  <a:srgbClr val="023182"/>
                </a:solidFill>
                <a:latin typeface="Times New Roman"/>
                <a:cs typeface="Times New Roman"/>
                <a:sym typeface="Times New Roman"/>
              </a:rPr>
              <a:t> </a:t>
            </a:r>
            <a:endParaRPr lang="en-GB" dirty="0"/>
          </a:p>
        </p:txBody>
      </p:sp>
      <p:sp>
        <p:nvSpPr>
          <p:cNvPr id="4" name="Rectangle 1"/>
          <p:cNvSpPr>
            <a:spLocks noGrp="1" noChangeArrowheads="1"/>
          </p:cNvSpPr>
          <p:nvPr>
            <p:ph idx="1"/>
          </p:nvPr>
        </p:nvSpPr>
        <p:spPr bwMode="auto">
          <a:xfrm>
            <a:off x="838200" y="2308523"/>
            <a:ext cx="9031640"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Execute the Program</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executable file is run (e.g., ./</a:t>
            </a:r>
            <a:r>
              <a:rPr kumimoji="0" lang="en-US" sz="2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a.out</a:t>
            </a: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lvl="1" eaLnBrk="0" fontAlgn="base" hangingPunct="0">
              <a:lnSpc>
                <a:spcPct val="100000"/>
              </a:lnSpc>
              <a:spcBef>
                <a:spcPct val="0"/>
              </a:spcBef>
              <a:spcAft>
                <a:spcPct val="0"/>
              </a:spcAf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program executes statements sequentially.</a:t>
            </a:r>
          </a:p>
          <a:p>
            <a:pPr marL="457200" lvl="1" indent="0" eaLnBrk="0" fontAlgn="base" hangingPunct="0">
              <a:lnSpc>
                <a:spcPct val="100000"/>
              </a:lnSpc>
              <a:spcBef>
                <a:spcPct val="0"/>
              </a:spcBef>
              <a:spcAft>
                <a:spcPct val="0"/>
              </a:spcAft>
              <a:buNone/>
            </a:pPr>
            <a:endPar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Debugging</a:t>
            </a: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lvl="1" eaLnBrk="0" fontAlgn="base" hangingPunct="0">
              <a:lnSpc>
                <a:spcPct val="100000"/>
              </a:lnSpc>
              <a:spcBef>
                <a:spcPct val="0"/>
              </a:spcBef>
              <a:spcAft>
                <a:spcPct val="0"/>
              </a:spcAf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If errors occur, the program logic is analyzed.</a:t>
            </a:r>
          </a:p>
          <a:p>
            <a:pPr lvl="1" eaLnBrk="0" fontAlgn="base" hangingPunct="0">
              <a:lnSpc>
                <a:spcPct val="100000"/>
              </a:lnSpc>
              <a:spcBef>
                <a:spcPct val="0"/>
              </a:spcBef>
              <a:spcAft>
                <a:spcPct val="0"/>
              </a:spcAf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Corrections are made in the source code and recompiled.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10906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7230</TotalTime>
  <Words>1936</Words>
  <Application>Microsoft Office PowerPoint</Application>
  <PresentationFormat>Widescreen</PresentationFormat>
  <Paragraphs>206</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Times New Roman</vt:lpstr>
      <vt:lpstr>Wingdings</vt:lpstr>
      <vt:lpstr>Office Theme</vt:lpstr>
      <vt:lpstr>Programming with C      Lecturer : Odile Nzambazamariya  Lecture 1: Understand basic programming concepts with C  Adventist University of Central Africa</vt:lpstr>
      <vt:lpstr>Outlines</vt:lpstr>
      <vt:lpstr>Introduction to computers</vt:lpstr>
      <vt:lpstr>Introduction to computers</vt:lpstr>
      <vt:lpstr>Introduction to computers</vt:lpstr>
      <vt:lpstr>Introduction to computers</vt:lpstr>
      <vt:lpstr>Introduction to computers</vt:lpstr>
      <vt:lpstr>Functions of computer components</vt:lpstr>
      <vt:lpstr>Functions of computer components</vt:lpstr>
      <vt:lpstr>Programming languages </vt:lpstr>
      <vt:lpstr>Types of programming languages </vt:lpstr>
      <vt:lpstr>Types of programming languages </vt:lpstr>
      <vt:lpstr>Types of programming languages </vt:lpstr>
      <vt:lpstr>Programming Paradigms</vt:lpstr>
      <vt:lpstr>Programming Paradigms</vt:lpstr>
      <vt:lpstr>Introduction to C</vt:lpstr>
      <vt:lpstr>Introduction to C</vt:lpstr>
      <vt:lpstr>Features of C</vt:lpstr>
      <vt:lpstr>Features of C</vt:lpstr>
      <vt:lpstr>PowerPoint Presentation</vt:lpstr>
      <vt:lpstr>Applications of C Language</vt:lpstr>
      <vt:lpstr>Applications of C Language</vt:lpstr>
      <vt:lpstr>Compilers</vt:lpstr>
      <vt:lpstr>Compilers</vt:lpstr>
      <vt:lpstr>Compilers</vt:lpstr>
      <vt:lpstr>IDE</vt:lpstr>
      <vt:lpstr>SOURCE CODE</vt:lpstr>
      <vt:lpstr>Running C programs</vt:lpstr>
      <vt:lpstr>Running C programs</vt:lpstr>
      <vt:lpstr>Running C programs</vt:lpstr>
      <vt:lpstr>Running C programs</vt:lpstr>
      <vt:lpstr>Running C programs</vt:lpstr>
      <vt:lpstr>Steps for Compiling and Executing a C Program </vt:lpstr>
      <vt:lpstr>Steps for Compiling and Executing a C Program </vt:lpstr>
      <vt:lpstr>Steps for Compiling and Executing a C Program </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with C      Lecturer : Odile Nzambazamariya  Lecture 1: Understand basic programming concepts with C  Adventist University of Central Africa</dc:title>
  <dc:creator>Microsoft account</dc:creator>
  <cp:lastModifiedBy>Microsoft account</cp:lastModifiedBy>
  <cp:revision>40</cp:revision>
  <dcterms:created xsi:type="dcterms:W3CDTF">2026-01-28T09:48:39Z</dcterms:created>
  <dcterms:modified xsi:type="dcterms:W3CDTF">2026-02-02T10:19:21Z</dcterms:modified>
</cp:coreProperties>
</file>