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340ABF87-4B5E-49B5-9D41-5CE050FF1D8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338049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40ABF87-4B5E-49B5-9D41-5CE050FF1D8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4273891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0ABF87-4B5E-49B5-9D41-5CE050FF1D8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282810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340ABF87-4B5E-49B5-9D41-5CE050FF1D84}"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1534575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340ABF87-4B5E-49B5-9D41-5CE050FF1D84}" type="datetimeFigureOut">
              <a:rPr lang="en-GB" smtClean="0"/>
              <a:t>27/03/2026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3085435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340ABF87-4B5E-49B5-9D41-5CE050FF1D84}" type="datetimeFigureOut">
              <a:rPr lang="en-GB" smtClean="0"/>
              <a:t>27/03/2026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1749601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0ABF87-4B5E-49B5-9D41-5CE050FF1D84}" type="datetimeFigureOut">
              <a:rPr lang="en-GB" smtClean="0"/>
              <a:t>27/03/2026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3278123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0ABF87-4B5E-49B5-9D41-5CE050FF1D84}"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4291140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0ABF87-4B5E-49B5-9D41-5CE050FF1D84}"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2119066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40ABF87-4B5E-49B5-9D41-5CE050FF1D8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1046254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340ABF87-4B5E-49B5-9D41-5CE050FF1D84}"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807C247-CC33-4637-B179-1CB845BD370F}" type="slidenum">
              <a:rPr lang="en-GB" smtClean="0"/>
              <a:t>‹#›</a:t>
            </a:fld>
            <a:endParaRPr lang="en-GB"/>
          </a:p>
        </p:txBody>
      </p:sp>
    </p:spTree>
    <p:extLst>
      <p:ext uri="{BB962C8B-B14F-4D97-AF65-F5344CB8AC3E}">
        <p14:creationId xmlns:p14="http://schemas.microsoft.com/office/powerpoint/2010/main" val="3828604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0ABF87-4B5E-49B5-9D41-5CE050FF1D84}" type="datetimeFigureOut">
              <a:rPr lang="en-GB" smtClean="0"/>
              <a:t>27/03/2026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07C247-CC33-4637-B179-1CB845BD370F}" type="slidenum">
              <a:rPr lang="en-GB" smtClean="0"/>
              <a:t>‹#›</a:t>
            </a:fld>
            <a:endParaRPr lang="en-GB"/>
          </a:p>
        </p:txBody>
      </p:sp>
    </p:spTree>
    <p:extLst>
      <p:ext uri="{BB962C8B-B14F-4D97-AF65-F5344CB8AC3E}">
        <p14:creationId xmlns:p14="http://schemas.microsoft.com/office/powerpoint/2010/main" val="583628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766353"/>
            <a:ext cx="9144000" cy="5338355"/>
          </a:xfrm>
        </p:spPr>
        <p:txBody>
          <a:bodyPr>
            <a:normAutofit lnSpcReduction="10000"/>
          </a:bodyPr>
          <a:lstStyle/>
          <a:p>
            <a:r>
              <a:rPr lang="en-GB" sz="4000" dirty="0" smtClean="0">
                <a:solidFill>
                  <a:srgbClr val="023182"/>
                </a:solidFill>
                <a:latin typeface="Times New Roman"/>
                <a:ea typeface="Times New Roman"/>
                <a:cs typeface="Times New Roman"/>
                <a:sym typeface="Times New Roman"/>
              </a:rPr>
              <a:t>Programming with C</a:t>
            </a: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Lecturer : Odile Nzambazamariya</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 5: Arrays And Strings</a:t>
            </a:r>
          </a:p>
          <a:p>
            <a:endParaRPr lang="en-GB" dirty="0" smtClean="0">
              <a:latin typeface="Times New Roman"/>
              <a:ea typeface="Times New Roman"/>
              <a:cs typeface="Times New Roman"/>
              <a:sym typeface="Times New Roman"/>
            </a:endParaRPr>
          </a:p>
          <a:p>
            <a:r>
              <a:rPr lang="en-GB" sz="3600" dirty="0" smtClean="0">
                <a:latin typeface="Times New Roman"/>
                <a:ea typeface="Times New Roman"/>
                <a:cs typeface="Times New Roman"/>
                <a:sym typeface="Times New Roman"/>
              </a:rPr>
              <a:t>Adventist University of Central Africa</a:t>
            </a:r>
            <a:endParaRPr lang="en-GB" sz="3600" dirty="0"/>
          </a:p>
        </p:txBody>
      </p:sp>
    </p:spTree>
    <p:extLst>
      <p:ext uri="{BB962C8B-B14F-4D97-AF65-F5344CB8AC3E}">
        <p14:creationId xmlns:p14="http://schemas.microsoft.com/office/powerpoint/2010/main" val="39808884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1858"/>
          </a:xfrm>
        </p:spPr>
        <p:txBody>
          <a:bodyPr>
            <a:normAutofit fontScale="90000"/>
          </a:bodyPr>
          <a:lstStyle/>
          <a:p>
            <a:r>
              <a:rPr lang="en" dirty="0" smtClean="0">
                <a:solidFill>
                  <a:srgbClr val="023182"/>
                </a:solidFill>
                <a:latin typeface="Times New Roman"/>
                <a:ea typeface="Times New Roman"/>
                <a:cs typeface="Times New Roman"/>
                <a:sym typeface="Times New Roman"/>
              </a:rPr>
              <a:t>Outlines</a:t>
            </a:r>
            <a:endParaRPr lang="en-GB" dirty="0"/>
          </a:p>
        </p:txBody>
      </p:sp>
      <p:sp>
        <p:nvSpPr>
          <p:cNvPr id="3" name="Content Placeholder 2"/>
          <p:cNvSpPr>
            <a:spLocks noGrp="1"/>
          </p:cNvSpPr>
          <p:nvPr>
            <p:ph idx="1"/>
          </p:nvPr>
        </p:nvSpPr>
        <p:spPr/>
        <p:txBody>
          <a:bodyPr/>
          <a:lstStyle/>
          <a:p>
            <a:r>
              <a:rPr lang="en-GB" dirty="0">
                <a:latin typeface="Times New Roman" panose="02020603050405020304" pitchFamily="18" charset="0"/>
                <a:cs typeface="Times New Roman" panose="02020603050405020304" pitchFamily="18" charset="0"/>
              </a:rPr>
              <a:t>C </a:t>
            </a:r>
            <a:r>
              <a:rPr lang="en-GB" dirty="0" smtClean="0">
                <a:latin typeface="Times New Roman" panose="02020603050405020304" pitchFamily="18" charset="0"/>
                <a:cs typeface="Times New Roman" panose="02020603050405020304" pitchFamily="18" charset="0"/>
              </a:rPr>
              <a:t>Arrays</a:t>
            </a:r>
          </a:p>
          <a:p>
            <a:r>
              <a:rPr lang="en-GB" dirty="0">
                <a:latin typeface="Times New Roman" panose="02020603050405020304" pitchFamily="18" charset="0"/>
                <a:cs typeface="Times New Roman" panose="02020603050405020304" pitchFamily="18" charset="0"/>
              </a:rPr>
              <a:t>Multidimensional </a:t>
            </a:r>
            <a:r>
              <a:rPr lang="en-GB" dirty="0" smtClean="0">
                <a:latin typeface="Times New Roman" panose="02020603050405020304" pitchFamily="18" charset="0"/>
                <a:cs typeface="Times New Roman" panose="02020603050405020304" pitchFamily="18" charset="0"/>
              </a:rPr>
              <a:t>Arrays</a:t>
            </a:r>
          </a:p>
          <a:p>
            <a:r>
              <a:rPr lang="en-GB" dirty="0">
                <a:latin typeface="Times New Roman" panose="02020603050405020304" pitchFamily="18" charset="0"/>
                <a:cs typeface="Times New Roman" panose="02020603050405020304" pitchFamily="18" charset="0"/>
              </a:rPr>
              <a:t>Two-Dimensional </a:t>
            </a:r>
            <a:r>
              <a:rPr lang="en-GB" dirty="0" smtClean="0">
                <a:latin typeface="Times New Roman" panose="02020603050405020304" pitchFamily="18" charset="0"/>
                <a:cs typeface="Times New Roman" panose="02020603050405020304" pitchFamily="18" charset="0"/>
              </a:rPr>
              <a:t>Arrays</a:t>
            </a:r>
          </a:p>
          <a:p>
            <a:r>
              <a:rPr lang="en-GB" dirty="0">
                <a:latin typeface="Times New Roman" panose="02020603050405020304" pitchFamily="18" charset="0"/>
                <a:cs typeface="Times New Roman" panose="02020603050405020304" pitchFamily="18" charset="0"/>
              </a:rPr>
              <a:t>Strings in </a:t>
            </a:r>
            <a:r>
              <a:rPr lang="en-GB" dirty="0" smtClean="0">
                <a:latin typeface="Times New Roman" panose="02020603050405020304" pitchFamily="18" charset="0"/>
                <a:cs typeface="Times New Roman" panose="02020603050405020304" pitchFamily="18" charset="0"/>
              </a:rPr>
              <a:t>array</a:t>
            </a:r>
          </a:p>
          <a:p>
            <a:r>
              <a:rPr lang="en-GB" dirty="0">
                <a:latin typeface="Times New Roman" panose="02020603050405020304" pitchFamily="18" charset="0"/>
                <a:cs typeface="Times New Roman" panose="02020603050405020304" pitchFamily="18" charset="0"/>
              </a:rPr>
              <a:t>String </a:t>
            </a:r>
            <a:r>
              <a:rPr lang="en-GB" dirty="0" smtClean="0">
                <a:latin typeface="Times New Roman" panose="02020603050405020304" pitchFamily="18" charset="0"/>
                <a:cs typeface="Times New Roman" panose="02020603050405020304" pitchFamily="18" charset="0"/>
              </a:rPr>
              <a:t>Functions</a:t>
            </a:r>
          </a:p>
          <a:p>
            <a:r>
              <a:rPr lang="en-GB" dirty="0">
                <a:latin typeface="Times New Roman" panose="02020603050405020304" pitchFamily="18" charset="0"/>
                <a:cs typeface="Times New Roman" panose="02020603050405020304" pitchFamily="18" charset="0"/>
              </a:rPr>
              <a:t>C Pointers </a:t>
            </a:r>
            <a:endParaRPr lang="en-GB" dirty="0" smtClean="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C Memory Address</a:t>
            </a:r>
            <a:endParaRPr lang="en-GB" dirty="0" smtClean="0">
              <a:latin typeface="Times New Roman" panose="02020603050405020304" pitchFamily="18" charset="0"/>
              <a:cs typeface="Times New Roman" panose="02020603050405020304" pitchFamily="18" charset="0"/>
            </a:endParaRPr>
          </a:p>
          <a:p>
            <a:endParaRPr lang="en-GB" dirty="0" smtClean="0"/>
          </a:p>
          <a:p>
            <a:endParaRPr lang="en-GB" dirty="0" smtClean="0"/>
          </a:p>
          <a:p>
            <a:endParaRPr lang="en-GB" dirty="0"/>
          </a:p>
        </p:txBody>
      </p:sp>
    </p:spTree>
    <p:extLst>
      <p:ext uri="{BB962C8B-B14F-4D97-AF65-F5344CB8AC3E}">
        <p14:creationId xmlns:p14="http://schemas.microsoft.com/office/powerpoint/2010/main" val="2164299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C</a:t>
            </a:r>
            <a:r>
              <a:rPr lang="en-GB" dirty="0">
                <a:solidFill>
                  <a:srgbClr val="023182"/>
                </a:solidFill>
                <a:latin typeface="Times New Roman"/>
                <a:ea typeface="Times New Roman"/>
                <a:cs typeface="Times New Roman"/>
                <a:sym typeface="Times New Roman"/>
              </a:rPr>
              <a:t> </a:t>
            </a:r>
            <a:r>
              <a:rPr lang="en-GB" dirty="0" smtClean="0">
                <a:solidFill>
                  <a:srgbClr val="023182"/>
                </a:solidFill>
                <a:latin typeface="Times New Roman"/>
                <a:ea typeface="Times New Roman"/>
                <a:cs typeface="Times New Roman"/>
                <a:sym typeface="Times New Roman"/>
              </a:rPr>
              <a:t>Arrays</a:t>
            </a:r>
            <a:r>
              <a:rPr lang="en-GB" b="1" dirty="0" smtClean="0"/>
              <a:t/>
            </a:r>
            <a:br>
              <a:rPr lang="en-GB" b="1" dirty="0" smtClean="0"/>
            </a:br>
            <a:endParaRPr lang="en-GB" b="1" dirty="0"/>
          </a:p>
        </p:txBody>
      </p:sp>
      <p:sp>
        <p:nvSpPr>
          <p:cNvPr id="3" name="Content Placeholder 2"/>
          <p:cNvSpPr>
            <a:spLocks noGrp="1"/>
          </p:cNvSpPr>
          <p:nvPr>
            <p:ph idx="1"/>
          </p:nvPr>
        </p:nvSpPr>
        <p:spPr>
          <a:xfrm>
            <a:off x="483326" y="1690688"/>
            <a:ext cx="10870474" cy="4814615"/>
          </a:xfrm>
        </p:spPr>
        <p:txBody>
          <a:bodyPr>
            <a:normAutofit/>
          </a:bodyPr>
          <a:lstStyle/>
          <a:p>
            <a:pPr marL="0" indent="0">
              <a:buNone/>
            </a:pPr>
            <a:r>
              <a:rPr lang="en-GB" b="1" dirty="0">
                <a:latin typeface="Times New Roman" panose="02020603050405020304" pitchFamily="18" charset="0"/>
                <a:cs typeface="Times New Roman" panose="02020603050405020304" pitchFamily="18" charset="0"/>
              </a:rPr>
              <a:t>Arrays</a:t>
            </a:r>
          </a:p>
          <a:p>
            <a:pPr algn="just">
              <a:lnSpc>
                <a:spcPct val="200000"/>
              </a:lnSpc>
            </a:pPr>
            <a:r>
              <a:rPr lang="en-GB" dirty="0">
                <a:latin typeface="Times New Roman" panose="02020603050405020304" pitchFamily="18" charset="0"/>
                <a:cs typeface="Times New Roman" panose="02020603050405020304" pitchFamily="18" charset="0"/>
              </a:rPr>
              <a:t>Arrays are used to store multiple values in a single variable, instead of declaring separate variables for each value</a:t>
            </a:r>
            <a:r>
              <a:rPr lang="en-GB" dirty="0" smtClean="0">
                <a:latin typeface="Times New Roman" panose="02020603050405020304" pitchFamily="18" charset="0"/>
                <a:cs typeface="Times New Roman" panose="02020603050405020304" pitchFamily="18" charset="0"/>
              </a:rPr>
              <a:t>.</a:t>
            </a:r>
          </a:p>
          <a:p>
            <a:pPr algn="just">
              <a:lnSpc>
                <a:spcPct val="200000"/>
              </a:lnSpc>
            </a:pPr>
            <a:r>
              <a:rPr lang="en-GB" dirty="0">
                <a:latin typeface="Times New Roman" panose="02020603050405020304" pitchFamily="18" charset="0"/>
                <a:cs typeface="Times New Roman" panose="02020603050405020304" pitchFamily="18" charset="0"/>
              </a:rPr>
              <a:t>To create an array, define the data type (like </a:t>
            </a:r>
            <a:r>
              <a:rPr lang="en-GB" b="1"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and specify the name of the array followed by square brackets </a:t>
            </a:r>
            <a:r>
              <a:rPr lang="en-GB"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410810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23182"/>
                </a:solidFill>
                <a:latin typeface="Times New Roman"/>
                <a:ea typeface="Times New Roman"/>
                <a:cs typeface="Times New Roman"/>
                <a:sym typeface="Times New Roman"/>
              </a:rPr>
              <a:t>C Arrays </a:t>
            </a:r>
            <a:endParaRPr lang="en-GB" dirty="0"/>
          </a:p>
        </p:txBody>
      </p:sp>
      <p:sp>
        <p:nvSpPr>
          <p:cNvPr id="3" name="Content Placeholder 2"/>
          <p:cNvSpPr>
            <a:spLocks noGrp="1"/>
          </p:cNvSpPr>
          <p:nvPr>
            <p:ph idx="1"/>
          </p:nvPr>
        </p:nvSpPr>
        <p:spPr/>
        <p:txBody>
          <a:bodyPr/>
          <a:lstStyle/>
          <a:p>
            <a:pPr algn="just">
              <a:lnSpc>
                <a:spcPct val="200000"/>
              </a:lnSpc>
            </a:pPr>
            <a:r>
              <a:rPr lang="en-GB" dirty="0"/>
              <a:t>To insert values to it, use a comma-separated list inside curly braces, and make sure all values are of the same data type:</a:t>
            </a:r>
          </a:p>
          <a:p>
            <a:pPr algn="just">
              <a:lnSpc>
                <a:spcPct val="200000"/>
              </a:lnSpc>
            </a:pPr>
            <a:r>
              <a:rPr lang="en-GB" dirty="0" err="1" smtClean="0">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smtClean="0">
                <a:solidFill>
                  <a:srgbClr val="000000"/>
                </a:solidFill>
                <a:latin typeface="Consolas" panose="020B0609020204030204" pitchFamily="49" charset="0"/>
              </a:rPr>
              <a:t>};</a:t>
            </a:r>
          </a:p>
          <a:p>
            <a:pPr algn="just">
              <a:lnSpc>
                <a:spcPct val="200000"/>
              </a:lnSpc>
            </a:pPr>
            <a:r>
              <a:rPr lang="en-GB" dirty="0"/>
              <a:t>We have now created a variable that holds an array of four integers.</a:t>
            </a:r>
          </a:p>
        </p:txBody>
      </p:sp>
    </p:spTree>
    <p:extLst>
      <p:ext uri="{BB962C8B-B14F-4D97-AF65-F5344CB8AC3E}">
        <p14:creationId xmlns:p14="http://schemas.microsoft.com/office/powerpoint/2010/main" val="25661604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b="1" dirty="0"/>
              <a:t/>
            </a:r>
            <a:br>
              <a:rPr lang="en-GB" b="1" dirty="0"/>
            </a:br>
            <a:endParaRPr lang="en-GB" b="1" dirty="0"/>
          </a:p>
        </p:txBody>
      </p:sp>
      <p:sp>
        <p:nvSpPr>
          <p:cNvPr id="3" name="Content Placeholder 2"/>
          <p:cNvSpPr>
            <a:spLocks noGrp="1"/>
          </p:cNvSpPr>
          <p:nvPr>
            <p:ph idx="1"/>
          </p:nvPr>
        </p:nvSpPr>
        <p:spPr/>
        <p:txBody>
          <a:bodyPr/>
          <a:lstStyle/>
          <a:p>
            <a:pPr>
              <a:lnSpc>
                <a:spcPct val="150000"/>
              </a:lnSpc>
            </a:pPr>
            <a:r>
              <a:rPr lang="en-GB" dirty="0" err="1"/>
              <a:t>int</a:t>
            </a:r>
            <a:r>
              <a:rPr lang="en-GB" dirty="0"/>
              <a:t> </a:t>
            </a:r>
            <a:r>
              <a:rPr lang="en-GB" dirty="0" err="1"/>
              <a:t>myNumbers</a:t>
            </a:r>
            <a:r>
              <a:rPr lang="en-GB" dirty="0"/>
              <a:t>[] = {</a:t>
            </a:r>
            <a:r>
              <a:rPr lang="en-GB" dirty="0">
                <a:solidFill>
                  <a:srgbClr val="FF0000"/>
                </a:solidFill>
              </a:rPr>
              <a:t>25, 50, 75, 100</a:t>
            </a:r>
            <a:r>
              <a:rPr lang="en-GB" dirty="0"/>
              <a:t>};</a:t>
            </a:r>
            <a:br>
              <a:rPr lang="en-GB" dirty="0"/>
            </a:br>
            <a:r>
              <a:rPr lang="en-GB" dirty="0" err="1"/>
              <a:t>printf</a:t>
            </a:r>
            <a:r>
              <a:rPr lang="en-GB" dirty="0"/>
              <a:t>("%d", </a:t>
            </a:r>
            <a:r>
              <a:rPr lang="en-GB" dirty="0" err="1"/>
              <a:t>myNumbers</a:t>
            </a:r>
            <a:r>
              <a:rPr lang="en-GB" dirty="0"/>
              <a:t>[</a:t>
            </a:r>
            <a:r>
              <a:rPr lang="en-GB" dirty="0">
                <a:solidFill>
                  <a:srgbClr val="FF0000"/>
                </a:solidFill>
              </a:rPr>
              <a:t>0</a:t>
            </a:r>
            <a:r>
              <a:rPr lang="en-GB" dirty="0"/>
              <a:t>]);</a:t>
            </a:r>
            <a:br>
              <a:rPr lang="en-GB" dirty="0"/>
            </a:br>
            <a:r>
              <a:rPr lang="en-GB" dirty="0"/>
              <a:t/>
            </a:r>
            <a:br>
              <a:rPr lang="en-GB" dirty="0"/>
            </a:br>
            <a:r>
              <a:rPr lang="en-GB" dirty="0"/>
              <a:t>// Outputs 25</a:t>
            </a:r>
          </a:p>
        </p:txBody>
      </p:sp>
    </p:spTree>
    <p:extLst>
      <p:ext uri="{BB962C8B-B14F-4D97-AF65-F5344CB8AC3E}">
        <p14:creationId xmlns:p14="http://schemas.microsoft.com/office/powerpoint/2010/main" val="5442532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Change </a:t>
            </a:r>
            <a:r>
              <a:rPr lang="en-GB" dirty="0">
                <a:solidFill>
                  <a:srgbClr val="023182"/>
                </a:solidFill>
                <a:latin typeface="Times New Roman"/>
                <a:ea typeface="Times New Roman"/>
                <a:cs typeface="Times New Roman"/>
                <a:sym typeface="Times New Roman"/>
              </a:rPr>
              <a:t>an Array Element</a:t>
            </a:r>
            <a:r>
              <a:rPr lang="en-GB" dirty="0" smtClean="0"/>
              <a:t/>
            </a:r>
            <a:br>
              <a:rPr lang="en-GB" dirty="0" smtClean="0"/>
            </a:br>
            <a:endParaRPr lang="en-GB" dirty="0"/>
          </a:p>
        </p:txBody>
      </p:sp>
      <p:sp>
        <p:nvSpPr>
          <p:cNvPr id="3" name="Content Placeholder 2"/>
          <p:cNvSpPr>
            <a:spLocks noGrp="1"/>
          </p:cNvSpPr>
          <p:nvPr>
            <p:ph idx="1"/>
          </p:nvPr>
        </p:nvSpPr>
        <p:spPr/>
        <p:txBody>
          <a:bodyPr/>
          <a:lstStyle/>
          <a:p>
            <a:pPr>
              <a:lnSpc>
                <a:spcPct val="200000"/>
              </a:lnSpc>
            </a:pPr>
            <a:r>
              <a:rPr lang="en-GB" dirty="0"/>
              <a:t>To change the value of a specific element, refer to the index number</a:t>
            </a:r>
            <a:r>
              <a:rPr lang="en-GB" dirty="0" smtClean="0"/>
              <a:t>:</a:t>
            </a:r>
          </a:p>
          <a:p>
            <a:pPr>
              <a:lnSpc>
                <a:spcPct val="200000"/>
              </a:lnSpc>
            </a:pPr>
            <a:r>
              <a:rPr lang="en-GB" dirty="0"/>
              <a:t>Example</a:t>
            </a:r>
          </a:p>
          <a:p>
            <a:pPr>
              <a:lnSpc>
                <a:spcPct val="200000"/>
              </a:lnSpc>
            </a:pPr>
            <a:r>
              <a:rPr lang="en-GB" dirty="0" err="1"/>
              <a:t>myNumbers</a:t>
            </a:r>
            <a:r>
              <a:rPr lang="en-GB" dirty="0"/>
              <a:t>[</a:t>
            </a:r>
            <a:r>
              <a:rPr lang="en-GB" dirty="0">
                <a:solidFill>
                  <a:srgbClr val="FF0000"/>
                </a:solidFill>
              </a:rPr>
              <a:t>0</a:t>
            </a:r>
            <a:r>
              <a:rPr lang="en-GB" dirty="0"/>
              <a:t>] = </a:t>
            </a:r>
            <a:r>
              <a:rPr lang="en-GB" dirty="0">
                <a:solidFill>
                  <a:srgbClr val="FF0000"/>
                </a:solidFill>
              </a:rPr>
              <a:t>33</a:t>
            </a:r>
            <a:r>
              <a:rPr lang="en-GB" dirty="0"/>
              <a:t>;</a:t>
            </a:r>
          </a:p>
        </p:txBody>
      </p:sp>
    </p:spTree>
    <p:extLst>
      <p:ext uri="{BB962C8B-B14F-4D97-AF65-F5344CB8AC3E}">
        <p14:creationId xmlns:p14="http://schemas.microsoft.com/office/powerpoint/2010/main" val="41489220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Example</a:t>
            </a:r>
            <a:r>
              <a:rPr lang="en-GB" b="1" dirty="0"/>
              <a:t/>
            </a:r>
            <a:br>
              <a:rPr lang="en-GB" b="1" dirty="0"/>
            </a:br>
            <a:endParaRPr lang="en-GB" b="1" dirty="0"/>
          </a:p>
        </p:txBody>
      </p:sp>
      <p:sp>
        <p:nvSpPr>
          <p:cNvPr id="3" name="Content Placeholder 2"/>
          <p:cNvSpPr>
            <a:spLocks noGrp="1"/>
          </p:cNvSpPr>
          <p:nvPr>
            <p:ph idx="1"/>
          </p:nvPr>
        </p:nvSpPr>
        <p:spPr/>
        <p:txBody>
          <a:bodyPr/>
          <a:lstStyle/>
          <a:p>
            <a:pPr>
              <a:lnSpc>
                <a:spcPct val="150000"/>
              </a:lnSpc>
            </a:pP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33</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Now outputs 33 instead of 25</a:t>
            </a:r>
            <a:endParaRPr lang="en-GB" dirty="0"/>
          </a:p>
        </p:txBody>
      </p:sp>
    </p:spTree>
    <p:extLst>
      <p:ext uri="{BB962C8B-B14F-4D97-AF65-F5344CB8AC3E}">
        <p14:creationId xmlns:p14="http://schemas.microsoft.com/office/powerpoint/2010/main" val="6682747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ea typeface="Times New Roman"/>
                <a:cs typeface="Times New Roman"/>
                <a:sym typeface="Times New Roman"/>
              </a:rPr>
              <a:t>Loop </a:t>
            </a:r>
            <a:r>
              <a:rPr lang="en-GB" dirty="0">
                <a:solidFill>
                  <a:srgbClr val="023182"/>
                </a:solidFill>
                <a:latin typeface="Times New Roman"/>
                <a:ea typeface="Times New Roman"/>
                <a:cs typeface="Times New Roman"/>
                <a:sym typeface="Times New Roman"/>
              </a:rPr>
              <a:t>Through an Array</a:t>
            </a:r>
            <a:br>
              <a:rPr lang="en-GB" dirty="0">
                <a:solidFill>
                  <a:srgbClr val="023182"/>
                </a:solidFill>
                <a:latin typeface="Times New Roman"/>
                <a:ea typeface="Times New Roman"/>
                <a:cs typeface="Times New Roman"/>
                <a:sym typeface="Times New Roman"/>
              </a:rPr>
            </a:br>
            <a:endParaRPr lang="en-GB" b="1" dirty="0"/>
          </a:p>
        </p:txBody>
      </p:sp>
      <p:sp>
        <p:nvSpPr>
          <p:cNvPr id="3" name="Content Placeholder 2"/>
          <p:cNvSpPr>
            <a:spLocks noGrp="1"/>
          </p:cNvSpPr>
          <p:nvPr>
            <p:ph idx="1"/>
          </p:nvPr>
        </p:nvSpPr>
        <p:spPr/>
        <p:txBody>
          <a:bodyPr/>
          <a:lstStyle/>
          <a:p>
            <a:r>
              <a:rPr lang="en-GB" dirty="0"/>
              <a:t>You can loop through the array elements with the </a:t>
            </a:r>
            <a:r>
              <a:rPr lang="en-GB" dirty="0">
                <a:solidFill>
                  <a:srgbClr val="FF0000"/>
                </a:solidFill>
              </a:rPr>
              <a:t>for</a:t>
            </a:r>
            <a:r>
              <a:rPr lang="en-GB" dirty="0"/>
              <a:t> loop.</a:t>
            </a:r>
          </a:p>
          <a:p>
            <a:endParaRPr lang="en-GB" dirty="0"/>
          </a:p>
          <a:p>
            <a:r>
              <a:rPr lang="en-GB" dirty="0"/>
              <a:t>The following example outputs all elements in the </a:t>
            </a:r>
            <a:r>
              <a:rPr lang="en-GB" dirty="0" err="1">
                <a:solidFill>
                  <a:srgbClr val="FF0000"/>
                </a:solidFill>
              </a:rPr>
              <a:t>myNumbers</a:t>
            </a:r>
            <a:r>
              <a:rPr lang="en-GB" dirty="0"/>
              <a:t> array:</a:t>
            </a:r>
          </a:p>
        </p:txBody>
      </p:sp>
    </p:spTree>
    <p:extLst>
      <p:ext uri="{BB962C8B-B14F-4D97-AF65-F5344CB8AC3E}">
        <p14:creationId xmlns:p14="http://schemas.microsoft.com/office/powerpoint/2010/main" val="12824804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ea typeface="Times New Roman"/>
                <a:cs typeface="Times New Roman"/>
                <a:sym typeface="Times New Roman"/>
              </a:rPr>
              <a:t>Access </a:t>
            </a:r>
            <a:r>
              <a:rPr lang="en-GB" dirty="0">
                <a:solidFill>
                  <a:srgbClr val="023182"/>
                </a:solidFill>
                <a:latin typeface="Times New Roman"/>
                <a:ea typeface="Times New Roman"/>
                <a:cs typeface="Times New Roman"/>
                <a:sym typeface="Times New Roman"/>
              </a:rPr>
              <a:t>the Elements of an Array</a:t>
            </a:r>
            <a:r>
              <a:rPr lang="en-GB" dirty="0"/>
              <a:t/>
            </a:r>
            <a:br>
              <a:rPr lang="en-GB" dirty="0"/>
            </a:br>
            <a:endParaRPr lang="en-GB" dirty="0"/>
          </a:p>
        </p:txBody>
      </p:sp>
      <p:sp>
        <p:nvSpPr>
          <p:cNvPr id="3" name="Content Placeholder 2"/>
          <p:cNvSpPr>
            <a:spLocks noGrp="1"/>
          </p:cNvSpPr>
          <p:nvPr>
            <p:ph idx="1"/>
          </p:nvPr>
        </p:nvSpPr>
        <p:spPr/>
        <p:txBody>
          <a:bodyPr/>
          <a:lstStyle/>
          <a:p>
            <a:pPr algn="just">
              <a:lnSpc>
                <a:spcPct val="150000"/>
              </a:lnSpc>
            </a:pPr>
            <a:r>
              <a:rPr lang="en-GB" dirty="0"/>
              <a:t>To access an array element, refer to its index number.</a:t>
            </a:r>
          </a:p>
          <a:p>
            <a:pPr algn="just">
              <a:lnSpc>
                <a:spcPct val="150000"/>
              </a:lnSpc>
            </a:pPr>
            <a:r>
              <a:rPr lang="en-GB" dirty="0" smtClean="0"/>
              <a:t>Array </a:t>
            </a:r>
            <a:r>
              <a:rPr lang="en-GB" dirty="0"/>
              <a:t>indexes start with 0: [0] is the first element. [1] is the second element, etc.</a:t>
            </a:r>
          </a:p>
          <a:p>
            <a:pPr algn="just">
              <a:lnSpc>
                <a:spcPct val="150000"/>
              </a:lnSpc>
            </a:pPr>
            <a:r>
              <a:rPr lang="en-GB" dirty="0" smtClean="0"/>
              <a:t>This </a:t>
            </a:r>
            <a:r>
              <a:rPr lang="en-GB" dirty="0"/>
              <a:t>statement accesses the value of the first element [0] in </a:t>
            </a:r>
            <a:r>
              <a:rPr lang="en-GB" dirty="0" err="1"/>
              <a:t>myNumbers</a:t>
            </a:r>
            <a:r>
              <a:rPr lang="en-GB" dirty="0"/>
              <a:t>:</a:t>
            </a:r>
          </a:p>
        </p:txBody>
      </p:sp>
    </p:spTree>
    <p:extLst>
      <p:ext uri="{BB962C8B-B14F-4D97-AF65-F5344CB8AC3E}">
        <p14:creationId xmlns:p14="http://schemas.microsoft.com/office/powerpoint/2010/main" val="2465401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ea typeface="Times New Roman"/>
                <a:cs typeface="Times New Roman"/>
                <a:sym typeface="Times New Roman"/>
              </a:rPr>
              <a:t>Example</a:t>
            </a:r>
            <a:r>
              <a:rPr lang="en-GB" b="1" dirty="0"/>
              <a:t/>
            </a:r>
            <a:br>
              <a:rPr lang="en-GB" b="1" dirty="0"/>
            </a:br>
            <a:endParaRPr lang="en-GB" b="1" dirty="0"/>
          </a:p>
        </p:txBody>
      </p:sp>
      <p:sp>
        <p:nvSpPr>
          <p:cNvPr id="3" name="Content Placeholder 2"/>
          <p:cNvSpPr>
            <a:spLocks noGrp="1"/>
          </p:cNvSpPr>
          <p:nvPr>
            <p:ph idx="1"/>
          </p:nvPr>
        </p:nvSpPr>
        <p:spPr/>
        <p:txBody>
          <a:bodyPr>
            <a:normAutofit lnSpcReduction="10000"/>
          </a:bodyPr>
          <a:lstStyle/>
          <a:p>
            <a:endParaRPr lang="en-GB" dirty="0" smtClean="0">
              <a:solidFill>
                <a:srgbClr val="0000CD"/>
              </a:solidFill>
              <a:latin typeface="Consolas" panose="020B0609020204030204" pitchFamily="49" charset="0"/>
            </a:endParaRPr>
          </a:p>
          <a:p>
            <a:pPr>
              <a:lnSpc>
                <a:spcPct val="150000"/>
              </a:lnSpc>
            </a:pPr>
            <a:r>
              <a:rPr lang="en-GB" dirty="0" err="1" smtClean="0">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00CD"/>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&lt; </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14954897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solidFill>
                  <a:srgbClr val="023182"/>
                </a:solidFill>
                <a:latin typeface="Times New Roman"/>
                <a:ea typeface="Times New Roman"/>
                <a:cs typeface="Times New Roman"/>
                <a:sym typeface="Times New Roman"/>
              </a:rPr>
              <a:t>Set </a:t>
            </a:r>
            <a:r>
              <a:rPr lang="en-GB" dirty="0">
                <a:solidFill>
                  <a:srgbClr val="023182"/>
                </a:solidFill>
                <a:latin typeface="Times New Roman"/>
                <a:ea typeface="Times New Roman"/>
                <a:cs typeface="Times New Roman"/>
                <a:sym typeface="Times New Roman"/>
              </a:rPr>
              <a:t>Array Size</a:t>
            </a:r>
            <a:r>
              <a:rPr lang="en-GB" dirty="0"/>
              <a:t/>
            </a:r>
            <a:br>
              <a:rPr lang="en-GB" dirty="0"/>
            </a:br>
            <a:endParaRPr lang="en-GB" dirty="0"/>
          </a:p>
        </p:txBody>
      </p:sp>
      <p:sp>
        <p:nvSpPr>
          <p:cNvPr id="3" name="Content Placeholder 2"/>
          <p:cNvSpPr>
            <a:spLocks noGrp="1"/>
          </p:cNvSpPr>
          <p:nvPr>
            <p:ph idx="1"/>
          </p:nvPr>
        </p:nvSpPr>
        <p:spPr/>
        <p:txBody>
          <a:bodyPr>
            <a:normAutofit/>
          </a:bodyPr>
          <a:lstStyle/>
          <a:p>
            <a:pPr algn="just"/>
            <a:r>
              <a:rPr lang="en-GB" dirty="0"/>
              <a:t>Another common way to create arrays, is to specify the size of the array, and add elements later</a:t>
            </a:r>
            <a:r>
              <a:rPr lang="en-GB" dirty="0" smtClean="0"/>
              <a:t>:</a:t>
            </a:r>
          </a:p>
          <a:p>
            <a:r>
              <a:rPr lang="en-GB" b="1" dirty="0"/>
              <a:t>Example</a:t>
            </a:r>
          </a:p>
          <a:p>
            <a:r>
              <a:rPr lang="en-GB" dirty="0"/>
              <a:t>// Declare an array of four integers:</a:t>
            </a:r>
            <a:br>
              <a:rPr lang="en-GB" dirty="0"/>
            </a:br>
            <a:r>
              <a:rPr lang="en-GB" dirty="0" err="1"/>
              <a:t>int</a:t>
            </a:r>
            <a:r>
              <a:rPr lang="en-GB" dirty="0"/>
              <a:t> </a:t>
            </a:r>
            <a:r>
              <a:rPr lang="en-GB" dirty="0" err="1"/>
              <a:t>myNumbers</a:t>
            </a:r>
            <a:r>
              <a:rPr lang="en-GB" dirty="0"/>
              <a:t>[4];</a:t>
            </a:r>
            <a:br>
              <a:rPr lang="en-GB" dirty="0"/>
            </a:br>
            <a:r>
              <a:rPr lang="en-GB" dirty="0" smtClean="0"/>
              <a:t>// </a:t>
            </a:r>
            <a:r>
              <a:rPr lang="en-GB" dirty="0"/>
              <a:t>Add elements</a:t>
            </a:r>
            <a:br>
              <a:rPr lang="en-GB" dirty="0"/>
            </a:br>
            <a:r>
              <a:rPr lang="en-GB" dirty="0" err="1"/>
              <a:t>myNumbers</a:t>
            </a:r>
            <a:r>
              <a:rPr lang="en-GB" dirty="0"/>
              <a:t>[0] = 25;</a:t>
            </a:r>
            <a:br>
              <a:rPr lang="en-GB" dirty="0"/>
            </a:br>
            <a:r>
              <a:rPr lang="en-GB" dirty="0" err="1"/>
              <a:t>myNumbers</a:t>
            </a:r>
            <a:r>
              <a:rPr lang="en-GB" dirty="0"/>
              <a:t>[1] = 50;</a:t>
            </a:r>
            <a:br>
              <a:rPr lang="en-GB" dirty="0"/>
            </a:br>
            <a:r>
              <a:rPr lang="en-GB" dirty="0" err="1"/>
              <a:t>myNumbers</a:t>
            </a:r>
            <a:r>
              <a:rPr lang="en-GB" dirty="0"/>
              <a:t>[2] = 75;</a:t>
            </a:r>
            <a:br>
              <a:rPr lang="en-GB" dirty="0"/>
            </a:br>
            <a:r>
              <a:rPr lang="en-GB" dirty="0" err="1"/>
              <a:t>myNumbers</a:t>
            </a:r>
            <a:r>
              <a:rPr lang="en-GB" dirty="0"/>
              <a:t>[3] = 100;</a:t>
            </a:r>
          </a:p>
        </p:txBody>
      </p:sp>
    </p:spTree>
    <p:extLst>
      <p:ext uri="{BB962C8B-B14F-4D97-AF65-F5344CB8AC3E}">
        <p14:creationId xmlns:p14="http://schemas.microsoft.com/office/powerpoint/2010/main" val="11515603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solidFill>
                  <a:srgbClr val="023182"/>
                </a:solidFill>
                <a:latin typeface="Times New Roman"/>
                <a:ea typeface="Times New Roman"/>
                <a:cs typeface="Times New Roman"/>
                <a:sym typeface="Times New Roman"/>
              </a:rPr>
              <a:t>Set Array Size</a:t>
            </a:r>
            <a:endParaRPr lang="en-GB" dirty="0"/>
          </a:p>
        </p:txBody>
      </p:sp>
      <p:sp>
        <p:nvSpPr>
          <p:cNvPr id="3" name="Content Placeholder 2"/>
          <p:cNvSpPr>
            <a:spLocks noGrp="1"/>
          </p:cNvSpPr>
          <p:nvPr>
            <p:ph idx="1"/>
          </p:nvPr>
        </p:nvSpPr>
        <p:spPr/>
        <p:txBody>
          <a:bodyPr/>
          <a:lstStyle/>
          <a:p>
            <a:pPr algn="just">
              <a:lnSpc>
                <a:spcPct val="150000"/>
              </a:lnSpc>
            </a:pPr>
            <a:r>
              <a:rPr lang="en-GB" dirty="0"/>
              <a:t>Using this method, you should know the number of array elements in advance, in order for the program to store enough memory.</a:t>
            </a:r>
          </a:p>
          <a:p>
            <a:pPr algn="just">
              <a:lnSpc>
                <a:spcPct val="150000"/>
              </a:lnSpc>
            </a:pPr>
            <a:r>
              <a:rPr lang="en-GB" dirty="0" smtClean="0"/>
              <a:t>You </a:t>
            </a:r>
            <a:r>
              <a:rPr lang="en-GB" dirty="0"/>
              <a:t>are not able to change the size of the array after creation.</a:t>
            </a:r>
          </a:p>
        </p:txBody>
      </p:sp>
    </p:spTree>
    <p:extLst>
      <p:ext uri="{BB962C8B-B14F-4D97-AF65-F5344CB8AC3E}">
        <p14:creationId xmlns:p14="http://schemas.microsoft.com/office/powerpoint/2010/main" val="24437407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smtClean="0"/>
              <a:t>Avoid </a:t>
            </a:r>
            <a:r>
              <a:rPr lang="en-GB" b="1" dirty="0"/>
              <a:t>Mixing Data Types</a:t>
            </a:r>
            <a:br>
              <a:rPr lang="en-GB" b="1" dirty="0"/>
            </a:br>
            <a:endParaRPr lang="en-GB" b="1" dirty="0"/>
          </a:p>
        </p:txBody>
      </p:sp>
      <p:sp>
        <p:nvSpPr>
          <p:cNvPr id="3" name="Content Placeholder 2"/>
          <p:cNvSpPr>
            <a:spLocks noGrp="1"/>
          </p:cNvSpPr>
          <p:nvPr>
            <p:ph idx="1"/>
          </p:nvPr>
        </p:nvSpPr>
        <p:spPr/>
        <p:txBody>
          <a:bodyPr/>
          <a:lstStyle/>
          <a:p>
            <a:pPr algn="just">
              <a:lnSpc>
                <a:spcPct val="150000"/>
              </a:lnSpc>
            </a:pPr>
            <a:r>
              <a:rPr lang="en-GB" dirty="0"/>
              <a:t>It is important to note that all elements in an array </a:t>
            </a:r>
            <a:r>
              <a:rPr lang="en-GB" b="1" dirty="0"/>
              <a:t>must be of the same data type</a:t>
            </a:r>
            <a:r>
              <a:rPr lang="en-GB" dirty="0"/>
              <a:t>.</a:t>
            </a:r>
          </a:p>
          <a:p>
            <a:pPr algn="just">
              <a:lnSpc>
                <a:spcPct val="150000"/>
              </a:lnSpc>
            </a:pPr>
            <a:r>
              <a:rPr lang="en-GB" dirty="0"/>
              <a:t>This means you cannot mix different types of values, like integers and floating point numbers, in the same array</a:t>
            </a:r>
            <a:r>
              <a:rPr lang="en-GB" dirty="0" smtClean="0"/>
              <a:t>:</a:t>
            </a:r>
          </a:p>
          <a:p>
            <a:r>
              <a:rPr lang="en-GB" b="1" dirty="0">
                <a:solidFill>
                  <a:srgbClr val="000000"/>
                </a:solidFill>
                <a:latin typeface="Segoe UI" panose="020B0502040204020203" pitchFamily="34" charset="0"/>
              </a:rPr>
              <a:t>Example</a:t>
            </a:r>
          </a:p>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myArray</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3.15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5.99</a:t>
            </a:r>
            <a:r>
              <a:rPr lang="en-GB" dirty="0">
                <a:solidFill>
                  <a:srgbClr val="000000"/>
                </a:solidFill>
                <a:latin typeface="Consolas" panose="020B0609020204030204" pitchFamily="49" charset="0"/>
              </a:rPr>
              <a:t>};</a:t>
            </a:r>
          </a:p>
          <a:p>
            <a:pPr marL="0" indent="0" algn="just">
              <a:lnSpc>
                <a:spcPct val="150000"/>
              </a:lnSpc>
              <a:buNone/>
            </a:pPr>
            <a:endParaRPr lang="en-GB" dirty="0" smtClean="0"/>
          </a:p>
          <a:p>
            <a:pPr algn="just">
              <a:lnSpc>
                <a:spcPct val="200000"/>
              </a:lnSpc>
            </a:pPr>
            <a:endParaRPr lang="en-GB" dirty="0"/>
          </a:p>
        </p:txBody>
      </p:sp>
    </p:spTree>
    <p:extLst>
      <p:ext uri="{BB962C8B-B14F-4D97-AF65-F5344CB8AC3E}">
        <p14:creationId xmlns:p14="http://schemas.microsoft.com/office/powerpoint/2010/main" val="1042350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Multidimensional </a:t>
            </a:r>
            <a:r>
              <a:rPr lang="en-GB" b="1" dirty="0"/>
              <a:t>Arrays</a:t>
            </a:r>
            <a:br>
              <a:rPr lang="en-GB" b="1" dirty="0"/>
            </a:br>
            <a:endParaRPr lang="en-GB" b="1" dirty="0"/>
          </a:p>
        </p:txBody>
      </p:sp>
      <p:sp>
        <p:nvSpPr>
          <p:cNvPr id="3" name="Content Placeholder 2"/>
          <p:cNvSpPr>
            <a:spLocks noGrp="1"/>
          </p:cNvSpPr>
          <p:nvPr>
            <p:ph idx="1"/>
          </p:nvPr>
        </p:nvSpPr>
        <p:spPr/>
        <p:txBody>
          <a:bodyPr/>
          <a:lstStyle/>
          <a:p>
            <a:pPr algn="just">
              <a:lnSpc>
                <a:spcPct val="150000"/>
              </a:lnSpc>
            </a:pPr>
            <a:r>
              <a:rPr lang="en-GB" dirty="0"/>
              <a:t>I</a:t>
            </a:r>
            <a:r>
              <a:rPr lang="en-GB" dirty="0" smtClean="0"/>
              <a:t>f </a:t>
            </a:r>
            <a:r>
              <a:rPr lang="en-GB" dirty="0"/>
              <a:t>you want to store data as a tabular form, like a table with rows and columns, you need to get familiar </a:t>
            </a:r>
            <a:r>
              <a:rPr lang="en-GB" dirty="0" smtClean="0"/>
              <a:t>with</a:t>
            </a:r>
            <a:r>
              <a:rPr lang="en-GB" dirty="0"/>
              <a:t> </a:t>
            </a:r>
            <a:r>
              <a:rPr lang="en-GB" b="1" dirty="0"/>
              <a:t>multidimensional </a:t>
            </a:r>
            <a:r>
              <a:rPr lang="en-GB" b="1" dirty="0" smtClean="0"/>
              <a:t>arrays</a:t>
            </a:r>
          </a:p>
          <a:p>
            <a:pPr algn="just">
              <a:lnSpc>
                <a:spcPct val="150000"/>
              </a:lnSpc>
            </a:pPr>
            <a:r>
              <a:rPr lang="en-GB" dirty="0"/>
              <a:t>A multidimensional array is basically an array of arrays.</a:t>
            </a:r>
          </a:p>
        </p:txBody>
      </p:sp>
    </p:spTree>
    <p:extLst>
      <p:ext uri="{BB962C8B-B14F-4D97-AF65-F5344CB8AC3E}">
        <p14:creationId xmlns:p14="http://schemas.microsoft.com/office/powerpoint/2010/main" val="35245588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Two-Dimensional </a:t>
            </a:r>
            <a:r>
              <a:rPr lang="en-GB" b="1" dirty="0"/>
              <a:t>Arrays</a:t>
            </a:r>
            <a:br>
              <a:rPr lang="en-GB" b="1" dirty="0"/>
            </a:br>
            <a:endParaRPr lang="en-GB" b="1" dirty="0"/>
          </a:p>
        </p:txBody>
      </p:sp>
      <p:sp>
        <p:nvSpPr>
          <p:cNvPr id="3" name="Content Placeholder 2"/>
          <p:cNvSpPr>
            <a:spLocks noGrp="1"/>
          </p:cNvSpPr>
          <p:nvPr>
            <p:ph idx="1"/>
          </p:nvPr>
        </p:nvSpPr>
        <p:spPr>
          <a:xfrm>
            <a:off x="838199" y="1554480"/>
            <a:ext cx="10787743" cy="4622483"/>
          </a:xfrm>
        </p:spPr>
        <p:txBody>
          <a:bodyPr>
            <a:normAutofit fontScale="92500" lnSpcReduction="10000"/>
          </a:bodyPr>
          <a:lstStyle/>
          <a:p>
            <a:pPr>
              <a:lnSpc>
                <a:spcPct val="150000"/>
              </a:lnSpc>
            </a:pPr>
            <a:r>
              <a:rPr lang="en-GB" dirty="0"/>
              <a:t>A 2D array is also known as a matrix (a table of rows and columns).</a:t>
            </a:r>
          </a:p>
          <a:p>
            <a:pPr>
              <a:lnSpc>
                <a:spcPct val="150000"/>
              </a:lnSpc>
            </a:pPr>
            <a:r>
              <a:rPr lang="en-GB" dirty="0"/>
              <a:t>To create a 2D array of integers, take a look at the following </a:t>
            </a:r>
            <a:r>
              <a:rPr lang="en-GB" dirty="0" smtClean="0"/>
              <a:t>example</a:t>
            </a:r>
          </a:p>
          <a:p>
            <a:pPr>
              <a:lnSpc>
                <a:spcPct val="150000"/>
              </a:lnSpc>
            </a:pP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matrix[</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3</a:t>
            </a:r>
            <a:r>
              <a:rPr lang="en-GB" dirty="0">
                <a:solidFill>
                  <a:srgbClr val="000000"/>
                </a:solidFill>
                <a:latin typeface="Consolas" panose="020B0609020204030204" pitchFamily="49" charset="0"/>
              </a:rPr>
              <a:t>] = {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3</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6</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8</a:t>
            </a:r>
            <a:r>
              <a:rPr lang="en-GB" dirty="0">
                <a:solidFill>
                  <a:srgbClr val="000000"/>
                </a:solidFill>
                <a:latin typeface="Consolas" panose="020B0609020204030204" pitchFamily="49" charset="0"/>
              </a:rPr>
              <a:t>} </a:t>
            </a:r>
            <a:r>
              <a:rPr lang="en-GB" dirty="0" smtClean="0">
                <a:solidFill>
                  <a:srgbClr val="000000"/>
                </a:solidFill>
                <a:latin typeface="Consolas" panose="020B0609020204030204" pitchFamily="49" charset="0"/>
              </a:rPr>
              <a:t>};</a:t>
            </a:r>
          </a:p>
          <a:p>
            <a:pPr>
              <a:lnSpc>
                <a:spcPct val="150000"/>
              </a:lnSpc>
            </a:pPr>
            <a:r>
              <a:rPr lang="en-GB" dirty="0">
                <a:solidFill>
                  <a:srgbClr val="000000"/>
                </a:solidFill>
                <a:latin typeface="Verdana" panose="020B0604030504040204" pitchFamily="34" charset="0"/>
              </a:rPr>
              <a:t>The first dimension represents the number of rows</a:t>
            </a:r>
            <a:r>
              <a:rPr lang="en-GB" b="1" dirty="0">
                <a:solidFill>
                  <a:srgbClr val="000000"/>
                </a:solidFill>
                <a:latin typeface="Verdana" panose="020B0604030504040204" pitchFamily="34" charset="0"/>
              </a:rPr>
              <a:t> [2]</a:t>
            </a:r>
            <a:r>
              <a:rPr lang="en-GB" dirty="0">
                <a:solidFill>
                  <a:srgbClr val="000000"/>
                </a:solidFill>
                <a:latin typeface="Verdana" panose="020B0604030504040204" pitchFamily="34" charset="0"/>
              </a:rPr>
              <a:t>, while the second dimension represents the number of columns</a:t>
            </a:r>
            <a:r>
              <a:rPr lang="en-GB" b="1" dirty="0">
                <a:solidFill>
                  <a:srgbClr val="000000"/>
                </a:solidFill>
                <a:latin typeface="Verdana" panose="020B0604030504040204" pitchFamily="34" charset="0"/>
              </a:rPr>
              <a:t> [3]</a:t>
            </a:r>
            <a:r>
              <a:rPr lang="en-GB" dirty="0">
                <a:solidFill>
                  <a:srgbClr val="000000"/>
                </a:solidFill>
                <a:latin typeface="Verdana" panose="020B0604030504040204" pitchFamily="34" charset="0"/>
              </a:rPr>
              <a:t>. The values are placed in row-order, and can be visualized like this:</a:t>
            </a:r>
            <a:endParaRPr lang="en-GB" dirty="0"/>
          </a:p>
          <a:p>
            <a:pPr>
              <a:lnSpc>
                <a:spcPct val="150000"/>
              </a:lnSpc>
            </a:pPr>
            <a:endParaRPr lang="en-GB" dirty="0"/>
          </a:p>
        </p:txBody>
      </p:sp>
    </p:spTree>
    <p:extLst>
      <p:ext uri="{BB962C8B-B14F-4D97-AF65-F5344CB8AC3E}">
        <p14:creationId xmlns:p14="http://schemas.microsoft.com/office/powerpoint/2010/main" val="26169996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82014" y="667293"/>
            <a:ext cx="10299791" cy="4505597"/>
          </a:xfrm>
          <a:prstGeom prst="rect">
            <a:avLst/>
          </a:prstGeom>
        </p:spPr>
      </p:pic>
    </p:spTree>
    <p:extLst>
      <p:ext uri="{BB962C8B-B14F-4D97-AF65-F5344CB8AC3E}">
        <p14:creationId xmlns:p14="http://schemas.microsoft.com/office/powerpoint/2010/main" val="12358888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Cont</a:t>
            </a:r>
            <a:r>
              <a:rPr lang="en-GB" dirty="0" smtClean="0"/>
              <a:t>…</a:t>
            </a:r>
            <a:endParaRPr lang="en-GB" dirty="0"/>
          </a:p>
        </p:txBody>
      </p:sp>
      <p:sp>
        <p:nvSpPr>
          <p:cNvPr id="3" name="Content Placeholder 2"/>
          <p:cNvSpPr>
            <a:spLocks noGrp="1"/>
          </p:cNvSpPr>
          <p:nvPr>
            <p:ph idx="1"/>
          </p:nvPr>
        </p:nvSpPr>
        <p:spPr/>
        <p:txBody>
          <a:bodyPr/>
          <a:lstStyle/>
          <a:p>
            <a:pPr algn="just">
              <a:lnSpc>
                <a:spcPct val="150000"/>
              </a:lnSpc>
            </a:pPr>
            <a:r>
              <a:rPr lang="en-GB" dirty="0" smtClean="0"/>
              <a:t>To </a:t>
            </a:r>
            <a:r>
              <a:rPr lang="en-GB" dirty="0"/>
              <a:t>access an element of a two-dimensional array, you must specify the index number of both the row and column.</a:t>
            </a:r>
          </a:p>
          <a:p>
            <a:pPr algn="just">
              <a:lnSpc>
                <a:spcPct val="150000"/>
              </a:lnSpc>
            </a:pPr>
            <a:r>
              <a:rPr lang="en-GB" dirty="0"/>
              <a:t>This statement accesses the value of the element in the </a:t>
            </a:r>
            <a:r>
              <a:rPr lang="en-GB" b="1" dirty="0"/>
              <a:t>first row (0)</a:t>
            </a:r>
            <a:r>
              <a:rPr lang="en-GB" dirty="0"/>
              <a:t> and </a:t>
            </a:r>
            <a:r>
              <a:rPr lang="en-GB" b="1" dirty="0"/>
              <a:t>third column (2)</a:t>
            </a:r>
            <a:r>
              <a:rPr lang="en-GB" dirty="0"/>
              <a:t> of the </a:t>
            </a:r>
            <a:r>
              <a:rPr lang="en-GB" b="1" dirty="0"/>
              <a:t>matrix</a:t>
            </a:r>
            <a:r>
              <a:rPr lang="en-GB" dirty="0"/>
              <a:t> array.</a:t>
            </a:r>
          </a:p>
          <a:p>
            <a:endParaRPr lang="en-GB" dirty="0"/>
          </a:p>
        </p:txBody>
      </p:sp>
    </p:spTree>
    <p:extLst>
      <p:ext uri="{BB962C8B-B14F-4D97-AF65-F5344CB8AC3E}">
        <p14:creationId xmlns:p14="http://schemas.microsoft.com/office/powerpoint/2010/main" val="24663014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b="1" dirty="0"/>
              <a:t/>
            </a:r>
            <a:br>
              <a:rPr lang="en-GB" b="1" dirty="0"/>
            </a:br>
            <a:endParaRPr lang="en-GB" b="1" dirty="0"/>
          </a:p>
        </p:txBody>
      </p:sp>
      <p:sp>
        <p:nvSpPr>
          <p:cNvPr id="3" name="Content Placeholder 2"/>
          <p:cNvSpPr>
            <a:spLocks noGrp="1"/>
          </p:cNvSpPr>
          <p:nvPr>
            <p:ph idx="1"/>
          </p:nvPr>
        </p:nvSpPr>
        <p:spPr/>
        <p:txBody>
          <a:bodyPr/>
          <a:lstStyle/>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matrix[</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3</a:t>
            </a:r>
            <a:r>
              <a:rPr lang="en-GB" dirty="0">
                <a:solidFill>
                  <a:srgbClr val="000000"/>
                </a:solidFill>
                <a:latin typeface="Consolas" panose="020B0609020204030204" pitchFamily="49" charset="0"/>
              </a:rPr>
              <a:t>] = {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3</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6</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8</a:t>
            </a:r>
            <a:r>
              <a:rPr lang="en-GB" dirty="0">
                <a:solidFill>
                  <a:srgbClr val="000000"/>
                </a:solidFill>
                <a:latin typeface="Consolas" panose="020B0609020204030204" pitchFamily="49" charset="0"/>
              </a:rPr>
              <a:t>} };</a:t>
            </a:r>
            <a:r>
              <a:rPr lang="en-GB" dirty="0"/>
              <a:t/>
            </a:r>
            <a:br>
              <a:rPr lang="en-GB" dirty="0"/>
            </a:b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matrix[</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 Outputs 2</a:t>
            </a:r>
            <a:endParaRPr lang="en-GB" dirty="0"/>
          </a:p>
        </p:txBody>
      </p:sp>
    </p:spTree>
    <p:extLst>
      <p:ext uri="{BB962C8B-B14F-4D97-AF65-F5344CB8AC3E}">
        <p14:creationId xmlns:p14="http://schemas.microsoft.com/office/powerpoint/2010/main" val="42211347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Strings </a:t>
            </a:r>
            <a:r>
              <a:rPr lang="en-US" b="1" dirty="0"/>
              <a:t>in </a:t>
            </a:r>
            <a:r>
              <a:rPr lang="en-GB" b="1" dirty="0"/>
              <a:t>array</a:t>
            </a:r>
            <a:br>
              <a:rPr lang="en-GB" b="1" dirty="0"/>
            </a:br>
            <a:r>
              <a:rPr lang="en-GB" b="1" dirty="0"/>
              <a:t/>
            </a:r>
            <a:br>
              <a:rPr lang="en-GB" b="1" dirty="0"/>
            </a:br>
            <a:endParaRPr lang="en-GB" dirty="0"/>
          </a:p>
        </p:txBody>
      </p:sp>
      <p:sp>
        <p:nvSpPr>
          <p:cNvPr id="3" name="Content Placeholder 2"/>
          <p:cNvSpPr>
            <a:spLocks noGrp="1"/>
          </p:cNvSpPr>
          <p:nvPr>
            <p:ph idx="1"/>
          </p:nvPr>
        </p:nvSpPr>
        <p:spPr>
          <a:xfrm>
            <a:off x="838200" y="1293223"/>
            <a:ext cx="10515600" cy="4883740"/>
          </a:xfrm>
        </p:spPr>
        <p:txBody>
          <a:bodyPr>
            <a:normAutofit/>
          </a:bodyPr>
          <a:lstStyle/>
          <a:p>
            <a:pPr algn="just">
              <a:lnSpc>
                <a:spcPct val="160000"/>
              </a:lnSpc>
            </a:pPr>
            <a:r>
              <a:rPr lang="en-GB" dirty="0"/>
              <a:t>Strings are used for storing </a:t>
            </a:r>
            <a:r>
              <a:rPr lang="en-GB" b="1" dirty="0"/>
              <a:t>text/characters</a:t>
            </a:r>
            <a:r>
              <a:rPr lang="en-GB" dirty="0"/>
              <a:t>.</a:t>
            </a:r>
          </a:p>
          <a:p>
            <a:pPr algn="just">
              <a:lnSpc>
                <a:spcPct val="160000"/>
              </a:lnSpc>
            </a:pPr>
            <a:r>
              <a:rPr lang="en-GB" dirty="0"/>
              <a:t>For example, "</a:t>
            </a:r>
            <a:r>
              <a:rPr lang="en-GB" b="1" dirty="0"/>
              <a:t>Hello World</a:t>
            </a:r>
            <a:r>
              <a:rPr lang="en-GB" dirty="0"/>
              <a:t>" is a string of characters</a:t>
            </a:r>
            <a:r>
              <a:rPr lang="en-GB" dirty="0" smtClean="0"/>
              <a:t>.</a:t>
            </a:r>
          </a:p>
          <a:p>
            <a:pPr algn="just">
              <a:lnSpc>
                <a:spcPct val="160000"/>
              </a:lnSpc>
            </a:pPr>
            <a:r>
              <a:rPr lang="en-GB" dirty="0"/>
              <a:t>Unlike many other programming languages, </a:t>
            </a:r>
            <a:r>
              <a:rPr lang="en-GB" b="1" dirty="0"/>
              <a:t>C does </a:t>
            </a:r>
            <a:r>
              <a:rPr lang="en-GB" dirty="0"/>
              <a:t>not have a </a:t>
            </a:r>
            <a:r>
              <a:rPr lang="en-GB" b="1" dirty="0"/>
              <a:t>String</a:t>
            </a:r>
            <a:r>
              <a:rPr lang="en-GB" dirty="0"/>
              <a:t> type to easily create string variables. Instead, you must use the char type and create an array of characters to make a string in C</a:t>
            </a:r>
            <a:r>
              <a:rPr lang="en-GB" dirty="0" smtClean="0"/>
              <a:t>:</a:t>
            </a:r>
          </a:p>
          <a:p>
            <a:pPr algn="just">
              <a:lnSpc>
                <a:spcPct val="200000"/>
              </a:lnSpc>
            </a:pPr>
            <a:r>
              <a:rPr lang="en-GB" sz="3200" dirty="0">
                <a:solidFill>
                  <a:srgbClr val="0000CD"/>
                </a:solidFill>
                <a:latin typeface="Consolas" panose="020B0609020204030204" pitchFamily="49" charset="0"/>
              </a:rPr>
              <a:t>char</a:t>
            </a:r>
            <a:r>
              <a:rPr lang="en-GB" sz="3200" dirty="0">
                <a:solidFill>
                  <a:srgbClr val="000000"/>
                </a:solidFill>
                <a:latin typeface="Consolas" panose="020B0609020204030204" pitchFamily="49" charset="0"/>
              </a:rPr>
              <a:t> greetings[] = </a:t>
            </a:r>
            <a:r>
              <a:rPr lang="en-GB" sz="3200" dirty="0">
                <a:solidFill>
                  <a:srgbClr val="A52A2A"/>
                </a:solidFill>
                <a:latin typeface="Consolas" panose="020B0609020204030204" pitchFamily="49" charset="0"/>
              </a:rPr>
              <a:t>"Hello World!"</a:t>
            </a:r>
            <a:r>
              <a:rPr lang="en-GB" sz="3200" dirty="0">
                <a:solidFill>
                  <a:srgbClr val="000000"/>
                </a:solidFill>
                <a:latin typeface="Consolas" panose="020B0609020204030204" pitchFamily="49" charset="0"/>
              </a:rPr>
              <a:t>;</a:t>
            </a:r>
            <a:endParaRPr lang="en-GB" sz="3200" dirty="0"/>
          </a:p>
          <a:p>
            <a:pPr algn="just">
              <a:lnSpc>
                <a:spcPct val="200000"/>
              </a:lnSpc>
            </a:pPr>
            <a:endParaRPr lang="en-GB" dirty="0"/>
          </a:p>
        </p:txBody>
      </p:sp>
    </p:spTree>
    <p:extLst>
      <p:ext uri="{BB962C8B-B14F-4D97-AF65-F5344CB8AC3E}">
        <p14:creationId xmlns:p14="http://schemas.microsoft.com/office/powerpoint/2010/main" val="9274384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Cont</a:t>
            </a:r>
            <a:r>
              <a:rPr lang="en-GB" dirty="0" smtClean="0"/>
              <a:t>…</a:t>
            </a:r>
            <a:endParaRPr lang="en-GB" dirty="0"/>
          </a:p>
        </p:txBody>
      </p:sp>
      <p:sp>
        <p:nvSpPr>
          <p:cNvPr id="3" name="Content Placeholder 2"/>
          <p:cNvSpPr>
            <a:spLocks noGrp="1"/>
          </p:cNvSpPr>
          <p:nvPr>
            <p:ph idx="1"/>
          </p:nvPr>
        </p:nvSpPr>
        <p:spPr/>
        <p:txBody>
          <a:bodyPr/>
          <a:lstStyle/>
          <a:p>
            <a:pPr algn="just">
              <a:lnSpc>
                <a:spcPct val="200000"/>
              </a:lnSpc>
            </a:pPr>
            <a:r>
              <a:rPr lang="en-GB" dirty="0"/>
              <a:t>Note that you have to use double quotes </a:t>
            </a:r>
            <a:r>
              <a:rPr lang="en-GB" dirty="0" smtClean="0">
                <a:solidFill>
                  <a:srgbClr val="FF0000"/>
                </a:solidFill>
              </a:rPr>
              <a:t>("").</a:t>
            </a:r>
          </a:p>
          <a:p>
            <a:pPr algn="just">
              <a:lnSpc>
                <a:spcPct val="200000"/>
              </a:lnSpc>
            </a:pPr>
            <a:r>
              <a:rPr lang="en-GB" dirty="0"/>
              <a:t>To output the string, you can use the </a:t>
            </a:r>
            <a:r>
              <a:rPr lang="en-GB" dirty="0" err="1">
                <a:solidFill>
                  <a:srgbClr val="FF0000"/>
                </a:solidFill>
              </a:rPr>
              <a:t>printf</a:t>
            </a:r>
            <a:r>
              <a:rPr lang="en-GB" dirty="0">
                <a:solidFill>
                  <a:srgbClr val="FF0000"/>
                </a:solidFill>
              </a:rPr>
              <a:t>() </a:t>
            </a:r>
            <a:r>
              <a:rPr lang="en-GB" dirty="0"/>
              <a:t>function together with the format specifier </a:t>
            </a:r>
            <a:r>
              <a:rPr lang="en-GB" dirty="0">
                <a:solidFill>
                  <a:srgbClr val="FF0000"/>
                </a:solidFill>
              </a:rPr>
              <a:t>%s</a:t>
            </a:r>
            <a:r>
              <a:rPr lang="en-GB" dirty="0"/>
              <a:t> to tell C that we are now working with strings:</a:t>
            </a:r>
          </a:p>
        </p:txBody>
      </p:sp>
    </p:spTree>
    <p:extLst>
      <p:ext uri="{BB962C8B-B14F-4D97-AF65-F5344CB8AC3E}">
        <p14:creationId xmlns:p14="http://schemas.microsoft.com/office/powerpoint/2010/main" val="11447820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Example</a:t>
            </a:r>
            <a:r>
              <a:rPr lang="en-GB" dirty="0"/>
              <a:t/>
            </a:r>
            <a:br>
              <a:rPr lang="en-GB" dirty="0"/>
            </a:br>
            <a:endParaRPr lang="en-GB" dirty="0"/>
          </a:p>
        </p:txBody>
      </p:sp>
      <p:sp>
        <p:nvSpPr>
          <p:cNvPr id="3" name="Content Placeholder 2"/>
          <p:cNvSpPr>
            <a:spLocks noGrp="1"/>
          </p:cNvSpPr>
          <p:nvPr>
            <p:ph idx="1"/>
          </p:nvPr>
        </p:nvSpPr>
        <p:spPr/>
        <p:txBody>
          <a:bodyPr/>
          <a:lstStyle/>
          <a:p>
            <a:pPr>
              <a:lnSpc>
                <a:spcPct val="15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greetings[] = </a:t>
            </a:r>
            <a:r>
              <a:rPr lang="en-GB" dirty="0">
                <a:solidFill>
                  <a:srgbClr val="A52A2A"/>
                </a:solidFill>
                <a:latin typeface="Consolas" panose="020B0609020204030204" pitchFamily="49" charset="0"/>
              </a:rPr>
              <a:t>"Hello World!"</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"%s"</a:t>
            </a:r>
            <a:r>
              <a:rPr lang="en-GB" dirty="0">
                <a:solidFill>
                  <a:srgbClr val="000000"/>
                </a:solidFill>
                <a:latin typeface="Consolas" panose="020B0609020204030204" pitchFamily="49" charset="0"/>
              </a:rPr>
              <a:t>, greetings);</a:t>
            </a:r>
            <a:endParaRPr lang="en-GB" dirty="0"/>
          </a:p>
        </p:txBody>
      </p:sp>
    </p:spTree>
    <p:extLst>
      <p:ext uri="{BB962C8B-B14F-4D97-AF65-F5344CB8AC3E}">
        <p14:creationId xmlns:p14="http://schemas.microsoft.com/office/powerpoint/2010/main" val="27256170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Access </a:t>
            </a:r>
            <a:r>
              <a:rPr lang="en-GB" b="1" dirty="0"/>
              <a:t>Strings</a:t>
            </a:r>
            <a:br>
              <a:rPr lang="en-GB" b="1" dirty="0"/>
            </a:br>
            <a:endParaRPr lang="en-GB" b="1" dirty="0"/>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GB" dirty="0"/>
              <a:t>Since strings are actually arrays in C, you can access a string by referring to its index number inside square brackets </a:t>
            </a:r>
            <a:r>
              <a:rPr lang="en-GB" dirty="0" smtClean="0">
                <a:solidFill>
                  <a:srgbClr val="FF0000"/>
                </a:solidFill>
              </a:rPr>
              <a:t>[]</a:t>
            </a:r>
          </a:p>
          <a:p>
            <a:pPr algn="just">
              <a:lnSpc>
                <a:spcPct val="150000"/>
              </a:lnSpc>
            </a:pPr>
            <a:r>
              <a:rPr lang="en-GB" dirty="0"/>
              <a:t>This example prints the </a:t>
            </a:r>
            <a:r>
              <a:rPr lang="en-GB" b="1" dirty="0"/>
              <a:t>first character (0) </a:t>
            </a:r>
            <a:r>
              <a:rPr lang="en-GB" dirty="0"/>
              <a:t>in greetings</a:t>
            </a:r>
            <a:r>
              <a:rPr lang="en-GB" dirty="0" smtClean="0"/>
              <a:t>:</a:t>
            </a:r>
          </a:p>
          <a:p>
            <a:pPr algn="just">
              <a:lnSpc>
                <a:spcPct val="150000"/>
              </a:lnSpc>
            </a:pPr>
            <a:r>
              <a:rPr lang="en-GB" b="1" dirty="0" smtClean="0"/>
              <a:t>Example</a:t>
            </a:r>
          </a:p>
          <a:p>
            <a:pPr>
              <a:lnSpc>
                <a:spcPct val="15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greetings[] = </a:t>
            </a:r>
            <a:r>
              <a:rPr lang="en-GB" dirty="0">
                <a:solidFill>
                  <a:srgbClr val="A52A2A"/>
                </a:solidFill>
                <a:latin typeface="Consolas" panose="020B0609020204030204" pitchFamily="49" charset="0"/>
              </a:rPr>
              <a:t>"Hello World!"</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"%c"</a:t>
            </a:r>
            <a:r>
              <a:rPr lang="en-GB" dirty="0">
                <a:solidFill>
                  <a:srgbClr val="000000"/>
                </a:solidFill>
                <a:latin typeface="Consolas" panose="020B0609020204030204" pitchFamily="49" charset="0"/>
              </a:rPr>
              <a:t>, greetings[</a:t>
            </a:r>
            <a:r>
              <a:rPr lang="en-GB" dirty="0">
                <a:solidFill>
                  <a:srgbClr val="FF0000"/>
                </a:solidFill>
                <a:latin typeface="Consolas" panose="020B0609020204030204" pitchFamily="49" charset="0"/>
              </a:rPr>
              <a:t>0</a:t>
            </a:r>
            <a:r>
              <a:rPr lang="en-GB" dirty="0" smtClean="0">
                <a:solidFill>
                  <a:srgbClr val="000000"/>
                </a:solidFill>
                <a:latin typeface="Consolas" panose="020B0609020204030204" pitchFamily="49" charset="0"/>
              </a:rPr>
              <a:t>]);</a:t>
            </a:r>
          </a:p>
          <a:p>
            <a:pPr>
              <a:lnSpc>
                <a:spcPct val="150000"/>
              </a:lnSpc>
            </a:pPr>
            <a:r>
              <a:rPr lang="en-GB" b="1" dirty="0"/>
              <a:t>Note that we have to use the %c format specifier to print a single character.</a:t>
            </a:r>
          </a:p>
          <a:p>
            <a:pPr algn="just">
              <a:lnSpc>
                <a:spcPct val="150000"/>
              </a:lnSpc>
            </a:pPr>
            <a:endParaRPr lang="en-GB" dirty="0"/>
          </a:p>
        </p:txBody>
      </p:sp>
    </p:spTree>
    <p:extLst>
      <p:ext uri="{BB962C8B-B14F-4D97-AF65-F5344CB8AC3E}">
        <p14:creationId xmlns:p14="http://schemas.microsoft.com/office/powerpoint/2010/main" val="11543539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Modify </a:t>
            </a:r>
            <a:r>
              <a:rPr lang="en-GB" b="1" dirty="0"/>
              <a:t>Strings</a:t>
            </a:r>
            <a:br>
              <a:rPr lang="en-GB" b="1" dirty="0"/>
            </a:br>
            <a:endParaRPr lang="en-GB" b="1" dirty="0"/>
          </a:p>
        </p:txBody>
      </p:sp>
      <p:sp>
        <p:nvSpPr>
          <p:cNvPr id="3" name="Content Placeholder 2"/>
          <p:cNvSpPr>
            <a:spLocks noGrp="1"/>
          </p:cNvSpPr>
          <p:nvPr>
            <p:ph idx="1"/>
          </p:nvPr>
        </p:nvSpPr>
        <p:spPr>
          <a:xfrm>
            <a:off x="838200" y="1825625"/>
            <a:ext cx="10515600" cy="4718866"/>
          </a:xfrm>
        </p:spPr>
        <p:txBody>
          <a:bodyPr>
            <a:normAutofit lnSpcReduction="10000"/>
          </a:bodyPr>
          <a:lstStyle/>
          <a:p>
            <a:pPr>
              <a:lnSpc>
                <a:spcPct val="150000"/>
              </a:lnSpc>
            </a:pPr>
            <a:r>
              <a:rPr lang="en-GB" dirty="0"/>
              <a:t>To change the value of a specific character in a string, refer to the index number, and use </a:t>
            </a:r>
            <a:r>
              <a:rPr lang="en-GB" b="1" dirty="0"/>
              <a:t>single quotes</a:t>
            </a:r>
            <a:r>
              <a:rPr lang="en-GB" dirty="0" smtClean="0"/>
              <a:t>:</a:t>
            </a:r>
          </a:p>
          <a:p>
            <a:pPr>
              <a:lnSpc>
                <a:spcPct val="150000"/>
              </a:lnSpc>
            </a:pPr>
            <a:r>
              <a:rPr lang="en-GB" dirty="0"/>
              <a:t>Example</a:t>
            </a:r>
          </a:p>
          <a:p>
            <a:pPr>
              <a:lnSpc>
                <a:spcPct val="15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greetings[] = </a:t>
            </a:r>
            <a:r>
              <a:rPr lang="en-GB" dirty="0">
                <a:solidFill>
                  <a:srgbClr val="A52A2A"/>
                </a:solidFill>
                <a:latin typeface="Consolas" panose="020B0609020204030204" pitchFamily="49" charset="0"/>
              </a:rPr>
              <a:t>"Hello World!"</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greetings[</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 </a:t>
            </a:r>
            <a:r>
              <a:rPr lang="en-GB" dirty="0">
                <a:solidFill>
                  <a:srgbClr val="A52A2A"/>
                </a:solidFill>
                <a:latin typeface="Consolas" panose="020B0609020204030204" pitchFamily="49" charset="0"/>
              </a:rPr>
              <a:t>'J'</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"%s"</a:t>
            </a:r>
            <a:r>
              <a:rPr lang="en-GB" dirty="0">
                <a:solidFill>
                  <a:srgbClr val="000000"/>
                </a:solidFill>
                <a:latin typeface="Consolas" panose="020B0609020204030204" pitchFamily="49" charset="0"/>
              </a:rPr>
              <a:t>, greetings);</a:t>
            </a:r>
            <a:r>
              <a:rPr lang="en-GB" dirty="0"/>
              <a:t/>
            </a:r>
            <a:br>
              <a:rPr lang="en-GB" dirty="0"/>
            </a:br>
            <a:r>
              <a:rPr lang="en-GB" dirty="0">
                <a:solidFill>
                  <a:srgbClr val="008000"/>
                </a:solidFill>
                <a:latin typeface="Consolas" panose="020B0609020204030204" pitchFamily="49" charset="0"/>
              </a:rPr>
              <a:t>// Outputs </a:t>
            </a:r>
            <a:r>
              <a:rPr lang="en-GB" dirty="0" err="1">
                <a:solidFill>
                  <a:srgbClr val="008000"/>
                </a:solidFill>
                <a:latin typeface="Consolas" panose="020B0609020204030204" pitchFamily="49" charset="0"/>
              </a:rPr>
              <a:t>Jello</a:t>
            </a:r>
            <a:r>
              <a:rPr lang="en-GB" dirty="0">
                <a:solidFill>
                  <a:srgbClr val="008000"/>
                </a:solidFill>
                <a:latin typeface="Consolas" panose="020B0609020204030204" pitchFamily="49" charset="0"/>
              </a:rPr>
              <a:t> World! instead of Hello World!</a:t>
            </a:r>
            <a:endParaRPr lang="en-GB" b="1" dirty="0"/>
          </a:p>
        </p:txBody>
      </p:sp>
    </p:spTree>
    <p:extLst>
      <p:ext uri="{BB962C8B-B14F-4D97-AF65-F5344CB8AC3E}">
        <p14:creationId xmlns:p14="http://schemas.microsoft.com/office/powerpoint/2010/main" val="6610796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Loop Through a String</a:t>
            </a:r>
            <a:r>
              <a:rPr lang="en-GB" dirty="0"/>
              <a:t/>
            </a:r>
            <a:br>
              <a:rPr lang="en-GB" dirty="0"/>
            </a:br>
            <a:endParaRPr lang="en-GB" dirty="0"/>
          </a:p>
        </p:txBody>
      </p:sp>
      <p:sp>
        <p:nvSpPr>
          <p:cNvPr id="3" name="Content Placeholder 2"/>
          <p:cNvSpPr>
            <a:spLocks noGrp="1"/>
          </p:cNvSpPr>
          <p:nvPr>
            <p:ph idx="1"/>
          </p:nvPr>
        </p:nvSpPr>
        <p:spPr/>
        <p:txBody>
          <a:bodyPr/>
          <a:lstStyle/>
          <a:p>
            <a:pPr>
              <a:lnSpc>
                <a:spcPct val="100000"/>
              </a:lnSpc>
            </a:pPr>
            <a:r>
              <a:rPr lang="en-GB" dirty="0"/>
              <a:t>You can also loop through the characters of a string, using a for loop</a:t>
            </a:r>
            <a:r>
              <a:rPr lang="en-GB" dirty="0" smtClean="0"/>
              <a:t>:</a:t>
            </a:r>
          </a:p>
          <a:p>
            <a:pPr>
              <a:lnSpc>
                <a:spcPct val="100000"/>
              </a:lnSpc>
            </a:pPr>
            <a:r>
              <a:rPr lang="en-GB" dirty="0"/>
              <a:t>Example</a:t>
            </a:r>
          </a:p>
          <a:p>
            <a:pPr>
              <a:lnSpc>
                <a:spcPct val="10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carName</a:t>
            </a:r>
            <a:r>
              <a:rPr lang="en-GB" dirty="0">
                <a:solidFill>
                  <a:srgbClr val="000000"/>
                </a:solidFill>
                <a:latin typeface="Consolas" panose="020B0609020204030204" pitchFamily="49" charset="0"/>
              </a:rPr>
              <a:t>[] = </a:t>
            </a:r>
            <a:r>
              <a:rPr lang="en-GB" dirty="0">
                <a:solidFill>
                  <a:srgbClr val="A52A2A"/>
                </a:solidFill>
                <a:latin typeface="Consolas" panose="020B0609020204030204" pitchFamily="49" charset="0"/>
              </a:rPr>
              <a:t>"Volvo"</a:t>
            </a:r>
            <a:r>
              <a:rPr lang="en-GB" dirty="0">
                <a:solidFill>
                  <a:srgbClr val="000000"/>
                </a:solidFill>
                <a:latin typeface="Consolas" panose="020B0609020204030204" pitchFamily="49" charset="0"/>
              </a:rPr>
              <a:t>;</a:t>
            </a:r>
            <a:r>
              <a:rPr lang="en-GB" dirty="0"/>
              <a:t/>
            </a:r>
            <a:br>
              <a:rPr lang="en-GB" dirty="0"/>
            </a:b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00CD"/>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&lt; </a:t>
            </a:r>
            <a:r>
              <a:rPr lang="en-GB" dirty="0">
                <a:solidFill>
                  <a:srgbClr val="FF0000"/>
                </a:solidFill>
                <a:latin typeface="Consolas" panose="020B0609020204030204" pitchFamily="49" charset="0"/>
              </a:rPr>
              <a:t>5</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"%c\n"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carName</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21640272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Another </a:t>
            </a:r>
            <a:r>
              <a:rPr lang="en-GB" b="1" dirty="0"/>
              <a:t>Way Of Creating Strings</a:t>
            </a:r>
            <a:br>
              <a:rPr lang="en-GB" b="1" dirty="0"/>
            </a:br>
            <a:endParaRPr lang="en-GB" b="1" dirty="0"/>
          </a:p>
        </p:txBody>
      </p:sp>
      <p:sp>
        <p:nvSpPr>
          <p:cNvPr id="3" name="Content Placeholder 2"/>
          <p:cNvSpPr>
            <a:spLocks noGrp="1"/>
          </p:cNvSpPr>
          <p:nvPr>
            <p:ph idx="1"/>
          </p:nvPr>
        </p:nvSpPr>
        <p:spPr/>
        <p:txBody>
          <a:bodyPr/>
          <a:lstStyle/>
          <a:p>
            <a:pPr algn="just">
              <a:lnSpc>
                <a:spcPct val="150000"/>
              </a:lnSpc>
            </a:pPr>
            <a:r>
              <a:rPr lang="en-GB" dirty="0"/>
              <a:t>In the examples above, we used a "string literal" to create a string variable. This is the easiest way to create a string in C</a:t>
            </a:r>
            <a:r>
              <a:rPr lang="en-GB" dirty="0" smtClean="0"/>
              <a:t>.</a:t>
            </a:r>
          </a:p>
          <a:p>
            <a:pPr algn="just">
              <a:lnSpc>
                <a:spcPct val="150000"/>
              </a:lnSpc>
            </a:pPr>
            <a:r>
              <a:rPr lang="en-GB" dirty="0"/>
              <a:t>You should also note that you can create a string with a set of characters. This example will produce the same result as the example in the beginning of this page:</a:t>
            </a:r>
          </a:p>
        </p:txBody>
      </p:sp>
    </p:spTree>
    <p:extLst>
      <p:ext uri="{BB962C8B-B14F-4D97-AF65-F5344CB8AC3E}">
        <p14:creationId xmlns:p14="http://schemas.microsoft.com/office/powerpoint/2010/main" val="35046581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Example</a:t>
            </a:r>
            <a:r>
              <a:rPr lang="en-GB" dirty="0"/>
              <a:t/>
            </a:r>
            <a:br>
              <a:rPr lang="en-GB" dirty="0"/>
            </a:br>
            <a:endParaRPr lang="en-GB" dirty="0"/>
          </a:p>
        </p:txBody>
      </p:sp>
      <p:sp>
        <p:nvSpPr>
          <p:cNvPr id="3" name="Content Placeholder 2"/>
          <p:cNvSpPr>
            <a:spLocks noGrp="1"/>
          </p:cNvSpPr>
          <p:nvPr>
            <p:ph idx="1"/>
          </p:nvPr>
        </p:nvSpPr>
        <p:spPr>
          <a:xfrm>
            <a:off x="838200" y="1825625"/>
            <a:ext cx="11140440" cy="4351338"/>
          </a:xfrm>
        </p:spPr>
        <p:txBody>
          <a:bodyPr/>
          <a:lstStyle/>
          <a:p>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greetings[] = {</a:t>
            </a:r>
            <a:r>
              <a:rPr lang="en-GB" dirty="0">
                <a:solidFill>
                  <a:srgbClr val="A52A2A"/>
                </a:solidFill>
                <a:latin typeface="Consolas" panose="020B0609020204030204" pitchFamily="49" charset="0"/>
              </a:rPr>
              <a:t>'H'</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'e'</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'l'</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'l'</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'o'</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 '</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'W'</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'o'</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'r'</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'l'</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'\0'</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"%s"</a:t>
            </a:r>
            <a:r>
              <a:rPr lang="en-GB" dirty="0">
                <a:solidFill>
                  <a:srgbClr val="000000"/>
                </a:solidFill>
                <a:latin typeface="Consolas" panose="020B0609020204030204" pitchFamily="49" charset="0"/>
              </a:rPr>
              <a:t>, greetings</a:t>
            </a:r>
            <a:r>
              <a:rPr lang="en-GB" dirty="0" smtClean="0">
                <a:solidFill>
                  <a:srgbClr val="000000"/>
                </a:solidFill>
                <a:latin typeface="Consolas" panose="020B0609020204030204" pitchFamily="49" charset="0"/>
              </a:rPr>
              <a:t>);</a:t>
            </a:r>
          </a:p>
          <a:p>
            <a:pPr algn="just">
              <a:lnSpc>
                <a:spcPct val="200000"/>
              </a:lnSpc>
            </a:pPr>
            <a:r>
              <a:rPr lang="en-GB" dirty="0"/>
              <a:t>Why do we include the \0 character at the end? This is known as the "null terminating character", and must be included when creating strings using this method. It tells C that this is the end of the string.</a:t>
            </a:r>
          </a:p>
          <a:p>
            <a:endParaRPr lang="en-GB" dirty="0"/>
          </a:p>
          <a:p>
            <a:endParaRPr lang="en-GB" dirty="0"/>
          </a:p>
        </p:txBody>
      </p:sp>
    </p:spTree>
    <p:extLst>
      <p:ext uri="{BB962C8B-B14F-4D97-AF65-F5344CB8AC3E}">
        <p14:creationId xmlns:p14="http://schemas.microsoft.com/office/powerpoint/2010/main" val="15105978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Differences</a:t>
            </a:r>
            <a:r>
              <a:rPr lang="en-GB" dirty="0"/>
              <a:t/>
            </a:r>
            <a:br>
              <a:rPr lang="en-GB" dirty="0"/>
            </a:br>
            <a:endParaRPr lang="en-GB" dirty="0"/>
          </a:p>
        </p:txBody>
      </p:sp>
      <p:sp>
        <p:nvSpPr>
          <p:cNvPr id="3" name="Content Placeholder 2"/>
          <p:cNvSpPr>
            <a:spLocks noGrp="1"/>
          </p:cNvSpPr>
          <p:nvPr>
            <p:ph idx="1"/>
          </p:nvPr>
        </p:nvSpPr>
        <p:spPr/>
        <p:txBody>
          <a:bodyPr/>
          <a:lstStyle/>
          <a:p>
            <a:pPr>
              <a:lnSpc>
                <a:spcPct val="150000"/>
              </a:lnSpc>
            </a:pPr>
            <a:r>
              <a:rPr lang="en-GB" dirty="0"/>
              <a:t>The difference between the two ways of creating strings, is that the first method is easier to write, and you do not have to include the </a:t>
            </a:r>
            <a:r>
              <a:rPr lang="en-GB" b="1" dirty="0"/>
              <a:t>\0 </a:t>
            </a:r>
            <a:r>
              <a:rPr lang="en-GB" dirty="0" smtClean="0"/>
              <a:t>character.</a:t>
            </a:r>
          </a:p>
          <a:p>
            <a:pPr>
              <a:lnSpc>
                <a:spcPct val="150000"/>
              </a:lnSpc>
            </a:pPr>
            <a:r>
              <a:rPr lang="en-GB" dirty="0"/>
              <a:t>You should note that the size of both arrays is the same: They both have 13 characters (space also counts as a character by the way), including the </a:t>
            </a:r>
            <a:r>
              <a:rPr lang="en-GB" b="1" dirty="0"/>
              <a:t>\0</a:t>
            </a:r>
            <a:r>
              <a:rPr lang="en-GB" dirty="0"/>
              <a:t> character:</a:t>
            </a:r>
          </a:p>
        </p:txBody>
      </p:sp>
    </p:spTree>
    <p:extLst>
      <p:ext uri="{BB962C8B-B14F-4D97-AF65-F5344CB8AC3E}">
        <p14:creationId xmlns:p14="http://schemas.microsoft.com/office/powerpoint/2010/main" val="24727176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b="1" dirty="0"/>
              <a:t/>
            </a:r>
            <a:br>
              <a:rPr lang="en-GB" b="1" dirty="0"/>
            </a:br>
            <a:endParaRPr lang="en-GB" b="1" dirty="0"/>
          </a:p>
        </p:txBody>
      </p:sp>
      <p:sp>
        <p:nvSpPr>
          <p:cNvPr id="3" name="Content Placeholder 2"/>
          <p:cNvSpPr>
            <a:spLocks noGrp="1"/>
          </p:cNvSpPr>
          <p:nvPr>
            <p:ph idx="1"/>
          </p:nvPr>
        </p:nvSpPr>
        <p:spPr/>
        <p:txBody>
          <a:bodyPr/>
          <a:lstStyle/>
          <a:p>
            <a:pPr>
              <a:lnSpc>
                <a:spcPct val="15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greetings[] = {</a:t>
            </a:r>
            <a:r>
              <a:rPr lang="en-GB" dirty="0">
                <a:solidFill>
                  <a:srgbClr val="A52A2A"/>
                </a:solidFill>
                <a:latin typeface="Consolas" panose="020B0609020204030204" pitchFamily="49" charset="0"/>
              </a:rPr>
              <a:t>'H'</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'e'</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'l'</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'l'</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'o'</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 '</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'W'</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'o'</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'r'</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'l'</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a:t>
            </a:r>
            <a:r>
              <a:rPr lang="en-GB" dirty="0">
                <a:solidFill>
                  <a:srgbClr val="000000"/>
                </a:solidFill>
                <a:latin typeface="Consolas" panose="020B0609020204030204" pitchFamily="49" charset="0"/>
              </a:rPr>
              <a:t>, </a:t>
            </a:r>
            <a:r>
              <a:rPr lang="en-GB" dirty="0">
                <a:solidFill>
                  <a:srgbClr val="A52A2A"/>
                </a:solidFill>
                <a:latin typeface="Consolas" panose="020B0609020204030204" pitchFamily="49" charset="0"/>
              </a:rPr>
              <a:t>'\0'</a:t>
            </a:r>
            <a:r>
              <a:rPr lang="en-GB" dirty="0">
                <a:solidFill>
                  <a:srgbClr val="000000"/>
                </a:solidFill>
                <a:latin typeface="Consolas" panose="020B0609020204030204" pitchFamily="49" charset="0"/>
              </a:rPr>
              <a:t>};</a:t>
            </a:r>
            <a:r>
              <a:rPr lang="en-GB" dirty="0"/>
              <a:t/>
            </a:r>
            <a:br>
              <a:rPr lang="en-GB" dirty="0"/>
            </a:b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greetings2[] = </a:t>
            </a:r>
            <a:r>
              <a:rPr lang="en-GB" dirty="0">
                <a:solidFill>
                  <a:srgbClr val="A52A2A"/>
                </a:solidFill>
                <a:latin typeface="Consolas" panose="020B0609020204030204" pitchFamily="49" charset="0"/>
              </a:rPr>
              <a:t>"Hello World!"</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a:t>
            </a:r>
            <a:r>
              <a:rPr lang="en-GB" dirty="0" err="1">
                <a:solidFill>
                  <a:srgbClr val="A52A2A"/>
                </a:solidFill>
                <a:latin typeface="Consolas" panose="020B0609020204030204" pitchFamily="49" charset="0"/>
              </a:rPr>
              <a:t>lu</a:t>
            </a:r>
            <a:r>
              <a:rPr lang="en-GB" dirty="0">
                <a:solidFill>
                  <a:srgbClr val="A52A2A"/>
                </a:solidFill>
                <a:latin typeface="Consolas" panose="020B0609020204030204" pitchFamily="49" charset="0"/>
              </a:rPr>
              <a:t>\n"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sizeof</a:t>
            </a:r>
            <a:r>
              <a:rPr lang="en-GB" dirty="0">
                <a:solidFill>
                  <a:srgbClr val="000000"/>
                </a:solidFill>
                <a:latin typeface="Consolas" panose="020B0609020204030204" pitchFamily="49" charset="0"/>
              </a:rPr>
              <a:t>(greetings));   </a:t>
            </a:r>
            <a:r>
              <a:rPr lang="en-GB" dirty="0">
                <a:solidFill>
                  <a:srgbClr val="008000"/>
                </a:solidFill>
                <a:latin typeface="Consolas" panose="020B0609020204030204" pitchFamily="49" charset="0"/>
              </a:rPr>
              <a:t>// Outputs 13</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a:t>
            </a:r>
            <a:r>
              <a:rPr lang="en-GB" dirty="0" err="1">
                <a:solidFill>
                  <a:srgbClr val="A52A2A"/>
                </a:solidFill>
                <a:latin typeface="Consolas" panose="020B0609020204030204" pitchFamily="49" charset="0"/>
              </a:rPr>
              <a:t>lu</a:t>
            </a:r>
            <a:r>
              <a:rPr lang="en-GB" dirty="0">
                <a:solidFill>
                  <a:srgbClr val="A52A2A"/>
                </a:solidFill>
                <a:latin typeface="Consolas" panose="020B0609020204030204" pitchFamily="49" charset="0"/>
              </a:rPr>
              <a:t>\n"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sizeof</a:t>
            </a:r>
            <a:r>
              <a:rPr lang="en-GB" dirty="0">
                <a:solidFill>
                  <a:srgbClr val="000000"/>
                </a:solidFill>
                <a:latin typeface="Consolas" panose="020B0609020204030204" pitchFamily="49" charset="0"/>
              </a:rPr>
              <a:t>(greetings2));  </a:t>
            </a:r>
            <a:r>
              <a:rPr lang="en-GB" dirty="0">
                <a:solidFill>
                  <a:srgbClr val="008000"/>
                </a:solidFill>
                <a:latin typeface="Consolas" panose="020B0609020204030204" pitchFamily="49" charset="0"/>
              </a:rPr>
              <a:t>// Outputs 13</a:t>
            </a:r>
            <a:endParaRPr lang="en-GB" dirty="0"/>
          </a:p>
        </p:txBody>
      </p:sp>
    </p:spTree>
    <p:extLst>
      <p:ext uri="{BB962C8B-B14F-4D97-AF65-F5344CB8AC3E}">
        <p14:creationId xmlns:p14="http://schemas.microsoft.com/office/powerpoint/2010/main" val="2347347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Example</a:t>
            </a:r>
            <a:r>
              <a:rPr lang="en-GB" dirty="0"/>
              <a:t/>
            </a:r>
            <a:br>
              <a:rPr lang="en-GB" dirty="0"/>
            </a:br>
            <a:endParaRPr lang="en-GB" dirty="0"/>
          </a:p>
        </p:txBody>
      </p:sp>
      <p:sp>
        <p:nvSpPr>
          <p:cNvPr id="3" name="Content Placeholder 2"/>
          <p:cNvSpPr>
            <a:spLocks noGrp="1"/>
          </p:cNvSpPr>
          <p:nvPr>
            <p:ph idx="1"/>
          </p:nvPr>
        </p:nvSpPr>
        <p:spPr/>
        <p:txBody>
          <a:bodyPr/>
          <a:lstStyle/>
          <a:p>
            <a:pPr>
              <a:lnSpc>
                <a:spcPct val="15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message[] = </a:t>
            </a:r>
            <a:r>
              <a:rPr lang="en-GB" dirty="0">
                <a:solidFill>
                  <a:srgbClr val="A52A2A"/>
                </a:solidFill>
                <a:latin typeface="Consolas" panose="020B0609020204030204" pitchFamily="49" charset="0"/>
              </a:rPr>
              <a:t>"Good to see you,"</a:t>
            </a:r>
            <a:r>
              <a:rPr lang="en-GB" dirty="0">
                <a:solidFill>
                  <a:srgbClr val="000000"/>
                </a:solidFill>
                <a:latin typeface="Consolas" panose="020B0609020204030204" pitchFamily="49" charset="0"/>
              </a:rPr>
              <a:t>;</a:t>
            </a:r>
            <a:r>
              <a:rPr lang="en-GB" dirty="0"/>
              <a:t/>
            </a:r>
            <a:br>
              <a:rPr lang="en-GB" dirty="0"/>
            </a:b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fname</a:t>
            </a:r>
            <a:r>
              <a:rPr lang="en-GB" dirty="0">
                <a:solidFill>
                  <a:srgbClr val="000000"/>
                </a:solidFill>
                <a:latin typeface="Consolas" panose="020B0609020204030204" pitchFamily="49" charset="0"/>
              </a:rPr>
              <a:t>[] = </a:t>
            </a:r>
            <a:r>
              <a:rPr lang="en-GB" dirty="0">
                <a:solidFill>
                  <a:srgbClr val="A52A2A"/>
                </a:solidFill>
                <a:latin typeface="Consolas" panose="020B0609020204030204" pitchFamily="49" charset="0"/>
              </a:rPr>
              <a:t>"John"</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"%s %s!"</a:t>
            </a:r>
            <a:r>
              <a:rPr lang="en-GB" dirty="0">
                <a:solidFill>
                  <a:srgbClr val="000000"/>
                </a:solidFill>
                <a:latin typeface="Consolas" panose="020B0609020204030204" pitchFamily="49" charset="0"/>
              </a:rPr>
              <a:t>, message, </a:t>
            </a:r>
            <a:r>
              <a:rPr lang="en-GB" dirty="0" err="1">
                <a:solidFill>
                  <a:srgbClr val="000000"/>
                </a:solidFill>
                <a:latin typeface="Consolas" panose="020B0609020204030204" pitchFamily="49" charset="0"/>
              </a:rPr>
              <a:t>fname</a:t>
            </a:r>
            <a:r>
              <a:rPr lang="en-GB" dirty="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38361107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What </a:t>
            </a:r>
            <a:r>
              <a:rPr lang="en-GB" b="1" dirty="0"/>
              <a:t>is an Array of Strings in C?</a:t>
            </a:r>
            <a:br>
              <a:rPr lang="en-GB" b="1" dirty="0"/>
            </a:br>
            <a:endParaRPr lang="en-GB" b="1" dirty="0"/>
          </a:p>
        </p:txBody>
      </p:sp>
      <p:sp>
        <p:nvSpPr>
          <p:cNvPr id="3" name="Content Placeholder 2"/>
          <p:cNvSpPr>
            <a:spLocks noGrp="1"/>
          </p:cNvSpPr>
          <p:nvPr>
            <p:ph idx="1"/>
          </p:nvPr>
        </p:nvSpPr>
        <p:spPr/>
        <p:txBody>
          <a:bodyPr>
            <a:normAutofit lnSpcReduction="10000"/>
          </a:bodyPr>
          <a:lstStyle/>
          <a:p>
            <a:pPr algn="just">
              <a:lnSpc>
                <a:spcPct val="150000"/>
              </a:lnSpc>
            </a:pPr>
            <a:r>
              <a:rPr lang="en-GB" i="1" dirty="0"/>
              <a:t>An array of strings is a two-dimensional array of character-type arrays where each character array (string) is null-terminated</a:t>
            </a:r>
            <a:r>
              <a:rPr lang="en-GB" i="1" dirty="0" smtClean="0"/>
              <a:t>.</a:t>
            </a:r>
          </a:p>
          <a:p>
            <a:pPr algn="just">
              <a:lnSpc>
                <a:spcPct val="150000"/>
              </a:lnSpc>
            </a:pPr>
            <a:r>
              <a:rPr lang="en-GB" dirty="0"/>
              <a:t>To declare a string, we use the </a:t>
            </a:r>
            <a:r>
              <a:rPr lang="en-GB" dirty="0" smtClean="0"/>
              <a:t>statement</a:t>
            </a:r>
          </a:p>
          <a:p>
            <a:pPr algn="just">
              <a:lnSpc>
                <a:spcPct val="150000"/>
              </a:lnSpc>
            </a:pPr>
            <a:r>
              <a:rPr lang="en-GB" b="1" dirty="0"/>
              <a:t>char</a:t>
            </a:r>
            <a:r>
              <a:rPr lang="en-GB" dirty="0"/>
              <a:t> string[] = {'H', 'e', 'l', 'l', 'o', '\0'};</a:t>
            </a:r>
          </a:p>
          <a:p>
            <a:pPr algn="just">
              <a:lnSpc>
                <a:spcPct val="150000"/>
              </a:lnSpc>
            </a:pPr>
            <a:r>
              <a:rPr lang="en-GB" dirty="0"/>
              <a:t>Or</a:t>
            </a:r>
          </a:p>
          <a:p>
            <a:pPr algn="just">
              <a:lnSpc>
                <a:spcPct val="150000"/>
              </a:lnSpc>
            </a:pPr>
            <a:r>
              <a:rPr lang="en-GB" dirty="0"/>
              <a:t>char string = "Hello";</a:t>
            </a:r>
          </a:p>
        </p:txBody>
      </p:sp>
    </p:spTree>
    <p:extLst>
      <p:ext uri="{BB962C8B-B14F-4D97-AF65-F5344CB8AC3E}">
        <p14:creationId xmlns:p14="http://schemas.microsoft.com/office/powerpoint/2010/main" val="28253601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Declare </a:t>
            </a:r>
            <a:r>
              <a:rPr lang="en-GB" b="1" dirty="0"/>
              <a:t>and Initialize an Array of Strings</a:t>
            </a:r>
            <a:br>
              <a:rPr lang="en-GB" b="1" dirty="0"/>
            </a:br>
            <a:endParaRPr lang="en-GB" b="1" dirty="0"/>
          </a:p>
        </p:txBody>
      </p:sp>
      <p:sp>
        <p:nvSpPr>
          <p:cNvPr id="3" name="Content Placeholder 2"/>
          <p:cNvSpPr>
            <a:spLocks noGrp="1"/>
          </p:cNvSpPr>
          <p:nvPr>
            <p:ph idx="1"/>
          </p:nvPr>
        </p:nvSpPr>
        <p:spPr/>
        <p:txBody>
          <a:bodyPr/>
          <a:lstStyle/>
          <a:p>
            <a:pPr algn="just">
              <a:lnSpc>
                <a:spcPct val="150000"/>
              </a:lnSpc>
            </a:pPr>
            <a:r>
              <a:rPr lang="en-GB" dirty="0"/>
              <a:t>To declare an array of strings, you need to declare a two-dimensional array of character types, where the first subscript is the total number of strings and the second subscript is the maximum size of each string</a:t>
            </a:r>
            <a:r>
              <a:rPr lang="en-GB" dirty="0" smtClean="0"/>
              <a:t>.</a:t>
            </a:r>
          </a:p>
          <a:p>
            <a:pPr algn="just">
              <a:lnSpc>
                <a:spcPct val="150000"/>
              </a:lnSpc>
            </a:pPr>
            <a:r>
              <a:rPr lang="en-GB" dirty="0"/>
              <a:t>To initialize an array of strings, you need to provide the multiple strings inside the double quotes separated by the commas.</a:t>
            </a:r>
          </a:p>
        </p:txBody>
      </p:sp>
    </p:spTree>
    <p:extLst>
      <p:ext uri="{BB962C8B-B14F-4D97-AF65-F5344CB8AC3E}">
        <p14:creationId xmlns:p14="http://schemas.microsoft.com/office/powerpoint/2010/main" val="36160060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Syntax</a:t>
            </a:r>
            <a:r>
              <a:rPr lang="en-GB" b="1" dirty="0"/>
              <a:t/>
            </a:r>
            <a:br>
              <a:rPr lang="en-GB" b="1" dirty="0"/>
            </a:br>
            <a:endParaRPr lang="en-GB" b="1" dirty="0"/>
          </a:p>
        </p:txBody>
      </p:sp>
      <p:sp>
        <p:nvSpPr>
          <p:cNvPr id="3" name="Content Placeholder 2"/>
          <p:cNvSpPr>
            <a:spLocks noGrp="1"/>
          </p:cNvSpPr>
          <p:nvPr>
            <p:ph idx="1"/>
          </p:nvPr>
        </p:nvSpPr>
        <p:spPr/>
        <p:txBody>
          <a:bodyPr/>
          <a:lstStyle/>
          <a:p>
            <a:pPr algn="just">
              <a:lnSpc>
                <a:spcPct val="150000"/>
              </a:lnSpc>
            </a:pPr>
            <a:r>
              <a:rPr lang="en-GB" dirty="0"/>
              <a:t>To </a:t>
            </a:r>
            <a:r>
              <a:rPr lang="en-GB" dirty="0" smtClean="0"/>
              <a:t>construct </a:t>
            </a:r>
            <a:r>
              <a:rPr lang="en-GB" dirty="0"/>
              <a:t>an array of strings, the following syntax is used </a:t>
            </a:r>
            <a:endParaRPr lang="en-GB" dirty="0" smtClean="0"/>
          </a:p>
          <a:p>
            <a:pPr algn="just">
              <a:lnSpc>
                <a:spcPct val="150000"/>
              </a:lnSpc>
            </a:pPr>
            <a:r>
              <a:rPr lang="en-GB" dirty="0"/>
              <a:t>char strings [</a:t>
            </a:r>
            <a:r>
              <a:rPr lang="en-GB" dirty="0" err="1"/>
              <a:t>no_of_strings</a:t>
            </a:r>
            <a:r>
              <a:rPr lang="en-GB" dirty="0"/>
              <a:t>] [</a:t>
            </a:r>
            <a:r>
              <a:rPr lang="en-GB" dirty="0" err="1"/>
              <a:t>max_size_of_each_string</a:t>
            </a:r>
            <a:r>
              <a:rPr lang="en-GB" dirty="0" smtClean="0"/>
              <a:t>];</a:t>
            </a:r>
          </a:p>
          <a:p>
            <a:pPr algn="just">
              <a:lnSpc>
                <a:spcPct val="150000"/>
              </a:lnSpc>
            </a:pPr>
            <a:r>
              <a:rPr lang="en-GB" b="1" dirty="0"/>
              <a:t>Example</a:t>
            </a:r>
          </a:p>
          <a:p>
            <a:pPr algn="just">
              <a:lnSpc>
                <a:spcPct val="150000"/>
              </a:lnSpc>
            </a:pPr>
            <a:r>
              <a:rPr lang="en-GB" dirty="0"/>
              <a:t>Let us declare and initialize an array of strings to store the names of 10 computer languages, each with the maximum length of 15 characters.</a:t>
            </a:r>
          </a:p>
          <a:p>
            <a:pPr marL="0" indent="0" algn="just">
              <a:lnSpc>
                <a:spcPct val="150000"/>
              </a:lnSpc>
              <a:buNone/>
            </a:pPr>
            <a:endParaRPr lang="en-GB" dirty="0"/>
          </a:p>
        </p:txBody>
      </p:sp>
    </p:spTree>
    <p:extLst>
      <p:ext uri="{BB962C8B-B14F-4D97-AF65-F5344CB8AC3E}">
        <p14:creationId xmlns:p14="http://schemas.microsoft.com/office/powerpoint/2010/main" val="34275965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66947" y="391273"/>
            <a:ext cx="9936481" cy="4247317"/>
          </a:xfrm>
          <a:prstGeom prst="rect">
            <a:avLst/>
          </a:prstGeom>
        </p:spPr>
        <p:txBody>
          <a:bodyPr wrap="square">
            <a:spAutoFit/>
          </a:bodyPr>
          <a:lstStyle/>
          <a:p>
            <a:pPr algn="just">
              <a:lnSpc>
                <a:spcPct val="150000"/>
              </a:lnSpc>
            </a:pPr>
            <a:r>
              <a:rPr lang="en-GB" sz="3600" dirty="0"/>
              <a:t>char </a:t>
            </a:r>
            <a:r>
              <a:rPr lang="en-GB" sz="3600" dirty="0" err="1"/>
              <a:t>langs</a:t>
            </a:r>
            <a:r>
              <a:rPr lang="en-GB" sz="3600" dirty="0"/>
              <a:t> [10][15] = {</a:t>
            </a:r>
          </a:p>
          <a:p>
            <a:pPr algn="just">
              <a:lnSpc>
                <a:spcPct val="150000"/>
              </a:lnSpc>
            </a:pPr>
            <a:r>
              <a:rPr lang="en-GB" sz="3600" dirty="0"/>
              <a:t>   "PYTHON", "JAVASCRIPT", "PHP",</a:t>
            </a:r>
          </a:p>
          <a:p>
            <a:pPr algn="just">
              <a:lnSpc>
                <a:spcPct val="150000"/>
              </a:lnSpc>
            </a:pPr>
            <a:r>
              <a:rPr lang="en-GB" sz="3600" dirty="0"/>
              <a:t>   "NODE JS", "HTML", "KOTLIN", "C++",</a:t>
            </a:r>
          </a:p>
          <a:p>
            <a:pPr algn="just">
              <a:lnSpc>
                <a:spcPct val="150000"/>
              </a:lnSpc>
            </a:pPr>
            <a:r>
              <a:rPr lang="en-GB" sz="3600" dirty="0"/>
              <a:t>   "REACT JS", "RUST", "VBSCRIPT"</a:t>
            </a:r>
          </a:p>
          <a:p>
            <a:pPr algn="just">
              <a:lnSpc>
                <a:spcPct val="150000"/>
              </a:lnSpc>
            </a:pPr>
            <a:r>
              <a:rPr lang="en-GB" sz="3600" dirty="0"/>
              <a:t>};</a:t>
            </a:r>
          </a:p>
        </p:txBody>
      </p:sp>
    </p:spTree>
    <p:extLst>
      <p:ext uri="{BB962C8B-B14F-4D97-AF65-F5344CB8AC3E}">
        <p14:creationId xmlns:p14="http://schemas.microsoft.com/office/powerpoint/2010/main" val="36191105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Printing </a:t>
            </a:r>
            <a:r>
              <a:rPr lang="en-GB" b="1" dirty="0"/>
              <a:t>An Array of Strings</a:t>
            </a:r>
            <a:br>
              <a:rPr lang="en-GB" b="1" dirty="0"/>
            </a:br>
            <a:endParaRPr lang="en-GB" b="1" dirty="0"/>
          </a:p>
        </p:txBody>
      </p:sp>
      <p:sp>
        <p:nvSpPr>
          <p:cNvPr id="3" name="Content Placeholder 2"/>
          <p:cNvSpPr>
            <a:spLocks noGrp="1"/>
          </p:cNvSpPr>
          <p:nvPr>
            <p:ph idx="1"/>
          </p:nvPr>
        </p:nvSpPr>
        <p:spPr/>
        <p:txBody>
          <a:bodyPr>
            <a:normAutofit/>
          </a:bodyPr>
          <a:lstStyle/>
          <a:p>
            <a:pPr algn="just">
              <a:lnSpc>
                <a:spcPct val="200000"/>
              </a:lnSpc>
            </a:pPr>
            <a:r>
              <a:rPr lang="en-GB" dirty="0"/>
              <a:t>A string can be printed using the </a:t>
            </a:r>
            <a:r>
              <a:rPr lang="en-GB" dirty="0" err="1"/>
              <a:t>printf</a:t>
            </a:r>
            <a:r>
              <a:rPr lang="en-GB" dirty="0"/>
              <a:t>() function with </a:t>
            </a:r>
            <a:r>
              <a:rPr lang="en-GB" b="1" dirty="0"/>
              <a:t>%s</a:t>
            </a:r>
            <a:r>
              <a:rPr lang="en-GB" dirty="0"/>
              <a:t> format specifier. To print each string of an array of strings, you can use the for loop till the number of strings</a:t>
            </a:r>
            <a:r>
              <a:rPr lang="en-GB" dirty="0" smtClean="0"/>
              <a:t>.</a:t>
            </a:r>
          </a:p>
        </p:txBody>
      </p:sp>
    </p:spTree>
    <p:extLst>
      <p:ext uri="{BB962C8B-B14F-4D97-AF65-F5344CB8AC3E}">
        <p14:creationId xmlns:p14="http://schemas.microsoft.com/office/powerpoint/2010/main" val="104068628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normAutofit fontScale="90000"/>
          </a:bodyPr>
          <a:lstStyle/>
          <a:p>
            <a:r>
              <a:rPr lang="en-GB" dirty="0" smtClean="0"/>
              <a:t/>
            </a:r>
            <a:br>
              <a:rPr lang="en-GB" dirty="0" smtClean="0"/>
            </a:br>
            <a:r>
              <a:rPr lang="en-GB" dirty="0" smtClean="0"/>
              <a:t>Example</a:t>
            </a:r>
            <a:r>
              <a:rPr lang="en-GB" dirty="0"/>
              <a:t/>
            </a:r>
            <a:br>
              <a:rPr lang="en-GB" dirty="0"/>
            </a:br>
            <a:endParaRPr lang="en-GB" dirty="0"/>
          </a:p>
        </p:txBody>
      </p:sp>
      <p:sp>
        <p:nvSpPr>
          <p:cNvPr id="4" name="Rectangle 3"/>
          <p:cNvSpPr/>
          <p:nvPr/>
        </p:nvSpPr>
        <p:spPr>
          <a:xfrm>
            <a:off x="838200" y="1149532"/>
            <a:ext cx="9612086" cy="369332"/>
          </a:xfrm>
          <a:prstGeom prst="rect">
            <a:avLst/>
          </a:prstGeom>
        </p:spPr>
        <p:txBody>
          <a:bodyPr wrap="square">
            <a:spAutoFit/>
          </a:bodyPr>
          <a:lstStyle/>
          <a:p>
            <a:r>
              <a:rPr lang="en-GB" dirty="0"/>
              <a:t>In the following example, we are declaring, initializing, and printing an array of string</a:t>
            </a:r>
          </a:p>
        </p:txBody>
      </p:sp>
      <p:sp>
        <p:nvSpPr>
          <p:cNvPr id="5" name="Rectangle 4"/>
          <p:cNvSpPr/>
          <p:nvPr/>
        </p:nvSpPr>
        <p:spPr>
          <a:xfrm>
            <a:off x="944880" y="1843133"/>
            <a:ext cx="7676606" cy="4524315"/>
          </a:xfrm>
          <a:prstGeom prst="rect">
            <a:avLst/>
          </a:prstGeom>
        </p:spPr>
        <p:txBody>
          <a:bodyPr wrap="square">
            <a:spAutoFit/>
          </a:bodyPr>
          <a:lstStyle/>
          <a:p>
            <a:r>
              <a:rPr lang="en-GB" dirty="0"/>
              <a:t>#include &lt;</a:t>
            </a:r>
            <a:r>
              <a:rPr lang="en-GB" dirty="0" err="1"/>
              <a:t>stdio.h</a:t>
            </a:r>
            <a:r>
              <a:rPr lang="en-GB" dirty="0"/>
              <a:t>&gt;</a:t>
            </a:r>
          </a:p>
          <a:p>
            <a:endParaRPr lang="en-GB" dirty="0"/>
          </a:p>
          <a:p>
            <a:r>
              <a:rPr lang="en-GB" dirty="0" err="1"/>
              <a:t>int</a:t>
            </a:r>
            <a:r>
              <a:rPr lang="en-GB" dirty="0"/>
              <a:t> main (){</a:t>
            </a:r>
          </a:p>
          <a:p>
            <a:endParaRPr lang="en-GB" dirty="0"/>
          </a:p>
          <a:p>
            <a:r>
              <a:rPr lang="en-GB" dirty="0"/>
              <a:t>   char </a:t>
            </a:r>
            <a:r>
              <a:rPr lang="en-GB" dirty="0" err="1"/>
              <a:t>langs</a:t>
            </a:r>
            <a:r>
              <a:rPr lang="en-GB" dirty="0"/>
              <a:t> [10][15] = {</a:t>
            </a:r>
          </a:p>
          <a:p>
            <a:r>
              <a:rPr lang="en-GB" dirty="0"/>
              <a:t>      "PYTHON", "JAVASCRIPT", "PHP",</a:t>
            </a:r>
          </a:p>
          <a:p>
            <a:r>
              <a:rPr lang="en-GB" dirty="0"/>
              <a:t>      "NODE JS", "HTML", "KOTLIN", "C++",</a:t>
            </a:r>
          </a:p>
          <a:p>
            <a:r>
              <a:rPr lang="en-GB" dirty="0"/>
              <a:t>      "REACT JS", "RUST", "VBSCRIPT"</a:t>
            </a:r>
          </a:p>
          <a:p>
            <a:r>
              <a:rPr lang="en-GB" dirty="0"/>
              <a:t>   };</a:t>
            </a:r>
          </a:p>
          <a:p>
            <a:endParaRPr lang="en-GB" dirty="0"/>
          </a:p>
          <a:p>
            <a:r>
              <a:rPr lang="en-GB" dirty="0"/>
              <a:t>   for (</a:t>
            </a:r>
            <a:r>
              <a:rPr lang="en-GB" dirty="0" err="1"/>
              <a:t>int</a:t>
            </a:r>
            <a:r>
              <a:rPr lang="en-GB" dirty="0"/>
              <a:t> </a:t>
            </a:r>
            <a:r>
              <a:rPr lang="en-GB" dirty="0" err="1"/>
              <a:t>i</a:t>
            </a:r>
            <a:r>
              <a:rPr lang="en-GB" dirty="0"/>
              <a:t> = 0; </a:t>
            </a:r>
            <a:r>
              <a:rPr lang="en-GB" dirty="0" err="1"/>
              <a:t>i</a:t>
            </a:r>
            <a:r>
              <a:rPr lang="en-GB" dirty="0"/>
              <a:t> &lt; 10; </a:t>
            </a:r>
            <a:r>
              <a:rPr lang="en-GB" dirty="0" err="1"/>
              <a:t>i</a:t>
            </a:r>
            <a:r>
              <a:rPr lang="en-GB" dirty="0"/>
              <a:t>++){</a:t>
            </a:r>
          </a:p>
          <a:p>
            <a:r>
              <a:rPr lang="en-GB" dirty="0"/>
              <a:t>      </a:t>
            </a:r>
            <a:r>
              <a:rPr lang="en-GB" dirty="0" err="1"/>
              <a:t>printf</a:t>
            </a:r>
            <a:r>
              <a:rPr lang="en-GB" dirty="0"/>
              <a:t>("%s\n", </a:t>
            </a:r>
            <a:r>
              <a:rPr lang="en-GB" dirty="0" err="1"/>
              <a:t>langs</a:t>
            </a:r>
            <a:r>
              <a:rPr lang="en-GB" dirty="0"/>
              <a:t>[</a:t>
            </a:r>
            <a:r>
              <a:rPr lang="en-GB" dirty="0" err="1"/>
              <a:t>i</a:t>
            </a:r>
            <a:r>
              <a:rPr lang="en-GB" dirty="0"/>
              <a:t>]);</a:t>
            </a:r>
          </a:p>
          <a:p>
            <a:r>
              <a:rPr lang="en-GB" dirty="0"/>
              <a:t>   }</a:t>
            </a:r>
          </a:p>
          <a:p>
            <a:r>
              <a:rPr lang="en-GB" dirty="0"/>
              <a:t>   </a:t>
            </a:r>
          </a:p>
          <a:p>
            <a:r>
              <a:rPr lang="en-GB" dirty="0"/>
              <a:t>   return 0;</a:t>
            </a:r>
          </a:p>
          <a:p>
            <a:r>
              <a:rPr lang="en-GB" dirty="0"/>
              <a:t>}</a:t>
            </a:r>
          </a:p>
        </p:txBody>
      </p:sp>
    </p:spTree>
    <p:extLst>
      <p:ext uri="{BB962C8B-B14F-4D97-AF65-F5344CB8AC3E}">
        <p14:creationId xmlns:p14="http://schemas.microsoft.com/office/powerpoint/2010/main" val="40805041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String </a:t>
            </a:r>
            <a:r>
              <a:rPr lang="en-GB" b="1" dirty="0"/>
              <a:t>Functions</a:t>
            </a:r>
            <a:br>
              <a:rPr lang="en-GB" b="1" dirty="0"/>
            </a:br>
            <a:endParaRPr lang="en-GB" b="1" dirty="0"/>
          </a:p>
        </p:txBody>
      </p:sp>
      <p:sp>
        <p:nvSpPr>
          <p:cNvPr id="3" name="Content Placeholder 2"/>
          <p:cNvSpPr>
            <a:spLocks noGrp="1"/>
          </p:cNvSpPr>
          <p:nvPr>
            <p:ph idx="1"/>
          </p:nvPr>
        </p:nvSpPr>
        <p:spPr/>
        <p:txBody>
          <a:bodyPr/>
          <a:lstStyle/>
          <a:p>
            <a:pPr algn="just">
              <a:lnSpc>
                <a:spcPct val="150000"/>
              </a:lnSpc>
            </a:pPr>
            <a:r>
              <a:rPr lang="en-GB" dirty="0"/>
              <a:t>C also has many useful string functions, which can be used to perform certain operations on strings.</a:t>
            </a:r>
          </a:p>
          <a:p>
            <a:pPr algn="just">
              <a:lnSpc>
                <a:spcPct val="150000"/>
              </a:lnSpc>
            </a:pPr>
            <a:r>
              <a:rPr lang="en-GB" dirty="0" smtClean="0"/>
              <a:t>To </a:t>
            </a:r>
            <a:r>
              <a:rPr lang="en-GB" dirty="0"/>
              <a:t>use them, you must include the </a:t>
            </a:r>
            <a:r>
              <a:rPr lang="en-GB" dirty="0">
                <a:solidFill>
                  <a:srgbClr val="FF0000"/>
                </a:solidFill>
              </a:rPr>
              <a:t>&lt;</a:t>
            </a:r>
            <a:r>
              <a:rPr lang="en-GB" dirty="0" err="1">
                <a:solidFill>
                  <a:srgbClr val="FF0000"/>
                </a:solidFill>
              </a:rPr>
              <a:t>string.h</a:t>
            </a:r>
            <a:r>
              <a:rPr lang="en-GB" dirty="0">
                <a:solidFill>
                  <a:srgbClr val="FF0000"/>
                </a:solidFill>
              </a:rPr>
              <a:t>&gt; </a:t>
            </a:r>
            <a:r>
              <a:rPr lang="en-GB" dirty="0"/>
              <a:t>header file in your program</a:t>
            </a:r>
            <a:r>
              <a:rPr lang="en-GB" dirty="0" smtClean="0"/>
              <a:t>:</a:t>
            </a:r>
          </a:p>
          <a:p>
            <a:pPr algn="just">
              <a:lnSpc>
                <a:spcPct val="150000"/>
              </a:lnSpc>
            </a:pPr>
            <a:r>
              <a:rPr lang="en-GB" dirty="0"/>
              <a:t>#include &lt;</a:t>
            </a:r>
            <a:r>
              <a:rPr lang="en-GB" dirty="0" err="1"/>
              <a:t>string.h</a:t>
            </a:r>
            <a:r>
              <a:rPr lang="en-GB" dirty="0"/>
              <a:t>&gt;</a:t>
            </a:r>
          </a:p>
        </p:txBody>
      </p:sp>
    </p:spTree>
    <p:extLst>
      <p:ext uri="{BB962C8B-B14F-4D97-AF65-F5344CB8AC3E}">
        <p14:creationId xmlns:p14="http://schemas.microsoft.com/office/powerpoint/2010/main" val="16814582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String </a:t>
            </a:r>
            <a:r>
              <a:rPr lang="en-GB" b="1" dirty="0"/>
              <a:t>Length</a:t>
            </a:r>
            <a:br>
              <a:rPr lang="en-GB" b="1" dirty="0"/>
            </a:br>
            <a:endParaRPr lang="en-GB" b="1" dirty="0"/>
          </a:p>
        </p:txBody>
      </p:sp>
      <p:sp>
        <p:nvSpPr>
          <p:cNvPr id="3" name="Content Placeholder 2"/>
          <p:cNvSpPr>
            <a:spLocks noGrp="1"/>
          </p:cNvSpPr>
          <p:nvPr>
            <p:ph idx="1"/>
          </p:nvPr>
        </p:nvSpPr>
        <p:spPr/>
        <p:txBody>
          <a:bodyPr/>
          <a:lstStyle/>
          <a:p>
            <a:r>
              <a:rPr lang="en-GB" dirty="0"/>
              <a:t>For example, to get the length of a string, you can use the </a:t>
            </a:r>
            <a:r>
              <a:rPr lang="en-GB" dirty="0" err="1">
                <a:solidFill>
                  <a:srgbClr val="FF0000"/>
                </a:solidFill>
              </a:rPr>
              <a:t>strlen</a:t>
            </a:r>
            <a:r>
              <a:rPr lang="en-GB" dirty="0">
                <a:solidFill>
                  <a:srgbClr val="FF0000"/>
                </a:solidFill>
              </a:rPr>
              <a:t>() </a:t>
            </a:r>
            <a:r>
              <a:rPr lang="en-GB" dirty="0" smtClean="0"/>
              <a:t>function</a:t>
            </a:r>
          </a:p>
          <a:p>
            <a:r>
              <a:rPr lang="en-GB" dirty="0"/>
              <a:t>Example</a:t>
            </a:r>
          </a:p>
          <a:p>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alphabet[] = </a:t>
            </a:r>
            <a:r>
              <a:rPr lang="en-GB" dirty="0">
                <a:solidFill>
                  <a:srgbClr val="A52A2A"/>
                </a:solidFill>
                <a:latin typeface="Consolas" panose="020B0609020204030204" pitchFamily="49" charset="0"/>
              </a:rPr>
              <a:t>"ABCDEFGHIJKLMNOPQRSTUVWXYZ"</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strlen</a:t>
            </a:r>
            <a:r>
              <a:rPr lang="en-GB" dirty="0">
                <a:solidFill>
                  <a:srgbClr val="000000"/>
                </a:solidFill>
                <a:latin typeface="Consolas" panose="020B0609020204030204" pitchFamily="49" charset="0"/>
              </a:rPr>
              <a:t>(alphabet</a:t>
            </a:r>
            <a:r>
              <a:rPr lang="en-GB" dirty="0" smtClean="0">
                <a:solidFill>
                  <a:srgbClr val="000000"/>
                </a:solidFill>
                <a:latin typeface="Consolas" panose="020B0609020204030204" pitchFamily="49" charset="0"/>
              </a:rPr>
              <a:t>));</a:t>
            </a:r>
          </a:p>
          <a:p>
            <a:endParaRPr lang="en-GB" dirty="0"/>
          </a:p>
        </p:txBody>
      </p:sp>
    </p:spTree>
    <p:extLst>
      <p:ext uri="{BB962C8B-B14F-4D97-AF65-F5344CB8AC3E}">
        <p14:creationId xmlns:p14="http://schemas.microsoft.com/office/powerpoint/2010/main" val="5541628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Cont</a:t>
            </a:r>
            <a:r>
              <a:rPr lang="en-GB" dirty="0" smtClean="0"/>
              <a:t>…</a:t>
            </a:r>
            <a:endParaRPr lang="en-GB" dirty="0"/>
          </a:p>
        </p:txBody>
      </p:sp>
      <p:sp>
        <p:nvSpPr>
          <p:cNvPr id="3" name="Content Placeholder 2"/>
          <p:cNvSpPr>
            <a:spLocks noGrp="1"/>
          </p:cNvSpPr>
          <p:nvPr>
            <p:ph idx="1"/>
          </p:nvPr>
        </p:nvSpPr>
        <p:spPr/>
        <p:txBody>
          <a:bodyPr/>
          <a:lstStyle/>
          <a:p>
            <a:pPr algn="just">
              <a:lnSpc>
                <a:spcPct val="150000"/>
              </a:lnSpc>
            </a:pPr>
            <a:r>
              <a:rPr lang="en-GB" dirty="0"/>
              <a:t>In the Strings chapter, we used </a:t>
            </a:r>
            <a:r>
              <a:rPr lang="en-GB" dirty="0" err="1">
                <a:solidFill>
                  <a:srgbClr val="FF0000"/>
                </a:solidFill>
              </a:rPr>
              <a:t>sizeof</a:t>
            </a:r>
            <a:r>
              <a:rPr lang="en-GB" dirty="0">
                <a:solidFill>
                  <a:srgbClr val="FF0000"/>
                </a:solidFill>
              </a:rPr>
              <a:t> </a:t>
            </a:r>
            <a:r>
              <a:rPr lang="en-GB" dirty="0"/>
              <a:t>to get the size of a string/array. Note that </a:t>
            </a:r>
            <a:r>
              <a:rPr lang="en-GB" dirty="0" err="1"/>
              <a:t>sizeof</a:t>
            </a:r>
            <a:r>
              <a:rPr lang="en-GB" dirty="0"/>
              <a:t> and </a:t>
            </a:r>
            <a:r>
              <a:rPr lang="en-GB" dirty="0" err="1">
                <a:solidFill>
                  <a:srgbClr val="FF0000"/>
                </a:solidFill>
              </a:rPr>
              <a:t>strlen</a:t>
            </a:r>
            <a:r>
              <a:rPr lang="en-GB" dirty="0"/>
              <a:t> behaves differently, as </a:t>
            </a:r>
            <a:r>
              <a:rPr lang="en-GB" dirty="0" err="1"/>
              <a:t>sizeof</a:t>
            </a:r>
            <a:r>
              <a:rPr lang="en-GB" dirty="0"/>
              <a:t> also includes the \0 character when </a:t>
            </a:r>
            <a:r>
              <a:rPr lang="en-GB" dirty="0" smtClean="0"/>
              <a:t>counting</a:t>
            </a:r>
          </a:p>
          <a:p>
            <a:pPr algn="just">
              <a:lnSpc>
                <a:spcPct val="150000"/>
              </a:lnSpc>
            </a:pPr>
            <a:endParaRPr lang="en-GB" dirty="0"/>
          </a:p>
        </p:txBody>
      </p:sp>
    </p:spTree>
    <p:extLst>
      <p:ext uri="{BB962C8B-B14F-4D97-AF65-F5344CB8AC3E}">
        <p14:creationId xmlns:p14="http://schemas.microsoft.com/office/powerpoint/2010/main" val="4272840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dirty="0"/>
              <a:t/>
            </a:r>
            <a:br>
              <a:rPr lang="en-GB" dirty="0"/>
            </a:br>
            <a:endParaRPr lang="en-GB" dirty="0"/>
          </a:p>
        </p:txBody>
      </p:sp>
      <p:sp>
        <p:nvSpPr>
          <p:cNvPr id="3" name="Content Placeholder 2"/>
          <p:cNvSpPr>
            <a:spLocks noGrp="1"/>
          </p:cNvSpPr>
          <p:nvPr>
            <p:ph idx="1"/>
          </p:nvPr>
        </p:nvSpPr>
        <p:spPr/>
        <p:txBody>
          <a:bodyPr/>
          <a:lstStyle/>
          <a:p>
            <a:pPr>
              <a:lnSpc>
                <a:spcPct val="20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alphabet[] = </a:t>
            </a:r>
            <a:r>
              <a:rPr lang="en-GB" dirty="0">
                <a:solidFill>
                  <a:srgbClr val="A52A2A"/>
                </a:solidFill>
                <a:latin typeface="Consolas" panose="020B0609020204030204" pitchFamily="49" charset="0"/>
              </a:rPr>
              <a:t>"ABCDEFGHIJKLMNOPQRSTUVWXYZ"</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strlen</a:t>
            </a:r>
            <a:r>
              <a:rPr lang="en-GB" dirty="0">
                <a:solidFill>
                  <a:srgbClr val="000000"/>
                </a:solidFill>
                <a:latin typeface="Consolas" panose="020B0609020204030204" pitchFamily="49" charset="0"/>
              </a:rPr>
              <a:t>(alphabet));   </a:t>
            </a:r>
            <a:r>
              <a:rPr lang="en-GB" dirty="0">
                <a:solidFill>
                  <a:srgbClr val="008000"/>
                </a:solidFill>
                <a:latin typeface="Consolas" panose="020B0609020204030204" pitchFamily="49" charset="0"/>
              </a:rPr>
              <a:t>// 26</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sizeof</a:t>
            </a:r>
            <a:r>
              <a:rPr lang="en-GB" dirty="0">
                <a:solidFill>
                  <a:srgbClr val="000000"/>
                </a:solidFill>
                <a:latin typeface="Consolas" panose="020B0609020204030204" pitchFamily="49" charset="0"/>
              </a:rPr>
              <a:t>(alphabet));   </a:t>
            </a:r>
            <a:r>
              <a:rPr lang="en-GB" dirty="0">
                <a:solidFill>
                  <a:srgbClr val="008000"/>
                </a:solidFill>
                <a:latin typeface="Consolas" panose="020B0609020204030204" pitchFamily="49" charset="0"/>
              </a:rPr>
              <a:t>// 27</a:t>
            </a:r>
            <a:endParaRPr lang="en-GB" dirty="0"/>
          </a:p>
        </p:txBody>
      </p:sp>
    </p:spTree>
    <p:extLst>
      <p:ext uri="{BB962C8B-B14F-4D97-AF65-F5344CB8AC3E}">
        <p14:creationId xmlns:p14="http://schemas.microsoft.com/office/powerpoint/2010/main" val="17642420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Cont</a:t>
            </a:r>
            <a:r>
              <a:rPr lang="en-GB" dirty="0" smtClean="0"/>
              <a:t>…</a:t>
            </a:r>
            <a:endParaRPr lang="en-GB" dirty="0"/>
          </a:p>
        </p:txBody>
      </p:sp>
      <p:sp>
        <p:nvSpPr>
          <p:cNvPr id="3" name="Content Placeholder 2"/>
          <p:cNvSpPr>
            <a:spLocks noGrp="1"/>
          </p:cNvSpPr>
          <p:nvPr>
            <p:ph idx="1"/>
          </p:nvPr>
        </p:nvSpPr>
        <p:spPr/>
        <p:txBody>
          <a:bodyPr/>
          <a:lstStyle/>
          <a:p>
            <a:pPr algn="just">
              <a:lnSpc>
                <a:spcPct val="150000"/>
              </a:lnSpc>
            </a:pPr>
            <a:r>
              <a:rPr lang="en-GB" dirty="0"/>
              <a:t>It is also important that you know that </a:t>
            </a:r>
            <a:r>
              <a:rPr lang="en-GB" b="1" dirty="0" err="1"/>
              <a:t>sizeof</a:t>
            </a:r>
            <a:r>
              <a:rPr lang="en-GB" dirty="0"/>
              <a:t> will always return the memory size (in bytes), and not the actual string </a:t>
            </a:r>
            <a:r>
              <a:rPr lang="en-GB" dirty="0" smtClean="0"/>
              <a:t>length</a:t>
            </a:r>
          </a:p>
          <a:p>
            <a:pPr algn="just">
              <a:lnSpc>
                <a:spcPct val="150000"/>
              </a:lnSpc>
            </a:pPr>
            <a:r>
              <a:rPr lang="en-GB" dirty="0" smtClean="0"/>
              <a:t>Example</a:t>
            </a:r>
          </a:p>
          <a:p>
            <a:pPr>
              <a:lnSpc>
                <a:spcPct val="150000"/>
              </a:lnSpc>
            </a:pP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alphabet[</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 </a:t>
            </a:r>
            <a:r>
              <a:rPr lang="en-GB" dirty="0">
                <a:solidFill>
                  <a:srgbClr val="A52A2A"/>
                </a:solidFill>
                <a:latin typeface="Consolas" panose="020B0609020204030204" pitchFamily="49" charset="0"/>
              </a:rPr>
              <a:t>"ABCDEFGHIJKLMNOPQRSTUVWXYZ"</a:t>
            </a:r>
            <a:r>
              <a:rPr lang="en-GB" dirty="0">
                <a:solidFill>
                  <a:srgbClr val="000000"/>
                </a:solidFill>
                <a:latin typeface="Consolas" panose="020B0609020204030204" pitchFamily="49" charset="0"/>
              </a:rPr>
              <a:t>;</a:t>
            </a: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strlen</a:t>
            </a:r>
            <a:r>
              <a:rPr lang="en-GB" dirty="0">
                <a:solidFill>
                  <a:srgbClr val="000000"/>
                </a:solidFill>
                <a:latin typeface="Consolas" panose="020B0609020204030204" pitchFamily="49" charset="0"/>
              </a:rPr>
              <a:t>(alphabet));   </a:t>
            </a:r>
            <a:r>
              <a:rPr lang="en-GB" dirty="0">
                <a:solidFill>
                  <a:srgbClr val="008000"/>
                </a:solidFill>
                <a:latin typeface="Consolas" panose="020B0609020204030204" pitchFamily="49" charset="0"/>
              </a:rPr>
              <a:t>// 26</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sizeof</a:t>
            </a:r>
            <a:r>
              <a:rPr lang="en-GB" dirty="0">
                <a:solidFill>
                  <a:srgbClr val="000000"/>
                </a:solidFill>
                <a:latin typeface="Consolas" panose="020B0609020204030204" pitchFamily="49" charset="0"/>
              </a:rPr>
              <a:t>(alphabet));   </a:t>
            </a:r>
            <a:r>
              <a:rPr lang="en-GB" dirty="0">
                <a:solidFill>
                  <a:srgbClr val="008000"/>
                </a:solidFill>
                <a:latin typeface="Consolas" panose="020B0609020204030204" pitchFamily="49" charset="0"/>
              </a:rPr>
              <a:t>// 50</a:t>
            </a:r>
            <a:endParaRPr lang="en-GB" dirty="0"/>
          </a:p>
          <a:p>
            <a:pPr>
              <a:lnSpc>
                <a:spcPct val="150000"/>
              </a:lnSpc>
            </a:pPr>
            <a:endParaRPr lang="en-GB" dirty="0"/>
          </a:p>
        </p:txBody>
      </p:sp>
    </p:spTree>
    <p:extLst>
      <p:ext uri="{BB962C8B-B14F-4D97-AF65-F5344CB8AC3E}">
        <p14:creationId xmlns:p14="http://schemas.microsoft.com/office/powerpoint/2010/main" val="41617417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Concatenate </a:t>
            </a:r>
            <a:r>
              <a:rPr lang="en-GB" b="1" dirty="0"/>
              <a:t>Strings</a:t>
            </a:r>
            <a:br>
              <a:rPr lang="en-GB" b="1" dirty="0"/>
            </a:br>
            <a:endParaRPr lang="en-GB" b="1" dirty="0"/>
          </a:p>
        </p:txBody>
      </p:sp>
      <p:sp>
        <p:nvSpPr>
          <p:cNvPr id="3" name="Content Placeholder 2"/>
          <p:cNvSpPr>
            <a:spLocks noGrp="1"/>
          </p:cNvSpPr>
          <p:nvPr>
            <p:ph idx="1"/>
          </p:nvPr>
        </p:nvSpPr>
        <p:spPr>
          <a:xfrm>
            <a:off x="838200" y="1371600"/>
            <a:ext cx="10515600" cy="5185953"/>
          </a:xfrm>
        </p:spPr>
        <p:txBody>
          <a:bodyPr>
            <a:normAutofit fontScale="92500"/>
          </a:bodyPr>
          <a:lstStyle/>
          <a:p>
            <a:r>
              <a:rPr lang="en-GB" dirty="0"/>
              <a:t>To concatenate (combine) two strings, you can use the </a:t>
            </a:r>
            <a:r>
              <a:rPr lang="en-GB" b="1" dirty="0" err="1"/>
              <a:t>strcat</a:t>
            </a:r>
            <a:r>
              <a:rPr lang="en-GB" b="1" dirty="0"/>
              <a:t>() </a:t>
            </a:r>
            <a:r>
              <a:rPr lang="en-GB" dirty="0" smtClean="0"/>
              <a:t>function</a:t>
            </a:r>
          </a:p>
          <a:p>
            <a:r>
              <a:rPr lang="en-GB" dirty="0"/>
              <a:t>Example</a:t>
            </a:r>
          </a:p>
          <a:p>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str1[</a:t>
            </a:r>
            <a:r>
              <a:rPr lang="en-GB" dirty="0">
                <a:solidFill>
                  <a:srgbClr val="FF0000"/>
                </a:solidFill>
                <a:latin typeface="Consolas" panose="020B0609020204030204" pitchFamily="49" charset="0"/>
              </a:rPr>
              <a:t>20</a:t>
            </a:r>
            <a:r>
              <a:rPr lang="en-GB" dirty="0">
                <a:solidFill>
                  <a:srgbClr val="000000"/>
                </a:solidFill>
                <a:latin typeface="Consolas" panose="020B0609020204030204" pitchFamily="49" charset="0"/>
              </a:rPr>
              <a:t>] = </a:t>
            </a:r>
            <a:r>
              <a:rPr lang="en-GB" dirty="0">
                <a:solidFill>
                  <a:srgbClr val="A52A2A"/>
                </a:solidFill>
                <a:latin typeface="Consolas" panose="020B0609020204030204" pitchFamily="49" charset="0"/>
              </a:rPr>
              <a:t>"Hello "</a:t>
            </a:r>
            <a:r>
              <a:rPr lang="en-GB" dirty="0">
                <a:solidFill>
                  <a:srgbClr val="000000"/>
                </a:solidFill>
                <a:latin typeface="Consolas" panose="020B0609020204030204" pitchFamily="49" charset="0"/>
              </a:rPr>
              <a:t>;</a:t>
            </a:r>
            <a:r>
              <a:rPr lang="en-GB" dirty="0"/>
              <a:t/>
            </a:r>
            <a:br>
              <a:rPr lang="en-GB" dirty="0"/>
            </a:br>
            <a:r>
              <a:rPr lang="en-GB" dirty="0">
                <a:solidFill>
                  <a:srgbClr val="0000CD"/>
                </a:solidFill>
                <a:latin typeface="Consolas" panose="020B0609020204030204" pitchFamily="49" charset="0"/>
              </a:rPr>
              <a:t>char</a:t>
            </a:r>
            <a:r>
              <a:rPr lang="en-GB" dirty="0">
                <a:solidFill>
                  <a:srgbClr val="000000"/>
                </a:solidFill>
                <a:latin typeface="Consolas" panose="020B0609020204030204" pitchFamily="49" charset="0"/>
              </a:rPr>
              <a:t> str2[] = </a:t>
            </a:r>
            <a:r>
              <a:rPr lang="en-GB" dirty="0">
                <a:solidFill>
                  <a:srgbClr val="A52A2A"/>
                </a:solidFill>
                <a:latin typeface="Consolas" panose="020B0609020204030204" pitchFamily="49" charset="0"/>
              </a:rPr>
              <a:t>"World!"</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Concatenate str2 to str1 (result is stored in str1)</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strcat</a:t>
            </a:r>
            <a:r>
              <a:rPr lang="en-GB" dirty="0">
                <a:solidFill>
                  <a:srgbClr val="000000"/>
                </a:solidFill>
                <a:latin typeface="Consolas" panose="020B0609020204030204" pitchFamily="49" charset="0"/>
              </a:rPr>
              <a:t>(str1, str2);</a:t>
            </a:r>
            <a:r>
              <a:rPr lang="en-GB" dirty="0"/>
              <a:t/>
            </a:r>
            <a:br>
              <a:rPr lang="en-GB" dirty="0"/>
            </a:br>
            <a:r>
              <a:rPr lang="en-GB" dirty="0"/>
              <a:t/>
            </a:r>
            <a:br>
              <a:rPr lang="en-GB" dirty="0"/>
            </a:br>
            <a:r>
              <a:rPr lang="en-GB" dirty="0">
                <a:solidFill>
                  <a:srgbClr val="008000"/>
                </a:solidFill>
                <a:latin typeface="Consolas" panose="020B0609020204030204" pitchFamily="49" charset="0"/>
              </a:rPr>
              <a:t>// Print str1</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"%s"</a:t>
            </a:r>
            <a:r>
              <a:rPr lang="en-GB" dirty="0">
                <a:solidFill>
                  <a:srgbClr val="000000"/>
                </a:solidFill>
                <a:latin typeface="Consolas" panose="020B0609020204030204" pitchFamily="49" charset="0"/>
              </a:rPr>
              <a:t>, str1); </a:t>
            </a:r>
            <a:endParaRPr lang="en-GB" dirty="0" smtClean="0">
              <a:solidFill>
                <a:srgbClr val="000000"/>
              </a:solidFill>
              <a:latin typeface="Consolas" panose="020B0609020204030204" pitchFamily="49" charset="0"/>
            </a:endParaRPr>
          </a:p>
          <a:p>
            <a:r>
              <a:rPr lang="en-GB" dirty="0" smtClean="0">
                <a:solidFill>
                  <a:srgbClr val="000000"/>
                </a:solidFill>
                <a:latin typeface="Consolas" panose="020B0609020204030204" pitchFamily="49" charset="0"/>
              </a:rPr>
              <a:t>Note </a:t>
            </a:r>
            <a:r>
              <a:rPr lang="en-GB" dirty="0">
                <a:solidFill>
                  <a:srgbClr val="000000"/>
                </a:solidFill>
                <a:latin typeface="Consolas" panose="020B0609020204030204" pitchFamily="49" charset="0"/>
              </a:rPr>
              <a:t>that the size of str1 should be large enough to store the result of the two strings </a:t>
            </a:r>
            <a:r>
              <a:rPr lang="en-GB" dirty="0" smtClean="0">
                <a:solidFill>
                  <a:srgbClr val="000000"/>
                </a:solidFill>
                <a:latin typeface="Consolas" panose="020B0609020204030204" pitchFamily="49" charset="0"/>
              </a:rPr>
              <a:t>combined</a:t>
            </a:r>
            <a:endParaRPr lang="en-GB" dirty="0"/>
          </a:p>
        </p:txBody>
      </p:sp>
    </p:spTree>
    <p:extLst>
      <p:ext uri="{BB962C8B-B14F-4D97-AF65-F5344CB8AC3E}">
        <p14:creationId xmlns:p14="http://schemas.microsoft.com/office/powerpoint/2010/main" val="393428071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Compare Strings</a:t>
            </a:r>
            <a:br>
              <a:rPr lang="en-GB" dirty="0"/>
            </a:br>
            <a:endParaRPr lang="en-GB" dirty="0"/>
          </a:p>
        </p:txBody>
      </p:sp>
      <p:sp>
        <p:nvSpPr>
          <p:cNvPr id="3" name="Content Placeholder 2"/>
          <p:cNvSpPr>
            <a:spLocks noGrp="1"/>
          </p:cNvSpPr>
          <p:nvPr>
            <p:ph idx="1"/>
          </p:nvPr>
        </p:nvSpPr>
        <p:spPr/>
        <p:txBody>
          <a:bodyPr/>
          <a:lstStyle/>
          <a:p>
            <a:pPr algn="just">
              <a:lnSpc>
                <a:spcPct val="150000"/>
              </a:lnSpc>
            </a:pPr>
            <a:r>
              <a:rPr lang="en-GB" dirty="0"/>
              <a:t>To compare two strings, you can use the </a:t>
            </a:r>
            <a:r>
              <a:rPr lang="en-GB" dirty="0" err="1">
                <a:solidFill>
                  <a:srgbClr val="FF0000"/>
                </a:solidFill>
              </a:rPr>
              <a:t>strcmp</a:t>
            </a:r>
            <a:r>
              <a:rPr lang="en-GB" dirty="0">
                <a:solidFill>
                  <a:srgbClr val="FF0000"/>
                </a:solidFill>
              </a:rPr>
              <a:t>() </a:t>
            </a:r>
            <a:r>
              <a:rPr lang="en-GB" dirty="0"/>
              <a:t>function.</a:t>
            </a:r>
          </a:p>
          <a:p>
            <a:pPr algn="just">
              <a:lnSpc>
                <a:spcPct val="150000"/>
              </a:lnSpc>
            </a:pPr>
            <a:r>
              <a:rPr lang="en-GB" dirty="0" smtClean="0"/>
              <a:t>It </a:t>
            </a:r>
            <a:r>
              <a:rPr lang="en-GB" dirty="0"/>
              <a:t>returns 0 if the two strings are equal, otherwise a value that is not 0</a:t>
            </a:r>
            <a:r>
              <a:rPr lang="en-GB" dirty="0" smtClean="0"/>
              <a:t>:</a:t>
            </a:r>
          </a:p>
          <a:p>
            <a:pPr marL="0" indent="0">
              <a:buNone/>
            </a:pPr>
            <a:endParaRPr lang="en-GB" dirty="0"/>
          </a:p>
        </p:txBody>
      </p:sp>
    </p:spTree>
    <p:extLst>
      <p:ext uri="{BB962C8B-B14F-4D97-AF65-F5344CB8AC3E}">
        <p14:creationId xmlns:p14="http://schemas.microsoft.com/office/powerpoint/2010/main" val="114770164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normAutofit fontScale="90000"/>
          </a:bodyPr>
          <a:lstStyle/>
          <a:p>
            <a:r>
              <a:rPr lang="en-GB" dirty="0" smtClean="0"/>
              <a:t/>
            </a:r>
            <a:br>
              <a:rPr lang="en-GB" dirty="0" smtClean="0"/>
            </a:br>
            <a:r>
              <a:rPr lang="en-GB" b="1" dirty="0" smtClean="0"/>
              <a:t>Example</a:t>
            </a:r>
            <a:r>
              <a:rPr lang="en-GB" b="1" dirty="0"/>
              <a:t/>
            </a:r>
            <a:br>
              <a:rPr lang="en-GB" b="1" dirty="0"/>
            </a:br>
            <a:endParaRPr lang="en-GB" b="1" dirty="0"/>
          </a:p>
        </p:txBody>
      </p:sp>
      <p:sp>
        <p:nvSpPr>
          <p:cNvPr id="4" name="Rectangle 3"/>
          <p:cNvSpPr/>
          <p:nvPr/>
        </p:nvSpPr>
        <p:spPr>
          <a:xfrm>
            <a:off x="548640" y="1428266"/>
            <a:ext cx="11482251" cy="4154984"/>
          </a:xfrm>
          <a:prstGeom prst="rect">
            <a:avLst/>
          </a:prstGeom>
        </p:spPr>
        <p:txBody>
          <a:bodyPr wrap="square">
            <a:spAutoFit/>
          </a:bodyPr>
          <a:lstStyle/>
          <a:p>
            <a:r>
              <a:rPr lang="en-GB" sz="2400" dirty="0">
                <a:solidFill>
                  <a:srgbClr val="0000CD"/>
                </a:solidFill>
                <a:latin typeface="Consolas" panose="020B0609020204030204" pitchFamily="49" charset="0"/>
              </a:rPr>
              <a:t>char</a:t>
            </a:r>
            <a:r>
              <a:rPr lang="en-GB" sz="2400" dirty="0">
                <a:solidFill>
                  <a:srgbClr val="000000"/>
                </a:solidFill>
                <a:latin typeface="Consolas" panose="020B0609020204030204" pitchFamily="49" charset="0"/>
              </a:rPr>
              <a:t> str1[] = </a:t>
            </a:r>
            <a:r>
              <a:rPr lang="en-GB" sz="2400" dirty="0">
                <a:solidFill>
                  <a:srgbClr val="A52A2A"/>
                </a:solidFill>
                <a:latin typeface="Consolas" panose="020B0609020204030204" pitchFamily="49" charset="0"/>
              </a:rPr>
              <a:t>"Hello"</a:t>
            </a:r>
            <a:r>
              <a:rPr lang="en-GB" sz="2400" dirty="0">
                <a:solidFill>
                  <a:srgbClr val="000000"/>
                </a:solidFill>
                <a:latin typeface="Consolas" panose="020B0609020204030204" pitchFamily="49" charset="0"/>
              </a:rPr>
              <a:t>;</a:t>
            </a:r>
            <a:r>
              <a:rPr lang="en-GB" sz="2400" dirty="0"/>
              <a:t/>
            </a:r>
            <a:br>
              <a:rPr lang="en-GB" sz="2400" dirty="0"/>
            </a:br>
            <a:r>
              <a:rPr lang="en-GB" sz="2400" dirty="0">
                <a:solidFill>
                  <a:srgbClr val="0000CD"/>
                </a:solidFill>
                <a:latin typeface="Consolas" panose="020B0609020204030204" pitchFamily="49" charset="0"/>
              </a:rPr>
              <a:t>char</a:t>
            </a:r>
            <a:r>
              <a:rPr lang="en-GB" sz="2400" dirty="0">
                <a:solidFill>
                  <a:srgbClr val="000000"/>
                </a:solidFill>
                <a:latin typeface="Consolas" panose="020B0609020204030204" pitchFamily="49" charset="0"/>
              </a:rPr>
              <a:t> str2[] = </a:t>
            </a:r>
            <a:r>
              <a:rPr lang="en-GB" sz="2400" dirty="0">
                <a:solidFill>
                  <a:srgbClr val="A52A2A"/>
                </a:solidFill>
                <a:latin typeface="Consolas" panose="020B0609020204030204" pitchFamily="49" charset="0"/>
              </a:rPr>
              <a:t>"Hello"</a:t>
            </a:r>
            <a:r>
              <a:rPr lang="en-GB" sz="2400" dirty="0">
                <a:solidFill>
                  <a:srgbClr val="000000"/>
                </a:solidFill>
                <a:latin typeface="Consolas" panose="020B0609020204030204" pitchFamily="49" charset="0"/>
              </a:rPr>
              <a:t>;</a:t>
            </a:r>
            <a:r>
              <a:rPr lang="en-GB" sz="2400" dirty="0"/>
              <a:t/>
            </a:r>
            <a:br>
              <a:rPr lang="en-GB" sz="2400" dirty="0"/>
            </a:br>
            <a:r>
              <a:rPr lang="en-GB" sz="2400" dirty="0">
                <a:solidFill>
                  <a:srgbClr val="0000CD"/>
                </a:solidFill>
                <a:latin typeface="Consolas" panose="020B0609020204030204" pitchFamily="49" charset="0"/>
              </a:rPr>
              <a:t>char</a:t>
            </a:r>
            <a:r>
              <a:rPr lang="en-GB" sz="2400" dirty="0">
                <a:solidFill>
                  <a:srgbClr val="000000"/>
                </a:solidFill>
                <a:latin typeface="Consolas" panose="020B0609020204030204" pitchFamily="49" charset="0"/>
              </a:rPr>
              <a:t> str3[] = </a:t>
            </a:r>
            <a:r>
              <a:rPr lang="en-GB" sz="2400" dirty="0">
                <a:solidFill>
                  <a:srgbClr val="A52A2A"/>
                </a:solidFill>
                <a:latin typeface="Consolas" panose="020B0609020204030204" pitchFamily="49" charset="0"/>
              </a:rPr>
              <a:t>"Hi"</a:t>
            </a:r>
            <a:r>
              <a:rPr lang="en-GB" sz="2400" dirty="0">
                <a:solidFill>
                  <a:srgbClr val="000000"/>
                </a:solidFill>
                <a:latin typeface="Consolas" panose="020B0609020204030204" pitchFamily="49" charset="0"/>
              </a:rPr>
              <a:t>;</a:t>
            </a:r>
            <a:r>
              <a:rPr lang="en-GB" sz="2400" dirty="0"/>
              <a:t/>
            </a:r>
            <a:br>
              <a:rPr lang="en-GB" sz="2400" dirty="0"/>
            </a:br>
            <a:r>
              <a:rPr lang="en-GB" sz="2400" dirty="0"/>
              <a:t/>
            </a:r>
            <a:br>
              <a:rPr lang="en-GB" sz="2400" dirty="0"/>
            </a:br>
            <a:r>
              <a:rPr lang="en-GB" sz="2400" dirty="0">
                <a:solidFill>
                  <a:srgbClr val="008000"/>
                </a:solidFill>
                <a:latin typeface="Consolas" panose="020B0609020204030204" pitchFamily="49" charset="0"/>
              </a:rPr>
              <a:t>// Compare str1 and str2, and print the result</a:t>
            </a:r>
            <a:br>
              <a:rPr lang="en-GB" sz="2400" dirty="0">
                <a:solidFill>
                  <a:srgbClr val="008000"/>
                </a:solidFill>
                <a:latin typeface="Consolas" panose="020B0609020204030204" pitchFamily="49" charset="0"/>
              </a:rPr>
            </a:br>
            <a:r>
              <a:rPr lang="en-GB" sz="2400" dirty="0" err="1">
                <a:solidFill>
                  <a:srgbClr val="000000"/>
                </a:solidFill>
                <a:latin typeface="Consolas" panose="020B0609020204030204" pitchFamily="49" charset="0"/>
              </a:rPr>
              <a:t>printf</a:t>
            </a:r>
            <a:r>
              <a:rPr lang="en-GB" sz="2400" dirty="0">
                <a:solidFill>
                  <a:srgbClr val="000000"/>
                </a:solidFill>
                <a:latin typeface="Consolas" panose="020B0609020204030204" pitchFamily="49" charset="0"/>
              </a:rPr>
              <a:t>(</a:t>
            </a:r>
            <a:r>
              <a:rPr lang="en-GB" sz="2400" dirty="0">
                <a:solidFill>
                  <a:srgbClr val="A52A2A"/>
                </a:solidFill>
                <a:latin typeface="Consolas" panose="020B0609020204030204" pitchFamily="49" charset="0"/>
              </a:rPr>
              <a:t>"%d\n"</a:t>
            </a:r>
            <a:r>
              <a:rPr lang="en-GB" sz="2400" dirty="0">
                <a:solidFill>
                  <a:srgbClr val="000000"/>
                </a:solidFill>
                <a:latin typeface="Consolas" panose="020B0609020204030204" pitchFamily="49" charset="0"/>
              </a:rPr>
              <a:t>, </a:t>
            </a:r>
            <a:r>
              <a:rPr lang="en-GB" sz="2400" dirty="0" err="1">
                <a:solidFill>
                  <a:srgbClr val="000000"/>
                </a:solidFill>
                <a:latin typeface="Consolas" panose="020B0609020204030204" pitchFamily="49" charset="0"/>
              </a:rPr>
              <a:t>strcmp</a:t>
            </a:r>
            <a:r>
              <a:rPr lang="en-GB" sz="2400" dirty="0">
                <a:solidFill>
                  <a:srgbClr val="000000"/>
                </a:solidFill>
                <a:latin typeface="Consolas" panose="020B0609020204030204" pitchFamily="49" charset="0"/>
              </a:rPr>
              <a:t>(str1, str2));  </a:t>
            </a:r>
            <a:r>
              <a:rPr lang="en-GB" sz="2400" dirty="0">
                <a:solidFill>
                  <a:srgbClr val="008000"/>
                </a:solidFill>
                <a:latin typeface="Consolas" panose="020B0609020204030204" pitchFamily="49" charset="0"/>
              </a:rPr>
              <a:t>// Returns 0 (the strings are equal)</a:t>
            </a:r>
            <a:br>
              <a:rPr lang="en-GB" sz="2400" dirty="0">
                <a:solidFill>
                  <a:srgbClr val="008000"/>
                </a:solidFill>
                <a:latin typeface="Consolas" panose="020B0609020204030204" pitchFamily="49" charset="0"/>
              </a:rPr>
            </a:br>
            <a:r>
              <a:rPr lang="en-GB" sz="2400" dirty="0"/>
              <a:t/>
            </a:r>
            <a:br>
              <a:rPr lang="en-GB" sz="2400" dirty="0"/>
            </a:br>
            <a:r>
              <a:rPr lang="en-GB" sz="2400" dirty="0">
                <a:solidFill>
                  <a:srgbClr val="008000"/>
                </a:solidFill>
                <a:latin typeface="Consolas" panose="020B0609020204030204" pitchFamily="49" charset="0"/>
              </a:rPr>
              <a:t>// Compare str1 and str3, and print the result</a:t>
            </a:r>
            <a:br>
              <a:rPr lang="en-GB" sz="2400" dirty="0">
                <a:solidFill>
                  <a:srgbClr val="008000"/>
                </a:solidFill>
                <a:latin typeface="Consolas" panose="020B0609020204030204" pitchFamily="49" charset="0"/>
              </a:rPr>
            </a:br>
            <a:r>
              <a:rPr lang="en-GB" sz="2400" dirty="0" err="1">
                <a:solidFill>
                  <a:srgbClr val="000000"/>
                </a:solidFill>
                <a:latin typeface="Consolas" panose="020B0609020204030204" pitchFamily="49" charset="0"/>
              </a:rPr>
              <a:t>printf</a:t>
            </a:r>
            <a:r>
              <a:rPr lang="en-GB" sz="2400" dirty="0">
                <a:solidFill>
                  <a:srgbClr val="000000"/>
                </a:solidFill>
                <a:latin typeface="Consolas" panose="020B0609020204030204" pitchFamily="49" charset="0"/>
              </a:rPr>
              <a:t>(</a:t>
            </a:r>
            <a:r>
              <a:rPr lang="en-GB" sz="2400" dirty="0">
                <a:solidFill>
                  <a:srgbClr val="A52A2A"/>
                </a:solidFill>
                <a:latin typeface="Consolas" panose="020B0609020204030204" pitchFamily="49" charset="0"/>
              </a:rPr>
              <a:t>"%d\n"</a:t>
            </a:r>
            <a:r>
              <a:rPr lang="en-GB" sz="2400" dirty="0">
                <a:solidFill>
                  <a:srgbClr val="000000"/>
                </a:solidFill>
                <a:latin typeface="Consolas" panose="020B0609020204030204" pitchFamily="49" charset="0"/>
              </a:rPr>
              <a:t>, </a:t>
            </a:r>
            <a:r>
              <a:rPr lang="en-GB" sz="2400" dirty="0" err="1">
                <a:solidFill>
                  <a:srgbClr val="000000"/>
                </a:solidFill>
                <a:latin typeface="Consolas" panose="020B0609020204030204" pitchFamily="49" charset="0"/>
              </a:rPr>
              <a:t>strcmp</a:t>
            </a:r>
            <a:r>
              <a:rPr lang="en-GB" sz="2400" dirty="0">
                <a:solidFill>
                  <a:srgbClr val="000000"/>
                </a:solidFill>
                <a:latin typeface="Consolas" panose="020B0609020204030204" pitchFamily="49" charset="0"/>
              </a:rPr>
              <a:t>(str1, str3));  </a:t>
            </a:r>
            <a:r>
              <a:rPr lang="en-GB" sz="2400" dirty="0">
                <a:solidFill>
                  <a:srgbClr val="008000"/>
                </a:solidFill>
                <a:latin typeface="Consolas" panose="020B0609020204030204" pitchFamily="49" charset="0"/>
              </a:rPr>
              <a:t>// Returns -4 (the strings are not equal)</a:t>
            </a:r>
            <a:endParaRPr lang="en-GB" sz="2400" dirty="0"/>
          </a:p>
        </p:txBody>
      </p:sp>
    </p:spTree>
    <p:extLst>
      <p:ext uri="{BB962C8B-B14F-4D97-AF65-F5344CB8AC3E}">
        <p14:creationId xmlns:p14="http://schemas.microsoft.com/office/powerpoint/2010/main" val="29243999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a:t/>
            </a:r>
            <a:br>
              <a:rPr lang="en-GB" dirty="0"/>
            </a:br>
            <a:r>
              <a:rPr lang="en-GB" dirty="0" smtClean="0"/>
              <a:t/>
            </a:r>
            <a:br>
              <a:rPr lang="en-GB" dirty="0" smtClean="0"/>
            </a:br>
            <a:r>
              <a:rPr lang="en-GB" b="1" dirty="0" smtClean="0"/>
              <a:t>C</a:t>
            </a:r>
            <a:r>
              <a:rPr lang="en-GB" b="1" dirty="0"/>
              <a:t> Pointers </a:t>
            </a:r>
            <a:r>
              <a:rPr lang="en-GB" dirty="0"/>
              <a:t/>
            </a:r>
            <a:br>
              <a:rPr lang="en-GB" dirty="0"/>
            </a:br>
            <a:r>
              <a:rPr lang="en-GB" dirty="0"/>
              <a:t/>
            </a:r>
            <a:br>
              <a:rPr lang="en-GB" dirty="0"/>
            </a:br>
            <a:endParaRPr lang="en-GB" dirty="0"/>
          </a:p>
        </p:txBody>
      </p:sp>
      <p:sp>
        <p:nvSpPr>
          <p:cNvPr id="3" name="Content Placeholder 2"/>
          <p:cNvSpPr>
            <a:spLocks noGrp="1"/>
          </p:cNvSpPr>
          <p:nvPr>
            <p:ph idx="1"/>
          </p:nvPr>
        </p:nvSpPr>
        <p:spPr/>
        <p:txBody>
          <a:bodyPr/>
          <a:lstStyle/>
          <a:p>
            <a:r>
              <a:rPr lang="en-GB" dirty="0"/>
              <a:t>You can also use pointers to access arrays.</a:t>
            </a:r>
          </a:p>
          <a:p>
            <a:r>
              <a:rPr lang="en-GB" dirty="0"/>
              <a:t>Consider the following array of </a:t>
            </a:r>
            <a:r>
              <a:rPr lang="en-GB" dirty="0" smtClean="0"/>
              <a:t>integers</a:t>
            </a:r>
          </a:p>
          <a:p>
            <a:r>
              <a:rPr lang="en-GB" dirty="0"/>
              <a:t>Example</a:t>
            </a:r>
          </a:p>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smtClean="0">
                <a:solidFill>
                  <a:srgbClr val="000000"/>
                </a:solidFill>
                <a:latin typeface="Consolas" panose="020B0609020204030204" pitchFamily="49" charset="0"/>
              </a:rPr>
              <a:t>};</a:t>
            </a:r>
          </a:p>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00CD"/>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&lt; </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a:t>
            </a:r>
            <a:endParaRPr lang="en-GB" dirty="0"/>
          </a:p>
          <a:p>
            <a:endParaRPr lang="en-GB" dirty="0"/>
          </a:p>
        </p:txBody>
      </p:sp>
    </p:spTree>
    <p:extLst>
      <p:ext uri="{BB962C8B-B14F-4D97-AF65-F5344CB8AC3E}">
        <p14:creationId xmlns:p14="http://schemas.microsoft.com/office/powerpoint/2010/main" val="15249153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Cont</a:t>
            </a:r>
            <a:r>
              <a:rPr lang="en-GB" dirty="0" smtClean="0"/>
              <a:t>…</a:t>
            </a:r>
            <a:endParaRPr lang="en-GB" dirty="0"/>
          </a:p>
        </p:txBody>
      </p:sp>
      <p:sp>
        <p:nvSpPr>
          <p:cNvPr id="3" name="Content Placeholder 2"/>
          <p:cNvSpPr>
            <a:spLocks noGrp="1"/>
          </p:cNvSpPr>
          <p:nvPr>
            <p:ph idx="1"/>
          </p:nvPr>
        </p:nvSpPr>
        <p:spPr>
          <a:xfrm>
            <a:off x="838200" y="1502229"/>
            <a:ext cx="10515600" cy="4674734"/>
          </a:xfrm>
        </p:spPr>
        <p:txBody>
          <a:bodyPr>
            <a:normAutofit lnSpcReduction="10000"/>
          </a:bodyPr>
          <a:lstStyle/>
          <a:p>
            <a:pPr algn="just">
              <a:lnSpc>
                <a:spcPct val="150000"/>
              </a:lnSpc>
            </a:pPr>
            <a:r>
              <a:rPr lang="en-GB" dirty="0"/>
              <a:t>Instead of printing the value of each array element, let's print the memory address of each array </a:t>
            </a:r>
            <a:r>
              <a:rPr lang="en-GB" dirty="0" smtClean="0"/>
              <a:t>element</a:t>
            </a:r>
            <a:endParaRPr lang="en-GB" dirty="0"/>
          </a:p>
          <a:p>
            <a:r>
              <a:rPr lang="en-GB" b="1" dirty="0"/>
              <a:t>Example</a:t>
            </a:r>
          </a:p>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00CD"/>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&lt; </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"%p\n"</a:t>
            </a:r>
            <a:r>
              <a:rPr lang="en-GB" dirty="0">
                <a:solidFill>
                  <a:srgbClr val="000000"/>
                </a:solidFill>
                <a:latin typeface="Consolas" panose="020B0609020204030204" pitchFamily="49" charset="0"/>
              </a:rPr>
              <a:t>, &amp;</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solidFill>
                  <a:srgbClr val="000000"/>
                </a:solidFill>
                <a:latin typeface="Consolas" panose="020B0609020204030204" pitchFamily="49" charset="0"/>
              </a:rPr>
              <a:t>}</a:t>
            </a:r>
            <a:r>
              <a:rPr lang="en-GB" dirty="0"/>
              <a:t/>
            </a:r>
            <a:br>
              <a:rPr lang="en-GB" dirty="0"/>
            </a:br>
            <a:endParaRPr lang="en-GB" dirty="0"/>
          </a:p>
        </p:txBody>
      </p:sp>
    </p:spTree>
    <p:extLst>
      <p:ext uri="{BB962C8B-B14F-4D97-AF65-F5344CB8AC3E}">
        <p14:creationId xmlns:p14="http://schemas.microsoft.com/office/powerpoint/2010/main" val="311462740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Result:</a:t>
            </a:r>
          </a:p>
        </p:txBody>
      </p:sp>
      <p:sp>
        <p:nvSpPr>
          <p:cNvPr id="3" name="Content Placeholder 2"/>
          <p:cNvSpPr>
            <a:spLocks noGrp="1"/>
          </p:cNvSpPr>
          <p:nvPr>
            <p:ph idx="1"/>
          </p:nvPr>
        </p:nvSpPr>
        <p:spPr/>
        <p:txBody>
          <a:bodyPr>
            <a:normAutofit fontScale="92500" lnSpcReduction="10000"/>
          </a:bodyPr>
          <a:lstStyle/>
          <a:p>
            <a:pPr>
              <a:lnSpc>
                <a:spcPct val="150000"/>
              </a:lnSpc>
            </a:pPr>
            <a:r>
              <a:rPr lang="en-GB" dirty="0"/>
              <a:t>0x7ffe70f9d8f0</a:t>
            </a:r>
            <a:br>
              <a:rPr lang="en-GB" dirty="0"/>
            </a:br>
            <a:r>
              <a:rPr lang="en-GB" dirty="0"/>
              <a:t>0x7ffe70f9d8f4</a:t>
            </a:r>
            <a:br>
              <a:rPr lang="en-GB" dirty="0"/>
            </a:br>
            <a:r>
              <a:rPr lang="en-GB" dirty="0"/>
              <a:t>0x7ffe70f9d8f8</a:t>
            </a:r>
            <a:br>
              <a:rPr lang="en-GB" dirty="0"/>
            </a:br>
            <a:r>
              <a:rPr lang="en-GB" dirty="0" smtClean="0"/>
              <a:t>0x7ffe70f9d8fc</a:t>
            </a:r>
          </a:p>
          <a:p>
            <a:pPr algn="just">
              <a:lnSpc>
                <a:spcPct val="150000"/>
              </a:lnSpc>
            </a:pPr>
            <a:r>
              <a:rPr lang="en-GB" dirty="0"/>
              <a:t>Note that the last number of each of the elements' memory address is different, with an addition of 4.</a:t>
            </a:r>
          </a:p>
          <a:p>
            <a:pPr algn="just">
              <a:lnSpc>
                <a:spcPct val="150000"/>
              </a:lnSpc>
            </a:pPr>
            <a:r>
              <a:rPr lang="en-GB" dirty="0" smtClean="0"/>
              <a:t>It </a:t>
            </a:r>
            <a:r>
              <a:rPr lang="en-GB" dirty="0"/>
              <a:t>is because the size of an </a:t>
            </a:r>
            <a:r>
              <a:rPr lang="en-GB" dirty="0" err="1"/>
              <a:t>int</a:t>
            </a:r>
            <a:r>
              <a:rPr lang="en-GB" dirty="0"/>
              <a:t> type is typically 4 </a:t>
            </a:r>
            <a:r>
              <a:rPr lang="en-GB" dirty="0" smtClean="0"/>
              <a:t>bytes.</a:t>
            </a:r>
            <a:endParaRPr lang="en-GB" dirty="0"/>
          </a:p>
        </p:txBody>
      </p:sp>
    </p:spTree>
    <p:extLst>
      <p:ext uri="{BB962C8B-B14F-4D97-AF65-F5344CB8AC3E}">
        <p14:creationId xmlns:p14="http://schemas.microsoft.com/office/powerpoint/2010/main" val="12952377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dirty="0"/>
              <a:t/>
            </a:r>
            <a:br>
              <a:rPr lang="en-GB" dirty="0"/>
            </a:br>
            <a:endParaRPr lang="en-GB" dirty="0"/>
          </a:p>
        </p:txBody>
      </p:sp>
      <p:sp>
        <p:nvSpPr>
          <p:cNvPr id="3" name="Content Placeholder 2"/>
          <p:cNvSpPr>
            <a:spLocks noGrp="1"/>
          </p:cNvSpPr>
          <p:nvPr>
            <p:ph idx="1"/>
          </p:nvPr>
        </p:nvSpPr>
        <p:spPr>
          <a:xfrm>
            <a:off x="838200" y="1690688"/>
            <a:ext cx="10515600" cy="4486275"/>
          </a:xfrm>
        </p:spPr>
        <p:txBody>
          <a:bodyPr>
            <a:normAutofit fontScale="70000" lnSpcReduction="20000"/>
          </a:bodyPr>
          <a:lstStyle/>
          <a:p>
            <a:pPr>
              <a:lnSpc>
                <a:spcPct val="150000"/>
              </a:lnSpc>
            </a:pPr>
            <a:r>
              <a:rPr lang="en-GB" dirty="0">
                <a:solidFill>
                  <a:srgbClr val="008000"/>
                </a:solidFill>
                <a:latin typeface="Consolas" panose="020B0609020204030204" pitchFamily="49" charset="0"/>
              </a:rPr>
              <a:t>// Create an </a:t>
            </a:r>
            <a:r>
              <a:rPr lang="en-GB" dirty="0" err="1">
                <a:solidFill>
                  <a:srgbClr val="008000"/>
                </a:solidFill>
                <a:latin typeface="Consolas" panose="020B0609020204030204" pitchFamily="49" charset="0"/>
              </a:rPr>
              <a:t>int</a:t>
            </a:r>
            <a:r>
              <a:rPr lang="en-GB" dirty="0">
                <a:solidFill>
                  <a:srgbClr val="008000"/>
                </a:solidFill>
                <a:latin typeface="Consolas" panose="020B0609020204030204" pitchFamily="49" charset="0"/>
              </a:rPr>
              <a:t> variable</a:t>
            </a:r>
            <a:br>
              <a:rPr lang="en-GB" dirty="0">
                <a:solidFill>
                  <a:srgbClr val="008000"/>
                </a:solidFill>
                <a:latin typeface="Consolas" panose="020B0609020204030204" pitchFamily="49" charset="0"/>
              </a:rPr>
            </a:b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myInt</a:t>
            </a:r>
            <a:r>
              <a:rPr lang="en-GB" dirty="0">
                <a:solidFill>
                  <a:srgbClr val="000000"/>
                </a:solidFill>
                <a:latin typeface="Consolas" panose="020B0609020204030204" pitchFamily="49" charset="0"/>
              </a:rPr>
              <a:t>;</a:t>
            </a:r>
            <a:r>
              <a:rPr lang="en-GB" dirty="0"/>
              <a:t/>
            </a:r>
            <a:br>
              <a:rPr lang="en-GB" dirty="0"/>
            </a:br>
            <a:r>
              <a:rPr lang="en-GB" dirty="0" smtClean="0">
                <a:solidFill>
                  <a:srgbClr val="008000"/>
                </a:solidFill>
                <a:latin typeface="Consolas" panose="020B0609020204030204" pitchFamily="49" charset="0"/>
              </a:rPr>
              <a:t>// </a:t>
            </a:r>
            <a:r>
              <a:rPr lang="en-GB" dirty="0">
                <a:solidFill>
                  <a:srgbClr val="008000"/>
                </a:solidFill>
                <a:latin typeface="Consolas" panose="020B0609020204030204" pitchFamily="49" charset="0"/>
              </a:rPr>
              <a:t>Get the memory size of an </a:t>
            </a:r>
            <a:r>
              <a:rPr lang="en-GB" dirty="0" err="1">
                <a:solidFill>
                  <a:srgbClr val="008000"/>
                </a:solidFill>
                <a:latin typeface="Consolas" panose="020B0609020204030204" pitchFamily="49" charset="0"/>
              </a:rPr>
              <a:t>int</a:t>
            </a:r>
            <a:r>
              <a:rPr lang="en-GB" dirty="0">
                <a:solidFill>
                  <a:srgbClr val="008000"/>
                </a:solidFill>
                <a:latin typeface="Consolas" panose="020B0609020204030204" pitchFamily="49" charset="0"/>
              </a:rPr>
              <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a:t>
            </a:r>
            <a:r>
              <a:rPr lang="en-GB" dirty="0" err="1" smtClean="0">
                <a:solidFill>
                  <a:srgbClr val="A52A2A"/>
                </a:solidFill>
                <a:latin typeface="Consolas" panose="020B0609020204030204" pitchFamily="49" charset="0"/>
              </a:rPr>
              <a:t>lu</a:t>
            </a:r>
            <a:r>
              <a:rPr lang="en-GB" dirty="0" smtClean="0">
                <a:solidFill>
                  <a:srgbClr val="A52A2A"/>
                </a:solidFill>
                <a:latin typeface="Consolas" panose="020B0609020204030204" pitchFamily="49" charset="0"/>
              </a:rPr>
              <a:t>\n"</a:t>
            </a:r>
            <a:r>
              <a:rPr lang="en-GB" dirty="0" smtClean="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sizeof</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myInt</a:t>
            </a:r>
            <a:r>
              <a:rPr lang="en-GB" dirty="0" smtClean="0">
                <a:solidFill>
                  <a:srgbClr val="000000"/>
                </a:solidFill>
                <a:latin typeface="Consolas" panose="020B0609020204030204" pitchFamily="49" charset="0"/>
              </a:rPr>
              <a:t>));</a:t>
            </a:r>
          </a:p>
          <a:p>
            <a:pPr>
              <a:lnSpc>
                <a:spcPct val="150000"/>
              </a:lnSpc>
            </a:pP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a:t>
            </a:r>
            <a:r>
              <a:rPr lang="en-GB" dirty="0" err="1">
                <a:solidFill>
                  <a:srgbClr val="A52A2A"/>
                </a:solidFill>
                <a:latin typeface="Consolas" panose="020B0609020204030204" pitchFamily="49" charset="0"/>
              </a:rPr>
              <a:t>lu</a:t>
            </a:r>
            <a:r>
              <a:rPr lang="en-GB" dirty="0">
                <a:solidFill>
                  <a:srgbClr val="A52A2A"/>
                </a:solidFill>
                <a:latin typeface="Consolas" panose="020B0609020204030204" pitchFamily="49" charset="0"/>
              </a:rPr>
              <a: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sizeof</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myInt</a:t>
            </a:r>
            <a:r>
              <a:rPr lang="en-GB" dirty="0">
                <a:solidFill>
                  <a:srgbClr val="000000"/>
                </a:solidFill>
                <a:latin typeface="Consolas" panose="020B0609020204030204" pitchFamily="49" charset="0"/>
              </a:rPr>
              <a:t>));</a:t>
            </a:r>
          </a:p>
          <a:p>
            <a:pPr>
              <a:lnSpc>
                <a:spcPct val="150000"/>
              </a:lnSpc>
            </a:pPr>
            <a:r>
              <a:rPr lang="en-GB" dirty="0" smtClean="0"/>
              <a:t>Result: 4</a:t>
            </a:r>
          </a:p>
          <a:p>
            <a:pPr>
              <a:lnSpc>
                <a:spcPct val="150000"/>
              </a:lnSpc>
            </a:pPr>
            <a:r>
              <a:rPr lang="en-GB" dirty="0"/>
              <a:t> </a:t>
            </a:r>
            <a:r>
              <a:rPr lang="en-GB" dirty="0" smtClean="0"/>
              <a:t>             4</a:t>
            </a:r>
          </a:p>
          <a:p>
            <a:pPr algn="just">
              <a:lnSpc>
                <a:spcPct val="150000"/>
              </a:lnSpc>
            </a:pPr>
            <a:r>
              <a:rPr lang="en-GB" dirty="0"/>
              <a:t>So from the "memory address example" above, you can see that the compiler reserves 4 bytes of memory for each array element</a:t>
            </a:r>
          </a:p>
        </p:txBody>
      </p:sp>
    </p:spTree>
    <p:extLst>
      <p:ext uri="{BB962C8B-B14F-4D97-AF65-F5344CB8AC3E}">
        <p14:creationId xmlns:p14="http://schemas.microsoft.com/office/powerpoint/2010/main" val="38222583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b="1" dirty="0"/>
              <a:t/>
            </a:r>
            <a:br>
              <a:rPr lang="en-GB" b="1" dirty="0"/>
            </a:br>
            <a:endParaRPr lang="en-GB" b="1" dirty="0"/>
          </a:p>
        </p:txBody>
      </p:sp>
      <p:sp>
        <p:nvSpPr>
          <p:cNvPr id="3" name="Content Placeholder 2"/>
          <p:cNvSpPr>
            <a:spLocks noGrp="1"/>
          </p:cNvSpPr>
          <p:nvPr>
            <p:ph idx="1"/>
          </p:nvPr>
        </p:nvSpPr>
        <p:spPr/>
        <p:txBody>
          <a:bodyPr/>
          <a:lstStyle/>
          <a:p>
            <a:pPr>
              <a:lnSpc>
                <a:spcPct val="150000"/>
              </a:lnSpc>
            </a:pP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smtClean="0">
                <a:solidFill>
                  <a:srgbClr val="008000"/>
                </a:solidFill>
                <a:latin typeface="Consolas" panose="020B0609020204030204" pitchFamily="49" charset="0"/>
              </a:rPr>
              <a:t>// </a:t>
            </a:r>
            <a:r>
              <a:rPr lang="en-GB" dirty="0">
                <a:solidFill>
                  <a:srgbClr val="008000"/>
                </a:solidFill>
                <a:latin typeface="Consolas" panose="020B0609020204030204" pitchFamily="49" charset="0"/>
              </a:rPr>
              <a:t>Get the size of the </a:t>
            </a:r>
            <a:r>
              <a:rPr lang="en-GB" dirty="0" err="1">
                <a:solidFill>
                  <a:srgbClr val="008000"/>
                </a:solidFill>
                <a:latin typeface="Consolas" panose="020B0609020204030204" pitchFamily="49" charset="0"/>
              </a:rPr>
              <a:t>myNumbers</a:t>
            </a:r>
            <a:r>
              <a:rPr lang="en-GB" dirty="0">
                <a:solidFill>
                  <a:srgbClr val="008000"/>
                </a:solidFill>
                <a:latin typeface="Consolas" panose="020B0609020204030204" pitchFamily="49" charset="0"/>
              </a:rPr>
              <a:t> array</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a:t>
            </a:r>
            <a:r>
              <a:rPr lang="en-GB" dirty="0" err="1">
                <a:solidFill>
                  <a:srgbClr val="A52A2A"/>
                </a:solidFill>
                <a:latin typeface="Consolas" panose="020B0609020204030204" pitchFamily="49" charset="0"/>
              </a:rPr>
              <a:t>lu</a:t>
            </a:r>
            <a:r>
              <a:rPr lang="en-GB" dirty="0">
                <a:solidFill>
                  <a:srgbClr val="A52A2A"/>
                </a:solidFill>
                <a:latin typeface="Consolas" panose="020B0609020204030204" pitchFamily="49" charset="0"/>
              </a:rPr>
              <a: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sizeof</a:t>
            </a: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myNumbers</a:t>
            </a:r>
            <a:r>
              <a:rPr lang="en-GB" dirty="0" smtClean="0">
                <a:solidFill>
                  <a:srgbClr val="000000"/>
                </a:solidFill>
                <a:latin typeface="Consolas" panose="020B0609020204030204" pitchFamily="49" charset="0"/>
              </a:rPr>
              <a:t>));</a:t>
            </a:r>
          </a:p>
          <a:p>
            <a:pPr>
              <a:lnSpc>
                <a:spcPct val="150000"/>
              </a:lnSpc>
            </a:pPr>
            <a:r>
              <a:rPr lang="en-GB" dirty="0"/>
              <a:t>Result</a:t>
            </a:r>
            <a:r>
              <a:rPr lang="en-GB" dirty="0" smtClean="0"/>
              <a:t>: 16 i.e. 4*4</a:t>
            </a:r>
            <a:endParaRPr lang="en-GB" dirty="0"/>
          </a:p>
        </p:txBody>
      </p:sp>
    </p:spTree>
    <p:extLst>
      <p:ext uri="{BB962C8B-B14F-4D97-AF65-F5344CB8AC3E}">
        <p14:creationId xmlns:p14="http://schemas.microsoft.com/office/powerpoint/2010/main" val="377208542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How </a:t>
            </a:r>
            <a:r>
              <a:rPr lang="en-GB" b="1" dirty="0"/>
              <a:t>Are Pointers Related to Arrays</a:t>
            </a:r>
            <a:br>
              <a:rPr lang="en-GB" b="1" dirty="0"/>
            </a:br>
            <a:endParaRPr lang="en-GB" b="1" dirty="0"/>
          </a:p>
        </p:txBody>
      </p:sp>
      <p:sp>
        <p:nvSpPr>
          <p:cNvPr id="3" name="Content Placeholder 2"/>
          <p:cNvSpPr>
            <a:spLocks noGrp="1"/>
          </p:cNvSpPr>
          <p:nvPr>
            <p:ph idx="1"/>
          </p:nvPr>
        </p:nvSpPr>
        <p:spPr>
          <a:xfrm>
            <a:off x="838200" y="1825625"/>
            <a:ext cx="10515600" cy="4627426"/>
          </a:xfrm>
        </p:spPr>
        <p:txBody>
          <a:bodyPr>
            <a:normAutofit lnSpcReduction="10000"/>
          </a:bodyPr>
          <a:lstStyle/>
          <a:p>
            <a:pPr>
              <a:lnSpc>
                <a:spcPct val="150000"/>
              </a:lnSpc>
            </a:pPr>
            <a:r>
              <a:rPr lang="en-GB" dirty="0"/>
              <a:t>W</a:t>
            </a:r>
            <a:r>
              <a:rPr lang="en-GB" dirty="0" smtClean="0"/>
              <a:t>hat's </a:t>
            </a:r>
            <a:r>
              <a:rPr lang="en-GB" dirty="0"/>
              <a:t>the relationship between pointers and arrays? Well, in C, the </a:t>
            </a:r>
            <a:r>
              <a:rPr lang="en-GB" b="1" dirty="0"/>
              <a:t>name of an array</a:t>
            </a:r>
            <a:r>
              <a:rPr lang="en-GB" dirty="0"/>
              <a:t>, is actually a </a:t>
            </a:r>
            <a:r>
              <a:rPr lang="en-GB" b="1" dirty="0"/>
              <a:t>pointer</a:t>
            </a:r>
            <a:r>
              <a:rPr lang="en-GB" dirty="0"/>
              <a:t> to the </a:t>
            </a:r>
            <a:r>
              <a:rPr lang="en-GB" b="1" dirty="0"/>
              <a:t>first element</a:t>
            </a:r>
            <a:r>
              <a:rPr lang="en-GB" dirty="0"/>
              <a:t> of the array</a:t>
            </a:r>
            <a:r>
              <a:rPr lang="en-GB" dirty="0" smtClean="0"/>
              <a:t>.</a:t>
            </a:r>
          </a:p>
          <a:p>
            <a:pPr>
              <a:lnSpc>
                <a:spcPct val="150000"/>
              </a:lnSpc>
            </a:pPr>
            <a:r>
              <a:rPr lang="en-GB" dirty="0"/>
              <a:t>Let's try to understand this better, and use our "memory address example" above again.</a:t>
            </a:r>
          </a:p>
          <a:p>
            <a:pPr>
              <a:lnSpc>
                <a:spcPct val="150000"/>
              </a:lnSpc>
            </a:pPr>
            <a:r>
              <a:rPr lang="en-GB" dirty="0"/>
              <a:t>The </a:t>
            </a:r>
            <a:r>
              <a:rPr lang="en-GB" b="1" dirty="0"/>
              <a:t>memory address</a:t>
            </a:r>
            <a:r>
              <a:rPr lang="en-GB" dirty="0"/>
              <a:t> of the </a:t>
            </a:r>
            <a:r>
              <a:rPr lang="en-GB" b="1" dirty="0"/>
              <a:t>first element</a:t>
            </a:r>
            <a:r>
              <a:rPr lang="en-GB" dirty="0"/>
              <a:t> is the same as the </a:t>
            </a:r>
            <a:r>
              <a:rPr lang="en-GB" b="1" dirty="0"/>
              <a:t>name of the </a:t>
            </a:r>
            <a:r>
              <a:rPr lang="en-GB" b="1" dirty="0" smtClean="0"/>
              <a:t>array</a:t>
            </a:r>
            <a:r>
              <a:rPr lang="en-GB" dirty="0"/>
              <a:t>.</a:t>
            </a:r>
          </a:p>
          <a:p>
            <a:endParaRPr lang="en-GB" dirty="0"/>
          </a:p>
        </p:txBody>
      </p:sp>
    </p:spTree>
    <p:extLst>
      <p:ext uri="{BB962C8B-B14F-4D97-AF65-F5344CB8AC3E}">
        <p14:creationId xmlns:p14="http://schemas.microsoft.com/office/powerpoint/2010/main" val="31414590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br>
              <a:rPr lang="en-GB" b="1" dirty="0"/>
            </a:br>
            <a:endParaRPr lang="en-GB" b="1" dirty="0"/>
          </a:p>
        </p:txBody>
      </p:sp>
      <p:sp>
        <p:nvSpPr>
          <p:cNvPr id="3" name="Content Placeholder 2"/>
          <p:cNvSpPr>
            <a:spLocks noGrp="1"/>
          </p:cNvSpPr>
          <p:nvPr>
            <p:ph idx="1"/>
          </p:nvPr>
        </p:nvSpPr>
        <p:spPr/>
        <p:txBody>
          <a:bodyPr/>
          <a:lstStyle/>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Get the memory address of the </a:t>
            </a:r>
            <a:r>
              <a:rPr lang="en-GB" dirty="0" err="1">
                <a:solidFill>
                  <a:srgbClr val="008000"/>
                </a:solidFill>
                <a:latin typeface="Consolas" panose="020B0609020204030204" pitchFamily="49" charset="0"/>
              </a:rPr>
              <a:t>myNumbers</a:t>
            </a:r>
            <a:r>
              <a:rPr lang="en-GB" dirty="0">
                <a:solidFill>
                  <a:srgbClr val="008000"/>
                </a:solidFill>
                <a:latin typeface="Consolas" panose="020B0609020204030204" pitchFamily="49" charset="0"/>
              </a:rPr>
              <a:t> array</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"%p\n"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Get the memory address of the first array element</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"%p\n"</a:t>
            </a:r>
            <a:r>
              <a:rPr lang="en-GB" dirty="0">
                <a:solidFill>
                  <a:srgbClr val="000000"/>
                </a:solidFill>
                <a:latin typeface="Consolas" panose="020B0609020204030204" pitchFamily="49" charset="0"/>
              </a:rPr>
              <a:t>, &amp;</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323806503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Result:</a:t>
            </a:r>
          </a:p>
        </p:txBody>
      </p:sp>
      <p:sp>
        <p:nvSpPr>
          <p:cNvPr id="3" name="Content Placeholder 2"/>
          <p:cNvSpPr>
            <a:spLocks noGrp="1"/>
          </p:cNvSpPr>
          <p:nvPr>
            <p:ph idx="1"/>
          </p:nvPr>
        </p:nvSpPr>
        <p:spPr/>
        <p:txBody>
          <a:bodyPr/>
          <a:lstStyle/>
          <a:p>
            <a:pPr>
              <a:lnSpc>
                <a:spcPct val="150000"/>
              </a:lnSpc>
            </a:pPr>
            <a:r>
              <a:rPr lang="en-GB" dirty="0"/>
              <a:t>0x7ffe70f9d8f0</a:t>
            </a:r>
            <a:br>
              <a:rPr lang="en-GB" dirty="0"/>
            </a:br>
            <a:r>
              <a:rPr lang="en-GB" dirty="0" err="1" smtClean="0"/>
              <a:t>0x7ffe70f9d8f0</a:t>
            </a:r>
            <a:endParaRPr lang="en-GB" dirty="0" smtClean="0"/>
          </a:p>
          <a:p>
            <a:pPr algn="just">
              <a:lnSpc>
                <a:spcPct val="150000"/>
              </a:lnSpc>
            </a:pPr>
            <a:r>
              <a:rPr lang="en-GB" dirty="0"/>
              <a:t>This basically means that we can work with arrays through pointers</a:t>
            </a:r>
            <a:r>
              <a:rPr lang="en-GB" dirty="0" smtClean="0"/>
              <a:t>!</a:t>
            </a:r>
          </a:p>
          <a:p>
            <a:pPr algn="just">
              <a:lnSpc>
                <a:spcPct val="150000"/>
              </a:lnSpc>
            </a:pPr>
            <a:r>
              <a:rPr lang="en-GB" dirty="0"/>
              <a:t>Since </a:t>
            </a:r>
            <a:r>
              <a:rPr lang="en-GB" dirty="0" err="1"/>
              <a:t>myNumbers</a:t>
            </a:r>
            <a:r>
              <a:rPr lang="en-GB" dirty="0"/>
              <a:t> is a pointer to the first element in </a:t>
            </a:r>
            <a:r>
              <a:rPr lang="en-GB" dirty="0" err="1"/>
              <a:t>myNumbers</a:t>
            </a:r>
            <a:r>
              <a:rPr lang="en-GB" dirty="0"/>
              <a:t>, you can use the * operator to access it</a:t>
            </a:r>
          </a:p>
        </p:txBody>
      </p:sp>
    </p:spTree>
    <p:extLst>
      <p:ext uri="{BB962C8B-B14F-4D97-AF65-F5344CB8AC3E}">
        <p14:creationId xmlns:p14="http://schemas.microsoft.com/office/powerpoint/2010/main" val="323051630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br>
              <a:rPr lang="en-GB" b="1" dirty="0"/>
            </a:br>
            <a:endParaRPr lang="en-GB" b="1" dirty="0"/>
          </a:p>
        </p:txBody>
      </p:sp>
      <p:sp>
        <p:nvSpPr>
          <p:cNvPr id="3" name="Content Placeholder 2"/>
          <p:cNvSpPr>
            <a:spLocks noGrp="1"/>
          </p:cNvSpPr>
          <p:nvPr>
            <p:ph idx="1"/>
          </p:nvPr>
        </p:nvSpPr>
        <p:spPr/>
        <p:txBody>
          <a:bodyPr/>
          <a:lstStyle/>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Get the value of the first element in </a:t>
            </a:r>
            <a:r>
              <a:rPr lang="en-GB" dirty="0" err="1">
                <a:solidFill>
                  <a:srgbClr val="008000"/>
                </a:solidFill>
                <a:latin typeface="Consolas" panose="020B0609020204030204" pitchFamily="49" charset="0"/>
              </a:rPr>
              <a:t>myNumbers</a:t>
            </a:r>
            <a:r>
              <a:rPr lang="en-GB" dirty="0">
                <a:solidFill>
                  <a:srgbClr val="008000"/>
                </a:solidFill>
                <a:latin typeface="Consolas" panose="020B0609020204030204" pitchFamily="49" charset="0"/>
              </a:rPr>
              <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smtClean="0">
                <a:solidFill>
                  <a:srgbClr val="000000"/>
                </a:solidFill>
                <a:latin typeface="Consolas" panose="020B0609020204030204" pitchFamily="49" charset="0"/>
              </a:rPr>
              <a:t>);</a:t>
            </a:r>
          </a:p>
          <a:p>
            <a:r>
              <a:rPr lang="en-GB" dirty="0"/>
              <a:t>Result</a:t>
            </a:r>
            <a:r>
              <a:rPr lang="en-GB" dirty="0" smtClean="0"/>
              <a:t>: 25</a:t>
            </a:r>
          </a:p>
          <a:p>
            <a:pPr algn="just">
              <a:lnSpc>
                <a:spcPct val="150000"/>
              </a:lnSpc>
            </a:pPr>
            <a:r>
              <a:rPr lang="en-GB" dirty="0"/>
              <a:t>To access the rest of the elements in </a:t>
            </a:r>
            <a:r>
              <a:rPr lang="en-GB" dirty="0" err="1"/>
              <a:t>myNumbers</a:t>
            </a:r>
            <a:r>
              <a:rPr lang="en-GB" dirty="0"/>
              <a:t>, you can increment the pointer/array (+1, +2, </a:t>
            </a:r>
            <a:r>
              <a:rPr lang="en-GB" dirty="0" err="1"/>
              <a:t>etc</a:t>
            </a:r>
            <a:r>
              <a:rPr lang="en-GB" dirty="0"/>
              <a:t>):</a:t>
            </a:r>
          </a:p>
        </p:txBody>
      </p:sp>
    </p:spTree>
    <p:extLst>
      <p:ext uri="{BB962C8B-B14F-4D97-AF65-F5344CB8AC3E}">
        <p14:creationId xmlns:p14="http://schemas.microsoft.com/office/powerpoint/2010/main" val="135106410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b="1" dirty="0"/>
              <a:t/>
            </a:r>
            <a:br>
              <a:rPr lang="en-GB" b="1" dirty="0"/>
            </a:br>
            <a:endParaRPr lang="en-GB" b="1" dirty="0"/>
          </a:p>
        </p:txBody>
      </p:sp>
      <p:sp>
        <p:nvSpPr>
          <p:cNvPr id="3" name="Content Placeholder 2"/>
          <p:cNvSpPr>
            <a:spLocks noGrp="1"/>
          </p:cNvSpPr>
          <p:nvPr>
            <p:ph idx="1"/>
          </p:nvPr>
        </p:nvSpPr>
        <p:spPr/>
        <p:txBody>
          <a:bodyPr/>
          <a:lstStyle/>
          <a:p>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Get the value of the second element in </a:t>
            </a:r>
            <a:r>
              <a:rPr lang="en-GB" dirty="0" err="1">
                <a:solidFill>
                  <a:srgbClr val="008000"/>
                </a:solidFill>
                <a:latin typeface="Consolas" panose="020B0609020204030204" pitchFamily="49" charset="0"/>
              </a:rPr>
              <a:t>myNumbers</a:t>
            </a:r>
            <a:r>
              <a:rPr lang="en-GB" dirty="0">
                <a:solidFill>
                  <a:srgbClr val="008000"/>
                </a:solidFill>
                <a:latin typeface="Consolas" panose="020B0609020204030204" pitchFamily="49" charset="0"/>
              </a:rPr>
              <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Get the value of the third element in </a:t>
            </a:r>
            <a:r>
              <a:rPr lang="en-GB" dirty="0" err="1">
                <a:solidFill>
                  <a:srgbClr val="008000"/>
                </a:solidFill>
                <a:latin typeface="Consolas" panose="020B0609020204030204" pitchFamily="49" charset="0"/>
              </a:rPr>
              <a:t>myNumbers</a:t>
            </a:r>
            <a:r>
              <a:rPr lang="en-GB" dirty="0">
                <a:solidFill>
                  <a:srgbClr val="008000"/>
                </a:solidFill>
                <a:latin typeface="Consolas" panose="020B0609020204030204" pitchFamily="49" charset="0"/>
              </a:rPr>
              <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and so on</a:t>
            </a:r>
            <a:r>
              <a:rPr lang="en-GB" dirty="0" smtClean="0">
                <a:solidFill>
                  <a:srgbClr val="008000"/>
                </a:solidFill>
                <a:latin typeface="Consolas" panose="020B0609020204030204" pitchFamily="49" charset="0"/>
              </a:rPr>
              <a:t>.. </a:t>
            </a:r>
            <a:r>
              <a:rPr lang="en-GB" dirty="0"/>
              <a:t>Result</a:t>
            </a:r>
            <a:r>
              <a:rPr lang="en-GB" dirty="0" smtClean="0"/>
              <a:t>: 50    75</a:t>
            </a:r>
            <a:endParaRPr lang="en-GB" dirty="0"/>
          </a:p>
        </p:txBody>
      </p:sp>
    </p:spTree>
    <p:extLst>
      <p:ext uri="{BB962C8B-B14F-4D97-AF65-F5344CB8AC3E}">
        <p14:creationId xmlns:p14="http://schemas.microsoft.com/office/powerpoint/2010/main" val="103001053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Or loop through it:</a:t>
            </a:r>
          </a:p>
        </p:txBody>
      </p:sp>
      <p:sp>
        <p:nvSpPr>
          <p:cNvPr id="3" name="Content Placeholder 2"/>
          <p:cNvSpPr>
            <a:spLocks noGrp="1"/>
          </p:cNvSpPr>
          <p:nvPr>
            <p:ph idx="1"/>
          </p:nvPr>
        </p:nvSpPr>
        <p:spPr/>
        <p:txBody>
          <a:bodyPr>
            <a:normAutofit lnSpcReduction="10000"/>
          </a:bodyPr>
          <a:lstStyle/>
          <a:p>
            <a:r>
              <a:rPr lang="en-GB" b="1" dirty="0"/>
              <a:t>Example</a:t>
            </a:r>
          </a:p>
          <a:p>
            <a:pPr>
              <a:lnSpc>
                <a:spcPct val="150000"/>
              </a:lnSpc>
            </a:pP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ptr</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t/>
            </a:r>
            <a:br>
              <a:rPr lang="en-GB" dirty="0"/>
            </a:b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00CD"/>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0</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&lt; </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i</a:t>
            </a:r>
            <a:r>
              <a:rPr lang="en-GB" dirty="0">
                <a:solidFill>
                  <a:srgbClr val="000000"/>
                </a:solidFill>
                <a:latin typeface="Consolas" panose="020B0609020204030204" pitchFamily="49" charset="0"/>
              </a:rPr>
              <a:t>++) {</a:t>
            </a:r>
            <a:r>
              <a:rPr lang="en-GB" dirty="0"/>
              <a:t/>
            </a:r>
            <a:br>
              <a:rPr lang="en-GB" dirty="0"/>
            </a:b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ptr</a:t>
            </a:r>
            <a:r>
              <a:rPr lang="en-GB" dirty="0">
                <a:solidFill>
                  <a:srgbClr val="000000"/>
                </a:solidFill>
                <a:latin typeface="Consolas" panose="020B0609020204030204" pitchFamily="49" charset="0"/>
              </a:rPr>
              <a:t> + </a:t>
            </a:r>
            <a:r>
              <a:rPr lang="en-GB" dirty="0" err="1">
                <a:solidFill>
                  <a:srgbClr val="000000"/>
                </a:solidFill>
                <a:latin typeface="Consolas" panose="020B0609020204030204" pitchFamily="49" charset="0"/>
              </a:rPr>
              <a:t>i</a:t>
            </a:r>
            <a:r>
              <a:rPr lang="en-GB" dirty="0" smtClean="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30650256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Result:</a:t>
            </a:r>
          </a:p>
        </p:txBody>
      </p:sp>
      <p:sp>
        <p:nvSpPr>
          <p:cNvPr id="3" name="Content Placeholder 2"/>
          <p:cNvSpPr>
            <a:spLocks noGrp="1"/>
          </p:cNvSpPr>
          <p:nvPr>
            <p:ph idx="1"/>
          </p:nvPr>
        </p:nvSpPr>
        <p:spPr/>
        <p:txBody>
          <a:bodyPr/>
          <a:lstStyle/>
          <a:p>
            <a:r>
              <a:rPr lang="en-GB" dirty="0" smtClean="0">
                <a:latin typeface="Courier New" panose="02070309020205020404" pitchFamily="49" charset="0"/>
              </a:rPr>
              <a:t>25 </a:t>
            </a:r>
          </a:p>
          <a:p>
            <a:r>
              <a:rPr lang="en-GB" dirty="0" smtClean="0">
                <a:latin typeface="Courier New" panose="02070309020205020404" pitchFamily="49" charset="0"/>
              </a:rPr>
              <a:t>50</a:t>
            </a:r>
          </a:p>
          <a:p>
            <a:r>
              <a:rPr lang="en-GB" dirty="0" smtClean="0">
                <a:latin typeface="Courier New" panose="02070309020205020404" pitchFamily="49" charset="0"/>
              </a:rPr>
              <a:t>75</a:t>
            </a:r>
          </a:p>
          <a:p>
            <a:r>
              <a:rPr lang="en-GB" dirty="0" smtClean="0">
                <a:latin typeface="Courier New" panose="02070309020205020404" pitchFamily="49" charset="0"/>
              </a:rPr>
              <a:t>100</a:t>
            </a:r>
          </a:p>
          <a:p>
            <a:r>
              <a:rPr lang="en-GB" dirty="0"/>
              <a:t>It is also possible to change the value of array elements with pointers</a:t>
            </a:r>
          </a:p>
        </p:txBody>
      </p:sp>
    </p:spTree>
    <p:extLst>
      <p:ext uri="{BB962C8B-B14F-4D97-AF65-F5344CB8AC3E}">
        <p14:creationId xmlns:p14="http://schemas.microsoft.com/office/powerpoint/2010/main" val="349202050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br>
              <a:rPr lang="en-GB" b="1" dirty="0"/>
            </a:br>
            <a:endParaRPr lang="en-GB" b="1" dirty="0"/>
          </a:p>
        </p:txBody>
      </p:sp>
      <p:sp>
        <p:nvSpPr>
          <p:cNvPr id="3" name="Content Placeholder 2"/>
          <p:cNvSpPr>
            <a:spLocks noGrp="1"/>
          </p:cNvSpPr>
          <p:nvPr>
            <p:ph idx="1"/>
          </p:nvPr>
        </p:nvSpPr>
        <p:spPr>
          <a:xfrm>
            <a:off x="838200" y="1825624"/>
            <a:ext cx="10515600" cy="4731929"/>
          </a:xfrm>
        </p:spPr>
        <p:txBody>
          <a:bodyPr>
            <a:normAutofit lnSpcReduction="10000"/>
          </a:bodyPr>
          <a:lstStyle/>
          <a:p>
            <a:r>
              <a:rPr lang="en-GB" dirty="0" err="1" smtClean="0">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solidFill>
                  <a:srgbClr val="FF0000"/>
                </a:solidFill>
                <a:latin typeface="Consolas" panose="020B0609020204030204" pitchFamily="49" charset="0"/>
              </a:rPr>
              <a:t>4</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25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50</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75</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100</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Change the value of the first element to 13</a:t>
            </a:r>
            <a:br>
              <a:rPr lang="en-GB" dirty="0">
                <a:solidFill>
                  <a:srgbClr val="008000"/>
                </a:solidFill>
                <a:latin typeface="Consolas" panose="020B0609020204030204" pitchFamily="49" charset="0"/>
              </a:rPr>
            </a:b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13</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Change the value of the second element to 17</a:t>
            </a:r>
            <a:br>
              <a:rPr lang="en-GB" dirty="0">
                <a:solidFill>
                  <a:srgbClr val="008000"/>
                </a:solidFill>
                <a:latin typeface="Consolas" panose="020B0609020204030204" pitchFamily="49" charset="0"/>
              </a:rPr>
            </a:br>
            <a:r>
              <a:rPr lang="en-GB" dirty="0">
                <a:solidFill>
                  <a:srgbClr val="000000"/>
                </a:solidFill>
                <a:latin typeface="Consolas" panose="020B0609020204030204" pitchFamily="49" charset="0"/>
              </a:rPr>
              <a:t>*(</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17</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Get the value of the first element</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a:t>
            </a:r>
            <a:r>
              <a:rPr lang="en-GB" dirty="0"/>
              <a:t/>
            </a:r>
            <a:br>
              <a:rPr lang="en-GB" dirty="0"/>
            </a:br>
            <a:r>
              <a:rPr lang="en-GB" dirty="0"/>
              <a:t/>
            </a:r>
            <a:br>
              <a:rPr lang="en-GB" dirty="0"/>
            </a:br>
            <a:r>
              <a:rPr lang="en-GB" dirty="0">
                <a:solidFill>
                  <a:srgbClr val="008000"/>
                </a:solidFill>
                <a:latin typeface="Consolas" panose="020B0609020204030204" pitchFamily="49" charset="0"/>
              </a:rPr>
              <a:t>// Get the value of the second element</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myNumbers</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1</a:t>
            </a:r>
            <a:r>
              <a:rPr lang="en-GB" dirty="0">
                <a:solidFill>
                  <a:srgbClr val="000000"/>
                </a:solidFill>
                <a:latin typeface="Consolas" panose="020B0609020204030204" pitchFamily="49" charset="0"/>
              </a:rPr>
              <a:t>));</a:t>
            </a:r>
            <a:endParaRPr lang="en-GB" dirty="0"/>
          </a:p>
        </p:txBody>
      </p:sp>
    </p:spTree>
    <p:extLst>
      <p:ext uri="{BB962C8B-B14F-4D97-AF65-F5344CB8AC3E}">
        <p14:creationId xmlns:p14="http://schemas.microsoft.com/office/powerpoint/2010/main" val="371373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Result:</a:t>
            </a:r>
          </a:p>
        </p:txBody>
      </p:sp>
      <p:sp>
        <p:nvSpPr>
          <p:cNvPr id="3" name="Content Placeholder 2"/>
          <p:cNvSpPr>
            <a:spLocks noGrp="1"/>
          </p:cNvSpPr>
          <p:nvPr>
            <p:ph idx="1"/>
          </p:nvPr>
        </p:nvSpPr>
        <p:spPr/>
        <p:txBody>
          <a:bodyPr/>
          <a:lstStyle/>
          <a:p>
            <a:r>
              <a:rPr lang="en-GB" dirty="0" smtClean="0"/>
              <a:t>13</a:t>
            </a:r>
          </a:p>
          <a:p>
            <a:r>
              <a:rPr lang="en-GB" dirty="0" smtClean="0"/>
              <a:t>17</a:t>
            </a:r>
            <a:endParaRPr lang="en-GB" dirty="0"/>
          </a:p>
        </p:txBody>
      </p:sp>
    </p:spTree>
    <p:extLst>
      <p:ext uri="{BB962C8B-B14F-4D97-AF65-F5344CB8AC3E}">
        <p14:creationId xmlns:p14="http://schemas.microsoft.com/office/powerpoint/2010/main" val="32735774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C</a:t>
            </a:r>
            <a:r>
              <a:rPr lang="en-GB" b="1" dirty="0"/>
              <a:t> Memory Address</a:t>
            </a:r>
            <a:br>
              <a:rPr lang="en-GB" b="1" dirty="0"/>
            </a:br>
            <a:endParaRPr lang="en-GB" b="1" dirty="0"/>
          </a:p>
        </p:txBody>
      </p:sp>
      <p:sp>
        <p:nvSpPr>
          <p:cNvPr id="3" name="Content Placeholder 2"/>
          <p:cNvSpPr>
            <a:spLocks noGrp="1"/>
          </p:cNvSpPr>
          <p:nvPr>
            <p:ph idx="1"/>
          </p:nvPr>
        </p:nvSpPr>
        <p:spPr>
          <a:xfrm>
            <a:off x="838200" y="1554480"/>
            <a:ext cx="10515600" cy="4622483"/>
          </a:xfrm>
        </p:spPr>
        <p:txBody>
          <a:bodyPr>
            <a:normAutofit fontScale="92500" lnSpcReduction="10000"/>
          </a:bodyPr>
          <a:lstStyle/>
          <a:p>
            <a:pPr>
              <a:lnSpc>
                <a:spcPct val="150000"/>
              </a:lnSpc>
            </a:pPr>
            <a:r>
              <a:rPr lang="en-GB" dirty="0"/>
              <a:t>When a variable is created in C, a memory address is assigned to the variable.</a:t>
            </a:r>
          </a:p>
          <a:p>
            <a:pPr>
              <a:lnSpc>
                <a:spcPct val="150000"/>
              </a:lnSpc>
            </a:pPr>
            <a:r>
              <a:rPr lang="en-GB" dirty="0"/>
              <a:t>The memory address is the location of where the variable is stored on the computer.</a:t>
            </a:r>
          </a:p>
          <a:p>
            <a:pPr>
              <a:lnSpc>
                <a:spcPct val="150000"/>
              </a:lnSpc>
            </a:pPr>
            <a:r>
              <a:rPr lang="en-GB" dirty="0"/>
              <a:t>When we assign a value to the variable, it is stored in this memory address</a:t>
            </a:r>
            <a:r>
              <a:rPr lang="en-GB" dirty="0" smtClean="0"/>
              <a:t>.</a:t>
            </a:r>
          </a:p>
          <a:p>
            <a:pPr>
              <a:lnSpc>
                <a:spcPct val="150000"/>
              </a:lnSpc>
            </a:pPr>
            <a:r>
              <a:rPr lang="en-GB" dirty="0"/>
              <a:t>To access it, use the reference operator </a:t>
            </a:r>
            <a:r>
              <a:rPr lang="en-GB" b="1" dirty="0"/>
              <a:t>(&amp;)</a:t>
            </a:r>
            <a:r>
              <a:rPr lang="en-GB" dirty="0"/>
              <a:t>, and the result represents where the variable is </a:t>
            </a:r>
            <a:r>
              <a:rPr lang="en-GB" dirty="0" smtClean="0"/>
              <a:t>stored</a:t>
            </a:r>
            <a:endParaRPr lang="en-GB" dirty="0"/>
          </a:p>
          <a:p>
            <a:endParaRPr lang="en-GB" dirty="0"/>
          </a:p>
        </p:txBody>
      </p:sp>
    </p:spTree>
    <p:extLst>
      <p:ext uri="{BB962C8B-B14F-4D97-AF65-F5344CB8AC3E}">
        <p14:creationId xmlns:p14="http://schemas.microsoft.com/office/powerpoint/2010/main" val="132802749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b="1" dirty="0"/>
              <a:t/>
            </a:r>
            <a:br>
              <a:rPr lang="en-GB" b="1" dirty="0"/>
            </a:br>
            <a:endParaRPr lang="en-GB" b="1" dirty="0"/>
          </a:p>
        </p:txBody>
      </p:sp>
      <p:sp>
        <p:nvSpPr>
          <p:cNvPr id="3" name="Content Placeholder 2"/>
          <p:cNvSpPr>
            <a:spLocks noGrp="1"/>
          </p:cNvSpPr>
          <p:nvPr>
            <p:ph idx="1"/>
          </p:nvPr>
        </p:nvSpPr>
        <p:spPr/>
        <p:txBody>
          <a:bodyPr/>
          <a:lstStyle/>
          <a:p>
            <a:r>
              <a:rPr lang="de-DE" dirty="0">
                <a:solidFill>
                  <a:srgbClr val="0000CD"/>
                </a:solidFill>
                <a:latin typeface="Consolas" panose="020B0609020204030204" pitchFamily="49" charset="0"/>
              </a:rPr>
              <a:t>int</a:t>
            </a:r>
            <a:r>
              <a:rPr lang="de-DE" dirty="0">
                <a:solidFill>
                  <a:srgbClr val="000000"/>
                </a:solidFill>
                <a:latin typeface="Consolas" panose="020B0609020204030204" pitchFamily="49" charset="0"/>
              </a:rPr>
              <a:t> myAge = </a:t>
            </a:r>
            <a:r>
              <a:rPr lang="de-DE" dirty="0">
                <a:solidFill>
                  <a:srgbClr val="FF0000"/>
                </a:solidFill>
                <a:latin typeface="Consolas" panose="020B0609020204030204" pitchFamily="49" charset="0"/>
              </a:rPr>
              <a:t>43</a:t>
            </a:r>
            <a:r>
              <a:rPr lang="de-DE" dirty="0">
                <a:solidFill>
                  <a:srgbClr val="000000"/>
                </a:solidFill>
                <a:latin typeface="Consolas" panose="020B0609020204030204" pitchFamily="49" charset="0"/>
              </a:rPr>
              <a:t>;</a:t>
            </a:r>
            <a:r>
              <a:rPr lang="de-DE" dirty="0"/>
              <a:t/>
            </a:r>
            <a:br>
              <a:rPr lang="de-DE" dirty="0"/>
            </a:br>
            <a:r>
              <a:rPr lang="de-DE" dirty="0">
                <a:solidFill>
                  <a:srgbClr val="000000"/>
                </a:solidFill>
                <a:latin typeface="Consolas" panose="020B0609020204030204" pitchFamily="49" charset="0"/>
              </a:rPr>
              <a:t>printf(</a:t>
            </a:r>
            <a:r>
              <a:rPr lang="de-DE" dirty="0">
                <a:solidFill>
                  <a:srgbClr val="A52A2A"/>
                </a:solidFill>
                <a:latin typeface="Consolas" panose="020B0609020204030204" pitchFamily="49" charset="0"/>
              </a:rPr>
              <a:t>"%p"</a:t>
            </a:r>
            <a:r>
              <a:rPr lang="de-DE" dirty="0">
                <a:solidFill>
                  <a:srgbClr val="000000"/>
                </a:solidFill>
                <a:latin typeface="Consolas" panose="020B0609020204030204" pitchFamily="49" charset="0"/>
              </a:rPr>
              <a:t>, </a:t>
            </a:r>
            <a:r>
              <a:rPr lang="de-DE" b="1" dirty="0">
                <a:solidFill>
                  <a:srgbClr val="000000"/>
                </a:solidFill>
                <a:latin typeface="Consolas" panose="020B0609020204030204" pitchFamily="49" charset="0"/>
              </a:rPr>
              <a:t>&amp;myAge</a:t>
            </a:r>
            <a:r>
              <a:rPr lang="de-DE" dirty="0">
                <a:solidFill>
                  <a:srgbClr val="000000"/>
                </a:solidFill>
                <a:latin typeface="Consolas" panose="020B0609020204030204" pitchFamily="49" charset="0"/>
              </a:rPr>
              <a:t>); </a:t>
            </a:r>
            <a:r>
              <a:rPr lang="de-DE" dirty="0">
                <a:solidFill>
                  <a:srgbClr val="008000"/>
                </a:solidFill>
                <a:latin typeface="Consolas" panose="020B0609020204030204" pitchFamily="49" charset="0"/>
              </a:rPr>
              <a:t>// Outputs </a:t>
            </a:r>
            <a:r>
              <a:rPr lang="de-DE" dirty="0" smtClean="0">
                <a:solidFill>
                  <a:srgbClr val="008000"/>
                </a:solidFill>
                <a:latin typeface="Consolas" panose="020B0609020204030204" pitchFamily="49" charset="0"/>
              </a:rPr>
              <a:t>0x7ffe5367e044</a:t>
            </a:r>
          </a:p>
          <a:p>
            <a:pPr algn="just">
              <a:lnSpc>
                <a:spcPct val="150000"/>
              </a:lnSpc>
            </a:pPr>
            <a:r>
              <a:rPr lang="en-GB" b="1" dirty="0"/>
              <a:t>Note:</a:t>
            </a:r>
            <a:r>
              <a:rPr lang="en-GB" dirty="0"/>
              <a:t> The memory address is in hexadecimal form (0x..). You will probably not get the same result in your program, as this depends on where the variable is stored on your computer.</a:t>
            </a:r>
          </a:p>
        </p:txBody>
      </p:sp>
    </p:spTree>
    <p:extLst>
      <p:ext uri="{BB962C8B-B14F-4D97-AF65-F5344CB8AC3E}">
        <p14:creationId xmlns:p14="http://schemas.microsoft.com/office/powerpoint/2010/main" val="84933017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lnSpc>
                <a:spcPct val="150000"/>
              </a:lnSpc>
            </a:pPr>
            <a:r>
              <a:rPr lang="en-GB" dirty="0"/>
              <a:t>You should also note that </a:t>
            </a:r>
            <a:r>
              <a:rPr lang="en-GB" dirty="0">
                <a:solidFill>
                  <a:srgbClr val="FF0000"/>
                </a:solidFill>
              </a:rPr>
              <a:t>&amp;</a:t>
            </a:r>
            <a:r>
              <a:rPr lang="en-GB" dirty="0" err="1">
                <a:solidFill>
                  <a:srgbClr val="FF0000"/>
                </a:solidFill>
              </a:rPr>
              <a:t>myAge</a:t>
            </a:r>
            <a:r>
              <a:rPr lang="en-GB" dirty="0">
                <a:solidFill>
                  <a:srgbClr val="FF0000"/>
                </a:solidFill>
              </a:rPr>
              <a:t> </a:t>
            </a:r>
            <a:r>
              <a:rPr lang="en-GB" dirty="0"/>
              <a:t>is often called a "</a:t>
            </a:r>
            <a:r>
              <a:rPr lang="en-GB" b="1" dirty="0"/>
              <a:t>pointer</a:t>
            </a:r>
            <a:r>
              <a:rPr lang="en-GB" dirty="0"/>
              <a:t>". A pointer basically stores the memory address of a variable as its value. To print pointer values, we use the </a:t>
            </a:r>
            <a:r>
              <a:rPr lang="en-GB" dirty="0">
                <a:solidFill>
                  <a:srgbClr val="FF0000"/>
                </a:solidFill>
              </a:rPr>
              <a:t>%p </a:t>
            </a:r>
            <a:r>
              <a:rPr lang="en-GB" dirty="0"/>
              <a:t>format specifier.</a:t>
            </a:r>
          </a:p>
        </p:txBody>
      </p:sp>
    </p:spTree>
    <p:extLst>
      <p:ext uri="{BB962C8B-B14F-4D97-AF65-F5344CB8AC3E}">
        <p14:creationId xmlns:p14="http://schemas.microsoft.com/office/powerpoint/2010/main" val="30609635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 Pointers</a:t>
            </a:r>
            <a:r>
              <a:rPr lang="en-GB" dirty="0"/>
              <a:t/>
            </a:r>
            <a:br>
              <a:rPr lang="en-GB" dirty="0"/>
            </a:br>
            <a:endParaRPr lang="en-GB" dirty="0"/>
          </a:p>
        </p:txBody>
      </p:sp>
      <p:sp>
        <p:nvSpPr>
          <p:cNvPr id="3" name="Content Placeholder 2"/>
          <p:cNvSpPr>
            <a:spLocks noGrp="1"/>
          </p:cNvSpPr>
          <p:nvPr>
            <p:ph idx="1"/>
          </p:nvPr>
        </p:nvSpPr>
        <p:spPr/>
        <p:txBody>
          <a:bodyPr/>
          <a:lstStyle/>
          <a:p>
            <a:pPr algn="just">
              <a:lnSpc>
                <a:spcPct val="200000"/>
              </a:lnSpc>
            </a:pPr>
            <a:r>
              <a:rPr lang="en-GB" b="1" dirty="0"/>
              <a:t>Creating Pointers</a:t>
            </a:r>
          </a:p>
          <a:p>
            <a:pPr algn="just">
              <a:lnSpc>
                <a:spcPct val="200000"/>
              </a:lnSpc>
            </a:pPr>
            <a:r>
              <a:rPr lang="en-GB" dirty="0" smtClean="0"/>
              <a:t>We </a:t>
            </a:r>
            <a:r>
              <a:rPr lang="en-GB" dirty="0"/>
              <a:t>can get the memory address of a variable with the reference operator </a:t>
            </a:r>
            <a:r>
              <a:rPr lang="en-GB" b="1" dirty="0" smtClean="0"/>
              <a:t>&amp;</a:t>
            </a:r>
          </a:p>
          <a:p>
            <a:pPr marL="0" indent="0">
              <a:buNone/>
            </a:pPr>
            <a:endParaRPr lang="en-GB" b="1" dirty="0"/>
          </a:p>
        </p:txBody>
      </p:sp>
    </p:spTree>
    <p:extLst>
      <p:ext uri="{BB962C8B-B14F-4D97-AF65-F5344CB8AC3E}">
        <p14:creationId xmlns:p14="http://schemas.microsoft.com/office/powerpoint/2010/main" val="385425968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a:t>
            </a:r>
            <a:r>
              <a:rPr lang="en-GB" dirty="0"/>
              <a:t/>
            </a:r>
            <a:br>
              <a:rPr lang="en-GB" dirty="0"/>
            </a:br>
            <a:endParaRPr lang="en-GB" dirty="0"/>
          </a:p>
        </p:txBody>
      </p:sp>
      <p:sp>
        <p:nvSpPr>
          <p:cNvPr id="3" name="Content Placeholder 2"/>
          <p:cNvSpPr>
            <a:spLocks noGrp="1"/>
          </p:cNvSpPr>
          <p:nvPr>
            <p:ph idx="1"/>
          </p:nvPr>
        </p:nvSpPr>
        <p:spPr>
          <a:xfrm>
            <a:off x="535577" y="1825625"/>
            <a:ext cx="11051177" cy="4351338"/>
          </a:xfrm>
        </p:spPr>
        <p:txBody>
          <a:bodyPr/>
          <a:lstStyle/>
          <a:p>
            <a:pPr>
              <a:lnSpc>
                <a:spcPct val="150000"/>
              </a:lnSpc>
            </a:pPr>
            <a:r>
              <a:rPr lang="en-GB" dirty="0" err="1">
                <a:solidFill>
                  <a:srgbClr val="0000CD"/>
                </a:solidFill>
                <a:latin typeface="Consolas" panose="020B0609020204030204" pitchFamily="49" charset="0"/>
              </a:rPr>
              <a:t>int</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myAge</a:t>
            </a:r>
            <a:r>
              <a:rPr lang="en-GB" dirty="0">
                <a:solidFill>
                  <a:srgbClr val="000000"/>
                </a:solidFill>
                <a:latin typeface="Consolas" panose="020B0609020204030204" pitchFamily="49" charset="0"/>
              </a:rPr>
              <a:t> = </a:t>
            </a:r>
            <a:r>
              <a:rPr lang="en-GB" dirty="0">
                <a:solidFill>
                  <a:srgbClr val="FF0000"/>
                </a:solidFill>
                <a:latin typeface="Consolas" panose="020B0609020204030204" pitchFamily="49" charset="0"/>
              </a:rPr>
              <a:t>43</a:t>
            </a: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 an </a:t>
            </a:r>
            <a:r>
              <a:rPr lang="en-GB" dirty="0" err="1">
                <a:solidFill>
                  <a:srgbClr val="008000"/>
                </a:solidFill>
                <a:latin typeface="Consolas" panose="020B0609020204030204" pitchFamily="49" charset="0"/>
              </a:rPr>
              <a:t>int</a:t>
            </a:r>
            <a:r>
              <a:rPr lang="en-GB" dirty="0">
                <a:solidFill>
                  <a:srgbClr val="008000"/>
                </a:solidFill>
                <a:latin typeface="Consolas" panose="020B0609020204030204" pitchFamily="49" charset="0"/>
              </a:rPr>
              <a:t> variable</a:t>
            </a:r>
            <a:br>
              <a:rPr lang="en-GB" dirty="0">
                <a:solidFill>
                  <a:srgbClr val="008000"/>
                </a:solidFill>
                <a:latin typeface="Consolas" panose="020B0609020204030204" pitchFamily="49" charset="0"/>
              </a:rPr>
            </a:br>
            <a:r>
              <a:rPr lang="en-GB" dirty="0"/>
              <a:t/>
            </a:r>
            <a:br>
              <a:rPr lang="en-GB" dirty="0"/>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"%d"</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myAge</a:t>
            </a: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 Outputs the value of </a:t>
            </a:r>
            <a:r>
              <a:rPr lang="en-GB" dirty="0" err="1">
                <a:solidFill>
                  <a:srgbClr val="008000"/>
                </a:solidFill>
                <a:latin typeface="Consolas" panose="020B0609020204030204" pitchFamily="49" charset="0"/>
              </a:rPr>
              <a:t>myAge</a:t>
            </a:r>
            <a:r>
              <a:rPr lang="en-GB" dirty="0">
                <a:solidFill>
                  <a:srgbClr val="008000"/>
                </a:solidFill>
                <a:latin typeface="Consolas" panose="020B0609020204030204" pitchFamily="49" charset="0"/>
              </a:rPr>
              <a:t> (43)</a:t>
            </a:r>
            <a:br>
              <a:rPr lang="en-GB" dirty="0">
                <a:solidFill>
                  <a:srgbClr val="008000"/>
                </a:solidFill>
                <a:latin typeface="Consolas" panose="020B0609020204030204" pitchFamily="49" charset="0"/>
              </a:rPr>
            </a:br>
            <a:r>
              <a:rPr lang="en-GB" dirty="0" err="1">
                <a:solidFill>
                  <a:srgbClr val="000000"/>
                </a:solidFill>
                <a:latin typeface="Consolas" panose="020B0609020204030204" pitchFamily="49" charset="0"/>
              </a:rPr>
              <a:t>printf</a:t>
            </a:r>
            <a:r>
              <a:rPr lang="en-GB" dirty="0">
                <a:solidFill>
                  <a:srgbClr val="000000"/>
                </a:solidFill>
                <a:latin typeface="Consolas" panose="020B0609020204030204" pitchFamily="49" charset="0"/>
              </a:rPr>
              <a:t>(</a:t>
            </a:r>
            <a:r>
              <a:rPr lang="en-GB" dirty="0">
                <a:solidFill>
                  <a:srgbClr val="A52A2A"/>
                </a:solidFill>
                <a:latin typeface="Consolas" panose="020B0609020204030204" pitchFamily="49" charset="0"/>
              </a:rPr>
              <a:t>"%p"</a:t>
            </a:r>
            <a:r>
              <a:rPr lang="en-GB" dirty="0">
                <a:solidFill>
                  <a:srgbClr val="000000"/>
                </a:solidFill>
                <a:latin typeface="Consolas" panose="020B0609020204030204" pitchFamily="49" charset="0"/>
              </a:rPr>
              <a:t>, &amp;</a:t>
            </a:r>
            <a:r>
              <a:rPr lang="en-GB" dirty="0" err="1">
                <a:solidFill>
                  <a:srgbClr val="000000"/>
                </a:solidFill>
                <a:latin typeface="Consolas" panose="020B0609020204030204" pitchFamily="49" charset="0"/>
              </a:rPr>
              <a:t>myAge</a:t>
            </a:r>
            <a:r>
              <a:rPr lang="en-GB" dirty="0">
                <a:solidFill>
                  <a:srgbClr val="000000"/>
                </a:solidFill>
                <a:latin typeface="Consolas" panose="020B0609020204030204" pitchFamily="49" charset="0"/>
              </a:rPr>
              <a:t>); </a:t>
            </a:r>
            <a:r>
              <a:rPr lang="en-GB" dirty="0">
                <a:solidFill>
                  <a:srgbClr val="008000"/>
                </a:solidFill>
                <a:latin typeface="Consolas" panose="020B0609020204030204" pitchFamily="49" charset="0"/>
              </a:rPr>
              <a:t>// Outputs the memory address of </a:t>
            </a:r>
            <a:r>
              <a:rPr lang="en-GB" dirty="0" err="1">
                <a:solidFill>
                  <a:srgbClr val="008000"/>
                </a:solidFill>
                <a:latin typeface="Consolas" panose="020B0609020204030204" pitchFamily="49" charset="0"/>
              </a:rPr>
              <a:t>myAge</a:t>
            </a:r>
            <a:r>
              <a:rPr lang="en-GB" dirty="0">
                <a:solidFill>
                  <a:srgbClr val="008000"/>
                </a:solidFill>
                <a:latin typeface="Consolas" panose="020B0609020204030204" pitchFamily="49" charset="0"/>
              </a:rPr>
              <a:t> (0x7ffe5367e044)</a:t>
            </a:r>
            <a:endParaRPr lang="en-GB" dirty="0"/>
          </a:p>
        </p:txBody>
      </p:sp>
    </p:spTree>
    <p:extLst>
      <p:ext uri="{BB962C8B-B14F-4D97-AF65-F5344CB8AC3E}">
        <p14:creationId xmlns:p14="http://schemas.microsoft.com/office/powerpoint/2010/main" val="125904793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lnSpc>
                <a:spcPct val="150000"/>
              </a:lnSpc>
            </a:pPr>
            <a:r>
              <a:rPr lang="en-GB" dirty="0"/>
              <a:t>A </a:t>
            </a:r>
            <a:r>
              <a:rPr lang="en-GB" b="1" dirty="0"/>
              <a:t>pointer </a:t>
            </a:r>
            <a:r>
              <a:rPr lang="en-GB" dirty="0"/>
              <a:t>is a variable that </a:t>
            </a:r>
            <a:r>
              <a:rPr lang="en-GB" b="1" dirty="0"/>
              <a:t>stores </a:t>
            </a:r>
            <a:r>
              <a:rPr lang="en-GB" dirty="0"/>
              <a:t>the </a:t>
            </a:r>
            <a:r>
              <a:rPr lang="en-GB" b="1" dirty="0"/>
              <a:t>memory address</a:t>
            </a:r>
            <a:r>
              <a:rPr lang="en-GB" dirty="0"/>
              <a:t> of another variable as its value</a:t>
            </a:r>
            <a:r>
              <a:rPr lang="en-GB" dirty="0" smtClean="0"/>
              <a:t>.</a:t>
            </a:r>
          </a:p>
          <a:p>
            <a:pPr algn="just">
              <a:lnSpc>
                <a:spcPct val="150000"/>
              </a:lnSpc>
            </a:pPr>
            <a:r>
              <a:rPr lang="en-GB" dirty="0"/>
              <a:t>A pointer variable points to a data type (like </a:t>
            </a:r>
            <a:r>
              <a:rPr lang="en-GB" dirty="0" err="1">
                <a:solidFill>
                  <a:srgbClr val="FF0000"/>
                </a:solidFill>
              </a:rPr>
              <a:t>int</a:t>
            </a:r>
            <a:r>
              <a:rPr lang="en-GB" dirty="0"/>
              <a:t>) of the same type, and is created with the </a:t>
            </a:r>
            <a:r>
              <a:rPr lang="en-GB" dirty="0">
                <a:solidFill>
                  <a:srgbClr val="FF0000"/>
                </a:solidFill>
              </a:rPr>
              <a:t>*</a:t>
            </a:r>
            <a:r>
              <a:rPr lang="en-GB" dirty="0"/>
              <a:t> operator</a:t>
            </a:r>
            <a:r>
              <a:rPr lang="en-GB" dirty="0" smtClean="0"/>
              <a:t>.</a:t>
            </a:r>
          </a:p>
          <a:p>
            <a:pPr algn="just">
              <a:lnSpc>
                <a:spcPct val="150000"/>
              </a:lnSpc>
            </a:pPr>
            <a:r>
              <a:rPr lang="en-GB" dirty="0"/>
              <a:t>The address of the variable you are working with is assigned to the </a:t>
            </a:r>
            <a:r>
              <a:rPr lang="en-GB" dirty="0" smtClean="0"/>
              <a:t>pointer</a:t>
            </a:r>
            <a:endParaRPr lang="en-GB" dirty="0"/>
          </a:p>
        </p:txBody>
      </p:sp>
    </p:spTree>
    <p:extLst>
      <p:ext uri="{BB962C8B-B14F-4D97-AF65-F5344CB8AC3E}">
        <p14:creationId xmlns:p14="http://schemas.microsoft.com/office/powerpoint/2010/main" val="97556304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a:t>
            </a:r>
            <a:br>
              <a:rPr lang="en-GB" b="1" dirty="0"/>
            </a:br>
            <a:endParaRPr lang="en-GB" b="1" dirty="0"/>
          </a:p>
        </p:txBody>
      </p:sp>
      <p:sp>
        <p:nvSpPr>
          <p:cNvPr id="4" name="Rectangle 3"/>
          <p:cNvSpPr/>
          <p:nvPr/>
        </p:nvSpPr>
        <p:spPr>
          <a:xfrm>
            <a:off x="261257" y="1352401"/>
            <a:ext cx="11678194" cy="4893647"/>
          </a:xfrm>
          <a:prstGeom prst="rect">
            <a:avLst/>
          </a:prstGeom>
        </p:spPr>
        <p:txBody>
          <a:bodyPr wrap="square">
            <a:spAutoFit/>
          </a:bodyPr>
          <a:lstStyle/>
          <a:p>
            <a:r>
              <a:rPr lang="en-GB" sz="2400" dirty="0" err="1">
                <a:solidFill>
                  <a:srgbClr val="0000CD"/>
                </a:solidFill>
                <a:latin typeface="Consolas" panose="020B0609020204030204" pitchFamily="49" charset="0"/>
              </a:rPr>
              <a:t>int</a:t>
            </a:r>
            <a:r>
              <a:rPr lang="en-GB" sz="2400" dirty="0">
                <a:solidFill>
                  <a:srgbClr val="000000"/>
                </a:solidFill>
                <a:latin typeface="Consolas" panose="020B0609020204030204" pitchFamily="49" charset="0"/>
              </a:rPr>
              <a:t> </a:t>
            </a:r>
            <a:r>
              <a:rPr lang="en-GB" sz="2400" dirty="0" err="1">
                <a:solidFill>
                  <a:srgbClr val="000000"/>
                </a:solidFill>
                <a:latin typeface="Consolas" panose="020B0609020204030204" pitchFamily="49" charset="0"/>
              </a:rPr>
              <a:t>myAge</a:t>
            </a:r>
            <a:r>
              <a:rPr lang="en-GB" sz="2400" dirty="0">
                <a:solidFill>
                  <a:srgbClr val="000000"/>
                </a:solidFill>
                <a:latin typeface="Consolas" panose="020B0609020204030204" pitchFamily="49" charset="0"/>
              </a:rPr>
              <a:t> = </a:t>
            </a:r>
            <a:r>
              <a:rPr lang="en-GB" sz="2400" dirty="0">
                <a:solidFill>
                  <a:srgbClr val="FF0000"/>
                </a:solidFill>
                <a:latin typeface="Consolas" panose="020B0609020204030204" pitchFamily="49" charset="0"/>
              </a:rPr>
              <a:t>43</a:t>
            </a:r>
            <a:r>
              <a:rPr lang="en-GB" sz="2400" dirty="0">
                <a:solidFill>
                  <a:srgbClr val="000000"/>
                </a:solidFill>
                <a:latin typeface="Consolas" panose="020B0609020204030204" pitchFamily="49" charset="0"/>
              </a:rPr>
              <a:t>;     </a:t>
            </a:r>
            <a:r>
              <a:rPr lang="en-GB" sz="2400" dirty="0">
                <a:solidFill>
                  <a:srgbClr val="008000"/>
                </a:solidFill>
                <a:latin typeface="Consolas" panose="020B0609020204030204" pitchFamily="49" charset="0"/>
              </a:rPr>
              <a:t>// An </a:t>
            </a:r>
            <a:r>
              <a:rPr lang="en-GB" sz="2400" dirty="0" err="1">
                <a:solidFill>
                  <a:srgbClr val="008000"/>
                </a:solidFill>
                <a:latin typeface="Consolas" panose="020B0609020204030204" pitchFamily="49" charset="0"/>
              </a:rPr>
              <a:t>int</a:t>
            </a:r>
            <a:r>
              <a:rPr lang="en-GB" sz="2400" dirty="0">
                <a:solidFill>
                  <a:srgbClr val="008000"/>
                </a:solidFill>
                <a:latin typeface="Consolas" panose="020B0609020204030204" pitchFamily="49" charset="0"/>
              </a:rPr>
              <a:t> variable</a:t>
            </a:r>
            <a:br>
              <a:rPr lang="en-GB" sz="2400" dirty="0">
                <a:solidFill>
                  <a:srgbClr val="008000"/>
                </a:solidFill>
                <a:latin typeface="Consolas" panose="020B0609020204030204" pitchFamily="49" charset="0"/>
              </a:rPr>
            </a:br>
            <a:r>
              <a:rPr lang="en-GB" sz="2400" b="1" dirty="0" err="1">
                <a:solidFill>
                  <a:srgbClr val="0000CD"/>
                </a:solidFill>
                <a:latin typeface="Consolas" panose="020B0609020204030204" pitchFamily="49" charset="0"/>
              </a:rPr>
              <a:t>int</a:t>
            </a:r>
            <a:r>
              <a:rPr lang="en-GB" sz="2400" b="1" dirty="0">
                <a:solidFill>
                  <a:srgbClr val="000000"/>
                </a:solidFill>
                <a:latin typeface="Consolas" panose="020B0609020204030204" pitchFamily="49" charset="0"/>
              </a:rPr>
              <a:t>* </a:t>
            </a:r>
            <a:r>
              <a:rPr lang="en-GB" sz="2400" b="1" dirty="0" err="1">
                <a:solidFill>
                  <a:srgbClr val="000000"/>
                </a:solidFill>
                <a:latin typeface="Consolas" panose="020B0609020204030204" pitchFamily="49" charset="0"/>
              </a:rPr>
              <a:t>ptr</a:t>
            </a:r>
            <a:r>
              <a:rPr lang="en-GB" sz="2400" b="1" dirty="0">
                <a:solidFill>
                  <a:srgbClr val="000000"/>
                </a:solidFill>
                <a:latin typeface="Consolas" panose="020B0609020204030204" pitchFamily="49" charset="0"/>
              </a:rPr>
              <a:t> = &amp;</a:t>
            </a:r>
            <a:r>
              <a:rPr lang="en-GB" sz="2400" b="1" dirty="0" err="1">
                <a:solidFill>
                  <a:srgbClr val="000000"/>
                </a:solidFill>
                <a:latin typeface="Consolas" panose="020B0609020204030204" pitchFamily="49" charset="0"/>
              </a:rPr>
              <a:t>myAge</a:t>
            </a:r>
            <a:r>
              <a:rPr lang="en-GB" sz="2400" b="1" dirty="0">
                <a:solidFill>
                  <a:srgbClr val="000000"/>
                </a:solidFill>
                <a:latin typeface="Consolas" panose="020B0609020204030204" pitchFamily="49" charset="0"/>
              </a:rPr>
              <a:t>;</a:t>
            </a:r>
            <a:r>
              <a:rPr lang="en-GB" sz="2400" dirty="0">
                <a:solidFill>
                  <a:srgbClr val="000000"/>
                </a:solidFill>
                <a:latin typeface="Consolas" panose="020B0609020204030204" pitchFamily="49" charset="0"/>
              </a:rPr>
              <a:t>  </a:t>
            </a:r>
            <a:r>
              <a:rPr lang="en-GB" sz="2400" dirty="0">
                <a:solidFill>
                  <a:srgbClr val="008000"/>
                </a:solidFill>
                <a:latin typeface="Consolas" panose="020B0609020204030204" pitchFamily="49" charset="0"/>
              </a:rPr>
              <a:t>// A pointer variable, with the name </a:t>
            </a:r>
            <a:r>
              <a:rPr lang="en-GB" sz="2400" dirty="0" err="1">
                <a:solidFill>
                  <a:srgbClr val="008000"/>
                </a:solidFill>
                <a:latin typeface="Consolas" panose="020B0609020204030204" pitchFamily="49" charset="0"/>
              </a:rPr>
              <a:t>ptr</a:t>
            </a:r>
            <a:r>
              <a:rPr lang="en-GB" sz="2400" dirty="0">
                <a:solidFill>
                  <a:srgbClr val="008000"/>
                </a:solidFill>
                <a:latin typeface="Consolas" panose="020B0609020204030204" pitchFamily="49" charset="0"/>
              </a:rPr>
              <a:t>, that stores the address of </a:t>
            </a:r>
            <a:r>
              <a:rPr lang="en-GB" sz="2400" dirty="0" err="1">
                <a:solidFill>
                  <a:srgbClr val="008000"/>
                </a:solidFill>
                <a:latin typeface="Consolas" panose="020B0609020204030204" pitchFamily="49" charset="0"/>
              </a:rPr>
              <a:t>myAge</a:t>
            </a:r>
            <a:r>
              <a:rPr lang="en-GB" sz="2400" dirty="0">
                <a:solidFill>
                  <a:srgbClr val="008000"/>
                </a:solidFill>
                <a:latin typeface="Consolas" panose="020B0609020204030204" pitchFamily="49" charset="0"/>
              </a:rPr>
              <a:t/>
            </a:r>
            <a:br>
              <a:rPr lang="en-GB" sz="2400" dirty="0">
                <a:solidFill>
                  <a:srgbClr val="008000"/>
                </a:solidFill>
                <a:latin typeface="Consolas" panose="020B0609020204030204" pitchFamily="49" charset="0"/>
              </a:rPr>
            </a:br>
            <a:r>
              <a:rPr lang="en-GB" sz="2400" dirty="0"/>
              <a:t/>
            </a:r>
            <a:br>
              <a:rPr lang="en-GB" sz="2400" dirty="0"/>
            </a:br>
            <a:r>
              <a:rPr lang="en-GB" sz="2400" dirty="0">
                <a:solidFill>
                  <a:srgbClr val="008000"/>
                </a:solidFill>
                <a:latin typeface="Consolas" panose="020B0609020204030204" pitchFamily="49" charset="0"/>
              </a:rPr>
              <a:t>// Output the value of </a:t>
            </a:r>
            <a:r>
              <a:rPr lang="en-GB" sz="2400" dirty="0" err="1">
                <a:solidFill>
                  <a:srgbClr val="008000"/>
                </a:solidFill>
                <a:latin typeface="Consolas" panose="020B0609020204030204" pitchFamily="49" charset="0"/>
              </a:rPr>
              <a:t>myAge</a:t>
            </a:r>
            <a:r>
              <a:rPr lang="en-GB" sz="2400" dirty="0">
                <a:solidFill>
                  <a:srgbClr val="008000"/>
                </a:solidFill>
                <a:latin typeface="Consolas" panose="020B0609020204030204" pitchFamily="49" charset="0"/>
              </a:rPr>
              <a:t> (43)</a:t>
            </a:r>
            <a:br>
              <a:rPr lang="en-GB" sz="2400" dirty="0">
                <a:solidFill>
                  <a:srgbClr val="008000"/>
                </a:solidFill>
                <a:latin typeface="Consolas" panose="020B0609020204030204" pitchFamily="49" charset="0"/>
              </a:rPr>
            </a:br>
            <a:r>
              <a:rPr lang="en-GB" sz="2400" dirty="0" err="1">
                <a:solidFill>
                  <a:srgbClr val="000000"/>
                </a:solidFill>
                <a:latin typeface="Consolas" panose="020B0609020204030204" pitchFamily="49" charset="0"/>
              </a:rPr>
              <a:t>printf</a:t>
            </a:r>
            <a:r>
              <a:rPr lang="en-GB" sz="2400" dirty="0">
                <a:solidFill>
                  <a:srgbClr val="000000"/>
                </a:solidFill>
                <a:latin typeface="Consolas" panose="020B0609020204030204" pitchFamily="49" charset="0"/>
              </a:rPr>
              <a:t>(</a:t>
            </a:r>
            <a:r>
              <a:rPr lang="en-GB" sz="2400" dirty="0">
                <a:solidFill>
                  <a:srgbClr val="A52A2A"/>
                </a:solidFill>
                <a:latin typeface="Consolas" panose="020B0609020204030204" pitchFamily="49" charset="0"/>
              </a:rPr>
              <a:t>"%d\n"</a:t>
            </a:r>
            <a:r>
              <a:rPr lang="en-GB" sz="2400" dirty="0">
                <a:solidFill>
                  <a:srgbClr val="000000"/>
                </a:solidFill>
                <a:latin typeface="Consolas" panose="020B0609020204030204" pitchFamily="49" charset="0"/>
              </a:rPr>
              <a:t>, </a:t>
            </a:r>
            <a:r>
              <a:rPr lang="en-GB" sz="2400" dirty="0" err="1">
                <a:solidFill>
                  <a:srgbClr val="000000"/>
                </a:solidFill>
                <a:latin typeface="Consolas" panose="020B0609020204030204" pitchFamily="49" charset="0"/>
              </a:rPr>
              <a:t>myAge</a:t>
            </a:r>
            <a:r>
              <a:rPr lang="en-GB" sz="2400" dirty="0">
                <a:solidFill>
                  <a:srgbClr val="000000"/>
                </a:solidFill>
                <a:latin typeface="Consolas" panose="020B0609020204030204" pitchFamily="49" charset="0"/>
              </a:rPr>
              <a:t>);</a:t>
            </a:r>
            <a:r>
              <a:rPr lang="en-GB" sz="2400" dirty="0"/>
              <a:t/>
            </a:r>
            <a:br>
              <a:rPr lang="en-GB" sz="2400" dirty="0"/>
            </a:br>
            <a:r>
              <a:rPr lang="en-GB" sz="2400" dirty="0"/>
              <a:t/>
            </a:r>
            <a:br>
              <a:rPr lang="en-GB" sz="2400" dirty="0"/>
            </a:br>
            <a:r>
              <a:rPr lang="en-GB" sz="2400" dirty="0">
                <a:solidFill>
                  <a:srgbClr val="008000"/>
                </a:solidFill>
                <a:latin typeface="Consolas" panose="020B0609020204030204" pitchFamily="49" charset="0"/>
              </a:rPr>
              <a:t>// Output the memory address of </a:t>
            </a:r>
            <a:r>
              <a:rPr lang="en-GB" sz="2400" dirty="0" err="1">
                <a:solidFill>
                  <a:srgbClr val="008000"/>
                </a:solidFill>
                <a:latin typeface="Consolas" panose="020B0609020204030204" pitchFamily="49" charset="0"/>
              </a:rPr>
              <a:t>myAge</a:t>
            </a:r>
            <a:r>
              <a:rPr lang="en-GB" sz="2400" dirty="0">
                <a:solidFill>
                  <a:srgbClr val="008000"/>
                </a:solidFill>
                <a:latin typeface="Consolas" panose="020B0609020204030204" pitchFamily="49" charset="0"/>
              </a:rPr>
              <a:t> (0x7ffe5367e044)</a:t>
            </a:r>
            <a:br>
              <a:rPr lang="en-GB" sz="2400" dirty="0">
                <a:solidFill>
                  <a:srgbClr val="008000"/>
                </a:solidFill>
                <a:latin typeface="Consolas" panose="020B0609020204030204" pitchFamily="49" charset="0"/>
              </a:rPr>
            </a:br>
            <a:r>
              <a:rPr lang="en-GB" sz="2400" dirty="0" err="1">
                <a:solidFill>
                  <a:srgbClr val="000000"/>
                </a:solidFill>
                <a:latin typeface="Consolas" panose="020B0609020204030204" pitchFamily="49" charset="0"/>
              </a:rPr>
              <a:t>printf</a:t>
            </a:r>
            <a:r>
              <a:rPr lang="en-GB" sz="2400" dirty="0">
                <a:solidFill>
                  <a:srgbClr val="000000"/>
                </a:solidFill>
                <a:latin typeface="Consolas" panose="020B0609020204030204" pitchFamily="49" charset="0"/>
              </a:rPr>
              <a:t>(</a:t>
            </a:r>
            <a:r>
              <a:rPr lang="en-GB" sz="2400" dirty="0">
                <a:solidFill>
                  <a:srgbClr val="A52A2A"/>
                </a:solidFill>
                <a:latin typeface="Consolas" panose="020B0609020204030204" pitchFamily="49" charset="0"/>
              </a:rPr>
              <a:t>"%p\n"</a:t>
            </a:r>
            <a:r>
              <a:rPr lang="en-GB" sz="2400" dirty="0">
                <a:solidFill>
                  <a:srgbClr val="000000"/>
                </a:solidFill>
                <a:latin typeface="Consolas" panose="020B0609020204030204" pitchFamily="49" charset="0"/>
              </a:rPr>
              <a:t>, &amp;</a:t>
            </a:r>
            <a:r>
              <a:rPr lang="en-GB" sz="2400" dirty="0" err="1">
                <a:solidFill>
                  <a:srgbClr val="000000"/>
                </a:solidFill>
                <a:latin typeface="Consolas" panose="020B0609020204030204" pitchFamily="49" charset="0"/>
              </a:rPr>
              <a:t>myAge</a:t>
            </a:r>
            <a:r>
              <a:rPr lang="en-GB" sz="2400" dirty="0">
                <a:solidFill>
                  <a:srgbClr val="000000"/>
                </a:solidFill>
                <a:latin typeface="Consolas" panose="020B0609020204030204" pitchFamily="49" charset="0"/>
              </a:rPr>
              <a:t>);</a:t>
            </a:r>
            <a:r>
              <a:rPr lang="en-GB" sz="2400" dirty="0"/>
              <a:t/>
            </a:r>
            <a:br>
              <a:rPr lang="en-GB" sz="2400" dirty="0"/>
            </a:br>
            <a:r>
              <a:rPr lang="en-GB" sz="2400" dirty="0"/>
              <a:t/>
            </a:r>
            <a:br>
              <a:rPr lang="en-GB" sz="2400" dirty="0"/>
            </a:br>
            <a:r>
              <a:rPr lang="en-GB" sz="2400" dirty="0">
                <a:solidFill>
                  <a:srgbClr val="008000"/>
                </a:solidFill>
                <a:latin typeface="Consolas" panose="020B0609020204030204" pitchFamily="49" charset="0"/>
              </a:rPr>
              <a:t>// Output the memory address of </a:t>
            </a:r>
            <a:r>
              <a:rPr lang="en-GB" sz="2400" dirty="0" err="1">
                <a:solidFill>
                  <a:srgbClr val="008000"/>
                </a:solidFill>
                <a:latin typeface="Consolas" panose="020B0609020204030204" pitchFamily="49" charset="0"/>
              </a:rPr>
              <a:t>myAge</a:t>
            </a:r>
            <a:r>
              <a:rPr lang="en-GB" sz="2400" dirty="0">
                <a:solidFill>
                  <a:srgbClr val="008000"/>
                </a:solidFill>
                <a:latin typeface="Consolas" panose="020B0609020204030204" pitchFamily="49" charset="0"/>
              </a:rPr>
              <a:t> with the pointer (0x7ffe5367e044)</a:t>
            </a:r>
            <a:br>
              <a:rPr lang="en-GB" sz="2400" dirty="0">
                <a:solidFill>
                  <a:srgbClr val="008000"/>
                </a:solidFill>
                <a:latin typeface="Consolas" panose="020B0609020204030204" pitchFamily="49" charset="0"/>
              </a:rPr>
            </a:br>
            <a:r>
              <a:rPr lang="en-GB" sz="2400" dirty="0" err="1">
                <a:solidFill>
                  <a:srgbClr val="000000"/>
                </a:solidFill>
                <a:latin typeface="Consolas" panose="020B0609020204030204" pitchFamily="49" charset="0"/>
              </a:rPr>
              <a:t>printf</a:t>
            </a:r>
            <a:r>
              <a:rPr lang="en-GB" sz="2400" dirty="0">
                <a:solidFill>
                  <a:srgbClr val="000000"/>
                </a:solidFill>
                <a:latin typeface="Consolas" panose="020B0609020204030204" pitchFamily="49" charset="0"/>
              </a:rPr>
              <a:t>(</a:t>
            </a:r>
            <a:r>
              <a:rPr lang="en-GB" sz="2400" dirty="0">
                <a:solidFill>
                  <a:srgbClr val="A52A2A"/>
                </a:solidFill>
                <a:latin typeface="Consolas" panose="020B0609020204030204" pitchFamily="49" charset="0"/>
              </a:rPr>
              <a:t>"%p\n"</a:t>
            </a:r>
            <a:r>
              <a:rPr lang="en-GB" sz="2400" dirty="0">
                <a:solidFill>
                  <a:srgbClr val="000000"/>
                </a:solidFill>
                <a:latin typeface="Consolas" panose="020B0609020204030204" pitchFamily="49" charset="0"/>
              </a:rPr>
              <a:t>, </a:t>
            </a:r>
            <a:r>
              <a:rPr lang="en-GB" sz="2400" dirty="0" err="1">
                <a:solidFill>
                  <a:srgbClr val="000000"/>
                </a:solidFill>
                <a:latin typeface="Consolas" panose="020B0609020204030204" pitchFamily="49" charset="0"/>
              </a:rPr>
              <a:t>ptr</a:t>
            </a:r>
            <a:r>
              <a:rPr lang="en-GB" sz="2400" dirty="0">
                <a:solidFill>
                  <a:srgbClr val="000000"/>
                </a:solidFill>
                <a:latin typeface="Consolas" panose="020B0609020204030204" pitchFamily="49" charset="0"/>
              </a:rPr>
              <a:t>);</a:t>
            </a:r>
            <a:endParaRPr lang="en-GB" sz="2400" dirty="0"/>
          </a:p>
        </p:txBody>
      </p:sp>
    </p:spTree>
    <p:extLst>
      <p:ext uri="{BB962C8B-B14F-4D97-AF65-F5344CB8AC3E}">
        <p14:creationId xmlns:p14="http://schemas.microsoft.com/office/powerpoint/2010/main" val="124780043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b="1" dirty="0" smtClean="0"/>
              <a:t>Example </a:t>
            </a:r>
            <a:r>
              <a:rPr lang="en-GB" b="1" dirty="0"/>
              <a:t>explained</a:t>
            </a:r>
            <a:br>
              <a:rPr lang="en-GB" b="1" dirty="0"/>
            </a:br>
            <a:endParaRPr lang="en-GB" b="1" dirty="0"/>
          </a:p>
        </p:txBody>
      </p:sp>
      <p:sp>
        <p:nvSpPr>
          <p:cNvPr id="3" name="Content Placeholder 2"/>
          <p:cNvSpPr>
            <a:spLocks noGrp="1"/>
          </p:cNvSpPr>
          <p:nvPr>
            <p:ph idx="1"/>
          </p:nvPr>
        </p:nvSpPr>
        <p:spPr>
          <a:xfrm>
            <a:off x="574766" y="1825625"/>
            <a:ext cx="10779034" cy="4351338"/>
          </a:xfrm>
        </p:spPr>
        <p:txBody>
          <a:bodyPr>
            <a:normAutofit fontScale="92500" lnSpcReduction="10000"/>
          </a:bodyPr>
          <a:lstStyle/>
          <a:p>
            <a:pPr algn="just">
              <a:lnSpc>
                <a:spcPct val="200000"/>
              </a:lnSpc>
            </a:pPr>
            <a:r>
              <a:rPr lang="en-GB" sz="2400" dirty="0"/>
              <a:t>Create a pointer variable with the name </a:t>
            </a:r>
            <a:r>
              <a:rPr lang="en-GB" sz="2400" b="1" dirty="0" err="1"/>
              <a:t>ptr</a:t>
            </a:r>
            <a:r>
              <a:rPr lang="en-GB" sz="2400" dirty="0"/>
              <a:t>, that points to an </a:t>
            </a:r>
            <a:r>
              <a:rPr lang="en-GB" sz="2400" b="1" dirty="0" err="1"/>
              <a:t>int</a:t>
            </a:r>
            <a:r>
              <a:rPr lang="en-GB" sz="2400" dirty="0"/>
              <a:t> variable </a:t>
            </a:r>
            <a:r>
              <a:rPr lang="en-GB" sz="2400" b="1" dirty="0"/>
              <a:t>(</a:t>
            </a:r>
            <a:r>
              <a:rPr lang="en-GB" sz="2400" b="1" dirty="0" err="1"/>
              <a:t>myAge</a:t>
            </a:r>
            <a:r>
              <a:rPr lang="en-GB" sz="2400" b="1" dirty="0"/>
              <a:t>). </a:t>
            </a:r>
            <a:r>
              <a:rPr lang="en-GB" sz="2400" dirty="0"/>
              <a:t>Note that the type of the pointer has to match the type of the variable you're working with (</a:t>
            </a:r>
            <a:r>
              <a:rPr lang="en-GB" sz="2400" b="1" dirty="0" err="1"/>
              <a:t>int</a:t>
            </a:r>
            <a:r>
              <a:rPr lang="en-GB" sz="2400" dirty="0"/>
              <a:t> in our example</a:t>
            </a:r>
            <a:r>
              <a:rPr lang="en-GB" sz="2400" dirty="0" smtClean="0"/>
              <a:t>).</a:t>
            </a:r>
          </a:p>
          <a:p>
            <a:pPr algn="just">
              <a:lnSpc>
                <a:spcPct val="200000"/>
              </a:lnSpc>
            </a:pPr>
            <a:r>
              <a:rPr lang="en-GB" sz="2400" dirty="0"/>
              <a:t>Use the </a:t>
            </a:r>
            <a:r>
              <a:rPr lang="en-GB" sz="2400" b="1" dirty="0"/>
              <a:t>&amp; </a:t>
            </a:r>
            <a:r>
              <a:rPr lang="en-GB" sz="2400" dirty="0"/>
              <a:t>operator to store the memory address of the </a:t>
            </a:r>
            <a:r>
              <a:rPr lang="en-GB" sz="2400" b="1" dirty="0" err="1"/>
              <a:t>myAge</a:t>
            </a:r>
            <a:r>
              <a:rPr lang="en-GB" sz="2400" dirty="0"/>
              <a:t> variable, and assign it to the pointer</a:t>
            </a:r>
            <a:r>
              <a:rPr lang="en-GB" sz="2400" dirty="0" smtClean="0"/>
              <a:t>.</a:t>
            </a:r>
          </a:p>
          <a:p>
            <a:pPr algn="just">
              <a:lnSpc>
                <a:spcPct val="200000"/>
              </a:lnSpc>
            </a:pPr>
            <a:r>
              <a:rPr lang="en-GB" sz="2400" dirty="0"/>
              <a:t>Now, </a:t>
            </a:r>
            <a:r>
              <a:rPr lang="en-GB" sz="2400" b="1" dirty="0" err="1"/>
              <a:t>ptr</a:t>
            </a:r>
            <a:r>
              <a:rPr lang="en-GB" sz="2400" dirty="0"/>
              <a:t> holds the value of </a:t>
            </a:r>
            <a:r>
              <a:rPr lang="en-GB" sz="2400" b="1" dirty="0" err="1"/>
              <a:t>myAge</a:t>
            </a:r>
            <a:r>
              <a:rPr lang="en-GB" sz="2400" dirty="0" err="1"/>
              <a:t>'s</a:t>
            </a:r>
            <a:r>
              <a:rPr lang="en-GB" sz="2400" dirty="0"/>
              <a:t> memory address.</a:t>
            </a:r>
          </a:p>
        </p:txBody>
      </p:sp>
    </p:spTree>
    <p:extLst>
      <p:ext uri="{BB962C8B-B14F-4D97-AF65-F5344CB8AC3E}">
        <p14:creationId xmlns:p14="http://schemas.microsoft.com/office/powerpoint/2010/main" val="22883502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1390</Words>
  <Application>Microsoft Office PowerPoint</Application>
  <PresentationFormat>Widescreen</PresentationFormat>
  <Paragraphs>244</Paragraphs>
  <Slides>65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65</vt:i4>
      </vt:variant>
    </vt:vector>
  </HeadingPairs>
  <TitlesOfParts>
    <vt:vector size="74" baseType="lpstr">
      <vt:lpstr>Arial</vt:lpstr>
      <vt:lpstr>Calibri</vt:lpstr>
      <vt:lpstr>Calibri Light</vt:lpstr>
      <vt:lpstr>Consolas</vt:lpstr>
      <vt:lpstr>Courier New</vt:lpstr>
      <vt:lpstr>Segoe UI</vt:lpstr>
      <vt:lpstr>Times New Roman</vt:lpstr>
      <vt:lpstr>Verdana</vt:lpstr>
      <vt:lpstr>Office Theme</vt:lpstr>
      <vt:lpstr>PowerPoint Presentation</vt:lpstr>
      <vt:lpstr>Outlines</vt:lpstr>
      <vt:lpstr> C Arrays </vt:lpstr>
      <vt:lpstr>C Arrays </vt:lpstr>
      <vt:lpstr> Example </vt:lpstr>
      <vt:lpstr> Change an Array Element </vt:lpstr>
      <vt:lpstr> Example </vt:lpstr>
      <vt:lpstr>Loop Through an Array </vt:lpstr>
      <vt:lpstr>Access the Elements of an Array </vt:lpstr>
      <vt:lpstr>Example </vt:lpstr>
      <vt:lpstr> Set Array Size </vt:lpstr>
      <vt:lpstr>Set Array Size</vt:lpstr>
      <vt:lpstr>Avoid Mixing Data Types </vt:lpstr>
      <vt:lpstr> Multidimensional Arrays </vt:lpstr>
      <vt:lpstr> Two-Dimensional Arrays </vt:lpstr>
      <vt:lpstr>PowerPoint Presentation</vt:lpstr>
      <vt:lpstr>Cont…</vt:lpstr>
      <vt:lpstr> Example </vt:lpstr>
      <vt:lpstr> Strings in array  </vt:lpstr>
      <vt:lpstr>Cont…</vt:lpstr>
      <vt:lpstr> Example </vt:lpstr>
      <vt:lpstr> Access Strings </vt:lpstr>
      <vt:lpstr> Modify Strings </vt:lpstr>
      <vt:lpstr>Loop Through a String </vt:lpstr>
      <vt:lpstr> Another Way Of Creating Strings </vt:lpstr>
      <vt:lpstr> Example </vt:lpstr>
      <vt:lpstr> Differences </vt:lpstr>
      <vt:lpstr> Example </vt:lpstr>
      <vt:lpstr> Example </vt:lpstr>
      <vt:lpstr> What is an Array of Strings in C? </vt:lpstr>
      <vt:lpstr> Declare and Initialize an Array of Strings </vt:lpstr>
      <vt:lpstr> Syntax </vt:lpstr>
      <vt:lpstr>PowerPoint Presentation</vt:lpstr>
      <vt:lpstr> Printing An Array of Strings </vt:lpstr>
      <vt:lpstr> Example </vt:lpstr>
      <vt:lpstr> String Functions </vt:lpstr>
      <vt:lpstr> String Length </vt:lpstr>
      <vt:lpstr>Cont…</vt:lpstr>
      <vt:lpstr> Example </vt:lpstr>
      <vt:lpstr>Cont…</vt:lpstr>
      <vt:lpstr> Concatenate Strings </vt:lpstr>
      <vt:lpstr>Compare Strings </vt:lpstr>
      <vt:lpstr> Example </vt:lpstr>
      <vt:lpstr>   C Pointers   </vt:lpstr>
      <vt:lpstr>Cont…</vt:lpstr>
      <vt:lpstr>Result:</vt:lpstr>
      <vt:lpstr> Example </vt:lpstr>
      <vt:lpstr> Example </vt:lpstr>
      <vt:lpstr> How Are Pointers Related to Arrays </vt:lpstr>
      <vt:lpstr>Example </vt:lpstr>
      <vt:lpstr>Result:</vt:lpstr>
      <vt:lpstr>Example </vt:lpstr>
      <vt:lpstr> Example </vt:lpstr>
      <vt:lpstr>Or loop through it:</vt:lpstr>
      <vt:lpstr>Result:</vt:lpstr>
      <vt:lpstr>Example </vt:lpstr>
      <vt:lpstr>Result:</vt:lpstr>
      <vt:lpstr> C Memory Address </vt:lpstr>
      <vt:lpstr> Example </vt:lpstr>
      <vt:lpstr>PowerPoint Presentation</vt:lpstr>
      <vt:lpstr>C Pointers </vt:lpstr>
      <vt:lpstr> Example </vt:lpstr>
      <vt:lpstr>PowerPoint Presentation</vt:lpstr>
      <vt:lpstr>Example </vt:lpstr>
      <vt:lpstr> Example explained </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6</cp:revision>
  <dcterms:created xsi:type="dcterms:W3CDTF">2026-02-23T12:25:49Z</dcterms:created>
  <dcterms:modified xsi:type="dcterms:W3CDTF">2026-03-27T08:27:24Z</dcterms:modified>
</cp:coreProperties>
</file>