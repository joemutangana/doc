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68" r:id="rId6"/>
    <p:sldId id="269" r:id="rId7"/>
    <p:sldId id="270" r:id="rId8"/>
    <p:sldId id="259" r:id="rId9"/>
    <p:sldId id="271" r:id="rId10"/>
    <p:sldId id="272" r:id="rId11"/>
    <p:sldId id="273" r:id="rId12"/>
    <p:sldId id="260" r:id="rId13"/>
    <p:sldId id="275" r:id="rId14"/>
    <p:sldId id="274" r:id="rId15"/>
    <p:sldId id="276" r:id="rId16"/>
    <p:sldId id="277" r:id="rId17"/>
    <p:sldId id="278" r:id="rId18"/>
    <p:sldId id="261" r:id="rId19"/>
    <p:sldId id="279" r:id="rId20"/>
    <p:sldId id="283" r:id="rId21"/>
    <p:sldId id="281" r:id="rId22"/>
    <p:sldId id="280" r:id="rId23"/>
    <p:sldId id="282" r:id="rId24"/>
    <p:sldId id="284" r:id="rId25"/>
    <p:sldId id="285" r:id="rId26"/>
    <p:sldId id="287" r:id="rId27"/>
    <p:sldId id="288" r:id="rId28"/>
    <p:sldId id="286" r:id="rId29"/>
    <p:sldId id="289" r:id="rId30"/>
    <p:sldId id="290" r:id="rId31"/>
    <p:sldId id="291" r:id="rId32"/>
    <p:sldId id="292" r:id="rId33"/>
    <p:sldId id="293" r:id="rId34"/>
    <p:sldId id="294" r:id="rId35"/>
    <p:sldId id="295" r:id="rId36"/>
    <p:sldId id="296" r:id="rId37"/>
    <p:sldId id="263" r:id="rId38"/>
    <p:sldId id="298" r:id="rId39"/>
    <p:sldId id="264" r:id="rId40"/>
    <p:sldId id="299" r:id="rId41"/>
    <p:sldId id="300" r:id="rId42"/>
    <p:sldId id="301" r:id="rId43"/>
    <p:sldId id="302" r:id="rId44"/>
    <p:sldId id="265" r:id="rId45"/>
    <p:sldId id="303" r:id="rId46"/>
    <p:sldId id="304" r:id="rId47"/>
    <p:sldId id="305" r:id="rId48"/>
    <p:sldId id="266" r:id="rId49"/>
    <p:sldId id="306" r:id="rId50"/>
    <p:sldId id="30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AA97F03D-9E5A-47DF-B3B8-ABD184DF610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3713714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A97F03D-9E5A-47DF-B3B8-ABD184DF610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3753446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97F03D-9E5A-47DF-B3B8-ABD184DF610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222695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AA97F03D-9E5A-47DF-B3B8-ABD184DF6100}" type="datetimeFigureOut">
              <a:rPr lang="en-GB" smtClean="0"/>
              <a:t>04/02/2026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1312166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AA97F03D-9E5A-47DF-B3B8-ABD184DF6100}" type="datetimeFigureOut">
              <a:rPr lang="en-GB" smtClean="0"/>
              <a:t>04/02/2026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385140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AA97F03D-9E5A-47DF-B3B8-ABD184DF6100}" type="datetimeFigureOut">
              <a:rPr lang="en-GB" smtClean="0"/>
              <a:t>04/02/2026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212814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97F03D-9E5A-47DF-B3B8-ABD184DF6100}" type="datetimeFigureOut">
              <a:rPr lang="en-GB" smtClean="0"/>
              <a:t>04/02/2026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32643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97F03D-9E5A-47DF-B3B8-ABD184DF6100}" type="datetimeFigureOut">
              <a:rPr lang="en-GB" smtClean="0"/>
              <a:t>04/02/2026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2148623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97F03D-9E5A-47DF-B3B8-ABD184DF6100}" type="datetimeFigureOut">
              <a:rPr lang="en-GB" smtClean="0"/>
              <a:t>04/02/2026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2985860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A97F03D-9E5A-47DF-B3B8-ABD184DF610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692640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A97F03D-9E5A-47DF-B3B8-ABD184DF610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8C2B7-149F-4553-B4CB-059CA2BFC1E7}" type="slidenum">
              <a:rPr lang="en-GB" smtClean="0"/>
              <a:t>‹#›</a:t>
            </a:fld>
            <a:endParaRPr lang="en-GB"/>
          </a:p>
        </p:txBody>
      </p:sp>
    </p:spTree>
    <p:extLst>
      <p:ext uri="{BB962C8B-B14F-4D97-AF65-F5344CB8AC3E}">
        <p14:creationId xmlns:p14="http://schemas.microsoft.com/office/powerpoint/2010/main" val="1096525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97F03D-9E5A-47DF-B3B8-ABD184DF6100}" type="datetimeFigureOut">
              <a:rPr lang="en-GB" smtClean="0"/>
              <a:t>04/02/2026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28C2B7-149F-4553-B4CB-059CA2BFC1E7}" type="slidenum">
              <a:rPr lang="en-GB" smtClean="0"/>
              <a:t>‹#›</a:t>
            </a:fld>
            <a:endParaRPr lang="en-GB"/>
          </a:p>
        </p:txBody>
      </p:sp>
    </p:spTree>
    <p:extLst>
      <p:ext uri="{BB962C8B-B14F-4D97-AF65-F5344CB8AC3E}">
        <p14:creationId xmlns:p14="http://schemas.microsoft.com/office/powerpoint/2010/main" val="1453134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435429"/>
            <a:ext cx="9144000" cy="5852160"/>
          </a:xfrm>
        </p:spPr>
        <p:txBody>
          <a:bodyPr>
            <a:normAutofit/>
          </a:bodyPr>
          <a:lstStyle/>
          <a:p>
            <a:r>
              <a:rPr lang="en-GB" sz="4000" dirty="0" smtClean="0">
                <a:solidFill>
                  <a:srgbClr val="023182"/>
                </a:solidFill>
                <a:latin typeface="Times New Roman"/>
                <a:ea typeface="Times New Roman"/>
                <a:cs typeface="Times New Roman"/>
                <a:sym typeface="Times New Roman"/>
              </a:rPr>
              <a:t>Programming with C</a:t>
            </a: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GB" dirty="0">
                <a:latin typeface="Times New Roman"/>
                <a:ea typeface="Times New Roman"/>
                <a:cs typeface="Times New Roman"/>
                <a:sym typeface="Times New Roman"/>
              </a:rPr>
              <a:t>Lecturer : Odile Nzambazamariya</a:t>
            </a:r>
            <a:br>
              <a:rPr lang="en-GB" dirty="0">
                <a:latin typeface="Times New Roman"/>
                <a:ea typeface="Times New Roman"/>
                <a:cs typeface="Times New Roman"/>
                <a:sym typeface="Times New Roman"/>
              </a:rPr>
            </a:br>
            <a:r>
              <a:rPr lang="en-GB" dirty="0">
                <a:latin typeface="Times New Roman"/>
                <a:ea typeface="Times New Roman"/>
                <a:cs typeface="Times New Roman"/>
                <a:sym typeface="Times New Roman"/>
              </a:rPr>
              <a:t/>
            </a:r>
            <a:br>
              <a:rPr lang="en-GB" dirty="0">
                <a:latin typeface="Times New Roman"/>
                <a:ea typeface="Times New Roman"/>
                <a:cs typeface="Times New Roman"/>
                <a:sym typeface="Times New Roman"/>
              </a:rPr>
            </a:br>
            <a:r>
              <a:rPr lang="en-GB" dirty="0">
                <a:latin typeface="Times New Roman"/>
                <a:ea typeface="Times New Roman"/>
                <a:cs typeface="Times New Roman"/>
                <a:sym typeface="Times New Roman"/>
              </a:rPr>
              <a:t>Lecture </a:t>
            </a:r>
            <a:r>
              <a:rPr lang="en-GB" dirty="0" smtClean="0">
                <a:latin typeface="Times New Roman"/>
                <a:ea typeface="Times New Roman"/>
                <a:cs typeface="Times New Roman"/>
                <a:sym typeface="Times New Roman"/>
              </a:rPr>
              <a:t>2: Variables and Data Types</a:t>
            </a:r>
          </a:p>
          <a:p>
            <a:endParaRPr lang="en-GB" dirty="0">
              <a:latin typeface="Times New Roman"/>
              <a:ea typeface="Times New Roman"/>
              <a:cs typeface="Times New Roman"/>
              <a:sym typeface="Times New Roman"/>
            </a:endParaRPr>
          </a:p>
          <a:p>
            <a:r>
              <a:rPr lang="en-GB" sz="3600" dirty="0" smtClean="0">
                <a:latin typeface="Times New Roman"/>
                <a:ea typeface="Times New Roman"/>
                <a:cs typeface="Times New Roman"/>
                <a:sym typeface="Times New Roman"/>
              </a:rPr>
              <a:t>Adventist </a:t>
            </a:r>
            <a:r>
              <a:rPr lang="en-GB" sz="3600" dirty="0">
                <a:latin typeface="Times New Roman"/>
                <a:ea typeface="Times New Roman"/>
                <a:cs typeface="Times New Roman"/>
                <a:sym typeface="Times New Roman"/>
              </a:rPr>
              <a:t>University of Central Africa</a:t>
            </a:r>
            <a:endParaRPr lang="en-GB" sz="3600" dirty="0"/>
          </a:p>
        </p:txBody>
      </p:sp>
    </p:spTree>
    <p:extLst>
      <p:ext uri="{BB962C8B-B14F-4D97-AF65-F5344CB8AC3E}">
        <p14:creationId xmlns:p14="http://schemas.microsoft.com/office/powerpoint/2010/main" val="30054361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0864"/>
          </a:xfrm>
        </p:spPr>
        <p:txBody>
          <a:bodyPr/>
          <a:lstStyle/>
          <a:p>
            <a:r>
              <a:rPr lang="en-US" dirty="0" smtClean="0">
                <a:solidFill>
                  <a:srgbClr val="023182"/>
                </a:solidFill>
                <a:latin typeface="Times New Roman"/>
                <a:cs typeface="Times New Roman"/>
                <a:sym typeface="Times New Roman"/>
              </a:rPr>
              <a:t>Outlines</a:t>
            </a:r>
            <a:endParaRPr lang="en-GB" dirty="0"/>
          </a:p>
        </p:txBody>
      </p:sp>
      <p:sp>
        <p:nvSpPr>
          <p:cNvPr id="3" name="Content Placeholder 2"/>
          <p:cNvSpPr>
            <a:spLocks noGrp="1"/>
          </p:cNvSpPr>
          <p:nvPr>
            <p:ph idx="1"/>
          </p:nvPr>
        </p:nvSpPr>
        <p:spPr/>
        <p:txBody>
          <a:bodyPr>
            <a:normAutofit fontScale="92500" lnSpcReduction="20000"/>
          </a:bodyPr>
          <a:lstStyle/>
          <a:p>
            <a:r>
              <a:rPr lang="en-US" dirty="0" smtClean="0">
                <a:latin typeface="Times New Roman" panose="02020603050405020304" pitchFamily="18" charset="0"/>
                <a:cs typeface="Times New Roman" panose="02020603050405020304" pitchFamily="18" charset="0"/>
              </a:rPr>
              <a:t>Character set</a:t>
            </a:r>
          </a:p>
          <a:p>
            <a:r>
              <a:rPr lang="en-US" dirty="0" smtClean="0">
                <a:latin typeface="Times New Roman" panose="02020603050405020304" pitchFamily="18" charset="0"/>
                <a:cs typeface="Times New Roman" panose="02020603050405020304" pitchFamily="18" charset="0"/>
              </a:rPr>
              <a:t>Identifiers</a:t>
            </a:r>
          </a:p>
          <a:p>
            <a:r>
              <a:rPr lang="en-US" dirty="0">
                <a:latin typeface="Times New Roman" panose="02020603050405020304" pitchFamily="18" charset="0"/>
                <a:cs typeface="Times New Roman" panose="02020603050405020304" pitchFamily="18" charset="0"/>
              </a:rPr>
              <a:t>K</a:t>
            </a:r>
            <a:r>
              <a:rPr lang="en-US" dirty="0" smtClean="0">
                <a:latin typeface="Times New Roman" panose="02020603050405020304" pitchFamily="18" charset="0"/>
                <a:cs typeface="Times New Roman" panose="02020603050405020304" pitchFamily="18" charset="0"/>
              </a:rPr>
              <a:t>eywords</a:t>
            </a:r>
          </a:p>
          <a:p>
            <a:r>
              <a:rPr lang="en-US" dirty="0" smtClean="0">
                <a:latin typeface="Times New Roman" panose="02020603050405020304" pitchFamily="18" charset="0"/>
                <a:cs typeface="Times New Roman" panose="02020603050405020304" pitchFamily="18" charset="0"/>
              </a:rPr>
              <a:t>Variables </a:t>
            </a:r>
          </a:p>
          <a:p>
            <a:r>
              <a:rPr lang="en-US" dirty="0">
                <a:latin typeface="Times New Roman" panose="02020603050405020304" pitchFamily="18" charset="0"/>
                <a:cs typeface="Times New Roman" panose="02020603050405020304" pitchFamily="18" charset="0"/>
              </a:rPr>
              <a:t>D</a:t>
            </a:r>
            <a:r>
              <a:rPr lang="en-US" dirty="0" smtClean="0">
                <a:latin typeface="Times New Roman" panose="02020603050405020304" pitchFamily="18" charset="0"/>
                <a:cs typeface="Times New Roman" panose="02020603050405020304" pitchFamily="18" charset="0"/>
              </a:rPr>
              <a:t>eclaring variables </a:t>
            </a:r>
          </a:p>
          <a:p>
            <a:r>
              <a:rPr lang="en-US" dirty="0">
                <a:latin typeface="Times New Roman" panose="02020603050405020304" pitchFamily="18" charset="0"/>
                <a:cs typeface="Times New Roman" panose="02020603050405020304" pitchFamily="18" charset="0"/>
              </a:rPr>
              <a:t>D</a:t>
            </a:r>
            <a:r>
              <a:rPr lang="en-US" dirty="0" smtClean="0">
                <a:latin typeface="Times New Roman" panose="02020603050405020304" pitchFamily="18" charset="0"/>
                <a:cs typeface="Times New Roman" panose="02020603050405020304" pitchFamily="18" charset="0"/>
              </a:rPr>
              <a:t>ata types</a:t>
            </a:r>
          </a:p>
          <a:p>
            <a:r>
              <a:rPr lang="en-US" dirty="0">
                <a:latin typeface="Times New Roman" panose="02020603050405020304" pitchFamily="18" charset="0"/>
                <a:cs typeface="Times New Roman" panose="02020603050405020304" pitchFamily="18" charset="0"/>
              </a:rPr>
              <a:t>D</a:t>
            </a:r>
            <a:r>
              <a:rPr lang="en-US" dirty="0" smtClean="0">
                <a:latin typeface="Times New Roman" panose="02020603050405020304" pitchFamily="18" charset="0"/>
                <a:cs typeface="Times New Roman" panose="02020603050405020304" pitchFamily="18" charset="0"/>
              </a:rPr>
              <a:t>isplaying variables</a:t>
            </a:r>
          </a:p>
          <a:p>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eading variables </a:t>
            </a:r>
          </a:p>
          <a:p>
            <a:r>
              <a:rPr lang="en-US" dirty="0">
                <a:latin typeface="Times New Roman" panose="02020603050405020304" pitchFamily="18" charset="0"/>
                <a:cs typeface="Times New Roman" panose="02020603050405020304" pitchFamily="18" charset="0"/>
              </a:rPr>
              <a:t>Q</a:t>
            </a:r>
            <a:r>
              <a:rPr lang="en-US" dirty="0" smtClean="0">
                <a:latin typeface="Times New Roman" panose="02020603050405020304" pitchFamily="18" charset="0"/>
                <a:cs typeface="Times New Roman" panose="02020603050405020304" pitchFamily="18" charset="0"/>
              </a:rPr>
              <a:t>ualifiers</a:t>
            </a:r>
          </a:p>
          <a:p>
            <a:r>
              <a:rPr lang="en-US" dirty="0">
                <a:latin typeface="Times New Roman" panose="02020603050405020304" pitchFamily="18" charset="0"/>
                <a:cs typeface="Times New Roman" panose="02020603050405020304" pitchFamily="18" charset="0"/>
              </a:rPr>
              <a:t>C</a:t>
            </a:r>
            <a:r>
              <a:rPr lang="en-US" dirty="0" smtClean="0">
                <a:latin typeface="Times New Roman" panose="02020603050405020304" pitchFamily="18" charset="0"/>
                <a:cs typeface="Times New Roman" panose="02020603050405020304" pitchFamily="18" charset="0"/>
              </a:rPr>
              <a:t>onstants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69652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Character set</a:t>
            </a:r>
            <a:endParaRPr lang="en-GB" dirty="0"/>
          </a:p>
        </p:txBody>
      </p:sp>
      <p:sp>
        <p:nvSpPr>
          <p:cNvPr id="3" name="Content Placeholder 2"/>
          <p:cNvSpPr>
            <a:spLocks noGrp="1"/>
          </p:cNvSpPr>
          <p:nvPr>
            <p:ph idx="1"/>
          </p:nvPr>
        </p:nvSpPr>
        <p:spPr/>
        <p:txBody>
          <a:bodyPr/>
          <a:lstStyle/>
          <a:p>
            <a:pPr marL="0" indent="0">
              <a:buNone/>
            </a:pPr>
            <a:r>
              <a:rPr lang="en-GB" dirty="0">
                <a:latin typeface="Times New Roman" panose="02020603050405020304" pitchFamily="18" charset="0"/>
                <a:cs typeface="Times New Roman" panose="02020603050405020304" pitchFamily="18" charset="0"/>
              </a:rPr>
              <a:t>In C, a character set is a group of recognized characters that are available for usage in the source code. These characters are the building blocks that make variables, functions, operators, and constants. </a:t>
            </a:r>
            <a:endParaRPr lang="en-GB" dirty="0" smtClean="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In </a:t>
            </a:r>
            <a:r>
              <a:rPr lang="en-GB" dirty="0">
                <a:latin typeface="Times New Roman" panose="02020603050405020304" pitchFamily="18" charset="0"/>
                <a:cs typeface="Times New Roman" panose="02020603050405020304" pitchFamily="18" charset="0"/>
              </a:rPr>
              <a:t>short, a collection of characters, numbers, and symbols that the C compiler recognizes is known as a character set.</a:t>
            </a:r>
          </a:p>
        </p:txBody>
      </p:sp>
    </p:spTree>
    <p:extLst>
      <p:ext uri="{BB962C8B-B14F-4D97-AF65-F5344CB8AC3E}">
        <p14:creationId xmlns:p14="http://schemas.microsoft.com/office/powerpoint/2010/main" val="10032223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Character set</a:t>
            </a:r>
            <a:endParaRPr lang="en-GB" dirty="0"/>
          </a:p>
        </p:txBody>
      </p:sp>
      <p:sp>
        <p:nvSpPr>
          <p:cNvPr id="3" name="Content Placeholder 2"/>
          <p:cNvSpPr>
            <a:spLocks noGrp="1"/>
          </p:cNvSpPr>
          <p:nvPr>
            <p:ph idx="1"/>
          </p:nvPr>
        </p:nvSpPr>
        <p:spPr/>
        <p:txBody>
          <a:bodyPr/>
          <a:lstStyle/>
          <a:p>
            <a:pPr marL="0" indent="0">
              <a:buNone/>
            </a:pPr>
            <a:r>
              <a:rPr lang="en-GB" dirty="0">
                <a:latin typeface="Times New Roman" panose="02020603050405020304" pitchFamily="18" charset="0"/>
                <a:cs typeface="Times New Roman" panose="02020603050405020304" pitchFamily="18" charset="0"/>
              </a:rPr>
              <a:t>The C language has a rich character </a:t>
            </a:r>
            <a:r>
              <a:rPr lang="en-GB" dirty="0" smtClean="0">
                <a:latin typeface="Times New Roman" panose="02020603050405020304" pitchFamily="18" charset="0"/>
                <a:cs typeface="Times New Roman" panose="02020603050405020304" pitchFamily="18" charset="0"/>
              </a:rPr>
              <a:t>set. It </a:t>
            </a:r>
            <a:r>
              <a:rPr lang="en-GB" dirty="0">
                <a:latin typeface="Times New Roman" panose="02020603050405020304" pitchFamily="18" charset="0"/>
                <a:cs typeface="Times New Roman" panose="02020603050405020304" pitchFamily="18" charset="0"/>
              </a:rPr>
              <a:t>can be described under 3 main </a:t>
            </a:r>
            <a:r>
              <a:rPr lang="en-GB" dirty="0" smtClean="0">
                <a:latin typeface="Times New Roman" panose="02020603050405020304" pitchFamily="18" charset="0"/>
                <a:cs typeface="Times New Roman" panose="02020603050405020304" pitchFamily="18" charset="0"/>
              </a:rPr>
              <a:t>headings:</a:t>
            </a:r>
          </a:p>
          <a:p>
            <a:pPr marL="0" indent="0">
              <a:buNone/>
            </a:pPr>
            <a:endParaRPr lang="en-GB"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GB" b="1" dirty="0" smtClean="0">
                <a:latin typeface="Times New Roman" panose="02020603050405020304" pitchFamily="18" charset="0"/>
                <a:cs typeface="Times New Roman" panose="02020603050405020304" pitchFamily="18" charset="0"/>
              </a:rPr>
              <a:t>Alphabets: </a:t>
            </a:r>
            <a:r>
              <a:rPr lang="en-GB" dirty="0">
                <a:latin typeface="Times New Roman" panose="02020603050405020304" pitchFamily="18" charset="0"/>
                <a:cs typeface="Times New Roman" panose="02020603050405020304" pitchFamily="18" charset="0"/>
              </a:rPr>
              <a:t>These are alphabets of English language and can be in upper or lower case. (E.g. A,B,C…..Z || </a:t>
            </a:r>
            <a:r>
              <a:rPr lang="en-GB" dirty="0" err="1">
                <a:latin typeface="Times New Roman" panose="02020603050405020304" pitchFamily="18" charset="0"/>
                <a:cs typeface="Times New Roman" panose="02020603050405020304" pitchFamily="18" charset="0"/>
              </a:rPr>
              <a:t>a,b,c</a:t>
            </a:r>
            <a:r>
              <a:rPr lang="en-GB" dirty="0">
                <a:latin typeface="Times New Roman" panose="02020603050405020304" pitchFamily="18" charset="0"/>
                <a:cs typeface="Times New Roman" panose="02020603050405020304" pitchFamily="18" charset="0"/>
              </a:rPr>
              <a:t>,…z)</a:t>
            </a:r>
          </a:p>
          <a:p>
            <a:pPr marL="514350" indent="-514350">
              <a:buFont typeface="+mj-lt"/>
              <a:buAutoNum type="arabicPeriod"/>
            </a:pPr>
            <a:r>
              <a:rPr lang="en-GB" b="1" dirty="0" smtClean="0">
                <a:latin typeface="Times New Roman" panose="02020603050405020304" pitchFamily="18" charset="0"/>
                <a:cs typeface="Times New Roman" panose="02020603050405020304" pitchFamily="18" charset="0"/>
              </a:rPr>
              <a:t>Digits: </a:t>
            </a:r>
            <a:r>
              <a:rPr lang="en-GB" dirty="0">
                <a:latin typeface="Times New Roman" panose="02020603050405020304" pitchFamily="18" charset="0"/>
                <a:cs typeface="Times New Roman" panose="02020603050405020304" pitchFamily="18" charset="0"/>
              </a:rPr>
              <a:t>0,1,2,…,9.</a:t>
            </a:r>
          </a:p>
          <a:p>
            <a:pPr marL="514350" indent="-514350">
              <a:buFont typeface="+mj-lt"/>
              <a:buAutoNum type="arabicPeriod"/>
            </a:pPr>
            <a:r>
              <a:rPr lang="en-GB" b="1" dirty="0">
                <a:latin typeface="Times New Roman" panose="02020603050405020304" pitchFamily="18" charset="0"/>
                <a:cs typeface="Times New Roman" panose="02020603050405020304" pitchFamily="18" charset="0"/>
              </a:rPr>
              <a:t>Special </a:t>
            </a:r>
            <a:r>
              <a:rPr lang="en-GB" b="1" dirty="0" smtClean="0">
                <a:latin typeface="Times New Roman" panose="02020603050405020304" pitchFamily="18" charset="0"/>
                <a:cs typeface="Times New Roman" panose="02020603050405020304" pitchFamily="18" charset="0"/>
              </a:rPr>
              <a:t>Symbols: </a:t>
            </a:r>
            <a:r>
              <a:rPr lang="en-GB" dirty="0">
                <a:latin typeface="Times New Roman" panose="02020603050405020304" pitchFamily="18" charset="0"/>
                <a:cs typeface="Times New Roman" panose="02020603050405020304" pitchFamily="18" charset="0"/>
              </a:rPr>
              <a:t>The C language also allows the use of special symbols such as →(),[],{},~!@#%^&amp;$*_-+=`\|;:’”,./?</a:t>
            </a:r>
          </a:p>
          <a:p>
            <a:pPr marL="0" indent="0">
              <a:buNone/>
            </a:pPr>
            <a:endParaRPr lang="en-GB" dirty="0"/>
          </a:p>
        </p:txBody>
      </p:sp>
    </p:spTree>
    <p:extLst>
      <p:ext uri="{BB962C8B-B14F-4D97-AF65-F5344CB8AC3E}">
        <p14:creationId xmlns:p14="http://schemas.microsoft.com/office/powerpoint/2010/main" val="25502728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Character set</a:t>
            </a:r>
            <a:endParaRPr lang="en-GB" dirty="0"/>
          </a:p>
        </p:txBody>
      </p:sp>
      <p:sp>
        <p:nvSpPr>
          <p:cNvPr id="3" name="Content Placeholder 2"/>
          <p:cNvSpPr>
            <a:spLocks noGrp="1"/>
          </p:cNvSpPr>
          <p:nvPr>
            <p:ph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Types of Character Sets in C </a:t>
            </a:r>
            <a:r>
              <a:rPr lang="en-GB" b="1" dirty="0" smtClean="0">
                <a:latin typeface="Times New Roman" panose="02020603050405020304" pitchFamily="18" charset="0"/>
                <a:cs typeface="Times New Roman" panose="02020603050405020304" pitchFamily="18" charset="0"/>
              </a:rPr>
              <a:t>Language</a:t>
            </a:r>
          </a:p>
          <a:p>
            <a:pPr marL="0" indent="0">
              <a:buNone/>
            </a:pPr>
            <a:endParaRPr lang="en-GB" b="1" dirty="0">
              <a:latin typeface="Times New Roman" panose="02020603050405020304" pitchFamily="18" charset="0"/>
              <a:cs typeface="Times New Roman" panose="02020603050405020304" pitchFamily="18" charset="0"/>
            </a:endParaRPr>
          </a:p>
          <a:p>
            <a:pPr marL="457200" lvl="1" indent="0">
              <a:buNone/>
            </a:pPr>
            <a:r>
              <a:rPr lang="en-GB" dirty="0">
                <a:latin typeface="Times New Roman" panose="02020603050405020304" pitchFamily="18" charset="0"/>
                <a:cs typeface="Times New Roman" panose="02020603050405020304" pitchFamily="18" charset="0"/>
              </a:rPr>
              <a:t>Character set in C language are split into two main categories</a:t>
            </a:r>
            <a:r>
              <a:rPr lang="en-GB" dirty="0" smtClean="0">
                <a:latin typeface="Times New Roman" panose="02020603050405020304" pitchFamily="18" charset="0"/>
                <a:cs typeface="Times New Roman" panose="02020603050405020304" pitchFamily="18" charset="0"/>
              </a:rPr>
              <a:t>:</a:t>
            </a:r>
          </a:p>
          <a:p>
            <a:pPr lvl="1"/>
            <a:endParaRPr lang="en-GB" b="1" dirty="0">
              <a:latin typeface="Times New Roman" panose="02020603050405020304" pitchFamily="18" charset="0"/>
              <a:cs typeface="Times New Roman" panose="02020603050405020304" pitchFamily="18" charset="0"/>
            </a:endParaRPr>
          </a:p>
          <a:p>
            <a:pPr lvl="1"/>
            <a:r>
              <a:rPr lang="en-GB" b="1" dirty="0" smtClean="0">
                <a:latin typeface="Times New Roman" panose="02020603050405020304" pitchFamily="18" charset="0"/>
                <a:cs typeface="Times New Roman" panose="02020603050405020304" pitchFamily="18" charset="0"/>
              </a:rPr>
              <a:t>Source </a:t>
            </a:r>
            <a:r>
              <a:rPr lang="en-GB" b="1" dirty="0">
                <a:latin typeface="Times New Roman" panose="02020603050405020304" pitchFamily="18" charset="0"/>
                <a:cs typeface="Times New Roman" panose="02020603050405020304" pitchFamily="18" charset="0"/>
              </a:rPr>
              <a:t>Character Set (SCS</a:t>
            </a:r>
            <a:r>
              <a:rPr lang="en-GB" b="1" dirty="0" smtClean="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a:p>
            <a:pPr lvl="1"/>
            <a:r>
              <a:rPr lang="en-GB" b="1" dirty="0">
                <a:latin typeface="Times New Roman" panose="02020603050405020304" pitchFamily="18" charset="0"/>
                <a:cs typeface="Times New Roman" panose="02020603050405020304" pitchFamily="18" charset="0"/>
              </a:rPr>
              <a:t>Execution Character Set (ECS)</a:t>
            </a:r>
            <a:endParaRPr lang="en-GB" dirty="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37877791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Character set</a:t>
            </a:r>
            <a:endParaRPr lang="en-GB" dirty="0"/>
          </a:p>
        </p:txBody>
      </p:sp>
      <p:sp>
        <p:nvSpPr>
          <p:cNvPr id="4" name="Rectangle 1"/>
          <p:cNvSpPr>
            <a:spLocks noGrp="1" noChangeArrowheads="1"/>
          </p:cNvSpPr>
          <p:nvPr>
            <p:ph idx="1"/>
          </p:nvPr>
        </p:nvSpPr>
        <p:spPr bwMode="auto">
          <a:xfrm>
            <a:off x="370714" y="1599205"/>
            <a:ext cx="11450571"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Source Character Set (SCS)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Source Character Set </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defines all characters allowed when writing C programs.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includes: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Alphabets: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Uppercase (A–Z) and lowercase (a–z)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0 to 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Special Characters: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Symbols such as +, -, *, /, =, { }, ( ), ; ,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Whitespace Characters: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Space, tab (\\t), and newline (\\n) used for code formatting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Escape Sequences: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Special symbols like \\n, \\t, \\\\ used inside strings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Extended Characters: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Non-ASCII characters used for international symbols (e.g., é, ç,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59529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564" y="365125"/>
            <a:ext cx="10515600" cy="949869"/>
          </a:xfrm>
        </p:spPr>
        <p:txBody>
          <a:bodyPr/>
          <a:lstStyle/>
          <a:p>
            <a:r>
              <a:rPr lang="en-US" dirty="0" smtClean="0">
                <a:solidFill>
                  <a:srgbClr val="023182"/>
                </a:solidFill>
                <a:latin typeface="Times New Roman"/>
                <a:cs typeface="Times New Roman"/>
                <a:sym typeface="Times New Roman"/>
              </a:rPr>
              <a:t>Character set</a:t>
            </a:r>
            <a:endParaRPr lang="en-GB" dirty="0"/>
          </a:p>
        </p:txBody>
      </p:sp>
      <p:sp>
        <p:nvSpPr>
          <p:cNvPr id="4" name="Rectangle 1"/>
          <p:cNvSpPr>
            <a:spLocks noGrp="1" noChangeArrowheads="1"/>
          </p:cNvSpPr>
          <p:nvPr>
            <p:ph idx="1"/>
          </p:nvPr>
        </p:nvSpPr>
        <p:spPr bwMode="auto">
          <a:xfrm>
            <a:off x="237564" y="1658454"/>
            <a:ext cx="1060097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 Execution Character Set (ECS)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Execution Character Set </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defines the characters processed by the system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when a C program runs.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includes: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All Source Character Set characters: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Letters, digits, symbols, and whitespace </a:t>
            </a:r>
          </a:p>
          <a:p>
            <a:pPr marL="0" indent="0" eaLnBrk="0" fontAlgn="base" hangingPunct="0">
              <a:lnSpc>
                <a:spcPct val="100000"/>
              </a:lnSpc>
              <a:spcBef>
                <a:spcPct val="0"/>
              </a:spcBef>
              <a:spcAft>
                <a:spcPct val="0"/>
              </a:spcAft>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used in the code.</a:t>
            </a:r>
          </a:p>
          <a:p>
            <a:pPr eaLnBrk="0" fontAlgn="base" hangingPunct="0">
              <a:lnSpc>
                <a:spcPct val="100000"/>
              </a:lnSpc>
              <a:spcBef>
                <a:spcPct val="0"/>
              </a:spcBef>
              <a:spcAft>
                <a:spcPct val="0"/>
              </a:spcAf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Control Characters: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Non-printable characters such as newline (\\n), tab (\\t), and </a:t>
            </a:r>
          </a:p>
          <a:p>
            <a:pPr marL="0" indent="0" eaLnBrk="0" fontAlgn="base" hangingPunct="0">
              <a:lnSpc>
                <a:spcPct val="100000"/>
              </a:lnSpc>
              <a:spcBef>
                <a:spcPct val="0"/>
              </a:spcBef>
              <a:spcAft>
                <a:spcPct val="0"/>
              </a:spcAft>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carriage return (\\r) used to control output formatting during execution.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84227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Identifiers </a:t>
            </a:r>
            <a:endParaRPr lang="en-GB" dirty="0"/>
          </a:p>
        </p:txBody>
      </p:sp>
      <p:sp>
        <p:nvSpPr>
          <p:cNvPr id="3" name="Content Placeholder 2"/>
          <p:cNvSpPr>
            <a:spLocks noGrp="1"/>
          </p:cNvSpPr>
          <p:nvPr>
            <p:ph idx="1"/>
          </p:nvPr>
        </p:nvSpPr>
        <p:spPr/>
        <p:txBody>
          <a:bodyPr/>
          <a:lstStyle/>
          <a:p>
            <a:pPr marL="0" indent="0">
              <a:buNone/>
            </a:pPr>
            <a:r>
              <a:rPr lang="en-GB" dirty="0">
                <a:latin typeface="Times New Roman" panose="02020603050405020304" pitchFamily="18" charset="0"/>
                <a:cs typeface="Times New Roman" panose="02020603050405020304" pitchFamily="18" charset="0"/>
              </a:rPr>
              <a:t>Identifiers are the names we choose for a function, variable, list, array, or other user-defined item. They are used to uniquely identify these elements in the code. Once we assign a name to any entity, we cannot use the same name for any other entity. Some rules must be followed in the C program while naming an entity. </a:t>
            </a:r>
          </a:p>
        </p:txBody>
      </p:sp>
    </p:spTree>
    <p:extLst>
      <p:ext uri="{BB962C8B-B14F-4D97-AF65-F5344CB8AC3E}">
        <p14:creationId xmlns:p14="http://schemas.microsoft.com/office/powerpoint/2010/main" val="41752930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201"/>
          </a:xfrm>
        </p:spPr>
        <p:txBody>
          <a:bodyPr/>
          <a:lstStyle/>
          <a:p>
            <a:r>
              <a:rPr lang="en-US" dirty="0" smtClean="0">
                <a:solidFill>
                  <a:srgbClr val="023182"/>
                </a:solidFill>
                <a:latin typeface="Times New Roman"/>
                <a:cs typeface="Times New Roman"/>
                <a:sym typeface="Times New Roman"/>
              </a:rPr>
              <a:t>Identifiers </a:t>
            </a:r>
            <a:endParaRPr lang="en-GB" dirty="0"/>
          </a:p>
        </p:txBody>
      </p:sp>
      <p:sp>
        <p:nvSpPr>
          <p:cNvPr id="3" name="Content Placeholder 2"/>
          <p:cNvSpPr>
            <a:spLocks noGrp="1"/>
          </p:cNvSpPr>
          <p:nvPr>
            <p:ph idx="1"/>
          </p:nvPr>
        </p:nvSpPr>
        <p:spPr/>
        <p:txBody>
          <a:bodyPr>
            <a:normAutofit fontScale="92500" lnSpcReduction="20000"/>
          </a:bodyPr>
          <a:lstStyle/>
          <a:p>
            <a:pPr marL="0" indent="0" fontAlgn="base">
              <a:buNone/>
            </a:pPr>
            <a:r>
              <a:rPr lang="en-GB" b="1" dirty="0">
                <a:latin typeface="Times New Roman" panose="02020603050405020304" pitchFamily="18" charset="0"/>
                <a:cs typeface="Times New Roman" panose="02020603050405020304" pitchFamily="18" charset="0"/>
              </a:rPr>
              <a:t>Rules for Naming Identifiers </a:t>
            </a:r>
            <a:endParaRPr lang="en-GB" b="1" dirty="0" smtClean="0">
              <a:latin typeface="Times New Roman" panose="02020603050405020304" pitchFamily="18" charset="0"/>
              <a:cs typeface="Times New Roman" panose="02020603050405020304" pitchFamily="18" charset="0"/>
            </a:endParaRPr>
          </a:p>
          <a:p>
            <a:pPr marL="0" indent="0" fontAlgn="base">
              <a:buNone/>
            </a:pPr>
            <a:endParaRPr lang="en-GB" b="1" dirty="0">
              <a:latin typeface="Times New Roman" panose="02020603050405020304" pitchFamily="18" charset="0"/>
              <a:cs typeface="Times New Roman" panose="02020603050405020304" pitchFamily="18" charset="0"/>
            </a:endParaRPr>
          </a:p>
          <a:p>
            <a:pPr fontAlgn="base"/>
            <a:r>
              <a:rPr lang="en-GB" sz="2400" dirty="0">
                <a:latin typeface="Times New Roman" panose="02020603050405020304" pitchFamily="18" charset="0"/>
                <a:cs typeface="Times New Roman" panose="02020603050405020304" pitchFamily="18" charset="0"/>
              </a:rPr>
              <a:t>After assigning a name to a variable, function, array, or any other entity, you cannot assign the same name to other entities in the same scope.</a:t>
            </a:r>
          </a:p>
          <a:p>
            <a:pPr fontAlgn="base"/>
            <a:r>
              <a:rPr lang="en-GB" sz="2400" dirty="0">
                <a:latin typeface="Times New Roman" panose="02020603050405020304" pitchFamily="18" charset="0"/>
                <a:cs typeface="Times New Roman" panose="02020603050405020304" pitchFamily="18" charset="0"/>
              </a:rPr>
              <a:t>In the C program,  every identifier must start with an uppercase or lowercase letter. You can also use an underscore (‘_’)  at the beginning.</a:t>
            </a:r>
          </a:p>
          <a:p>
            <a:pPr fontAlgn="base"/>
            <a:r>
              <a:rPr lang="en-GB" sz="2400" dirty="0">
                <a:latin typeface="Times New Roman" panose="02020603050405020304" pitchFamily="18" charset="0"/>
                <a:cs typeface="Times New Roman" panose="02020603050405020304" pitchFamily="18" charset="0"/>
              </a:rPr>
              <a:t>Identifiers in the C program are treated differently. “</a:t>
            </a:r>
            <a:r>
              <a:rPr lang="en-GB" sz="2400" dirty="0" err="1">
                <a:latin typeface="Times New Roman" panose="02020603050405020304" pitchFamily="18" charset="0"/>
                <a:cs typeface="Times New Roman" panose="02020603050405020304" pitchFamily="18" charset="0"/>
              </a:rPr>
              <a:t>PhysicsWallah</a:t>
            </a:r>
            <a:r>
              <a:rPr lang="en-GB" sz="2400" dirty="0">
                <a:latin typeface="Times New Roman" panose="02020603050405020304" pitchFamily="18" charset="0"/>
                <a:cs typeface="Times New Roman" panose="02020603050405020304" pitchFamily="18" charset="0"/>
              </a:rPr>
              <a:t>” and “</a:t>
            </a:r>
            <a:r>
              <a:rPr lang="en-GB" sz="2400" dirty="0" err="1">
                <a:latin typeface="Times New Roman" panose="02020603050405020304" pitchFamily="18" charset="0"/>
                <a:cs typeface="Times New Roman" panose="02020603050405020304" pitchFamily="18" charset="0"/>
              </a:rPr>
              <a:t>physicsWallah</a:t>
            </a:r>
            <a:r>
              <a:rPr lang="en-GB" sz="2400" dirty="0">
                <a:latin typeface="Times New Roman" panose="02020603050405020304" pitchFamily="18" charset="0"/>
                <a:cs typeface="Times New Roman" panose="02020603050405020304" pitchFamily="18" charset="0"/>
              </a:rPr>
              <a:t>” are two different identifiers.</a:t>
            </a:r>
          </a:p>
          <a:p>
            <a:pPr fontAlgn="base"/>
            <a:r>
              <a:rPr lang="en-GB" sz="2400" dirty="0">
                <a:latin typeface="Times New Roman" panose="02020603050405020304" pitchFamily="18" charset="0"/>
                <a:cs typeface="Times New Roman" panose="02020603050405020304" pitchFamily="18" charset="0"/>
              </a:rPr>
              <a:t>Also, you cannot use keywords as an identifier in the C program.</a:t>
            </a:r>
          </a:p>
          <a:p>
            <a:pPr fontAlgn="base"/>
            <a:r>
              <a:rPr lang="en-GB" sz="2400" dirty="0">
                <a:latin typeface="Times New Roman" panose="02020603050405020304" pitchFamily="18" charset="0"/>
                <a:cs typeface="Times New Roman" panose="02020603050405020304" pitchFamily="18" charset="0"/>
              </a:rPr>
              <a:t>Special characters like @, $, %, etc., are not allowed while naming the identifiers.</a:t>
            </a:r>
          </a:p>
          <a:p>
            <a:pPr fontAlgn="base"/>
            <a:r>
              <a:rPr lang="en-GB" sz="2400" dirty="0">
                <a:latin typeface="Times New Roman" panose="02020603050405020304" pitchFamily="18" charset="0"/>
                <a:cs typeface="Times New Roman" panose="02020603050405020304" pitchFamily="18" charset="0"/>
              </a:rPr>
              <a:t>You cannot use blank spaces or commas while naming an identifier.</a:t>
            </a:r>
          </a:p>
          <a:p>
            <a:pPr fontAlgn="base"/>
            <a:r>
              <a:rPr lang="en-GB" sz="2400" dirty="0">
                <a:latin typeface="Times New Roman" panose="02020603050405020304" pitchFamily="18" charset="0"/>
                <a:cs typeface="Times New Roman" panose="02020603050405020304" pitchFamily="18" charset="0"/>
              </a:rPr>
              <a:t>The maximum length of an identifier can go up to 31 characters long.</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27982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201"/>
          </a:xfrm>
        </p:spPr>
        <p:txBody>
          <a:bodyPr/>
          <a:lstStyle/>
          <a:p>
            <a:r>
              <a:rPr lang="en-US" dirty="0" smtClean="0">
                <a:solidFill>
                  <a:srgbClr val="023182"/>
                </a:solidFill>
                <a:latin typeface="Times New Roman"/>
                <a:cs typeface="Times New Roman"/>
                <a:sym typeface="Times New Roman"/>
              </a:rPr>
              <a:t>Identifiers </a:t>
            </a:r>
            <a:endParaRPr lang="en-GB" dirty="0"/>
          </a:p>
        </p:txBody>
      </p:sp>
      <p:sp>
        <p:nvSpPr>
          <p:cNvPr id="3" name="Content Placeholder 2"/>
          <p:cNvSpPr>
            <a:spLocks noGrp="1"/>
          </p:cNvSpPr>
          <p:nvPr>
            <p:ph idx="1"/>
          </p:nvPr>
        </p:nvSpPr>
        <p:spPr/>
        <p:txBody>
          <a:bodyPr>
            <a:normAutofit/>
          </a:bodyPr>
          <a:lstStyle/>
          <a:p>
            <a:pPr marL="0" indent="0">
              <a:buNone/>
            </a:pPr>
            <a:r>
              <a:rPr lang="en-GB" b="1" dirty="0" smtClean="0">
                <a:latin typeface="Times New Roman" panose="02020603050405020304" pitchFamily="18" charset="0"/>
                <a:cs typeface="Times New Roman" panose="02020603050405020304" pitchFamily="18" charset="0"/>
              </a:rPr>
              <a:t>Examples of Valid Identifiers</a:t>
            </a:r>
            <a:r>
              <a:rPr lang="en-GB" dirty="0" smtClean="0">
                <a:latin typeface="Times New Roman" panose="02020603050405020304" pitchFamily="18" charset="0"/>
                <a:cs typeface="Times New Roman" panose="02020603050405020304" pitchFamily="18" charset="0"/>
              </a:rPr>
              <a:t>:</a:t>
            </a:r>
          </a:p>
          <a:p>
            <a:pPr lvl="1" algn="just">
              <a:lnSpc>
                <a:spcPct val="150000"/>
              </a:lnSpc>
            </a:pPr>
            <a:endParaRPr lang="en-GB" dirty="0" smtClean="0">
              <a:latin typeface="Times New Roman" panose="02020603050405020304" pitchFamily="18" charset="0"/>
              <a:cs typeface="Times New Roman" panose="02020603050405020304" pitchFamily="18" charset="0"/>
            </a:endParaRPr>
          </a:p>
          <a:p>
            <a:pPr lvl="1" algn="just">
              <a:lnSpc>
                <a:spcPct val="150000"/>
              </a:lnSpc>
            </a:pPr>
            <a:r>
              <a:rPr lang="en-GB" dirty="0" smtClean="0">
                <a:latin typeface="Times New Roman" panose="02020603050405020304" pitchFamily="18" charset="0"/>
                <a:cs typeface="Times New Roman" panose="02020603050405020304" pitchFamily="18" charset="0"/>
              </a:rPr>
              <a:t>Count</a:t>
            </a:r>
          </a:p>
          <a:p>
            <a:pPr lvl="1" algn="just">
              <a:lnSpc>
                <a:spcPct val="150000"/>
              </a:lnSpc>
            </a:pPr>
            <a:r>
              <a:rPr lang="en-GB" dirty="0" err="1" smtClean="0">
                <a:latin typeface="Times New Roman" panose="02020603050405020304" pitchFamily="18" charset="0"/>
                <a:cs typeface="Times New Roman" panose="02020603050405020304" pitchFamily="18" charset="0"/>
              </a:rPr>
              <a:t>total_sum</a:t>
            </a:r>
            <a:endParaRPr lang="en-GB" dirty="0" smtClean="0">
              <a:latin typeface="Times New Roman" panose="02020603050405020304" pitchFamily="18" charset="0"/>
              <a:cs typeface="Times New Roman" panose="02020603050405020304" pitchFamily="18" charset="0"/>
            </a:endParaRPr>
          </a:p>
          <a:p>
            <a:pPr lvl="1" algn="just">
              <a:lnSpc>
                <a:spcPct val="150000"/>
              </a:lnSpc>
            </a:pPr>
            <a:r>
              <a:rPr lang="en-GB" dirty="0" smtClean="0">
                <a:latin typeface="Times New Roman" panose="02020603050405020304" pitchFamily="18" charset="0"/>
                <a:cs typeface="Times New Roman" panose="02020603050405020304" pitchFamily="18" charset="0"/>
              </a:rPr>
              <a:t>MAX_VALUE</a:t>
            </a:r>
          </a:p>
          <a:p>
            <a:pPr lvl="1" algn="just">
              <a:lnSpc>
                <a:spcPct val="150000"/>
              </a:lnSpc>
            </a:pPr>
            <a:r>
              <a:rPr lang="en-GB" dirty="0" smtClean="0">
                <a:latin typeface="Times New Roman" panose="02020603050405020304" pitchFamily="18" charset="0"/>
                <a:cs typeface="Times New Roman" panose="02020603050405020304" pitchFamily="18" charset="0"/>
              </a:rPr>
              <a:t>myVariable1</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29005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201"/>
          </a:xfrm>
        </p:spPr>
        <p:txBody>
          <a:bodyPr/>
          <a:lstStyle/>
          <a:p>
            <a:r>
              <a:rPr lang="en-US" dirty="0" smtClean="0">
                <a:solidFill>
                  <a:srgbClr val="023182"/>
                </a:solidFill>
                <a:latin typeface="Times New Roman"/>
                <a:cs typeface="Times New Roman"/>
                <a:sym typeface="Times New Roman"/>
              </a:rPr>
              <a:t>Identifiers </a:t>
            </a:r>
            <a:endParaRPr lang="en-GB" dirty="0"/>
          </a:p>
        </p:txBody>
      </p:sp>
      <p:sp>
        <p:nvSpPr>
          <p:cNvPr id="3" name="Content Placeholder 2"/>
          <p:cNvSpPr>
            <a:spLocks noGrp="1"/>
          </p:cNvSpPr>
          <p:nvPr>
            <p:ph idx="1"/>
          </p:nvPr>
        </p:nvSpPr>
        <p:spPr/>
        <p:txBody>
          <a:bodyPr>
            <a:normAutofit/>
          </a:bodyPr>
          <a:lstStyle/>
          <a:p>
            <a:pPr marL="0" indent="0">
              <a:buNone/>
            </a:pPr>
            <a:r>
              <a:rPr lang="en-GB" b="1" dirty="0" smtClean="0">
                <a:latin typeface="Times New Roman" panose="02020603050405020304" pitchFamily="18" charset="0"/>
                <a:cs typeface="Times New Roman" panose="02020603050405020304" pitchFamily="18" charset="0"/>
              </a:rPr>
              <a:t>Examples of Invalid Identifiers</a:t>
            </a:r>
            <a:r>
              <a:rPr lang="en-GB" dirty="0" smtClean="0">
                <a:latin typeface="Times New Roman" panose="02020603050405020304" pitchFamily="18" charset="0"/>
                <a:cs typeface="Times New Roman" panose="02020603050405020304" pitchFamily="18" charset="0"/>
              </a:rPr>
              <a:t>:</a:t>
            </a:r>
          </a:p>
          <a:p>
            <a:pPr lvl="1" algn="just">
              <a:lnSpc>
                <a:spcPct val="150000"/>
              </a:lnSpc>
            </a:pPr>
            <a:endParaRPr lang="en-GB" dirty="0">
              <a:latin typeface="Times New Roman" panose="02020603050405020304" pitchFamily="18" charset="0"/>
              <a:cs typeface="Times New Roman" panose="02020603050405020304" pitchFamily="18" charset="0"/>
            </a:endParaRPr>
          </a:p>
          <a:p>
            <a:pPr lvl="1" algn="just">
              <a:lnSpc>
                <a:spcPct val="150000"/>
              </a:lnSpc>
            </a:pPr>
            <a:r>
              <a:rPr lang="en-GB" dirty="0" smtClean="0">
                <a:latin typeface="Times New Roman" panose="02020603050405020304" pitchFamily="18" charset="0"/>
                <a:cs typeface="Times New Roman" panose="02020603050405020304" pitchFamily="18" charset="0"/>
              </a:rPr>
              <a:t>1variable (starts with a digit)</a:t>
            </a:r>
          </a:p>
          <a:p>
            <a:pPr lvl="1" algn="just">
              <a:lnSpc>
                <a:spcPct val="150000"/>
              </a:lnSpc>
            </a:pPr>
            <a:r>
              <a:rPr lang="en-GB" dirty="0" smtClean="0">
                <a:latin typeface="Times New Roman" panose="02020603050405020304" pitchFamily="18" charset="0"/>
                <a:cs typeface="Times New Roman" panose="02020603050405020304" pitchFamily="18" charset="0"/>
              </a:rPr>
              <a:t>total sum (contains a space)</a:t>
            </a:r>
          </a:p>
          <a:p>
            <a:pPr lvl="1" algn="just">
              <a:lnSpc>
                <a:spcPct val="150000"/>
              </a:lnSpc>
            </a:pPr>
            <a:r>
              <a:rPr lang="en-GB" dirty="0" smtClean="0">
                <a:latin typeface="Times New Roman" panose="02020603050405020304" pitchFamily="18" charset="0"/>
                <a:cs typeface="Times New Roman" panose="02020603050405020304" pitchFamily="18" charset="0"/>
              </a:rPr>
              <a:t>int (reserved keyword)</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1227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Keywords </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There are certain words reserved for doing specific task, these words are known as reserved word or keywords. These words are predefined and always written in lower case or small letter. These keywords can not be used as a variable name as it assigned with fixed meaning.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8324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Keywords </a:t>
            </a:r>
            <a:endParaRPr lang="en-GB" dirty="0"/>
          </a:p>
        </p:txBody>
      </p:sp>
      <p:pic>
        <p:nvPicPr>
          <p:cNvPr id="4" name="Content Placeholder 3"/>
          <p:cNvPicPr>
            <a:picLocks noGrp="1" noChangeAspect="1"/>
          </p:cNvPicPr>
          <p:nvPr>
            <p:ph idx="1"/>
          </p:nvPr>
        </p:nvPicPr>
        <p:blipFill>
          <a:blip r:embed="rId2"/>
          <a:stretch>
            <a:fillRect/>
          </a:stretch>
        </p:blipFill>
        <p:spPr>
          <a:xfrm>
            <a:off x="1489936" y="1805461"/>
            <a:ext cx="7331075" cy="4252328"/>
          </a:xfrm>
          <a:prstGeom prst="rect">
            <a:avLst/>
          </a:prstGeom>
        </p:spPr>
      </p:pic>
    </p:spTree>
    <p:extLst>
      <p:ext uri="{BB962C8B-B14F-4D97-AF65-F5344CB8AC3E}">
        <p14:creationId xmlns:p14="http://schemas.microsoft.com/office/powerpoint/2010/main" val="29096541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84796489"/>
              </p:ext>
            </p:extLst>
          </p:nvPr>
        </p:nvGraphicFramePr>
        <p:xfrm>
          <a:off x="862147" y="1024436"/>
          <a:ext cx="8847910" cy="4351339"/>
        </p:xfrm>
        <a:graphic>
          <a:graphicData uri="http://schemas.openxmlformats.org/drawingml/2006/table">
            <a:tbl>
              <a:tblPr/>
              <a:tblGrid>
                <a:gridCol w="4423955"/>
                <a:gridCol w="4423955"/>
              </a:tblGrid>
              <a:tr h="266827">
                <a:tc gridSpan="2">
                  <a:txBody>
                    <a:bodyPr/>
                    <a:lstStyle/>
                    <a:p>
                      <a:r>
                        <a:rPr lang="en-GB" sz="1200" b="1" dirty="0">
                          <a:effectLst/>
                        </a:rPr>
                        <a:t>Difference Between Keywords and Identifiers in C language</a:t>
                      </a:r>
                      <a:endParaRPr lang="en-GB" sz="1200" dirty="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6600"/>
                    </a:solidFill>
                  </a:tcPr>
                </a:tc>
                <a:tc hMerge="1">
                  <a:txBody>
                    <a:bodyPr/>
                    <a:lstStyle/>
                    <a:p>
                      <a:endParaRPr lang="en-GB"/>
                    </a:p>
                  </a:txBody>
                  <a:tcPr/>
                </a:tc>
              </a:tr>
              <a:tr h="636281">
                <a:tc>
                  <a:txBody>
                    <a:bodyPr/>
                    <a:lstStyle/>
                    <a:p>
                      <a:r>
                        <a:rPr lang="en-GB" sz="1200" b="0" dirty="0">
                          <a:effectLst/>
                        </a:rPr>
                        <a:t>Keywords are the predefined words in a programming language.</a:t>
                      </a:r>
                      <a:endParaRPr lang="en-GB" sz="1200" dirty="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c>
                  <a:txBody>
                    <a:bodyPr/>
                    <a:lstStyle/>
                    <a:p>
                      <a:r>
                        <a:rPr lang="en-GB" sz="1200" b="0">
                          <a:effectLst/>
                        </a:rPr>
                        <a:t>Identifiers are the names given to variables, functions, lists, etc.</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r>
              <a:tr h="821007">
                <a:tc>
                  <a:txBody>
                    <a:bodyPr/>
                    <a:lstStyle/>
                    <a:p>
                      <a:r>
                        <a:rPr lang="en-GB" sz="1200" b="0">
                          <a:effectLst/>
                        </a:rPr>
                        <a:t>Keywords in C language cannot be used as identifiers.</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c>
                  <a:txBody>
                    <a:bodyPr/>
                    <a:lstStyle/>
                    <a:p>
                      <a:r>
                        <a:rPr lang="en-GB" sz="1200" b="0">
                          <a:effectLst/>
                        </a:rPr>
                        <a:t>Identifiers are user-defined variables that give a unique name to different entities in programming.</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r>
              <a:tr h="451554">
                <a:tc>
                  <a:txBody>
                    <a:bodyPr/>
                    <a:lstStyle/>
                    <a:p>
                      <a:r>
                        <a:rPr lang="en-GB" sz="1200" b="0">
                          <a:effectLst/>
                        </a:rPr>
                        <a:t>The keywords always start with a lowercase letter.</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c>
                  <a:txBody>
                    <a:bodyPr/>
                    <a:lstStyle/>
                    <a:p>
                      <a:r>
                        <a:rPr lang="en-GB" sz="1200" b="0">
                          <a:effectLst/>
                        </a:rPr>
                        <a:t>Identifiers can start with either lowercase or uppercase letters.</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r>
              <a:tr h="636281">
                <a:tc>
                  <a:txBody>
                    <a:bodyPr/>
                    <a:lstStyle/>
                    <a:p>
                      <a:r>
                        <a:rPr lang="en-GB" sz="1200" b="0">
                          <a:effectLst/>
                        </a:rPr>
                        <a:t>It only contains alphabetical characters.</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c>
                  <a:txBody>
                    <a:bodyPr/>
                    <a:lstStyle/>
                    <a:p>
                      <a:r>
                        <a:rPr lang="en-GB" sz="1200" b="0">
                          <a:effectLst/>
                        </a:rPr>
                        <a:t>It contains only numerals, letters and underscores. No special symbols are allowed.</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r>
              <a:tr h="451554">
                <a:tc>
                  <a:txBody>
                    <a:bodyPr/>
                    <a:lstStyle/>
                    <a:p>
                      <a:r>
                        <a:rPr lang="en-GB" sz="1200" b="0">
                          <a:effectLst/>
                        </a:rPr>
                        <a:t>It specifies the data type of an entity.</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c>
                  <a:txBody>
                    <a:bodyPr/>
                    <a:lstStyle/>
                    <a:p>
                      <a:r>
                        <a:rPr lang="en-GB" sz="1200" b="0">
                          <a:effectLst/>
                        </a:rPr>
                        <a:t>It gives the name of an entity.</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r>
              <a:tr h="636281">
                <a:tc>
                  <a:txBody>
                    <a:bodyPr/>
                    <a:lstStyle/>
                    <a:p>
                      <a:r>
                        <a:rPr lang="en-GB" sz="1200" b="0">
                          <a:effectLst/>
                        </a:rPr>
                        <a:t>You can use keywords as many times as you want.</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c>
                  <a:txBody>
                    <a:bodyPr/>
                    <a:lstStyle/>
                    <a:p>
                      <a:r>
                        <a:rPr lang="en-GB" sz="1200" b="0">
                          <a:effectLst/>
                        </a:rPr>
                        <a:t>You cannot use the same identifiers name in the same scope.</a:t>
                      </a:r>
                      <a:endParaRPr lang="en-GB" sz="120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r>
              <a:tr h="451554">
                <a:tc>
                  <a:txBody>
                    <a:bodyPr/>
                    <a:lstStyle/>
                    <a:p>
                      <a:r>
                        <a:rPr lang="en-GB" sz="1200" b="0" dirty="0">
                          <a:effectLst/>
                        </a:rPr>
                        <a:t>Example: int, float, double, if, else, default, etc.</a:t>
                      </a:r>
                      <a:endParaRPr lang="en-GB" sz="1200" dirty="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c>
                  <a:txBody>
                    <a:bodyPr/>
                    <a:lstStyle/>
                    <a:p>
                      <a:r>
                        <a:rPr lang="en-GB" sz="1200" b="0" dirty="0">
                          <a:effectLst/>
                        </a:rPr>
                        <a:t>Example: int </a:t>
                      </a:r>
                      <a:r>
                        <a:rPr lang="en-GB" sz="1200" b="0" dirty="0" err="1">
                          <a:effectLst/>
                        </a:rPr>
                        <a:t>num</a:t>
                      </a:r>
                      <a:r>
                        <a:rPr lang="en-GB" sz="1200" b="0" dirty="0">
                          <a:effectLst/>
                        </a:rPr>
                        <a:t>, where </a:t>
                      </a:r>
                      <a:r>
                        <a:rPr lang="en-GB" sz="1200" b="0" dirty="0" err="1">
                          <a:effectLst/>
                        </a:rPr>
                        <a:t>num</a:t>
                      </a:r>
                      <a:r>
                        <a:rPr lang="en-GB" sz="1200" b="0" dirty="0">
                          <a:effectLst/>
                        </a:rPr>
                        <a:t> is an identifier.</a:t>
                      </a:r>
                      <a:endParaRPr lang="en-GB" sz="1200" dirty="0">
                        <a:effectLst/>
                      </a:endParaRPr>
                    </a:p>
                  </a:txBody>
                  <a:tcPr marL="41050" marR="41050" marT="41050" marB="410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8"/>
                    </a:solidFill>
                  </a:tcPr>
                </a:tc>
              </a:tr>
            </a:tbl>
          </a:graphicData>
        </a:graphic>
      </p:graphicFrame>
    </p:spTree>
    <p:extLst>
      <p:ext uri="{BB962C8B-B14F-4D97-AF65-F5344CB8AC3E}">
        <p14:creationId xmlns:p14="http://schemas.microsoft.com/office/powerpoint/2010/main" val="42135651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Variables </a:t>
            </a:r>
            <a:endParaRPr lang="en-GB" dirty="0"/>
          </a:p>
        </p:txBody>
      </p:sp>
      <p:sp>
        <p:nvSpPr>
          <p:cNvPr id="3" name="Content Placeholder 2"/>
          <p:cNvSpPr>
            <a:spLocks noGrp="1"/>
          </p:cNvSpPr>
          <p:nvPr>
            <p:ph idx="1"/>
          </p:nvPr>
        </p:nvSpPr>
        <p:spPr/>
        <p:txBody>
          <a:bodyPr/>
          <a:lstStyle/>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In programming, we often need a </a:t>
            </a:r>
            <a:r>
              <a:rPr lang="en-GB" b="1" dirty="0" smtClean="0">
                <a:latin typeface="Times New Roman" panose="02020603050405020304" pitchFamily="18" charset="0"/>
                <a:cs typeface="Times New Roman" panose="02020603050405020304" pitchFamily="18" charset="0"/>
              </a:rPr>
              <a:t>named storage location</a:t>
            </a:r>
            <a:r>
              <a:rPr lang="en-GB" dirty="0" smtClean="0">
                <a:latin typeface="Times New Roman" panose="02020603050405020304" pitchFamily="18" charset="0"/>
                <a:cs typeface="Times New Roman" panose="02020603050405020304" pitchFamily="18" charset="0"/>
              </a:rPr>
              <a:t> to store the data or values. Using variables, we can store the data in our program and access it afterward. </a:t>
            </a:r>
          </a:p>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Variables are containers for storing data values, like numbers and characters.</a:t>
            </a:r>
          </a:p>
          <a:p>
            <a:pPr marL="0" indent="0">
              <a:buNone/>
            </a:pPr>
            <a:endParaRPr lang="en-GB" dirty="0"/>
          </a:p>
        </p:txBody>
      </p:sp>
    </p:spTree>
    <p:extLst>
      <p:ext uri="{BB962C8B-B14F-4D97-AF65-F5344CB8AC3E}">
        <p14:creationId xmlns:p14="http://schemas.microsoft.com/office/powerpoint/2010/main" val="21424456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Variables </a:t>
            </a:r>
            <a:endParaRPr lang="en-GB" dirty="0"/>
          </a:p>
        </p:txBody>
      </p:sp>
      <p:sp>
        <p:nvSpPr>
          <p:cNvPr id="3" name="Content Placeholder 2"/>
          <p:cNvSpPr>
            <a:spLocks noGrp="1"/>
          </p:cNvSpPr>
          <p:nvPr>
            <p:ph idx="1"/>
          </p:nvPr>
        </p:nvSpPr>
        <p:spPr/>
        <p:txBody>
          <a:bodyPr>
            <a:normAutofit fontScale="92500"/>
          </a:bodyPr>
          <a:lstStyle/>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In C, there are different types of variables (defined with different keywords), for example:</a:t>
            </a:r>
          </a:p>
          <a:p>
            <a:pPr algn="just">
              <a:lnSpc>
                <a:spcPct val="150000"/>
              </a:lnSpc>
              <a:buFont typeface="Wingdings" panose="05000000000000000000" pitchFamily="2" charset="2"/>
              <a:buChar char="v"/>
            </a:pPr>
            <a:r>
              <a:rPr lang="en-GB" b="1" dirty="0">
                <a:latin typeface="Times New Roman" panose="02020603050405020304" pitchFamily="18" charset="0"/>
                <a:cs typeface="Times New Roman" panose="02020603050405020304" pitchFamily="18" charset="0"/>
              </a:rPr>
              <a:t>i</a:t>
            </a:r>
            <a:r>
              <a:rPr lang="en-GB" b="1" dirty="0" smtClean="0">
                <a:latin typeface="Times New Roman" panose="02020603050405020304" pitchFamily="18" charset="0"/>
                <a:cs typeface="Times New Roman" panose="02020603050405020304" pitchFamily="18" charset="0"/>
              </a:rPr>
              <a:t>nt</a:t>
            </a:r>
            <a:r>
              <a:rPr lang="en-GB" dirty="0">
                <a:latin typeface="Times New Roman" panose="02020603050405020304" pitchFamily="18" charset="0"/>
                <a:cs typeface="Times New Roman" panose="02020603050405020304" pitchFamily="18" charset="0"/>
              </a:rPr>
              <a:t>:</a:t>
            </a:r>
            <a:r>
              <a:rPr lang="en-GB" dirty="0" smtClean="0">
                <a:latin typeface="Times New Roman" panose="02020603050405020304" pitchFamily="18" charset="0"/>
                <a:cs typeface="Times New Roman" panose="02020603050405020304" pitchFamily="18" charset="0"/>
              </a:rPr>
              <a:t> stores integers (whole numbers), without decimals, such as 123 or -123</a:t>
            </a:r>
          </a:p>
          <a:p>
            <a:pPr algn="just">
              <a:lnSpc>
                <a:spcPct val="150000"/>
              </a:lnSpc>
              <a:buFont typeface="Wingdings" panose="05000000000000000000" pitchFamily="2" charset="2"/>
              <a:buChar char="v"/>
            </a:pPr>
            <a:r>
              <a:rPr lang="en-GB" b="1" dirty="0">
                <a:latin typeface="Times New Roman" panose="02020603050405020304" pitchFamily="18" charset="0"/>
                <a:cs typeface="Times New Roman" panose="02020603050405020304" pitchFamily="18" charset="0"/>
              </a:rPr>
              <a:t>f</a:t>
            </a:r>
            <a:r>
              <a:rPr lang="en-GB" b="1" dirty="0" smtClean="0">
                <a:latin typeface="Times New Roman" panose="02020603050405020304" pitchFamily="18" charset="0"/>
                <a:cs typeface="Times New Roman" panose="02020603050405020304" pitchFamily="18" charset="0"/>
              </a:rPr>
              <a:t>loat</a:t>
            </a:r>
            <a:r>
              <a:rPr lang="en-GB" dirty="0">
                <a:latin typeface="Times New Roman" panose="02020603050405020304" pitchFamily="18" charset="0"/>
                <a:cs typeface="Times New Roman" panose="02020603050405020304" pitchFamily="18" charset="0"/>
              </a:rPr>
              <a:t>:</a:t>
            </a:r>
            <a:r>
              <a:rPr lang="en-GB" dirty="0" smtClean="0">
                <a:latin typeface="Times New Roman" panose="02020603050405020304" pitchFamily="18" charset="0"/>
                <a:cs typeface="Times New Roman" panose="02020603050405020304" pitchFamily="18" charset="0"/>
              </a:rPr>
              <a:t> stores floating point numbers, with decimals, such as 19.99 or -19.99</a:t>
            </a:r>
          </a:p>
          <a:p>
            <a:pPr algn="just">
              <a:lnSpc>
                <a:spcPct val="150000"/>
              </a:lnSpc>
              <a:buFont typeface="Wingdings" panose="05000000000000000000" pitchFamily="2" charset="2"/>
              <a:buChar char="v"/>
            </a:pPr>
            <a:r>
              <a:rPr lang="en-GB" b="1" dirty="0">
                <a:latin typeface="Times New Roman" panose="02020603050405020304" pitchFamily="18" charset="0"/>
                <a:cs typeface="Times New Roman" panose="02020603050405020304" pitchFamily="18" charset="0"/>
              </a:rPr>
              <a:t>c</a:t>
            </a:r>
            <a:r>
              <a:rPr lang="en-GB" b="1" dirty="0" smtClean="0">
                <a:latin typeface="Times New Roman" panose="02020603050405020304" pitchFamily="18" charset="0"/>
                <a:cs typeface="Times New Roman" panose="02020603050405020304" pitchFamily="18" charset="0"/>
              </a:rPr>
              <a:t>har</a:t>
            </a:r>
            <a:r>
              <a:rPr lang="en-GB" dirty="0">
                <a:latin typeface="Times New Roman" panose="02020603050405020304" pitchFamily="18" charset="0"/>
                <a:cs typeface="Times New Roman" panose="02020603050405020304" pitchFamily="18" charset="0"/>
              </a:rPr>
              <a:t>:</a:t>
            </a:r>
            <a:r>
              <a:rPr lang="en-GB" dirty="0" smtClean="0">
                <a:latin typeface="Times New Roman" panose="02020603050405020304" pitchFamily="18" charset="0"/>
                <a:cs typeface="Times New Roman" panose="02020603050405020304" pitchFamily="18" charset="0"/>
              </a:rPr>
              <a:t> stores single characters, such as 'a' or 'B'. Characters are surrounded by single quotes</a:t>
            </a:r>
          </a:p>
          <a:p>
            <a:pPr marL="0" indent="0">
              <a:buNone/>
            </a:pPr>
            <a:endParaRPr lang="en-GB" dirty="0"/>
          </a:p>
        </p:txBody>
      </p:sp>
    </p:spTree>
    <p:extLst>
      <p:ext uri="{BB962C8B-B14F-4D97-AF65-F5344CB8AC3E}">
        <p14:creationId xmlns:p14="http://schemas.microsoft.com/office/powerpoint/2010/main" val="25549219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Variables </a:t>
            </a:r>
            <a:endParaRPr lang="en-GB" dirty="0"/>
          </a:p>
        </p:txBody>
      </p:sp>
      <p:pic>
        <p:nvPicPr>
          <p:cNvPr id="5122" name="Picture 2" descr="https://techskillguru.com/cdata/cprogramming/images/va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402" y="1924593"/>
            <a:ext cx="7673250" cy="4023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1136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lstStyle/>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In programming, the declaration of variables involves specifying the </a:t>
            </a:r>
            <a:r>
              <a:rPr lang="en-GB" b="1" dirty="0" smtClean="0">
                <a:latin typeface="Times New Roman" panose="02020603050405020304" pitchFamily="18" charset="0"/>
                <a:cs typeface="Times New Roman" panose="02020603050405020304" pitchFamily="18" charset="0"/>
              </a:rPr>
              <a:t>type and name</a:t>
            </a:r>
            <a:r>
              <a:rPr lang="en-GB" dirty="0" smtClean="0">
                <a:latin typeface="Times New Roman" panose="02020603050405020304" pitchFamily="18" charset="0"/>
                <a:cs typeface="Times New Roman" panose="02020603050405020304" pitchFamily="18" charset="0"/>
              </a:rPr>
              <a:t> of a variable before it is used in the program. The syntax can vary slightly between programming languages, but the fundamental concept remains consistent.</a:t>
            </a:r>
          </a:p>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To create a variable, specify the </a:t>
            </a:r>
            <a:r>
              <a:rPr lang="en-GB" b="1" dirty="0" smtClean="0">
                <a:latin typeface="Times New Roman" panose="02020603050405020304" pitchFamily="18" charset="0"/>
                <a:cs typeface="Times New Roman" panose="02020603050405020304" pitchFamily="18" charset="0"/>
              </a:rPr>
              <a:t>type</a:t>
            </a:r>
            <a:r>
              <a:rPr lang="en-GB" dirty="0" smtClean="0">
                <a:latin typeface="Times New Roman" panose="02020603050405020304" pitchFamily="18" charset="0"/>
                <a:cs typeface="Times New Roman" panose="02020603050405020304" pitchFamily="18" charset="0"/>
              </a:rPr>
              <a:t> and assign it a </a:t>
            </a:r>
            <a:r>
              <a:rPr lang="en-GB" b="1" dirty="0" smtClean="0">
                <a:latin typeface="Times New Roman" panose="02020603050405020304" pitchFamily="18" charset="0"/>
                <a:cs typeface="Times New Roman" panose="02020603050405020304" pitchFamily="18" charset="0"/>
              </a:rPr>
              <a:t>value</a:t>
            </a:r>
            <a:r>
              <a:rPr lang="en-GB" dirty="0">
                <a:latin typeface="Times New Roman" panose="02020603050405020304" pitchFamily="18" charset="0"/>
                <a:cs typeface="Times New Roman" panose="02020603050405020304" pitchFamily="18" charset="0"/>
              </a:rPr>
              <a:t>.</a:t>
            </a: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18655645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Rules for Declaring Variables in </a:t>
            </a:r>
            <a:r>
              <a:rPr lang="en-GB" b="1" dirty="0" smtClean="0">
                <a:latin typeface="Times New Roman" panose="02020603050405020304" pitchFamily="18" charset="0"/>
                <a:cs typeface="Times New Roman" panose="02020603050405020304" pitchFamily="18" charset="0"/>
              </a:rPr>
              <a:t>C</a:t>
            </a:r>
          </a:p>
          <a:p>
            <a:pPr marL="0" indent="0">
              <a:buNone/>
            </a:pPr>
            <a:endParaRPr lang="en-GB" b="1" dirty="0">
              <a:latin typeface="Times New Roman" panose="02020603050405020304" pitchFamily="18" charset="0"/>
              <a:cs typeface="Times New Roman" panose="02020603050405020304" pitchFamily="18" charset="0"/>
            </a:endParaRPr>
          </a:p>
          <a:p>
            <a:pPr lvl="1"/>
            <a:r>
              <a:rPr lang="en-GB" dirty="0">
                <a:latin typeface="Times New Roman" panose="02020603050405020304" pitchFamily="18" charset="0"/>
                <a:cs typeface="Times New Roman" panose="02020603050405020304" pitchFamily="18" charset="0"/>
              </a:rPr>
              <a:t>A variable name can only contain letters, digits, and underscores. It must begin with a letter or underscore.</a:t>
            </a:r>
          </a:p>
          <a:p>
            <a:pPr lvl="1"/>
            <a:r>
              <a:rPr lang="en-GB" dirty="0">
                <a:latin typeface="Times New Roman" panose="02020603050405020304" pitchFamily="18" charset="0"/>
                <a:cs typeface="Times New Roman" panose="02020603050405020304" pitchFamily="18" charset="0"/>
              </a:rPr>
              <a:t>C is case-sensitive, so variables '</a:t>
            </a:r>
            <a:r>
              <a:rPr lang="en-GB" dirty="0" err="1">
                <a:latin typeface="Times New Roman" panose="02020603050405020304" pitchFamily="18" charset="0"/>
                <a:cs typeface="Times New Roman" panose="02020603050405020304" pitchFamily="18" charset="0"/>
              </a:rPr>
              <a:t>abc</a:t>
            </a:r>
            <a:r>
              <a:rPr lang="en-GB" dirty="0">
                <a:latin typeface="Times New Roman" panose="02020603050405020304" pitchFamily="18" charset="0"/>
                <a:cs typeface="Times New Roman" panose="02020603050405020304" pitchFamily="18" charset="0"/>
              </a:rPr>
              <a:t>' and 'ABC' are considered different.</a:t>
            </a:r>
          </a:p>
          <a:p>
            <a:pPr lvl="1"/>
            <a:r>
              <a:rPr lang="en-GB" dirty="0">
                <a:latin typeface="Times New Roman" panose="02020603050405020304" pitchFamily="18" charset="0"/>
                <a:cs typeface="Times New Roman" panose="02020603050405020304" pitchFamily="18" charset="0"/>
              </a:rPr>
              <a:t>A variable name cannot be a reserved word in C, such as '</a:t>
            </a: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or 'float'.</a:t>
            </a:r>
          </a:p>
          <a:p>
            <a:pPr lvl="1"/>
            <a:r>
              <a:rPr lang="en-GB" dirty="0">
                <a:latin typeface="Times New Roman" panose="02020603050405020304" pitchFamily="18" charset="0"/>
                <a:cs typeface="Times New Roman" panose="02020603050405020304" pitchFamily="18" charset="0"/>
              </a:rPr>
              <a:t>A variable must be declared before it is used in the program.</a:t>
            </a:r>
          </a:p>
          <a:p>
            <a:pPr marL="0" indent="0">
              <a:buNone/>
            </a:pPr>
            <a:endParaRPr lang="en-GB" dirty="0"/>
          </a:p>
        </p:txBody>
      </p:sp>
    </p:spTree>
    <p:extLst>
      <p:ext uri="{BB962C8B-B14F-4D97-AF65-F5344CB8AC3E}">
        <p14:creationId xmlns:p14="http://schemas.microsoft.com/office/powerpoint/2010/main" val="39505298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normAutofit/>
          </a:bodyPr>
          <a:lstStyle/>
          <a:p>
            <a:pPr marL="0" indent="0" algn="just">
              <a:lnSpc>
                <a:spcPct val="150000"/>
              </a:lnSpc>
              <a:buNone/>
            </a:pPr>
            <a:r>
              <a:rPr lang="en-GB" sz="3600" b="1" dirty="0" smtClean="0">
                <a:latin typeface="Times New Roman" panose="02020603050405020304" pitchFamily="18" charset="0"/>
                <a:cs typeface="Times New Roman" panose="02020603050405020304" pitchFamily="18" charset="0"/>
              </a:rPr>
              <a:t>Syntax</a:t>
            </a:r>
            <a:endParaRPr lang="en-GB" sz="3600" i="1" dirty="0" smtClean="0">
              <a:latin typeface="Times New Roman" panose="02020603050405020304" pitchFamily="18" charset="0"/>
              <a:cs typeface="Times New Roman" panose="02020603050405020304" pitchFamily="18" charset="0"/>
            </a:endParaRPr>
          </a:p>
          <a:p>
            <a:pPr algn="just">
              <a:lnSpc>
                <a:spcPct val="150000"/>
              </a:lnSpc>
            </a:pPr>
            <a:r>
              <a:rPr lang="en-GB" i="1" dirty="0" smtClean="0">
                <a:latin typeface="Times New Roman" panose="02020603050405020304" pitchFamily="18" charset="0"/>
                <a:cs typeface="Times New Roman" panose="02020603050405020304" pitchFamily="18" charset="0"/>
              </a:rPr>
              <a:t>type</a:t>
            </a:r>
            <a:r>
              <a:rPr lang="en-GB" dirty="0" smtClean="0">
                <a:latin typeface="Times New Roman" panose="02020603050405020304" pitchFamily="18" charset="0"/>
                <a:cs typeface="Times New Roman" panose="02020603050405020304" pitchFamily="18" charset="0"/>
              </a:rPr>
              <a:t> </a:t>
            </a:r>
            <a:r>
              <a:rPr lang="en-GB" i="1" dirty="0" err="1" smtClean="0">
                <a:latin typeface="Times New Roman" panose="02020603050405020304" pitchFamily="18" charset="0"/>
                <a:cs typeface="Times New Roman" panose="02020603050405020304" pitchFamily="18" charset="0"/>
              </a:rPr>
              <a:t>variableName</a:t>
            </a:r>
            <a:r>
              <a:rPr lang="en-GB" dirty="0" smtClean="0">
                <a:latin typeface="Times New Roman" panose="02020603050405020304" pitchFamily="18" charset="0"/>
                <a:cs typeface="Times New Roman" panose="02020603050405020304" pitchFamily="18" charset="0"/>
              </a:rPr>
              <a:t> = </a:t>
            </a:r>
            <a:r>
              <a:rPr lang="en-GB" i="1" dirty="0" smtClean="0">
                <a:latin typeface="Times New Roman" panose="02020603050405020304" pitchFamily="18" charset="0"/>
                <a:cs typeface="Times New Roman" panose="02020603050405020304" pitchFamily="18" charset="0"/>
              </a:rPr>
              <a:t>value</a:t>
            </a:r>
            <a:r>
              <a:rPr lang="en-GB" dirty="0" smtClean="0">
                <a:latin typeface="Times New Roman" panose="02020603050405020304" pitchFamily="18" charset="0"/>
                <a:cs typeface="Times New Roman" panose="02020603050405020304" pitchFamily="18" charset="0"/>
              </a:rPr>
              <a:t>;</a:t>
            </a:r>
          </a:p>
          <a:p>
            <a:pPr algn="just">
              <a:lnSpc>
                <a:spcPct val="150000"/>
              </a:lnSpc>
            </a:pPr>
            <a:r>
              <a:rPr lang="en-GB" dirty="0" smtClean="0">
                <a:latin typeface="Times New Roman" panose="02020603050405020304" pitchFamily="18" charset="0"/>
                <a:cs typeface="Times New Roman" panose="02020603050405020304" pitchFamily="18" charset="0"/>
              </a:rPr>
              <a:t>Where type is one of C types (such as int), and </a:t>
            </a:r>
            <a:r>
              <a:rPr lang="en-GB" dirty="0" err="1" smtClean="0">
                <a:latin typeface="Times New Roman" panose="02020603050405020304" pitchFamily="18" charset="0"/>
                <a:cs typeface="Times New Roman" panose="02020603050405020304" pitchFamily="18" charset="0"/>
              </a:rPr>
              <a:t>variableName</a:t>
            </a:r>
            <a:r>
              <a:rPr lang="en-GB" dirty="0" smtClean="0">
                <a:latin typeface="Times New Roman" panose="02020603050405020304" pitchFamily="18" charset="0"/>
                <a:cs typeface="Times New Roman" panose="02020603050405020304" pitchFamily="18" charset="0"/>
              </a:rPr>
              <a:t> is the name of the variable (such as x or </a:t>
            </a:r>
            <a:r>
              <a:rPr lang="en-GB" dirty="0" err="1" smtClean="0">
                <a:latin typeface="Times New Roman" panose="02020603050405020304" pitchFamily="18" charset="0"/>
                <a:cs typeface="Times New Roman" panose="02020603050405020304" pitchFamily="18" charset="0"/>
              </a:rPr>
              <a:t>myName</a:t>
            </a:r>
            <a:r>
              <a:rPr lang="en-GB" dirty="0" smtClean="0">
                <a:latin typeface="Times New Roman" panose="02020603050405020304" pitchFamily="18" charset="0"/>
                <a:cs typeface="Times New Roman" panose="02020603050405020304" pitchFamily="18" charset="0"/>
              </a:rPr>
              <a:t>). The equal sign is used to assign a value to the variable.</a:t>
            </a:r>
          </a:p>
          <a:p>
            <a:pPr marL="0" indent="0" algn="just">
              <a:lnSpc>
                <a:spcPct val="150000"/>
              </a:lnSpc>
              <a:buNone/>
            </a:pPr>
            <a:endParaRPr lang="en-GB" b="1"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29952663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Here are some examples of declaring variables in C</a:t>
            </a:r>
            <a:r>
              <a:rPr lang="en-GB" b="1" dirty="0" smtClean="0">
                <a:latin typeface="Times New Roman" panose="02020603050405020304" pitchFamily="18" charset="0"/>
                <a:cs typeface="Times New Roman" panose="02020603050405020304" pitchFamily="18" charset="0"/>
              </a:rPr>
              <a:t>:</a:t>
            </a:r>
            <a:endParaRPr lang="en-GB" b="1" dirty="0">
              <a:latin typeface="Times New Roman" panose="02020603050405020304" pitchFamily="18" charset="0"/>
              <a:cs typeface="Times New Roman" panose="02020603050405020304" pitchFamily="18" charset="0"/>
            </a:endParaRPr>
          </a:p>
          <a:p>
            <a:pPr marL="0" indent="0">
              <a:buNone/>
            </a:pPr>
            <a:endParaRPr lang="en-US" b="1"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int age;</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float average;</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char grade;</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char name[30];</a:t>
            </a:r>
          </a:p>
          <a:p>
            <a:pPr lvl="1">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457200" lvl="1" indent="0">
              <a:buNone/>
            </a:pPr>
            <a:r>
              <a:rPr lang="en-GB" dirty="0">
                <a:latin typeface="Times New Roman" panose="02020603050405020304" pitchFamily="18" charset="0"/>
                <a:cs typeface="Times New Roman" panose="02020603050405020304" pitchFamily="18" charset="0"/>
              </a:rPr>
              <a:t>In these examples, 'age' is an integer variable, 'average' is a floating-point variable, 'grade' is a character variable, and 'name' is a string variable (an array of characters).</a:t>
            </a:r>
            <a:endParaRPr lang="en-GB"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36640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Examples of Valid Variables in </a:t>
            </a:r>
            <a:r>
              <a:rPr lang="en-GB" b="1" dirty="0" smtClean="0">
                <a:latin typeface="Times New Roman" panose="02020603050405020304" pitchFamily="18" charset="0"/>
                <a:cs typeface="Times New Roman" panose="02020603050405020304" pitchFamily="18" charset="0"/>
              </a:rPr>
              <a:t>C</a:t>
            </a:r>
          </a:p>
          <a:p>
            <a:pPr lvl="1">
              <a:buFont typeface="Wingdings" panose="05000000000000000000" pitchFamily="2" charset="2"/>
              <a:buChar char="§"/>
            </a:pPr>
            <a:endParaRPr lang="en-GB"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int age;</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float </a:t>
            </a:r>
            <a:r>
              <a:rPr lang="en-GB" dirty="0" err="1" smtClean="0">
                <a:latin typeface="Times New Roman" panose="02020603050405020304" pitchFamily="18" charset="0"/>
                <a:cs typeface="Times New Roman" panose="02020603050405020304" pitchFamily="18" charset="0"/>
              </a:rPr>
              <a:t>average_grade</a:t>
            </a:r>
            <a:r>
              <a:rPr lang="en-GB"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char _grade;</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char </a:t>
            </a:r>
            <a:r>
              <a:rPr lang="en-GB" dirty="0" err="1" smtClean="0">
                <a:latin typeface="Times New Roman" panose="02020603050405020304" pitchFamily="18" charset="0"/>
                <a:cs typeface="Times New Roman" panose="02020603050405020304" pitchFamily="18" charset="0"/>
              </a:rPr>
              <a:t>first_name</a:t>
            </a:r>
            <a:r>
              <a:rPr lang="en-GB" dirty="0" smtClean="0">
                <a:latin typeface="Times New Roman" panose="02020603050405020304" pitchFamily="18" charset="0"/>
                <a:cs typeface="Times New Roman" panose="02020603050405020304" pitchFamily="18" charset="0"/>
              </a:rPr>
              <a:t>[30];</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0599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Examples of Invalid Variables in </a:t>
            </a:r>
            <a:r>
              <a:rPr lang="en-GB" b="1" dirty="0" smtClean="0">
                <a:latin typeface="Times New Roman" panose="02020603050405020304" pitchFamily="18" charset="0"/>
                <a:cs typeface="Times New Roman" panose="02020603050405020304" pitchFamily="18" charset="0"/>
              </a:rPr>
              <a:t>C</a:t>
            </a:r>
          </a:p>
          <a:p>
            <a:pPr marL="0" indent="0">
              <a:buNone/>
            </a:pPr>
            <a:endParaRPr lang="en-GB" b="1"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int 123abc;   // variable name cannot start with a digit</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float </a:t>
            </a:r>
            <a:r>
              <a:rPr lang="en-GB" dirty="0" err="1" smtClean="0">
                <a:latin typeface="Times New Roman" panose="02020603050405020304" pitchFamily="18" charset="0"/>
                <a:cs typeface="Times New Roman" panose="02020603050405020304" pitchFamily="18" charset="0"/>
              </a:rPr>
              <a:t>float</a:t>
            </a:r>
            <a:r>
              <a:rPr lang="en-GB" dirty="0" smtClean="0">
                <a:latin typeface="Times New Roman" panose="02020603050405020304" pitchFamily="18" charset="0"/>
                <a:cs typeface="Times New Roman" panose="02020603050405020304" pitchFamily="18" charset="0"/>
              </a:rPr>
              <a:t>;  // float is a reserved word</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char #grade;  // variable name cannot contain special characters</a:t>
            </a:r>
          </a:p>
          <a:p>
            <a:pPr lvl="1">
              <a:buFont typeface="Wingdings" panose="05000000000000000000" pitchFamily="2" charset="2"/>
              <a:buChar char="§"/>
            </a:pPr>
            <a:r>
              <a:rPr lang="en-GB" dirty="0" smtClean="0">
                <a:latin typeface="Times New Roman" panose="02020603050405020304" pitchFamily="18" charset="0"/>
                <a:cs typeface="Times New Roman" panose="02020603050405020304" pitchFamily="18" charset="0"/>
              </a:rPr>
              <a:t>char first name[30];  // variable name cannot contain a space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52872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normAutofit lnSpcReduction="10000"/>
          </a:bodyPr>
          <a:lstStyle/>
          <a:p>
            <a:pPr marL="0" indent="0">
              <a:lnSpc>
                <a:spcPct val="150000"/>
              </a:lnSpc>
              <a:buNone/>
            </a:pPr>
            <a:r>
              <a:rPr lang="en-GB" dirty="0" smtClean="0">
                <a:latin typeface="Times New Roman" panose="02020603050405020304" pitchFamily="18" charset="0"/>
                <a:cs typeface="Times New Roman" panose="02020603050405020304" pitchFamily="18" charset="0"/>
              </a:rPr>
              <a:t>You can also declare a variable without assigning the value, and assign the value later:</a:t>
            </a:r>
          </a:p>
          <a:p>
            <a:pPr marL="0" indent="0">
              <a:lnSpc>
                <a:spcPct val="150000"/>
              </a:lnSpc>
              <a:buNone/>
            </a:pPr>
            <a:r>
              <a:rPr lang="en-GB" dirty="0" smtClean="0">
                <a:latin typeface="Times New Roman" panose="02020603050405020304" pitchFamily="18" charset="0"/>
                <a:cs typeface="Times New Roman" panose="02020603050405020304" pitchFamily="18" charset="0"/>
              </a:rPr>
              <a:t>Example:</a:t>
            </a:r>
          </a:p>
          <a:p>
            <a:pPr lvl="1">
              <a:lnSpc>
                <a:spcPct val="150000"/>
              </a:lnSpc>
            </a:pPr>
            <a:r>
              <a:rPr lang="en-GB" dirty="0" smtClean="0">
                <a:latin typeface="Times New Roman" panose="02020603050405020304" pitchFamily="18" charset="0"/>
                <a:cs typeface="Times New Roman" panose="02020603050405020304" pitchFamily="18" charset="0"/>
              </a:rPr>
              <a:t>// Declare a variable</a:t>
            </a:r>
          </a:p>
          <a:p>
            <a:pPr lvl="1">
              <a:lnSpc>
                <a:spcPct val="150000"/>
              </a:lnSpc>
            </a:pPr>
            <a:r>
              <a:rPr lang="en-GB" dirty="0" smtClean="0">
                <a:latin typeface="Times New Roman" panose="02020603050405020304" pitchFamily="18" charset="0"/>
                <a:cs typeface="Times New Roman" panose="02020603050405020304" pitchFamily="18" charset="0"/>
              </a:rPr>
              <a:t>int </a:t>
            </a:r>
            <a:r>
              <a:rPr lang="en-GB" dirty="0" err="1" smtClean="0">
                <a:latin typeface="Times New Roman" panose="02020603050405020304" pitchFamily="18" charset="0"/>
                <a:cs typeface="Times New Roman" panose="02020603050405020304" pitchFamily="18" charset="0"/>
              </a:rPr>
              <a:t>myNum</a:t>
            </a:r>
            <a:r>
              <a:rPr lang="en-GB" dirty="0" smtClean="0">
                <a:latin typeface="Times New Roman" panose="02020603050405020304" pitchFamily="18" charset="0"/>
                <a:cs typeface="Times New Roman" panose="02020603050405020304" pitchFamily="18" charset="0"/>
              </a:rPr>
              <a:t>;</a:t>
            </a:r>
          </a:p>
          <a:p>
            <a:pPr lvl="1">
              <a:lnSpc>
                <a:spcPct val="150000"/>
              </a:lnSpc>
            </a:pPr>
            <a:r>
              <a:rPr lang="en-GB" dirty="0" smtClean="0">
                <a:latin typeface="Times New Roman" panose="02020603050405020304" pitchFamily="18" charset="0"/>
                <a:cs typeface="Times New Roman" panose="02020603050405020304" pitchFamily="18" charset="0"/>
              </a:rPr>
              <a:t>// Assign a value to the variable</a:t>
            </a:r>
          </a:p>
          <a:p>
            <a:pPr lvl="1">
              <a:lnSpc>
                <a:spcPct val="150000"/>
              </a:lnSpc>
            </a:pPr>
            <a:r>
              <a:rPr lang="en-GB" dirty="0" err="1" smtClean="0">
                <a:latin typeface="Times New Roman" panose="02020603050405020304" pitchFamily="18" charset="0"/>
                <a:cs typeface="Times New Roman" panose="02020603050405020304" pitchFamily="18" charset="0"/>
              </a:rPr>
              <a:t>myNum</a:t>
            </a:r>
            <a:r>
              <a:rPr lang="en-GB" dirty="0" smtClean="0">
                <a:latin typeface="Times New Roman" panose="02020603050405020304" pitchFamily="18" charset="0"/>
                <a:cs typeface="Times New Roman" panose="02020603050405020304" pitchFamily="18" charset="0"/>
              </a:rPr>
              <a:t> = 15;</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74584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20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normAutofit fontScale="92500" lnSpcReduction="20000"/>
          </a:bodyPr>
          <a:lstStyle/>
          <a:p>
            <a:pPr marL="0" indent="0">
              <a:buNone/>
            </a:pPr>
            <a:r>
              <a:rPr lang="en-GB" dirty="0">
                <a:latin typeface="Times New Roman" panose="02020603050405020304" pitchFamily="18" charset="0"/>
                <a:cs typeface="Times New Roman" panose="02020603050405020304" pitchFamily="18" charset="0"/>
              </a:rPr>
              <a:t>#include &lt;stdio.h&gt;</a:t>
            </a:r>
          </a:p>
          <a:p>
            <a:pPr marL="0" indent="0">
              <a:buNone/>
            </a:pPr>
            <a:r>
              <a:rPr lang="en-GB" dirty="0">
                <a:latin typeface="Times New Roman" panose="02020603050405020304" pitchFamily="18" charset="0"/>
                <a:cs typeface="Times New Roman" panose="02020603050405020304" pitchFamily="18" charset="0"/>
              </a:rPr>
              <a:t>int main()</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    // Syntax: datatype </a:t>
            </a:r>
            <a:r>
              <a:rPr lang="en-GB" dirty="0" err="1">
                <a:latin typeface="Times New Roman" panose="02020603050405020304" pitchFamily="18" charset="0"/>
                <a:cs typeface="Times New Roman" panose="02020603050405020304" pitchFamily="18" charset="0"/>
              </a:rPr>
              <a:t>variable_name</a:t>
            </a: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    int age;</a:t>
            </a:r>
          </a:p>
          <a:p>
            <a:pPr marL="0" indent="0">
              <a:buNone/>
            </a:pPr>
            <a:r>
              <a:rPr lang="en-GB" dirty="0">
                <a:latin typeface="Times New Roman" panose="02020603050405020304" pitchFamily="18" charset="0"/>
                <a:cs typeface="Times New Roman" panose="02020603050405020304" pitchFamily="18" charset="0"/>
              </a:rPr>
              <a:t>    double price;</a:t>
            </a:r>
          </a:p>
          <a:p>
            <a:pPr marL="0" indent="0">
              <a:buNone/>
            </a:pPr>
            <a:r>
              <a:rPr lang="en-GB" dirty="0">
                <a:latin typeface="Times New Roman" panose="02020603050405020304" pitchFamily="18" charset="0"/>
                <a:cs typeface="Times New Roman" panose="02020603050405020304" pitchFamily="18" charset="0"/>
              </a:rPr>
              <a:t>    char grade;</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    return 0;</a:t>
            </a:r>
          </a:p>
          <a:p>
            <a:pPr marL="0" indent="0">
              <a:buNone/>
            </a:pPr>
            <a:r>
              <a:rPr lang="en-GB" dirty="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38333495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20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normAutofit/>
          </a:bodyPr>
          <a:lstStyle/>
          <a:p>
            <a:pPr marL="0" indent="0">
              <a:buNone/>
            </a:pPr>
            <a:r>
              <a:rPr lang="en-GB" b="1" dirty="0" smtClean="0">
                <a:latin typeface="Times New Roman" panose="02020603050405020304" pitchFamily="18" charset="0"/>
                <a:cs typeface="Times New Roman" panose="02020603050405020304" pitchFamily="18" charset="0"/>
              </a:rPr>
              <a:t>Initialization of Variable</a:t>
            </a:r>
          </a:p>
          <a:p>
            <a:pPr marL="0" indent="0">
              <a:buNone/>
            </a:pPr>
            <a:endParaRPr lang="en-GB" b="1" dirty="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Initialization of variables In Programming involves</a:t>
            </a:r>
            <a:r>
              <a:rPr lang="en-GB" b="1" dirty="0" smtClean="0">
                <a:latin typeface="Times New Roman" panose="02020603050405020304" pitchFamily="18" charset="0"/>
                <a:cs typeface="Times New Roman" panose="02020603050405020304" pitchFamily="18" charset="0"/>
              </a:rPr>
              <a:t> assigning an initial value</a:t>
            </a:r>
            <a:r>
              <a:rPr lang="en-GB" dirty="0" smtClean="0">
                <a:latin typeface="Times New Roman" panose="02020603050405020304" pitchFamily="18" charset="0"/>
                <a:cs typeface="Times New Roman" panose="02020603050405020304" pitchFamily="18" charset="0"/>
              </a:rPr>
              <a:t> to a declared variable. The syntax for variable initialization varies across programming languages.</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671647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201"/>
          </a:xfrm>
        </p:spPr>
        <p:txBody>
          <a:bodyPr/>
          <a:lstStyle/>
          <a:p>
            <a:r>
              <a:rPr lang="en-US" dirty="0" smtClean="0">
                <a:solidFill>
                  <a:srgbClr val="023182"/>
                </a:solidFill>
                <a:latin typeface="Times New Roman"/>
                <a:cs typeface="Times New Roman"/>
                <a:sym typeface="Times New Roman"/>
              </a:rPr>
              <a:t>Declaring variables </a:t>
            </a:r>
            <a:endParaRPr lang="en-GB" dirty="0"/>
          </a:p>
        </p:txBody>
      </p:sp>
      <p:sp>
        <p:nvSpPr>
          <p:cNvPr id="3" name="Content Placeholder 2"/>
          <p:cNvSpPr>
            <a:spLocks noGrp="1"/>
          </p:cNvSpPr>
          <p:nvPr>
            <p:ph idx="1"/>
          </p:nvPr>
        </p:nvSpPr>
        <p:spPr/>
        <p:txBody>
          <a:bodyPr>
            <a:normAutofit fontScale="85000" lnSpcReduction="20000"/>
          </a:bodyPr>
          <a:lstStyle/>
          <a:p>
            <a:pPr marL="0" indent="0">
              <a:buNone/>
            </a:pPr>
            <a:r>
              <a:rPr lang="en-GB" b="1" dirty="0" smtClean="0">
                <a:latin typeface="Times New Roman" panose="02020603050405020304" pitchFamily="18" charset="0"/>
                <a:cs typeface="Times New Roman" panose="02020603050405020304" pitchFamily="18" charset="0"/>
              </a:rPr>
              <a:t>Initialization of Variable</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en-US" sz="2200" b="1" dirty="0" smtClean="0">
                <a:latin typeface="Times New Roman" panose="02020603050405020304" pitchFamily="18" charset="0"/>
                <a:cs typeface="Times New Roman" panose="02020603050405020304" pitchFamily="18" charset="0"/>
              </a:rPr>
              <a:t>Example</a:t>
            </a:r>
            <a:endParaRPr lang="en-GB" sz="2200" b="1" dirty="0" smtClean="0">
              <a:latin typeface="Times New Roman" panose="02020603050405020304" pitchFamily="18" charset="0"/>
              <a:cs typeface="Times New Roman" panose="02020603050405020304" pitchFamily="18" charset="0"/>
            </a:endParaRPr>
          </a:p>
          <a:p>
            <a:pPr marL="0" indent="0">
              <a:buNone/>
            </a:pPr>
            <a:endParaRPr lang="en-GB" b="1" dirty="0">
              <a:latin typeface="Times New Roman" panose="02020603050405020304" pitchFamily="18" charset="0"/>
              <a:cs typeface="Times New Roman" panose="02020603050405020304" pitchFamily="18" charset="0"/>
            </a:endParaRPr>
          </a:p>
          <a:p>
            <a:pPr marL="457200" lvl="1" indent="0">
              <a:buNone/>
            </a:pPr>
            <a:r>
              <a:rPr lang="en-GB" dirty="0" smtClean="0">
                <a:latin typeface="Times New Roman" panose="02020603050405020304" pitchFamily="18" charset="0"/>
                <a:cs typeface="Times New Roman" panose="02020603050405020304" pitchFamily="18" charset="0"/>
              </a:rPr>
              <a:t>#include &lt;stdio.h&gt;</a:t>
            </a:r>
          </a:p>
          <a:p>
            <a:pPr marL="457200" lvl="1" indent="0">
              <a:buNone/>
            </a:pPr>
            <a:r>
              <a:rPr lang="en-GB" dirty="0" smtClean="0">
                <a:latin typeface="Times New Roman" panose="02020603050405020304" pitchFamily="18" charset="0"/>
                <a:cs typeface="Times New Roman" panose="02020603050405020304" pitchFamily="18" charset="0"/>
              </a:rPr>
              <a:t>int main()</a:t>
            </a:r>
          </a:p>
          <a:p>
            <a:pPr marL="457200" lvl="1" indent="0">
              <a:buNone/>
            </a:pPr>
            <a:r>
              <a:rPr lang="en-GB" dirty="0" smtClean="0">
                <a:latin typeface="Times New Roman" panose="02020603050405020304" pitchFamily="18" charset="0"/>
                <a:cs typeface="Times New Roman" panose="02020603050405020304" pitchFamily="18" charset="0"/>
              </a:rPr>
              <a:t>{</a:t>
            </a:r>
          </a:p>
          <a:p>
            <a:pPr marL="457200" lvl="1" indent="0">
              <a:buNone/>
            </a:pPr>
            <a:r>
              <a:rPr lang="en-GB" dirty="0" smtClean="0">
                <a:latin typeface="Times New Roman" panose="02020603050405020304" pitchFamily="18" charset="0"/>
                <a:cs typeface="Times New Roman" panose="02020603050405020304" pitchFamily="18" charset="0"/>
              </a:rPr>
              <a:t>    // Declaration and Initialization</a:t>
            </a:r>
          </a:p>
          <a:p>
            <a:pPr marL="457200" lvl="1" indent="0">
              <a:buNone/>
            </a:pPr>
            <a:r>
              <a:rPr lang="en-GB" dirty="0" smtClean="0">
                <a:latin typeface="Times New Roman" panose="02020603050405020304" pitchFamily="18" charset="0"/>
                <a:cs typeface="Times New Roman" panose="02020603050405020304" pitchFamily="18" charset="0"/>
              </a:rPr>
              <a:t>    int age = 25;</a:t>
            </a:r>
          </a:p>
          <a:p>
            <a:pPr marL="457200" lvl="1" indent="0">
              <a:buNone/>
            </a:pPr>
            <a:r>
              <a:rPr lang="en-GB" dirty="0" smtClean="0">
                <a:latin typeface="Times New Roman" panose="02020603050405020304" pitchFamily="18" charset="0"/>
                <a:cs typeface="Times New Roman" panose="02020603050405020304" pitchFamily="18" charset="0"/>
              </a:rPr>
              <a:t>    double price = 10.99;</a:t>
            </a:r>
          </a:p>
          <a:p>
            <a:pPr marL="457200" lvl="1" indent="0">
              <a:buNone/>
            </a:pPr>
            <a:r>
              <a:rPr lang="en-GB" dirty="0" smtClean="0">
                <a:latin typeface="Times New Roman" panose="02020603050405020304" pitchFamily="18" charset="0"/>
                <a:cs typeface="Times New Roman" panose="02020603050405020304" pitchFamily="18" charset="0"/>
              </a:rPr>
              <a:t>    char grade = 'A';</a:t>
            </a:r>
          </a:p>
          <a:p>
            <a:pPr marL="457200" lvl="1" indent="0">
              <a:buNone/>
            </a:pPr>
            <a:endParaRPr lang="en-GB" dirty="0" smtClean="0">
              <a:latin typeface="Times New Roman" panose="02020603050405020304" pitchFamily="18" charset="0"/>
              <a:cs typeface="Times New Roman" panose="02020603050405020304" pitchFamily="18" charset="0"/>
            </a:endParaRPr>
          </a:p>
          <a:p>
            <a:pPr marL="457200" lvl="1" indent="0">
              <a:buNone/>
            </a:pPr>
            <a:r>
              <a:rPr lang="en-GB" dirty="0" smtClean="0">
                <a:latin typeface="Times New Roman" panose="02020603050405020304" pitchFamily="18" charset="0"/>
                <a:cs typeface="Times New Roman" panose="02020603050405020304" pitchFamily="18" charset="0"/>
              </a:rPr>
              <a:t>    return 0;</a:t>
            </a:r>
          </a:p>
          <a:p>
            <a:pPr marL="457200" lvl="1"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85111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Data types</a:t>
            </a:r>
            <a:endParaRPr lang="en-GB" dirty="0"/>
          </a:p>
        </p:txBody>
      </p:sp>
      <p:sp>
        <p:nvSpPr>
          <p:cNvPr id="3" name="Content Placeholder 2"/>
          <p:cNvSpPr>
            <a:spLocks noGrp="1"/>
          </p:cNvSpPr>
          <p:nvPr>
            <p:ph idx="1"/>
          </p:nvPr>
        </p:nvSpPr>
        <p:spPr/>
        <p:txBody>
          <a:bodyPr>
            <a:normAutofit fontScale="92500"/>
          </a:bodyPr>
          <a:lstStyle/>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Each variable in C has an associated data type. It specifies the type of data that the variable can store like integer, character, floating, double, etc. </a:t>
            </a:r>
          </a:p>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Each data type requires different amounts of memory and has some specific operations which can be performed over it. </a:t>
            </a:r>
          </a:p>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The data type is a collection of data with values having fixed values, meaning as well as its characteristics.</a:t>
            </a:r>
          </a:p>
          <a:p>
            <a:pPr marL="0" indent="0">
              <a:buNone/>
            </a:pPr>
            <a:endParaRPr lang="en-GB" dirty="0"/>
          </a:p>
        </p:txBody>
      </p:sp>
    </p:spTree>
    <p:extLst>
      <p:ext uri="{BB962C8B-B14F-4D97-AF65-F5344CB8AC3E}">
        <p14:creationId xmlns:p14="http://schemas.microsoft.com/office/powerpoint/2010/main" val="42177869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Data types</a:t>
            </a:r>
            <a:endParaRPr lang="en-GB" dirty="0"/>
          </a:p>
        </p:txBody>
      </p:sp>
      <p:pic>
        <p:nvPicPr>
          <p:cNvPr id="9218" name="Picture 2" descr="https://techskillguru.com/cdata/cprogramming/images/data-types-in-c-languag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737" y="2276973"/>
            <a:ext cx="7602583" cy="3705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2885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6955"/>
          </a:xfrm>
        </p:spPr>
        <p:txBody>
          <a:bodyPr/>
          <a:lstStyle/>
          <a:p>
            <a:r>
              <a:rPr lang="en-US" dirty="0" smtClean="0">
                <a:solidFill>
                  <a:srgbClr val="023182"/>
                </a:solidFill>
                <a:latin typeface="Times New Roman"/>
                <a:cs typeface="Times New Roman"/>
                <a:sym typeface="Times New Roman"/>
              </a:rPr>
              <a:t>Data types</a:t>
            </a:r>
            <a:endParaRPr lang="en-GB" dirty="0"/>
          </a:p>
        </p:txBody>
      </p:sp>
      <p:sp>
        <p:nvSpPr>
          <p:cNvPr id="3" name="Content Placeholder 2"/>
          <p:cNvSpPr>
            <a:spLocks noGrp="1"/>
          </p:cNvSpPr>
          <p:nvPr>
            <p:ph idx="1"/>
          </p:nvPr>
        </p:nvSpPr>
        <p:spPr>
          <a:xfrm>
            <a:off x="838200" y="1869167"/>
            <a:ext cx="10515600" cy="4351338"/>
          </a:xfrm>
        </p:spPr>
        <p:txBody>
          <a:bodyPr>
            <a:normAutofit fontScale="92500"/>
          </a:bodyPr>
          <a:lstStyle/>
          <a:p>
            <a:pPr marL="0" indent="0">
              <a:buNone/>
            </a:pPr>
            <a:r>
              <a:rPr lang="en-GB" dirty="0">
                <a:latin typeface="Times New Roman" panose="02020603050405020304" pitchFamily="18" charset="0"/>
                <a:cs typeface="Times New Roman" panose="02020603050405020304" pitchFamily="18" charset="0"/>
              </a:rPr>
              <a:t>C has several built-in data types, which can be classified into the following categories</a:t>
            </a:r>
            <a:r>
              <a:rPr lang="en-GB" dirty="0" smtClean="0">
                <a:latin typeface="Times New Roman" panose="02020603050405020304" pitchFamily="18" charset="0"/>
                <a:cs typeface="Times New Roman" panose="02020603050405020304" pitchFamily="18" charset="0"/>
              </a:rPr>
              <a:t>:</a:t>
            </a:r>
          </a:p>
          <a:p>
            <a:pPr marL="0" indent="0">
              <a:buNone/>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a:latin typeface="Times New Roman" panose="02020603050405020304" pitchFamily="18" charset="0"/>
                <a:cs typeface="Times New Roman" panose="02020603050405020304" pitchFamily="18" charset="0"/>
              </a:rPr>
              <a:t>Basic types</a:t>
            </a:r>
            <a:r>
              <a:rPr lang="en-GB" dirty="0">
                <a:latin typeface="Times New Roman" panose="02020603050405020304" pitchFamily="18" charset="0"/>
                <a:cs typeface="Times New Roman" panose="02020603050405020304" pitchFamily="18" charset="0"/>
              </a:rPr>
              <a:t>: These include the most fundamental data types in C, such as char, int, float, and double. These data types are used to store characters, integers, and floating-point numbers, respectively</a:t>
            </a:r>
            <a:r>
              <a:rPr lang="en-GB" dirty="0" smtClean="0">
                <a:latin typeface="Times New Roman" panose="02020603050405020304" pitchFamily="18" charset="0"/>
                <a:cs typeface="Times New Roman" panose="02020603050405020304" pitchFamily="18" charset="0"/>
              </a:rPr>
              <a:t>.</a:t>
            </a:r>
          </a:p>
          <a:p>
            <a:pPr marL="0" indent="0">
              <a:buNone/>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a:latin typeface="Times New Roman" panose="02020603050405020304" pitchFamily="18" charset="0"/>
                <a:cs typeface="Times New Roman" panose="02020603050405020304" pitchFamily="18" charset="0"/>
              </a:rPr>
              <a:t>Derived types</a:t>
            </a:r>
            <a:r>
              <a:rPr lang="en-GB" dirty="0">
                <a:latin typeface="Times New Roman" panose="02020603050405020304" pitchFamily="18" charset="0"/>
                <a:cs typeface="Times New Roman" panose="02020603050405020304" pitchFamily="18" charset="0"/>
              </a:rPr>
              <a:t>: These are data types that are derived from basic types, such as arrays, pointers, and structures. Derived data types allow you to define more complex data structures by combining simpler data types.</a:t>
            </a:r>
          </a:p>
          <a:p>
            <a:pPr marL="0" indent="0">
              <a:buNone/>
            </a:pPr>
            <a:endParaRPr lang="en-GB" dirty="0"/>
          </a:p>
        </p:txBody>
      </p:sp>
    </p:spTree>
    <p:extLst>
      <p:ext uri="{BB962C8B-B14F-4D97-AF65-F5344CB8AC3E}">
        <p14:creationId xmlns:p14="http://schemas.microsoft.com/office/powerpoint/2010/main" val="7851422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6955"/>
          </a:xfrm>
        </p:spPr>
        <p:txBody>
          <a:bodyPr/>
          <a:lstStyle/>
          <a:p>
            <a:r>
              <a:rPr lang="en-US" dirty="0" smtClean="0">
                <a:solidFill>
                  <a:srgbClr val="023182"/>
                </a:solidFill>
                <a:latin typeface="Times New Roman"/>
                <a:cs typeface="Times New Roman"/>
                <a:sym typeface="Times New Roman"/>
              </a:rPr>
              <a:t>Data types</a:t>
            </a:r>
            <a:endParaRPr lang="en-GB" dirty="0"/>
          </a:p>
        </p:txBody>
      </p:sp>
      <p:sp>
        <p:nvSpPr>
          <p:cNvPr id="3" name="Content Placeholder 2"/>
          <p:cNvSpPr>
            <a:spLocks noGrp="1"/>
          </p:cNvSpPr>
          <p:nvPr>
            <p:ph idx="1"/>
          </p:nvPr>
        </p:nvSpPr>
        <p:spPr>
          <a:xfrm>
            <a:off x="838200" y="1869167"/>
            <a:ext cx="10515600" cy="4351338"/>
          </a:xfrm>
        </p:spPr>
        <p:txBody>
          <a:bodyPr>
            <a:normAutofit/>
          </a:bodyPr>
          <a:lstStyle/>
          <a:p>
            <a:pPr>
              <a:buFont typeface="Wingdings" panose="05000000000000000000" pitchFamily="2" charset="2"/>
              <a:buChar char="v"/>
            </a:pPr>
            <a:r>
              <a:rPr lang="en-GB" b="1" dirty="0">
                <a:latin typeface="Times New Roman" panose="02020603050405020304" pitchFamily="18" charset="0"/>
                <a:cs typeface="Times New Roman" panose="02020603050405020304" pitchFamily="18" charset="0"/>
              </a:rPr>
              <a:t>Enumerated types</a:t>
            </a:r>
            <a:r>
              <a:rPr lang="en-GB" dirty="0">
                <a:latin typeface="Times New Roman" panose="02020603050405020304" pitchFamily="18" charset="0"/>
                <a:cs typeface="Times New Roman" panose="02020603050405020304" pitchFamily="18" charset="0"/>
              </a:rPr>
              <a:t>: These are data types that consist of a set of named integer constants, known as an enumeration. Enumerated types are used to define a new data type that consists of a set of named integer constants</a:t>
            </a:r>
            <a:r>
              <a:rPr lang="en-GB" dirty="0" smtClean="0">
                <a:latin typeface="Times New Roman" panose="02020603050405020304" pitchFamily="18" charset="0"/>
                <a:cs typeface="Times New Roman" panose="02020603050405020304" pitchFamily="18" charset="0"/>
              </a:rPr>
              <a:t>.</a:t>
            </a:r>
          </a:p>
          <a:p>
            <a:pPr marL="0" indent="0">
              <a:buNone/>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a:latin typeface="Times New Roman" panose="02020603050405020304" pitchFamily="18" charset="0"/>
                <a:cs typeface="Times New Roman" panose="02020603050405020304" pitchFamily="18" charset="0"/>
              </a:rPr>
              <a:t>Void type</a:t>
            </a:r>
            <a:r>
              <a:rPr lang="en-GB" dirty="0">
                <a:latin typeface="Times New Roman" panose="02020603050405020304" pitchFamily="18" charset="0"/>
                <a:cs typeface="Times New Roman" panose="02020603050405020304" pitchFamily="18" charset="0"/>
              </a:rPr>
              <a:t>: This is a special data type that has no value and is used to specify the type of a function that does not return a value.</a:t>
            </a:r>
          </a:p>
          <a:p>
            <a:pPr marL="0" indent="0">
              <a:buNone/>
            </a:pPr>
            <a:endParaRPr lang="en-GB" dirty="0"/>
          </a:p>
        </p:txBody>
      </p:sp>
    </p:spTree>
    <p:extLst>
      <p:ext uri="{BB962C8B-B14F-4D97-AF65-F5344CB8AC3E}">
        <p14:creationId xmlns:p14="http://schemas.microsoft.com/office/powerpoint/2010/main" val="12201047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6955"/>
          </a:xfrm>
        </p:spPr>
        <p:txBody>
          <a:bodyPr/>
          <a:lstStyle/>
          <a:p>
            <a:r>
              <a:rPr lang="en-US" dirty="0" smtClean="0">
                <a:solidFill>
                  <a:srgbClr val="023182"/>
                </a:solidFill>
                <a:latin typeface="Times New Roman"/>
                <a:cs typeface="Times New Roman"/>
                <a:sym typeface="Times New Roman"/>
              </a:rPr>
              <a:t>Data types</a:t>
            </a:r>
            <a:endParaRPr lang="en-GB" dirty="0"/>
          </a:p>
        </p:txBody>
      </p:sp>
      <p:sp>
        <p:nvSpPr>
          <p:cNvPr id="3" name="Content Placeholder 2"/>
          <p:cNvSpPr>
            <a:spLocks noGrp="1"/>
          </p:cNvSpPr>
          <p:nvPr>
            <p:ph idx="1"/>
          </p:nvPr>
        </p:nvSpPr>
        <p:spPr>
          <a:xfrm>
            <a:off x="838200" y="1869167"/>
            <a:ext cx="10515600" cy="4351338"/>
          </a:xfrm>
        </p:spPr>
        <p:txBody>
          <a:bodyPr>
            <a:normAutofit fontScale="92500" lnSpcReduction="20000"/>
          </a:bodyPr>
          <a:lstStyle/>
          <a:p>
            <a:pPr marL="0" indent="0">
              <a:buNone/>
            </a:pPr>
            <a:r>
              <a:rPr lang="en-GB" sz="3000" b="1" dirty="0" smtClean="0">
                <a:latin typeface="Times New Roman" panose="02020603050405020304" pitchFamily="18" charset="0"/>
                <a:cs typeface="Times New Roman" panose="02020603050405020304" pitchFamily="18" charset="0"/>
              </a:rPr>
              <a:t>Integer Types</a:t>
            </a:r>
          </a:p>
          <a:p>
            <a:pPr marL="0" indent="0">
              <a:buNone/>
            </a:pPr>
            <a:endParaRPr lang="en-GB" sz="3000" b="1" dirty="0" smtClean="0">
              <a:latin typeface="Times New Roman" panose="02020603050405020304" pitchFamily="18" charset="0"/>
              <a:cs typeface="Times New Roman" panose="02020603050405020304" pitchFamily="18" charset="0"/>
            </a:endParaRPr>
          </a:p>
          <a:p>
            <a:pPr marL="0" indent="0">
              <a:buNone/>
            </a:pPr>
            <a:r>
              <a:rPr lang="en-GB" sz="2600" dirty="0" smtClean="0">
                <a:latin typeface="Times New Roman" panose="02020603050405020304" pitchFamily="18" charset="0"/>
                <a:cs typeface="Times New Roman" panose="02020603050405020304" pitchFamily="18" charset="0"/>
              </a:rPr>
              <a:t>An integer is a data type in the C programming language that represents a whole number (without a fractional part) that can be either positive or negative. Integers can be classified into two categories:</a:t>
            </a:r>
          </a:p>
          <a:p>
            <a:pPr marL="0" indent="0">
              <a:buNone/>
            </a:pPr>
            <a:endParaRPr lang="en-GB"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Signed integers: These can represent both positive and negative numbers, and they include the types short, int, and long. The size of the integer (i.e., the number of bits used to represent it) determines its range of values.</a:t>
            </a:r>
          </a:p>
          <a:p>
            <a:pPr lvl="1">
              <a:buFont typeface="Wingdings" panose="05000000000000000000" pitchFamily="2" charset="2"/>
              <a:buChar char="v"/>
            </a:pPr>
            <a:endParaRPr lang="en-GB"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Unsigned integers: These can only represent positive numbers, and they include the types unsigned short, unsigned int, and unsigned long. Like signed integers, the size of the integer determines its range of values.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48893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lstStyle/>
          <a:p>
            <a:r>
              <a:rPr lang="en-US" dirty="0" smtClean="0">
                <a:solidFill>
                  <a:srgbClr val="023182"/>
                </a:solidFill>
                <a:latin typeface="Times New Roman"/>
                <a:cs typeface="Times New Roman"/>
                <a:sym typeface="Times New Roman"/>
              </a:rPr>
              <a:t>Data types</a:t>
            </a:r>
            <a:endParaRPr lang="en-GB" dirty="0"/>
          </a:p>
        </p:txBody>
      </p:sp>
      <p:sp>
        <p:nvSpPr>
          <p:cNvPr id="3" name="Content Placeholder 2"/>
          <p:cNvSpPr>
            <a:spLocks noGrp="1"/>
          </p:cNvSpPr>
          <p:nvPr>
            <p:ph idx="1"/>
          </p:nvPr>
        </p:nvSpPr>
        <p:spPr>
          <a:xfrm>
            <a:off x="838200" y="1869166"/>
            <a:ext cx="10515600" cy="4775473"/>
          </a:xfrm>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The following table provides the details of standard integer types with their storage sizes and value </a:t>
            </a:r>
            <a:r>
              <a:rPr lang="en-GB" sz="2400" dirty="0" smtClean="0">
                <a:latin typeface="Times New Roman" panose="02020603050405020304" pitchFamily="18" charset="0"/>
                <a:cs typeface="Times New Roman" panose="02020603050405020304" pitchFamily="18" charset="0"/>
              </a:rPr>
              <a:t>ranges:</a:t>
            </a:r>
          </a:p>
          <a:p>
            <a:pPr marL="0" indent="0">
              <a:buNone/>
            </a:pPr>
            <a:endParaRPr lang="en-GB"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96204218"/>
              </p:ext>
            </p:extLst>
          </p:nvPr>
        </p:nvGraphicFramePr>
        <p:xfrm>
          <a:off x="1010195" y="2959052"/>
          <a:ext cx="8778240" cy="3261453"/>
        </p:xfrm>
        <a:graphic>
          <a:graphicData uri="http://schemas.openxmlformats.org/drawingml/2006/table">
            <a:tbl>
              <a:tblPr/>
              <a:tblGrid>
                <a:gridCol w="2926080"/>
                <a:gridCol w="2926080"/>
                <a:gridCol w="2926080"/>
              </a:tblGrid>
              <a:tr h="193022">
                <a:tc>
                  <a:txBody>
                    <a:bodyPr/>
                    <a:lstStyle/>
                    <a:p>
                      <a:pPr algn="ctr"/>
                      <a:r>
                        <a:rPr lang="en-GB" sz="1200" b="1">
                          <a:effectLst/>
                        </a:rPr>
                        <a:t>Type</a:t>
                      </a:r>
                      <a:endParaRPr lang="en-GB" sz="1200">
                        <a:effectLst/>
                      </a:endParaRPr>
                    </a:p>
                  </a:txBody>
                  <a:tcPr marL="62162" marR="62162" marT="31081" marB="31081" anchor="ctr">
                    <a:lnL w="7620" cap="flat" cmpd="sng" algn="ctr">
                      <a:solidFill>
                        <a:srgbClr val="B8F20E"/>
                      </a:solidFill>
                      <a:prstDash val="solid"/>
                      <a:round/>
                      <a:headEnd type="none" w="med" len="med"/>
                      <a:tailEnd type="none" w="med" len="med"/>
                    </a:lnL>
                    <a:lnR w="7620" cap="flat" cmpd="sng" algn="ctr">
                      <a:solidFill>
                        <a:srgbClr val="38F70E"/>
                      </a:solidFill>
                      <a:prstDash val="solid"/>
                      <a:round/>
                      <a:headEnd type="none" w="med" len="med"/>
                      <a:tailEnd type="none" w="med" len="med"/>
                    </a:lnR>
                    <a:lnT w="7620" cap="flat" cmpd="sng" algn="ctr">
                      <a:solidFill>
                        <a:srgbClr val="B8F20E"/>
                      </a:solidFill>
                      <a:prstDash val="solid"/>
                      <a:round/>
                      <a:headEnd type="none" w="med" len="med"/>
                      <a:tailEnd type="none" w="med" len="med"/>
                    </a:lnT>
                    <a:lnB w="7620" cap="flat" cmpd="sng" algn="ctr">
                      <a:solidFill>
                        <a:srgbClr val="60F60E"/>
                      </a:solidFill>
                      <a:prstDash val="solid"/>
                      <a:round/>
                      <a:headEnd type="none" w="med" len="med"/>
                      <a:tailEnd type="none" w="med" len="med"/>
                    </a:lnB>
                    <a:solidFill>
                      <a:srgbClr val="FFFFFF"/>
                    </a:solidFill>
                  </a:tcPr>
                </a:tc>
                <a:tc>
                  <a:txBody>
                    <a:bodyPr/>
                    <a:lstStyle/>
                    <a:p>
                      <a:pPr algn="ctr"/>
                      <a:r>
                        <a:rPr lang="en-GB" sz="1200" b="1">
                          <a:effectLst/>
                        </a:rPr>
                        <a:t>Memory Size</a:t>
                      </a:r>
                      <a:endParaRPr lang="en-GB" sz="1200">
                        <a:effectLst/>
                      </a:endParaRPr>
                    </a:p>
                  </a:txBody>
                  <a:tcPr marL="62162" marR="62162" marT="31081" marB="31081" anchor="ctr">
                    <a:lnL w="7620" cap="flat" cmpd="sng" algn="ctr">
                      <a:solidFill>
                        <a:srgbClr val="38F70E"/>
                      </a:solidFill>
                      <a:prstDash val="solid"/>
                      <a:round/>
                      <a:headEnd type="none" w="med" len="med"/>
                      <a:tailEnd type="none" w="med" len="med"/>
                    </a:lnL>
                    <a:lnR w="7620" cap="flat" cmpd="sng" algn="ctr">
                      <a:solidFill>
                        <a:srgbClr val="70F50E"/>
                      </a:solidFill>
                      <a:prstDash val="solid"/>
                      <a:round/>
                      <a:headEnd type="none" w="med" len="med"/>
                      <a:tailEnd type="none" w="med" len="med"/>
                    </a:lnR>
                    <a:lnT w="7620" cap="flat" cmpd="sng" algn="ctr">
                      <a:solidFill>
                        <a:srgbClr val="38F70E"/>
                      </a:solidFill>
                      <a:prstDash val="solid"/>
                      <a:round/>
                      <a:headEnd type="none" w="med" len="med"/>
                      <a:tailEnd type="none" w="med" len="med"/>
                    </a:lnT>
                    <a:lnB w="7620" cap="flat" cmpd="sng" algn="ctr">
                      <a:solidFill>
                        <a:srgbClr val="18F60E"/>
                      </a:solidFill>
                      <a:prstDash val="solid"/>
                      <a:round/>
                      <a:headEnd type="none" w="med" len="med"/>
                      <a:tailEnd type="none" w="med" len="med"/>
                    </a:lnB>
                    <a:solidFill>
                      <a:srgbClr val="FFFFFF"/>
                    </a:solidFill>
                  </a:tcPr>
                </a:tc>
                <a:tc>
                  <a:txBody>
                    <a:bodyPr/>
                    <a:lstStyle/>
                    <a:p>
                      <a:pPr algn="ctr"/>
                      <a:r>
                        <a:rPr lang="en-GB" sz="1200" b="1">
                          <a:effectLst/>
                        </a:rPr>
                        <a:t>Range</a:t>
                      </a:r>
                      <a:endParaRPr lang="en-GB" sz="1200">
                        <a:effectLst/>
                      </a:endParaRPr>
                    </a:p>
                  </a:txBody>
                  <a:tcPr marL="62162" marR="62162" marT="31081" marB="31081" anchor="ctr">
                    <a:lnL w="7620" cap="flat" cmpd="sng" algn="ctr">
                      <a:solidFill>
                        <a:srgbClr val="70F50E"/>
                      </a:solidFill>
                      <a:prstDash val="solid"/>
                      <a:round/>
                      <a:headEnd type="none" w="med" len="med"/>
                      <a:tailEnd type="none" w="med" len="med"/>
                    </a:lnL>
                    <a:lnR w="7620" cap="flat" cmpd="sng" algn="ctr">
                      <a:solidFill>
                        <a:srgbClr val="70F50E"/>
                      </a:solidFill>
                      <a:prstDash val="solid"/>
                      <a:round/>
                      <a:headEnd type="none" w="med" len="med"/>
                      <a:tailEnd type="none" w="med" len="med"/>
                    </a:lnR>
                    <a:lnT w="7620" cap="flat" cmpd="sng" algn="ctr">
                      <a:solidFill>
                        <a:srgbClr val="70F50E"/>
                      </a:solidFill>
                      <a:prstDash val="solid"/>
                      <a:round/>
                      <a:headEnd type="none" w="med" len="med"/>
                      <a:tailEnd type="none" w="med" len="med"/>
                    </a:lnT>
                    <a:lnB w="7620" cap="flat" cmpd="sng" algn="ctr">
                      <a:solidFill>
                        <a:srgbClr val="30F60E"/>
                      </a:solidFill>
                      <a:prstDash val="solid"/>
                      <a:round/>
                      <a:headEnd type="none" w="med" len="med"/>
                      <a:tailEnd type="none" w="med" len="med"/>
                    </a:lnB>
                    <a:solidFill>
                      <a:srgbClr val="FFFFFF"/>
                    </a:solidFill>
                  </a:tcPr>
                </a:tc>
              </a:tr>
              <a:tr h="281456">
                <a:tc>
                  <a:txBody>
                    <a:bodyPr/>
                    <a:lstStyle/>
                    <a:p>
                      <a:pPr algn="ctr"/>
                      <a:r>
                        <a:rPr lang="en-GB" sz="1200">
                          <a:effectLst/>
                        </a:rPr>
                        <a:t>char</a:t>
                      </a:r>
                    </a:p>
                  </a:txBody>
                  <a:tcPr marL="62162" marR="62162" marT="31081" marB="31081" anchor="ctr">
                    <a:lnL w="7620" cap="flat" cmpd="sng" algn="ctr">
                      <a:solidFill>
                        <a:srgbClr val="60F60E"/>
                      </a:solidFill>
                      <a:prstDash val="solid"/>
                      <a:round/>
                      <a:headEnd type="none" w="med" len="med"/>
                      <a:tailEnd type="none" w="med" len="med"/>
                    </a:lnL>
                    <a:lnR w="7620" cap="flat" cmpd="sng" algn="ctr">
                      <a:solidFill>
                        <a:srgbClr val="18F60E"/>
                      </a:solidFill>
                      <a:prstDash val="solid"/>
                      <a:round/>
                      <a:headEnd type="none" w="med" len="med"/>
                      <a:tailEnd type="none" w="med" len="med"/>
                    </a:lnR>
                    <a:lnT w="7620" cap="flat" cmpd="sng" algn="ctr">
                      <a:solidFill>
                        <a:srgbClr val="60F60E"/>
                      </a:solidFill>
                      <a:prstDash val="solid"/>
                      <a:round/>
                      <a:headEnd type="none" w="med" len="med"/>
                      <a:tailEnd type="none" w="med" len="med"/>
                    </a:lnT>
                    <a:lnB w="7620" cap="flat" cmpd="sng" algn="ctr">
                      <a:solidFill>
                        <a:srgbClr val="30F60E"/>
                      </a:solidFill>
                      <a:prstDash val="solid"/>
                      <a:round/>
                      <a:headEnd type="none" w="med" len="med"/>
                      <a:tailEnd type="none" w="med" len="med"/>
                    </a:lnB>
                    <a:solidFill>
                      <a:srgbClr val="FFFFFF"/>
                    </a:solidFill>
                  </a:tcPr>
                </a:tc>
                <a:tc>
                  <a:txBody>
                    <a:bodyPr/>
                    <a:lstStyle/>
                    <a:p>
                      <a:pPr algn="ctr"/>
                      <a:r>
                        <a:rPr lang="en-GB" sz="1200">
                          <a:effectLst/>
                        </a:rPr>
                        <a:t>1 byte</a:t>
                      </a:r>
                    </a:p>
                  </a:txBody>
                  <a:tcPr marL="62162" marR="62162" marT="31081" marB="31081" anchor="ctr">
                    <a:lnL w="7620" cap="flat" cmpd="sng" algn="ctr">
                      <a:solidFill>
                        <a:srgbClr val="18F60E"/>
                      </a:solidFill>
                      <a:prstDash val="solid"/>
                      <a:round/>
                      <a:headEnd type="none" w="med" len="med"/>
                      <a:tailEnd type="none" w="med" len="med"/>
                    </a:lnL>
                    <a:lnR w="7620" cap="flat" cmpd="sng" algn="ctr">
                      <a:solidFill>
                        <a:srgbClr val="30F60E"/>
                      </a:solidFill>
                      <a:prstDash val="solid"/>
                      <a:round/>
                      <a:headEnd type="none" w="med" len="med"/>
                      <a:tailEnd type="none" w="med" len="med"/>
                    </a:lnR>
                    <a:lnT w="7620" cap="flat" cmpd="sng" algn="ctr">
                      <a:solidFill>
                        <a:srgbClr val="18F60E"/>
                      </a:solidFill>
                      <a:prstDash val="solid"/>
                      <a:round/>
                      <a:headEnd type="none" w="med" len="med"/>
                      <a:tailEnd type="none" w="med" len="med"/>
                    </a:lnT>
                    <a:lnB w="7620" cap="flat" cmpd="sng" algn="ctr">
                      <a:solidFill>
                        <a:srgbClr val="38F70E"/>
                      </a:solidFill>
                      <a:prstDash val="solid"/>
                      <a:round/>
                      <a:headEnd type="none" w="med" len="med"/>
                      <a:tailEnd type="none" w="med" len="med"/>
                    </a:lnB>
                    <a:solidFill>
                      <a:srgbClr val="FFFFFF"/>
                    </a:solidFill>
                  </a:tcPr>
                </a:tc>
                <a:tc>
                  <a:txBody>
                    <a:bodyPr/>
                    <a:lstStyle/>
                    <a:p>
                      <a:pPr algn="ctr"/>
                      <a:r>
                        <a:rPr lang="en-GB" sz="1200">
                          <a:effectLst/>
                        </a:rPr>
                        <a:t>-128 to 127 or 0 to 255</a:t>
                      </a:r>
                    </a:p>
                  </a:txBody>
                  <a:tcPr marL="62162" marR="62162" marT="31081" marB="31081" anchor="ctr">
                    <a:lnL w="7620" cap="flat" cmpd="sng" algn="ctr">
                      <a:solidFill>
                        <a:srgbClr val="30F60E"/>
                      </a:solidFill>
                      <a:prstDash val="solid"/>
                      <a:round/>
                      <a:headEnd type="none" w="med" len="med"/>
                      <a:tailEnd type="none" w="med" len="med"/>
                    </a:lnL>
                    <a:lnR w="7620" cap="flat" cmpd="sng" algn="ctr">
                      <a:solidFill>
                        <a:srgbClr val="30F60E"/>
                      </a:solidFill>
                      <a:prstDash val="solid"/>
                      <a:round/>
                      <a:headEnd type="none" w="med" len="med"/>
                      <a:tailEnd type="none" w="med" len="med"/>
                    </a:lnR>
                    <a:lnT w="7620" cap="flat" cmpd="sng" algn="ctr">
                      <a:solidFill>
                        <a:srgbClr val="30F60E"/>
                      </a:solidFill>
                      <a:prstDash val="solid"/>
                      <a:round/>
                      <a:headEnd type="none" w="med" len="med"/>
                      <a:tailEnd type="none" w="med" len="med"/>
                    </a:lnT>
                    <a:lnB w="7620" cap="flat" cmpd="sng" algn="ctr">
                      <a:solidFill>
                        <a:srgbClr val="B0F40E"/>
                      </a:solidFill>
                      <a:prstDash val="solid"/>
                      <a:round/>
                      <a:headEnd type="none" w="med" len="med"/>
                      <a:tailEnd type="none" w="med" len="med"/>
                    </a:lnB>
                    <a:solidFill>
                      <a:srgbClr val="FFFFFF"/>
                    </a:solidFill>
                  </a:tcPr>
                </a:tc>
              </a:tr>
              <a:tr h="193022">
                <a:tc>
                  <a:txBody>
                    <a:bodyPr/>
                    <a:lstStyle/>
                    <a:p>
                      <a:pPr algn="ctr"/>
                      <a:r>
                        <a:rPr lang="en-GB" sz="1200">
                          <a:effectLst/>
                        </a:rPr>
                        <a:t>unsigned char</a:t>
                      </a:r>
                    </a:p>
                  </a:txBody>
                  <a:tcPr marL="62162" marR="62162" marT="31081" marB="31081" anchor="ctr">
                    <a:lnL w="7620" cap="flat" cmpd="sng" algn="ctr">
                      <a:solidFill>
                        <a:srgbClr val="30F60E"/>
                      </a:solidFill>
                      <a:prstDash val="solid"/>
                      <a:round/>
                      <a:headEnd type="none" w="med" len="med"/>
                      <a:tailEnd type="none" w="med" len="med"/>
                    </a:lnL>
                    <a:lnR w="7620" cap="flat" cmpd="sng" algn="ctr">
                      <a:solidFill>
                        <a:srgbClr val="38F70E"/>
                      </a:solidFill>
                      <a:prstDash val="solid"/>
                      <a:round/>
                      <a:headEnd type="none" w="med" len="med"/>
                      <a:tailEnd type="none" w="med" len="med"/>
                    </a:lnR>
                    <a:lnT w="7620" cap="flat" cmpd="sng" algn="ctr">
                      <a:solidFill>
                        <a:srgbClr val="30F60E"/>
                      </a:solidFill>
                      <a:prstDash val="solid"/>
                      <a:round/>
                      <a:headEnd type="none" w="med" len="med"/>
                      <a:tailEnd type="none" w="med" len="med"/>
                    </a:lnT>
                    <a:lnB w="7620" cap="flat" cmpd="sng" algn="ctr">
                      <a:solidFill>
                        <a:srgbClr val="08F70E"/>
                      </a:solidFill>
                      <a:prstDash val="solid"/>
                      <a:round/>
                      <a:headEnd type="none" w="med" len="med"/>
                      <a:tailEnd type="none" w="med" len="med"/>
                    </a:lnB>
                    <a:solidFill>
                      <a:srgbClr val="FFFFFF"/>
                    </a:solidFill>
                  </a:tcPr>
                </a:tc>
                <a:tc>
                  <a:txBody>
                    <a:bodyPr/>
                    <a:lstStyle/>
                    <a:p>
                      <a:pPr algn="ctr"/>
                      <a:r>
                        <a:rPr lang="en-GB" sz="1200">
                          <a:effectLst/>
                        </a:rPr>
                        <a:t>1 byte</a:t>
                      </a:r>
                    </a:p>
                  </a:txBody>
                  <a:tcPr marL="62162" marR="62162" marT="31081" marB="31081" anchor="ctr">
                    <a:lnL w="7620" cap="flat" cmpd="sng" algn="ctr">
                      <a:solidFill>
                        <a:srgbClr val="38F70E"/>
                      </a:solidFill>
                      <a:prstDash val="solid"/>
                      <a:round/>
                      <a:headEnd type="none" w="med" len="med"/>
                      <a:tailEnd type="none" w="med" len="med"/>
                    </a:lnL>
                    <a:lnR w="7620" cap="flat" cmpd="sng" algn="ctr">
                      <a:solidFill>
                        <a:srgbClr val="B0F40E"/>
                      </a:solidFill>
                      <a:prstDash val="solid"/>
                      <a:round/>
                      <a:headEnd type="none" w="med" len="med"/>
                      <a:tailEnd type="none" w="med" len="med"/>
                    </a:lnR>
                    <a:lnT w="7620" cap="flat" cmpd="sng" algn="ctr">
                      <a:solidFill>
                        <a:srgbClr val="38F70E"/>
                      </a:solidFill>
                      <a:prstDash val="solid"/>
                      <a:round/>
                      <a:headEnd type="none" w="med" len="med"/>
                      <a:tailEnd type="none" w="med" len="med"/>
                    </a:lnT>
                    <a:lnB w="7620" cap="flat" cmpd="sng" algn="ctr">
                      <a:solidFill>
                        <a:srgbClr val="18F60E"/>
                      </a:solidFill>
                      <a:prstDash val="solid"/>
                      <a:round/>
                      <a:headEnd type="none" w="med" len="med"/>
                      <a:tailEnd type="none" w="med" len="med"/>
                    </a:lnB>
                    <a:solidFill>
                      <a:srgbClr val="FFFFFF"/>
                    </a:solidFill>
                  </a:tcPr>
                </a:tc>
                <a:tc>
                  <a:txBody>
                    <a:bodyPr/>
                    <a:lstStyle/>
                    <a:p>
                      <a:pPr algn="ctr"/>
                      <a:r>
                        <a:rPr lang="en-GB" sz="1200">
                          <a:effectLst/>
                        </a:rPr>
                        <a:t>0 to 255</a:t>
                      </a:r>
                    </a:p>
                  </a:txBody>
                  <a:tcPr marL="62162" marR="62162" marT="31081" marB="31081" anchor="ctr">
                    <a:lnL w="7620" cap="flat" cmpd="sng" algn="ctr">
                      <a:solidFill>
                        <a:srgbClr val="B0F40E"/>
                      </a:solidFill>
                      <a:prstDash val="solid"/>
                      <a:round/>
                      <a:headEnd type="none" w="med" len="med"/>
                      <a:tailEnd type="none" w="med" len="med"/>
                    </a:lnL>
                    <a:lnR w="7620" cap="flat" cmpd="sng" algn="ctr">
                      <a:solidFill>
                        <a:srgbClr val="B0F40E"/>
                      </a:solidFill>
                      <a:prstDash val="solid"/>
                      <a:round/>
                      <a:headEnd type="none" w="med" len="med"/>
                      <a:tailEnd type="none" w="med" len="med"/>
                    </a:lnR>
                    <a:lnT w="7620" cap="flat" cmpd="sng" algn="ctr">
                      <a:solidFill>
                        <a:srgbClr val="B0F40E"/>
                      </a:solidFill>
                      <a:prstDash val="solid"/>
                      <a:round/>
                      <a:headEnd type="none" w="med" len="med"/>
                      <a:tailEnd type="none" w="med" len="med"/>
                    </a:lnT>
                    <a:lnB w="7620" cap="flat" cmpd="sng" algn="ctr">
                      <a:solidFill>
                        <a:srgbClr val="18F60E"/>
                      </a:solidFill>
                      <a:prstDash val="solid"/>
                      <a:round/>
                      <a:headEnd type="none" w="med" len="med"/>
                      <a:tailEnd type="none" w="med" len="med"/>
                    </a:lnB>
                    <a:solidFill>
                      <a:srgbClr val="FFFFFF"/>
                    </a:solidFill>
                  </a:tcPr>
                </a:tc>
              </a:tr>
              <a:tr h="193022">
                <a:tc>
                  <a:txBody>
                    <a:bodyPr/>
                    <a:lstStyle/>
                    <a:p>
                      <a:pPr algn="ctr"/>
                      <a:r>
                        <a:rPr lang="en-GB" sz="1200">
                          <a:effectLst/>
                        </a:rPr>
                        <a:t>signed char</a:t>
                      </a:r>
                    </a:p>
                  </a:txBody>
                  <a:tcPr marL="62162" marR="62162" marT="31081" marB="31081" anchor="ctr">
                    <a:lnL w="7620" cap="flat" cmpd="sng" algn="ctr">
                      <a:solidFill>
                        <a:srgbClr val="08F70E"/>
                      </a:solidFill>
                      <a:prstDash val="solid"/>
                      <a:round/>
                      <a:headEnd type="none" w="med" len="med"/>
                      <a:tailEnd type="none" w="med" len="med"/>
                    </a:lnL>
                    <a:lnR w="7620" cap="flat" cmpd="sng" algn="ctr">
                      <a:solidFill>
                        <a:srgbClr val="18F60E"/>
                      </a:solidFill>
                      <a:prstDash val="solid"/>
                      <a:round/>
                      <a:headEnd type="none" w="med" len="med"/>
                      <a:tailEnd type="none" w="med" len="med"/>
                    </a:lnR>
                    <a:lnT w="7620" cap="flat" cmpd="sng" algn="ctr">
                      <a:solidFill>
                        <a:srgbClr val="08F70E"/>
                      </a:solidFill>
                      <a:prstDash val="solid"/>
                      <a:round/>
                      <a:headEnd type="none" w="med" len="med"/>
                      <a:tailEnd type="none" w="med" len="med"/>
                    </a:lnT>
                    <a:lnB w="7620" cap="flat" cmpd="sng" algn="ctr">
                      <a:solidFill>
                        <a:srgbClr val="50F40E"/>
                      </a:solidFill>
                      <a:prstDash val="solid"/>
                      <a:round/>
                      <a:headEnd type="none" w="med" len="med"/>
                      <a:tailEnd type="none" w="med" len="med"/>
                    </a:lnB>
                    <a:solidFill>
                      <a:srgbClr val="FFFFFF"/>
                    </a:solidFill>
                  </a:tcPr>
                </a:tc>
                <a:tc>
                  <a:txBody>
                    <a:bodyPr/>
                    <a:lstStyle/>
                    <a:p>
                      <a:pPr algn="ctr"/>
                      <a:r>
                        <a:rPr lang="en-GB" sz="1200">
                          <a:effectLst/>
                        </a:rPr>
                        <a:t>1 byte</a:t>
                      </a:r>
                    </a:p>
                  </a:txBody>
                  <a:tcPr marL="62162" marR="62162" marT="31081" marB="31081" anchor="ctr">
                    <a:lnL w="7620" cap="flat" cmpd="sng" algn="ctr">
                      <a:solidFill>
                        <a:srgbClr val="18F60E"/>
                      </a:solidFill>
                      <a:prstDash val="solid"/>
                      <a:round/>
                      <a:headEnd type="none" w="med" len="med"/>
                      <a:tailEnd type="none" w="med" len="med"/>
                    </a:lnL>
                    <a:lnR w="7620" cap="flat" cmpd="sng" algn="ctr">
                      <a:solidFill>
                        <a:srgbClr val="18F60E"/>
                      </a:solidFill>
                      <a:prstDash val="solid"/>
                      <a:round/>
                      <a:headEnd type="none" w="med" len="med"/>
                      <a:tailEnd type="none" w="med" len="med"/>
                    </a:lnR>
                    <a:lnT w="7620" cap="flat" cmpd="sng" algn="ctr">
                      <a:solidFill>
                        <a:srgbClr val="18F60E"/>
                      </a:solidFill>
                      <a:prstDash val="solid"/>
                      <a:round/>
                      <a:headEnd type="none" w="med" len="med"/>
                      <a:tailEnd type="none" w="med" len="med"/>
                    </a:lnT>
                    <a:lnB w="7620" cap="flat" cmpd="sng" algn="ctr">
                      <a:solidFill>
                        <a:srgbClr val="20F70E"/>
                      </a:solidFill>
                      <a:prstDash val="solid"/>
                      <a:round/>
                      <a:headEnd type="none" w="med" len="med"/>
                      <a:tailEnd type="none" w="med" len="med"/>
                    </a:lnB>
                    <a:solidFill>
                      <a:srgbClr val="FFFFFF"/>
                    </a:solidFill>
                  </a:tcPr>
                </a:tc>
                <a:tc>
                  <a:txBody>
                    <a:bodyPr/>
                    <a:lstStyle/>
                    <a:p>
                      <a:pPr algn="ctr"/>
                      <a:r>
                        <a:rPr lang="en-GB" sz="1200">
                          <a:effectLst/>
                        </a:rPr>
                        <a:t>-128 to 127</a:t>
                      </a:r>
                    </a:p>
                  </a:txBody>
                  <a:tcPr marL="62162" marR="62162" marT="31081" marB="31081" anchor="ctr">
                    <a:lnL w="7620" cap="flat" cmpd="sng" algn="ctr">
                      <a:solidFill>
                        <a:srgbClr val="18F60E"/>
                      </a:solidFill>
                      <a:prstDash val="solid"/>
                      <a:round/>
                      <a:headEnd type="none" w="med" len="med"/>
                      <a:tailEnd type="none" w="med" len="med"/>
                    </a:lnL>
                    <a:lnR w="7620" cap="flat" cmpd="sng" algn="ctr">
                      <a:solidFill>
                        <a:srgbClr val="18F60E"/>
                      </a:solidFill>
                      <a:prstDash val="solid"/>
                      <a:round/>
                      <a:headEnd type="none" w="med" len="med"/>
                      <a:tailEnd type="none" w="med" len="med"/>
                    </a:lnR>
                    <a:lnT w="7620" cap="flat" cmpd="sng" algn="ctr">
                      <a:solidFill>
                        <a:srgbClr val="18F60E"/>
                      </a:solidFill>
                      <a:prstDash val="solid"/>
                      <a:round/>
                      <a:headEnd type="none" w="med" len="med"/>
                      <a:tailEnd type="none" w="med" len="med"/>
                    </a:lnT>
                    <a:lnB w="7620" cap="flat" cmpd="sng" algn="ctr">
                      <a:solidFill>
                        <a:srgbClr val="48F60E"/>
                      </a:solidFill>
                      <a:prstDash val="solid"/>
                      <a:round/>
                      <a:headEnd type="none" w="med" len="med"/>
                      <a:tailEnd type="none" w="med" len="med"/>
                    </a:lnB>
                    <a:solidFill>
                      <a:srgbClr val="FFFFFF"/>
                    </a:solidFill>
                  </a:tcPr>
                </a:tc>
              </a:tr>
              <a:tr h="402081">
                <a:tc>
                  <a:txBody>
                    <a:bodyPr/>
                    <a:lstStyle/>
                    <a:p>
                      <a:pPr algn="ctr"/>
                      <a:r>
                        <a:rPr lang="en-GB" sz="1200" dirty="0">
                          <a:effectLst/>
                        </a:rPr>
                        <a:t>int</a:t>
                      </a:r>
                    </a:p>
                  </a:txBody>
                  <a:tcPr marL="62162" marR="62162" marT="31081" marB="31081" anchor="ctr">
                    <a:lnL w="7620" cap="flat" cmpd="sng" algn="ctr">
                      <a:solidFill>
                        <a:srgbClr val="50F40E"/>
                      </a:solidFill>
                      <a:prstDash val="solid"/>
                      <a:round/>
                      <a:headEnd type="none" w="med" len="med"/>
                      <a:tailEnd type="none" w="med" len="med"/>
                    </a:lnL>
                    <a:lnR w="7620" cap="flat" cmpd="sng" algn="ctr">
                      <a:solidFill>
                        <a:srgbClr val="20F70E"/>
                      </a:solidFill>
                      <a:prstDash val="solid"/>
                      <a:round/>
                      <a:headEnd type="none" w="med" len="med"/>
                      <a:tailEnd type="none" w="med" len="med"/>
                    </a:lnR>
                    <a:lnT w="7620" cap="flat" cmpd="sng" algn="ctr">
                      <a:solidFill>
                        <a:srgbClr val="50F40E"/>
                      </a:solidFill>
                      <a:prstDash val="solid"/>
                      <a:round/>
                      <a:headEnd type="none" w="med" len="med"/>
                      <a:tailEnd type="none" w="med" len="med"/>
                    </a:lnT>
                    <a:lnB w="7620" cap="flat" cmpd="sng" algn="ctr">
                      <a:solidFill>
                        <a:srgbClr val="60F60E"/>
                      </a:solidFill>
                      <a:prstDash val="solid"/>
                      <a:round/>
                      <a:headEnd type="none" w="med" len="med"/>
                      <a:tailEnd type="none" w="med" len="med"/>
                    </a:lnB>
                    <a:solidFill>
                      <a:srgbClr val="FFFFFF"/>
                    </a:solidFill>
                  </a:tcPr>
                </a:tc>
                <a:tc>
                  <a:txBody>
                    <a:bodyPr/>
                    <a:lstStyle/>
                    <a:p>
                      <a:pPr algn="ctr"/>
                      <a:r>
                        <a:rPr lang="en-GB" sz="1200">
                          <a:effectLst/>
                        </a:rPr>
                        <a:t>2 or 4 bytes</a:t>
                      </a:r>
                    </a:p>
                  </a:txBody>
                  <a:tcPr marL="62162" marR="62162" marT="31081" marB="31081" anchor="ctr">
                    <a:lnL w="7620" cap="flat" cmpd="sng" algn="ctr">
                      <a:solidFill>
                        <a:srgbClr val="20F70E"/>
                      </a:solidFill>
                      <a:prstDash val="solid"/>
                      <a:round/>
                      <a:headEnd type="none" w="med" len="med"/>
                      <a:tailEnd type="none" w="med" len="med"/>
                    </a:lnL>
                    <a:lnR w="7620" cap="flat" cmpd="sng" algn="ctr">
                      <a:solidFill>
                        <a:srgbClr val="48F60E"/>
                      </a:solidFill>
                      <a:prstDash val="solid"/>
                      <a:round/>
                      <a:headEnd type="none" w="med" len="med"/>
                      <a:tailEnd type="none" w="med" len="med"/>
                    </a:lnR>
                    <a:lnT w="7620" cap="flat" cmpd="sng" algn="ctr">
                      <a:solidFill>
                        <a:srgbClr val="20F70E"/>
                      </a:solidFill>
                      <a:prstDash val="solid"/>
                      <a:round/>
                      <a:headEnd type="none" w="med" len="med"/>
                      <a:tailEnd type="none" w="med" len="med"/>
                    </a:lnT>
                    <a:lnB w="7620" cap="flat" cmpd="sng" algn="ctr">
                      <a:solidFill>
                        <a:srgbClr val="C8F40E"/>
                      </a:solidFill>
                      <a:prstDash val="solid"/>
                      <a:round/>
                      <a:headEnd type="none" w="med" len="med"/>
                      <a:tailEnd type="none" w="med" len="med"/>
                    </a:lnB>
                    <a:solidFill>
                      <a:srgbClr val="FFFFFF"/>
                    </a:solidFill>
                  </a:tcPr>
                </a:tc>
                <a:tc>
                  <a:txBody>
                    <a:bodyPr/>
                    <a:lstStyle/>
                    <a:p>
                      <a:pPr algn="ctr"/>
                      <a:r>
                        <a:rPr lang="en-GB" sz="1200">
                          <a:effectLst/>
                        </a:rPr>
                        <a:t>-32,768 to 32,767 or -2,147,483,648 to 2,147,483,647</a:t>
                      </a:r>
                    </a:p>
                  </a:txBody>
                  <a:tcPr marL="62162" marR="62162" marT="31081" marB="31081" anchor="ctr">
                    <a:lnL w="7620" cap="flat" cmpd="sng" algn="ctr">
                      <a:solidFill>
                        <a:srgbClr val="48F60E"/>
                      </a:solidFill>
                      <a:prstDash val="solid"/>
                      <a:round/>
                      <a:headEnd type="none" w="med" len="med"/>
                      <a:tailEnd type="none" w="med" len="med"/>
                    </a:lnL>
                    <a:lnR w="7620" cap="flat" cmpd="sng" algn="ctr">
                      <a:solidFill>
                        <a:srgbClr val="48F60E"/>
                      </a:solidFill>
                      <a:prstDash val="solid"/>
                      <a:round/>
                      <a:headEnd type="none" w="med" len="med"/>
                      <a:tailEnd type="none" w="med" len="med"/>
                    </a:lnR>
                    <a:lnT w="7620" cap="flat" cmpd="sng" algn="ctr">
                      <a:solidFill>
                        <a:srgbClr val="48F60E"/>
                      </a:solidFill>
                      <a:prstDash val="solid"/>
                      <a:round/>
                      <a:headEnd type="none" w="med" len="med"/>
                      <a:tailEnd type="none" w="med" len="med"/>
                    </a:lnT>
                    <a:lnB w="7620" cap="flat" cmpd="sng" algn="ctr">
                      <a:solidFill>
                        <a:srgbClr val="50F40E"/>
                      </a:solidFill>
                      <a:prstDash val="solid"/>
                      <a:round/>
                      <a:headEnd type="none" w="med" len="med"/>
                      <a:tailEnd type="none" w="med" len="med"/>
                    </a:lnB>
                    <a:solidFill>
                      <a:srgbClr val="FFFFFF"/>
                    </a:solidFill>
                  </a:tcPr>
                </a:tc>
              </a:tr>
              <a:tr h="281456">
                <a:tc>
                  <a:txBody>
                    <a:bodyPr/>
                    <a:lstStyle/>
                    <a:p>
                      <a:pPr algn="ctr"/>
                      <a:r>
                        <a:rPr lang="en-GB" sz="1200" dirty="0">
                          <a:effectLst/>
                        </a:rPr>
                        <a:t>unsigned int</a:t>
                      </a:r>
                    </a:p>
                  </a:txBody>
                  <a:tcPr marL="62162" marR="62162" marT="31081" marB="31081" anchor="ctr">
                    <a:lnL w="7620" cap="flat" cmpd="sng" algn="ctr">
                      <a:solidFill>
                        <a:srgbClr val="60F60E"/>
                      </a:solidFill>
                      <a:prstDash val="solid"/>
                      <a:round/>
                      <a:headEnd type="none" w="med" len="med"/>
                      <a:tailEnd type="none" w="med" len="med"/>
                    </a:lnL>
                    <a:lnR w="7620" cap="flat" cmpd="sng" algn="ctr">
                      <a:solidFill>
                        <a:srgbClr val="C8F40E"/>
                      </a:solidFill>
                      <a:prstDash val="solid"/>
                      <a:round/>
                      <a:headEnd type="none" w="med" len="med"/>
                      <a:tailEnd type="none" w="med" len="med"/>
                    </a:lnR>
                    <a:lnT w="7620" cap="flat" cmpd="sng" algn="ctr">
                      <a:solidFill>
                        <a:srgbClr val="60F60E"/>
                      </a:solidFill>
                      <a:prstDash val="solid"/>
                      <a:round/>
                      <a:headEnd type="none" w="med" len="med"/>
                      <a:tailEnd type="none" w="med" len="med"/>
                    </a:lnT>
                    <a:lnB w="7620" cap="flat" cmpd="sng" algn="ctr">
                      <a:solidFill>
                        <a:srgbClr val="80F40E"/>
                      </a:solidFill>
                      <a:prstDash val="solid"/>
                      <a:round/>
                      <a:headEnd type="none" w="med" len="med"/>
                      <a:tailEnd type="none" w="med" len="med"/>
                    </a:lnB>
                    <a:solidFill>
                      <a:srgbClr val="FFFFFF"/>
                    </a:solidFill>
                  </a:tcPr>
                </a:tc>
                <a:tc>
                  <a:txBody>
                    <a:bodyPr/>
                    <a:lstStyle/>
                    <a:p>
                      <a:pPr algn="ctr"/>
                      <a:r>
                        <a:rPr lang="en-GB" sz="1200">
                          <a:effectLst/>
                        </a:rPr>
                        <a:t>2 or 4 bytes</a:t>
                      </a:r>
                    </a:p>
                  </a:txBody>
                  <a:tcPr marL="62162" marR="62162" marT="31081" marB="31081" anchor="ctr">
                    <a:lnL w="7620" cap="flat" cmpd="sng" algn="ctr">
                      <a:solidFill>
                        <a:srgbClr val="C8F40E"/>
                      </a:solidFill>
                      <a:prstDash val="solid"/>
                      <a:round/>
                      <a:headEnd type="none" w="med" len="med"/>
                      <a:tailEnd type="none" w="med" len="med"/>
                    </a:lnL>
                    <a:lnR w="7620" cap="flat" cmpd="sng" algn="ctr">
                      <a:solidFill>
                        <a:srgbClr val="50F40E"/>
                      </a:solidFill>
                      <a:prstDash val="solid"/>
                      <a:round/>
                      <a:headEnd type="none" w="med" len="med"/>
                      <a:tailEnd type="none" w="med" len="med"/>
                    </a:lnR>
                    <a:lnT w="7620" cap="flat" cmpd="sng" algn="ctr">
                      <a:solidFill>
                        <a:srgbClr val="C8F40E"/>
                      </a:solidFill>
                      <a:prstDash val="solid"/>
                      <a:round/>
                      <a:headEnd type="none" w="med" len="med"/>
                      <a:tailEnd type="none" w="med" len="med"/>
                    </a:lnT>
                    <a:lnB w="7620" cap="flat" cmpd="sng" algn="ctr">
                      <a:solidFill>
                        <a:srgbClr val="98F40E"/>
                      </a:solidFill>
                      <a:prstDash val="solid"/>
                      <a:round/>
                      <a:headEnd type="none" w="med" len="med"/>
                      <a:tailEnd type="none" w="med" len="med"/>
                    </a:lnB>
                    <a:solidFill>
                      <a:srgbClr val="FFFFFF"/>
                    </a:solidFill>
                  </a:tcPr>
                </a:tc>
                <a:tc>
                  <a:txBody>
                    <a:bodyPr/>
                    <a:lstStyle/>
                    <a:p>
                      <a:pPr algn="ctr"/>
                      <a:r>
                        <a:rPr lang="en-GB" sz="1200">
                          <a:effectLst/>
                        </a:rPr>
                        <a:t>0 to 65,535 or 0 to 4,294,967,295</a:t>
                      </a:r>
                    </a:p>
                  </a:txBody>
                  <a:tcPr marL="62162" marR="62162" marT="31081" marB="31081" anchor="ctr">
                    <a:lnL w="7620" cap="flat" cmpd="sng" algn="ctr">
                      <a:solidFill>
                        <a:srgbClr val="50F40E"/>
                      </a:solidFill>
                      <a:prstDash val="solid"/>
                      <a:round/>
                      <a:headEnd type="none" w="med" len="med"/>
                      <a:tailEnd type="none" w="med" len="med"/>
                    </a:lnL>
                    <a:lnR w="7620" cap="flat" cmpd="sng" algn="ctr">
                      <a:solidFill>
                        <a:srgbClr val="50F40E"/>
                      </a:solidFill>
                      <a:prstDash val="solid"/>
                      <a:round/>
                      <a:headEnd type="none" w="med" len="med"/>
                      <a:tailEnd type="none" w="med" len="med"/>
                    </a:lnR>
                    <a:lnT w="7620" cap="flat" cmpd="sng" algn="ctr">
                      <a:solidFill>
                        <a:srgbClr val="50F40E"/>
                      </a:solidFill>
                      <a:prstDash val="solid"/>
                      <a:round/>
                      <a:headEnd type="none" w="med" len="med"/>
                      <a:tailEnd type="none" w="med" len="med"/>
                    </a:lnT>
                    <a:lnB w="7620" cap="flat" cmpd="sng" algn="ctr">
                      <a:solidFill>
                        <a:srgbClr val="98F40E"/>
                      </a:solidFill>
                      <a:prstDash val="solid"/>
                      <a:round/>
                      <a:headEnd type="none" w="med" len="med"/>
                      <a:tailEnd type="none" w="med" len="med"/>
                    </a:lnB>
                    <a:solidFill>
                      <a:srgbClr val="FFFFFF"/>
                    </a:solidFill>
                  </a:tcPr>
                </a:tc>
              </a:tr>
              <a:tr h="193022">
                <a:tc>
                  <a:txBody>
                    <a:bodyPr/>
                    <a:lstStyle/>
                    <a:p>
                      <a:pPr algn="ctr"/>
                      <a:r>
                        <a:rPr lang="en-GB" sz="1200">
                          <a:effectLst/>
                        </a:rPr>
                        <a:t>short</a:t>
                      </a:r>
                    </a:p>
                  </a:txBody>
                  <a:tcPr marL="62162" marR="62162" marT="31081" marB="31081" anchor="ctr">
                    <a:lnL w="7620" cap="flat" cmpd="sng" algn="ctr">
                      <a:solidFill>
                        <a:srgbClr val="80F40E"/>
                      </a:solidFill>
                      <a:prstDash val="solid"/>
                      <a:round/>
                      <a:headEnd type="none" w="med" len="med"/>
                      <a:tailEnd type="none" w="med" len="med"/>
                    </a:lnL>
                    <a:lnR w="7620" cap="flat" cmpd="sng" algn="ctr">
                      <a:solidFill>
                        <a:srgbClr val="98F40E"/>
                      </a:solidFill>
                      <a:prstDash val="solid"/>
                      <a:round/>
                      <a:headEnd type="none" w="med" len="med"/>
                      <a:tailEnd type="none" w="med" len="med"/>
                    </a:lnR>
                    <a:lnT w="7620" cap="flat" cmpd="sng" algn="ctr">
                      <a:solidFill>
                        <a:srgbClr val="80F40E"/>
                      </a:solidFill>
                      <a:prstDash val="solid"/>
                      <a:round/>
                      <a:headEnd type="none" w="med" len="med"/>
                      <a:tailEnd type="none" w="med" len="med"/>
                    </a:lnT>
                    <a:lnB w="7620" cap="flat" cmpd="sng" algn="ctr">
                      <a:solidFill>
                        <a:srgbClr val="98F40E"/>
                      </a:solidFill>
                      <a:prstDash val="solid"/>
                      <a:round/>
                      <a:headEnd type="none" w="med" len="med"/>
                      <a:tailEnd type="none" w="med" len="med"/>
                    </a:lnB>
                    <a:solidFill>
                      <a:srgbClr val="FFFFFF"/>
                    </a:solidFill>
                  </a:tcPr>
                </a:tc>
                <a:tc>
                  <a:txBody>
                    <a:bodyPr/>
                    <a:lstStyle/>
                    <a:p>
                      <a:pPr algn="ctr"/>
                      <a:r>
                        <a:rPr lang="en-GB" sz="1200">
                          <a:effectLst/>
                        </a:rPr>
                        <a:t>2 bytes</a:t>
                      </a:r>
                    </a:p>
                  </a:txBody>
                  <a:tcPr marL="62162" marR="62162" marT="31081" marB="31081" anchor="ctr">
                    <a:lnL w="7620" cap="flat" cmpd="sng" algn="ctr">
                      <a:solidFill>
                        <a:srgbClr val="98F40E"/>
                      </a:solidFill>
                      <a:prstDash val="solid"/>
                      <a:round/>
                      <a:headEnd type="none" w="med" len="med"/>
                      <a:tailEnd type="none" w="med" len="med"/>
                    </a:lnL>
                    <a:lnR w="7620" cap="flat" cmpd="sng" algn="ctr">
                      <a:solidFill>
                        <a:srgbClr val="98F40E"/>
                      </a:solidFill>
                      <a:prstDash val="solid"/>
                      <a:round/>
                      <a:headEnd type="none" w="med" len="med"/>
                      <a:tailEnd type="none" w="med" len="med"/>
                    </a:lnR>
                    <a:lnT w="7620" cap="flat" cmpd="sng" algn="ctr">
                      <a:solidFill>
                        <a:srgbClr val="98F40E"/>
                      </a:solidFill>
                      <a:prstDash val="solid"/>
                      <a:round/>
                      <a:headEnd type="none" w="med" len="med"/>
                      <a:tailEnd type="none" w="med" len="med"/>
                    </a:lnT>
                    <a:lnB w="7620" cap="flat" cmpd="sng" algn="ctr">
                      <a:solidFill>
                        <a:srgbClr val="D0F50E"/>
                      </a:solidFill>
                      <a:prstDash val="solid"/>
                      <a:round/>
                      <a:headEnd type="none" w="med" len="med"/>
                      <a:tailEnd type="none" w="med" len="med"/>
                    </a:lnB>
                    <a:solidFill>
                      <a:srgbClr val="FFFFFF"/>
                    </a:solidFill>
                  </a:tcPr>
                </a:tc>
                <a:tc>
                  <a:txBody>
                    <a:bodyPr/>
                    <a:lstStyle/>
                    <a:p>
                      <a:pPr algn="ctr"/>
                      <a:r>
                        <a:rPr lang="en-GB" sz="1200">
                          <a:effectLst/>
                        </a:rPr>
                        <a:t>-32,768 to 32,767</a:t>
                      </a:r>
                    </a:p>
                  </a:txBody>
                  <a:tcPr marL="62162" marR="62162" marT="31081" marB="31081" anchor="ctr">
                    <a:lnL w="7620" cap="flat" cmpd="sng" algn="ctr">
                      <a:solidFill>
                        <a:srgbClr val="98F40E"/>
                      </a:solidFill>
                      <a:prstDash val="solid"/>
                      <a:round/>
                      <a:headEnd type="none" w="med" len="med"/>
                      <a:tailEnd type="none" w="med" len="med"/>
                    </a:lnL>
                    <a:lnR w="7620" cap="flat" cmpd="sng" algn="ctr">
                      <a:solidFill>
                        <a:srgbClr val="98F40E"/>
                      </a:solidFill>
                      <a:prstDash val="solid"/>
                      <a:round/>
                      <a:headEnd type="none" w="med" len="med"/>
                      <a:tailEnd type="none" w="med" len="med"/>
                    </a:lnR>
                    <a:lnT w="7620" cap="flat" cmpd="sng" algn="ctr">
                      <a:solidFill>
                        <a:srgbClr val="98F40E"/>
                      </a:solidFill>
                      <a:prstDash val="solid"/>
                      <a:round/>
                      <a:headEnd type="none" w="med" len="med"/>
                      <a:tailEnd type="none" w="med" len="med"/>
                    </a:lnT>
                    <a:lnB w="7620" cap="flat" cmpd="sng" algn="ctr">
                      <a:solidFill>
                        <a:srgbClr val="98F40E"/>
                      </a:solidFill>
                      <a:prstDash val="solid"/>
                      <a:round/>
                      <a:headEnd type="none" w="med" len="med"/>
                      <a:tailEnd type="none" w="med" len="med"/>
                    </a:lnB>
                    <a:solidFill>
                      <a:srgbClr val="FFFFFF"/>
                    </a:solidFill>
                  </a:tcPr>
                </a:tc>
              </a:tr>
              <a:tr h="193022">
                <a:tc>
                  <a:txBody>
                    <a:bodyPr/>
                    <a:lstStyle/>
                    <a:p>
                      <a:pPr algn="ctr"/>
                      <a:r>
                        <a:rPr lang="en-GB" sz="1200">
                          <a:effectLst/>
                        </a:rPr>
                        <a:t>unsigned short</a:t>
                      </a:r>
                    </a:p>
                  </a:txBody>
                  <a:tcPr marL="62162" marR="62162" marT="31081" marB="31081" anchor="ctr">
                    <a:lnL w="7620" cap="flat" cmpd="sng" algn="ctr">
                      <a:solidFill>
                        <a:srgbClr val="98F40E"/>
                      </a:solidFill>
                      <a:prstDash val="solid"/>
                      <a:round/>
                      <a:headEnd type="none" w="med" len="med"/>
                      <a:tailEnd type="none" w="med" len="med"/>
                    </a:lnL>
                    <a:lnR w="7620" cap="flat" cmpd="sng" algn="ctr">
                      <a:solidFill>
                        <a:srgbClr val="D0F50E"/>
                      </a:solidFill>
                      <a:prstDash val="solid"/>
                      <a:round/>
                      <a:headEnd type="none" w="med" len="med"/>
                      <a:tailEnd type="none" w="med" len="med"/>
                    </a:lnR>
                    <a:lnT w="7620" cap="flat" cmpd="sng" algn="ctr">
                      <a:solidFill>
                        <a:srgbClr val="98F40E"/>
                      </a:solidFill>
                      <a:prstDash val="solid"/>
                      <a:round/>
                      <a:headEnd type="none" w="med" len="med"/>
                      <a:tailEnd type="none" w="med" len="med"/>
                    </a:lnT>
                    <a:lnB w="7620" cap="flat" cmpd="sng" algn="ctr">
                      <a:solidFill>
                        <a:srgbClr val="C8F40E"/>
                      </a:solidFill>
                      <a:prstDash val="solid"/>
                      <a:round/>
                      <a:headEnd type="none" w="med" len="med"/>
                      <a:tailEnd type="none" w="med" len="med"/>
                    </a:lnB>
                    <a:solidFill>
                      <a:srgbClr val="FFFFFF"/>
                    </a:solidFill>
                  </a:tcPr>
                </a:tc>
                <a:tc>
                  <a:txBody>
                    <a:bodyPr/>
                    <a:lstStyle/>
                    <a:p>
                      <a:pPr algn="ctr"/>
                      <a:r>
                        <a:rPr lang="en-GB" sz="1200">
                          <a:effectLst/>
                        </a:rPr>
                        <a:t>2 bytes</a:t>
                      </a:r>
                    </a:p>
                  </a:txBody>
                  <a:tcPr marL="62162" marR="62162" marT="31081" marB="31081" anchor="ctr">
                    <a:lnL w="7620" cap="flat" cmpd="sng" algn="ctr">
                      <a:solidFill>
                        <a:srgbClr val="D0F50E"/>
                      </a:solidFill>
                      <a:prstDash val="solid"/>
                      <a:round/>
                      <a:headEnd type="none" w="med" len="med"/>
                      <a:tailEnd type="none" w="med" len="med"/>
                    </a:lnL>
                    <a:lnR w="7620" cap="flat" cmpd="sng" algn="ctr">
                      <a:solidFill>
                        <a:srgbClr val="98F40E"/>
                      </a:solidFill>
                      <a:prstDash val="solid"/>
                      <a:round/>
                      <a:headEnd type="none" w="med" len="med"/>
                      <a:tailEnd type="none" w="med" len="med"/>
                    </a:lnR>
                    <a:lnT w="7620" cap="flat" cmpd="sng" algn="ctr">
                      <a:solidFill>
                        <a:srgbClr val="D0F50E"/>
                      </a:solidFill>
                      <a:prstDash val="solid"/>
                      <a:round/>
                      <a:headEnd type="none" w="med" len="med"/>
                      <a:tailEnd type="none" w="med" len="med"/>
                    </a:lnT>
                    <a:lnB w="7620" cap="flat" cmpd="sng" algn="ctr">
                      <a:solidFill>
                        <a:srgbClr val="60F60E"/>
                      </a:solidFill>
                      <a:prstDash val="solid"/>
                      <a:round/>
                      <a:headEnd type="none" w="med" len="med"/>
                      <a:tailEnd type="none" w="med" len="med"/>
                    </a:lnB>
                    <a:solidFill>
                      <a:srgbClr val="FFFFFF"/>
                    </a:solidFill>
                  </a:tcPr>
                </a:tc>
                <a:tc>
                  <a:txBody>
                    <a:bodyPr/>
                    <a:lstStyle/>
                    <a:p>
                      <a:pPr algn="ctr"/>
                      <a:r>
                        <a:rPr lang="en-GB" sz="1200">
                          <a:effectLst/>
                        </a:rPr>
                        <a:t>0 to 65,535</a:t>
                      </a:r>
                    </a:p>
                  </a:txBody>
                  <a:tcPr marL="62162" marR="62162" marT="31081" marB="31081" anchor="ctr">
                    <a:lnL w="7620" cap="flat" cmpd="sng" algn="ctr">
                      <a:solidFill>
                        <a:srgbClr val="98F40E"/>
                      </a:solidFill>
                      <a:prstDash val="solid"/>
                      <a:round/>
                      <a:headEnd type="none" w="med" len="med"/>
                      <a:tailEnd type="none" w="med" len="med"/>
                    </a:lnL>
                    <a:lnR w="7620" cap="flat" cmpd="sng" algn="ctr">
                      <a:solidFill>
                        <a:srgbClr val="98F40E"/>
                      </a:solidFill>
                      <a:prstDash val="solid"/>
                      <a:round/>
                      <a:headEnd type="none" w="med" len="med"/>
                      <a:tailEnd type="none" w="med" len="med"/>
                    </a:lnR>
                    <a:lnT w="7620" cap="flat" cmpd="sng" algn="ctr">
                      <a:solidFill>
                        <a:srgbClr val="98F40E"/>
                      </a:solidFill>
                      <a:prstDash val="solid"/>
                      <a:round/>
                      <a:headEnd type="none" w="med" len="med"/>
                      <a:tailEnd type="none" w="med" len="med"/>
                    </a:lnT>
                    <a:lnB w="7620" cap="flat" cmpd="sng" algn="ctr">
                      <a:solidFill>
                        <a:srgbClr val="68F40E"/>
                      </a:solidFill>
                      <a:prstDash val="solid"/>
                      <a:round/>
                      <a:headEnd type="none" w="med" len="med"/>
                      <a:tailEnd type="none" w="med" len="med"/>
                    </a:lnB>
                    <a:solidFill>
                      <a:srgbClr val="FFFFFF"/>
                    </a:solidFill>
                  </a:tcPr>
                </a:tc>
              </a:tr>
              <a:tr h="643328">
                <a:tc>
                  <a:txBody>
                    <a:bodyPr/>
                    <a:lstStyle/>
                    <a:p>
                      <a:pPr algn="ctr"/>
                      <a:r>
                        <a:rPr lang="en-GB" sz="1200">
                          <a:effectLst/>
                        </a:rPr>
                        <a:t>long</a:t>
                      </a:r>
                    </a:p>
                  </a:txBody>
                  <a:tcPr marL="62162" marR="62162" marT="31081" marB="31081" anchor="ctr">
                    <a:lnL w="7620" cap="flat" cmpd="sng" algn="ctr">
                      <a:solidFill>
                        <a:srgbClr val="C8F40E"/>
                      </a:solidFill>
                      <a:prstDash val="solid"/>
                      <a:round/>
                      <a:headEnd type="none" w="med" len="med"/>
                      <a:tailEnd type="none" w="med" len="med"/>
                    </a:lnL>
                    <a:lnR w="7620" cap="flat" cmpd="sng" algn="ctr">
                      <a:solidFill>
                        <a:srgbClr val="60F60E"/>
                      </a:solidFill>
                      <a:prstDash val="solid"/>
                      <a:round/>
                      <a:headEnd type="none" w="med" len="med"/>
                      <a:tailEnd type="none" w="med" len="med"/>
                    </a:lnR>
                    <a:lnT w="7620" cap="flat" cmpd="sng" algn="ctr">
                      <a:solidFill>
                        <a:srgbClr val="C8F40E"/>
                      </a:solidFill>
                      <a:prstDash val="solid"/>
                      <a:round/>
                      <a:headEnd type="none" w="med" len="med"/>
                      <a:tailEnd type="none" w="med" len="med"/>
                    </a:lnT>
                    <a:lnB w="7620" cap="flat" cmpd="sng" algn="ctr">
                      <a:solidFill>
                        <a:srgbClr val="60F60E"/>
                      </a:solidFill>
                      <a:prstDash val="solid"/>
                      <a:round/>
                      <a:headEnd type="none" w="med" len="med"/>
                      <a:tailEnd type="none" w="med" len="med"/>
                    </a:lnB>
                    <a:solidFill>
                      <a:srgbClr val="FFFFFF"/>
                    </a:solidFill>
                  </a:tcPr>
                </a:tc>
                <a:tc>
                  <a:txBody>
                    <a:bodyPr/>
                    <a:lstStyle/>
                    <a:p>
                      <a:pPr algn="ctr"/>
                      <a:r>
                        <a:rPr lang="en-GB" sz="1200">
                          <a:effectLst/>
                        </a:rPr>
                        <a:t>8 bytes or (4bytes for 32 bit OS)</a:t>
                      </a:r>
                    </a:p>
                  </a:txBody>
                  <a:tcPr marL="62162" marR="62162" marT="31081" marB="31081" anchor="ctr">
                    <a:lnL w="7620" cap="flat" cmpd="sng" algn="ctr">
                      <a:solidFill>
                        <a:srgbClr val="60F60E"/>
                      </a:solidFill>
                      <a:prstDash val="solid"/>
                      <a:round/>
                      <a:headEnd type="none" w="med" len="med"/>
                      <a:tailEnd type="none" w="med" len="med"/>
                    </a:lnL>
                    <a:lnR w="7620" cap="flat" cmpd="sng" algn="ctr">
                      <a:solidFill>
                        <a:srgbClr val="68F40E"/>
                      </a:solidFill>
                      <a:prstDash val="solid"/>
                      <a:round/>
                      <a:headEnd type="none" w="med" len="med"/>
                      <a:tailEnd type="none" w="med" len="med"/>
                    </a:lnR>
                    <a:lnT w="7620" cap="flat" cmpd="sng" algn="ctr">
                      <a:solidFill>
                        <a:srgbClr val="60F60E"/>
                      </a:solidFill>
                      <a:prstDash val="solid"/>
                      <a:round/>
                      <a:headEnd type="none" w="med" len="med"/>
                      <a:tailEnd type="none" w="med" len="med"/>
                    </a:lnT>
                    <a:lnB w="7620" cap="flat" cmpd="sng" algn="ctr">
                      <a:solidFill>
                        <a:srgbClr val="70F50E"/>
                      </a:solidFill>
                      <a:prstDash val="solid"/>
                      <a:round/>
                      <a:headEnd type="none" w="med" len="med"/>
                      <a:tailEnd type="none" w="med" len="med"/>
                    </a:lnB>
                    <a:solidFill>
                      <a:srgbClr val="FFFFFF"/>
                    </a:solidFill>
                  </a:tcPr>
                </a:tc>
                <a:tc>
                  <a:txBody>
                    <a:bodyPr/>
                    <a:lstStyle/>
                    <a:p>
                      <a:pPr algn="ctr"/>
                      <a:r>
                        <a:rPr lang="en-GB" sz="1200">
                          <a:effectLst/>
                        </a:rPr>
                        <a:t>-9223372036854775808 to 9223372036854775807</a:t>
                      </a:r>
                    </a:p>
                  </a:txBody>
                  <a:tcPr marL="62162" marR="62162" marT="31081" marB="31081" anchor="ctr">
                    <a:lnL w="7620" cap="flat" cmpd="sng" algn="ctr">
                      <a:solidFill>
                        <a:srgbClr val="68F40E"/>
                      </a:solidFill>
                      <a:prstDash val="solid"/>
                      <a:round/>
                      <a:headEnd type="none" w="med" len="med"/>
                      <a:tailEnd type="none" w="med" len="med"/>
                    </a:lnL>
                    <a:lnR w="7620" cap="flat" cmpd="sng" algn="ctr">
                      <a:solidFill>
                        <a:srgbClr val="68F40E"/>
                      </a:solidFill>
                      <a:prstDash val="solid"/>
                      <a:round/>
                      <a:headEnd type="none" w="med" len="med"/>
                      <a:tailEnd type="none" w="med" len="med"/>
                    </a:lnR>
                    <a:lnT w="7620" cap="flat" cmpd="sng" algn="ctr">
                      <a:solidFill>
                        <a:srgbClr val="68F40E"/>
                      </a:solidFill>
                      <a:prstDash val="solid"/>
                      <a:round/>
                      <a:headEnd type="none" w="med" len="med"/>
                      <a:tailEnd type="none" w="med" len="med"/>
                    </a:lnT>
                    <a:lnB w="7620" cap="flat" cmpd="sng" algn="ctr">
                      <a:solidFill>
                        <a:srgbClr val="68F40E"/>
                      </a:solidFill>
                      <a:prstDash val="solid"/>
                      <a:round/>
                      <a:headEnd type="none" w="med" len="med"/>
                      <a:tailEnd type="none" w="med" len="med"/>
                    </a:lnB>
                    <a:solidFill>
                      <a:srgbClr val="FFFFFF"/>
                    </a:solidFill>
                  </a:tcPr>
                </a:tc>
              </a:tr>
              <a:tr h="402081">
                <a:tc>
                  <a:txBody>
                    <a:bodyPr/>
                    <a:lstStyle/>
                    <a:p>
                      <a:pPr algn="ctr"/>
                      <a:r>
                        <a:rPr lang="en-GB" sz="1200">
                          <a:effectLst/>
                        </a:rPr>
                        <a:t>unsigned long</a:t>
                      </a:r>
                    </a:p>
                  </a:txBody>
                  <a:tcPr marL="62162" marR="62162" marT="31081" marB="31081" anchor="ctr">
                    <a:lnL w="7620" cap="flat" cmpd="sng" algn="ctr">
                      <a:solidFill>
                        <a:srgbClr val="60F60E"/>
                      </a:solidFill>
                      <a:prstDash val="solid"/>
                      <a:round/>
                      <a:headEnd type="none" w="med" len="med"/>
                      <a:tailEnd type="none" w="med" len="med"/>
                    </a:lnL>
                    <a:lnR w="7620" cap="flat" cmpd="sng" algn="ctr">
                      <a:solidFill>
                        <a:srgbClr val="70F50E"/>
                      </a:solidFill>
                      <a:prstDash val="solid"/>
                      <a:round/>
                      <a:headEnd type="none" w="med" len="med"/>
                      <a:tailEnd type="none" w="med" len="med"/>
                    </a:lnR>
                    <a:lnT w="7620" cap="flat" cmpd="sng" algn="ctr">
                      <a:solidFill>
                        <a:srgbClr val="60F60E"/>
                      </a:solidFill>
                      <a:prstDash val="solid"/>
                      <a:round/>
                      <a:headEnd type="none" w="med" len="med"/>
                      <a:tailEnd type="none" w="med" len="med"/>
                    </a:lnT>
                    <a:lnB w="7620" cap="flat" cmpd="sng" algn="ctr">
                      <a:solidFill>
                        <a:srgbClr val="60F60E"/>
                      </a:solidFill>
                      <a:prstDash val="solid"/>
                      <a:round/>
                      <a:headEnd type="none" w="med" len="med"/>
                      <a:tailEnd type="none" w="med" len="med"/>
                    </a:lnB>
                    <a:solidFill>
                      <a:srgbClr val="FFFFFF"/>
                    </a:solidFill>
                  </a:tcPr>
                </a:tc>
                <a:tc>
                  <a:txBody>
                    <a:bodyPr/>
                    <a:lstStyle/>
                    <a:p>
                      <a:pPr algn="ctr"/>
                      <a:r>
                        <a:rPr lang="en-GB" sz="1200">
                          <a:effectLst/>
                        </a:rPr>
                        <a:t>8 bytes</a:t>
                      </a:r>
                    </a:p>
                  </a:txBody>
                  <a:tcPr marL="62162" marR="62162" marT="31081" marB="31081" anchor="ctr">
                    <a:lnL w="7620" cap="flat" cmpd="sng" algn="ctr">
                      <a:solidFill>
                        <a:srgbClr val="70F50E"/>
                      </a:solidFill>
                      <a:prstDash val="solid"/>
                      <a:round/>
                      <a:headEnd type="none" w="med" len="med"/>
                      <a:tailEnd type="none" w="med" len="med"/>
                    </a:lnL>
                    <a:lnR w="7620" cap="flat" cmpd="sng" algn="ctr">
                      <a:solidFill>
                        <a:srgbClr val="68F40E"/>
                      </a:solidFill>
                      <a:prstDash val="solid"/>
                      <a:round/>
                      <a:headEnd type="none" w="med" len="med"/>
                      <a:tailEnd type="none" w="med" len="med"/>
                    </a:lnR>
                    <a:lnT w="7620" cap="flat" cmpd="sng" algn="ctr">
                      <a:solidFill>
                        <a:srgbClr val="70F50E"/>
                      </a:solidFill>
                      <a:prstDash val="solid"/>
                      <a:round/>
                      <a:headEnd type="none" w="med" len="med"/>
                      <a:tailEnd type="none" w="med" len="med"/>
                    </a:lnT>
                    <a:lnB w="7620" cap="flat" cmpd="sng" algn="ctr">
                      <a:solidFill>
                        <a:srgbClr val="70F50E"/>
                      </a:solidFill>
                      <a:prstDash val="solid"/>
                      <a:round/>
                      <a:headEnd type="none" w="med" len="med"/>
                      <a:tailEnd type="none" w="med" len="med"/>
                    </a:lnB>
                    <a:solidFill>
                      <a:srgbClr val="FFFFFF"/>
                    </a:solidFill>
                  </a:tcPr>
                </a:tc>
                <a:tc>
                  <a:txBody>
                    <a:bodyPr/>
                    <a:lstStyle/>
                    <a:p>
                      <a:pPr algn="ctr"/>
                      <a:r>
                        <a:rPr lang="en-GB" sz="1200" dirty="0">
                          <a:effectLst/>
                        </a:rPr>
                        <a:t>0 to 18446744073709551615</a:t>
                      </a:r>
                    </a:p>
                  </a:txBody>
                  <a:tcPr marL="62162" marR="62162" marT="31081" marB="31081" anchor="ctr">
                    <a:lnL w="7620" cap="flat" cmpd="sng" algn="ctr">
                      <a:solidFill>
                        <a:srgbClr val="68F40E"/>
                      </a:solidFill>
                      <a:prstDash val="solid"/>
                      <a:round/>
                      <a:headEnd type="none" w="med" len="med"/>
                      <a:tailEnd type="none" w="med" len="med"/>
                    </a:lnL>
                    <a:lnR w="7620" cap="flat" cmpd="sng" algn="ctr">
                      <a:solidFill>
                        <a:srgbClr val="68F40E"/>
                      </a:solidFill>
                      <a:prstDash val="solid"/>
                      <a:round/>
                      <a:headEnd type="none" w="med" len="med"/>
                      <a:tailEnd type="none" w="med" len="med"/>
                    </a:lnR>
                    <a:lnT w="7620" cap="flat" cmpd="sng" algn="ctr">
                      <a:solidFill>
                        <a:srgbClr val="68F40E"/>
                      </a:solidFill>
                      <a:prstDash val="solid"/>
                      <a:round/>
                      <a:headEnd type="none" w="med" len="med"/>
                      <a:tailEnd type="none" w="med" len="med"/>
                    </a:lnT>
                    <a:lnB w="7620" cap="flat" cmpd="sng" algn="ctr">
                      <a:solidFill>
                        <a:srgbClr val="68F40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9247050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321"/>
          </a:xfrm>
        </p:spPr>
        <p:txBody>
          <a:bodyPr/>
          <a:lstStyle/>
          <a:p>
            <a:r>
              <a:rPr lang="en-US" dirty="0" smtClean="0">
                <a:solidFill>
                  <a:srgbClr val="023182"/>
                </a:solidFill>
                <a:latin typeface="Times New Roman"/>
                <a:cs typeface="Times New Roman"/>
                <a:sym typeface="Times New Roman"/>
              </a:rPr>
              <a:t>Data types</a:t>
            </a:r>
            <a:endParaRPr lang="en-GB" dirty="0"/>
          </a:p>
        </p:txBody>
      </p:sp>
      <p:sp>
        <p:nvSpPr>
          <p:cNvPr id="3" name="Content Placeholder 2"/>
          <p:cNvSpPr>
            <a:spLocks noGrp="1"/>
          </p:cNvSpPr>
          <p:nvPr>
            <p:ph idx="1"/>
          </p:nvPr>
        </p:nvSpPr>
        <p:spPr/>
        <p:txBody>
          <a:bodyPr>
            <a:normAutofit/>
          </a:bodyPr>
          <a:lstStyle/>
          <a:p>
            <a:pPr marL="0" indent="0">
              <a:buNone/>
            </a:pPr>
            <a:r>
              <a:rPr lang="en-GB" sz="2400" b="1" dirty="0" smtClean="0">
                <a:latin typeface="Times New Roman" panose="02020603050405020304" pitchFamily="18" charset="0"/>
                <a:cs typeface="Times New Roman" panose="02020603050405020304" pitchFamily="18" charset="0"/>
              </a:rPr>
              <a:t>Float Data Types </a:t>
            </a:r>
          </a:p>
          <a:p>
            <a:pPr marL="0" indent="0">
              <a:buNone/>
            </a:pPr>
            <a:r>
              <a:rPr lang="en-GB" sz="2400" dirty="0" smtClean="0">
                <a:latin typeface="Times New Roman" panose="02020603050405020304" pitchFamily="18" charset="0"/>
                <a:cs typeface="Times New Roman" panose="02020603050405020304" pitchFamily="18" charset="0"/>
              </a:rPr>
              <a:t>In the C programming language, a float is a data type that represents a single-precision floating-point number. It is used to store decimal numbers (numbers with a fractional part) .</a:t>
            </a:r>
            <a:endParaRPr lang="en-GB" sz="2400" dirty="0">
              <a:latin typeface="Times New Roman" panose="02020603050405020304" pitchFamily="18" charset="0"/>
              <a:cs typeface="Times New Roman" panose="02020603050405020304" pitchFamily="18" charset="0"/>
            </a:endParaRPr>
          </a:p>
          <a:p>
            <a:pPr marL="0" indent="0">
              <a:buNone/>
            </a:pPr>
            <a:endParaRPr lang="en-GB" sz="24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834434595"/>
              </p:ext>
            </p:extLst>
          </p:nvPr>
        </p:nvGraphicFramePr>
        <p:xfrm>
          <a:off x="1273519" y="3572397"/>
          <a:ext cx="8776172" cy="1737360"/>
        </p:xfrm>
        <a:graphic>
          <a:graphicData uri="http://schemas.openxmlformats.org/drawingml/2006/table">
            <a:tbl>
              <a:tblPr/>
              <a:tblGrid>
                <a:gridCol w="2194043"/>
                <a:gridCol w="2194043"/>
                <a:gridCol w="2194043"/>
                <a:gridCol w="2194043"/>
              </a:tblGrid>
              <a:tr h="0">
                <a:tc>
                  <a:txBody>
                    <a:bodyPr/>
                    <a:lstStyle/>
                    <a:p>
                      <a:pPr algn="l"/>
                      <a:r>
                        <a:rPr lang="en-GB" dirty="0">
                          <a:effectLst/>
                        </a:rPr>
                        <a:t>Type</a:t>
                      </a:r>
                    </a:p>
                  </a:txBody>
                  <a:tcPr anchor="ctr">
                    <a:lnL w="7620" cap="flat" cmpd="sng" algn="ctr">
                      <a:solidFill>
                        <a:srgbClr val="E0427F"/>
                      </a:solidFill>
                      <a:prstDash val="solid"/>
                      <a:round/>
                      <a:headEnd type="none" w="med" len="med"/>
                      <a:tailEnd type="none" w="med" len="med"/>
                    </a:lnL>
                    <a:lnR w="7620" cap="flat" cmpd="sng" algn="ctr">
                      <a:solidFill>
                        <a:srgbClr val="E0457F"/>
                      </a:solidFill>
                      <a:prstDash val="solid"/>
                      <a:round/>
                      <a:headEnd type="none" w="med" len="med"/>
                      <a:tailEnd type="none" w="med" len="med"/>
                    </a:lnR>
                    <a:lnT w="7620" cap="flat" cmpd="sng" algn="ctr">
                      <a:solidFill>
                        <a:srgbClr val="E0427F"/>
                      </a:solidFill>
                      <a:prstDash val="solid"/>
                      <a:round/>
                      <a:headEnd type="none" w="med" len="med"/>
                      <a:tailEnd type="none" w="med" len="med"/>
                    </a:lnT>
                    <a:lnB w="7620" cap="flat" cmpd="sng" algn="ctr">
                      <a:solidFill>
                        <a:srgbClr val="20457F"/>
                      </a:solidFill>
                      <a:prstDash val="solid"/>
                      <a:round/>
                      <a:headEnd type="none" w="med" len="med"/>
                      <a:tailEnd type="none" w="med" len="med"/>
                    </a:lnB>
                    <a:solidFill>
                      <a:srgbClr val="FFFFFF"/>
                    </a:solidFill>
                  </a:tcPr>
                </a:tc>
                <a:tc>
                  <a:txBody>
                    <a:bodyPr/>
                    <a:lstStyle/>
                    <a:p>
                      <a:pPr algn="l"/>
                      <a:r>
                        <a:rPr lang="en-GB">
                          <a:effectLst/>
                        </a:rPr>
                        <a:t>Storage size</a:t>
                      </a:r>
                    </a:p>
                  </a:txBody>
                  <a:tcPr anchor="ctr">
                    <a:lnL w="7620" cap="flat" cmpd="sng" algn="ctr">
                      <a:solidFill>
                        <a:srgbClr val="E0457F"/>
                      </a:solidFill>
                      <a:prstDash val="solid"/>
                      <a:round/>
                      <a:headEnd type="none" w="med" len="med"/>
                      <a:tailEnd type="none" w="med" len="med"/>
                    </a:lnL>
                    <a:lnR w="7620" cap="flat" cmpd="sng" algn="ctr">
                      <a:solidFill>
                        <a:srgbClr val="88467F"/>
                      </a:solidFill>
                      <a:prstDash val="solid"/>
                      <a:round/>
                      <a:headEnd type="none" w="med" len="med"/>
                      <a:tailEnd type="none" w="med" len="med"/>
                    </a:lnR>
                    <a:lnT w="7620" cap="flat" cmpd="sng" algn="ctr">
                      <a:solidFill>
                        <a:srgbClr val="E0457F"/>
                      </a:solidFill>
                      <a:prstDash val="solid"/>
                      <a:round/>
                      <a:headEnd type="none" w="med" len="med"/>
                      <a:tailEnd type="none" w="med" len="med"/>
                    </a:lnT>
                    <a:lnB w="7620" cap="flat" cmpd="sng" algn="ctr">
                      <a:solidFill>
                        <a:srgbClr val="28467F"/>
                      </a:solidFill>
                      <a:prstDash val="solid"/>
                      <a:round/>
                      <a:headEnd type="none" w="med" len="med"/>
                      <a:tailEnd type="none" w="med" len="med"/>
                    </a:lnB>
                    <a:solidFill>
                      <a:srgbClr val="FFFFFF"/>
                    </a:solidFill>
                  </a:tcPr>
                </a:tc>
                <a:tc>
                  <a:txBody>
                    <a:bodyPr/>
                    <a:lstStyle/>
                    <a:p>
                      <a:pPr algn="l"/>
                      <a:r>
                        <a:rPr lang="en-GB">
                          <a:effectLst/>
                        </a:rPr>
                        <a:t>Value range</a:t>
                      </a:r>
                    </a:p>
                  </a:txBody>
                  <a:tcPr anchor="ctr">
                    <a:lnL w="7620" cap="flat" cmpd="sng" algn="ctr">
                      <a:solidFill>
                        <a:srgbClr val="88467F"/>
                      </a:solidFill>
                      <a:prstDash val="solid"/>
                      <a:round/>
                      <a:headEnd type="none" w="med" len="med"/>
                      <a:tailEnd type="none" w="med" len="med"/>
                    </a:lnL>
                    <a:lnR w="7620" cap="flat" cmpd="sng" algn="ctr">
                      <a:solidFill>
                        <a:srgbClr val="D0467F"/>
                      </a:solidFill>
                      <a:prstDash val="solid"/>
                      <a:round/>
                      <a:headEnd type="none" w="med" len="med"/>
                      <a:tailEnd type="none" w="med" len="med"/>
                    </a:lnR>
                    <a:lnT w="7620" cap="flat" cmpd="sng" algn="ctr">
                      <a:solidFill>
                        <a:srgbClr val="88467F"/>
                      </a:solidFill>
                      <a:prstDash val="solid"/>
                      <a:round/>
                      <a:headEnd type="none" w="med" len="med"/>
                      <a:tailEnd type="none" w="med" len="med"/>
                    </a:lnT>
                    <a:lnB w="7620" cap="flat" cmpd="sng" algn="ctr">
                      <a:solidFill>
                        <a:srgbClr val="E0457F"/>
                      </a:solidFill>
                      <a:prstDash val="solid"/>
                      <a:round/>
                      <a:headEnd type="none" w="med" len="med"/>
                      <a:tailEnd type="none" w="med" len="med"/>
                    </a:lnB>
                    <a:solidFill>
                      <a:srgbClr val="FFFFFF"/>
                    </a:solidFill>
                  </a:tcPr>
                </a:tc>
                <a:tc>
                  <a:txBody>
                    <a:bodyPr/>
                    <a:lstStyle/>
                    <a:p>
                      <a:pPr algn="l"/>
                      <a:r>
                        <a:rPr lang="en-GB">
                          <a:effectLst/>
                        </a:rPr>
                        <a:t>Precision</a:t>
                      </a:r>
                    </a:p>
                  </a:txBody>
                  <a:tcPr anchor="ctr">
                    <a:lnL w="7620" cap="flat" cmpd="sng" algn="ctr">
                      <a:solidFill>
                        <a:srgbClr val="D0467F"/>
                      </a:solidFill>
                      <a:prstDash val="solid"/>
                      <a:round/>
                      <a:headEnd type="none" w="med" len="med"/>
                      <a:tailEnd type="none" w="med" len="med"/>
                    </a:lnL>
                    <a:lnR w="7620" cap="flat" cmpd="sng" algn="ctr">
                      <a:solidFill>
                        <a:srgbClr val="D0467F"/>
                      </a:solidFill>
                      <a:prstDash val="solid"/>
                      <a:round/>
                      <a:headEnd type="none" w="med" len="med"/>
                      <a:tailEnd type="none" w="med" len="med"/>
                    </a:lnR>
                    <a:lnT w="7620" cap="flat" cmpd="sng" algn="ctr">
                      <a:solidFill>
                        <a:srgbClr val="D0467F"/>
                      </a:solidFill>
                      <a:prstDash val="solid"/>
                      <a:round/>
                      <a:headEnd type="none" w="med" len="med"/>
                      <a:tailEnd type="none" w="med" len="med"/>
                    </a:lnT>
                    <a:lnB w="7620" cap="flat" cmpd="sng" algn="ctr">
                      <a:solidFill>
                        <a:srgbClr val="40467F"/>
                      </a:solidFill>
                      <a:prstDash val="solid"/>
                      <a:round/>
                      <a:headEnd type="none" w="med" len="med"/>
                      <a:tailEnd type="none" w="med" len="med"/>
                    </a:lnB>
                    <a:solidFill>
                      <a:srgbClr val="FFFFFF"/>
                    </a:solidFill>
                  </a:tcPr>
                </a:tc>
              </a:tr>
              <a:tr h="0">
                <a:tc>
                  <a:txBody>
                    <a:bodyPr/>
                    <a:lstStyle/>
                    <a:p>
                      <a:pPr algn="ctr"/>
                      <a:r>
                        <a:rPr lang="en-GB" dirty="0">
                          <a:effectLst/>
                        </a:rPr>
                        <a:t>float</a:t>
                      </a:r>
                    </a:p>
                  </a:txBody>
                  <a:tcPr anchor="ctr">
                    <a:lnL w="7620" cap="flat" cmpd="sng" algn="ctr">
                      <a:solidFill>
                        <a:srgbClr val="20457F"/>
                      </a:solidFill>
                      <a:prstDash val="solid"/>
                      <a:round/>
                      <a:headEnd type="none" w="med" len="med"/>
                      <a:tailEnd type="none" w="med" len="med"/>
                    </a:lnL>
                    <a:lnR w="7620" cap="flat" cmpd="sng" algn="ctr">
                      <a:solidFill>
                        <a:srgbClr val="28467F"/>
                      </a:solidFill>
                      <a:prstDash val="solid"/>
                      <a:round/>
                      <a:headEnd type="none" w="med" len="med"/>
                      <a:tailEnd type="none" w="med" len="med"/>
                    </a:lnR>
                    <a:lnT w="7620" cap="flat" cmpd="sng" algn="ctr">
                      <a:solidFill>
                        <a:srgbClr val="20457F"/>
                      </a:solidFill>
                      <a:prstDash val="solid"/>
                      <a:round/>
                      <a:headEnd type="none" w="med" len="med"/>
                      <a:tailEnd type="none" w="med" len="med"/>
                    </a:lnT>
                    <a:lnB w="7620" cap="flat" cmpd="sng" algn="ctr">
                      <a:solidFill>
                        <a:srgbClr val="F0447F"/>
                      </a:solidFill>
                      <a:prstDash val="solid"/>
                      <a:round/>
                      <a:headEnd type="none" w="med" len="med"/>
                      <a:tailEnd type="none" w="med" len="med"/>
                    </a:lnB>
                    <a:solidFill>
                      <a:srgbClr val="FFFFFF"/>
                    </a:solidFill>
                  </a:tcPr>
                </a:tc>
                <a:tc>
                  <a:txBody>
                    <a:bodyPr/>
                    <a:lstStyle/>
                    <a:p>
                      <a:pPr algn="ctr"/>
                      <a:r>
                        <a:rPr lang="en-GB">
                          <a:effectLst/>
                        </a:rPr>
                        <a:t>4 byte</a:t>
                      </a:r>
                    </a:p>
                  </a:txBody>
                  <a:tcPr anchor="ctr">
                    <a:lnL w="7620" cap="flat" cmpd="sng" algn="ctr">
                      <a:solidFill>
                        <a:srgbClr val="28467F"/>
                      </a:solidFill>
                      <a:prstDash val="solid"/>
                      <a:round/>
                      <a:headEnd type="none" w="med" len="med"/>
                      <a:tailEnd type="none" w="med" len="med"/>
                    </a:lnL>
                    <a:lnR w="7620" cap="flat" cmpd="sng" algn="ctr">
                      <a:solidFill>
                        <a:srgbClr val="E0457F"/>
                      </a:solidFill>
                      <a:prstDash val="solid"/>
                      <a:round/>
                      <a:headEnd type="none" w="med" len="med"/>
                      <a:tailEnd type="none" w="med" len="med"/>
                    </a:lnR>
                    <a:lnT w="7620" cap="flat" cmpd="sng" algn="ctr">
                      <a:solidFill>
                        <a:srgbClr val="28467F"/>
                      </a:solidFill>
                      <a:prstDash val="solid"/>
                      <a:round/>
                      <a:headEnd type="none" w="med" len="med"/>
                      <a:tailEnd type="none" w="med" len="med"/>
                    </a:lnT>
                    <a:lnB w="7620" cap="flat" cmpd="sng" algn="ctr">
                      <a:solidFill>
                        <a:srgbClr val="00477F"/>
                      </a:solidFill>
                      <a:prstDash val="solid"/>
                      <a:round/>
                      <a:headEnd type="none" w="med" len="med"/>
                      <a:tailEnd type="none" w="med" len="med"/>
                    </a:lnB>
                    <a:solidFill>
                      <a:srgbClr val="FFFFFF"/>
                    </a:solidFill>
                  </a:tcPr>
                </a:tc>
                <a:tc>
                  <a:txBody>
                    <a:bodyPr/>
                    <a:lstStyle/>
                    <a:p>
                      <a:pPr algn="ctr"/>
                      <a:r>
                        <a:rPr lang="en-GB">
                          <a:effectLst/>
                        </a:rPr>
                        <a:t>1.2E-38 to 3.4E+38</a:t>
                      </a:r>
                    </a:p>
                  </a:txBody>
                  <a:tcPr anchor="ctr">
                    <a:lnL w="7620" cap="flat" cmpd="sng" algn="ctr">
                      <a:solidFill>
                        <a:srgbClr val="E0457F"/>
                      </a:solidFill>
                      <a:prstDash val="solid"/>
                      <a:round/>
                      <a:headEnd type="none" w="med" len="med"/>
                      <a:tailEnd type="none" w="med" len="med"/>
                    </a:lnL>
                    <a:lnR w="7620" cap="flat" cmpd="sng" algn="ctr">
                      <a:solidFill>
                        <a:srgbClr val="40467F"/>
                      </a:solidFill>
                      <a:prstDash val="solid"/>
                      <a:round/>
                      <a:headEnd type="none" w="med" len="med"/>
                      <a:tailEnd type="none" w="med" len="med"/>
                    </a:lnR>
                    <a:lnT w="7620" cap="flat" cmpd="sng" algn="ctr">
                      <a:solidFill>
                        <a:srgbClr val="E0457F"/>
                      </a:solidFill>
                      <a:prstDash val="solid"/>
                      <a:round/>
                      <a:headEnd type="none" w="med" len="med"/>
                      <a:tailEnd type="none" w="med" len="med"/>
                    </a:lnT>
                    <a:lnB w="7620" cap="flat" cmpd="sng" algn="ctr">
                      <a:solidFill>
                        <a:srgbClr val="60477F"/>
                      </a:solidFill>
                      <a:prstDash val="solid"/>
                      <a:round/>
                      <a:headEnd type="none" w="med" len="med"/>
                      <a:tailEnd type="none" w="med" len="med"/>
                    </a:lnB>
                    <a:solidFill>
                      <a:srgbClr val="FFFFFF"/>
                    </a:solidFill>
                  </a:tcPr>
                </a:tc>
                <a:tc>
                  <a:txBody>
                    <a:bodyPr/>
                    <a:lstStyle/>
                    <a:p>
                      <a:pPr algn="ctr"/>
                      <a:r>
                        <a:rPr lang="en-GB">
                          <a:effectLst/>
                        </a:rPr>
                        <a:t>6 decimal places</a:t>
                      </a:r>
                    </a:p>
                  </a:txBody>
                  <a:tcPr anchor="ctr">
                    <a:lnL w="7620" cap="flat" cmpd="sng" algn="ctr">
                      <a:solidFill>
                        <a:srgbClr val="40467F"/>
                      </a:solidFill>
                      <a:prstDash val="solid"/>
                      <a:round/>
                      <a:headEnd type="none" w="med" len="med"/>
                      <a:tailEnd type="none" w="med" len="med"/>
                    </a:lnL>
                    <a:lnR w="7620" cap="flat" cmpd="sng" algn="ctr">
                      <a:solidFill>
                        <a:srgbClr val="40467F"/>
                      </a:solidFill>
                      <a:prstDash val="solid"/>
                      <a:round/>
                      <a:headEnd type="none" w="med" len="med"/>
                      <a:tailEnd type="none" w="med" len="med"/>
                    </a:lnR>
                    <a:lnT w="7620" cap="flat" cmpd="sng" algn="ctr">
                      <a:solidFill>
                        <a:srgbClr val="40467F"/>
                      </a:solidFill>
                      <a:prstDash val="solid"/>
                      <a:round/>
                      <a:headEnd type="none" w="med" len="med"/>
                      <a:tailEnd type="none" w="med" len="med"/>
                    </a:lnT>
                    <a:lnB w="7620" cap="flat" cmpd="sng" algn="ctr">
                      <a:solidFill>
                        <a:srgbClr val="48477F"/>
                      </a:solidFill>
                      <a:prstDash val="solid"/>
                      <a:round/>
                      <a:headEnd type="none" w="med" len="med"/>
                      <a:tailEnd type="none" w="med" len="med"/>
                    </a:lnB>
                    <a:solidFill>
                      <a:srgbClr val="FFFFFF"/>
                    </a:solidFill>
                  </a:tcPr>
                </a:tc>
              </a:tr>
              <a:tr h="0">
                <a:tc>
                  <a:txBody>
                    <a:bodyPr/>
                    <a:lstStyle/>
                    <a:p>
                      <a:pPr algn="ctr"/>
                      <a:r>
                        <a:rPr lang="en-GB">
                          <a:effectLst/>
                        </a:rPr>
                        <a:t>double</a:t>
                      </a:r>
                    </a:p>
                  </a:txBody>
                  <a:tcPr anchor="ctr">
                    <a:lnL w="7620" cap="flat" cmpd="sng" algn="ctr">
                      <a:solidFill>
                        <a:srgbClr val="F0447F"/>
                      </a:solidFill>
                      <a:prstDash val="solid"/>
                      <a:round/>
                      <a:headEnd type="none" w="med" len="med"/>
                      <a:tailEnd type="none" w="med" len="med"/>
                    </a:lnL>
                    <a:lnR w="7620" cap="flat" cmpd="sng" algn="ctr">
                      <a:solidFill>
                        <a:srgbClr val="00477F"/>
                      </a:solidFill>
                      <a:prstDash val="solid"/>
                      <a:round/>
                      <a:headEnd type="none" w="med" len="med"/>
                      <a:tailEnd type="none" w="med" len="med"/>
                    </a:lnR>
                    <a:lnT w="7620" cap="flat" cmpd="sng" algn="ctr">
                      <a:solidFill>
                        <a:srgbClr val="F0447F"/>
                      </a:solidFill>
                      <a:prstDash val="solid"/>
                      <a:round/>
                      <a:headEnd type="none" w="med" len="med"/>
                      <a:tailEnd type="none" w="med" len="med"/>
                    </a:lnT>
                    <a:lnB w="7620" cap="flat" cmpd="sng" algn="ctr">
                      <a:solidFill>
                        <a:srgbClr val="F0447F"/>
                      </a:solidFill>
                      <a:prstDash val="solid"/>
                      <a:round/>
                      <a:headEnd type="none" w="med" len="med"/>
                      <a:tailEnd type="none" w="med" len="med"/>
                    </a:lnB>
                    <a:solidFill>
                      <a:srgbClr val="FFFFFF"/>
                    </a:solidFill>
                  </a:tcPr>
                </a:tc>
                <a:tc>
                  <a:txBody>
                    <a:bodyPr/>
                    <a:lstStyle/>
                    <a:p>
                      <a:pPr algn="ctr"/>
                      <a:r>
                        <a:rPr lang="en-GB">
                          <a:effectLst/>
                        </a:rPr>
                        <a:t>8 byte</a:t>
                      </a:r>
                    </a:p>
                  </a:txBody>
                  <a:tcPr anchor="ctr">
                    <a:lnL w="7620" cap="flat" cmpd="sng" algn="ctr">
                      <a:solidFill>
                        <a:srgbClr val="00477F"/>
                      </a:solidFill>
                      <a:prstDash val="solid"/>
                      <a:round/>
                      <a:headEnd type="none" w="med" len="med"/>
                      <a:tailEnd type="none" w="med" len="med"/>
                    </a:lnL>
                    <a:lnR w="7620" cap="flat" cmpd="sng" algn="ctr">
                      <a:solidFill>
                        <a:srgbClr val="60477F"/>
                      </a:solidFill>
                      <a:prstDash val="solid"/>
                      <a:round/>
                      <a:headEnd type="none" w="med" len="med"/>
                      <a:tailEnd type="none" w="med" len="med"/>
                    </a:lnR>
                    <a:lnT w="7620" cap="flat" cmpd="sng" algn="ctr">
                      <a:solidFill>
                        <a:srgbClr val="00477F"/>
                      </a:solidFill>
                      <a:prstDash val="solid"/>
                      <a:round/>
                      <a:headEnd type="none" w="med" len="med"/>
                      <a:tailEnd type="none" w="med" len="med"/>
                    </a:lnT>
                    <a:lnB w="7620" cap="flat" cmpd="sng" algn="ctr">
                      <a:solidFill>
                        <a:srgbClr val="C8457F"/>
                      </a:solidFill>
                      <a:prstDash val="solid"/>
                      <a:round/>
                      <a:headEnd type="none" w="med" len="med"/>
                      <a:tailEnd type="none" w="med" len="med"/>
                    </a:lnB>
                    <a:solidFill>
                      <a:srgbClr val="FFFFFF"/>
                    </a:solidFill>
                  </a:tcPr>
                </a:tc>
                <a:tc>
                  <a:txBody>
                    <a:bodyPr/>
                    <a:lstStyle/>
                    <a:p>
                      <a:pPr algn="ctr"/>
                      <a:r>
                        <a:rPr lang="en-GB">
                          <a:effectLst/>
                        </a:rPr>
                        <a:t>2.3E-308 to 1.7E+308</a:t>
                      </a:r>
                    </a:p>
                  </a:txBody>
                  <a:tcPr anchor="ctr">
                    <a:lnL w="7620" cap="flat" cmpd="sng" algn="ctr">
                      <a:solidFill>
                        <a:srgbClr val="60477F"/>
                      </a:solidFill>
                      <a:prstDash val="solid"/>
                      <a:round/>
                      <a:headEnd type="none" w="med" len="med"/>
                      <a:tailEnd type="none" w="med" len="med"/>
                    </a:lnL>
                    <a:lnR w="7620" cap="flat" cmpd="sng" algn="ctr">
                      <a:solidFill>
                        <a:srgbClr val="48477F"/>
                      </a:solidFill>
                      <a:prstDash val="solid"/>
                      <a:round/>
                      <a:headEnd type="none" w="med" len="med"/>
                      <a:tailEnd type="none" w="med" len="med"/>
                    </a:lnR>
                    <a:lnT w="7620" cap="flat" cmpd="sng" algn="ctr">
                      <a:solidFill>
                        <a:srgbClr val="60477F"/>
                      </a:solidFill>
                      <a:prstDash val="solid"/>
                      <a:round/>
                      <a:headEnd type="none" w="med" len="med"/>
                      <a:tailEnd type="none" w="med" len="med"/>
                    </a:lnT>
                    <a:lnB w="7620" cap="flat" cmpd="sng" algn="ctr">
                      <a:solidFill>
                        <a:srgbClr val="70467F"/>
                      </a:solidFill>
                      <a:prstDash val="solid"/>
                      <a:round/>
                      <a:headEnd type="none" w="med" len="med"/>
                      <a:tailEnd type="none" w="med" len="med"/>
                    </a:lnB>
                    <a:solidFill>
                      <a:srgbClr val="FFFFFF"/>
                    </a:solidFill>
                  </a:tcPr>
                </a:tc>
                <a:tc>
                  <a:txBody>
                    <a:bodyPr/>
                    <a:lstStyle/>
                    <a:p>
                      <a:pPr algn="ctr"/>
                      <a:r>
                        <a:rPr lang="en-GB">
                          <a:effectLst/>
                        </a:rPr>
                        <a:t>15 decimal places</a:t>
                      </a:r>
                    </a:p>
                  </a:txBody>
                  <a:tcPr anchor="ctr">
                    <a:lnL w="7620" cap="flat" cmpd="sng" algn="ctr">
                      <a:solidFill>
                        <a:srgbClr val="48477F"/>
                      </a:solidFill>
                      <a:prstDash val="solid"/>
                      <a:round/>
                      <a:headEnd type="none" w="med" len="med"/>
                      <a:tailEnd type="none" w="med" len="med"/>
                    </a:lnL>
                    <a:lnR w="7620" cap="flat" cmpd="sng" algn="ctr">
                      <a:solidFill>
                        <a:srgbClr val="48477F"/>
                      </a:solidFill>
                      <a:prstDash val="solid"/>
                      <a:round/>
                      <a:headEnd type="none" w="med" len="med"/>
                      <a:tailEnd type="none" w="med" len="med"/>
                    </a:lnR>
                    <a:lnT w="7620" cap="flat" cmpd="sng" algn="ctr">
                      <a:solidFill>
                        <a:srgbClr val="48477F"/>
                      </a:solidFill>
                      <a:prstDash val="solid"/>
                      <a:round/>
                      <a:headEnd type="none" w="med" len="med"/>
                      <a:tailEnd type="none" w="med" len="med"/>
                    </a:lnT>
                    <a:lnB w="7620" cap="flat" cmpd="sng" algn="ctr">
                      <a:solidFill>
                        <a:srgbClr val="68487F"/>
                      </a:solidFill>
                      <a:prstDash val="solid"/>
                      <a:round/>
                      <a:headEnd type="none" w="med" len="med"/>
                      <a:tailEnd type="none" w="med" len="med"/>
                    </a:lnB>
                    <a:solidFill>
                      <a:srgbClr val="FFFFFF"/>
                    </a:solidFill>
                  </a:tcPr>
                </a:tc>
              </a:tr>
              <a:tr h="0">
                <a:tc>
                  <a:txBody>
                    <a:bodyPr/>
                    <a:lstStyle/>
                    <a:p>
                      <a:pPr algn="ctr"/>
                      <a:r>
                        <a:rPr lang="en-GB">
                          <a:effectLst/>
                        </a:rPr>
                        <a:t>long double</a:t>
                      </a:r>
                    </a:p>
                  </a:txBody>
                  <a:tcPr anchor="ctr">
                    <a:lnL w="7620" cap="flat" cmpd="sng" algn="ctr">
                      <a:solidFill>
                        <a:srgbClr val="F0447F"/>
                      </a:solidFill>
                      <a:prstDash val="solid"/>
                      <a:round/>
                      <a:headEnd type="none" w="med" len="med"/>
                      <a:tailEnd type="none" w="med" len="med"/>
                    </a:lnL>
                    <a:lnR w="7620" cap="flat" cmpd="sng" algn="ctr">
                      <a:solidFill>
                        <a:srgbClr val="C8457F"/>
                      </a:solidFill>
                      <a:prstDash val="solid"/>
                      <a:round/>
                      <a:headEnd type="none" w="med" len="med"/>
                      <a:tailEnd type="none" w="med" len="med"/>
                    </a:lnR>
                    <a:lnT w="7620" cap="flat" cmpd="sng" algn="ctr">
                      <a:solidFill>
                        <a:srgbClr val="F0447F"/>
                      </a:solidFill>
                      <a:prstDash val="solid"/>
                      <a:round/>
                      <a:headEnd type="none" w="med" len="med"/>
                      <a:tailEnd type="none" w="med" len="med"/>
                    </a:lnT>
                    <a:lnB w="7620" cap="flat" cmpd="sng" algn="ctr">
                      <a:solidFill>
                        <a:srgbClr val="F0447F"/>
                      </a:solidFill>
                      <a:prstDash val="solid"/>
                      <a:round/>
                      <a:headEnd type="none" w="med" len="med"/>
                      <a:tailEnd type="none" w="med" len="med"/>
                    </a:lnB>
                    <a:solidFill>
                      <a:srgbClr val="FFFFFF"/>
                    </a:solidFill>
                  </a:tcPr>
                </a:tc>
                <a:tc>
                  <a:txBody>
                    <a:bodyPr/>
                    <a:lstStyle/>
                    <a:p>
                      <a:pPr algn="ctr"/>
                      <a:r>
                        <a:rPr lang="en-GB">
                          <a:effectLst/>
                        </a:rPr>
                        <a:t>10 byte</a:t>
                      </a:r>
                    </a:p>
                  </a:txBody>
                  <a:tcPr anchor="ctr">
                    <a:lnL w="7620" cap="flat" cmpd="sng" algn="ctr">
                      <a:solidFill>
                        <a:srgbClr val="C8457F"/>
                      </a:solidFill>
                      <a:prstDash val="solid"/>
                      <a:round/>
                      <a:headEnd type="none" w="med" len="med"/>
                      <a:tailEnd type="none" w="med" len="med"/>
                    </a:lnL>
                    <a:lnR w="7620" cap="flat" cmpd="sng" algn="ctr">
                      <a:solidFill>
                        <a:srgbClr val="70467F"/>
                      </a:solidFill>
                      <a:prstDash val="solid"/>
                      <a:round/>
                      <a:headEnd type="none" w="med" len="med"/>
                      <a:tailEnd type="none" w="med" len="med"/>
                    </a:lnR>
                    <a:lnT w="7620" cap="flat" cmpd="sng" algn="ctr">
                      <a:solidFill>
                        <a:srgbClr val="C8457F"/>
                      </a:solidFill>
                      <a:prstDash val="solid"/>
                      <a:round/>
                      <a:headEnd type="none" w="med" len="med"/>
                      <a:tailEnd type="none" w="med" len="med"/>
                    </a:lnT>
                    <a:lnB w="7620" cap="flat" cmpd="sng" algn="ctr">
                      <a:solidFill>
                        <a:srgbClr val="C8457F"/>
                      </a:solidFill>
                      <a:prstDash val="solid"/>
                      <a:round/>
                      <a:headEnd type="none" w="med" len="med"/>
                      <a:tailEnd type="none" w="med" len="med"/>
                    </a:lnB>
                    <a:solidFill>
                      <a:srgbClr val="FFFFFF"/>
                    </a:solidFill>
                  </a:tcPr>
                </a:tc>
                <a:tc>
                  <a:txBody>
                    <a:bodyPr/>
                    <a:lstStyle/>
                    <a:p>
                      <a:pPr algn="ctr"/>
                      <a:r>
                        <a:rPr lang="en-GB">
                          <a:effectLst/>
                        </a:rPr>
                        <a:t>3.4E-4932 to 1.1E+4932</a:t>
                      </a:r>
                    </a:p>
                  </a:txBody>
                  <a:tcPr anchor="ctr">
                    <a:lnL w="7620" cap="flat" cmpd="sng" algn="ctr">
                      <a:solidFill>
                        <a:srgbClr val="70467F"/>
                      </a:solidFill>
                      <a:prstDash val="solid"/>
                      <a:round/>
                      <a:headEnd type="none" w="med" len="med"/>
                      <a:tailEnd type="none" w="med" len="med"/>
                    </a:lnL>
                    <a:lnR w="7620" cap="flat" cmpd="sng" algn="ctr">
                      <a:solidFill>
                        <a:srgbClr val="68487F"/>
                      </a:solidFill>
                      <a:prstDash val="solid"/>
                      <a:round/>
                      <a:headEnd type="none" w="med" len="med"/>
                      <a:tailEnd type="none" w="med" len="med"/>
                    </a:lnR>
                    <a:lnT w="7620" cap="flat" cmpd="sng" algn="ctr">
                      <a:solidFill>
                        <a:srgbClr val="70467F"/>
                      </a:solidFill>
                      <a:prstDash val="solid"/>
                      <a:round/>
                      <a:headEnd type="none" w="med" len="med"/>
                      <a:tailEnd type="none" w="med" len="med"/>
                    </a:lnT>
                    <a:lnB w="7620" cap="flat" cmpd="sng" algn="ctr">
                      <a:solidFill>
                        <a:srgbClr val="70467F"/>
                      </a:solidFill>
                      <a:prstDash val="solid"/>
                      <a:round/>
                      <a:headEnd type="none" w="med" len="med"/>
                      <a:tailEnd type="none" w="med" len="med"/>
                    </a:lnB>
                    <a:solidFill>
                      <a:srgbClr val="FFFFFF"/>
                    </a:solidFill>
                  </a:tcPr>
                </a:tc>
                <a:tc>
                  <a:txBody>
                    <a:bodyPr/>
                    <a:lstStyle/>
                    <a:p>
                      <a:pPr algn="ctr"/>
                      <a:r>
                        <a:rPr lang="en-GB" dirty="0">
                          <a:effectLst/>
                        </a:rPr>
                        <a:t>19 decimal places</a:t>
                      </a:r>
                    </a:p>
                  </a:txBody>
                  <a:tcPr anchor="ctr">
                    <a:lnL w="7620" cap="flat" cmpd="sng" algn="ctr">
                      <a:solidFill>
                        <a:srgbClr val="68487F"/>
                      </a:solidFill>
                      <a:prstDash val="solid"/>
                      <a:round/>
                      <a:headEnd type="none" w="med" len="med"/>
                      <a:tailEnd type="none" w="med" len="med"/>
                    </a:lnL>
                    <a:lnR w="7620" cap="flat" cmpd="sng" algn="ctr">
                      <a:solidFill>
                        <a:srgbClr val="68487F"/>
                      </a:solidFill>
                      <a:prstDash val="solid"/>
                      <a:round/>
                      <a:headEnd type="none" w="med" len="med"/>
                      <a:tailEnd type="none" w="med" len="med"/>
                    </a:lnR>
                    <a:lnT w="7620" cap="flat" cmpd="sng" algn="ctr">
                      <a:solidFill>
                        <a:srgbClr val="68487F"/>
                      </a:solidFill>
                      <a:prstDash val="solid"/>
                      <a:round/>
                      <a:headEnd type="none" w="med" len="med"/>
                      <a:tailEnd type="none" w="med" len="med"/>
                    </a:lnT>
                    <a:lnB w="7620" cap="flat" cmpd="sng" algn="ctr">
                      <a:solidFill>
                        <a:srgbClr val="68487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2194774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39725"/>
          </a:xfrm>
        </p:spPr>
        <p:txBody>
          <a:bodyPr>
            <a:normAutofit fontScale="90000"/>
          </a:bodyPr>
          <a:lstStyle/>
          <a:p>
            <a:r>
              <a:rPr lang="en-US" dirty="0" smtClean="0">
                <a:solidFill>
                  <a:srgbClr val="023182"/>
                </a:solidFill>
                <a:latin typeface="Times New Roman"/>
                <a:cs typeface="Times New Roman"/>
                <a:sym typeface="Times New Roman"/>
              </a:rPr>
              <a:t>Data types</a:t>
            </a:r>
            <a:endParaRPr lang="en-GB" dirty="0"/>
          </a:p>
        </p:txBody>
      </p:sp>
      <p:sp>
        <p:nvSpPr>
          <p:cNvPr id="3" name="Content Placeholder 2"/>
          <p:cNvSpPr>
            <a:spLocks noGrp="1"/>
          </p:cNvSpPr>
          <p:nvPr>
            <p:ph idx="1"/>
          </p:nvPr>
        </p:nvSpPr>
        <p:spPr>
          <a:xfrm>
            <a:off x="838200" y="1101724"/>
            <a:ext cx="10515600" cy="4746625"/>
          </a:xfrm>
        </p:spPr>
        <p:txBody>
          <a:bodyPr/>
          <a:lstStyle/>
          <a:p>
            <a:pPr marL="0" indent="0">
              <a:buNone/>
            </a:pPr>
            <a:r>
              <a:rPr lang="en-GB" b="1" dirty="0">
                <a:latin typeface="Times New Roman" panose="02020603050405020304" pitchFamily="18" charset="0"/>
                <a:cs typeface="Times New Roman" panose="02020603050405020304" pitchFamily="18" charset="0"/>
              </a:rPr>
              <a:t>The void Type</a:t>
            </a:r>
          </a:p>
          <a:p>
            <a:pPr marL="0" indent="0">
              <a:buNone/>
            </a:pPr>
            <a:r>
              <a:rPr lang="en-GB" sz="2400" dirty="0">
                <a:latin typeface="Times New Roman" panose="02020603050405020304" pitchFamily="18" charset="0"/>
                <a:cs typeface="Times New Roman" panose="02020603050405020304" pitchFamily="18" charset="0"/>
              </a:rPr>
              <a:t>The void type specifies that no value is available. It is used in three kinds of </a:t>
            </a:r>
            <a:r>
              <a:rPr lang="en-GB" sz="2400" dirty="0" smtClean="0">
                <a:latin typeface="Times New Roman" panose="02020603050405020304" pitchFamily="18" charset="0"/>
                <a:cs typeface="Times New Roman" panose="02020603050405020304" pitchFamily="18" charset="0"/>
              </a:rPr>
              <a:t>situations:</a:t>
            </a:r>
          </a:p>
          <a:p>
            <a:pPr marL="0" indent="0">
              <a:buNone/>
            </a:pPr>
            <a:endParaRPr lang="en-GB" sz="2400" dirty="0">
              <a:latin typeface="Times New Roman" panose="02020603050405020304" pitchFamily="18" charset="0"/>
              <a:cs typeface="Times New Roman" panose="02020603050405020304" pitchFamily="18" charset="0"/>
            </a:endParaRPr>
          </a:p>
          <a:p>
            <a:pPr marL="0" indent="0">
              <a:buNone/>
            </a:pP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2333678675"/>
              </p:ext>
            </p:extLst>
          </p:nvPr>
        </p:nvGraphicFramePr>
        <p:xfrm>
          <a:off x="1009648" y="2759353"/>
          <a:ext cx="9829801" cy="3793847"/>
        </p:xfrm>
        <a:graphic>
          <a:graphicData uri="http://schemas.openxmlformats.org/drawingml/2006/table">
            <a:tbl>
              <a:tblPr/>
              <a:tblGrid>
                <a:gridCol w="892537"/>
                <a:gridCol w="8937264"/>
              </a:tblGrid>
              <a:tr h="304350">
                <a:tc>
                  <a:txBody>
                    <a:bodyPr/>
                    <a:lstStyle/>
                    <a:p>
                      <a:pPr algn="l"/>
                      <a:r>
                        <a:rPr lang="en-GB" sz="1200" dirty="0" smtClean="0">
                          <a:effectLst/>
                        </a:rPr>
                        <a:t>No</a:t>
                      </a:r>
                      <a:r>
                        <a:rPr lang="en-GB" sz="1200" dirty="0">
                          <a:effectLst/>
                        </a:rPr>
                        <a:t>.</a:t>
                      </a:r>
                    </a:p>
                  </a:txBody>
                  <a:tcPr marL="59607" marR="59607" marT="29804" marB="29804" anchor="ctr">
                    <a:lnL w="7620" cap="flat" cmpd="sng" algn="ctr">
                      <a:solidFill>
                        <a:srgbClr val="60B234"/>
                      </a:solidFill>
                      <a:prstDash val="solid"/>
                      <a:round/>
                      <a:headEnd type="none" w="med" len="med"/>
                      <a:tailEnd type="none" w="med" len="med"/>
                    </a:lnL>
                    <a:lnR w="7620" cap="flat" cmpd="sng" algn="ctr">
                      <a:solidFill>
                        <a:srgbClr val="B84234"/>
                      </a:solidFill>
                      <a:prstDash val="solid"/>
                      <a:round/>
                      <a:headEnd type="none" w="med" len="med"/>
                      <a:tailEnd type="none" w="med" len="med"/>
                    </a:lnR>
                    <a:lnT w="7620" cap="flat" cmpd="sng" algn="ctr">
                      <a:solidFill>
                        <a:srgbClr val="60B234"/>
                      </a:solidFill>
                      <a:prstDash val="solid"/>
                      <a:round/>
                      <a:headEnd type="none" w="med" len="med"/>
                      <a:tailEnd type="none" w="med" len="med"/>
                    </a:lnT>
                    <a:lnB w="7620" cap="flat" cmpd="sng" algn="ctr">
                      <a:solidFill>
                        <a:srgbClr val="A0B434"/>
                      </a:solidFill>
                      <a:prstDash val="solid"/>
                      <a:round/>
                      <a:headEnd type="none" w="med" len="med"/>
                      <a:tailEnd type="none" w="med" len="med"/>
                    </a:lnB>
                    <a:solidFill>
                      <a:srgbClr val="FFFFFF"/>
                    </a:solidFill>
                  </a:tcPr>
                </a:tc>
                <a:tc>
                  <a:txBody>
                    <a:bodyPr/>
                    <a:lstStyle/>
                    <a:p>
                      <a:pPr algn="l"/>
                      <a:r>
                        <a:rPr lang="en-GB" sz="1200" dirty="0">
                          <a:effectLst/>
                        </a:rPr>
                        <a:t>Types &amp; Description</a:t>
                      </a:r>
                    </a:p>
                  </a:txBody>
                  <a:tcPr marL="59607" marR="59607" marT="29804" marB="29804" anchor="ctr">
                    <a:lnL w="7620" cap="flat" cmpd="sng" algn="ctr">
                      <a:solidFill>
                        <a:srgbClr val="B84234"/>
                      </a:solidFill>
                      <a:prstDash val="solid"/>
                      <a:round/>
                      <a:headEnd type="none" w="med" len="med"/>
                      <a:tailEnd type="none" w="med" len="med"/>
                    </a:lnL>
                    <a:lnR w="7620" cap="flat" cmpd="sng" algn="ctr">
                      <a:solidFill>
                        <a:srgbClr val="B84234"/>
                      </a:solidFill>
                      <a:prstDash val="solid"/>
                      <a:round/>
                      <a:headEnd type="none" w="med" len="med"/>
                      <a:tailEnd type="none" w="med" len="med"/>
                    </a:lnR>
                    <a:lnT w="7620" cap="flat" cmpd="sng" algn="ctr">
                      <a:solidFill>
                        <a:srgbClr val="B84234"/>
                      </a:solidFill>
                      <a:prstDash val="solid"/>
                      <a:round/>
                      <a:headEnd type="none" w="med" len="med"/>
                      <a:tailEnd type="none" w="med" len="med"/>
                    </a:lnT>
                    <a:lnB w="7620" cap="flat" cmpd="sng" algn="ctr">
                      <a:solidFill>
                        <a:srgbClr val="684734"/>
                      </a:solidFill>
                      <a:prstDash val="solid"/>
                      <a:round/>
                      <a:headEnd type="none" w="med" len="med"/>
                      <a:tailEnd type="none" w="med" len="med"/>
                    </a:lnB>
                    <a:solidFill>
                      <a:srgbClr val="FFFFFF"/>
                    </a:solidFill>
                  </a:tcPr>
                </a:tc>
              </a:tr>
              <a:tr h="1112594">
                <a:tc>
                  <a:txBody>
                    <a:bodyPr/>
                    <a:lstStyle/>
                    <a:p>
                      <a:pPr algn="ctr"/>
                      <a:r>
                        <a:rPr lang="en-GB" sz="1200" dirty="0">
                          <a:effectLst/>
                        </a:rPr>
                        <a:t>1</a:t>
                      </a:r>
                    </a:p>
                  </a:txBody>
                  <a:tcPr marL="59607" marR="59607" marT="29804" marB="29804" anchor="ctr">
                    <a:lnL w="7620" cap="flat" cmpd="sng" algn="ctr">
                      <a:solidFill>
                        <a:srgbClr val="A0B434"/>
                      </a:solidFill>
                      <a:prstDash val="solid"/>
                      <a:round/>
                      <a:headEnd type="none" w="med" len="med"/>
                      <a:tailEnd type="none" w="med" len="med"/>
                    </a:lnL>
                    <a:lnR w="7620" cap="flat" cmpd="sng" algn="ctr">
                      <a:solidFill>
                        <a:srgbClr val="684734"/>
                      </a:solidFill>
                      <a:prstDash val="solid"/>
                      <a:round/>
                      <a:headEnd type="none" w="med" len="med"/>
                      <a:tailEnd type="none" w="med" len="med"/>
                    </a:lnR>
                    <a:lnT w="7620" cap="flat" cmpd="sng" algn="ctr">
                      <a:solidFill>
                        <a:srgbClr val="A0B434"/>
                      </a:solidFill>
                      <a:prstDash val="solid"/>
                      <a:round/>
                      <a:headEnd type="none" w="med" len="med"/>
                      <a:tailEnd type="none" w="med" len="med"/>
                    </a:lnT>
                    <a:lnB w="7620" cap="flat" cmpd="sng" algn="ctr">
                      <a:solidFill>
                        <a:srgbClr val="B84234"/>
                      </a:solidFill>
                      <a:prstDash val="solid"/>
                      <a:round/>
                      <a:headEnd type="none" w="med" len="med"/>
                      <a:tailEnd type="none" w="med" len="med"/>
                    </a:lnB>
                    <a:solidFill>
                      <a:srgbClr val="FFFFFF"/>
                    </a:solidFill>
                  </a:tcPr>
                </a:tc>
                <a:tc>
                  <a:txBody>
                    <a:bodyPr/>
                    <a:lstStyle/>
                    <a:p>
                      <a:pPr algn="ctr"/>
                      <a:r>
                        <a:rPr lang="en-GB" sz="1200" b="1" dirty="0">
                          <a:effectLst/>
                        </a:rPr>
                        <a:t>Function returns as void</a:t>
                      </a:r>
                      <a:endParaRPr lang="en-GB" sz="1200" dirty="0">
                        <a:effectLst/>
                      </a:endParaRPr>
                    </a:p>
                    <a:p>
                      <a:pPr algn="ctr"/>
                      <a:r>
                        <a:rPr lang="en-GB" sz="1200" dirty="0">
                          <a:effectLst/>
                        </a:rPr>
                        <a:t>There are various functions in C which do not return any value or you can say they return void. A function with no return value has the return type as void. For example, </a:t>
                      </a:r>
                      <a:r>
                        <a:rPr lang="en-GB" sz="1200" b="1" dirty="0">
                          <a:effectLst/>
                        </a:rPr>
                        <a:t>void exit (int status);</a:t>
                      </a:r>
                      <a:endParaRPr lang="en-GB" sz="1200" dirty="0">
                        <a:effectLst/>
                      </a:endParaRPr>
                    </a:p>
                  </a:txBody>
                  <a:tcPr marL="59607" marR="59607" marT="29804" marB="29804" anchor="ctr">
                    <a:lnL w="7620" cap="flat" cmpd="sng" algn="ctr">
                      <a:solidFill>
                        <a:srgbClr val="684734"/>
                      </a:solidFill>
                      <a:prstDash val="solid"/>
                      <a:round/>
                      <a:headEnd type="none" w="med" len="med"/>
                      <a:tailEnd type="none" w="med" len="med"/>
                    </a:lnL>
                    <a:lnR w="7620" cap="flat" cmpd="sng" algn="ctr">
                      <a:solidFill>
                        <a:srgbClr val="684734"/>
                      </a:solidFill>
                      <a:prstDash val="solid"/>
                      <a:round/>
                      <a:headEnd type="none" w="med" len="med"/>
                      <a:tailEnd type="none" w="med" len="med"/>
                    </a:lnR>
                    <a:lnT w="7620" cap="flat" cmpd="sng" algn="ctr">
                      <a:solidFill>
                        <a:srgbClr val="684734"/>
                      </a:solidFill>
                      <a:prstDash val="solid"/>
                      <a:round/>
                      <a:headEnd type="none" w="med" len="med"/>
                      <a:tailEnd type="none" w="med" len="med"/>
                    </a:lnT>
                    <a:lnB w="7620" cap="flat" cmpd="sng" algn="ctr">
                      <a:solidFill>
                        <a:srgbClr val="684734"/>
                      </a:solidFill>
                      <a:prstDash val="solid"/>
                      <a:round/>
                      <a:headEnd type="none" w="med" len="med"/>
                      <a:tailEnd type="none" w="med" len="med"/>
                    </a:lnB>
                    <a:solidFill>
                      <a:srgbClr val="FFFFFF"/>
                    </a:solidFill>
                  </a:tcPr>
                </a:tc>
              </a:tr>
              <a:tr h="960876">
                <a:tc>
                  <a:txBody>
                    <a:bodyPr/>
                    <a:lstStyle/>
                    <a:p>
                      <a:pPr algn="ctr"/>
                      <a:r>
                        <a:rPr lang="en-GB" sz="1200">
                          <a:effectLst/>
                        </a:rPr>
                        <a:t>2</a:t>
                      </a:r>
                    </a:p>
                  </a:txBody>
                  <a:tcPr marL="59607" marR="59607" marT="29804" marB="29804" anchor="ctr">
                    <a:lnL w="7620" cap="flat" cmpd="sng" algn="ctr">
                      <a:solidFill>
                        <a:srgbClr val="B84234"/>
                      </a:solidFill>
                      <a:prstDash val="solid"/>
                      <a:round/>
                      <a:headEnd type="none" w="med" len="med"/>
                      <a:tailEnd type="none" w="med" len="med"/>
                    </a:lnL>
                    <a:lnR w="7620" cap="flat" cmpd="sng" algn="ctr">
                      <a:solidFill>
                        <a:srgbClr val="684734"/>
                      </a:solidFill>
                      <a:prstDash val="solid"/>
                      <a:round/>
                      <a:headEnd type="none" w="med" len="med"/>
                      <a:tailEnd type="none" w="med" len="med"/>
                    </a:lnR>
                    <a:lnT w="7620" cap="flat" cmpd="sng" algn="ctr">
                      <a:solidFill>
                        <a:srgbClr val="B84234"/>
                      </a:solidFill>
                      <a:prstDash val="solid"/>
                      <a:round/>
                      <a:headEnd type="none" w="med" len="med"/>
                      <a:tailEnd type="none" w="med" len="med"/>
                    </a:lnT>
                    <a:lnB w="7620" cap="flat" cmpd="sng" algn="ctr">
                      <a:solidFill>
                        <a:srgbClr val="504734"/>
                      </a:solidFill>
                      <a:prstDash val="solid"/>
                      <a:round/>
                      <a:headEnd type="none" w="med" len="med"/>
                      <a:tailEnd type="none" w="med" len="med"/>
                    </a:lnB>
                    <a:solidFill>
                      <a:srgbClr val="FFFFFF"/>
                    </a:solidFill>
                  </a:tcPr>
                </a:tc>
                <a:tc>
                  <a:txBody>
                    <a:bodyPr/>
                    <a:lstStyle/>
                    <a:p>
                      <a:pPr algn="ctr"/>
                      <a:r>
                        <a:rPr lang="en-GB" sz="1200" b="1" dirty="0">
                          <a:effectLst/>
                        </a:rPr>
                        <a:t>Function arguments as void</a:t>
                      </a:r>
                      <a:endParaRPr lang="en-GB" sz="1200" dirty="0">
                        <a:effectLst/>
                      </a:endParaRPr>
                    </a:p>
                    <a:p>
                      <a:pPr algn="ctr"/>
                      <a:r>
                        <a:rPr lang="en-GB" sz="1200" dirty="0">
                          <a:effectLst/>
                        </a:rPr>
                        <a:t>There are various functions in C which do not accept any parameter. A function with no parameter can accept a void. For example, </a:t>
                      </a:r>
                      <a:r>
                        <a:rPr lang="en-GB" sz="1200" b="1" dirty="0">
                          <a:effectLst/>
                        </a:rPr>
                        <a:t>int rand(void);</a:t>
                      </a:r>
                      <a:endParaRPr lang="en-GB" sz="1200" dirty="0">
                        <a:effectLst/>
                      </a:endParaRPr>
                    </a:p>
                  </a:txBody>
                  <a:tcPr marL="59607" marR="59607" marT="29804" marB="29804" anchor="ctr">
                    <a:lnL w="7620" cap="flat" cmpd="sng" algn="ctr">
                      <a:solidFill>
                        <a:srgbClr val="684734"/>
                      </a:solidFill>
                      <a:prstDash val="solid"/>
                      <a:round/>
                      <a:headEnd type="none" w="med" len="med"/>
                      <a:tailEnd type="none" w="med" len="med"/>
                    </a:lnL>
                    <a:lnR w="7620" cap="flat" cmpd="sng" algn="ctr">
                      <a:solidFill>
                        <a:srgbClr val="684734"/>
                      </a:solidFill>
                      <a:prstDash val="solid"/>
                      <a:round/>
                      <a:headEnd type="none" w="med" len="med"/>
                      <a:tailEnd type="none" w="med" len="med"/>
                    </a:lnR>
                    <a:lnT w="7620" cap="flat" cmpd="sng" algn="ctr">
                      <a:solidFill>
                        <a:srgbClr val="684734"/>
                      </a:solidFill>
                      <a:prstDash val="solid"/>
                      <a:round/>
                      <a:headEnd type="none" w="med" len="med"/>
                      <a:tailEnd type="none" w="med" len="med"/>
                    </a:lnT>
                    <a:lnB w="7620" cap="flat" cmpd="sng" algn="ctr">
                      <a:solidFill>
                        <a:srgbClr val="A84634"/>
                      </a:solidFill>
                      <a:prstDash val="solid"/>
                      <a:round/>
                      <a:headEnd type="none" w="med" len="med"/>
                      <a:tailEnd type="none" w="med" len="med"/>
                    </a:lnB>
                    <a:solidFill>
                      <a:srgbClr val="FFFFFF"/>
                    </a:solidFill>
                  </a:tcPr>
                </a:tc>
              </a:tr>
              <a:tr h="1416027">
                <a:tc>
                  <a:txBody>
                    <a:bodyPr/>
                    <a:lstStyle/>
                    <a:p>
                      <a:pPr algn="ctr"/>
                      <a:r>
                        <a:rPr lang="en-GB" sz="1200">
                          <a:effectLst/>
                        </a:rPr>
                        <a:t>3</a:t>
                      </a:r>
                    </a:p>
                  </a:txBody>
                  <a:tcPr marL="59607" marR="59607" marT="29804" marB="29804" anchor="ctr">
                    <a:lnL w="7620" cap="flat" cmpd="sng" algn="ctr">
                      <a:solidFill>
                        <a:srgbClr val="504734"/>
                      </a:solidFill>
                      <a:prstDash val="solid"/>
                      <a:round/>
                      <a:headEnd type="none" w="med" len="med"/>
                      <a:tailEnd type="none" w="med" len="med"/>
                    </a:lnL>
                    <a:lnR w="7620" cap="flat" cmpd="sng" algn="ctr">
                      <a:solidFill>
                        <a:srgbClr val="A84634"/>
                      </a:solidFill>
                      <a:prstDash val="solid"/>
                      <a:round/>
                      <a:headEnd type="none" w="med" len="med"/>
                      <a:tailEnd type="none" w="med" len="med"/>
                    </a:lnR>
                    <a:lnT w="7620" cap="flat" cmpd="sng" algn="ctr">
                      <a:solidFill>
                        <a:srgbClr val="504734"/>
                      </a:solidFill>
                      <a:prstDash val="solid"/>
                      <a:round/>
                      <a:headEnd type="none" w="med" len="med"/>
                      <a:tailEnd type="none" w="med" len="med"/>
                    </a:lnT>
                    <a:lnB w="7620" cap="flat" cmpd="sng" algn="ctr">
                      <a:solidFill>
                        <a:srgbClr val="504734"/>
                      </a:solidFill>
                      <a:prstDash val="solid"/>
                      <a:round/>
                      <a:headEnd type="none" w="med" len="med"/>
                      <a:tailEnd type="none" w="med" len="med"/>
                    </a:lnB>
                    <a:solidFill>
                      <a:srgbClr val="FFFFFF"/>
                    </a:solidFill>
                  </a:tcPr>
                </a:tc>
                <a:tc>
                  <a:txBody>
                    <a:bodyPr/>
                    <a:lstStyle/>
                    <a:p>
                      <a:pPr algn="ctr"/>
                      <a:r>
                        <a:rPr lang="en-GB" sz="1200" b="1" dirty="0">
                          <a:effectLst/>
                        </a:rPr>
                        <a:t>Pointers to void</a:t>
                      </a:r>
                      <a:endParaRPr lang="en-GB" sz="1200" dirty="0">
                        <a:effectLst/>
                      </a:endParaRPr>
                    </a:p>
                    <a:p>
                      <a:pPr algn="ctr"/>
                      <a:r>
                        <a:rPr lang="en-GB" sz="1200" dirty="0">
                          <a:effectLst/>
                        </a:rPr>
                        <a:t>A pointer of type void * represents the address of an object, but not its type. For example, a memory allocation function </a:t>
                      </a:r>
                      <a:r>
                        <a:rPr lang="en-GB" sz="1200" b="1" dirty="0">
                          <a:effectLst/>
                        </a:rPr>
                        <a:t>void *</a:t>
                      </a:r>
                      <a:r>
                        <a:rPr lang="en-GB" sz="1200" b="1" dirty="0" err="1">
                          <a:effectLst/>
                        </a:rPr>
                        <a:t>malloc</a:t>
                      </a:r>
                      <a:r>
                        <a:rPr lang="en-GB" sz="1200" b="1" dirty="0">
                          <a:effectLst/>
                        </a:rPr>
                        <a:t>( </a:t>
                      </a:r>
                      <a:r>
                        <a:rPr lang="en-GB" sz="1200" b="1" dirty="0" err="1">
                          <a:effectLst/>
                        </a:rPr>
                        <a:t>size_t</a:t>
                      </a:r>
                      <a:r>
                        <a:rPr lang="en-GB" sz="1200" b="1" dirty="0">
                          <a:effectLst/>
                        </a:rPr>
                        <a:t> size );</a:t>
                      </a:r>
                      <a:r>
                        <a:rPr lang="en-GB" sz="1200" dirty="0">
                          <a:effectLst/>
                        </a:rPr>
                        <a:t> returns a pointer to void which can be casted to any data type.</a:t>
                      </a:r>
                    </a:p>
                  </a:txBody>
                  <a:tcPr marL="59607" marR="59607" marT="29804" marB="29804" anchor="ctr">
                    <a:lnL w="7620" cap="flat" cmpd="sng" algn="ctr">
                      <a:solidFill>
                        <a:srgbClr val="A84634"/>
                      </a:solidFill>
                      <a:prstDash val="solid"/>
                      <a:round/>
                      <a:headEnd type="none" w="med" len="med"/>
                      <a:tailEnd type="none" w="med" len="med"/>
                    </a:lnL>
                    <a:lnR w="7620" cap="flat" cmpd="sng" algn="ctr">
                      <a:solidFill>
                        <a:srgbClr val="A84634"/>
                      </a:solidFill>
                      <a:prstDash val="solid"/>
                      <a:round/>
                      <a:headEnd type="none" w="med" len="med"/>
                      <a:tailEnd type="none" w="med" len="med"/>
                    </a:lnR>
                    <a:lnT w="7620" cap="flat" cmpd="sng" algn="ctr">
                      <a:solidFill>
                        <a:srgbClr val="A84634"/>
                      </a:solidFill>
                      <a:prstDash val="solid"/>
                      <a:round/>
                      <a:headEnd type="none" w="med" len="med"/>
                      <a:tailEnd type="none" w="med" len="med"/>
                    </a:lnT>
                    <a:lnB w="7620" cap="flat" cmpd="sng" algn="ctr">
                      <a:solidFill>
                        <a:srgbClr val="A84634"/>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64964434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fontScale="90000"/>
          </a:bodyPr>
          <a:lstStyle/>
          <a:p>
            <a:r>
              <a:rPr lang="en-US" dirty="0" smtClean="0">
                <a:solidFill>
                  <a:srgbClr val="023182"/>
                </a:solidFill>
                <a:latin typeface="Times New Roman"/>
                <a:cs typeface="Times New Roman"/>
                <a:sym typeface="Times New Roman"/>
              </a:rPr>
              <a:t>Data types</a:t>
            </a:r>
            <a:endParaRPr lang="en-GB" dirty="0"/>
          </a:p>
        </p:txBody>
      </p:sp>
      <p:sp>
        <p:nvSpPr>
          <p:cNvPr id="3" name="Content Placeholder 2"/>
          <p:cNvSpPr>
            <a:spLocks noGrp="1"/>
          </p:cNvSpPr>
          <p:nvPr>
            <p:ph idx="1"/>
          </p:nvPr>
        </p:nvSpPr>
        <p:spPr>
          <a:xfrm>
            <a:off x="838200" y="1825625"/>
            <a:ext cx="10515600" cy="1727200"/>
          </a:xfrm>
        </p:spPr>
        <p:txBody>
          <a:bodyPr>
            <a:normAutofit/>
          </a:bodyPr>
          <a:lstStyle/>
          <a:p>
            <a:pPr marL="0" indent="0">
              <a:buNone/>
            </a:pPr>
            <a:r>
              <a:rPr lang="en-GB" b="1" dirty="0" smtClean="0"/>
              <a:t>Basic Format Specifiers</a:t>
            </a:r>
          </a:p>
          <a:p>
            <a:pPr marL="0" indent="0">
              <a:buNone/>
            </a:pPr>
            <a:r>
              <a:rPr lang="en-GB" sz="2000" dirty="0" smtClean="0"/>
              <a:t>in C are special symbols used in functions like printf() and scanf() to tell the compiler what type of data is being printed or read. Think of them as placeholders for variables.</a:t>
            </a:r>
            <a:endParaRPr lang="en-GB" sz="2000" dirty="0"/>
          </a:p>
        </p:txBody>
      </p:sp>
      <p:graphicFrame>
        <p:nvGraphicFramePr>
          <p:cNvPr id="4" name="Table 3"/>
          <p:cNvGraphicFramePr>
            <a:graphicFrameLocks noGrp="1"/>
          </p:cNvGraphicFramePr>
          <p:nvPr>
            <p:extLst>
              <p:ext uri="{D42A27DB-BD31-4B8C-83A1-F6EECF244321}">
                <p14:modId xmlns:p14="http://schemas.microsoft.com/office/powerpoint/2010/main" val="1703001411"/>
              </p:ext>
            </p:extLst>
          </p:nvPr>
        </p:nvGraphicFramePr>
        <p:xfrm>
          <a:off x="2181224" y="3687762"/>
          <a:ext cx="5810251" cy="3018045"/>
        </p:xfrm>
        <a:graphic>
          <a:graphicData uri="http://schemas.openxmlformats.org/drawingml/2006/table">
            <a:tbl>
              <a:tblPr firstRow="1" bandRow="1">
                <a:tableStyleId>{5C22544A-7EE6-4342-B048-85BDC9FD1C3A}</a:tableStyleId>
              </a:tblPr>
              <a:tblGrid>
                <a:gridCol w="2990851">
                  <a:extLst>
                    <a:ext uri="{9D8B030D-6E8A-4147-A177-3AD203B41FA5}">
                      <a16:colId xmlns:a16="http://schemas.microsoft.com/office/drawing/2014/main" xmlns="" val="524173363"/>
                    </a:ext>
                  </a:extLst>
                </a:gridCol>
                <a:gridCol w="2819400">
                  <a:extLst>
                    <a:ext uri="{9D8B030D-6E8A-4147-A177-3AD203B41FA5}">
                      <a16:colId xmlns:a16="http://schemas.microsoft.com/office/drawing/2014/main" xmlns="" val="3359291585"/>
                    </a:ext>
                  </a:extLst>
                </a:gridCol>
              </a:tblGrid>
              <a:tr h="149642">
                <a:tc>
                  <a:txBody>
                    <a:bodyPr/>
                    <a:lstStyle/>
                    <a:p>
                      <a:r>
                        <a:rPr lang="en-GB" sz="1800" b="1" i="0" kern="1200" dirty="0" smtClean="0">
                          <a:solidFill>
                            <a:schemeClr val="lt1"/>
                          </a:solidFill>
                          <a:effectLst/>
                          <a:latin typeface="+mn-lt"/>
                          <a:ea typeface="+mn-ea"/>
                          <a:cs typeface="+mn-cs"/>
                        </a:rPr>
                        <a:t>Format Specifier</a:t>
                      </a:r>
                      <a:endParaRPr lang="en-GB" dirty="0"/>
                    </a:p>
                  </a:txBody>
                  <a:tcPr/>
                </a:tc>
                <a:tc>
                  <a:txBody>
                    <a:bodyPr/>
                    <a:lstStyle/>
                    <a:p>
                      <a:r>
                        <a:rPr lang="en-GB" sz="1800" b="1" i="0" kern="1200" dirty="0" smtClean="0">
                          <a:solidFill>
                            <a:schemeClr val="lt1"/>
                          </a:solidFill>
                          <a:effectLst/>
                          <a:latin typeface="+mn-lt"/>
                          <a:ea typeface="+mn-ea"/>
                          <a:cs typeface="+mn-cs"/>
                        </a:rPr>
                        <a:t>Data Type</a:t>
                      </a:r>
                      <a:endParaRPr lang="en-GB" dirty="0"/>
                    </a:p>
                  </a:txBody>
                  <a:tcPr/>
                </a:tc>
                <a:extLst>
                  <a:ext uri="{0D108BD9-81ED-4DB2-BD59-A6C34878D82A}">
                    <a16:rowId xmlns:a16="http://schemas.microsoft.com/office/drawing/2014/main" xmlns="" val="676815519"/>
                  </a:ext>
                </a:extLst>
              </a:tr>
              <a:tr h="487855">
                <a:tc>
                  <a:txBody>
                    <a:bodyPr/>
                    <a:lstStyle/>
                    <a:p>
                      <a:r>
                        <a:rPr lang="en-GB" sz="2400" dirty="0" smtClean="0"/>
                        <a:t>%d or %</a:t>
                      </a:r>
                      <a:r>
                        <a:rPr lang="en-GB" sz="2400" dirty="0" err="1" smtClean="0"/>
                        <a:t>i</a:t>
                      </a:r>
                      <a:endParaRPr lang="en-GB" sz="2400" dirty="0"/>
                    </a:p>
                  </a:txBody>
                  <a:tcPr/>
                </a:tc>
                <a:tc>
                  <a:txBody>
                    <a:bodyPr/>
                    <a:lstStyle/>
                    <a:p>
                      <a:r>
                        <a:rPr lang="en-GB" sz="2400" b="0" i="0" kern="1200" dirty="0" smtClean="0">
                          <a:solidFill>
                            <a:schemeClr val="dk1"/>
                          </a:solidFill>
                          <a:effectLst/>
                          <a:latin typeface="+mn-lt"/>
                          <a:ea typeface="+mn-ea"/>
                          <a:cs typeface="+mn-cs"/>
                        </a:rPr>
                        <a:t>int</a:t>
                      </a:r>
                      <a:endParaRPr lang="en-GB" sz="2400" dirty="0"/>
                    </a:p>
                  </a:txBody>
                  <a:tcPr/>
                </a:tc>
                <a:extLst>
                  <a:ext uri="{0D108BD9-81ED-4DB2-BD59-A6C34878D82A}">
                    <a16:rowId xmlns:a16="http://schemas.microsoft.com/office/drawing/2014/main" xmlns="" val="3802859777"/>
                  </a:ext>
                </a:extLst>
              </a:tr>
              <a:tr h="487855">
                <a:tc>
                  <a:txBody>
                    <a:bodyPr/>
                    <a:lstStyle/>
                    <a:p>
                      <a:r>
                        <a:rPr lang="en-GB" sz="2400" dirty="0" smtClean="0"/>
                        <a:t>%f</a:t>
                      </a:r>
                      <a:r>
                        <a:rPr lang="en-GB" sz="2400" b="0" i="0" kern="1200" dirty="0" smtClean="0">
                          <a:solidFill>
                            <a:schemeClr val="dk1"/>
                          </a:solidFill>
                          <a:effectLst/>
                          <a:latin typeface="+mn-lt"/>
                          <a:ea typeface="+mn-ea"/>
                          <a:cs typeface="+mn-cs"/>
                        </a:rPr>
                        <a:t> or </a:t>
                      </a:r>
                      <a:r>
                        <a:rPr lang="en-GB" sz="2400" dirty="0" smtClean="0"/>
                        <a:t>%F</a:t>
                      </a:r>
                      <a:endParaRPr lang="en-GB" sz="2400" dirty="0"/>
                    </a:p>
                  </a:txBody>
                  <a:tcPr/>
                </a:tc>
                <a:tc>
                  <a:txBody>
                    <a:bodyPr/>
                    <a:lstStyle/>
                    <a:p>
                      <a:r>
                        <a:rPr lang="en-GB" sz="2400" b="0" i="0" kern="1200" dirty="0" smtClean="0">
                          <a:solidFill>
                            <a:schemeClr val="dk1"/>
                          </a:solidFill>
                          <a:effectLst/>
                          <a:latin typeface="+mn-lt"/>
                          <a:ea typeface="+mn-ea"/>
                          <a:cs typeface="+mn-cs"/>
                        </a:rPr>
                        <a:t>float</a:t>
                      </a:r>
                      <a:endParaRPr lang="en-GB" sz="2400" dirty="0"/>
                    </a:p>
                  </a:txBody>
                  <a:tcPr/>
                </a:tc>
                <a:extLst>
                  <a:ext uri="{0D108BD9-81ED-4DB2-BD59-A6C34878D82A}">
                    <a16:rowId xmlns:a16="http://schemas.microsoft.com/office/drawing/2014/main" xmlns="" val="3749933373"/>
                  </a:ext>
                </a:extLst>
              </a:tr>
              <a:tr h="487855">
                <a:tc>
                  <a:txBody>
                    <a:bodyPr/>
                    <a:lstStyle/>
                    <a:p>
                      <a:r>
                        <a:rPr lang="en-GB" sz="2400" b="0" i="0" kern="1200" dirty="0" smtClean="0">
                          <a:solidFill>
                            <a:schemeClr val="dk1"/>
                          </a:solidFill>
                          <a:effectLst/>
                          <a:latin typeface="+mn-lt"/>
                          <a:ea typeface="+mn-ea"/>
                          <a:cs typeface="+mn-cs"/>
                        </a:rPr>
                        <a:t>%lf</a:t>
                      </a:r>
                      <a:endParaRPr lang="en-GB" sz="2400" dirty="0"/>
                    </a:p>
                  </a:txBody>
                  <a:tcPr/>
                </a:tc>
                <a:tc>
                  <a:txBody>
                    <a:bodyPr/>
                    <a:lstStyle/>
                    <a:p>
                      <a:r>
                        <a:rPr lang="en-GB" sz="2400" b="0" i="0" kern="1200" dirty="0" smtClean="0">
                          <a:solidFill>
                            <a:schemeClr val="dk1"/>
                          </a:solidFill>
                          <a:effectLst/>
                          <a:latin typeface="+mn-lt"/>
                          <a:ea typeface="+mn-ea"/>
                          <a:cs typeface="+mn-cs"/>
                        </a:rPr>
                        <a:t>double</a:t>
                      </a:r>
                      <a:endParaRPr lang="en-GB" sz="2400" dirty="0"/>
                    </a:p>
                  </a:txBody>
                  <a:tcPr/>
                </a:tc>
                <a:extLst>
                  <a:ext uri="{0D108BD9-81ED-4DB2-BD59-A6C34878D82A}">
                    <a16:rowId xmlns:a16="http://schemas.microsoft.com/office/drawing/2014/main" xmlns="" val="2314015813"/>
                  </a:ext>
                </a:extLst>
              </a:tr>
              <a:tr h="814906">
                <a:tc>
                  <a:txBody>
                    <a:bodyPr/>
                    <a:lstStyle/>
                    <a:p>
                      <a:r>
                        <a:rPr lang="en-GB" sz="2400" b="0" i="0" kern="1200" dirty="0" smtClean="0">
                          <a:solidFill>
                            <a:schemeClr val="dk1"/>
                          </a:solidFill>
                          <a:effectLst/>
                          <a:latin typeface="+mn-lt"/>
                          <a:ea typeface="+mn-ea"/>
                          <a:cs typeface="+mn-cs"/>
                        </a:rPr>
                        <a:t>%c</a:t>
                      </a:r>
                    </a:p>
                    <a:p>
                      <a:endParaRPr lang="en-GB" sz="2400" b="0" i="0" kern="1200" dirty="0" smtClean="0">
                        <a:solidFill>
                          <a:schemeClr val="dk1"/>
                        </a:solidFill>
                        <a:effectLst/>
                        <a:latin typeface="+mn-lt"/>
                        <a:ea typeface="+mn-ea"/>
                        <a:cs typeface="+mn-cs"/>
                      </a:endParaRPr>
                    </a:p>
                    <a:p>
                      <a:r>
                        <a:rPr lang="en-GB" sz="2400" b="0" i="0" kern="1200" dirty="0" smtClean="0">
                          <a:solidFill>
                            <a:schemeClr val="dk1"/>
                          </a:solidFill>
                          <a:effectLst/>
                          <a:latin typeface="+mn-lt"/>
                          <a:ea typeface="+mn-ea"/>
                          <a:cs typeface="+mn-cs"/>
                        </a:rPr>
                        <a:t>%s</a:t>
                      </a:r>
                      <a:endParaRPr lang="en-GB" sz="3200" dirty="0"/>
                    </a:p>
                  </a:txBody>
                  <a:tcPr/>
                </a:tc>
                <a:tc>
                  <a:txBody>
                    <a:bodyPr/>
                    <a:lstStyle/>
                    <a:p>
                      <a:r>
                        <a:rPr lang="en-GB" sz="2400" b="0" i="0" kern="1200" dirty="0" smtClean="0">
                          <a:solidFill>
                            <a:schemeClr val="dk1"/>
                          </a:solidFill>
                          <a:effectLst/>
                          <a:latin typeface="+mn-lt"/>
                          <a:ea typeface="+mn-ea"/>
                          <a:cs typeface="+mn-cs"/>
                        </a:rPr>
                        <a:t>Char</a:t>
                      </a:r>
                    </a:p>
                    <a:p>
                      <a:endParaRPr lang="en-GB" sz="2400" b="0" i="0" kern="1200" dirty="0" smtClean="0">
                        <a:solidFill>
                          <a:schemeClr val="dk1"/>
                        </a:solidFill>
                        <a:effectLst/>
                        <a:latin typeface="+mn-lt"/>
                        <a:ea typeface="+mn-ea"/>
                        <a:cs typeface="+mn-cs"/>
                      </a:endParaRPr>
                    </a:p>
                    <a:p>
                      <a:r>
                        <a:rPr lang="en-GB" sz="2400" b="0" i="0" kern="1200" dirty="0" smtClean="0">
                          <a:solidFill>
                            <a:schemeClr val="dk1"/>
                          </a:solidFill>
                          <a:effectLst/>
                          <a:latin typeface="+mn-lt"/>
                          <a:ea typeface="+mn-ea"/>
                          <a:cs typeface="+mn-cs"/>
                        </a:rPr>
                        <a:t>string</a:t>
                      </a:r>
                      <a:endParaRPr lang="en-GB" sz="2400" dirty="0"/>
                    </a:p>
                  </a:txBody>
                  <a:tcPr/>
                </a:tc>
                <a:extLst>
                  <a:ext uri="{0D108BD9-81ED-4DB2-BD59-A6C34878D82A}">
                    <a16:rowId xmlns:a16="http://schemas.microsoft.com/office/drawing/2014/main" xmlns="" val="3811270304"/>
                  </a:ext>
                </a:extLst>
              </a:tr>
            </a:tbl>
          </a:graphicData>
        </a:graphic>
      </p:graphicFrame>
    </p:spTree>
    <p:extLst>
      <p:ext uri="{BB962C8B-B14F-4D97-AF65-F5344CB8AC3E}">
        <p14:creationId xmlns:p14="http://schemas.microsoft.com/office/powerpoint/2010/main" val="34115167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Displaying variables</a:t>
            </a:r>
            <a:endParaRPr lang="en-GB" dirty="0"/>
          </a:p>
        </p:txBody>
      </p:sp>
      <p:sp>
        <p:nvSpPr>
          <p:cNvPr id="3" name="Content Placeholder 2"/>
          <p:cNvSpPr>
            <a:spLocks noGrp="1"/>
          </p:cNvSpPr>
          <p:nvPr>
            <p:ph idx="1"/>
          </p:nvPr>
        </p:nvSpPr>
        <p:spPr/>
        <p:txBody>
          <a:bodyPr/>
          <a:lstStyle/>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The C library </a:t>
            </a:r>
            <a:r>
              <a:rPr lang="en-GB" b="1" dirty="0"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 function is a fundamental tool for outputting formatted text to the standard output stream. It allows for versatile printing of variables, strings, and other data types.</a:t>
            </a:r>
          </a:p>
          <a:p>
            <a:pPr marL="0" indent="0">
              <a:buNone/>
            </a:pPr>
            <a:endParaRPr lang="en-GB" dirty="0"/>
          </a:p>
        </p:txBody>
      </p:sp>
    </p:spTree>
    <p:extLst>
      <p:ext uri="{BB962C8B-B14F-4D97-AF65-F5344CB8AC3E}">
        <p14:creationId xmlns:p14="http://schemas.microsoft.com/office/powerpoint/2010/main" val="24499293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Displaying variables</a:t>
            </a:r>
            <a:endParaRPr lang="en-GB" dirty="0"/>
          </a:p>
        </p:txBody>
      </p:sp>
      <p:sp>
        <p:nvSpPr>
          <p:cNvPr id="3" name="Content Placeholder 2"/>
          <p:cNvSpPr>
            <a:spLocks noGrp="1"/>
          </p:cNvSpPr>
          <p:nvPr>
            <p:ph idx="1"/>
          </p:nvPr>
        </p:nvSpPr>
        <p:spPr/>
        <p:txBody>
          <a:bodyPr/>
          <a:lstStyle/>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The syntax of the C Printf function is as follows: </a:t>
            </a:r>
          </a:p>
          <a:p>
            <a:pPr marL="0" indent="0">
              <a:buNone/>
            </a:pPr>
            <a:r>
              <a:rPr lang="en-GB" dirty="0" smtClean="0">
                <a:latin typeface="Times New Roman" panose="02020603050405020304" pitchFamily="18" charset="0"/>
                <a:cs typeface="Times New Roman" panose="02020603050405020304" pitchFamily="18" charset="0"/>
              </a:rPr>
              <a:t>printf("format string", argument1, argument2, ...); </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The format string contains the text along with the format specifiers that should be replaced with the values provided in the argument list. </a:t>
            </a:r>
          </a:p>
          <a:p>
            <a:pPr marL="0" indent="0">
              <a:buNone/>
            </a:pPr>
            <a:r>
              <a:rPr lang="en-GB" dirty="0" err="1" smtClean="0">
                <a:latin typeface="Times New Roman" panose="02020603050405020304" pitchFamily="18" charset="0"/>
                <a:cs typeface="Times New Roman" panose="02020603050405020304" pitchFamily="18" charset="0"/>
              </a:rPr>
              <a:t>Example:int</a:t>
            </a:r>
            <a:r>
              <a:rPr lang="en-GB" dirty="0" smtClean="0">
                <a:latin typeface="Times New Roman" panose="02020603050405020304" pitchFamily="18" charset="0"/>
                <a:cs typeface="Times New Roman" panose="02020603050405020304" pitchFamily="18" charset="0"/>
              </a:rPr>
              <a:t> age = 25; printf("Your age is: %d", age);</a:t>
            </a:r>
          </a:p>
          <a:p>
            <a:pPr marL="0" indent="0">
              <a:buNone/>
            </a:pPr>
            <a:endParaRPr lang="en-GB" dirty="0"/>
          </a:p>
        </p:txBody>
      </p:sp>
    </p:spTree>
    <p:extLst>
      <p:ext uri="{BB962C8B-B14F-4D97-AF65-F5344CB8AC3E}">
        <p14:creationId xmlns:p14="http://schemas.microsoft.com/office/powerpoint/2010/main" val="7290103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Reading variables </a:t>
            </a:r>
            <a:endParaRPr lang="en-GB" dirty="0"/>
          </a:p>
        </p:txBody>
      </p:sp>
      <p:sp>
        <p:nvSpPr>
          <p:cNvPr id="3" name="Content Placeholder 2"/>
          <p:cNvSpPr>
            <a:spLocks noGrp="1"/>
          </p:cNvSpPr>
          <p:nvPr>
            <p:ph idx="1"/>
          </p:nvPr>
        </p:nvSpPr>
        <p:spPr/>
        <p:txBody>
          <a:bodyPr/>
          <a:lstStyle/>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scanf() function </a:t>
            </a:r>
            <a:r>
              <a:rPr lang="en-GB" dirty="0" smtClean="0">
                <a:latin typeface="Times New Roman" panose="02020603050405020304" pitchFamily="18" charset="0"/>
                <a:cs typeface="Times New Roman" panose="02020603050405020304" pitchFamily="18" charset="0"/>
              </a:rPr>
              <a:t>is a commonly used input function in the C programming language. It allows you to read input from the user or from a file and store that input in variables of different data types.</a:t>
            </a:r>
          </a:p>
          <a:p>
            <a:pPr algn="just">
              <a:lnSpc>
                <a:spcPct val="150000"/>
              </a:lnSpc>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Input is an essential part of most programs, and the scanf() function provides an easy way to read input in a variety of formats. </a:t>
            </a:r>
          </a:p>
          <a:p>
            <a:pPr marL="0" indent="0">
              <a:buNone/>
            </a:pPr>
            <a:endParaRPr lang="en-GB" dirty="0"/>
          </a:p>
        </p:txBody>
      </p:sp>
    </p:spTree>
    <p:extLst>
      <p:ext uri="{BB962C8B-B14F-4D97-AF65-F5344CB8AC3E}">
        <p14:creationId xmlns:p14="http://schemas.microsoft.com/office/powerpoint/2010/main" val="107750821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Reading variables </a:t>
            </a:r>
            <a:endParaRPr lang="en-GB" dirty="0"/>
          </a:p>
        </p:txBody>
      </p:sp>
      <p:sp>
        <p:nvSpPr>
          <p:cNvPr id="3" name="Content Placeholder 2"/>
          <p:cNvSpPr>
            <a:spLocks noGrp="1"/>
          </p:cNvSpPr>
          <p:nvPr>
            <p:ph idx="1"/>
          </p:nvPr>
        </p:nvSpPr>
        <p:spPr/>
        <p:txBody>
          <a:bodyPr/>
          <a:lstStyle/>
          <a:p>
            <a:pPr marL="0" indent="0">
              <a:buNone/>
            </a:pPr>
            <a:r>
              <a:rPr lang="en-GB" b="1" dirty="0" smtClean="0">
                <a:latin typeface="Times New Roman" panose="02020603050405020304" pitchFamily="18" charset="0"/>
                <a:cs typeface="Times New Roman" panose="02020603050405020304" pitchFamily="18" charset="0"/>
              </a:rPr>
              <a:t>Scanf()format</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The most common conversion specifiers are:</a:t>
            </a:r>
          </a:p>
          <a:p>
            <a:pPr marL="0" indent="0">
              <a:buNone/>
            </a:pPr>
            <a:endParaRPr lang="en-GB" dirty="0" smtClean="0">
              <a:latin typeface="Times New Roman" panose="02020603050405020304" pitchFamily="18" charset="0"/>
              <a:cs typeface="Times New Roman" panose="02020603050405020304" pitchFamily="18" charset="0"/>
            </a:endParaRPr>
          </a:p>
          <a:p>
            <a:pPr lvl="1"/>
            <a:r>
              <a:rPr lang="en-GB" dirty="0" smtClean="0">
                <a:latin typeface="Times New Roman" panose="02020603050405020304" pitchFamily="18" charset="0"/>
                <a:cs typeface="Times New Roman" panose="02020603050405020304" pitchFamily="18" charset="0"/>
              </a:rPr>
              <a:t>%d: reads an integer value</a:t>
            </a:r>
          </a:p>
          <a:p>
            <a:pPr lvl="1"/>
            <a:r>
              <a:rPr lang="en-GB" dirty="0" smtClean="0">
                <a:latin typeface="Times New Roman" panose="02020603050405020304" pitchFamily="18" charset="0"/>
                <a:cs typeface="Times New Roman" panose="02020603050405020304" pitchFamily="18" charset="0"/>
              </a:rPr>
              <a:t>%f: reads a floating-point value</a:t>
            </a:r>
          </a:p>
          <a:p>
            <a:pPr lvl="1"/>
            <a:r>
              <a:rPr lang="en-GB" dirty="0" smtClean="0">
                <a:latin typeface="Times New Roman" panose="02020603050405020304" pitchFamily="18" charset="0"/>
                <a:cs typeface="Times New Roman" panose="02020603050405020304" pitchFamily="18" charset="0"/>
              </a:rPr>
              <a:t>%c: reads a single character</a:t>
            </a:r>
          </a:p>
          <a:p>
            <a:pPr lvl="1"/>
            <a:r>
              <a:rPr lang="en-GB" dirty="0" smtClean="0">
                <a:latin typeface="Times New Roman" panose="02020603050405020304" pitchFamily="18" charset="0"/>
                <a:cs typeface="Times New Roman" panose="02020603050405020304" pitchFamily="18" charset="0"/>
              </a:rPr>
              <a:t>%s: reads a string of characters</a:t>
            </a:r>
          </a:p>
          <a:p>
            <a:pPr lvl="1"/>
            <a:r>
              <a:rPr lang="en-GB" dirty="0" smtClean="0">
                <a:latin typeface="Times New Roman" panose="02020603050405020304" pitchFamily="18" charset="0"/>
                <a:cs typeface="Times New Roman" panose="02020603050405020304" pitchFamily="18" charset="0"/>
              </a:rPr>
              <a:t>%lf: reads a double-precision floating-point value</a:t>
            </a:r>
          </a:p>
          <a:p>
            <a:pPr marL="0" indent="0">
              <a:buNone/>
            </a:pPr>
            <a:endParaRPr lang="en-GB" dirty="0"/>
          </a:p>
        </p:txBody>
      </p:sp>
    </p:spTree>
    <p:extLst>
      <p:ext uri="{BB962C8B-B14F-4D97-AF65-F5344CB8AC3E}">
        <p14:creationId xmlns:p14="http://schemas.microsoft.com/office/powerpoint/2010/main" val="404818817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Reading variables </a:t>
            </a:r>
            <a:endParaRPr lang="en-GB" dirty="0"/>
          </a:p>
        </p:txBody>
      </p:sp>
      <p:sp>
        <p:nvSpPr>
          <p:cNvPr id="3" name="Content Placeholder 2"/>
          <p:cNvSpPr>
            <a:spLocks noGrp="1"/>
          </p:cNvSpPr>
          <p:nvPr>
            <p:ph idx="1"/>
          </p:nvPr>
        </p:nvSpPr>
        <p:spPr/>
        <p:txBody>
          <a:bodyPr>
            <a:normAutofit lnSpcReduction="10000"/>
          </a:bodyPr>
          <a:lstStyle/>
          <a:p>
            <a:pPr marL="0" indent="0" algn="just">
              <a:lnSpc>
                <a:spcPct val="150000"/>
              </a:lnSpc>
              <a:buNone/>
            </a:pPr>
            <a:r>
              <a:rPr lang="en-GB" sz="2000" b="1" dirty="0" smtClean="0">
                <a:latin typeface="Times New Roman" panose="02020603050405020304" pitchFamily="18" charset="0"/>
                <a:cs typeface="Times New Roman" panose="02020603050405020304" pitchFamily="18" charset="0"/>
              </a:rPr>
              <a:t>Example: </a:t>
            </a:r>
            <a:r>
              <a:rPr lang="en-GB" sz="2000" dirty="0" smtClean="0">
                <a:latin typeface="Times New Roman" panose="02020603050405020304" pitchFamily="18" charset="0"/>
                <a:cs typeface="Times New Roman" panose="02020603050405020304" pitchFamily="18" charset="0"/>
              </a:rPr>
              <a:t>the following code reads an integer value and a floating-point value from the user, and stores them in the variables </a:t>
            </a:r>
            <a:r>
              <a:rPr lang="en-GB" sz="2000" dirty="0" err="1" smtClean="0">
                <a:latin typeface="Times New Roman" panose="02020603050405020304" pitchFamily="18" charset="0"/>
                <a:cs typeface="Times New Roman" panose="02020603050405020304" pitchFamily="18" charset="0"/>
              </a:rPr>
              <a:t>num</a:t>
            </a:r>
            <a:r>
              <a:rPr lang="en-GB" sz="2000" dirty="0" smtClean="0">
                <a:latin typeface="Times New Roman" panose="02020603050405020304" pitchFamily="18" charset="0"/>
                <a:cs typeface="Times New Roman" panose="02020603050405020304" pitchFamily="18" charset="0"/>
              </a:rPr>
              <a:t> and </a:t>
            </a:r>
            <a:r>
              <a:rPr lang="en-GB" sz="2000" dirty="0" err="1" smtClean="0">
                <a:latin typeface="Times New Roman" panose="02020603050405020304" pitchFamily="18" charset="0"/>
                <a:cs typeface="Times New Roman" panose="02020603050405020304" pitchFamily="18" charset="0"/>
              </a:rPr>
              <a:t>fnum</a:t>
            </a:r>
            <a:r>
              <a:rPr lang="en-GB" sz="2000" dirty="0" smtClean="0">
                <a:latin typeface="Times New Roman" panose="02020603050405020304" pitchFamily="18" charset="0"/>
                <a:cs typeface="Times New Roman" panose="02020603050405020304" pitchFamily="18" charset="0"/>
              </a:rPr>
              <a:t>, respectively:</a:t>
            </a:r>
          </a:p>
          <a:p>
            <a:pPr marL="0" indent="0" algn="just">
              <a:lnSpc>
                <a:spcPct val="150000"/>
              </a:lnSpc>
              <a:buNone/>
            </a:pPr>
            <a:endParaRPr lang="en-GB" sz="2000" dirty="0">
              <a:latin typeface="Times New Roman" panose="02020603050405020304" pitchFamily="18" charset="0"/>
              <a:cs typeface="Times New Roman" panose="02020603050405020304" pitchFamily="18" charset="0"/>
            </a:endParaRPr>
          </a:p>
          <a:p>
            <a:pPr marL="457200" lvl="1" indent="0">
              <a:buNone/>
            </a:pPr>
            <a:r>
              <a:rPr lang="en-GB" sz="1600" dirty="0" smtClean="0">
                <a:latin typeface="Times New Roman" panose="02020603050405020304" pitchFamily="18" charset="0"/>
                <a:cs typeface="Times New Roman" panose="02020603050405020304" pitchFamily="18" charset="0"/>
              </a:rPr>
              <a:t>#include &lt;stdio.h&gt;</a:t>
            </a:r>
          </a:p>
          <a:p>
            <a:pPr marL="457200" lvl="1" indent="0">
              <a:buNone/>
            </a:pPr>
            <a:endParaRPr lang="en-GB" sz="1600" dirty="0" smtClean="0">
              <a:latin typeface="Times New Roman" panose="02020603050405020304" pitchFamily="18" charset="0"/>
              <a:cs typeface="Times New Roman" panose="02020603050405020304" pitchFamily="18" charset="0"/>
            </a:endParaRPr>
          </a:p>
          <a:p>
            <a:pPr marL="457200" lvl="1" indent="0">
              <a:buNone/>
            </a:pPr>
            <a:r>
              <a:rPr lang="en-GB" sz="1600" dirty="0" smtClean="0">
                <a:latin typeface="Times New Roman" panose="02020603050405020304" pitchFamily="18" charset="0"/>
                <a:cs typeface="Times New Roman" panose="02020603050405020304" pitchFamily="18" charset="0"/>
              </a:rPr>
              <a:t>int main() {</a:t>
            </a:r>
          </a:p>
          <a:p>
            <a:pPr marL="457200" lvl="1" indent="0">
              <a:buNone/>
            </a:pPr>
            <a:r>
              <a:rPr lang="en-GB" sz="1600" dirty="0" smtClean="0">
                <a:latin typeface="Times New Roman" panose="02020603050405020304" pitchFamily="18" charset="0"/>
                <a:cs typeface="Times New Roman" panose="02020603050405020304" pitchFamily="18" charset="0"/>
              </a:rPr>
              <a:t>    int </a:t>
            </a:r>
            <a:r>
              <a:rPr lang="en-GB" sz="1600" dirty="0" err="1" smtClean="0">
                <a:latin typeface="Times New Roman" panose="02020603050405020304" pitchFamily="18" charset="0"/>
                <a:cs typeface="Times New Roman" panose="02020603050405020304" pitchFamily="18" charset="0"/>
              </a:rPr>
              <a:t>num</a:t>
            </a:r>
            <a:r>
              <a:rPr lang="en-GB" sz="1600" dirty="0" smtClean="0">
                <a:latin typeface="Times New Roman" panose="02020603050405020304" pitchFamily="18" charset="0"/>
                <a:cs typeface="Times New Roman" panose="02020603050405020304" pitchFamily="18" charset="0"/>
              </a:rPr>
              <a:t>;</a:t>
            </a:r>
          </a:p>
          <a:p>
            <a:pPr marL="457200" lvl="1" indent="0">
              <a:buNone/>
            </a:pPr>
            <a:r>
              <a:rPr lang="en-GB" sz="1600" dirty="0" smtClean="0">
                <a:latin typeface="Times New Roman" panose="02020603050405020304" pitchFamily="18" charset="0"/>
                <a:cs typeface="Times New Roman" panose="02020603050405020304" pitchFamily="18" charset="0"/>
              </a:rPr>
              <a:t>    float </a:t>
            </a:r>
            <a:r>
              <a:rPr lang="en-GB" sz="1600" dirty="0" err="1" smtClean="0">
                <a:latin typeface="Times New Roman" panose="02020603050405020304" pitchFamily="18" charset="0"/>
                <a:cs typeface="Times New Roman" panose="02020603050405020304" pitchFamily="18" charset="0"/>
              </a:rPr>
              <a:t>fnum</a:t>
            </a:r>
            <a:r>
              <a:rPr lang="en-GB" sz="1600" dirty="0" smtClean="0">
                <a:latin typeface="Times New Roman" panose="02020603050405020304" pitchFamily="18" charset="0"/>
                <a:cs typeface="Times New Roman" panose="02020603050405020304" pitchFamily="18" charset="0"/>
              </a:rPr>
              <a:t>;</a:t>
            </a:r>
          </a:p>
          <a:p>
            <a:pPr marL="457200" lvl="1" indent="0">
              <a:buNone/>
            </a:pPr>
            <a:r>
              <a:rPr lang="en-GB" sz="1600" dirty="0" smtClean="0">
                <a:latin typeface="Times New Roman" panose="02020603050405020304" pitchFamily="18" charset="0"/>
                <a:cs typeface="Times New Roman" panose="02020603050405020304" pitchFamily="18" charset="0"/>
              </a:rPr>
              <a:t>    printf("Enter an integer and a floating-point number: ");</a:t>
            </a:r>
          </a:p>
          <a:p>
            <a:pPr marL="457200" lvl="1" indent="0">
              <a:buNone/>
            </a:pPr>
            <a:r>
              <a:rPr lang="en-GB" sz="1600" dirty="0" smtClean="0">
                <a:latin typeface="Times New Roman" panose="02020603050405020304" pitchFamily="18" charset="0"/>
                <a:cs typeface="Times New Roman" panose="02020603050405020304" pitchFamily="18" charset="0"/>
              </a:rPr>
              <a:t>    scanf("%d %f", &amp;</a:t>
            </a:r>
            <a:r>
              <a:rPr lang="en-GB" sz="1600" dirty="0" err="1" smtClean="0">
                <a:latin typeface="Times New Roman" panose="02020603050405020304" pitchFamily="18" charset="0"/>
                <a:cs typeface="Times New Roman" panose="02020603050405020304" pitchFamily="18" charset="0"/>
              </a:rPr>
              <a:t>num</a:t>
            </a:r>
            <a:r>
              <a:rPr lang="en-GB" sz="1600" dirty="0" smtClean="0">
                <a:latin typeface="Times New Roman" panose="02020603050405020304" pitchFamily="18" charset="0"/>
                <a:cs typeface="Times New Roman" panose="02020603050405020304" pitchFamily="18" charset="0"/>
              </a:rPr>
              <a:t>, &amp;</a:t>
            </a:r>
            <a:r>
              <a:rPr lang="en-GB" sz="1600" dirty="0" err="1" smtClean="0">
                <a:latin typeface="Times New Roman" panose="02020603050405020304" pitchFamily="18" charset="0"/>
                <a:cs typeface="Times New Roman" panose="02020603050405020304" pitchFamily="18" charset="0"/>
              </a:rPr>
              <a:t>fnum</a:t>
            </a:r>
            <a:r>
              <a:rPr lang="en-GB" sz="1600" dirty="0" smtClean="0">
                <a:latin typeface="Times New Roman" panose="02020603050405020304" pitchFamily="18" charset="0"/>
                <a:cs typeface="Times New Roman" panose="02020603050405020304" pitchFamily="18" charset="0"/>
              </a:rPr>
              <a:t>);</a:t>
            </a:r>
          </a:p>
          <a:p>
            <a:pPr marL="457200" lvl="1" indent="0">
              <a:buNone/>
            </a:pPr>
            <a:r>
              <a:rPr lang="en-GB" sz="1600" dirty="0" smtClean="0">
                <a:latin typeface="Times New Roman" panose="02020603050405020304" pitchFamily="18" charset="0"/>
                <a:cs typeface="Times New Roman" panose="02020603050405020304" pitchFamily="18" charset="0"/>
              </a:rPr>
              <a:t>    printf("You entered %d and %f\n", </a:t>
            </a:r>
            <a:r>
              <a:rPr lang="en-GB" sz="1600" dirty="0" err="1" smtClean="0">
                <a:latin typeface="Times New Roman" panose="02020603050405020304" pitchFamily="18" charset="0"/>
                <a:cs typeface="Times New Roman" panose="02020603050405020304" pitchFamily="18" charset="0"/>
              </a:rPr>
              <a:t>num</a:t>
            </a:r>
            <a:r>
              <a:rPr lang="en-GB" sz="1600" dirty="0" smtClean="0">
                <a:latin typeface="Times New Roman" panose="02020603050405020304" pitchFamily="18" charset="0"/>
                <a:cs typeface="Times New Roman" panose="02020603050405020304" pitchFamily="18" charset="0"/>
              </a:rPr>
              <a:t>, </a:t>
            </a:r>
            <a:r>
              <a:rPr lang="en-GB" sz="1600" dirty="0" err="1" smtClean="0">
                <a:latin typeface="Times New Roman" panose="02020603050405020304" pitchFamily="18" charset="0"/>
                <a:cs typeface="Times New Roman" panose="02020603050405020304" pitchFamily="18" charset="0"/>
              </a:rPr>
              <a:t>fnum</a:t>
            </a:r>
            <a:r>
              <a:rPr lang="en-GB" sz="1600" dirty="0" smtClean="0">
                <a:latin typeface="Times New Roman" panose="02020603050405020304" pitchFamily="18" charset="0"/>
                <a:cs typeface="Times New Roman" panose="02020603050405020304" pitchFamily="18" charset="0"/>
              </a:rPr>
              <a:t>);</a:t>
            </a:r>
          </a:p>
          <a:p>
            <a:pPr marL="457200" lvl="1" indent="0">
              <a:buNone/>
            </a:pPr>
            <a:r>
              <a:rPr lang="en-GB" sz="1600" dirty="0" smtClean="0">
                <a:latin typeface="Times New Roman" panose="02020603050405020304" pitchFamily="18" charset="0"/>
                <a:cs typeface="Times New Roman" panose="02020603050405020304" pitchFamily="18" charset="0"/>
              </a:rPr>
              <a:t>    return 0;</a:t>
            </a:r>
          </a:p>
          <a:p>
            <a:pPr marL="457200" lvl="1" indent="0">
              <a:buNone/>
            </a:pPr>
            <a:r>
              <a:rPr lang="en-GB" sz="1600" dirty="0" smtClean="0">
                <a:latin typeface="Times New Roman" panose="02020603050405020304" pitchFamily="18" charset="0"/>
                <a:cs typeface="Times New Roman" panose="02020603050405020304" pitchFamily="18" charset="0"/>
              </a:rPr>
              <a:t>}</a:t>
            </a:r>
          </a:p>
          <a:p>
            <a:pPr marL="0" indent="0" algn="just">
              <a:lnSpc>
                <a:spcPct val="150000"/>
              </a:lnSpc>
              <a:buNone/>
            </a:pP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7561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Reading variables </a:t>
            </a:r>
            <a:endParaRPr lang="en-GB" dirty="0"/>
          </a:p>
        </p:txBody>
      </p:sp>
      <p:sp>
        <p:nvSpPr>
          <p:cNvPr id="3" name="Content Placeholder 2"/>
          <p:cNvSpPr>
            <a:spLocks noGrp="1"/>
          </p:cNvSpPr>
          <p:nvPr>
            <p:ph idx="1"/>
          </p:nvPr>
        </p:nvSpPr>
        <p:spPr/>
        <p:txBody>
          <a:bodyPr>
            <a:normAutofit fontScale="92500" lnSpcReduction="20000"/>
          </a:bodyPr>
          <a:lstStyle/>
          <a:p>
            <a:pPr marL="0" indent="0" algn="just">
              <a:lnSpc>
                <a:spcPct val="150000"/>
              </a:lnSpc>
              <a:buNone/>
            </a:pPr>
            <a:r>
              <a:rPr lang="en-GB" sz="2000" b="1" dirty="0" smtClean="0">
                <a:latin typeface="Times New Roman" panose="02020603050405020304" pitchFamily="18" charset="0"/>
                <a:cs typeface="Times New Roman" panose="02020603050405020304" pitchFamily="18" charset="0"/>
              </a:rPr>
              <a:t>Example: </a:t>
            </a:r>
            <a:r>
              <a:rPr lang="en-GB" sz="2000" dirty="0" smtClean="0">
                <a:latin typeface="Times New Roman" panose="02020603050405020304" pitchFamily="18" charset="0"/>
                <a:cs typeface="Times New Roman" panose="02020603050405020304" pitchFamily="18" charset="0"/>
              </a:rPr>
              <a:t>the following code reads an integer value and a floating-point value from the user, and stores them in the variables </a:t>
            </a:r>
            <a:r>
              <a:rPr lang="en-GB" sz="2000" dirty="0" err="1" smtClean="0">
                <a:latin typeface="Times New Roman" panose="02020603050405020304" pitchFamily="18" charset="0"/>
                <a:cs typeface="Times New Roman" panose="02020603050405020304" pitchFamily="18" charset="0"/>
              </a:rPr>
              <a:t>num</a:t>
            </a:r>
            <a:r>
              <a:rPr lang="en-GB" sz="2000" dirty="0" smtClean="0">
                <a:latin typeface="Times New Roman" panose="02020603050405020304" pitchFamily="18" charset="0"/>
                <a:cs typeface="Times New Roman" panose="02020603050405020304" pitchFamily="18" charset="0"/>
              </a:rPr>
              <a:t> and </a:t>
            </a:r>
            <a:r>
              <a:rPr lang="en-GB" sz="2000" dirty="0" err="1" smtClean="0">
                <a:latin typeface="Times New Roman" panose="02020603050405020304" pitchFamily="18" charset="0"/>
                <a:cs typeface="Times New Roman" panose="02020603050405020304" pitchFamily="18" charset="0"/>
              </a:rPr>
              <a:t>fnum</a:t>
            </a:r>
            <a:r>
              <a:rPr lang="en-GB" sz="2000" dirty="0" smtClean="0">
                <a:latin typeface="Times New Roman" panose="02020603050405020304" pitchFamily="18" charset="0"/>
                <a:cs typeface="Times New Roman" panose="02020603050405020304" pitchFamily="18" charset="0"/>
              </a:rPr>
              <a:t>, respectively:</a:t>
            </a:r>
          </a:p>
          <a:p>
            <a:pPr marL="0" indent="0" algn="just">
              <a:lnSpc>
                <a:spcPct val="150000"/>
              </a:lnSpc>
              <a:buNone/>
            </a:pPr>
            <a:endParaRPr lang="en-GB" sz="2000" dirty="0">
              <a:latin typeface="Times New Roman" panose="02020603050405020304" pitchFamily="18" charset="0"/>
              <a:cs typeface="Times New Roman" panose="02020603050405020304" pitchFamily="18" charset="0"/>
            </a:endParaRPr>
          </a:p>
          <a:p>
            <a:pPr marL="457200" lvl="1" indent="0">
              <a:buNone/>
            </a:pPr>
            <a:r>
              <a:rPr lang="en-GB" sz="2000" dirty="0" smtClean="0">
                <a:latin typeface="Times New Roman" panose="02020603050405020304" pitchFamily="18" charset="0"/>
                <a:cs typeface="Times New Roman" panose="02020603050405020304" pitchFamily="18" charset="0"/>
              </a:rPr>
              <a:t>#include &lt;stdio.h&gt;</a:t>
            </a:r>
          </a:p>
          <a:p>
            <a:pPr marL="457200" lvl="1" indent="0">
              <a:buNone/>
            </a:pPr>
            <a:endParaRPr lang="en-GB" sz="2000" dirty="0" smtClean="0">
              <a:latin typeface="Times New Roman" panose="02020603050405020304" pitchFamily="18" charset="0"/>
              <a:cs typeface="Times New Roman" panose="02020603050405020304" pitchFamily="18" charset="0"/>
            </a:endParaRPr>
          </a:p>
          <a:p>
            <a:pPr marL="457200" lvl="1" indent="0">
              <a:buNone/>
            </a:pPr>
            <a:r>
              <a:rPr lang="en-GB" sz="2000" dirty="0" smtClean="0">
                <a:latin typeface="Times New Roman" panose="02020603050405020304" pitchFamily="18" charset="0"/>
                <a:cs typeface="Times New Roman" panose="02020603050405020304" pitchFamily="18" charset="0"/>
              </a:rPr>
              <a:t>int main() {</a:t>
            </a:r>
          </a:p>
          <a:p>
            <a:pPr marL="457200" lvl="1" indent="0">
              <a:buNone/>
            </a:pPr>
            <a:r>
              <a:rPr lang="en-GB" sz="2000" dirty="0" smtClean="0">
                <a:latin typeface="Times New Roman" panose="02020603050405020304" pitchFamily="18" charset="0"/>
                <a:cs typeface="Times New Roman" panose="02020603050405020304" pitchFamily="18" charset="0"/>
              </a:rPr>
              <a:t>    int </a:t>
            </a:r>
            <a:r>
              <a:rPr lang="en-GB" sz="2000" dirty="0" err="1" smtClean="0">
                <a:latin typeface="Times New Roman" panose="02020603050405020304" pitchFamily="18" charset="0"/>
                <a:cs typeface="Times New Roman" panose="02020603050405020304" pitchFamily="18" charset="0"/>
              </a:rPr>
              <a:t>num</a:t>
            </a:r>
            <a:r>
              <a:rPr lang="en-GB" sz="2000" dirty="0" smtClean="0">
                <a:latin typeface="Times New Roman" panose="02020603050405020304" pitchFamily="18" charset="0"/>
                <a:cs typeface="Times New Roman" panose="02020603050405020304" pitchFamily="18" charset="0"/>
              </a:rPr>
              <a:t>;</a:t>
            </a:r>
          </a:p>
          <a:p>
            <a:pPr marL="457200" lvl="1" indent="0">
              <a:buNone/>
            </a:pPr>
            <a:r>
              <a:rPr lang="en-GB" sz="2000" dirty="0" smtClean="0">
                <a:latin typeface="Times New Roman" panose="02020603050405020304" pitchFamily="18" charset="0"/>
                <a:cs typeface="Times New Roman" panose="02020603050405020304" pitchFamily="18" charset="0"/>
              </a:rPr>
              <a:t>    float </a:t>
            </a:r>
            <a:r>
              <a:rPr lang="en-GB" sz="2000" dirty="0" err="1" smtClean="0">
                <a:latin typeface="Times New Roman" panose="02020603050405020304" pitchFamily="18" charset="0"/>
                <a:cs typeface="Times New Roman" panose="02020603050405020304" pitchFamily="18" charset="0"/>
              </a:rPr>
              <a:t>fnum</a:t>
            </a:r>
            <a:r>
              <a:rPr lang="en-GB" sz="2000" dirty="0" smtClean="0">
                <a:latin typeface="Times New Roman" panose="02020603050405020304" pitchFamily="18" charset="0"/>
                <a:cs typeface="Times New Roman" panose="02020603050405020304" pitchFamily="18" charset="0"/>
              </a:rPr>
              <a:t>;</a:t>
            </a:r>
          </a:p>
          <a:p>
            <a:pPr marL="457200" lvl="1" indent="0">
              <a:buNone/>
            </a:pPr>
            <a:r>
              <a:rPr lang="en-GB" sz="2000" dirty="0" smtClean="0">
                <a:latin typeface="Times New Roman" panose="02020603050405020304" pitchFamily="18" charset="0"/>
                <a:cs typeface="Times New Roman" panose="02020603050405020304" pitchFamily="18" charset="0"/>
              </a:rPr>
              <a:t>    printf("Enter an integer and a floating-point number: ");</a:t>
            </a:r>
          </a:p>
          <a:p>
            <a:pPr marL="457200" lvl="1" indent="0">
              <a:buNone/>
            </a:pPr>
            <a:r>
              <a:rPr lang="en-GB" sz="2000" dirty="0" smtClean="0">
                <a:latin typeface="Times New Roman" panose="02020603050405020304" pitchFamily="18" charset="0"/>
                <a:cs typeface="Times New Roman" panose="02020603050405020304" pitchFamily="18" charset="0"/>
              </a:rPr>
              <a:t>    scanf("%d %f", &amp;</a:t>
            </a:r>
            <a:r>
              <a:rPr lang="en-GB" sz="2000" dirty="0" err="1" smtClean="0">
                <a:latin typeface="Times New Roman" panose="02020603050405020304" pitchFamily="18" charset="0"/>
                <a:cs typeface="Times New Roman" panose="02020603050405020304" pitchFamily="18" charset="0"/>
              </a:rPr>
              <a:t>num</a:t>
            </a:r>
            <a:r>
              <a:rPr lang="en-GB" sz="2000" dirty="0" smtClean="0">
                <a:latin typeface="Times New Roman" panose="02020603050405020304" pitchFamily="18" charset="0"/>
                <a:cs typeface="Times New Roman" panose="02020603050405020304" pitchFamily="18" charset="0"/>
              </a:rPr>
              <a:t>, &amp;</a:t>
            </a:r>
            <a:r>
              <a:rPr lang="en-GB" sz="2000" dirty="0" err="1" smtClean="0">
                <a:latin typeface="Times New Roman" panose="02020603050405020304" pitchFamily="18" charset="0"/>
                <a:cs typeface="Times New Roman" panose="02020603050405020304" pitchFamily="18" charset="0"/>
              </a:rPr>
              <a:t>fnum</a:t>
            </a:r>
            <a:r>
              <a:rPr lang="en-GB" sz="2000" dirty="0" smtClean="0">
                <a:latin typeface="Times New Roman" panose="02020603050405020304" pitchFamily="18" charset="0"/>
                <a:cs typeface="Times New Roman" panose="02020603050405020304" pitchFamily="18" charset="0"/>
              </a:rPr>
              <a:t>);</a:t>
            </a:r>
          </a:p>
          <a:p>
            <a:pPr marL="457200" lvl="1" indent="0">
              <a:buNone/>
            </a:pPr>
            <a:r>
              <a:rPr lang="en-GB" sz="2000" dirty="0" smtClean="0">
                <a:latin typeface="Times New Roman" panose="02020603050405020304" pitchFamily="18" charset="0"/>
                <a:cs typeface="Times New Roman" panose="02020603050405020304" pitchFamily="18" charset="0"/>
              </a:rPr>
              <a:t>    printf("You entered %d and %f\n", </a:t>
            </a:r>
            <a:r>
              <a:rPr lang="en-GB" sz="2000" dirty="0" err="1" smtClean="0">
                <a:latin typeface="Times New Roman" panose="02020603050405020304" pitchFamily="18" charset="0"/>
                <a:cs typeface="Times New Roman" panose="02020603050405020304" pitchFamily="18" charset="0"/>
              </a:rPr>
              <a:t>num</a:t>
            </a:r>
            <a:r>
              <a:rPr lang="en-GB" sz="2000" dirty="0" smtClean="0">
                <a:latin typeface="Times New Roman" panose="02020603050405020304" pitchFamily="18" charset="0"/>
                <a:cs typeface="Times New Roman" panose="02020603050405020304" pitchFamily="18" charset="0"/>
              </a:rPr>
              <a:t>, </a:t>
            </a:r>
            <a:r>
              <a:rPr lang="en-GB" sz="2000" dirty="0" err="1" smtClean="0">
                <a:latin typeface="Times New Roman" panose="02020603050405020304" pitchFamily="18" charset="0"/>
                <a:cs typeface="Times New Roman" panose="02020603050405020304" pitchFamily="18" charset="0"/>
              </a:rPr>
              <a:t>fnum</a:t>
            </a:r>
            <a:r>
              <a:rPr lang="en-GB" sz="2000" dirty="0" smtClean="0">
                <a:latin typeface="Times New Roman" panose="02020603050405020304" pitchFamily="18" charset="0"/>
                <a:cs typeface="Times New Roman" panose="02020603050405020304" pitchFamily="18" charset="0"/>
              </a:rPr>
              <a:t>);</a:t>
            </a:r>
          </a:p>
          <a:p>
            <a:pPr marL="457200" lvl="1" indent="0">
              <a:buNone/>
            </a:pPr>
            <a:r>
              <a:rPr lang="en-GB" sz="2000" dirty="0" smtClean="0">
                <a:latin typeface="Times New Roman" panose="02020603050405020304" pitchFamily="18" charset="0"/>
                <a:cs typeface="Times New Roman" panose="02020603050405020304" pitchFamily="18" charset="0"/>
              </a:rPr>
              <a:t>    return 0;</a:t>
            </a:r>
          </a:p>
          <a:p>
            <a:pPr marL="457200" lvl="1" indent="0">
              <a:buNone/>
            </a:pPr>
            <a:r>
              <a:rPr lang="en-GB" sz="2000" dirty="0" smtClean="0">
                <a:latin typeface="Times New Roman" panose="02020603050405020304" pitchFamily="18" charset="0"/>
                <a:cs typeface="Times New Roman" panose="02020603050405020304" pitchFamily="18" charset="0"/>
              </a:rPr>
              <a:t>}</a:t>
            </a:r>
          </a:p>
          <a:p>
            <a:pPr marL="0" indent="0" algn="just">
              <a:lnSpc>
                <a:spcPct val="150000"/>
              </a:lnSpc>
              <a:buNone/>
            </a:pP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6274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Reading variables </a:t>
            </a:r>
            <a:endParaRPr lang="en-GB" dirty="0"/>
          </a:p>
        </p:txBody>
      </p:sp>
      <p:sp>
        <p:nvSpPr>
          <p:cNvPr id="3" name="Content Placeholder 2"/>
          <p:cNvSpPr>
            <a:spLocks noGrp="1"/>
          </p:cNvSpPr>
          <p:nvPr>
            <p:ph idx="1"/>
          </p:nvPr>
        </p:nvSpPr>
        <p:spPr/>
        <p:txBody>
          <a:bodyPr>
            <a:normAutofit/>
          </a:bodyPr>
          <a:lstStyle/>
          <a:p>
            <a:pPr algn="just">
              <a:lnSpc>
                <a:spcPct val="150000"/>
              </a:lnSpc>
            </a:pPr>
            <a:r>
              <a:rPr lang="en-GB" sz="2400" dirty="0" smtClean="0">
                <a:latin typeface="Times New Roman" panose="02020603050405020304" pitchFamily="18" charset="0"/>
                <a:cs typeface="Times New Roman" panose="02020603050405020304" pitchFamily="18" charset="0"/>
              </a:rPr>
              <a:t>In this example, the format string "%d %f" tells scanf() to read an integer value followed by a floating-point value, separated by a space. </a:t>
            </a:r>
          </a:p>
          <a:p>
            <a:pPr algn="just">
              <a:lnSpc>
                <a:spcPct val="150000"/>
              </a:lnSpc>
            </a:pPr>
            <a:r>
              <a:rPr lang="en-GB" sz="2400" dirty="0" smtClean="0">
                <a:latin typeface="Times New Roman" panose="02020603050405020304" pitchFamily="18" charset="0"/>
                <a:cs typeface="Times New Roman" panose="02020603050405020304" pitchFamily="18" charset="0"/>
              </a:rPr>
              <a:t>The &amp; operator is used to pass the address of the </a:t>
            </a:r>
            <a:r>
              <a:rPr lang="en-GB" sz="2400" dirty="0" err="1" smtClean="0">
                <a:latin typeface="Times New Roman" panose="02020603050405020304" pitchFamily="18" charset="0"/>
                <a:cs typeface="Times New Roman" panose="02020603050405020304" pitchFamily="18" charset="0"/>
              </a:rPr>
              <a:t>num</a:t>
            </a:r>
            <a:r>
              <a:rPr lang="en-GB" sz="2400" dirty="0" smtClean="0">
                <a:latin typeface="Times New Roman" panose="02020603050405020304" pitchFamily="18" charset="0"/>
                <a:cs typeface="Times New Roman" panose="02020603050405020304" pitchFamily="18" charset="0"/>
              </a:rPr>
              <a:t> and </a:t>
            </a:r>
            <a:r>
              <a:rPr lang="en-GB" sz="2400" dirty="0" err="1" smtClean="0">
                <a:latin typeface="Times New Roman" panose="02020603050405020304" pitchFamily="18" charset="0"/>
                <a:cs typeface="Times New Roman" panose="02020603050405020304" pitchFamily="18" charset="0"/>
              </a:rPr>
              <a:t>fnum</a:t>
            </a:r>
            <a:r>
              <a:rPr lang="en-GB" sz="2400" dirty="0" smtClean="0">
                <a:latin typeface="Times New Roman" panose="02020603050405020304" pitchFamily="18" charset="0"/>
                <a:cs typeface="Times New Roman" panose="02020603050405020304" pitchFamily="18" charset="0"/>
              </a:rPr>
              <a:t> variables to scanf(), so that the input values can be stored in those variables.</a:t>
            </a:r>
          </a:p>
          <a:p>
            <a:pPr marL="0" indent="0" algn="just">
              <a:lnSpc>
                <a:spcPct val="150000"/>
              </a:lnSpc>
              <a:buNone/>
            </a:pP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997352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Qualifiers</a:t>
            </a:r>
            <a:endParaRPr lang="en-GB" dirty="0"/>
          </a:p>
        </p:txBody>
      </p:sp>
      <p:sp>
        <p:nvSpPr>
          <p:cNvPr id="3" name="Content Placeholder 2"/>
          <p:cNvSpPr>
            <a:spLocks noGrp="1"/>
          </p:cNvSpPr>
          <p:nvPr>
            <p:ph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type </a:t>
            </a:r>
            <a:r>
              <a:rPr lang="en-GB" b="1" dirty="0" smtClean="0">
                <a:latin typeface="Times New Roman" panose="02020603050405020304" pitchFamily="18" charset="0"/>
                <a:cs typeface="Times New Roman" panose="02020603050405020304" pitchFamily="18" charset="0"/>
              </a:rPr>
              <a:t>qualifiers:</a:t>
            </a:r>
            <a:r>
              <a:rPr lang="en-GB" dirty="0">
                <a:latin typeface="Times New Roman" panose="02020603050405020304" pitchFamily="18" charset="0"/>
                <a:cs typeface="Times New Roman" panose="02020603050405020304" pitchFamily="18" charset="0"/>
              </a:rPr>
              <a:t> are </a:t>
            </a:r>
            <a:r>
              <a:rPr lang="en-GB" dirty="0" smtClean="0">
                <a:latin typeface="Times New Roman" panose="02020603050405020304" pitchFamily="18" charset="0"/>
                <a:cs typeface="Times New Roman" panose="02020603050405020304" pitchFamily="18" charset="0"/>
              </a:rPr>
              <a:t>keywords used to provide the compiler with additional information about how a variable's value should be treated and accessed.</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two important qualifiers:</a:t>
            </a:r>
          </a:p>
          <a:p>
            <a:pPr marL="0" indent="0">
              <a:buNone/>
            </a:pPr>
            <a:endParaRPr lang="en-GB" dirty="0" smtClean="0">
              <a:latin typeface="Times New Roman" panose="02020603050405020304" pitchFamily="18" charset="0"/>
              <a:cs typeface="Times New Roman" panose="02020603050405020304" pitchFamily="18" charset="0"/>
            </a:endParaRPr>
          </a:p>
          <a:p>
            <a:pPr lvl="1"/>
            <a:r>
              <a:rPr lang="en-GB" dirty="0" err="1" smtClean="0">
                <a:latin typeface="Times New Roman" panose="02020603050405020304" pitchFamily="18" charset="0"/>
                <a:cs typeface="Times New Roman" panose="02020603050405020304" pitchFamily="18" charset="0"/>
              </a:rPr>
              <a:t>Const</a:t>
            </a:r>
            <a:endParaRPr lang="en-GB" dirty="0" smtClean="0">
              <a:latin typeface="Times New Roman" panose="02020603050405020304" pitchFamily="18" charset="0"/>
              <a:cs typeface="Times New Roman" panose="02020603050405020304" pitchFamily="18" charset="0"/>
            </a:endParaRPr>
          </a:p>
          <a:p>
            <a:pPr lvl="1"/>
            <a:r>
              <a:rPr lang="en-GB" dirty="0" smtClean="0">
                <a:latin typeface="Times New Roman" panose="02020603050405020304" pitchFamily="18" charset="0"/>
                <a:cs typeface="Times New Roman" panose="02020603050405020304" pitchFamily="18" charset="0"/>
              </a:rPr>
              <a:t>volatile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515105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Qualifiers</a:t>
            </a:r>
            <a:endParaRPr lang="en-GB" dirty="0"/>
          </a:p>
        </p:txBody>
      </p:sp>
      <p:sp>
        <p:nvSpPr>
          <p:cNvPr id="3" name="Content Placeholder 2"/>
          <p:cNvSpPr>
            <a:spLocks noGrp="1"/>
          </p:cNvSpPr>
          <p:nvPr>
            <p:ph idx="1"/>
          </p:nvPr>
        </p:nvSpPr>
        <p:spPr/>
        <p:txBody>
          <a:bodyPr/>
          <a:lstStyle/>
          <a:p>
            <a:pPr marL="0" indent="0">
              <a:buNone/>
            </a:pPr>
            <a:r>
              <a:rPr lang="en-GB" b="1" dirty="0" err="1" smtClean="0">
                <a:latin typeface="Times New Roman" panose="02020603050405020304" pitchFamily="18" charset="0"/>
                <a:cs typeface="Times New Roman" panose="02020603050405020304" pitchFamily="18" charset="0"/>
              </a:rPr>
              <a:t>const</a:t>
            </a:r>
            <a:r>
              <a:rPr lang="en-GB" b="1" dirty="0" smtClean="0">
                <a:latin typeface="Times New Roman" panose="02020603050405020304" pitchFamily="18" charset="0"/>
                <a:cs typeface="Times New Roman" panose="02020603050405020304" pitchFamily="18" charset="0"/>
              </a:rPr>
              <a:t> Qualifier</a:t>
            </a:r>
            <a:endParaRPr lang="en-GB" b="1" dirty="0">
              <a:latin typeface="Times New Roman" panose="02020603050405020304" pitchFamily="18" charset="0"/>
              <a:cs typeface="Times New Roman" panose="02020603050405020304" pitchFamily="18" charset="0"/>
            </a:endParaRPr>
          </a:p>
          <a:p>
            <a:r>
              <a:rPr lang="en-GB" sz="2400" dirty="0" err="1" smtClean="0">
                <a:latin typeface="Times New Roman" panose="02020603050405020304" pitchFamily="18" charset="0"/>
                <a:cs typeface="Times New Roman" panose="02020603050405020304" pitchFamily="18" charset="0"/>
              </a:rPr>
              <a:t>const</a:t>
            </a:r>
            <a:r>
              <a:rPr lang="en-GB" sz="2400" dirty="0" smtClean="0">
                <a:latin typeface="Times New Roman" panose="02020603050405020304" pitchFamily="18" charset="0"/>
                <a:cs typeface="Times New Roman" panose="02020603050405020304" pitchFamily="18" charset="0"/>
              </a:rPr>
              <a:t> makes a variable read-only.</a:t>
            </a:r>
          </a:p>
          <a:p>
            <a:r>
              <a:rPr lang="en-GB" sz="2400" dirty="0" smtClean="0">
                <a:latin typeface="Times New Roman" panose="02020603050405020304" pitchFamily="18" charset="0"/>
                <a:cs typeface="Times New Roman" panose="02020603050405020304" pitchFamily="18" charset="0"/>
              </a:rPr>
              <a:t>Once initialized, its value cannot be changed.</a:t>
            </a:r>
            <a:endParaRPr lang="en-GB"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Example:</a:t>
            </a:r>
          </a:p>
          <a:p>
            <a:pPr marL="0" indent="0">
              <a:buNone/>
            </a:pPr>
            <a:r>
              <a:rPr lang="en-GB" sz="2400" dirty="0" err="1" smtClean="0">
                <a:latin typeface="Times New Roman" panose="02020603050405020304" pitchFamily="18" charset="0"/>
                <a:cs typeface="Times New Roman" panose="02020603050405020304" pitchFamily="18" charset="0"/>
              </a:rPr>
              <a:t>const</a:t>
            </a:r>
            <a:r>
              <a:rPr lang="en-GB" sz="2400" dirty="0" smtClean="0">
                <a:latin typeface="Times New Roman" panose="02020603050405020304" pitchFamily="18" charset="0"/>
                <a:cs typeface="Times New Roman" panose="02020603050405020304" pitchFamily="18" charset="0"/>
              </a:rPr>
              <a:t> float PI = 3.14;</a:t>
            </a:r>
          </a:p>
          <a:p>
            <a:pPr marL="0" indent="0">
              <a:buNone/>
            </a:pPr>
            <a:r>
              <a:rPr lang="en-GB" sz="2400" dirty="0" err="1" smtClean="0">
                <a:latin typeface="Times New Roman" panose="02020603050405020304" pitchFamily="18" charset="0"/>
                <a:cs typeface="Times New Roman" panose="02020603050405020304" pitchFamily="18" charset="0"/>
              </a:rPr>
              <a:t>const</a:t>
            </a:r>
            <a:r>
              <a:rPr lang="en-GB" sz="2400" dirty="0" smtClean="0">
                <a:latin typeface="Times New Roman" panose="02020603050405020304" pitchFamily="18" charset="0"/>
                <a:cs typeface="Times New Roman" panose="02020603050405020304" pitchFamily="18" charset="0"/>
              </a:rPr>
              <a:t> float PI = 3.15;//Not allowed</a:t>
            </a:r>
          </a:p>
          <a:p>
            <a:pPr marL="0" indent="0">
              <a:buNone/>
            </a:pP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188907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Qualifiers</a:t>
            </a:r>
            <a:endParaRPr lang="en-GB" dirty="0"/>
          </a:p>
        </p:txBody>
      </p:sp>
      <p:sp>
        <p:nvSpPr>
          <p:cNvPr id="3" name="Content Placeholder 2"/>
          <p:cNvSpPr>
            <a:spLocks noGrp="1"/>
          </p:cNvSpPr>
          <p:nvPr>
            <p:ph idx="1"/>
          </p:nvPr>
        </p:nvSpPr>
        <p:spPr/>
        <p:txBody>
          <a:bodyPr>
            <a:normAutofit/>
          </a:bodyPr>
          <a:lstStyle/>
          <a:p>
            <a:pPr marL="0" indent="0">
              <a:buNone/>
            </a:pPr>
            <a:r>
              <a:rPr lang="en-GB" b="1" dirty="0" smtClean="0">
                <a:latin typeface="Times New Roman" panose="02020603050405020304" pitchFamily="18" charset="0"/>
                <a:cs typeface="Times New Roman" panose="02020603050405020304" pitchFamily="18" charset="0"/>
              </a:rPr>
              <a:t>volatile Qualifier</a:t>
            </a:r>
            <a:endParaRPr lang="en-GB" b="1" dirty="0">
              <a:latin typeface="Times New Roman" panose="02020603050405020304" pitchFamily="18" charset="0"/>
              <a:cs typeface="Times New Roman" panose="02020603050405020304" pitchFamily="18" charset="0"/>
            </a:endParaRPr>
          </a:p>
          <a:p>
            <a:r>
              <a:rPr lang="en-GB" sz="2400" dirty="0" smtClean="0">
                <a:latin typeface="Times New Roman" panose="02020603050405020304" pitchFamily="18" charset="0"/>
                <a:cs typeface="Times New Roman" panose="02020603050405020304" pitchFamily="18" charset="0"/>
              </a:rPr>
              <a:t>volatile tells the compiler that a variable’s value may change at any time.</a:t>
            </a:r>
          </a:p>
          <a:p>
            <a:r>
              <a:rPr lang="en-GB" sz="2400" dirty="0" smtClean="0">
                <a:latin typeface="Times New Roman" panose="02020603050405020304" pitchFamily="18" charset="0"/>
                <a:cs typeface="Times New Roman" panose="02020603050405020304" pitchFamily="18" charset="0"/>
              </a:rPr>
              <a:t>The change may come from outside the program.</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Example</a:t>
            </a:r>
            <a:r>
              <a:rPr lang="en-GB" sz="2400" dirty="0" smtClean="0">
                <a:latin typeface="Times New Roman" panose="02020603050405020304" pitchFamily="18" charset="0"/>
                <a:cs typeface="Times New Roman" panose="02020603050405020304" pitchFamily="18" charset="0"/>
              </a:rPr>
              <a:t>:</a:t>
            </a:r>
          </a:p>
          <a:p>
            <a:pPr marL="0" indent="0">
              <a:buNone/>
            </a:pPr>
            <a:r>
              <a:rPr lang="en-US" sz="2400" dirty="0" smtClean="0">
                <a:latin typeface="Times New Roman" panose="02020603050405020304" pitchFamily="18" charset="0"/>
                <a:cs typeface="Times New Roman" panose="02020603050405020304" pitchFamily="18" charset="0"/>
              </a:rPr>
              <a:t>volatile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sensorValue</a:t>
            </a:r>
            <a:r>
              <a:rPr lang="en-US" sz="24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9444713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Constants</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Constant is a any value that cannot be changed during program execution. In C, any number, single character, or character string is known as a constant. A constant is an entity that doesn’t change whereas a variable is an entity that may change.</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C constants can be divided into two major categories: </a:t>
            </a:r>
          </a:p>
          <a:p>
            <a:pPr lvl="1"/>
            <a:r>
              <a:rPr lang="en-GB" dirty="0" smtClean="0">
                <a:latin typeface="Times New Roman" panose="02020603050405020304" pitchFamily="18" charset="0"/>
                <a:cs typeface="Times New Roman" panose="02020603050405020304" pitchFamily="18" charset="0"/>
              </a:rPr>
              <a:t>Primary Constants </a:t>
            </a:r>
          </a:p>
          <a:p>
            <a:pPr lvl="1"/>
            <a:r>
              <a:rPr lang="en-GB" dirty="0" smtClean="0">
                <a:latin typeface="Times New Roman" panose="02020603050405020304" pitchFamily="18" charset="0"/>
                <a:cs typeface="Times New Roman" panose="02020603050405020304" pitchFamily="18" charset="0"/>
              </a:rPr>
              <a:t>Secondary Constants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54316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Constants</a:t>
            </a:r>
            <a:endParaRPr lang="en-GB" dirty="0"/>
          </a:p>
        </p:txBody>
      </p:sp>
      <p:pic>
        <p:nvPicPr>
          <p:cNvPr id="17410" name="Picture 2" descr="Integer, Real, Character, String Constants in C | Codingee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677" y="2333760"/>
            <a:ext cx="4810125"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33785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Constants</a:t>
            </a:r>
            <a:endParaRPr lang="en-GB" dirty="0"/>
          </a:p>
        </p:txBody>
      </p:sp>
      <p:sp>
        <p:nvSpPr>
          <p:cNvPr id="3" name="Content Placeholder 2"/>
          <p:cNvSpPr>
            <a:spLocks noGrp="1"/>
          </p:cNvSpPr>
          <p:nvPr>
            <p:ph idx="1"/>
          </p:nvPr>
        </p:nvSpPr>
        <p:spPr/>
        <p:txBody>
          <a:bodyPr/>
          <a:lstStyle/>
          <a:p>
            <a:pPr marL="0" indent="0">
              <a:buNone/>
            </a:pPr>
            <a:r>
              <a:rPr lang="en-GB" b="1" dirty="0" smtClean="0">
                <a:latin typeface="Times New Roman" panose="02020603050405020304" pitchFamily="18" charset="0"/>
                <a:cs typeface="Times New Roman" panose="02020603050405020304" pitchFamily="18" charset="0"/>
              </a:rPr>
              <a:t>Primary constants</a:t>
            </a:r>
            <a:endParaRPr lang="en-GB" b="1" dirty="0" smtClean="0">
              <a:latin typeface="Times New Roman" panose="02020603050405020304" pitchFamily="18" charset="0"/>
              <a:cs typeface="Times New Roman" panose="02020603050405020304" pitchFamily="18" charset="0"/>
            </a:endParaRPr>
          </a:p>
          <a:p>
            <a:pPr marL="0" indent="0">
              <a:buNone/>
            </a:pPr>
            <a:r>
              <a:rPr lang="en-GB" sz="2400" dirty="0" smtClean="0">
                <a:latin typeface="Times New Roman" panose="02020603050405020304" pitchFamily="18" charset="0"/>
                <a:cs typeface="Times New Roman" panose="02020603050405020304" pitchFamily="18" charset="0"/>
              </a:rPr>
              <a:t>Primary constants represent </a:t>
            </a:r>
            <a:r>
              <a:rPr lang="en-GB" sz="2400" b="1" dirty="0" smtClean="0">
                <a:latin typeface="Times New Roman" panose="02020603050405020304" pitchFamily="18" charset="0"/>
                <a:cs typeface="Times New Roman" panose="02020603050405020304" pitchFamily="18" charset="0"/>
              </a:rPr>
              <a:t>basic data values</a:t>
            </a:r>
            <a:r>
              <a:rPr lang="en-GB" sz="2400" dirty="0" smtClean="0">
                <a:latin typeface="Times New Roman" panose="02020603050405020304" pitchFamily="18" charset="0"/>
                <a:cs typeface="Times New Roman" panose="02020603050405020304" pitchFamily="18" charset="0"/>
              </a:rPr>
              <a:t>.</a:t>
            </a:r>
          </a:p>
          <a:p>
            <a:pPr marL="0" indent="0">
              <a:buNone/>
            </a:pPr>
            <a:endParaRPr lang="en-GB" sz="2400" dirty="0" smtClean="0">
              <a:latin typeface="Times New Roman" panose="02020603050405020304" pitchFamily="18" charset="0"/>
              <a:cs typeface="Times New Roman" panose="02020603050405020304" pitchFamily="18" charset="0"/>
            </a:endParaRPr>
          </a:p>
          <a:p>
            <a:pPr marL="0" indent="0">
              <a:buNone/>
            </a:pPr>
            <a:r>
              <a:rPr lang="en-GB" sz="2400" dirty="0" smtClean="0">
                <a:latin typeface="Times New Roman" panose="02020603050405020304" pitchFamily="18" charset="0"/>
                <a:cs typeface="Times New Roman" panose="02020603050405020304" pitchFamily="18" charset="0"/>
              </a:rPr>
              <a:t>They include:</a:t>
            </a:r>
          </a:p>
          <a:p>
            <a:r>
              <a:rPr lang="en-GB" sz="2400" b="1" dirty="0" smtClean="0">
                <a:latin typeface="Times New Roman" panose="02020603050405020304" pitchFamily="18" charset="0"/>
                <a:cs typeface="Times New Roman" panose="02020603050405020304" pitchFamily="18" charset="0"/>
              </a:rPr>
              <a:t>Integer Constants</a:t>
            </a:r>
            <a:r>
              <a:rPr lang="en-GB" sz="2400" dirty="0" smtClean="0">
                <a:latin typeface="Times New Roman" panose="02020603050405020304" pitchFamily="18" charset="0"/>
                <a:cs typeface="Times New Roman" panose="02020603050405020304" pitchFamily="18" charset="0"/>
              </a:rPr>
              <a:t>: whole numbers (e.g., 10, -5)</a:t>
            </a:r>
          </a:p>
          <a:p>
            <a:r>
              <a:rPr lang="en-GB" sz="2400" b="1" dirty="0" smtClean="0">
                <a:latin typeface="Times New Roman" panose="02020603050405020304" pitchFamily="18" charset="0"/>
                <a:cs typeface="Times New Roman" panose="02020603050405020304" pitchFamily="18" charset="0"/>
              </a:rPr>
              <a:t>Real (Floating) Constants</a:t>
            </a:r>
            <a:r>
              <a:rPr lang="en-GB" sz="2400" dirty="0">
                <a:latin typeface="Times New Roman" panose="02020603050405020304" pitchFamily="18" charset="0"/>
                <a:cs typeface="Times New Roman" panose="02020603050405020304" pitchFamily="18" charset="0"/>
              </a:rPr>
              <a:t>:</a:t>
            </a:r>
            <a:r>
              <a:rPr lang="en-GB" sz="2400" dirty="0" smtClean="0">
                <a:latin typeface="Times New Roman" panose="02020603050405020304" pitchFamily="18" charset="0"/>
                <a:cs typeface="Times New Roman" panose="02020603050405020304" pitchFamily="18" charset="0"/>
              </a:rPr>
              <a:t> decimal numbers (e.g., 3.14, 0.5)</a:t>
            </a:r>
          </a:p>
          <a:p>
            <a:r>
              <a:rPr lang="en-GB" sz="2400" b="1" dirty="0" smtClean="0">
                <a:latin typeface="Times New Roman" panose="02020603050405020304" pitchFamily="18" charset="0"/>
                <a:cs typeface="Times New Roman" panose="02020603050405020304" pitchFamily="18" charset="0"/>
              </a:rPr>
              <a:t>Character Constants</a:t>
            </a:r>
            <a:r>
              <a:rPr lang="en-GB" sz="2400" dirty="0">
                <a:latin typeface="Times New Roman" panose="02020603050405020304" pitchFamily="18" charset="0"/>
                <a:cs typeface="Times New Roman" panose="02020603050405020304" pitchFamily="18" charset="0"/>
              </a:rPr>
              <a:t>:</a:t>
            </a:r>
            <a:r>
              <a:rPr lang="en-GB" sz="2400" dirty="0" smtClean="0">
                <a:latin typeface="Times New Roman" panose="02020603050405020304" pitchFamily="18" charset="0"/>
                <a:cs typeface="Times New Roman" panose="02020603050405020304" pitchFamily="18" charset="0"/>
              </a:rPr>
              <a:t> single characters (e.g., 'A', '9')</a:t>
            </a:r>
          </a:p>
          <a:p>
            <a:pPr marL="0" indent="0">
              <a:buNone/>
            </a:pP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908750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Constants</a:t>
            </a:r>
            <a:endParaRPr lang="en-GB" dirty="0"/>
          </a:p>
        </p:txBody>
      </p:sp>
      <p:sp>
        <p:nvSpPr>
          <p:cNvPr id="3" name="Content Placeholder 2"/>
          <p:cNvSpPr>
            <a:spLocks noGrp="1"/>
          </p:cNvSpPr>
          <p:nvPr>
            <p:ph idx="1"/>
          </p:nvPr>
        </p:nvSpPr>
        <p:spPr/>
        <p:txBody>
          <a:bodyPr>
            <a:normAutofit fontScale="92500" lnSpcReduction="20000"/>
          </a:bodyPr>
          <a:lstStyle/>
          <a:p>
            <a:pPr marL="0" indent="0">
              <a:buNone/>
            </a:pPr>
            <a:r>
              <a:rPr lang="en-GB" b="1" dirty="0">
                <a:latin typeface="Times New Roman" panose="02020603050405020304" pitchFamily="18" charset="0"/>
                <a:cs typeface="Times New Roman" panose="02020603050405020304" pitchFamily="18" charset="0"/>
              </a:rPr>
              <a:t>S</a:t>
            </a:r>
            <a:r>
              <a:rPr lang="en-GB" b="1" dirty="0" smtClean="0">
                <a:latin typeface="Times New Roman" panose="02020603050405020304" pitchFamily="18" charset="0"/>
                <a:cs typeface="Times New Roman" panose="02020603050405020304" pitchFamily="18" charset="0"/>
              </a:rPr>
              <a:t>econdary constants</a:t>
            </a:r>
            <a:endParaRPr lang="en-GB" b="1" dirty="0" smtClean="0">
              <a:latin typeface="Times New Roman" panose="02020603050405020304" pitchFamily="18" charset="0"/>
              <a:cs typeface="Times New Roman" panose="02020603050405020304" pitchFamily="18" charset="0"/>
            </a:endParaRPr>
          </a:p>
          <a:p>
            <a:r>
              <a:rPr lang="en-GB" sz="2400" dirty="0" smtClean="0">
                <a:latin typeface="Times New Roman" panose="02020603050405020304" pitchFamily="18" charset="0"/>
                <a:cs typeface="Times New Roman" panose="02020603050405020304" pitchFamily="18" charset="0"/>
              </a:rPr>
              <a:t>Secondary constants are derived (formed from primary constants) and are used to store multiple values or complex data.</a:t>
            </a:r>
          </a:p>
          <a:p>
            <a:r>
              <a:rPr lang="en-GB" sz="2400" dirty="0" smtClean="0">
                <a:latin typeface="Times New Roman" panose="02020603050405020304" pitchFamily="18" charset="0"/>
                <a:cs typeface="Times New Roman" panose="02020603050405020304" pitchFamily="18" charset="0"/>
              </a:rPr>
              <a:t>They are not single values like integers or characters.</a:t>
            </a:r>
          </a:p>
          <a:p>
            <a:pPr marL="0" indent="0">
              <a:buNone/>
            </a:pPr>
            <a:endParaRPr lang="en-GB" sz="2400" dirty="0" smtClean="0">
              <a:latin typeface="Times New Roman" panose="02020603050405020304" pitchFamily="18" charset="0"/>
              <a:cs typeface="Times New Roman" panose="02020603050405020304" pitchFamily="18" charset="0"/>
            </a:endParaRPr>
          </a:p>
          <a:p>
            <a:pPr marL="0" indent="0">
              <a:buNone/>
            </a:pPr>
            <a:r>
              <a:rPr lang="en-GB" sz="2400" dirty="0" smtClean="0">
                <a:latin typeface="Times New Roman" panose="02020603050405020304" pitchFamily="18" charset="0"/>
                <a:cs typeface="Times New Roman" panose="02020603050405020304" pitchFamily="18" charset="0"/>
              </a:rPr>
              <a:t>They include:</a:t>
            </a:r>
          </a:p>
          <a:p>
            <a:r>
              <a:rPr lang="en-GB" sz="2400" b="1" dirty="0" smtClean="0">
                <a:latin typeface="Times New Roman" panose="02020603050405020304" pitchFamily="18" charset="0"/>
                <a:cs typeface="Times New Roman" panose="02020603050405020304" pitchFamily="18" charset="0"/>
              </a:rPr>
              <a:t>Array: </a:t>
            </a:r>
            <a:r>
              <a:rPr lang="en-GB" sz="2400" dirty="0" smtClean="0">
                <a:latin typeface="Times New Roman" panose="02020603050405020304" pitchFamily="18" charset="0"/>
                <a:cs typeface="Times New Roman" panose="02020603050405020304" pitchFamily="18" charset="0"/>
              </a:rPr>
              <a:t>Stores multiple values of the same data type under one name(</a:t>
            </a:r>
            <a:r>
              <a:rPr lang="en-GB" sz="2400" dirty="0" smtClean="0">
                <a:latin typeface="Times New Roman" panose="02020603050405020304" pitchFamily="18" charset="0"/>
                <a:cs typeface="Times New Roman" panose="02020603050405020304" pitchFamily="18" charset="0"/>
              </a:rPr>
              <a:t>int a[5] = {1, 2, 3, 4, 5};)</a:t>
            </a:r>
          </a:p>
          <a:p>
            <a:r>
              <a:rPr lang="en-GB" sz="2400" b="1" dirty="0" smtClean="0">
                <a:latin typeface="Times New Roman" panose="02020603050405020304" pitchFamily="18" charset="0"/>
                <a:cs typeface="Times New Roman" panose="02020603050405020304" pitchFamily="18" charset="0"/>
              </a:rPr>
              <a:t>Pointer</a:t>
            </a:r>
            <a:r>
              <a:rPr lang="en-GB" sz="2400" dirty="0" smtClean="0">
                <a:latin typeface="Times New Roman" panose="02020603050405020304" pitchFamily="18" charset="0"/>
                <a:cs typeface="Times New Roman" panose="02020603050405020304" pitchFamily="18" charset="0"/>
              </a:rPr>
              <a:t>: Stores the address of another variable(int x = 10; int *p = &amp;x;)</a:t>
            </a:r>
          </a:p>
          <a:p>
            <a:r>
              <a:rPr lang="en-GB" sz="2400" b="1" dirty="0" smtClean="0">
                <a:latin typeface="Times New Roman" panose="02020603050405020304" pitchFamily="18" charset="0"/>
                <a:cs typeface="Times New Roman" panose="02020603050405020304" pitchFamily="18" charset="0"/>
              </a:rPr>
              <a:t>Structure</a:t>
            </a:r>
            <a:r>
              <a:rPr lang="en-GB" sz="2400" dirty="0">
                <a:latin typeface="Times New Roman" panose="02020603050405020304" pitchFamily="18" charset="0"/>
                <a:cs typeface="Times New Roman" panose="02020603050405020304" pitchFamily="18" charset="0"/>
              </a:rPr>
              <a:t>:</a:t>
            </a:r>
            <a:r>
              <a:rPr lang="en-GB" sz="2400" dirty="0" smtClean="0">
                <a:latin typeface="Times New Roman" panose="02020603050405020304" pitchFamily="18" charset="0"/>
                <a:cs typeface="Times New Roman" panose="02020603050405020304" pitchFamily="18" charset="0"/>
              </a:rPr>
              <a:t> Groups variables of different data types(</a:t>
            </a:r>
          </a:p>
          <a:p>
            <a:pPr marL="3657600" lvl="8" indent="0">
              <a:buNone/>
            </a:pPr>
            <a:r>
              <a:rPr lang="en-GB" sz="1400" dirty="0" err="1" smtClean="0">
                <a:latin typeface="Times New Roman" panose="02020603050405020304" pitchFamily="18" charset="0"/>
                <a:cs typeface="Times New Roman" panose="02020603050405020304" pitchFamily="18" charset="0"/>
              </a:rPr>
              <a:t>struct</a:t>
            </a:r>
            <a:r>
              <a:rPr lang="en-GB" sz="1400" dirty="0" smtClean="0">
                <a:latin typeface="Times New Roman" panose="02020603050405020304" pitchFamily="18" charset="0"/>
                <a:cs typeface="Times New Roman" panose="02020603050405020304" pitchFamily="18" charset="0"/>
              </a:rPr>
              <a:t> student {</a:t>
            </a:r>
          </a:p>
          <a:p>
            <a:pPr marL="3657600" lvl="8" indent="0">
              <a:buNone/>
            </a:pPr>
            <a:r>
              <a:rPr lang="en-GB" sz="1400" dirty="0" smtClean="0">
                <a:latin typeface="Times New Roman" panose="02020603050405020304" pitchFamily="18" charset="0"/>
                <a:cs typeface="Times New Roman" panose="02020603050405020304" pitchFamily="18" charset="0"/>
              </a:rPr>
              <a:t>int id;</a:t>
            </a:r>
          </a:p>
          <a:p>
            <a:pPr marL="3657600" lvl="8" indent="0">
              <a:buNone/>
            </a:pPr>
            <a:r>
              <a:rPr lang="en-GB" sz="1400" dirty="0" smtClean="0">
                <a:latin typeface="Times New Roman" panose="02020603050405020304" pitchFamily="18" charset="0"/>
                <a:cs typeface="Times New Roman" panose="02020603050405020304" pitchFamily="18" charset="0"/>
              </a:rPr>
              <a:t>char name[20];</a:t>
            </a:r>
          </a:p>
          <a:p>
            <a:pPr marL="3657600" lvl="8" indent="0">
              <a:buNone/>
            </a:pPr>
            <a:r>
              <a:rPr lang="en-GB" sz="1400" dirty="0" smtClean="0">
                <a:latin typeface="Times New Roman" panose="02020603050405020304" pitchFamily="18" charset="0"/>
                <a:cs typeface="Times New Roman" panose="02020603050405020304" pitchFamily="18" charset="0"/>
              </a:rPr>
              <a:t>};)</a:t>
            </a:r>
          </a:p>
          <a:p>
            <a:endParaRPr lang="en-GB" sz="2400" dirty="0" smtClean="0"/>
          </a:p>
          <a:p>
            <a:pPr marL="0" indent="0">
              <a:buNone/>
            </a:pPr>
            <a:endParaRPr lang="en-GB" sz="2400" dirty="0" smtClean="0">
              <a:latin typeface="Times New Roman" panose="02020603050405020304" pitchFamily="18" charset="0"/>
              <a:cs typeface="Times New Roman" panose="02020603050405020304" pitchFamily="18" charset="0"/>
            </a:endParaRPr>
          </a:p>
          <a:p>
            <a:pPr marL="0" indent="0">
              <a:buNone/>
            </a:pPr>
            <a:endParaRPr lang="en-GB" sz="2400" dirty="0" smtClean="0">
              <a:latin typeface="Times New Roman" panose="02020603050405020304" pitchFamily="18" charset="0"/>
              <a:cs typeface="Times New Roman" panose="02020603050405020304" pitchFamily="18" charset="0"/>
            </a:endParaRPr>
          </a:p>
          <a:p>
            <a:pPr marL="0" indent="0">
              <a:buNone/>
            </a:pP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00730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3104</TotalTime>
  <Words>2569</Words>
  <Application>Microsoft Office PowerPoint</Application>
  <PresentationFormat>Widescreen</PresentationFormat>
  <Paragraphs>392</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Times New Roman</vt:lpstr>
      <vt:lpstr>Wingdings</vt:lpstr>
      <vt:lpstr>Office Theme</vt:lpstr>
      <vt:lpstr>PowerPoint Presentation</vt:lpstr>
      <vt:lpstr>Outlines</vt:lpstr>
      <vt:lpstr>Character set</vt:lpstr>
      <vt:lpstr>Character set</vt:lpstr>
      <vt:lpstr>Character set</vt:lpstr>
      <vt:lpstr>Character set</vt:lpstr>
      <vt:lpstr>Character set</vt:lpstr>
      <vt:lpstr>Identifiers </vt:lpstr>
      <vt:lpstr>Identifiers </vt:lpstr>
      <vt:lpstr>Identifiers </vt:lpstr>
      <vt:lpstr>Identifiers </vt:lpstr>
      <vt:lpstr>Keywords </vt:lpstr>
      <vt:lpstr>Keywords </vt:lpstr>
      <vt:lpstr>PowerPoint Presentation</vt:lpstr>
      <vt:lpstr>Variables </vt:lpstr>
      <vt:lpstr>Variables </vt:lpstr>
      <vt:lpstr>Variables </vt:lpstr>
      <vt:lpstr>Declaring variables </vt:lpstr>
      <vt:lpstr>Declaring variables </vt:lpstr>
      <vt:lpstr>Declaring variables </vt:lpstr>
      <vt:lpstr>Declaring variables </vt:lpstr>
      <vt:lpstr>Declaring variables </vt:lpstr>
      <vt:lpstr>Declaring variables </vt:lpstr>
      <vt:lpstr>Declaring variables </vt:lpstr>
      <vt:lpstr>Declaring variables </vt:lpstr>
      <vt:lpstr>Declaring variables </vt:lpstr>
      <vt:lpstr>Declaring variables </vt:lpstr>
      <vt:lpstr>Data types</vt:lpstr>
      <vt:lpstr>Data types</vt:lpstr>
      <vt:lpstr>Data types</vt:lpstr>
      <vt:lpstr>Data types</vt:lpstr>
      <vt:lpstr>Data types</vt:lpstr>
      <vt:lpstr>Data types</vt:lpstr>
      <vt:lpstr>Data types</vt:lpstr>
      <vt:lpstr>Data types</vt:lpstr>
      <vt:lpstr>Data types</vt:lpstr>
      <vt:lpstr>Displaying variables</vt:lpstr>
      <vt:lpstr>Displaying variables</vt:lpstr>
      <vt:lpstr>Reading variables </vt:lpstr>
      <vt:lpstr>Reading variables </vt:lpstr>
      <vt:lpstr>Reading variables </vt:lpstr>
      <vt:lpstr>Reading variables </vt:lpstr>
      <vt:lpstr>Reading variables </vt:lpstr>
      <vt:lpstr>Qualifiers</vt:lpstr>
      <vt:lpstr>Qualifiers</vt:lpstr>
      <vt:lpstr>Qualifiers</vt:lpstr>
      <vt:lpstr>Constants</vt:lpstr>
      <vt:lpstr>Constants</vt:lpstr>
      <vt:lpstr>Constants</vt:lpstr>
      <vt:lpstr>Constants</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33</cp:revision>
  <dcterms:created xsi:type="dcterms:W3CDTF">2026-02-04T07:51:54Z</dcterms:created>
  <dcterms:modified xsi:type="dcterms:W3CDTF">2026-02-06T11:36:31Z</dcterms:modified>
</cp:coreProperties>
</file>