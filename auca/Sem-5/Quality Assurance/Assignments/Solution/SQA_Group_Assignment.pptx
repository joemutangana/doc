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2926080" cy="2926080"/>
          </a:xfrm>
          <a:prstGeom prst="ellipse">
            <a:avLst/>
          </a:prstGeom>
          <a:solidFill>
            <a:srgbClr val="0FB8B8">
              <a:alpha val="70000"/>
            </a:srgbClr>
          </a:solidFill>
          <a:ln w="12700">
            <a:solidFill>
              <a:srgbClr val="0FB8B8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40080"/>
            <a:ext cx="2194560" cy="2194560"/>
          </a:xfrm>
          <a:prstGeom prst="ellipse">
            <a:avLst/>
          </a:prstGeom>
          <a:solidFill>
            <a:srgbClr val="1A2B4A">
              <a:alpha val="80000"/>
            </a:srgbClr>
          </a:solidFill>
          <a:ln w="12700">
            <a:solidFill>
              <a:srgbClr val="1A2B4A">
                <a:alpha val="8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91440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56032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SQA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1440" y="3200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8F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GROUP ASSIGNMENT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749040" y="118872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Software Quality Assurance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749040" y="205740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FB8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Complete answers to all 8 scenario-based questions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749040" y="3017520"/>
            <a:ext cx="1234440" cy="566928"/>
          </a:xfrm>
          <a:prstGeom prst="roundRect">
            <a:avLst>
              <a:gd name="adj" fmla="val 11290"/>
            </a:avLst>
          </a:prstGeom>
          <a:solidFill>
            <a:srgbClr val="0D8A8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3017520"/>
            <a:ext cx="1234440" cy="5669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Mobile Banking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102352" y="3017520"/>
            <a:ext cx="1234440" cy="566928"/>
          </a:xfrm>
          <a:prstGeom prst="roundRect">
            <a:avLst>
              <a:gd name="adj" fmla="val 11290"/>
            </a:avLst>
          </a:prstGeom>
          <a:solidFill>
            <a:srgbClr val="12557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02352" y="3017520"/>
            <a:ext cx="1234440" cy="5669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Defect Costs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55664" y="3017520"/>
            <a:ext cx="1234440" cy="566928"/>
          </a:xfrm>
          <a:prstGeom prst="roundRect">
            <a:avLst>
              <a:gd name="adj" fmla="val 11290"/>
            </a:avLst>
          </a:prstGeom>
          <a:solidFill>
            <a:srgbClr val="0D8A8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55664" y="3017520"/>
            <a:ext cx="1234440" cy="5669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Healthcare System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808976" y="3017520"/>
            <a:ext cx="1234440" cy="566928"/>
          </a:xfrm>
          <a:prstGeom prst="roundRect">
            <a:avLst>
              <a:gd name="adj" fmla="val 11290"/>
            </a:avLst>
          </a:prstGeom>
          <a:solidFill>
            <a:srgbClr val="12557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08976" y="3017520"/>
            <a:ext cx="1234440" cy="5669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Tax System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749040" y="3730752"/>
            <a:ext cx="1234440" cy="566928"/>
          </a:xfrm>
          <a:prstGeom prst="roundRect">
            <a:avLst>
              <a:gd name="adj" fmla="val 11290"/>
            </a:avLst>
          </a:prstGeom>
          <a:solidFill>
            <a:srgbClr val="0D8A8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49040" y="3730752"/>
            <a:ext cx="1234440" cy="5669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Q5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Scrum &amp; DoD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102352" y="3730752"/>
            <a:ext cx="1234440" cy="566928"/>
          </a:xfrm>
          <a:prstGeom prst="roundRect">
            <a:avLst>
              <a:gd name="adj" fmla="val 11290"/>
            </a:avLst>
          </a:prstGeom>
          <a:solidFill>
            <a:srgbClr val="12557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02352" y="3730752"/>
            <a:ext cx="1234440" cy="5669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Q6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55664" y="3730752"/>
            <a:ext cx="1234440" cy="566928"/>
          </a:xfrm>
          <a:prstGeom prst="roundRect">
            <a:avLst>
              <a:gd name="adj" fmla="val 11290"/>
            </a:avLst>
          </a:prstGeom>
          <a:solidFill>
            <a:srgbClr val="0D8A8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55664" y="3730752"/>
            <a:ext cx="1234440" cy="5669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Q7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Hospital System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808976" y="3730752"/>
            <a:ext cx="1234440" cy="566928"/>
          </a:xfrm>
          <a:prstGeom prst="roundRect">
            <a:avLst>
              <a:gd name="adj" fmla="val 11290"/>
            </a:avLst>
          </a:prstGeom>
          <a:solidFill>
            <a:srgbClr val="12557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08976" y="3730752"/>
            <a:ext cx="1234440" cy="566928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Q8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Black Friday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749040" y="46634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9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Submission: 24th June 2026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Q1 – Mobile Banking App  |  Crashes &amp; Transaction Failures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a) Definition of SQA  |  b) Three SQA Objectives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2336" y="106070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B8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a) What is SQA?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2336" y="1316736"/>
            <a:ext cx="8321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systematic set of planned activities ensuring the software development process and its product conform to established requirements and standards — proactively preventing defects before they arise.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1600200" cy="285292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1188720" cy="1965960"/>
          </a:xfrm>
          <a:prstGeom prst="roundRect">
            <a:avLst>
              <a:gd name="adj" fmla="val 7692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249424"/>
            <a:ext cx="1005840" cy="1353312"/>
          </a:xfrm>
          <a:prstGeom prst="roundRect">
            <a:avLst>
              <a:gd name="adj" fmla="val 3636"/>
            </a:avLst>
          </a:prstGeom>
          <a:solidFill>
            <a:srgbClr val="0FB8B8"/>
          </a:solidFill>
          <a:ln w="12700">
            <a:solidFill>
              <a:srgbClr val="0FB8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" y="2304288"/>
            <a:ext cx="822960" cy="676656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" y="2304288"/>
            <a:ext cx="822960" cy="676656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657600"/>
            <a:ext cx="256032" cy="256032"/>
          </a:xfrm>
          <a:prstGeom prst="ellipse">
            <a:avLst/>
          </a:prstGeom>
          <a:solidFill>
            <a:srgbClr val="0FB8B8"/>
          </a:solidFill>
          <a:ln w="12700">
            <a:solidFill>
              <a:srgbClr val="0FB8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4187952"/>
            <a:ext cx="1463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CRASH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0" y="1993392"/>
            <a:ext cx="6858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0" y="2148840"/>
            <a:ext cx="512064" cy="512064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1214" y="2264054"/>
            <a:ext cx="281635" cy="28163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889504" y="2066544"/>
            <a:ext cx="5833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Defect Prevention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889504" y="2340864"/>
            <a:ext cx="58338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Embeds quality checks at every stage — coding standards, design reviews, requirements validation — so faulty code never reaches production.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011680" y="2944368"/>
            <a:ext cx="6858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286000" y="3099816"/>
            <a:ext cx="512064" cy="512064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214" y="3215030"/>
            <a:ext cx="281635" cy="28163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889504" y="3017520"/>
            <a:ext cx="5833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Process Improvement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2889504" y="3291840"/>
            <a:ext cx="58338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Continuously evaluates the development process via audits and root-cause analysis to identify weaknesses causing crashes and failures.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011680" y="3895344"/>
            <a:ext cx="6858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2286000" y="4050792"/>
            <a:ext cx="512064" cy="512064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214" y="4166006"/>
            <a:ext cx="281635" cy="28163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889504" y="3968496"/>
            <a:ext cx="5833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Standards Compliance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2889504" y="4242816"/>
            <a:ext cx="58338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Ensures the app meets financial regulations and security standards through compliance audits, reducing legal exposure and protecting reputation.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Q1 – Mobile Banking App  |  Crashes &amp; Transaction Failures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c) Consequences of Poor Quality  |  d) SQA &amp; Customer Satisfaction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16736" y="1170432"/>
            <a:ext cx="694944" cy="6949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098" y="1326794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1956816"/>
            <a:ext cx="2578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Financial Losses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2286000"/>
            <a:ext cx="2578608" cy="62179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Transaction failures = lost revenue. Emergency fixes, refunds, and customer compensation cost far more than prevention.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27832" y="1078992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0248" y="1170432"/>
            <a:ext cx="694944" cy="694944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610" y="1326794"/>
            <a:ext cx="382219" cy="3822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1956816"/>
            <a:ext cx="2578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Reputational Damage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37560" y="2286000"/>
            <a:ext cx="2578608" cy="62179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Frequent crashes destroy customer trust. Negative reviews and media coverage erode the brand for years.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81344" y="1078992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23760" y="1170432"/>
            <a:ext cx="694944" cy="69494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122" y="1326794"/>
            <a:ext cx="382219" cy="3822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1072" y="1956816"/>
            <a:ext cx="2578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Regulatory Consequences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91072" y="2286000"/>
            <a:ext cx="2578608" cy="62179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Banking regulations are strict. System failures can trigger audits, fines, corrective orders, or licence suspension.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74320" y="31546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384048" y="3218688"/>
            <a:ext cx="51389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B8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d)  SQA → Customer Satisfaction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84048" y="3602736"/>
            <a:ext cx="5138928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Rigorous SQA ensures the app completes every transaction reliably, responds quickly, and protects financial data — building the trust that drives loyalty. Usability testing makes the interface intuitive, reducing customer frustration. When SQA is absent, crashes and errors erode confidence; when it is present, customers experience consistent, predictable quality from day one.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806440" y="315468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E8F6F6"/>
          </a:solidFill>
          <a:ln w="12700">
            <a:solidFill>
              <a:srgbClr val="E8F6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5897880" y="324612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 Trust Meter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989320" y="3657600"/>
            <a:ext cx="548640" cy="411480"/>
          </a:xfrm>
          <a:prstGeom prst="roundRect">
            <a:avLst>
              <a:gd name="adj" fmla="val 888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647688" y="3657600"/>
            <a:ext cx="548640" cy="411480"/>
          </a:xfrm>
          <a:prstGeom prst="roundRect">
            <a:avLst>
              <a:gd name="adj" fmla="val 8889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306056" y="3657600"/>
            <a:ext cx="548640" cy="411480"/>
          </a:xfrm>
          <a:prstGeom prst="roundRect">
            <a:avLst>
              <a:gd name="adj" fmla="val 8889"/>
            </a:avLst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964424" y="3657600"/>
            <a:ext cx="548640" cy="411480"/>
          </a:xfrm>
          <a:prstGeom prst="roundRect">
            <a:avLst>
              <a:gd name="adj" fmla="val 8889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989320" y="4114800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Poor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6647688" y="4114800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Fair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7306056" y="4114800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Good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7964424" y="4114800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SQA✓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7159752" y="4325112"/>
            <a:ext cx="182880" cy="1828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897880" y="4553712"/>
            <a:ext cx="28803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7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WITH SQA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Q2 – Software Company  |  Defect Detection Costs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a) Cost of Poor Quality  |  b) Early Detection  |  c) SQA Activities  |  d) SQA vs Testing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3749040" cy="38404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78992"/>
            <a:ext cx="35295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Cost to Fix a Defect by Phase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4206240"/>
            <a:ext cx="475488" cy="18288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4425696"/>
            <a:ext cx="5669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Require.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3968496"/>
            <a:ext cx="47548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7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1×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15568" y="4023360"/>
            <a:ext cx="475488" cy="3657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4425696"/>
            <a:ext cx="5669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3785616"/>
            <a:ext cx="47548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5×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55648" y="3749040"/>
            <a:ext cx="475488" cy="6400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9928" y="4425696"/>
            <a:ext cx="5669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55648" y="3511296"/>
            <a:ext cx="47548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A02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10×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95728" y="3383280"/>
            <a:ext cx="475488" cy="1005840"/>
          </a:xfrm>
          <a:prstGeom prst="rect">
            <a:avLst/>
          </a:prstGeom>
          <a:solidFill>
            <a:srgbClr val="E06010"/>
          </a:solidFill>
          <a:ln w="12700">
            <a:solidFill>
              <a:srgbClr val="E060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4425696"/>
            <a:ext cx="5669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95728" y="3145536"/>
            <a:ext cx="47548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601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25×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35808" y="2743200"/>
            <a:ext cx="475488" cy="1645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0088" y="4425696"/>
            <a:ext cx="5669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35808" y="2505456"/>
            <a:ext cx="47548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100×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389120"/>
            <a:ext cx="3291840" cy="0"/>
          </a:xfrm>
          <a:prstGeom prst="line">
            <a:avLst/>
          </a:prstGeom>
          <a:noFill/>
          <a:ln w="19050">
            <a:solidFill>
              <a:srgbClr val="D1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773168"/>
            <a:ext cx="352958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7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← Catch early — fix cheap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06240" y="1024128"/>
            <a:ext cx="46634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53128" y="1307592"/>
            <a:ext cx="603504" cy="603504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8916" y="1443380"/>
            <a:ext cx="331927" cy="33192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166360" y="1115568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Lower Costs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166360" y="1426464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Requirements-phase fix: revise a doc. Production fix: hotfix, regression test, patch deployment, compensation.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2322576"/>
            <a:ext cx="46634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453128" y="2606040"/>
            <a:ext cx="603504" cy="603504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916" y="2741828"/>
            <a:ext cx="331927" cy="331927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166360" y="2414016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Stops Propagation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166360" y="2724912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flawed requirement cascades into design, code, and tests. Early detection breaks the chain.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4206240" y="3621024"/>
            <a:ext cx="46634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4453128" y="3904488"/>
            <a:ext cx="603504" cy="60350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916" y="4040276"/>
            <a:ext cx="331927" cy="331927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166360" y="3712464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Preserves Schedule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5166360" y="4023360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Late-stage defects consume planned resources, cause delivery delays, and force de-scoping of features.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4206240" y="4005072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5"/>
          <p:cNvSpPr/>
          <p:nvPr/>
        </p:nvSpPr>
        <p:spPr>
          <a:xfrm>
            <a:off x="4297680" y="4059936"/>
            <a:ext cx="4480560" cy="75895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B8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SQA </a:t>
            </a: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= Process-wide, proactive, prevents defects  |  </a:t>
            </a:r>
            <a:r>
              <a:rPr lang="en-US" sz="1100" b="1" dirty="0">
                <a:solidFill>
                  <a:srgbClr val="E8A02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Testing </a:t>
            </a: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= Product-focused, reactive, detects existing defects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Q3 – Healthcare Management System  |  Quality Evaluation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a) ISO/IEC 25010 Purpose  |  b) Four Quality Characteristics  |  c) Quality Measurement  |  d) Challenges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78992"/>
            <a:ext cx="8394192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ISO/IEC 25010 defines a hierarchical model of software quality characteristics, providing a common framework to specify, measure, and evaluate software quality consistently — enabling objective acceptance decisions and stakeholder communication.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938528"/>
            <a:ext cx="422452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2286000"/>
            <a:ext cx="658368" cy="65836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2434133"/>
            <a:ext cx="362102" cy="3621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2029968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98448" y="234086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Modularity · Analysability · Modifiability · Testability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298448" y="2578608"/>
            <a:ext cx="31089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easily the system can be modified. Critical for healthcare as medical regulations evolve frequently.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1938528"/>
            <a:ext cx="422452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10328" y="2286000"/>
            <a:ext cx="658368" cy="65836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61" y="2434133"/>
            <a:ext cx="362102" cy="3621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33288" y="2029968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Portability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733288" y="234086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Adaptability · Installability · Replaceability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733288" y="2578608"/>
            <a:ext cx="31089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easily the system transfers across environments — vital for multi-site hospital deployments.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74320" y="3419856"/>
            <a:ext cx="422452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5488" y="3767328"/>
            <a:ext cx="658368" cy="6583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3915461"/>
            <a:ext cx="362102" cy="36210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98448" y="351129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298448" y="382219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Maturity · Availability · Fault Tolerance · Recoverability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298448" y="4059936"/>
            <a:ext cx="31089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performs correctly under defined conditions. In healthcare, failures can endanger patient safety.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709160" y="3419856"/>
            <a:ext cx="422452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910328" y="3767328"/>
            <a:ext cx="658368" cy="6583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461" y="3915461"/>
            <a:ext cx="362102" cy="36210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733288" y="3511296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733288" y="382219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Learnability · Operability · Accessibility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5733288" y="4059936"/>
            <a:ext cx="31089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Clinicians use systems under pressure; poor usability causes data-entry errors with life-critical consequences.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274320" y="4919472"/>
            <a:ext cx="4224528" cy="685800"/>
          </a:xfrm>
          <a:prstGeom prst="roundRect">
            <a:avLst>
              <a:gd name="adj" fmla="val 10667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457200" y="4956048"/>
            <a:ext cx="3977640" cy="59436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 Subjectivity: </a:t>
            </a:r>
            <a:r>
              <a:rPr lang="en-US" sz="1050" dirty="0">
                <a:solidFill>
                  <a:srgbClr val="E8F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Usability and satisfaction vary per user — no universal objective metric.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709160" y="4919472"/>
            <a:ext cx="4224528" cy="685800"/>
          </a:xfrm>
          <a:prstGeom prst="roundRect">
            <a:avLst>
              <a:gd name="adj" fmla="val 10667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4892040" y="4956048"/>
            <a:ext cx="3977640" cy="59436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 Interdependencies: </a:t>
            </a:r>
            <a:r>
              <a:rPr lang="en-US" sz="1050" dirty="0">
                <a:solidFill>
                  <a:srgbClr val="E8F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Performance vs. maintainability vs. security — optimising one degrades others.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Q4 – Online Tax Declaration &amp; Payment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a) SDLC Model  |  b) Waterfall Characteristics  |  c) Requirements QA  |  d) Early Defect Detection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3657600" cy="420624"/>
          </a:xfrm>
          <a:prstGeom prst="roundRect">
            <a:avLst>
              <a:gd name="adj" fmla="val 10870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078992"/>
            <a:ext cx="354787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Requirements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76656" y="1481328"/>
            <a:ext cx="3255264" cy="420624"/>
          </a:xfrm>
          <a:prstGeom prst="roundRect">
            <a:avLst>
              <a:gd name="adj" fmla="val 10870"/>
            </a:avLst>
          </a:prstGeom>
          <a:solidFill>
            <a:srgbClr val="0A7070"/>
          </a:solidFill>
          <a:ln w="12700">
            <a:solidFill>
              <a:srgbClr val="0A7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36192"/>
            <a:ext cx="31455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Design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78992" y="1938528"/>
            <a:ext cx="2852928" cy="420624"/>
          </a:xfrm>
          <a:prstGeom prst="roundRect">
            <a:avLst>
              <a:gd name="adj" fmla="val 10870"/>
            </a:avLst>
          </a:prstGeom>
          <a:solidFill>
            <a:srgbClr val="085858"/>
          </a:solidFill>
          <a:ln w="12700">
            <a:solidFill>
              <a:srgbClr val="0858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19933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Implementation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481328" y="2395728"/>
            <a:ext cx="2450592" cy="420624"/>
          </a:xfrm>
          <a:prstGeom prst="roundRect">
            <a:avLst>
              <a:gd name="adj" fmla="val 10870"/>
            </a:avLst>
          </a:prstGeom>
          <a:solidFill>
            <a:srgbClr val="064646"/>
          </a:solidFill>
          <a:ln w="12700">
            <a:solidFill>
              <a:srgbClr val="0646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6192" y="2450592"/>
            <a:ext cx="234086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Testing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83664" y="2852928"/>
            <a:ext cx="2048256" cy="420624"/>
          </a:xfrm>
          <a:prstGeom prst="roundRect">
            <a:avLst>
              <a:gd name="adj" fmla="val 10870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8528" y="2907792"/>
            <a:ext cx="19385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Deployment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0" y="3310128"/>
            <a:ext cx="1645920" cy="420624"/>
          </a:xfrm>
          <a:prstGeom prst="roundRect">
            <a:avLst>
              <a:gd name="adj" fmla="val 10870"/>
            </a:avLst>
          </a:prstGeom>
          <a:solidFill>
            <a:srgbClr val="0F2233"/>
          </a:solidFill>
          <a:ln w="12700">
            <a:solidFill>
              <a:srgbClr val="0F22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40864" y="3364992"/>
            <a:ext cx="15361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Maintenance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041648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WATERFALL MODEL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1024128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24528" y="1078992"/>
            <a:ext cx="45354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✔ Sequential Phases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24528" y="1353312"/>
            <a:ext cx="45354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phase formally completed before the next — full documentation and accountability for a government project.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0" y="2002536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24528" y="2057400"/>
            <a:ext cx="45354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✔ Upfront Requirements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24528" y="2331720"/>
            <a:ext cx="45354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Tax requirements are stable and law-defined — fully capturable at the outset, eliminating mid-project scope changes.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2980944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24528" y="3035808"/>
            <a:ext cx="45354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✔ High-Criticality Fit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224528" y="3310128"/>
            <a:ext cx="45354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Rigorous documentation, formal reviews, and phased testing match the legal precision and public scale of a tax system.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0" y="4005072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8F6F6"/>
          </a:solidFill>
          <a:ln w="12700">
            <a:solidFill>
              <a:srgbClr val="E8F6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224528" y="404164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Requirements Phase QA: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24528" y="4279392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① Requirements Review &amp; Inspection   ② Traceability Matrix (RTM)   ③ Prototype Validation with Stakeholders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0" y="475488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224528" y="4773168"/>
            <a:ext cx="457200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early detection matters: legal accuracy, thousands of users, fixed public budgets, and citizen trust — a single undetected defect in tax logic multiplies across every return filed.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Q5 – Food Delivery App Startup  |  Scrum Quality Problems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a) Definition of Done  |  b) TDD  |  c) QA in Sprints  |  d) Recommendations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377440" cy="2377440"/>
          </a:xfrm>
          <a:prstGeom prst="ellipse">
            <a:avLst/>
          </a:prstGeom>
          <a:solidFill>
            <a:srgbClr val="E8F6F6"/>
          </a:solidFill>
          <a:ln w="25400">
            <a:solidFill>
              <a:srgbClr val="0D8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1481328"/>
            <a:ext cx="694944" cy="420624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1481328"/>
            <a:ext cx="69494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24328" y="2807208"/>
            <a:ext cx="694944" cy="420624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24328" y="2807208"/>
            <a:ext cx="69494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98448" y="4133088"/>
            <a:ext cx="694944" cy="420624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4133088"/>
            <a:ext cx="69494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-27432" y="2807208"/>
            <a:ext cx="694944" cy="420624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-27432" y="2807208"/>
            <a:ext cx="69494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2761488"/>
            <a:ext cx="95097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2-WEEK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B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63240" y="1024128"/>
            <a:ext cx="5806440" cy="1097280"/>
          </a:xfrm>
          <a:prstGeom prst="roundRect">
            <a:avLst>
              <a:gd name="adj" fmla="val 6667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72968" y="1060704"/>
            <a:ext cx="5577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B8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a) Definition of Done (DoD)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1335024"/>
            <a:ext cx="5577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team-wide quality gate: code reviewed, unit &amp; integration tests passing, acceptance criteria met, merged to main, docs updated. Without a robust DoD, 'done' features harbour hidden defects — exactly what this startup experiences.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63240" y="2267712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72968" y="2322576"/>
            <a:ext cx="25237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b) TDD: Red → Green → Refactor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72968" y="2706624"/>
            <a:ext cx="749808" cy="822960"/>
          </a:xfrm>
          <a:prstGeom prst="roundRect">
            <a:avLst>
              <a:gd name="adj" fmla="val 731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72968" y="2706624"/>
            <a:ext cx="749808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Write failing test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995928" y="2706624"/>
            <a:ext cx="749808" cy="822960"/>
          </a:xfrm>
          <a:prstGeom prst="roundRect">
            <a:avLst>
              <a:gd name="adj" fmla="val 7317"/>
            </a:avLst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95928" y="2706624"/>
            <a:ext cx="749808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GREEN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 code to pass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18888" y="2706624"/>
            <a:ext cx="749808" cy="822960"/>
          </a:xfrm>
          <a:prstGeom prst="roundRect">
            <a:avLst>
              <a:gd name="adj" fmla="val 7317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706624"/>
            <a:ext cx="749808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REFACTOR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Clean up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172968" y="3602736"/>
            <a:ext cx="2523744" cy="91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Catches defects at the moment of introduction — the cheapest possible point.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9320" y="2267712"/>
            <a:ext cx="2880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99048" y="2322576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c) QA in Sprint Ceremonies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99048" y="265176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Planning: </a:t>
            </a:r>
            <a:r>
              <a:rPr lang="en-US" sz="10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Refine acceptance criteria, flag testability gaps, estimate test effort.
</a:t>
            </a:r>
            <a:r>
              <a:rPr lang="en-US" sz="1050" b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Review: </a:t>
            </a:r>
            <a:r>
              <a:rPr lang="en-US" sz="10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Verify DoD met, surface defects, raise quality backlog items.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063240" y="3858768"/>
            <a:ext cx="2788920" cy="1078992"/>
          </a:xfrm>
          <a:prstGeom prst="roundRect">
            <a:avLst>
              <a:gd name="adj" fmla="val 6780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82696" y="414223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7910" y="4257446"/>
            <a:ext cx="281635" cy="281635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3959352" y="391363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Strengthen DoD + Automated Tests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3959352" y="4224528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Require passing tests and ≥80% code coverage before any story is 'done'. Prevents defect accumulation sprint-over-sprint.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989320" y="3858768"/>
            <a:ext cx="2788920" cy="1078992"/>
          </a:xfrm>
          <a:prstGeom prst="roundRect">
            <a:avLst>
              <a:gd name="adj" fmla="val 6780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208776" y="414223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4257446"/>
            <a:ext cx="281635" cy="281635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885432" y="391363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Retrospective Root-Cause Analysis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885432" y="4224528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After each sprint, trace every reported defect to its origin (unclear requirements, missing tests) and implement targeted fixes.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Q6 – School Management System  |  Grade Calculation Error in UAT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a) Verification or Validation?  |  b) V&amp;V Distinction  |  c) Activities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2336" y="1078992"/>
            <a:ext cx="83576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  VALIDATION ISSUE — The system was built correctly against its spec, but the spec did not capture the school's actual grading policy. The right product was not built.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4224528" cy="2633472"/>
          </a:xfrm>
          <a:prstGeom prst="roundRect">
            <a:avLst>
              <a:gd name="adj" fmla="val 2778"/>
            </a:avLst>
          </a:prstGeom>
          <a:solidFill>
            <a:srgbClr val="E8F6F6"/>
          </a:solidFill>
          <a:ln w="12700">
            <a:solidFill>
              <a:srgbClr val="E8F6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28800"/>
            <a:ext cx="4224528" cy="502920"/>
          </a:xfrm>
          <a:prstGeom prst="roundRect">
            <a:avLst>
              <a:gd name="adj" fmla="val 14545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83664"/>
            <a:ext cx="4041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395728"/>
            <a:ext cx="40416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"Are we building the product RIGHT?"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98064"/>
            <a:ext cx="3886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</a:t>
            </a:r>
            <a:r>
              <a:rPr lang="en-US" sz="10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Checks outputs against specifications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82112"/>
            <a:ext cx="3886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</a:t>
            </a:r>
            <a:r>
              <a:rPr lang="en-US" sz="10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Process-oriented &amp; internal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3886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</a:t>
            </a:r>
            <a:r>
              <a:rPr lang="en-US" sz="10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Reviews, inspections, static analysis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950208"/>
            <a:ext cx="3886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</a:t>
            </a:r>
            <a:r>
              <a:rPr lang="en-US" sz="10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need to run the actual system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828800"/>
            <a:ext cx="4224528" cy="2633472"/>
          </a:xfrm>
          <a:prstGeom prst="roundRect">
            <a:avLst>
              <a:gd name="adj" fmla="val 2778"/>
            </a:avLst>
          </a:prstGeom>
          <a:solidFill>
            <a:srgbClr val="FFFBF0"/>
          </a:solidFill>
          <a:ln w="12700">
            <a:solidFill>
              <a:srgbClr val="FFFB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828800"/>
            <a:ext cx="4224528" cy="502920"/>
          </a:xfrm>
          <a:prstGeom prst="roundRect">
            <a:avLst>
              <a:gd name="adj" fmla="val 14545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883664"/>
            <a:ext cx="40416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2395728"/>
            <a:ext cx="40416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A02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"Are we building the RIGHT product?"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798064"/>
            <a:ext cx="3886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</a:t>
            </a:r>
            <a:r>
              <a:rPr lang="en-US" sz="10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Checks product meets actual user needs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3182112"/>
            <a:ext cx="3886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</a:t>
            </a:r>
            <a:r>
              <a:rPr lang="en-US" sz="10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User-oriented, uses real scenarios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3566160"/>
            <a:ext cx="3886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</a:t>
            </a:r>
            <a:r>
              <a:rPr lang="en-US" sz="10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UAT, prototype validation, system tests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3950208"/>
            <a:ext cx="3886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 </a:t>
            </a:r>
            <a:r>
              <a:rPr lang="en-US" sz="10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Requires running the system in context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590288"/>
            <a:ext cx="422452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4626864"/>
            <a:ext cx="40050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c) VERIFICATION ACTIVITIES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" y="4846320"/>
            <a:ext cx="400507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Requirements Review — detect grading policy errors in spec before coding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" y="5093208"/>
            <a:ext cx="400507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Code Walkthrough — verify grade calc code implements specified algorithm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4590288"/>
            <a:ext cx="422452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18888" y="4626864"/>
            <a:ext cx="40050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c) VALIDATION ACTIVITIES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18888" y="4846320"/>
            <a:ext cx="400507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UAT with Teachers — test real student data against school grading policy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18888" y="5093208"/>
            <a:ext cx="400507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Prototype Validation — present calc results to staff during design phase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Q7 – Hospital Patient Management System  |  Pre-Deployment Testing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a) Integration vs System Testing  |  b) Importance  |  c) Sample Defects  |  d) Acceptance Testing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60704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Integration Testing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36192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36192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Registration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1536192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536192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Medical Recs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28600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Scheduling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28600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286000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Billing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83080" y="1783080"/>
            <a:ext cx="137160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2039112"/>
            <a:ext cx="0" cy="246888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2039112"/>
            <a:ext cx="0" cy="246888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83080" y="2542032"/>
            <a:ext cx="137160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85292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Checks interfaces &amp; data flow between modules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3255264"/>
            <a:ext cx="3931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Sample defects: ① Date format mismatch (Registration → Medical Records)   ② Session token not passed (Login → Scheduling)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024128"/>
            <a:ext cx="4160520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73168" y="1060704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Testing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481328"/>
            <a:ext cx="3886200" cy="1051560"/>
          </a:xfrm>
          <a:prstGeom prst="roundRect">
            <a:avLst>
              <a:gd name="adj" fmla="val 8696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481328"/>
            <a:ext cx="38862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COMPLETE SYSTEM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(all modules integrated)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84848" y="2532888"/>
            <a:ext cx="0" cy="27432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807208"/>
            <a:ext cx="1682496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807208"/>
            <a:ext cx="168249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Requirements Spec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3168" y="3255264"/>
            <a:ext cx="3931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End-to-end: functional + non-functional requirements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Patient admission → records → billing → discharge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986784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" y="40233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d) Acceptance Testing Before Deployment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" y="429768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6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Clinical staff validate real-world workflows. Confirms regulatory compliance and that the system is genuinely fit for clinical use before patients are put at risk.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986784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73168" y="40233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B8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b) Why Both Testing Levels Are Essential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429768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Integration: catches interface failures (corrupted data, misrouted records). System: confirms complex end-to-end clinical workflows function correctly — patient safety demands both.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Q8 – Online Shopping Platform  |  Black Friday Mega Sale Failure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8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a) Testing Category  |  b) Load vs Stress Testing  |  c) Prevention  |  d) Business Consequences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542032" cy="3822192"/>
          </a:xfrm>
          <a:prstGeom prst="roundRect">
            <a:avLst>
              <a:gd name="adj" fmla="val 2878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2450592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02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50,000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E8A02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38912" y="1993392"/>
            <a:ext cx="274320" cy="274320"/>
          </a:xfrm>
          <a:prstGeom prst="ellipse">
            <a:avLst/>
          </a:prstGeom>
          <a:solidFill>
            <a:srgbClr val="0FB8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993392"/>
            <a:ext cx="274320" cy="274320"/>
          </a:xfrm>
          <a:prstGeom prst="ellipse">
            <a:avLst/>
          </a:prstGeom>
          <a:solidFill>
            <a:srgbClr val="0FB8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6736" y="1993392"/>
            <a:ext cx="274320" cy="274320"/>
          </a:xfrm>
          <a:prstGeom prst="ellipse">
            <a:avLst/>
          </a:prstGeom>
          <a:solidFill>
            <a:srgbClr val="0FB8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5648" y="1993392"/>
            <a:ext cx="274320" cy="274320"/>
          </a:xfrm>
          <a:prstGeom prst="ellipse">
            <a:avLst/>
          </a:prstGeom>
          <a:solidFill>
            <a:srgbClr val="0FB8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1993392"/>
            <a:ext cx="274320" cy="274320"/>
          </a:xfrm>
          <a:prstGeom prst="ellipse">
            <a:avLst/>
          </a:prstGeom>
          <a:solidFill>
            <a:srgbClr val="0FB8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377440"/>
            <a:ext cx="274320" cy="274320"/>
          </a:xfrm>
          <a:prstGeom prst="ellipse">
            <a:avLst/>
          </a:prstGeom>
          <a:solidFill>
            <a:srgbClr val="0FB8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2377440"/>
            <a:ext cx="274320" cy="274320"/>
          </a:xfrm>
          <a:prstGeom prst="ellipse">
            <a:avLst/>
          </a:prstGeom>
          <a:solidFill>
            <a:srgbClr val="0FB8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16736" y="2377440"/>
            <a:ext cx="274320" cy="274320"/>
          </a:xfrm>
          <a:prstGeom prst="ellipse">
            <a:avLst/>
          </a:prstGeom>
          <a:solidFill>
            <a:srgbClr val="0FB8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55648" y="2377440"/>
            <a:ext cx="274320" cy="274320"/>
          </a:xfrm>
          <a:prstGeom prst="ellipse">
            <a:avLst/>
          </a:prstGeom>
          <a:solidFill>
            <a:srgbClr val="0FB8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2377440"/>
            <a:ext cx="274320" cy="274320"/>
          </a:xfrm>
          <a:prstGeom prst="ellipse">
            <a:avLst/>
          </a:prstGeom>
          <a:solidFill>
            <a:srgbClr val="0FB8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2761488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" y="2761488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16736" y="2761488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55648" y="2761488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761488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145536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" y="3145536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16736" y="3145536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55648" y="3145536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4560" y="3145536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" y="3529584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3529584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16736" y="3529584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5648" y="3529584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94560" y="3529584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858768"/>
            <a:ext cx="2450592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931920"/>
            <a:ext cx="245059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DOWN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3017520" y="1024128"/>
            <a:ext cx="5852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017520" y="1024128"/>
            <a:ext cx="5852160" cy="420624"/>
          </a:xfrm>
          <a:prstGeom prst="roundRect">
            <a:avLst>
              <a:gd name="adj" fmla="val 17391"/>
            </a:avLst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27248" y="1078992"/>
            <a:ext cx="563270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LOAD TESTING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127248" y="1517904"/>
            <a:ext cx="5632704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Simulates expected peak load (50,000 users). Verifies response times and error rates are acceptable under anticipated conditions. Would have exposed payment timeouts and cart failures at scale.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17520" y="3017520"/>
            <a:ext cx="5852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017520" y="3017520"/>
            <a:ext cx="5852160" cy="420624"/>
          </a:xfrm>
          <a:prstGeom prst="roundRect">
            <a:avLst>
              <a:gd name="adj" fmla="val 17391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27248" y="3072384"/>
            <a:ext cx="563270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STRESS TESTING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127248" y="3511296"/>
            <a:ext cx="5632704" cy="1261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Pushes beyond 50,000 users to find the breaking point. Reveals graceful degradation vs. catastrophic failure. Would have shown the system had no rate-limiting — enabling auto-scaling or queue implementation before the event.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017520" y="4919472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127248" y="4956048"/>
            <a:ext cx="2633472" cy="59436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Revenue Loss: Hours of downtime during a 48-hour time-limited sale = permanently lost transactions. Emergency response costs and customer refunds compound the damage.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89320" y="4919472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099048" y="4956048"/>
            <a:ext cx="2633472" cy="59436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Brand &amp; Trust Damage: Public failure at a high-profile event drives negative social media and reviews. Long-term customer attrition far exceeds immediate revenue loss — rebuilding trust requires sustained investment.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8A8A">
              <a:alpha val="30000"/>
            </a:srgbClr>
          </a:solidFill>
          <a:ln w="12700">
            <a:solidFill>
              <a:srgbClr val="0D8A8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D8A8A">
              <a:alpha val="20000"/>
            </a:srgbClr>
          </a:solidFill>
          <a:ln w="12700">
            <a:solidFill>
              <a:srgbClr val="0D8A8A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Quality is not an act,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i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is a habit.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2999232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FB8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Aristotle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3767328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0D8A8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767328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SQA Fundamentals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51760" y="3767328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12557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51760" y="3767328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Cost of Quality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3767328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0D8A8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3767328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ISO 25010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75120" y="3767328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12557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75120" y="3767328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Waterfall SDLC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4389120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0D8A8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389120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Scrum &amp; TDD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651760" y="4389120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12557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4389120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 &amp; V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4389120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0D8A8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4389120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Integration Testing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675120" y="4389120"/>
            <a:ext cx="1828800" cy="475488"/>
          </a:xfrm>
          <a:prstGeom prst="roundRect">
            <a:avLst>
              <a:gd name="adj" fmla="val 13462"/>
            </a:avLst>
          </a:prstGeom>
          <a:solidFill>
            <a:srgbClr val="12557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75120" y="4389120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Performance Testing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9204</Words>
  <Application>WPS Presentation</Application>
  <PresentationFormat>On-screen Show (16:9)</PresentationFormat>
  <Paragraphs>365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Quality Assurance – Group Assignment</dc:title>
  <dc:creator>PptxGenJS</dc:creator>
  <dc:subject>PptxGenJS Presentation</dc:subject>
  <cp:lastModifiedBy>WPS_1728838228</cp:lastModifiedBy>
  <cp:revision>2</cp:revision>
  <dcterms:created xsi:type="dcterms:W3CDTF">2026-06-24T21:32:00Z</dcterms:created>
  <dcterms:modified xsi:type="dcterms:W3CDTF">2026-06-24T21:52:27Z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EF46944094FE4D8EACD77730E9030028_12</vt:lpwstr>
  </property>
</Properties>
</file>