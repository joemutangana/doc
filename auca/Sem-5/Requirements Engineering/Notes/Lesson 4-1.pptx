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8"/>
  </p:notesMasterIdLst>
  <p:sldIdLst>
    <p:sldId id="256" r:id="rId2"/>
    <p:sldId id="332" r:id="rId3"/>
    <p:sldId id="334" r:id="rId4"/>
    <p:sldId id="379" r:id="rId5"/>
    <p:sldId id="358" r:id="rId6"/>
    <p:sldId id="381" r:id="rId7"/>
    <p:sldId id="383" r:id="rId8"/>
    <p:sldId id="380" r:id="rId9"/>
    <p:sldId id="359" r:id="rId10"/>
    <p:sldId id="384" r:id="rId11"/>
    <p:sldId id="360" r:id="rId12"/>
    <p:sldId id="386" r:id="rId13"/>
    <p:sldId id="387" r:id="rId14"/>
    <p:sldId id="388" r:id="rId15"/>
    <p:sldId id="389" r:id="rId16"/>
    <p:sldId id="390" r:id="rId17"/>
    <p:sldId id="391" r:id="rId18"/>
    <p:sldId id="392" r:id="rId19"/>
    <p:sldId id="393" r:id="rId20"/>
    <p:sldId id="394" r:id="rId21"/>
    <p:sldId id="395" r:id="rId22"/>
    <p:sldId id="396" r:id="rId23"/>
    <p:sldId id="397" r:id="rId24"/>
    <p:sldId id="398" r:id="rId25"/>
    <p:sldId id="399" r:id="rId26"/>
    <p:sldId id="400" r:id="rId27"/>
    <p:sldId id="401" r:id="rId28"/>
    <p:sldId id="402" r:id="rId29"/>
    <p:sldId id="403" r:id="rId30"/>
    <p:sldId id="404" r:id="rId31"/>
    <p:sldId id="405" r:id="rId32"/>
    <p:sldId id="406" r:id="rId33"/>
    <p:sldId id="407" r:id="rId34"/>
    <p:sldId id="409" r:id="rId35"/>
    <p:sldId id="382" r:id="rId36"/>
    <p:sldId id="408"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63" d="100"/>
          <a:sy n="63" d="100"/>
        </p:scale>
        <p:origin x="1380" y="64"/>
      </p:cViewPr>
      <p:guideLst>
        <p:guide orient="horz" pos="2160"/>
        <p:guide pos="288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1C966-0D86-46E7-AD63-E3A9531956A6}" type="datetimeFigureOut">
              <a:rPr lang="en-US" smtClean="0"/>
              <a:t>7/14/2026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D3BE28-FA99-46E5-B1DE-BE9D6FCBD9C4}" type="slidenum">
              <a:rPr lang="en-US" smtClean="0"/>
              <a:t>‹#›</a:t>
            </a:fld>
            <a:endParaRPr lang="en-US"/>
          </a:p>
        </p:txBody>
      </p:sp>
    </p:spTree>
    <p:extLst>
      <p:ext uri="{BB962C8B-B14F-4D97-AF65-F5344CB8AC3E}">
        <p14:creationId xmlns:p14="http://schemas.microsoft.com/office/powerpoint/2010/main" val="409341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UML came up in the mid to late 1990s created by a team known as the three amigos. The problem they were trying to solve was for software developers to be able to specify, visualize and document the systems that they were building. It provided a standardized, language agnostic and extensible way to model software architecture and design. </a:t>
            </a:r>
          </a:p>
        </p:txBody>
      </p:sp>
      <p:sp>
        <p:nvSpPr>
          <p:cNvPr id="4" name="Slide Number Placeholder 3"/>
          <p:cNvSpPr>
            <a:spLocks noGrp="1"/>
          </p:cNvSpPr>
          <p:nvPr>
            <p:ph type="sldNum" sz="quarter" idx="5"/>
          </p:nvPr>
        </p:nvSpPr>
        <p:spPr/>
        <p:txBody>
          <a:bodyPr/>
          <a:lstStyle/>
          <a:p>
            <a:fld id="{08D3BE28-FA99-46E5-B1DE-BE9D6FCBD9C4}" type="slidenum">
              <a:rPr lang="en-US" smtClean="0"/>
              <a:t>13</a:t>
            </a:fld>
            <a:endParaRPr lang="en-US"/>
          </a:p>
        </p:txBody>
      </p:sp>
    </p:spTree>
    <p:extLst>
      <p:ext uri="{BB962C8B-B14F-4D97-AF65-F5344CB8AC3E}">
        <p14:creationId xmlns:p14="http://schemas.microsoft.com/office/powerpoint/2010/main" val="4117210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BC385-0E65-4F79-B3FF-92E319B1E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01F05-1888-B821-483F-BE468DA0CA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8DEC89-783C-CCB9-9182-C56F1694F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79F5B-1E0B-B046-419E-BA2E19228AC9}"/>
              </a:ext>
            </a:extLst>
          </p:cNvPr>
          <p:cNvSpPr>
            <a:spLocks noGrp="1"/>
          </p:cNvSpPr>
          <p:nvPr>
            <p:ph type="sldNum" sz="quarter" idx="5"/>
          </p:nvPr>
        </p:nvSpPr>
        <p:spPr/>
        <p:txBody>
          <a:bodyPr/>
          <a:lstStyle/>
          <a:p>
            <a:fld id="{08D3BE28-FA99-46E5-B1DE-BE9D6FCBD9C4}" type="slidenum">
              <a:rPr lang="en-US" smtClean="0"/>
              <a:t>14</a:t>
            </a:fld>
            <a:endParaRPr lang="en-US"/>
          </a:p>
        </p:txBody>
      </p:sp>
    </p:spTree>
    <p:extLst>
      <p:ext uri="{BB962C8B-B14F-4D97-AF65-F5344CB8AC3E}">
        <p14:creationId xmlns:p14="http://schemas.microsoft.com/office/powerpoint/2010/main" val="230742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9A04-B2BD-5207-E0C8-C0258E3D9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164AD-AF50-56B5-0AEB-4270F819F8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BDBBA1-C1F1-2FE4-4589-B4D0545251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69BFDD-D475-9429-F0DB-85F88CA785D4}"/>
              </a:ext>
            </a:extLst>
          </p:cNvPr>
          <p:cNvSpPr>
            <a:spLocks noGrp="1"/>
          </p:cNvSpPr>
          <p:nvPr>
            <p:ph type="sldNum" sz="quarter" idx="5"/>
          </p:nvPr>
        </p:nvSpPr>
        <p:spPr/>
        <p:txBody>
          <a:bodyPr/>
          <a:lstStyle/>
          <a:p>
            <a:fld id="{08D3BE28-FA99-46E5-B1DE-BE9D6FCBD9C4}" type="slidenum">
              <a:rPr lang="en-US" smtClean="0"/>
              <a:t>15</a:t>
            </a:fld>
            <a:endParaRPr lang="en-US"/>
          </a:p>
        </p:txBody>
      </p:sp>
    </p:spTree>
    <p:extLst>
      <p:ext uri="{BB962C8B-B14F-4D97-AF65-F5344CB8AC3E}">
        <p14:creationId xmlns:p14="http://schemas.microsoft.com/office/powerpoint/2010/main" val="357655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D785-9D4B-2D59-F6E4-CFD7E5D43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EBC83-239A-4ADE-9208-E3E2125529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96CEF1-ACED-7CE2-6EFF-A00C94FB7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501F5E-BEDF-76E3-10FB-97808B3283C7}"/>
              </a:ext>
            </a:extLst>
          </p:cNvPr>
          <p:cNvSpPr>
            <a:spLocks noGrp="1"/>
          </p:cNvSpPr>
          <p:nvPr>
            <p:ph type="sldNum" sz="quarter" idx="5"/>
          </p:nvPr>
        </p:nvSpPr>
        <p:spPr/>
        <p:txBody>
          <a:bodyPr/>
          <a:lstStyle/>
          <a:p>
            <a:fld id="{08D3BE28-FA99-46E5-B1DE-BE9D6FCBD9C4}" type="slidenum">
              <a:rPr lang="en-US" smtClean="0"/>
              <a:t>16</a:t>
            </a:fld>
            <a:endParaRPr lang="en-US"/>
          </a:p>
        </p:txBody>
      </p:sp>
    </p:spTree>
    <p:extLst>
      <p:ext uri="{BB962C8B-B14F-4D97-AF65-F5344CB8AC3E}">
        <p14:creationId xmlns:p14="http://schemas.microsoft.com/office/powerpoint/2010/main" val="1087641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E8E6-430A-D4EB-85FD-DF57251A4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8AFAC-9F45-4C62-A2BF-E9BA57A604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7314A3-F8B2-1471-8095-21134A696C45}"/>
              </a:ext>
            </a:extLst>
          </p:cNvPr>
          <p:cNvSpPr>
            <a:spLocks noGrp="1"/>
          </p:cNvSpPr>
          <p:nvPr>
            <p:ph type="body" idx="1"/>
          </p:nvPr>
        </p:nvSpPr>
        <p:spPr/>
        <p:txBody>
          <a:bodyPr/>
          <a:lstStyle/>
          <a:p>
            <a:r>
              <a:rPr lang="en-US" dirty="0"/>
              <a:t>In this scenario, requesting a chemical should request it from the stockroom, however there is an option for the person requesting a chemical to search through the catalog of vendors. Another example would be a system with a use case of submitting an assignment. This use case would have a relationship with a use case of applying a late penalty is the student submits the assignment late.</a:t>
            </a:r>
          </a:p>
        </p:txBody>
      </p:sp>
      <p:sp>
        <p:nvSpPr>
          <p:cNvPr id="4" name="Slide Number Placeholder 3">
            <a:extLst>
              <a:ext uri="{FF2B5EF4-FFF2-40B4-BE49-F238E27FC236}">
                <a16:creationId xmlns:a16="http://schemas.microsoft.com/office/drawing/2014/main" id="{CA55E127-C4DB-2127-81AE-FD929C69A9CD}"/>
              </a:ext>
            </a:extLst>
          </p:cNvPr>
          <p:cNvSpPr>
            <a:spLocks noGrp="1"/>
          </p:cNvSpPr>
          <p:nvPr>
            <p:ph type="sldNum" sz="quarter" idx="5"/>
          </p:nvPr>
        </p:nvSpPr>
        <p:spPr/>
        <p:txBody>
          <a:bodyPr/>
          <a:lstStyle/>
          <a:p>
            <a:fld id="{08D3BE28-FA99-46E5-B1DE-BE9D6FCBD9C4}" type="slidenum">
              <a:rPr lang="en-US" smtClean="0"/>
              <a:t>17</a:t>
            </a:fld>
            <a:endParaRPr lang="en-US"/>
          </a:p>
        </p:txBody>
      </p:sp>
    </p:spTree>
    <p:extLst>
      <p:ext uri="{BB962C8B-B14F-4D97-AF65-F5344CB8AC3E}">
        <p14:creationId xmlns:p14="http://schemas.microsoft.com/office/powerpoint/2010/main" val="2344489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3E44E-B72E-CF35-D3F8-6C19564BD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2D96F-0EFF-CA5C-C019-A0E22FEA13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F70145-8B5F-9490-E218-8FFC837A27DC}"/>
              </a:ext>
            </a:extLst>
          </p:cNvPr>
          <p:cNvSpPr>
            <a:spLocks noGrp="1"/>
          </p:cNvSpPr>
          <p:nvPr>
            <p:ph type="body" idx="1"/>
          </p:nvPr>
        </p:nvSpPr>
        <p:spPr/>
        <p:txBody>
          <a:bodyPr/>
          <a:lstStyle/>
          <a:p>
            <a:r>
              <a:rPr lang="en-US" dirty="0"/>
              <a:t>"Models a relationship where a base use case explicitly incorporates the behavior of another use case at a specified point. The inclusion is mandatory; the base use case cannot complete its main flow without executing the included use case.</a:t>
            </a:r>
          </a:p>
        </p:txBody>
      </p:sp>
      <p:sp>
        <p:nvSpPr>
          <p:cNvPr id="4" name="Slide Number Placeholder 3">
            <a:extLst>
              <a:ext uri="{FF2B5EF4-FFF2-40B4-BE49-F238E27FC236}">
                <a16:creationId xmlns:a16="http://schemas.microsoft.com/office/drawing/2014/main" id="{8F6D0BA7-B1E3-F433-619B-484DBE415A07}"/>
              </a:ext>
            </a:extLst>
          </p:cNvPr>
          <p:cNvSpPr>
            <a:spLocks noGrp="1"/>
          </p:cNvSpPr>
          <p:nvPr>
            <p:ph type="sldNum" sz="quarter" idx="5"/>
          </p:nvPr>
        </p:nvSpPr>
        <p:spPr/>
        <p:txBody>
          <a:bodyPr/>
          <a:lstStyle/>
          <a:p>
            <a:fld id="{08D3BE28-FA99-46E5-B1DE-BE9D6FCBD9C4}" type="slidenum">
              <a:rPr lang="en-US" smtClean="0"/>
              <a:t>18</a:t>
            </a:fld>
            <a:endParaRPr lang="en-US"/>
          </a:p>
        </p:txBody>
      </p:sp>
    </p:spTree>
    <p:extLst>
      <p:ext uri="{BB962C8B-B14F-4D97-AF65-F5344CB8AC3E}">
        <p14:creationId xmlns:p14="http://schemas.microsoft.com/office/powerpoint/2010/main" val="305024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FF856-D78F-9D91-26C7-F9BFD4DC2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1FEF1-207C-61F0-E0EB-E12788F90A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8AB811-FC7D-46E6-7A83-D9458C26C0E1}"/>
              </a:ext>
            </a:extLst>
          </p:cNvPr>
          <p:cNvSpPr>
            <a:spLocks noGrp="1"/>
          </p:cNvSpPr>
          <p:nvPr>
            <p:ph type="body" idx="1"/>
          </p:nvPr>
        </p:nvSpPr>
        <p:spPr/>
        <p:txBody>
          <a:bodyPr/>
          <a:lstStyle/>
          <a:p>
            <a:r>
              <a:rPr lang="en-US" dirty="0"/>
              <a:t>Informal because the customer is the priority and thus they should be able to understand these stories.</a:t>
            </a:r>
          </a:p>
        </p:txBody>
      </p:sp>
      <p:sp>
        <p:nvSpPr>
          <p:cNvPr id="4" name="Slide Number Placeholder 3">
            <a:extLst>
              <a:ext uri="{FF2B5EF4-FFF2-40B4-BE49-F238E27FC236}">
                <a16:creationId xmlns:a16="http://schemas.microsoft.com/office/drawing/2014/main" id="{F7971024-D914-76B3-0533-BB47C8405FEF}"/>
              </a:ext>
            </a:extLst>
          </p:cNvPr>
          <p:cNvSpPr>
            <a:spLocks noGrp="1"/>
          </p:cNvSpPr>
          <p:nvPr>
            <p:ph type="sldNum" sz="quarter" idx="5"/>
          </p:nvPr>
        </p:nvSpPr>
        <p:spPr/>
        <p:txBody>
          <a:bodyPr/>
          <a:lstStyle/>
          <a:p>
            <a:fld id="{08D3BE28-FA99-46E5-B1DE-BE9D6FCBD9C4}" type="slidenum">
              <a:rPr lang="en-US" smtClean="0"/>
              <a:t>19</a:t>
            </a:fld>
            <a:endParaRPr lang="en-US"/>
          </a:p>
        </p:txBody>
      </p:sp>
    </p:spTree>
    <p:extLst>
      <p:ext uri="{BB962C8B-B14F-4D97-AF65-F5344CB8AC3E}">
        <p14:creationId xmlns:p14="http://schemas.microsoft.com/office/powerpoint/2010/main" val="1684867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4CC4-F895-03DD-5573-063767AAF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76A71-ECBD-1F4E-D4F7-55D09D599E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C47833-B673-4142-F608-ED9C3CA77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BD800E-0550-0DBB-C09A-CB1F1C362FA7}"/>
              </a:ext>
            </a:extLst>
          </p:cNvPr>
          <p:cNvSpPr>
            <a:spLocks noGrp="1"/>
          </p:cNvSpPr>
          <p:nvPr>
            <p:ph type="sldNum" sz="quarter" idx="5"/>
          </p:nvPr>
        </p:nvSpPr>
        <p:spPr/>
        <p:txBody>
          <a:bodyPr/>
          <a:lstStyle/>
          <a:p>
            <a:fld id="{08D3BE28-FA99-46E5-B1DE-BE9D6FCBD9C4}" type="slidenum">
              <a:rPr lang="en-US" smtClean="0"/>
              <a:t>20</a:t>
            </a:fld>
            <a:endParaRPr lang="en-US"/>
          </a:p>
        </p:txBody>
      </p:sp>
    </p:spTree>
    <p:extLst>
      <p:ext uri="{BB962C8B-B14F-4D97-AF65-F5344CB8AC3E}">
        <p14:creationId xmlns:p14="http://schemas.microsoft.com/office/powerpoint/2010/main" val="2205675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222CD-3684-1261-75CA-71A9B87EB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D19C2-196D-E070-9F1D-9F2FD57E84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486670-379E-D767-366B-08E39045BC41}"/>
              </a:ext>
            </a:extLst>
          </p:cNvPr>
          <p:cNvSpPr>
            <a:spLocks noGrp="1"/>
          </p:cNvSpPr>
          <p:nvPr>
            <p:ph type="body" idx="1"/>
          </p:nvPr>
        </p:nvSpPr>
        <p:spPr/>
        <p:txBody>
          <a:bodyPr/>
          <a:lstStyle/>
          <a:p>
            <a:r>
              <a:rPr lang="en-US" dirty="0"/>
              <a:t>Cards used to be physical and written manually on Post-it cards (Sticky Notes) but today they can also be digital. What matters about the card is less the material the card is made of and more the content of the card. Cards are used because they are small and thus you are also forced to keep your user stories as short as reasonably possible. The card represents the team’s commitment to discuss the story hence the Conversation part of the 3C’s.</a:t>
            </a:r>
          </a:p>
        </p:txBody>
      </p:sp>
      <p:sp>
        <p:nvSpPr>
          <p:cNvPr id="4" name="Slide Number Placeholder 3">
            <a:extLst>
              <a:ext uri="{FF2B5EF4-FFF2-40B4-BE49-F238E27FC236}">
                <a16:creationId xmlns:a16="http://schemas.microsoft.com/office/drawing/2014/main" id="{4973EE45-1A6B-2472-BBD5-7083C9192321}"/>
              </a:ext>
            </a:extLst>
          </p:cNvPr>
          <p:cNvSpPr>
            <a:spLocks noGrp="1"/>
          </p:cNvSpPr>
          <p:nvPr>
            <p:ph type="sldNum" sz="quarter" idx="5"/>
          </p:nvPr>
        </p:nvSpPr>
        <p:spPr/>
        <p:txBody>
          <a:bodyPr/>
          <a:lstStyle/>
          <a:p>
            <a:fld id="{08D3BE28-FA99-46E5-B1DE-BE9D6FCBD9C4}" type="slidenum">
              <a:rPr lang="en-US" smtClean="0"/>
              <a:t>21</a:t>
            </a:fld>
            <a:endParaRPr lang="en-US"/>
          </a:p>
        </p:txBody>
      </p:sp>
    </p:spTree>
    <p:extLst>
      <p:ext uri="{BB962C8B-B14F-4D97-AF65-F5344CB8AC3E}">
        <p14:creationId xmlns:p14="http://schemas.microsoft.com/office/powerpoint/2010/main" val="3731842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1E5A7-A866-FFA7-657C-B8010D264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DDD1E-5278-C947-3C93-7EFECB0150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3C32C0-8847-E635-75DB-C488649479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26F359-0B33-A654-FB90-0B0F683C70FE}"/>
              </a:ext>
            </a:extLst>
          </p:cNvPr>
          <p:cNvSpPr>
            <a:spLocks noGrp="1"/>
          </p:cNvSpPr>
          <p:nvPr>
            <p:ph type="sldNum" sz="quarter" idx="5"/>
          </p:nvPr>
        </p:nvSpPr>
        <p:spPr/>
        <p:txBody>
          <a:bodyPr/>
          <a:lstStyle/>
          <a:p>
            <a:fld id="{08D3BE28-FA99-46E5-B1DE-BE9D6FCBD9C4}" type="slidenum">
              <a:rPr lang="en-US" smtClean="0"/>
              <a:t>22</a:t>
            </a:fld>
            <a:endParaRPr lang="en-US"/>
          </a:p>
        </p:txBody>
      </p:sp>
    </p:spTree>
    <p:extLst>
      <p:ext uri="{BB962C8B-B14F-4D97-AF65-F5344CB8AC3E}">
        <p14:creationId xmlns:p14="http://schemas.microsoft.com/office/powerpoint/2010/main" val="1732879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3388D-593D-1243-697E-91D505D8E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5E9CD-63D3-2951-ADFA-EC8A0F96F1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B786B1-9DFF-F66C-7CD0-4C52CEB533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47129B-C3C9-8F11-DB79-DD69F504809B}"/>
              </a:ext>
            </a:extLst>
          </p:cNvPr>
          <p:cNvSpPr>
            <a:spLocks noGrp="1"/>
          </p:cNvSpPr>
          <p:nvPr>
            <p:ph type="sldNum" sz="quarter" idx="5"/>
          </p:nvPr>
        </p:nvSpPr>
        <p:spPr/>
        <p:txBody>
          <a:bodyPr/>
          <a:lstStyle/>
          <a:p>
            <a:fld id="{08D3BE28-FA99-46E5-B1DE-BE9D6FCBD9C4}" type="slidenum">
              <a:rPr lang="en-US" smtClean="0"/>
              <a:t>23</a:t>
            </a:fld>
            <a:endParaRPr lang="en-US"/>
          </a:p>
        </p:txBody>
      </p:sp>
    </p:spTree>
    <p:extLst>
      <p:ext uri="{BB962C8B-B14F-4D97-AF65-F5344CB8AC3E}">
        <p14:creationId xmlns:p14="http://schemas.microsoft.com/office/powerpoint/2010/main" val="2665725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115B-859D-101D-145A-ADD73B172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3A28B-E3A3-4C87-BCE0-FD3A7F5389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0EAABB-5C34-DF39-CD29-792CB7F9F2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E0FCED-61B5-5539-4964-D502D2B8926B}"/>
              </a:ext>
            </a:extLst>
          </p:cNvPr>
          <p:cNvSpPr>
            <a:spLocks noGrp="1"/>
          </p:cNvSpPr>
          <p:nvPr>
            <p:ph type="sldNum" sz="quarter" idx="5"/>
          </p:nvPr>
        </p:nvSpPr>
        <p:spPr/>
        <p:txBody>
          <a:bodyPr/>
          <a:lstStyle/>
          <a:p>
            <a:fld id="{08D3BE28-FA99-46E5-B1DE-BE9D6FCBD9C4}" type="slidenum">
              <a:rPr lang="en-US" smtClean="0"/>
              <a:t>24</a:t>
            </a:fld>
            <a:endParaRPr lang="en-US"/>
          </a:p>
        </p:txBody>
      </p:sp>
    </p:spTree>
    <p:extLst>
      <p:ext uri="{BB962C8B-B14F-4D97-AF65-F5344CB8AC3E}">
        <p14:creationId xmlns:p14="http://schemas.microsoft.com/office/powerpoint/2010/main" val="3483867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84F7E-6D1D-722C-687B-BE7312CCA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DF526-5C1C-2A1B-0559-75D3285472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C057B0-28B2-A176-5DC9-6F921BD422D9}"/>
              </a:ext>
            </a:extLst>
          </p:cNvPr>
          <p:cNvSpPr>
            <a:spLocks noGrp="1"/>
          </p:cNvSpPr>
          <p:nvPr>
            <p:ph type="body" idx="1"/>
          </p:nvPr>
        </p:nvSpPr>
        <p:spPr/>
        <p:txBody>
          <a:bodyPr/>
          <a:lstStyle/>
          <a:p>
            <a:r>
              <a:rPr lang="en-US" dirty="0"/>
              <a:t>The purchaser might have different things that bring them value as opposed to the user. The purchaser might be paying the software for 5000 people and one of their stories might be how the software will be documented. This might not be very useful to the individual users of the software though.</a:t>
            </a:r>
          </a:p>
          <a:p>
            <a:endParaRPr lang="en-US" dirty="0"/>
          </a:p>
          <a:p>
            <a:r>
              <a:rPr lang="en-US" dirty="0"/>
              <a:t>The goal of indexing is to increase the speed of database queries and thus can be rephrased to say the above.</a:t>
            </a:r>
          </a:p>
        </p:txBody>
      </p:sp>
      <p:sp>
        <p:nvSpPr>
          <p:cNvPr id="4" name="Slide Number Placeholder 3">
            <a:extLst>
              <a:ext uri="{FF2B5EF4-FFF2-40B4-BE49-F238E27FC236}">
                <a16:creationId xmlns:a16="http://schemas.microsoft.com/office/drawing/2014/main" id="{85AA85DF-C82C-8870-FA2F-D2A823275ACD}"/>
              </a:ext>
            </a:extLst>
          </p:cNvPr>
          <p:cNvSpPr>
            <a:spLocks noGrp="1"/>
          </p:cNvSpPr>
          <p:nvPr>
            <p:ph type="sldNum" sz="quarter" idx="5"/>
          </p:nvPr>
        </p:nvSpPr>
        <p:spPr/>
        <p:txBody>
          <a:bodyPr/>
          <a:lstStyle/>
          <a:p>
            <a:fld id="{08D3BE28-FA99-46E5-B1DE-BE9D6FCBD9C4}" type="slidenum">
              <a:rPr lang="en-US" smtClean="0"/>
              <a:t>25</a:t>
            </a:fld>
            <a:endParaRPr lang="en-US"/>
          </a:p>
        </p:txBody>
      </p:sp>
    </p:spTree>
    <p:extLst>
      <p:ext uri="{BB962C8B-B14F-4D97-AF65-F5344CB8AC3E}">
        <p14:creationId xmlns:p14="http://schemas.microsoft.com/office/powerpoint/2010/main" val="1408218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D99E4-D0C3-5541-6BE5-77E2EEB93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25EB6-9E7A-DCCF-7AB2-3D98FC90CC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93E45B-B723-2278-40D9-4FE8748CB360}"/>
              </a:ext>
            </a:extLst>
          </p:cNvPr>
          <p:cNvSpPr>
            <a:spLocks noGrp="1"/>
          </p:cNvSpPr>
          <p:nvPr>
            <p:ph type="body" idx="1"/>
          </p:nvPr>
        </p:nvSpPr>
        <p:spPr/>
        <p:txBody>
          <a:bodyPr/>
          <a:lstStyle/>
          <a:p>
            <a:r>
              <a:rPr lang="en-US" dirty="0"/>
              <a:t>1. Imagine working on a medical system that requires “New users to get a diabetic screening”. For someone who has never worked with diabetics, it might be challenging to understand what diabetic screening means. Does this involve a simple form or are we meant to send a screening kit to the person’s home?</a:t>
            </a:r>
            <a:br>
              <a:rPr lang="en-US" dirty="0"/>
            </a:br>
            <a:r>
              <a:rPr lang="en-US" dirty="0"/>
              <a:t/>
            </a:r>
            <a:br>
              <a:rPr lang="en-US" dirty="0"/>
            </a:br>
            <a:r>
              <a:rPr lang="en-US" dirty="0"/>
              <a:t>2. Imagine you are asked to build a system with a chatbot, would you know how long that would take without ever building one? So now you have to go online and find different resources on how chatbots are built.</a:t>
            </a:r>
          </a:p>
          <a:p>
            <a:endParaRPr lang="en-US" dirty="0"/>
          </a:p>
          <a:p>
            <a:r>
              <a:rPr lang="en-US" dirty="0"/>
              <a:t>An epic is a large body of work that cannot be completed in one agile iteration. Epics are made up of smaller stories.</a:t>
            </a:r>
          </a:p>
        </p:txBody>
      </p:sp>
      <p:sp>
        <p:nvSpPr>
          <p:cNvPr id="4" name="Slide Number Placeholder 3">
            <a:extLst>
              <a:ext uri="{FF2B5EF4-FFF2-40B4-BE49-F238E27FC236}">
                <a16:creationId xmlns:a16="http://schemas.microsoft.com/office/drawing/2014/main" id="{28BC5311-030E-271F-8A9E-965088E36A53}"/>
              </a:ext>
            </a:extLst>
          </p:cNvPr>
          <p:cNvSpPr>
            <a:spLocks noGrp="1"/>
          </p:cNvSpPr>
          <p:nvPr>
            <p:ph type="sldNum" sz="quarter" idx="5"/>
          </p:nvPr>
        </p:nvSpPr>
        <p:spPr/>
        <p:txBody>
          <a:bodyPr/>
          <a:lstStyle/>
          <a:p>
            <a:fld id="{08D3BE28-FA99-46E5-B1DE-BE9D6FCBD9C4}" type="slidenum">
              <a:rPr lang="en-US" smtClean="0"/>
              <a:t>26</a:t>
            </a:fld>
            <a:endParaRPr lang="en-US"/>
          </a:p>
        </p:txBody>
      </p:sp>
    </p:spTree>
    <p:extLst>
      <p:ext uri="{BB962C8B-B14F-4D97-AF65-F5344CB8AC3E}">
        <p14:creationId xmlns:p14="http://schemas.microsoft.com/office/powerpoint/2010/main" val="3060522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0064C-F5FB-36FB-515E-DAC3535DD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8EDFD-7796-19DF-6BBC-15CB1377D8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D0E372-EBBB-F12C-7FA0-CF638E751C02}"/>
              </a:ext>
            </a:extLst>
          </p:cNvPr>
          <p:cNvSpPr>
            <a:spLocks noGrp="1"/>
          </p:cNvSpPr>
          <p:nvPr>
            <p:ph type="body" idx="1"/>
          </p:nvPr>
        </p:nvSpPr>
        <p:spPr/>
        <p:txBody>
          <a:bodyPr/>
          <a:lstStyle/>
          <a:p>
            <a:r>
              <a:rPr lang="en-US" dirty="0"/>
              <a:t>If you are training a model, there are certain constraints that will be placed on the team and how fast it can go since models take time to build.</a:t>
            </a:r>
          </a:p>
        </p:txBody>
      </p:sp>
      <p:sp>
        <p:nvSpPr>
          <p:cNvPr id="4" name="Slide Number Placeholder 3">
            <a:extLst>
              <a:ext uri="{FF2B5EF4-FFF2-40B4-BE49-F238E27FC236}">
                <a16:creationId xmlns:a16="http://schemas.microsoft.com/office/drawing/2014/main" id="{ADE2FE6C-B116-08A6-BD9B-F333370C697B}"/>
              </a:ext>
            </a:extLst>
          </p:cNvPr>
          <p:cNvSpPr>
            <a:spLocks noGrp="1"/>
          </p:cNvSpPr>
          <p:nvPr>
            <p:ph type="sldNum" sz="quarter" idx="5"/>
          </p:nvPr>
        </p:nvSpPr>
        <p:spPr/>
        <p:txBody>
          <a:bodyPr/>
          <a:lstStyle/>
          <a:p>
            <a:fld id="{08D3BE28-FA99-46E5-B1DE-BE9D6FCBD9C4}" type="slidenum">
              <a:rPr lang="en-US" smtClean="0"/>
              <a:t>27</a:t>
            </a:fld>
            <a:endParaRPr lang="en-US"/>
          </a:p>
        </p:txBody>
      </p:sp>
    </p:spTree>
    <p:extLst>
      <p:ext uri="{BB962C8B-B14F-4D97-AF65-F5344CB8AC3E}">
        <p14:creationId xmlns:p14="http://schemas.microsoft.com/office/powerpoint/2010/main" val="125375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EAE73-0F05-0D83-A72F-FBAFFB2F5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108FB-157A-7CAC-4AEA-1CB9B8BDE6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2E85E7-0B77-766F-8E4B-E00467E4C7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542432-1260-9592-F7A9-E36CB360B467}"/>
              </a:ext>
            </a:extLst>
          </p:cNvPr>
          <p:cNvSpPr>
            <a:spLocks noGrp="1"/>
          </p:cNvSpPr>
          <p:nvPr>
            <p:ph type="sldNum" sz="quarter" idx="5"/>
          </p:nvPr>
        </p:nvSpPr>
        <p:spPr/>
        <p:txBody>
          <a:bodyPr/>
          <a:lstStyle/>
          <a:p>
            <a:fld id="{08D3BE28-FA99-46E5-B1DE-BE9D6FCBD9C4}" type="slidenum">
              <a:rPr lang="en-US" smtClean="0"/>
              <a:t>28</a:t>
            </a:fld>
            <a:endParaRPr lang="en-US"/>
          </a:p>
        </p:txBody>
      </p:sp>
    </p:spTree>
    <p:extLst>
      <p:ext uri="{BB962C8B-B14F-4D97-AF65-F5344CB8AC3E}">
        <p14:creationId xmlns:p14="http://schemas.microsoft.com/office/powerpoint/2010/main" val="3240406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84B0-77AA-1940-DDD4-2236166A0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28029-06C0-373E-F697-6142464662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DD551B-7C2E-5121-DA41-D7FBE2AF3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D2D11-BAAA-809D-07BC-730E4BCE99DF}"/>
              </a:ext>
            </a:extLst>
          </p:cNvPr>
          <p:cNvSpPr>
            <a:spLocks noGrp="1"/>
          </p:cNvSpPr>
          <p:nvPr>
            <p:ph type="sldNum" sz="quarter" idx="5"/>
          </p:nvPr>
        </p:nvSpPr>
        <p:spPr/>
        <p:txBody>
          <a:bodyPr/>
          <a:lstStyle/>
          <a:p>
            <a:fld id="{08D3BE28-FA99-46E5-B1DE-BE9D6FCBD9C4}" type="slidenum">
              <a:rPr lang="en-US" smtClean="0"/>
              <a:t>29</a:t>
            </a:fld>
            <a:endParaRPr lang="en-US"/>
          </a:p>
        </p:txBody>
      </p:sp>
    </p:spTree>
    <p:extLst>
      <p:ext uri="{BB962C8B-B14F-4D97-AF65-F5344CB8AC3E}">
        <p14:creationId xmlns:p14="http://schemas.microsoft.com/office/powerpoint/2010/main" val="2721595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02F8-BBBE-AB22-5890-76F362781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85988-C61D-0E65-31BA-D1ED852A5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4D65BA-F746-F7DF-F973-F53DC8A03B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8897A8-9117-E5F4-0C58-1F59E7D2097E}"/>
              </a:ext>
            </a:extLst>
          </p:cNvPr>
          <p:cNvSpPr>
            <a:spLocks noGrp="1"/>
          </p:cNvSpPr>
          <p:nvPr>
            <p:ph type="sldNum" sz="quarter" idx="5"/>
          </p:nvPr>
        </p:nvSpPr>
        <p:spPr/>
        <p:txBody>
          <a:bodyPr/>
          <a:lstStyle/>
          <a:p>
            <a:fld id="{08D3BE28-FA99-46E5-B1DE-BE9D6FCBD9C4}" type="slidenum">
              <a:rPr lang="en-US" smtClean="0"/>
              <a:t>30</a:t>
            </a:fld>
            <a:endParaRPr lang="en-US"/>
          </a:p>
        </p:txBody>
      </p:sp>
    </p:spTree>
    <p:extLst>
      <p:ext uri="{BB962C8B-B14F-4D97-AF65-F5344CB8AC3E}">
        <p14:creationId xmlns:p14="http://schemas.microsoft.com/office/powerpoint/2010/main" val="1152771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FEDEA-2FFD-968C-F341-0C6B87F4E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7F086-064A-E61F-142A-1D3024FFC1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AD2C63-6061-A799-10AF-F2EAB48C8F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E2C37-86E8-34E6-1FFA-90B28E1A4829}"/>
              </a:ext>
            </a:extLst>
          </p:cNvPr>
          <p:cNvSpPr>
            <a:spLocks noGrp="1"/>
          </p:cNvSpPr>
          <p:nvPr>
            <p:ph type="sldNum" sz="quarter" idx="5"/>
          </p:nvPr>
        </p:nvSpPr>
        <p:spPr/>
        <p:txBody>
          <a:bodyPr/>
          <a:lstStyle/>
          <a:p>
            <a:fld id="{08D3BE28-FA99-46E5-B1DE-BE9D6FCBD9C4}" type="slidenum">
              <a:rPr lang="en-US" smtClean="0"/>
              <a:t>31</a:t>
            </a:fld>
            <a:endParaRPr lang="en-US"/>
          </a:p>
        </p:txBody>
      </p:sp>
    </p:spTree>
    <p:extLst>
      <p:ext uri="{BB962C8B-B14F-4D97-AF65-F5344CB8AC3E}">
        <p14:creationId xmlns:p14="http://schemas.microsoft.com/office/powerpoint/2010/main" val="3905820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125CD-675A-4FEC-EA5D-D8AFCA25E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D02D2-9C8F-D6AF-B062-EBFB68E260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57D55D-5DC9-F7A0-7271-5F53DB5F1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BD3F5-910A-9BEA-0ABF-09D12C08441A}"/>
              </a:ext>
            </a:extLst>
          </p:cNvPr>
          <p:cNvSpPr>
            <a:spLocks noGrp="1"/>
          </p:cNvSpPr>
          <p:nvPr>
            <p:ph type="sldNum" sz="quarter" idx="5"/>
          </p:nvPr>
        </p:nvSpPr>
        <p:spPr/>
        <p:txBody>
          <a:bodyPr/>
          <a:lstStyle/>
          <a:p>
            <a:fld id="{08D3BE28-FA99-46E5-B1DE-BE9D6FCBD9C4}" type="slidenum">
              <a:rPr lang="en-US" smtClean="0"/>
              <a:t>32</a:t>
            </a:fld>
            <a:endParaRPr lang="en-US"/>
          </a:p>
        </p:txBody>
      </p:sp>
    </p:spTree>
    <p:extLst>
      <p:ext uri="{BB962C8B-B14F-4D97-AF65-F5344CB8AC3E}">
        <p14:creationId xmlns:p14="http://schemas.microsoft.com/office/powerpoint/2010/main" val="32471946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A1862-B95D-AD5E-0129-EB49F3D3D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8782E-4A23-26EF-A555-3463F89ABB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4757C0-42AD-C71C-448B-25346E354E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C7112D-8496-F7E8-EFE8-2715CA95FF4E}"/>
              </a:ext>
            </a:extLst>
          </p:cNvPr>
          <p:cNvSpPr>
            <a:spLocks noGrp="1"/>
          </p:cNvSpPr>
          <p:nvPr>
            <p:ph type="sldNum" sz="quarter" idx="5"/>
          </p:nvPr>
        </p:nvSpPr>
        <p:spPr/>
        <p:txBody>
          <a:bodyPr/>
          <a:lstStyle/>
          <a:p>
            <a:fld id="{08D3BE28-FA99-46E5-B1DE-BE9D6FCBD9C4}" type="slidenum">
              <a:rPr lang="en-US" smtClean="0"/>
              <a:t>33</a:t>
            </a:fld>
            <a:endParaRPr lang="en-US"/>
          </a:p>
        </p:txBody>
      </p:sp>
    </p:spTree>
    <p:extLst>
      <p:ext uri="{BB962C8B-B14F-4D97-AF65-F5344CB8AC3E}">
        <p14:creationId xmlns:p14="http://schemas.microsoft.com/office/powerpoint/2010/main" val="2982982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FB18-3DC8-A421-C44F-3CAFE5BA3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5F37A-7992-9ABF-DBBC-ECE9149CEF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6C3F8A-8CFD-95E1-D3BF-B075DC985D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7315B9-6D7E-70A7-9E58-AD2BC6BC7C47}"/>
              </a:ext>
            </a:extLst>
          </p:cNvPr>
          <p:cNvSpPr>
            <a:spLocks noGrp="1"/>
          </p:cNvSpPr>
          <p:nvPr>
            <p:ph type="sldNum" sz="quarter" idx="5"/>
          </p:nvPr>
        </p:nvSpPr>
        <p:spPr/>
        <p:txBody>
          <a:bodyPr/>
          <a:lstStyle/>
          <a:p>
            <a:fld id="{08D3BE28-FA99-46E5-B1DE-BE9D6FCBD9C4}" type="slidenum">
              <a:rPr lang="en-US" smtClean="0"/>
              <a:t>34</a:t>
            </a:fld>
            <a:endParaRPr lang="en-US"/>
          </a:p>
        </p:txBody>
      </p:sp>
    </p:spTree>
    <p:extLst>
      <p:ext uri="{BB962C8B-B14F-4D97-AF65-F5344CB8AC3E}">
        <p14:creationId xmlns:p14="http://schemas.microsoft.com/office/powerpoint/2010/main" val="2494182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owasp.org/www-project-product-security-guid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cs.google.com/document/d/1X4Nmg5mM4VglBoPoMuJA3xC1WZjo2hUwb40CN6GwdaQ/edit?usp=shar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visual-paradigm.com/guide/uml-unified-modeling-language/what-is-u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system-design/use-case-diagram/" TargetMode="External"/><Relationship Id="rId2" Type="http://schemas.openxmlformats.org/officeDocument/2006/relationships/hyperlink" Target="https://owasp.org/www-project-product-security-guide/" TargetMode="External"/><Relationship Id="rId1" Type="http://schemas.openxmlformats.org/officeDocument/2006/relationships/slideLayout" Target="../slideLayouts/slideLayout2.xml"/><Relationship Id="rId5" Type="http://schemas.openxmlformats.org/officeDocument/2006/relationships/hyperlink" Target="https://scrum-master.org/en/creating-the-perfect-user-story-with-invest-criteria/" TargetMode="External"/><Relationship Id="rId4" Type="http://schemas.openxmlformats.org/officeDocument/2006/relationships/hyperlink" Target="https://www.atlassian.com/agile/project-management/user-stories"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guides.visual-paradigm.com/give-when-then-acceptance-criteria-for-user-stories-in-agile-developmen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144635" cy="1470025"/>
          </a:xfrm>
          <a:solidFill>
            <a:schemeClr val="tx1"/>
          </a:solidFill>
        </p:spPr>
        <p:txBody>
          <a:bodyPr/>
          <a:lstStyle/>
          <a:p>
            <a:r>
              <a:rPr lang="en-US">
                <a:solidFill>
                  <a:srgbClr val="FFFF00"/>
                </a:solidFill>
                <a:latin typeface="Times New Roman Regular" panose="02020603050405020304" charset="0"/>
                <a:cs typeface="Times New Roman Regular" panose="02020603050405020304" charset="0"/>
              </a:rPr>
              <a:t>REQUIREMENT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25140"/>
            <a:ext cx="9144000" cy="1622425"/>
          </a:xfrm>
          <a:solidFill>
            <a:schemeClr val="tx1"/>
          </a:solidFill>
        </p:spPr>
        <p:txBody>
          <a:bodyPr>
            <a:normAutofit/>
          </a:bodyPr>
          <a:lstStyle/>
          <a:p>
            <a:pPr algn="ctr"/>
            <a:r>
              <a:rPr lang="en-US" b="1" dirty="0">
                <a:solidFill>
                  <a:srgbClr val="FFFF00"/>
                </a:solidFill>
              </a:rPr>
              <a:t>Lesson 5: Requirement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rgbClr val="FFFF00"/>
                </a:solidFill>
                <a:latin typeface="Times New Roman Regular" panose="02020603050405020304" charset="0"/>
                <a:cs typeface="Times New Roman Regular" panose="02020603050405020304" charset="0"/>
              </a:rPr>
              <a:t>Previously…</a:t>
            </a:r>
          </a:p>
        </p:txBody>
      </p:sp>
      <p:sp>
        <p:nvSpPr>
          <p:cNvPr id="3" name="Content Placeholder 2"/>
          <p:cNvSpPr>
            <a:spLocks noGrp="1"/>
          </p:cNvSpPr>
          <p:nvPr>
            <p:ph idx="1"/>
          </p:nvPr>
        </p:nvSpPr>
        <p:spPr>
          <a:xfrm>
            <a:off x="457200" y="1600200"/>
            <a:ext cx="8229600" cy="3940175"/>
          </a:xfrm>
        </p:spPr>
        <p:txBody>
          <a:bodyPr/>
          <a:lstStyle/>
          <a:p>
            <a:pPr algn="just"/>
            <a:r>
              <a:rPr lang="en-US" altLang="en-US" sz="2800" dirty="0">
                <a:latin typeface="Times New Roman Regular" panose="02020603050405020304" charset="0"/>
                <a:cs typeface="Times New Roman Regular" panose="02020603050405020304" charset="0"/>
              </a:rPr>
              <a:t>Introduction to Requirement Elicitation</a:t>
            </a:r>
          </a:p>
          <a:p>
            <a:pPr algn="just"/>
            <a:r>
              <a:rPr lang="en-US" altLang="en-US" sz="2800" dirty="0">
                <a:latin typeface="Times New Roman Regular" panose="02020603050405020304" charset="0"/>
                <a:cs typeface="Times New Roman Regular" panose="02020603050405020304" charset="0"/>
              </a:rPr>
              <a:t>Importance of Requirement Elicitation</a:t>
            </a:r>
          </a:p>
          <a:p>
            <a:pPr algn="just"/>
            <a:r>
              <a:rPr lang="en-US" altLang="en-US" sz="2800" dirty="0">
                <a:latin typeface="Times New Roman Regular" panose="02020603050405020304" charset="0"/>
                <a:cs typeface="Times New Roman Regular" panose="02020603050405020304" charset="0"/>
              </a:rPr>
              <a:t>Stakeholders and Sources of Requirements</a:t>
            </a:r>
          </a:p>
          <a:p>
            <a:pPr algn="just"/>
            <a:r>
              <a:rPr lang="en-US" altLang="en-US" sz="2800" dirty="0">
                <a:latin typeface="Times New Roman Regular" panose="02020603050405020304" charset="0"/>
                <a:cs typeface="Times New Roman Regular" panose="02020603050405020304" charset="0"/>
              </a:rPr>
              <a:t>Techniques for Requirement Elicitation</a:t>
            </a:r>
          </a:p>
          <a:p>
            <a:pPr algn="just"/>
            <a:r>
              <a:rPr lang="en-US" altLang="en-US" sz="2800" dirty="0">
                <a:latin typeface="Times New Roman Regular" panose="02020603050405020304" charset="0"/>
                <a:cs typeface="Times New Roman Regular" panose="02020603050405020304" charset="0"/>
              </a:rPr>
              <a:t>Challenges in Requirement Elicitation</a:t>
            </a:r>
          </a:p>
          <a:p>
            <a:pPr algn="just"/>
            <a:r>
              <a:rPr lang="en-US" altLang="en-US" sz="2800" dirty="0">
                <a:latin typeface="Times New Roman Regular" panose="02020603050405020304" charset="0"/>
                <a:cs typeface="Times New Roman Regular" panose="02020603050405020304" charset="0"/>
              </a:rPr>
              <a:t>Best Practices for Effective Requirement Elicitation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6AEA-A3A0-7B25-30CB-B4C760660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13CA0-C4D0-70C7-1A3D-21FCD1A4E87E}"/>
              </a:ext>
            </a:extLst>
          </p:cNvPr>
          <p:cNvSpPr>
            <a:spLocks noGrp="1"/>
          </p:cNvSpPr>
          <p:nvPr>
            <p:ph type="title"/>
          </p:nvPr>
        </p:nvSpPr>
        <p:spPr>
          <a:solidFill>
            <a:schemeClr val="tx1"/>
          </a:solidFill>
        </p:spPr>
        <p:txBody>
          <a:bodyPr/>
          <a:lstStyle/>
          <a:p>
            <a:r>
              <a:rPr lang="en-US">
                <a:solidFill>
                  <a:srgbClr val="FFFF00"/>
                </a:solidFill>
                <a:latin typeface="Times New Roman Regular" panose="02020603050405020304" charset="0"/>
                <a:cs typeface="Times New Roman Regular" panose="02020603050405020304" charset="0"/>
              </a:rPr>
              <a:t>Chapter Outlines </a:t>
            </a:r>
          </a:p>
        </p:txBody>
      </p:sp>
      <p:sp>
        <p:nvSpPr>
          <p:cNvPr id="3" name="Content Placeholder 2">
            <a:extLst>
              <a:ext uri="{FF2B5EF4-FFF2-40B4-BE49-F238E27FC236}">
                <a16:creationId xmlns:a16="http://schemas.microsoft.com/office/drawing/2014/main" id="{5FB6C0E9-96B6-2B49-CD7F-2BC1B4407625}"/>
              </a:ext>
            </a:extLst>
          </p:cNvPr>
          <p:cNvSpPr>
            <a:spLocks noGrp="1"/>
          </p:cNvSpPr>
          <p:nvPr>
            <p:ph idx="1"/>
          </p:nvPr>
        </p:nvSpPr>
        <p:spPr>
          <a:xfrm>
            <a:off x="457200" y="1600200"/>
            <a:ext cx="8229600" cy="3940175"/>
          </a:xfrm>
        </p:spPr>
        <p:txBody>
          <a:bodyPr/>
          <a:lstStyle/>
          <a:p>
            <a:pPr algn="just"/>
            <a:r>
              <a:rPr sz="2800" dirty="0">
                <a:latin typeface="Times New Roman Regular" panose="02020603050405020304" charset="0"/>
                <a:cs typeface="Times New Roman Regular" panose="02020603050405020304" charset="0"/>
              </a:rPr>
              <a:t>Introduction to Requirement Analysis</a:t>
            </a:r>
          </a:p>
          <a:p>
            <a:pPr algn="just"/>
            <a:r>
              <a:rPr sz="2800" dirty="0">
                <a:latin typeface="Times New Roman Regular" panose="02020603050405020304" charset="0"/>
                <a:cs typeface="Times New Roman Regular" panose="02020603050405020304" charset="0"/>
              </a:rPr>
              <a:t>Requirement Prioritization</a:t>
            </a:r>
          </a:p>
          <a:p>
            <a:pPr algn="just"/>
            <a:r>
              <a:rPr sz="2800" dirty="0">
                <a:latin typeface="Times New Roman Regular" panose="02020603050405020304" charset="0"/>
                <a:cs typeface="Times New Roman Regular" panose="02020603050405020304" charset="0"/>
              </a:rPr>
              <a:t>Conflict Resolution in Requirements</a:t>
            </a:r>
          </a:p>
          <a:p>
            <a:pPr algn="just"/>
            <a:r>
              <a:rPr sz="2800" dirty="0">
                <a:latin typeface="Times New Roman Regular" panose="02020603050405020304" charset="0"/>
                <a:cs typeface="Times New Roman Regular" panose="02020603050405020304" charset="0"/>
              </a:rPr>
              <a:t>Requirement Modeling</a:t>
            </a:r>
          </a:p>
          <a:p>
            <a:pPr algn="just"/>
            <a:r>
              <a:rPr sz="2800" dirty="0">
                <a:latin typeface="Times New Roman Regular" panose="02020603050405020304" charset="0"/>
                <a:cs typeface="Times New Roman Regular" panose="02020603050405020304" charset="0"/>
              </a:rPr>
              <a:t>Quality Attributes of Good Requirements</a:t>
            </a:r>
          </a:p>
          <a:p>
            <a:pPr algn="just"/>
            <a:r>
              <a:rPr sz="2800" dirty="0">
                <a:latin typeface="Times New Roman Regular" panose="02020603050405020304" charset="0"/>
                <a:cs typeface="Times New Roman Regular" panose="02020603050405020304" charset="0"/>
              </a:rPr>
              <a:t>PIECES Framework for Requirement Analysis</a:t>
            </a:r>
          </a:p>
          <a:p>
            <a:pPr algn="just"/>
            <a:r>
              <a:rPr sz="2800" dirty="0">
                <a:latin typeface="Times New Roman Regular" panose="02020603050405020304" charset="0"/>
                <a:cs typeface="Times New Roman Regular" panose="02020603050405020304" charset="0"/>
              </a:rPr>
              <a:t>Tools for Requirement Analysis</a:t>
            </a:r>
          </a:p>
          <a:p>
            <a:pPr algn="just"/>
            <a:endParaRPr sz="28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410620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Where We Are Now</a:t>
            </a:r>
          </a:p>
        </p:txBody>
      </p:sp>
      <p:sp>
        <p:nvSpPr>
          <p:cNvPr id="3" name="Content Placeholder 2"/>
          <p:cNvSpPr>
            <a:spLocks noGrp="1"/>
          </p:cNvSpPr>
          <p:nvPr>
            <p:ph idx="1"/>
          </p:nvPr>
        </p:nvSpPr>
        <p:spPr>
          <a:xfrm>
            <a:off x="457200" y="1600200"/>
            <a:ext cx="8467344" cy="4782312"/>
          </a:xfrm>
        </p:spPr>
        <p:txBody>
          <a:bodyPr>
            <a:normAutofit lnSpcReduction="10000"/>
          </a:bodyPr>
          <a:lstStyle/>
          <a:p>
            <a:pPr marL="0" indent="0" algn="just">
              <a:buNone/>
            </a:pPr>
            <a:r>
              <a:rPr lang="en-US" sz="2800" strike="sngStrike" dirty="0">
                <a:solidFill>
                  <a:schemeClr val="tx1">
                    <a:lumMod val="50000"/>
                    <a:lumOff val="50000"/>
                  </a:schemeClr>
                </a:solidFill>
                <a:latin typeface="Times New Roman Regular" panose="02020603050405020304" charset="0"/>
                <a:cs typeface="Times New Roman Regular" panose="02020603050405020304" charset="0"/>
              </a:rPr>
              <a:t>Requirement Elicitation</a:t>
            </a:r>
            <a:r>
              <a:rPr lang="en-US" sz="2800" dirty="0">
                <a:solidFill>
                  <a:schemeClr val="tx1">
                    <a:lumMod val="50000"/>
                    <a:lumOff val="50000"/>
                  </a:schemeClr>
                </a:solidFill>
                <a:latin typeface="Times New Roman Regular" panose="02020603050405020304" charset="0"/>
                <a:cs typeface="Times New Roman Regular" panose="02020603050405020304" charset="0"/>
              </a:rPr>
              <a:t> </a:t>
            </a:r>
            <a:r>
              <a:rPr lang="en-US" sz="2800" dirty="0">
                <a:latin typeface="Times New Roman Regular" panose="02020603050405020304" charset="0"/>
                <a:cs typeface="Times New Roman Regular" panose="02020603050405020304" charset="0"/>
              </a:rPr>
              <a:t>✅</a:t>
            </a:r>
          </a:p>
          <a:p>
            <a:pPr marL="0" indent="0" algn="just">
              <a:buNone/>
            </a:pPr>
            <a:r>
              <a:rPr lang="en-US" dirty="0"/>
              <a:t>"</a:t>
            </a:r>
            <a:r>
              <a:rPr lang="en-US" i="1" dirty="0"/>
              <a:t>Users need to upload a profile pic. It should look super crisp on modern phones and high-res monitors. Make sure the file size is tiny so our app doesn't slow down. Also, users want to edit or crop them right in the app. Let's make it look like Instagram's setup. Oh, and legal says we need to make sure users aren't uploading anything inappropriate, so auto-moderate that, but do it instantly so they aren't waiting.</a:t>
            </a:r>
            <a:r>
              <a:rPr lang="en-US" dirty="0"/>
              <a:t>"</a:t>
            </a:r>
            <a:r>
              <a:rPr lang="en-US" sz="2800" dirty="0"/>
              <a:t> [</a:t>
            </a:r>
            <a:r>
              <a:rPr lang="en-US" sz="2800" dirty="0">
                <a:hlinkClick r:id="rId2"/>
              </a:rPr>
              <a:t>1</a:t>
            </a:r>
            <a:r>
              <a:rPr lang="en-US" sz="2800" dirty="0"/>
              <a:t>]</a:t>
            </a:r>
            <a:endParaRPr sz="2800" dirty="0">
              <a:latin typeface="Times New Roman Regular" panose="02020603050405020304" charset="0"/>
              <a:cs typeface="Times New Roman Regular"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BED5-CCBF-8F2D-676B-6BAC53A5A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594D0-2CAA-0BC1-E652-EB206000AE6B}"/>
              </a:ext>
            </a:extLst>
          </p:cNvPr>
          <p:cNvSpPr>
            <a:spLocks noGrp="1"/>
          </p:cNvSpPr>
          <p:nvPr>
            <p:ph type="title"/>
          </p:nvPr>
        </p:nvSpPr>
        <p:spPr>
          <a:solidFill>
            <a:schemeClr val="tx1"/>
          </a:solidFill>
        </p:spPr>
        <p:txBody>
          <a:bodyPr>
            <a:normAutofit fontScale="90000"/>
          </a:bodyPr>
          <a:lstStyle/>
          <a:p>
            <a:r>
              <a:rPr lang="en-US" dirty="0">
                <a:solidFill>
                  <a:srgbClr val="FFFF00"/>
                </a:solidFill>
                <a:latin typeface="Times New Roman Regular" panose="02020603050405020304" charset="0"/>
                <a:cs typeface="Times New Roman Regular" panose="02020603050405020304" charset="0"/>
              </a:rPr>
              <a:t>What’s Wrong with Raw Requirements?</a:t>
            </a:r>
          </a:p>
        </p:txBody>
      </p:sp>
      <p:sp>
        <p:nvSpPr>
          <p:cNvPr id="3" name="Content Placeholder 2">
            <a:extLst>
              <a:ext uri="{FF2B5EF4-FFF2-40B4-BE49-F238E27FC236}">
                <a16:creationId xmlns:a16="http://schemas.microsoft.com/office/drawing/2014/main" id="{0B1BA2AC-0D58-7C43-8ECA-F635A560A6B3}"/>
              </a:ext>
            </a:extLst>
          </p:cNvPr>
          <p:cNvSpPr>
            <a:spLocks noGrp="1"/>
          </p:cNvSpPr>
          <p:nvPr>
            <p:ph idx="1"/>
          </p:nvPr>
        </p:nvSpPr>
        <p:spPr>
          <a:xfrm>
            <a:off x="457200" y="1600200"/>
            <a:ext cx="8467344" cy="4782312"/>
          </a:xfrm>
        </p:spPr>
        <p:txBody>
          <a:bodyPr>
            <a:normAutofit/>
          </a:bodyPr>
          <a:lstStyle/>
          <a:p>
            <a:pPr algn="just"/>
            <a:r>
              <a:rPr lang="en-US" sz="2800" dirty="0">
                <a:latin typeface="Times New Roman Regular" panose="02020603050405020304" charset="0"/>
                <a:cs typeface="Times New Roman Regular" panose="02020603050405020304" charset="0"/>
              </a:rPr>
              <a:t>Conflicting Goals</a:t>
            </a:r>
          </a:p>
          <a:p>
            <a:pPr lvl="1" algn="just"/>
            <a:r>
              <a:rPr lang="en-US" sz="2400" dirty="0">
                <a:latin typeface="Times New Roman Regular" panose="02020603050405020304" charset="0"/>
                <a:cs typeface="Times New Roman Regular" panose="02020603050405020304" charset="0"/>
              </a:rPr>
              <a:t>Higher resolution vs Small file sizes</a:t>
            </a:r>
          </a:p>
          <a:p>
            <a:pPr algn="just"/>
            <a:r>
              <a:rPr lang="en-US" sz="2800" dirty="0">
                <a:latin typeface="Times New Roman Regular" panose="02020603050405020304" charset="0"/>
                <a:cs typeface="Times New Roman Regular" panose="02020603050405020304" charset="0"/>
              </a:rPr>
              <a:t>Scope creep</a:t>
            </a:r>
          </a:p>
          <a:p>
            <a:pPr lvl="1" algn="just"/>
            <a:r>
              <a:rPr lang="en-US" sz="2400" dirty="0">
                <a:latin typeface="Times New Roman Regular" panose="02020603050405020304" charset="0"/>
                <a:cs typeface="Times New Roman Regular" panose="02020603050405020304" charset="0"/>
              </a:rPr>
              <a:t>In-app photo editor could be a massive undertaking</a:t>
            </a:r>
          </a:p>
          <a:p>
            <a:pPr algn="just"/>
            <a:r>
              <a:rPr lang="en-US" sz="2800" dirty="0">
                <a:latin typeface="Times New Roman Regular" panose="02020603050405020304" charset="0"/>
                <a:cs typeface="Times New Roman Regular" panose="02020603050405020304" charset="0"/>
              </a:rPr>
              <a:t>Missing Constraints</a:t>
            </a:r>
          </a:p>
          <a:p>
            <a:pPr lvl="1" algn="just"/>
            <a:r>
              <a:rPr lang="en-US" sz="2400" dirty="0">
                <a:latin typeface="Times New Roman Regular" panose="02020603050405020304" charset="0"/>
                <a:cs typeface="Times New Roman Regular" panose="02020603050405020304" charset="0"/>
              </a:rPr>
              <a:t>What file types are allowed (jpeg, pdf, docx) and what file sizes are allowed?</a:t>
            </a:r>
          </a:p>
          <a:p>
            <a:pPr algn="just"/>
            <a:r>
              <a:rPr lang="en-US" sz="2800" dirty="0">
                <a:latin typeface="Times New Roman Regular" panose="02020603050405020304" charset="0"/>
                <a:cs typeface="Times New Roman Regular" panose="02020603050405020304" charset="0"/>
              </a:rPr>
              <a:t>Vague terms</a:t>
            </a:r>
          </a:p>
          <a:p>
            <a:pPr lvl="1" algn="just"/>
            <a:r>
              <a:rPr lang="en-US" sz="2400" dirty="0">
                <a:latin typeface="Times New Roman Regular" panose="02020603050405020304" charset="0"/>
                <a:cs typeface="Times New Roman Regular" panose="02020603050405020304" charset="0"/>
              </a:rPr>
              <a:t>What “inappropriate” mean exactly (secular vs sharia context)</a:t>
            </a:r>
            <a:endParaRPr sz="24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135971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1AC29-79CB-D820-703D-404A10489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B2EEA-1A78-8E4B-9653-A9806F844F27}"/>
              </a:ext>
            </a:extLst>
          </p:cNvPr>
          <p:cNvSpPr>
            <a:spLocks noGrp="1"/>
          </p:cNvSpPr>
          <p:nvPr>
            <p:ph type="title"/>
          </p:nvPr>
        </p:nvSpPr>
        <p:spPr>
          <a:xfrm>
            <a:off x="0" y="3025140"/>
            <a:ext cx="9144000" cy="1622425"/>
          </a:xfrm>
          <a:solidFill>
            <a:schemeClr val="tx1"/>
          </a:solidFill>
        </p:spPr>
        <p:txBody>
          <a:bodyPr>
            <a:normAutofit/>
          </a:bodyPr>
          <a:lstStyle/>
          <a:p>
            <a:pPr algn="ctr"/>
            <a:r>
              <a:rPr lang="en-US" dirty="0">
                <a:solidFill>
                  <a:srgbClr val="FFFF00"/>
                </a:solidFill>
                <a:latin typeface="Times New Roman" panose="02020603050405020304" pitchFamily="18" charset="0"/>
                <a:cs typeface="Times New Roman" panose="02020603050405020304" pitchFamily="18" charset="0"/>
              </a:rPr>
              <a:t>What is Requirements Analysis?</a:t>
            </a:r>
          </a:p>
        </p:txBody>
      </p:sp>
    </p:spTree>
    <p:extLst>
      <p:ext uri="{BB962C8B-B14F-4D97-AF65-F5344CB8AC3E}">
        <p14:creationId xmlns:p14="http://schemas.microsoft.com/office/powerpoint/2010/main" val="1068008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AB77-A09B-1FEB-E655-BCC8D9D86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53B93-C3E3-3365-2698-1DE3835422A4}"/>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What is Requirements Analysis</a:t>
            </a:r>
          </a:p>
        </p:txBody>
      </p:sp>
      <p:sp>
        <p:nvSpPr>
          <p:cNvPr id="3" name="Content Placeholder 2">
            <a:extLst>
              <a:ext uri="{FF2B5EF4-FFF2-40B4-BE49-F238E27FC236}">
                <a16:creationId xmlns:a16="http://schemas.microsoft.com/office/drawing/2014/main" id="{1425478F-0598-D6D0-6DB6-D2DD78E6F5AA}"/>
              </a:ext>
            </a:extLst>
          </p:cNvPr>
          <p:cNvSpPr>
            <a:spLocks noGrp="1"/>
          </p:cNvSpPr>
          <p:nvPr>
            <p:ph idx="1"/>
          </p:nvPr>
        </p:nvSpPr>
        <p:spPr>
          <a:xfrm>
            <a:off x="457200" y="1600200"/>
            <a:ext cx="8229600" cy="3940175"/>
          </a:xfrm>
        </p:spPr>
        <p:txBody>
          <a:bodyPr/>
          <a:lstStyle/>
          <a:p>
            <a:pPr algn="just"/>
            <a:r>
              <a:rPr sz="2800" dirty="0">
                <a:latin typeface="Times New Roman Regular" panose="02020603050405020304" charset="0"/>
                <a:cs typeface="Times New Roman Regular" panose="02020603050405020304" charset="0"/>
              </a:rPr>
              <a:t>Requirement Analysis is a crucial phase in the Requirements Engineering process where </a:t>
            </a:r>
            <a:r>
              <a:rPr sz="2800" b="1" dirty="0">
                <a:latin typeface="Times New Roman Bold" panose="02020603050405020304" charset="0"/>
                <a:cs typeface="Times New Roman Bold" panose="02020603050405020304" charset="0"/>
              </a:rPr>
              <a:t>the raw data collected from stakeholders is refined into precise, actionable requirements</a:t>
            </a:r>
            <a:r>
              <a:rPr sz="2800" dirty="0">
                <a:latin typeface="Times New Roman Regular" panose="02020603050405020304" charset="0"/>
                <a:cs typeface="Times New Roman Regular" panose="02020603050405020304" charset="0"/>
              </a:rPr>
              <a:t>. </a:t>
            </a:r>
          </a:p>
          <a:p>
            <a:pPr algn="just"/>
            <a:r>
              <a:rPr sz="2800" dirty="0">
                <a:latin typeface="Times New Roman Regular" panose="02020603050405020304" charset="0"/>
                <a:cs typeface="Times New Roman Regular" panose="02020603050405020304" charset="0"/>
              </a:rPr>
              <a:t>This step ensures that the requirements are </a:t>
            </a:r>
            <a:r>
              <a:rPr sz="2800" b="1" dirty="0">
                <a:latin typeface="Times New Roman Bold" panose="02020603050405020304" charset="0"/>
                <a:cs typeface="Times New Roman Bold" panose="02020603050405020304" charset="0"/>
              </a:rPr>
              <a:t>well-understood, unambiguous, and aligned with the stakeholders’ expectations, laying a solid foundation for the design and development phases</a:t>
            </a:r>
            <a:r>
              <a:rPr sz="2800" dirty="0">
                <a:latin typeface="Times New Roman Regular" panose="02020603050405020304" charset="0"/>
                <a:cs typeface="Times New Roman Regular" panose="02020603050405020304" charset="0"/>
              </a:rPr>
              <a:t>.</a:t>
            </a:r>
          </a:p>
        </p:txBody>
      </p:sp>
    </p:spTree>
    <p:extLst>
      <p:ext uri="{BB962C8B-B14F-4D97-AF65-F5344CB8AC3E}">
        <p14:creationId xmlns:p14="http://schemas.microsoft.com/office/powerpoint/2010/main" val="269127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Why Requirements Analysis</a:t>
            </a:r>
          </a:p>
        </p:txBody>
      </p:sp>
      <p:sp>
        <p:nvSpPr>
          <p:cNvPr id="3" name="Content Placeholder 2"/>
          <p:cNvSpPr>
            <a:spLocks noGrp="1"/>
          </p:cNvSpPr>
          <p:nvPr>
            <p:ph idx="1"/>
          </p:nvPr>
        </p:nvSpPr>
        <p:spPr>
          <a:xfrm>
            <a:off x="457200" y="1600200"/>
            <a:ext cx="8229600" cy="4534535"/>
          </a:xfrm>
        </p:spPr>
        <p:txBody>
          <a:bodyPr>
            <a:normAutofit/>
          </a:bodyPr>
          <a:lstStyle/>
          <a:p>
            <a:pPr algn="just"/>
            <a:r>
              <a:rPr sz="2800" b="1" dirty="0">
                <a:latin typeface="Times New Roman Bold" panose="02020603050405020304" charset="0"/>
                <a:cs typeface="Times New Roman Bold" panose="02020603050405020304" charset="0"/>
              </a:rPr>
              <a:t>Key Objectives:</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Convert elicited data into structured requirements.</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Prioritize requirements based on value, cost, and feasibility.</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Resolve conflicts and ensure alignment among stakeholders.</a:t>
            </a:r>
          </a:p>
          <a:p>
            <a:pPr lvl="1" algn="just">
              <a:buFont typeface="Wingdings" panose="05000000000000000000" charset="0"/>
              <a:buChar char=""/>
            </a:pPr>
            <a:r>
              <a:rPr sz="2800" dirty="0">
                <a:latin typeface="Times New Roman Regular" panose="02020603050405020304" charset="0"/>
                <a:cs typeface="Times New Roman Regular" panose="02020603050405020304" charset="0"/>
              </a:rPr>
              <a:t>Model requirements to provide clear communication and understanding.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3A623-A7CF-C4CA-1280-BE816B4EE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F98EE-893A-99BF-43B0-4A3B22061910}"/>
              </a:ext>
            </a:extLst>
          </p:cNvPr>
          <p:cNvSpPr>
            <a:spLocks noGrp="1"/>
          </p:cNvSpPr>
          <p:nvPr>
            <p:ph type="title"/>
          </p:nvPr>
        </p:nvSpPr>
        <p:spPr>
          <a:xfrm>
            <a:off x="0" y="2617787"/>
            <a:ext cx="9144000" cy="1622425"/>
          </a:xfrm>
          <a:solidFill>
            <a:schemeClr val="tx1"/>
          </a:solidFill>
        </p:spPr>
        <p:txBody>
          <a:bodyPr>
            <a:normAutofit/>
          </a:bodyPr>
          <a:lstStyle/>
          <a:p>
            <a:pPr algn="ctr"/>
            <a:r>
              <a:rPr lang="en-US" dirty="0">
                <a:solidFill>
                  <a:srgbClr val="FFFF00"/>
                </a:solidFill>
                <a:latin typeface="Times New Roman" panose="02020603050405020304" pitchFamily="18" charset="0"/>
                <a:cs typeface="Times New Roman" panose="02020603050405020304" pitchFamily="18" charset="0"/>
              </a:rPr>
              <a:t>Structuring Requirements</a:t>
            </a:r>
            <a:br>
              <a:rPr lang="en-US" dirty="0">
                <a:solidFill>
                  <a:srgbClr val="FFFF00"/>
                </a:solidFill>
                <a:latin typeface="Times New Roman" panose="02020603050405020304" pitchFamily="18" charset="0"/>
                <a:cs typeface="Times New Roman" panose="02020603050405020304" pitchFamily="18" charset="0"/>
              </a:rPr>
            </a:br>
            <a:r>
              <a:rPr lang="en-US" dirty="0">
                <a:solidFill>
                  <a:srgbClr val="FFFF00"/>
                </a:solidFill>
                <a:latin typeface="Times New Roman" panose="02020603050405020304" pitchFamily="18" charset="0"/>
                <a:cs typeface="Times New Roman" panose="02020603050405020304" pitchFamily="18" charset="0"/>
              </a:rPr>
              <a:t>(Use Cases vs User Stories)</a:t>
            </a:r>
          </a:p>
        </p:txBody>
      </p:sp>
    </p:spTree>
    <p:extLst>
      <p:ext uri="{BB962C8B-B14F-4D97-AF65-F5344CB8AC3E}">
        <p14:creationId xmlns:p14="http://schemas.microsoft.com/office/powerpoint/2010/main" val="2790727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p:cNvSpPr>
            <a:spLocks noGrp="1"/>
          </p:cNvSpPr>
          <p:nvPr>
            <p:ph idx="1"/>
          </p:nvPr>
        </p:nvSpPr>
        <p:spPr>
          <a:xfrm>
            <a:off x="457200" y="1600200"/>
            <a:ext cx="8229600" cy="4534535"/>
          </a:xfrm>
        </p:spPr>
        <p:txBody>
          <a:bodyPr>
            <a:normAutofit/>
          </a:bodyPr>
          <a:lstStyle/>
          <a:p>
            <a:pPr algn="just"/>
            <a:r>
              <a:rPr lang="en-US" sz="2800" dirty="0">
                <a:latin typeface="Times New Roman" panose="02020603050405020304" pitchFamily="18" charset="0"/>
                <a:cs typeface="Times New Roman" panose="02020603050405020304" pitchFamily="18" charset="0"/>
              </a:rPr>
              <a:t>A use case describes a sequence of interactions between a system and an external actor that results in the actor being able to achieve some outcome of value.</a:t>
            </a:r>
          </a:p>
          <a:p>
            <a:pPr marL="0" indent="0" algn="just">
              <a:buNone/>
            </a:pPr>
            <a:r>
              <a:rPr lang="en-US" sz="2800" b="1" dirty="0">
                <a:latin typeface="Times New Roman Regular" panose="02020603050405020304" charset="0"/>
                <a:cs typeface="Times New Roman Regular" panose="02020603050405020304" charset="0"/>
              </a:rPr>
              <a:t>How to Construct a Use Case:</a:t>
            </a:r>
          </a:p>
          <a:p>
            <a:pPr lvl="1" algn="just"/>
            <a:r>
              <a:rPr lang="en-US" sz="2400" dirty="0">
                <a:latin typeface="Times New Roman Regular" panose="02020603050405020304" charset="0"/>
                <a:cs typeface="Times New Roman Regular" panose="02020603050405020304" charset="0"/>
              </a:rPr>
              <a:t>Written in the form of: </a:t>
            </a:r>
            <a:r>
              <a:rPr lang="en-US" sz="2400" b="1" i="1" dirty="0">
                <a:latin typeface="Times New Roman Regular" panose="02020603050405020304" charset="0"/>
                <a:cs typeface="Times New Roman Regular" panose="02020603050405020304" charset="0"/>
              </a:rPr>
              <a:t>Verb + Object</a:t>
            </a:r>
          </a:p>
          <a:p>
            <a:pPr lvl="1" algn="just"/>
            <a:r>
              <a:rPr lang="en-US" sz="2400" dirty="0">
                <a:latin typeface="Times New Roman Regular" panose="02020603050405020304" charset="0"/>
                <a:cs typeface="Times New Roman Regular" panose="02020603050405020304" charset="0"/>
              </a:rPr>
              <a:t>Descriptive Names</a:t>
            </a:r>
          </a:p>
          <a:p>
            <a:pPr marL="57150" indent="0" algn="just">
              <a:buNone/>
            </a:pPr>
            <a:r>
              <a:rPr lang="en-US" sz="2800" dirty="0">
                <a:latin typeface="Times New Roman Regular" panose="02020603050405020304" charset="0"/>
                <a:cs typeface="Times New Roman Regular" panose="02020603050405020304" charset="0"/>
                <a:hlinkClick r:id="rId2"/>
              </a:rPr>
              <a:t>Sample Use Cases</a:t>
            </a:r>
            <a:endParaRPr lang="en-US" sz="2800" dirty="0">
              <a:latin typeface="Times New Roman Regular" panose="02020603050405020304" charset="0"/>
              <a:cs typeface="Times New Roman Regular"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74B5D-1D71-0FAA-A7E8-1EC4F2827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A55B3-7FB1-A607-83FA-B0FE89320FC8}"/>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727567B1-0DE1-D1BC-1E87-58EA9A132459}"/>
              </a:ext>
            </a:extLst>
          </p:cNvPr>
          <p:cNvSpPr>
            <a:spLocks noGrp="1"/>
          </p:cNvSpPr>
          <p:nvPr>
            <p:ph idx="1"/>
          </p:nvPr>
        </p:nvSpPr>
        <p:spPr>
          <a:xfrm>
            <a:off x="457200" y="1600200"/>
            <a:ext cx="8229600" cy="4837176"/>
          </a:xfrm>
        </p:spPr>
        <p:txBody>
          <a:bodyPr>
            <a:normAutofit fontScale="92500" lnSpcReduction="10000"/>
          </a:bodyPr>
          <a:lstStyle/>
          <a:p>
            <a:pPr marL="0" indent="0" algn="just">
              <a:buNone/>
            </a:pPr>
            <a:r>
              <a:rPr lang="en-US" sz="2800" b="1" dirty="0">
                <a:latin typeface="Times New Roman Regular" panose="02020603050405020304" charset="0"/>
                <a:cs typeface="Times New Roman Regular" panose="02020603050405020304" charset="0"/>
              </a:rPr>
              <a:t>Actors in a Use Case: </a:t>
            </a:r>
            <a:r>
              <a:rPr lang="en-US" sz="2800" dirty="0">
                <a:latin typeface="Times New Roman Regular" panose="02020603050405020304" charset="0"/>
                <a:cs typeface="Times New Roman Regular" panose="02020603050405020304" charset="0"/>
              </a:rPr>
              <a:t>A use case describes a sequence of interactions between a </a:t>
            </a:r>
            <a:r>
              <a:rPr lang="en-US" sz="2800" b="1" i="1" dirty="0">
                <a:latin typeface="Times New Roman Regular" panose="02020603050405020304" charset="0"/>
                <a:cs typeface="Times New Roman Regular" panose="02020603050405020304" charset="0"/>
              </a:rPr>
              <a:t>system </a:t>
            </a:r>
            <a:r>
              <a:rPr lang="en-US" sz="2800" dirty="0">
                <a:latin typeface="Times New Roman Regular" panose="02020603050405020304" charset="0"/>
                <a:cs typeface="Times New Roman Regular" panose="02020603050405020304" charset="0"/>
              </a:rPr>
              <a:t>and an </a:t>
            </a:r>
            <a:r>
              <a:rPr lang="en-US" sz="2800" b="1" i="1" dirty="0">
                <a:latin typeface="Times New Roman Regular" panose="02020603050405020304" charset="0"/>
                <a:cs typeface="Times New Roman Regular" panose="02020603050405020304" charset="0"/>
              </a:rPr>
              <a:t>actor</a:t>
            </a:r>
            <a:endParaRPr lang="en-US" sz="2800" dirty="0">
              <a:latin typeface="Times New Roman Regular" panose="02020603050405020304" charset="0"/>
              <a:cs typeface="Times New Roman Regular" panose="02020603050405020304" charset="0"/>
            </a:endParaRPr>
          </a:p>
          <a:p>
            <a:pPr marL="0" indent="0" algn="just">
              <a:buNone/>
            </a:pPr>
            <a:r>
              <a:rPr lang="en-US" sz="2800" dirty="0">
                <a:latin typeface="Times New Roman Regular" panose="02020603050405020304" charset="0"/>
                <a:cs typeface="Times New Roman Regular" panose="02020603050405020304" charset="0"/>
              </a:rPr>
              <a:t>Therefore, an </a:t>
            </a:r>
            <a:r>
              <a:rPr lang="en-US" sz="2800" b="1" i="1" dirty="0">
                <a:latin typeface="Times New Roman Regular" panose="02020603050405020304" charset="0"/>
                <a:cs typeface="Times New Roman Regular" panose="02020603050405020304" charset="0"/>
              </a:rPr>
              <a:t>actor</a:t>
            </a:r>
            <a:r>
              <a:rPr lang="en-US" sz="2800" dirty="0">
                <a:latin typeface="Times New Roman Regular" panose="02020603050405020304" charset="0"/>
                <a:cs typeface="Times New Roman Regular" panose="02020603050405020304" charset="0"/>
              </a:rPr>
              <a:t> is a person or a system or hardware that interacts with a system to perform a use case</a:t>
            </a:r>
          </a:p>
          <a:p>
            <a:pPr marL="0" indent="0" algn="just">
              <a:buNone/>
            </a:pPr>
            <a:r>
              <a:rPr lang="en-US" sz="2800" b="1" dirty="0">
                <a:latin typeface="Times New Roman Regular" panose="02020603050405020304" charset="0"/>
                <a:cs typeface="Times New Roman Regular" panose="02020603050405020304" charset="0"/>
              </a:rPr>
              <a:t>How to Identify actors:</a:t>
            </a:r>
          </a:p>
          <a:p>
            <a:pPr algn="just"/>
            <a:r>
              <a:rPr lang="en-US" sz="2800" dirty="0">
                <a:latin typeface="Times New Roman" panose="02020603050405020304" pitchFamily="18" charset="0"/>
                <a:cs typeface="Times New Roman" panose="02020603050405020304" pitchFamily="18" charset="0"/>
              </a:rPr>
              <a:t>Who (or what) is notified when something occurs within the system? </a:t>
            </a:r>
          </a:p>
          <a:p>
            <a:pPr algn="just"/>
            <a:r>
              <a:rPr lang="en-US" sz="2800" dirty="0">
                <a:latin typeface="Times New Roman" panose="02020603050405020304" pitchFamily="18" charset="0"/>
                <a:cs typeface="Times New Roman" panose="02020603050405020304" pitchFamily="18" charset="0"/>
              </a:rPr>
              <a:t>Who (or what) provides information or services to the system? </a:t>
            </a:r>
          </a:p>
          <a:p>
            <a:pPr algn="just"/>
            <a:r>
              <a:rPr lang="en-US" sz="2800" dirty="0">
                <a:latin typeface="Times New Roman" panose="02020603050405020304" pitchFamily="18" charset="0"/>
                <a:cs typeface="Times New Roman" panose="02020603050405020304" pitchFamily="18" charset="0"/>
              </a:rPr>
              <a:t>Who (or what) helps the system respond to and complete a task?</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154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7ECF-5343-3C3F-B9D3-34BBD4BF9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DDED5-3A0C-81F8-AF6D-641E9DA6C57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2A5328A0-CA11-3DD9-6D92-7875E6DD59B2}"/>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Use Case Diagrams:</a:t>
            </a:r>
          </a:p>
          <a:p>
            <a:pPr marL="0" indent="0" algn="just">
              <a:buNone/>
            </a:pPr>
            <a:r>
              <a:rPr lang="en-US" sz="2800" dirty="0">
                <a:latin typeface="Times New Roman Regular" panose="02020603050405020304" charset="0"/>
                <a:cs typeface="Times New Roman Regular" panose="02020603050405020304" charset="0"/>
              </a:rPr>
              <a:t>A high-level representation of a use cases usually done using the </a:t>
            </a:r>
            <a:r>
              <a:rPr lang="en-US" sz="2800" b="1" i="1" dirty="0">
                <a:latin typeface="Times New Roman Regular" panose="02020603050405020304" charset="0"/>
                <a:cs typeface="Times New Roman Regular" panose="02020603050405020304" charset="0"/>
                <a:hlinkClick r:id="rId3"/>
              </a:rPr>
              <a:t>Unified Modelling Language</a:t>
            </a:r>
            <a:r>
              <a:rPr lang="en-US" sz="2800" b="1" i="1" dirty="0">
                <a:latin typeface="Times New Roman Regular" panose="02020603050405020304" charset="0"/>
                <a:cs typeface="Times New Roman Regular" panose="02020603050405020304" charset="0"/>
              </a:rPr>
              <a:t> </a:t>
            </a:r>
            <a:r>
              <a:rPr lang="en-US" sz="2800" dirty="0">
                <a:latin typeface="Times New Roman Regular" panose="02020603050405020304" charset="0"/>
                <a:cs typeface="Times New Roman Regular" panose="02020603050405020304" charset="0"/>
              </a:rPr>
              <a:t>(UML).</a:t>
            </a:r>
          </a:p>
          <a:p>
            <a:pPr marL="0" indent="0" algn="just">
              <a:buNone/>
            </a:pPr>
            <a:r>
              <a:rPr lang="en-US" sz="2800" b="1" dirty="0">
                <a:latin typeface="Times New Roman Regular" panose="02020603050405020304" charset="0"/>
                <a:cs typeface="Times New Roman Regular" panose="02020603050405020304" charset="0"/>
              </a:rPr>
              <a:t>Elements of a Use Case Diagram:</a:t>
            </a:r>
          </a:p>
          <a:p>
            <a:pPr marL="0" indent="0" algn="just">
              <a:buNone/>
            </a:pPr>
            <a:r>
              <a:rPr lang="en-US" sz="2800" i="1" dirty="0">
                <a:latin typeface="Times New Roman Regular" panose="02020603050405020304" charset="0"/>
                <a:cs typeface="Times New Roman Regular" panose="02020603050405020304" charset="0"/>
              </a:rPr>
              <a:t>Actors</a:t>
            </a: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r>
              <a:rPr lang="en-US" sz="2800" i="1" dirty="0">
                <a:latin typeface="Times New Roman Regular" panose="02020603050405020304" charset="0"/>
                <a:cs typeface="Times New Roman Regular" panose="02020603050405020304" charset="0"/>
              </a:rPr>
              <a:t>Use Case</a:t>
            </a:r>
          </a:p>
        </p:txBody>
      </p:sp>
      <p:pic>
        <p:nvPicPr>
          <p:cNvPr id="6" name="Picture 5">
            <a:extLst>
              <a:ext uri="{FF2B5EF4-FFF2-40B4-BE49-F238E27FC236}">
                <a16:creationId xmlns:a16="http://schemas.microsoft.com/office/drawing/2014/main" id="{86028130-7241-7439-13BC-31C283F27797}"/>
              </a:ext>
            </a:extLst>
          </p:cNvPr>
          <p:cNvPicPr>
            <a:picLocks noChangeAspect="1"/>
          </p:cNvPicPr>
          <p:nvPr/>
        </p:nvPicPr>
        <p:blipFill>
          <a:blip r:embed="rId4"/>
          <a:stretch>
            <a:fillRect/>
          </a:stretch>
        </p:blipFill>
        <p:spPr>
          <a:xfrm>
            <a:off x="1973357" y="3635990"/>
            <a:ext cx="907003" cy="1440534"/>
          </a:xfrm>
          <a:prstGeom prst="rect">
            <a:avLst/>
          </a:prstGeom>
        </p:spPr>
      </p:pic>
      <p:pic>
        <p:nvPicPr>
          <p:cNvPr id="7" name="Picture 6">
            <a:extLst>
              <a:ext uri="{FF2B5EF4-FFF2-40B4-BE49-F238E27FC236}">
                <a16:creationId xmlns:a16="http://schemas.microsoft.com/office/drawing/2014/main" id="{B28CE316-3FC6-83AB-AB82-BC539765792F}"/>
              </a:ext>
            </a:extLst>
          </p:cNvPr>
          <p:cNvPicPr>
            <a:picLocks noChangeAspect="1"/>
          </p:cNvPicPr>
          <p:nvPr/>
        </p:nvPicPr>
        <p:blipFill>
          <a:blip r:embed="rId5"/>
          <a:stretch>
            <a:fillRect/>
          </a:stretch>
        </p:blipFill>
        <p:spPr>
          <a:xfrm>
            <a:off x="2562606" y="5008054"/>
            <a:ext cx="2009394" cy="1439353"/>
          </a:xfrm>
          <a:prstGeom prst="rect">
            <a:avLst/>
          </a:prstGeom>
        </p:spPr>
      </p:pic>
    </p:spTree>
    <p:extLst>
      <p:ext uri="{BB962C8B-B14F-4D97-AF65-F5344CB8AC3E}">
        <p14:creationId xmlns:p14="http://schemas.microsoft.com/office/powerpoint/2010/main" val="409875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92EC-6B6A-1060-03FA-6AC30B59C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E5618-C147-6BC4-DC81-EFF1D12D1B4D}"/>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D2F9D9AB-CCC0-A2DE-EF76-09553C7FEB08}"/>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buNone/>
            </a:pPr>
            <a:r>
              <a:rPr lang="en-US" sz="2800" i="1" dirty="0">
                <a:latin typeface="Times New Roman Regular" panose="02020603050405020304" charset="0"/>
                <a:cs typeface="Times New Roman Regular" panose="02020603050405020304" charset="0"/>
              </a:rPr>
              <a:t>System Boundary</a:t>
            </a:r>
            <a:r>
              <a:rPr lang="en-US" sz="2800" dirty="0">
                <a:latin typeface="Times New Roman Regular" panose="02020603050405020304" charset="0"/>
                <a:cs typeface="Times New Roman Regular" panose="02020603050405020304" charset="0"/>
              </a:rPr>
              <a:t>: Defines the scope of the system being modelled. What is in the system.</a:t>
            </a:r>
          </a:p>
        </p:txBody>
      </p:sp>
      <p:sp>
        <p:nvSpPr>
          <p:cNvPr id="5" name="Rectangle 4">
            <a:extLst>
              <a:ext uri="{FF2B5EF4-FFF2-40B4-BE49-F238E27FC236}">
                <a16:creationId xmlns:a16="http://schemas.microsoft.com/office/drawing/2014/main" id="{E050DA3C-FFCE-F35D-52E3-8C4425E4FEBE}"/>
              </a:ext>
            </a:extLst>
          </p:cNvPr>
          <p:cNvSpPr/>
          <p:nvPr/>
        </p:nvSpPr>
        <p:spPr>
          <a:xfrm>
            <a:off x="1435608" y="3218688"/>
            <a:ext cx="1517904" cy="2258568"/>
          </a:xfrm>
          <a:prstGeom prst="rect">
            <a:avLst/>
          </a:prstGeom>
          <a:solidFill>
            <a:schemeClr val="bg1"/>
          </a:solidFill>
          <a:ln w="19050">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994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364B9-2FFF-07FE-182B-E0975C16D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4DDEF-E224-6069-39AE-00029970942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0F6041CE-0E66-AF95-21B6-764B6BDA7CD6}"/>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a:t>
            </a:r>
            <a:r>
              <a:rPr lang="en-US" sz="2800" b="1" dirty="0">
                <a:latin typeface="Times New Roman Regular" panose="02020603050405020304" charset="0"/>
                <a:cs typeface="Times New Roman Regular" panose="02020603050405020304" charset="0"/>
              </a:rPr>
              <a:t>direction</a:t>
            </a:r>
            <a:r>
              <a:rPr lang="en-US" sz="2800" dirty="0">
                <a:latin typeface="Times New Roman Regular" panose="02020603050405020304" charset="0"/>
                <a:cs typeface="Times New Roman Regular" panose="02020603050405020304" charset="0"/>
              </a:rPr>
              <a:t> or style.</a:t>
            </a:r>
          </a:p>
          <a:p>
            <a:pPr lvl="1" algn="just"/>
            <a:r>
              <a:rPr lang="en-US" sz="2400" b="1" dirty="0">
                <a:latin typeface="Times New Roman Regular" panose="02020603050405020304" charset="0"/>
                <a:cs typeface="Times New Roman Regular" panose="02020603050405020304" charset="0"/>
              </a:rPr>
              <a:t>Actor to Use Case</a:t>
            </a:r>
            <a:r>
              <a:rPr lang="en-US" sz="2400" dirty="0">
                <a:latin typeface="Times New Roman Regular" panose="02020603050405020304" charset="0"/>
                <a:cs typeface="Times New Roman Regular" panose="02020603050405020304" charset="0"/>
              </a:rPr>
              <a:t>: Indicates that the actor is the primary actor for that use case.</a:t>
            </a:r>
          </a:p>
          <a:p>
            <a:pPr marL="457200" lvl="1" indent="0" algn="just">
              <a:buNone/>
            </a:pPr>
            <a:endParaRPr lang="en-US" sz="2400" dirty="0">
              <a:latin typeface="Times New Roman Regular" panose="02020603050405020304" charset="0"/>
              <a:cs typeface="Times New Roman Regular" panose="02020603050405020304" charset="0"/>
            </a:endParaRPr>
          </a:p>
        </p:txBody>
      </p:sp>
      <p:pic>
        <p:nvPicPr>
          <p:cNvPr id="4" name="Picture 3">
            <a:extLst>
              <a:ext uri="{FF2B5EF4-FFF2-40B4-BE49-F238E27FC236}">
                <a16:creationId xmlns:a16="http://schemas.microsoft.com/office/drawing/2014/main" id="{5610C803-36C6-E602-204A-C45C546B4484}"/>
              </a:ext>
            </a:extLst>
          </p:cNvPr>
          <p:cNvPicPr>
            <a:picLocks noChangeAspect="1"/>
          </p:cNvPicPr>
          <p:nvPr/>
        </p:nvPicPr>
        <p:blipFill>
          <a:blip r:embed="rId3"/>
          <a:stretch>
            <a:fillRect/>
          </a:stretch>
        </p:blipFill>
        <p:spPr>
          <a:xfrm>
            <a:off x="2368296" y="3593594"/>
            <a:ext cx="4773168" cy="2287828"/>
          </a:xfrm>
          <a:prstGeom prst="rect">
            <a:avLst/>
          </a:prstGeom>
        </p:spPr>
      </p:pic>
    </p:spTree>
    <p:extLst>
      <p:ext uri="{BB962C8B-B14F-4D97-AF65-F5344CB8AC3E}">
        <p14:creationId xmlns:p14="http://schemas.microsoft.com/office/powerpoint/2010/main" val="418143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DFE7-EA36-4AF2-2FAA-9C306469A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1B76E-0DC4-B08A-1E88-4475C8CEAFC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A882CBE4-C694-AA76-A511-92340B82CC6C}"/>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a:t>
            </a:r>
            <a:r>
              <a:rPr lang="en-US" sz="2800" b="1" dirty="0">
                <a:latin typeface="Times New Roman Regular" panose="02020603050405020304" charset="0"/>
                <a:cs typeface="Times New Roman Regular" panose="02020603050405020304" charset="0"/>
              </a:rPr>
              <a:t>direction</a:t>
            </a:r>
            <a:r>
              <a:rPr lang="en-US" sz="2800" dirty="0">
                <a:latin typeface="Times New Roman Regular" panose="02020603050405020304" charset="0"/>
                <a:cs typeface="Times New Roman Regular" panose="02020603050405020304" charset="0"/>
              </a:rPr>
              <a:t> or style.</a:t>
            </a:r>
          </a:p>
          <a:p>
            <a:pPr lvl="1" algn="just"/>
            <a:r>
              <a:rPr lang="en-US" sz="2400" b="1" dirty="0">
                <a:latin typeface="Times New Roman Regular" panose="02020603050405020304" charset="0"/>
                <a:cs typeface="Times New Roman Regular" panose="02020603050405020304" charset="0"/>
              </a:rPr>
              <a:t>Use Case to Actor</a:t>
            </a:r>
            <a:r>
              <a:rPr lang="en-US" sz="2400" dirty="0">
                <a:latin typeface="Times New Roman Regular" panose="02020603050405020304" charset="0"/>
                <a:cs typeface="Times New Roman Regular" panose="02020603050405020304" charset="0"/>
              </a:rPr>
              <a:t>: Indicates a secondary actor who (</a:t>
            </a:r>
            <a:r>
              <a:rPr lang="en-US" sz="2400" i="1" dirty="0">
                <a:latin typeface="Times New Roman Regular" panose="02020603050405020304" charset="0"/>
                <a:cs typeface="Times New Roman Regular" panose="02020603050405020304" charset="0"/>
              </a:rPr>
              <a:t>human or other system</a:t>
            </a:r>
            <a:r>
              <a:rPr lang="en-US" sz="2400" dirty="0">
                <a:latin typeface="Times New Roman Regular" panose="02020603050405020304" charset="0"/>
                <a:cs typeface="Times New Roman Regular" panose="02020603050405020304" charset="0"/>
              </a:rPr>
              <a:t>) participates somehow in the successful execution of the use case.</a:t>
            </a:r>
          </a:p>
          <a:p>
            <a:pPr marL="457200" lvl="1" indent="0" algn="just">
              <a:buNone/>
            </a:pPr>
            <a:endParaRPr lang="en-US" sz="2400" dirty="0">
              <a:latin typeface="Times New Roman Regular" panose="02020603050405020304" charset="0"/>
              <a:cs typeface="Times New Roman Regular" panose="02020603050405020304" charset="0"/>
            </a:endParaRPr>
          </a:p>
        </p:txBody>
      </p:sp>
      <p:pic>
        <p:nvPicPr>
          <p:cNvPr id="5" name="Picture 4">
            <a:extLst>
              <a:ext uri="{FF2B5EF4-FFF2-40B4-BE49-F238E27FC236}">
                <a16:creationId xmlns:a16="http://schemas.microsoft.com/office/drawing/2014/main" id="{CAD3D76A-CBD1-DEDA-DC26-3D812D277980}"/>
              </a:ext>
            </a:extLst>
          </p:cNvPr>
          <p:cNvPicPr>
            <a:picLocks noChangeAspect="1"/>
          </p:cNvPicPr>
          <p:nvPr/>
        </p:nvPicPr>
        <p:blipFill>
          <a:blip r:embed="rId3"/>
          <a:stretch>
            <a:fillRect/>
          </a:stretch>
        </p:blipFill>
        <p:spPr>
          <a:xfrm>
            <a:off x="989235" y="4018788"/>
            <a:ext cx="7165529" cy="2231886"/>
          </a:xfrm>
          <a:prstGeom prst="rect">
            <a:avLst/>
          </a:prstGeom>
        </p:spPr>
      </p:pic>
    </p:spTree>
    <p:extLst>
      <p:ext uri="{BB962C8B-B14F-4D97-AF65-F5344CB8AC3E}">
        <p14:creationId xmlns:p14="http://schemas.microsoft.com/office/powerpoint/2010/main" val="1350881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377F9-6F4A-C86E-5C5D-BC97B2CE3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5D51E-4D23-BD8D-FEC1-F883821DB88F}"/>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D1244BB4-CEBE-10BA-2FFA-6C7CE13B3380}"/>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direction or </a:t>
            </a:r>
            <a:r>
              <a:rPr lang="en-US" sz="2800" b="1" dirty="0">
                <a:latin typeface="Times New Roman Regular" panose="02020603050405020304" charset="0"/>
                <a:cs typeface="Times New Roman Regular" panose="02020603050405020304" charset="0"/>
              </a:rPr>
              <a:t>style</a:t>
            </a:r>
            <a:r>
              <a:rPr lang="en-US" sz="2800" dirty="0">
                <a:latin typeface="Times New Roman Regular" panose="02020603050405020304" charset="0"/>
                <a:cs typeface="Times New Roman Regular" panose="02020603050405020304" charset="0"/>
              </a:rPr>
              <a:t>.</a:t>
            </a:r>
          </a:p>
          <a:p>
            <a:pPr lvl="1" algn="just"/>
            <a:r>
              <a:rPr lang="en-US" sz="2400" b="1" dirty="0">
                <a:latin typeface="Times New Roman Regular" panose="02020603050405020304" charset="0"/>
                <a:cs typeface="Times New Roman Regular" panose="02020603050405020304" charset="0"/>
              </a:rPr>
              <a:t>Extend</a:t>
            </a:r>
            <a:r>
              <a:rPr lang="en-US" sz="2400" dirty="0">
                <a:latin typeface="Times New Roman Regular" panose="02020603050405020304" charset="0"/>
                <a:cs typeface="Times New Roman Regular" panose="02020603050405020304" charset="0"/>
              </a:rPr>
              <a:t>: Models a conditional relationship between two use cases whereby </a:t>
            </a:r>
            <a:r>
              <a:rPr lang="en-US" sz="2400" b="1" i="1" dirty="0">
                <a:latin typeface="Times New Roman Regular" panose="02020603050405020304" charset="0"/>
                <a:cs typeface="Times New Roman Regular" panose="02020603050405020304" charset="0"/>
              </a:rPr>
              <a:t>use case B </a:t>
            </a:r>
            <a:r>
              <a:rPr lang="en-US" sz="2400" dirty="0">
                <a:latin typeface="Times New Roman Regular" panose="02020603050405020304" charset="0"/>
                <a:cs typeface="Times New Roman Regular" panose="02020603050405020304" charset="0"/>
              </a:rPr>
              <a:t>extends the normal flow of </a:t>
            </a:r>
            <a:r>
              <a:rPr lang="en-US" sz="2400" b="1" i="1" dirty="0">
                <a:latin typeface="Times New Roman Regular" panose="02020603050405020304" charset="0"/>
                <a:cs typeface="Times New Roman Regular" panose="02020603050405020304" charset="0"/>
              </a:rPr>
              <a:t>use case A</a:t>
            </a:r>
            <a:r>
              <a:rPr lang="en-US" sz="2400" dirty="0">
                <a:latin typeface="Times New Roman Regular" panose="02020603050405020304" charset="0"/>
                <a:cs typeface="Times New Roman Regular" panose="02020603050405020304" charset="0"/>
              </a:rPr>
              <a:t> (note the direction of the arrow)</a:t>
            </a:r>
          </a:p>
          <a:p>
            <a:pPr marL="457200" lvl="1" indent="0" algn="just">
              <a:buNone/>
            </a:pPr>
            <a:endParaRPr lang="en-US" sz="2400" b="1" i="1" dirty="0">
              <a:latin typeface="Times New Roman Regular" panose="02020603050405020304" charset="0"/>
              <a:cs typeface="Times New Roman Regular" panose="02020603050405020304" charset="0"/>
            </a:endParaRPr>
          </a:p>
        </p:txBody>
      </p:sp>
      <p:pic>
        <p:nvPicPr>
          <p:cNvPr id="8" name="Picture 7">
            <a:extLst>
              <a:ext uri="{FF2B5EF4-FFF2-40B4-BE49-F238E27FC236}">
                <a16:creationId xmlns:a16="http://schemas.microsoft.com/office/drawing/2014/main" id="{39188CFC-1D11-1DB8-B3C3-103C5A29C5EA}"/>
              </a:ext>
            </a:extLst>
          </p:cNvPr>
          <p:cNvPicPr>
            <a:picLocks noChangeAspect="1"/>
          </p:cNvPicPr>
          <p:nvPr/>
        </p:nvPicPr>
        <p:blipFill>
          <a:blip r:embed="rId3"/>
          <a:stretch>
            <a:fillRect/>
          </a:stretch>
        </p:blipFill>
        <p:spPr>
          <a:xfrm>
            <a:off x="1143000" y="4200104"/>
            <a:ext cx="6857999" cy="1822784"/>
          </a:xfrm>
          <a:prstGeom prst="rect">
            <a:avLst/>
          </a:prstGeom>
        </p:spPr>
      </p:pic>
    </p:spTree>
    <p:extLst>
      <p:ext uri="{BB962C8B-B14F-4D97-AF65-F5344CB8AC3E}">
        <p14:creationId xmlns:p14="http://schemas.microsoft.com/office/powerpoint/2010/main" val="114133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2005-7940-7773-CEDD-838BA29C2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25397-DFE4-103A-4786-263EA8192320}"/>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 Cases</a:t>
            </a:r>
          </a:p>
        </p:txBody>
      </p:sp>
      <p:sp>
        <p:nvSpPr>
          <p:cNvPr id="3" name="Content Placeholder 2">
            <a:extLst>
              <a:ext uri="{FF2B5EF4-FFF2-40B4-BE49-F238E27FC236}">
                <a16:creationId xmlns:a16="http://schemas.microsoft.com/office/drawing/2014/main" id="{1D34267A-3697-C363-A727-31A16A4487ED}"/>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Elements of a Use Case Diagram (</a:t>
            </a:r>
            <a:r>
              <a:rPr lang="en-US" sz="2800" b="1" dirty="0" err="1">
                <a:latin typeface="Times New Roman Regular" panose="02020603050405020304" charset="0"/>
                <a:cs typeface="Times New Roman Regular" panose="02020603050405020304" charset="0"/>
              </a:rPr>
              <a:t>Cont</a:t>
            </a:r>
            <a:r>
              <a:rPr lang="en-US" sz="2800" b="1" dirty="0">
                <a:latin typeface="Times New Roman Regular" panose="02020603050405020304" charset="0"/>
                <a:cs typeface="Times New Roman Regular" panose="02020603050405020304" charset="0"/>
              </a:rPr>
              <a:t>…):</a:t>
            </a:r>
          </a:p>
          <a:p>
            <a:pPr marL="0" indent="0" algn="just">
              <a:buNone/>
            </a:pPr>
            <a:r>
              <a:rPr lang="en-US" sz="2800" i="1" dirty="0">
                <a:latin typeface="Times New Roman Regular" panose="02020603050405020304" charset="0"/>
                <a:cs typeface="Times New Roman Regular" panose="02020603050405020304" charset="0"/>
              </a:rPr>
              <a:t>Arrows</a:t>
            </a:r>
            <a:r>
              <a:rPr lang="en-US" sz="2800" dirty="0">
                <a:latin typeface="Times New Roman Regular" panose="02020603050405020304" charset="0"/>
                <a:cs typeface="Times New Roman Regular" panose="02020603050405020304" charset="0"/>
              </a:rPr>
              <a:t>: Serve a number of purposes depending on its direction or </a:t>
            </a:r>
            <a:r>
              <a:rPr lang="en-US" sz="2800" b="1" dirty="0">
                <a:latin typeface="Times New Roman Regular" panose="02020603050405020304" charset="0"/>
                <a:cs typeface="Times New Roman Regular" panose="02020603050405020304" charset="0"/>
              </a:rPr>
              <a:t>style</a:t>
            </a:r>
            <a:r>
              <a:rPr lang="en-US" sz="2800" dirty="0">
                <a:latin typeface="Times New Roman Regular" panose="02020603050405020304" charset="0"/>
                <a:cs typeface="Times New Roman Regular" panose="02020603050405020304" charset="0"/>
              </a:rPr>
              <a:t>.</a:t>
            </a:r>
          </a:p>
          <a:p>
            <a:pPr lvl="1" algn="just"/>
            <a:r>
              <a:rPr lang="en-US" sz="2400" b="1" dirty="0">
                <a:latin typeface="Times New Roman Regular" panose="02020603050405020304" charset="0"/>
                <a:cs typeface="Times New Roman Regular" panose="02020603050405020304" charset="0"/>
              </a:rPr>
              <a:t>Include</a:t>
            </a:r>
            <a:r>
              <a:rPr lang="en-US" sz="2400" dirty="0">
                <a:latin typeface="Times New Roman Regular" panose="02020603050405020304" charset="0"/>
                <a:cs typeface="Times New Roman Regular" panose="02020603050405020304" charset="0"/>
              </a:rPr>
              <a:t>: </a:t>
            </a:r>
            <a:r>
              <a:rPr lang="en-US" sz="2400" dirty="0">
                <a:latin typeface="Times New Roman" panose="02020603050405020304" pitchFamily="18" charset="0"/>
                <a:cs typeface="Times New Roman" panose="02020603050405020304" pitchFamily="18" charset="0"/>
              </a:rPr>
              <a:t>Models a relationship where a base use case explicitly incorporates the behavior of another use case at a specified point.</a:t>
            </a:r>
          </a:p>
          <a:p>
            <a:pPr marL="457200" lvl="1" indent="0" algn="just">
              <a:buNone/>
            </a:pPr>
            <a:endParaRPr lang="en-US" sz="2400" b="1" i="1" dirty="0">
              <a:latin typeface="Times New Roman Regular" panose="02020603050405020304" charset="0"/>
              <a:cs typeface="Times New Roman Regular" panose="02020603050405020304" charset="0"/>
            </a:endParaRPr>
          </a:p>
        </p:txBody>
      </p:sp>
      <p:pic>
        <p:nvPicPr>
          <p:cNvPr id="4" name="Picture 3">
            <a:extLst>
              <a:ext uri="{FF2B5EF4-FFF2-40B4-BE49-F238E27FC236}">
                <a16:creationId xmlns:a16="http://schemas.microsoft.com/office/drawing/2014/main" id="{B449D34E-E347-CB10-5B60-61ED5D2F9D32}"/>
              </a:ext>
            </a:extLst>
          </p:cNvPr>
          <p:cNvPicPr>
            <a:picLocks noChangeAspect="1"/>
          </p:cNvPicPr>
          <p:nvPr/>
        </p:nvPicPr>
        <p:blipFill>
          <a:blip r:embed="rId3"/>
          <a:stretch>
            <a:fillRect/>
          </a:stretch>
        </p:blipFill>
        <p:spPr>
          <a:xfrm>
            <a:off x="2862072" y="3673267"/>
            <a:ext cx="5111496" cy="3184733"/>
          </a:xfrm>
          <a:prstGeom prst="rect">
            <a:avLst/>
          </a:prstGeom>
        </p:spPr>
      </p:pic>
    </p:spTree>
    <p:extLst>
      <p:ext uri="{BB962C8B-B14F-4D97-AF65-F5344CB8AC3E}">
        <p14:creationId xmlns:p14="http://schemas.microsoft.com/office/powerpoint/2010/main" val="217588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CA535-B9DE-8378-4BD9-F762E95FE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E429C-2B07-9043-DB19-F2921E687FFE}"/>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sp>
        <p:nvSpPr>
          <p:cNvPr id="3" name="Content Placeholder 2">
            <a:extLst>
              <a:ext uri="{FF2B5EF4-FFF2-40B4-BE49-F238E27FC236}">
                <a16:creationId xmlns:a16="http://schemas.microsoft.com/office/drawing/2014/main" id="{BC0C00C7-33CE-8C6D-0BB7-8D44DEFB7C99}"/>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What is a User Story?</a:t>
            </a:r>
          </a:p>
          <a:p>
            <a:pPr marL="0" indent="0" algn="just">
              <a:buNone/>
            </a:pPr>
            <a:r>
              <a:rPr lang="en-US" sz="2800" dirty="0">
                <a:latin typeface="Times New Roman Regular" panose="02020603050405020304" charset="0"/>
                <a:cs typeface="Times New Roman Regular" panose="02020603050405020304" charset="0"/>
              </a:rPr>
              <a:t>	A user story is a description of functionality that will be valuable to a user or buyer of a system or software.</a:t>
            </a:r>
          </a:p>
          <a:p>
            <a:pPr marL="0" indent="0" algn="just">
              <a:buNone/>
            </a:pPr>
            <a:r>
              <a:rPr lang="en-US" sz="2800" dirty="0">
                <a:latin typeface="Times New Roman Regular" panose="02020603050405020304" charset="0"/>
                <a:cs typeface="Times New Roman Regular" panose="02020603050405020304" charset="0"/>
              </a:rPr>
              <a:t>	It is an </a:t>
            </a:r>
            <a:r>
              <a:rPr lang="en-US" sz="2800" i="1" dirty="0">
                <a:latin typeface="Times New Roman Regular" panose="02020603050405020304" charset="0"/>
                <a:cs typeface="Times New Roman Regular" panose="02020603050405020304" charset="0"/>
              </a:rPr>
              <a:t>informal</a:t>
            </a:r>
            <a:r>
              <a:rPr lang="en-US" sz="2800" dirty="0">
                <a:latin typeface="Times New Roman Regular" panose="02020603050405020304" charset="0"/>
                <a:cs typeface="Times New Roman Regular" panose="02020603050405020304" charset="0"/>
              </a:rPr>
              <a:t> description of a software feature written from an end-user’s perspective. The goal of a user story is to articulate how a software feature will deliver value back to the customers.</a:t>
            </a:r>
          </a:p>
          <a:p>
            <a:pPr marL="0" indent="0" algn="just">
              <a:buNone/>
            </a:pPr>
            <a:r>
              <a:rPr lang="en-US" sz="2800" dirty="0">
                <a:latin typeface="Times New Roman Regular" panose="02020603050405020304" charset="0"/>
                <a:cs typeface="Times New Roman Regular" panose="02020603050405020304" charset="0"/>
              </a:rPr>
              <a:t>	It can also be seen as the smallest unit of work in an Agile framework.</a:t>
            </a:r>
          </a:p>
        </p:txBody>
      </p:sp>
    </p:spTree>
    <p:extLst>
      <p:ext uri="{BB962C8B-B14F-4D97-AF65-F5344CB8AC3E}">
        <p14:creationId xmlns:p14="http://schemas.microsoft.com/office/powerpoint/2010/main" val="383002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20F70-6A46-B3F1-E9E1-B2EA23879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D5BEE-B78D-7C3C-B922-59492F54504D}"/>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sp>
        <p:nvSpPr>
          <p:cNvPr id="3" name="Content Placeholder 2">
            <a:extLst>
              <a:ext uri="{FF2B5EF4-FFF2-40B4-BE49-F238E27FC236}">
                <a16:creationId xmlns:a16="http://schemas.microsoft.com/office/drawing/2014/main" id="{ED3B19B2-0F88-9E9C-D36C-23E3C9CE9D52}"/>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The Three C’s of User Stories</a:t>
            </a:r>
          </a:p>
          <a:p>
            <a:pPr marL="0" indent="0" algn="just">
              <a:buNone/>
            </a:pPr>
            <a:endParaRPr lang="en-US" sz="2800" dirty="0">
              <a:latin typeface="Times New Roman Regular" panose="02020603050405020304" charset="0"/>
              <a:cs typeface="Times New Roman Regular" panose="02020603050405020304" charset="0"/>
            </a:endParaRPr>
          </a:p>
        </p:txBody>
      </p:sp>
      <p:grpSp>
        <p:nvGrpSpPr>
          <p:cNvPr id="6" name="Group 5">
            <a:extLst>
              <a:ext uri="{FF2B5EF4-FFF2-40B4-BE49-F238E27FC236}">
                <a16:creationId xmlns:a16="http://schemas.microsoft.com/office/drawing/2014/main" id="{188731C1-B56E-66B0-64DF-95A7616F3573}"/>
              </a:ext>
            </a:extLst>
          </p:cNvPr>
          <p:cNvGrpSpPr/>
          <p:nvPr/>
        </p:nvGrpSpPr>
        <p:grpSpPr>
          <a:xfrm>
            <a:off x="457200" y="2215728"/>
            <a:ext cx="2935225" cy="3054788"/>
            <a:chOff x="457200" y="2215728"/>
            <a:chExt cx="2935225" cy="3054788"/>
          </a:xfrm>
        </p:grpSpPr>
        <p:pic>
          <p:nvPicPr>
            <p:cNvPr id="4" name="Picture 3" descr="Code never lies, but comments sometimes do.&quot; ~Ron Jeffries  https://t.co/WKFk8mRJ2n">
              <a:extLst>
                <a:ext uri="{FF2B5EF4-FFF2-40B4-BE49-F238E27FC236}">
                  <a16:creationId xmlns:a16="http://schemas.microsoft.com/office/drawing/2014/main" id="{155EBFFE-2602-1A8C-3569-76FA2FF5C773}"/>
                </a:ext>
              </a:extLst>
            </p:cNvPr>
            <p:cNvPicPr>
              <a:picLocks noChangeAspect="1"/>
            </p:cNvPicPr>
            <p:nvPr/>
          </p:nvPicPr>
          <p:blipFill>
            <a:blip r:embed="rId3"/>
            <a:srcRect r="40685"/>
            <a:stretch>
              <a:fillRect/>
            </a:stretch>
          </p:blipFill>
          <p:spPr>
            <a:xfrm>
              <a:off x="539497" y="2215728"/>
              <a:ext cx="2852928" cy="2685456"/>
            </a:xfrm>
            <a:prstGeom prst="rect">
              <a:avLst/>
            </a:prstGeom>
          </p:spPr>
        </p:pic>
        <p:sp>
          <p:nvSpPr>
            <p:cNvPr id="5" name="TextBox 4">
              <a:extLst>
                <a:ext uri="{FF2B5EF4-FFF2-40B4-BE49-F238E27FC236}">
                  <a16:creationId xmlns:a16="http://schemas.microsoft.com/office/drawing/2014/main" id="{438B4044-24AD-E47E-47E3-45F7056293C7}"/>
                </a:ext>
              </a:extLst>
            </p:cNvPr>
            <p:cNvSpPr txBox="1"/>
            <p:nvPr/>
          </p:nvSpPr>
          <p:spPr>
            <a:xfrm>
              <a:off x="457200" y="4901184"/>
              <a:ext cx="285292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Ron Jeffries</a:t>
              </a:r>
            </a:p>
          </p:txBody>
        </p:sp>
      </p:grpSp>
      <p:sp>
        <p:nvSpPr>
          <p:cNvPr id="7" name="TextBox 6">
            <a:extLst>
              <a:ext uri="{FF2B5EF4-FFF2-40B4-BE49-F238E27FC236}">
                <a16:creationId xmlns:a16="http://schemas.microsoft.com/office/drawing/2014/main" id="{9EFB47A2-5F4E-1179-6D8A-80784DFDFD36}"/>
              </a:ext>
            </a:extLst>
          </p:cNvPr>
          <p:cNvSpPr txBox="1"/>
          <p:nvPr/>
        </p:nvSpPr>
        <p:spPr>
          <a:xfrm>
            <a:off x="3703320" y="2340864"/>
            <a:ext cx="4983480" cy="3477875"/>
          </a:xfrm>
          <a:prstGeom prst="rect">
            <a:avLst/>
          </a:prstGeom>
          <a:noFill/>
        </p:spPr>
        <p:txBody>
          <a:bodyPr wrap="square" rtlCol="0">
            <a:spAutoFit/>
          </a:bodyPr>
          <a:lstStyle/>
          <a:p>
            <a:pPr marL="285750" indent="-28575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Card: </a:t>
            </a:r>
            <a:r>
              <a:rPr lang="en-US" sz="2200" dirty="0">
                <a:latin typeface="Times New Roman" panose="02020603050405020304" pitchFamily="18" charset="0"/>
                <a:cs typeface="Times New Roman" panose="02020603050405020304" pitchFamily="18" charset="0"/>
              </a:rPr>
              <a:t>Usually, a physical note that captures the user’s intent with the system.</a:t>
            </a:r>
            <a:endParaRPr lang="en-US" sz="2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Conversation: </a:t>
            </a:r>
            <a:r>
              <a:rPr lang="en-US" sz="2200" dirty="0">
                <a:latin typeface="Times New Roman" panose="02020603050405020304" pitchFamily="18" charset="0"/>
                <a:cs typeface="Times New Roman" panose="02020603050405020304" pitchFamily="18" charset="0"/>
              </a:rPr>
              <a:t>Refers to the discussions between developers, stakeholders  and product owners to flesh out the details of cards.</a:t>
            </a:r>
            <a:endParaRPr lang="en-US" sz="2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Confirmation:</a:t>
            </a:r>
            <a:r>
              <a:rPr lang="en-US" sz="2200" dirty="0">
                <a:latin typeface="Times New Roman" panose="02020603050405020304" pitchFamily="18" charset="0"/>
                <a:cs typeface="Times New Roman" panose="02020603050405020304" pitchFamily="18" charset="0"/>
              </a:rPr>
              <a:t> The acceptance criteria that prove that a story is done and working as expected.</a:t>
            </a:r>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936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A2A6E-0C6D-1E2E-41AB-066F9D67B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CA003-EA24-0696-427D-3273646A5114}"/>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graphicFrame>
        <p:nvGraphicFramePr>
          <p:cNvPr id="8" name="Content Placeholder 7">
            <a:extLst>
              <a:ext uri="{FF2B5EF4-FFF2-40B4-BE49-F238E27FC236}">
                <a16:creationId xmlns:a16="http://schemas.microsoft.com/office/drawing/2014/main" id="{3B72A9AC-A27A-4BE0-4527-61CDED796272}"/>
              </a:ext>
            </a:extLst>
          </p:cNvPr>
          <p:cNvGraphicFramePr>
            <a:graphicFrameLocks noGrp="1"/>
          </p:cNvGraphicFramePr>
          <p:nvPr>
            <p:ph idx="1"/>
            <p:extLst>
              <p:ext uri="{D42A27DB-BD31-4B8C-83A1-F6EECF244321}">
                <p14:modId xmlns:p14="http://schemas.microsoft.com/office/powerpoint/2010/main" val="1412051014"/>
              </p:ext>
            </p:extLst>
          </p:nvPr>
        </p:nvGraphicFramePr>
        <p:xfrm>
          <a:off x="457200" y="1600200"/>
          <a:ext cx="4754880" cy="3002280"/>
        </p:xfrm>
        <a:graphic>
          <a:graphicData uri="http://schemas.openxmlformats.org/drawingml/2006/table">
            <a:tbl>
              <a:tblPr firstRow="1" bandRow="1">
                <a:effectLst>
                  <a:outerShdw blurRad="63500" sx="102000" sy="102000" algn="ctr" rotWithShape="0">
                    <a:prstClr val="black">
                      <a:alpha val="40000"/>
                    </a:prstClr>
                  </a:outerShdw>
                </a:effectLst>
                <a:tableStyleId>{2D5ABB26-0587-4C30-8999-92F81FD0307C}</a:tableStyleId>
              </a:tblPr>
              <a:tblGrid>
                <a:gridCol w="4754880">
                  <a:extLst>
                    <a:ext uri="{9D8B030D-6E8A-4147-A177-3AD203B41FA5}">
                      <a16:colId xmlns:a16="http://schemas.microsoft.com/office/drawing/2014/main" val="344095588"/>
                    </a:ext>
                  </a:extLst>
                </a:gridCol>
              </a:tblGrid>
              <a:tr h="3002280">
                <a:tc>
                  <a:txBody>
                    <a:bodyPr/>
                    <a:lstStyle/>
                    <a:p>
                      <a:r>
                        <a:rPr lang="en-US" dirty="0">
                          <a:latin typeface="Times New Roman" panose="02020603050405020304" pitchFamily="18" charset="0"/>
                          <a:cs typeface="Times New Roman" panose="02020603050405020304" pitchFamily="18" charset="0"/>
                        </a:rPr>
                        <a:t>As a &lt;particular user&gt;, I want to &lt;accomplish this task&gt; so that I can &lt;achieve this objective or goal&gt;.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Estimate: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Priority: </a:t>
                      </a:r>
                    </a:p>
                  </a:txBody>
                  <a:tcPr>
                    <a:lnL w="28575" cap="flat" cmpd="sng" algn="ctr">
                      <a:solidFill>
                        <a:schemeClr val="tx1">
                          <a:lumMod val="75000"/>
                          <a:lumOff val="25000"/>
                        </a:schemeClr>
                      </a:solid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75350180"/>
                  </a:ext>
                </a:extLst>
              </a:tr>
            </a:tbl>
          </a:graphicData>
        </a:graphic>
      </p:graphicFrame>
      <p:sp>
        <p:nvSpPr>
          <p:cNvPr id="9" name="Rectangle 8">
            <a:extLst>
              <a:ext uri="{FF2B5EF4-FFF2-40B4-BE49-F238E27FC236}">
                <a16:creationId xmlns:a16="http://schemas.microsoft.com/office/drawing/2014/main" id="{8E115DB3-0B35-599E-7989-EE257F3F7B0B}"/>
              </a:ext>
            </a:extLst>
          </p:cNvPr>
          <p:cNvSpPr/>
          <p:nvPr/>
        </p:nvSpPr>
        <p:spPr>
          <a:xfrm>
            <a:off x="1627632" y="2569464"/>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C95D6B-6382-2464-81D3-A95DC86FF331}"/>
              </a:ext>
            </a:extLst>
          </p:cNvPr>
          <p:cNvSpPr/>
          <p:nvPr/>
        </p:nvSpPr>
        <p:spPr>
          <a:xfrm>
            <a:off x="1627632" y="3630169"/>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1" name="Content Placeholder 7">
            <a:extLst>
              <a:ext uri="{FF2B5EF4-FFF2-40B4-BE49-F238E27FC236}">
                <a16:creationId xmlns:a16="http://schemas.microsoft.com/office/drawing/2014/main" id="{2B909DC9-0F53-7774-F179-6FB7562BBF26}"/>
              </a:ext>
            </a:extLst>
          </p:cNvPr>
          <p:cNvGraphicFramePr>
            <a:graphicFrameLocks/>
          </p:cNvGraphicFramePr>
          <p:nvPr>
            <p:extLst>
              <p:ext uri="{D42A27DB-BD31-4B8C-83A1-F6EECF244321}">
                <p14:modId xmlns:p14="http://schemas.microsoft.com/office/powerpoint/2010/main" val="2562629056"/>
              </p:ext>
            </p:extLst>
          </p:nvPr>
        </p:nvGraphicFramePr>
        <p:xfrm>
          <a:off x="2834640" y="2322069"/>
          <a:ext cx="4754880" cy="3002280"/>
        </p:xfrm>
        <a:graphic>
          <a:graphicData uri="http://schemas.openxmlformats.org/drawingml/2006/table">
            <a:tbl>
              <a:tblPr firstRow="1" bandRow="1">
                <a:effectLst>
                  <a:outerShdw blurRad="63500" sx="102000" sy="102000" algn="ctr" rotWithShape="0">
                    <a:prstClr val="black">
                      <a:alpha val="40000"/>
                    </a:prstClr>
                  </a:outerShdw>
                </a:effectLst>
                <a:tableStyleId>{2D5ABB26-0587-4C30-8999-92F81FD0307C}</a:tableStyleId>
              </a:tblPr>
              <a:tblGrid>
                <a:gridCol w="4754880">
                  <a:extLst>
                    <a:ext uri="{9D8B030D-6E8A-4147-A177-3AD203B41FA5}">
                      <a16:colId xmlns:a16="http://schemas.microsoft.com/office/drawing/2014/main" val="344095588"/>
                    </a:ext>
                  </a:extLst>
                </a:gridCol>
              </a:tblGrid>
              <a:tr h="3002280">
                <a:tc>
                  <a:txBody>
                    <a:bodyPr/>
                    <a:lstStyle/>
                    <a:p>
                      <a:r>
                        <a:rPr lang="en-US" dirty="0">
                          <a:latin typeface="Times New Roman" panose="02020603050405020304" pitchFamily="18" charset="0"/>
                          <a:cs typeface="Times New Roman" panose="02020603050405020304" pitchFamily="18" charset="0"/>
                        </a:rPr>
                        <a:t>As a </a:t>
                      </a:r>
                      <a:r>
                        <a:rPr lang="en-US" i="1" u="sng" dirty="0">
                          <a:latin typeface="Times New Roman" panose="02020603050405020304" pitchFamily="18" charset="0"/>
                          <a:cs typeface="Times New Roman" panose="02020603050405020304" pitchFamily="18" charset="0"/>
                        </a:rPr>
                        <a:t>student</a:t>
                      </a:r>
                      <a:r>
                        <a:rPr lang="en-US" dirty="0">
                          <a:latin typeface="Times New Roman" panose="02020603050405020304" pitchFamily="18" charset="0"/>
                          <a:cs typeface="Times New Roman" panose="02020603050405020304" pitchFamily="18" charset="0"/>
                        </a:rPr>
                        <a:t>, I want to </a:t>
                      </a:r>
                      <a:r>
                        <a:rPr lang="en-US" i="1" u="sng" dirty="0">
                          <a:latin typeface="Times New Roman" panose="02020603050405020304" pitchFamily="18" charset="0"/>
                          <a:cs typeface="Times New Roman" panose="02020603050405020304" pitchFamily="18" charset="0"/>
                        </a:rPr>
                        <a:t>download my transcript</a:t>
                      </a:r>
                      <a:r>
                        <a:rPr lang="en-US" dirty="0">
                          <a:latin typeface="Times New Roman" panose="02020603050405020304" pitchFamily="18" charset="0"/>
                          <a:cs typeface="Times New Roman" panose="02020603050405020304" pitchFamily="18" charset="0"/>
                        </a:rPr>
                        <a:t> so that I can </a:t>
                      </a:r>
                      <a:r>
                        <a:rPr lang="en-US" i="1" u="sng" dirty="0">
                          <a:latin typeface="Times New Roman" panose="02020603050405020304" pitchFamily="18" charset="0"/>
                          <a:cs typeface="Times New Roman" panose="02020603050405020304" pitchFamily="18" charset="0"/>
                        </a:rPr>
                        <a:t>have a digital copy of my transcript</a:t>
                      </a:r>
                      <a:r>
                        <a:rPr lang="en-US" i="0" u="none"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Estimate: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Priority: </a:t>
                      </a:r>
                    </a:p>
                  </a:txBody>
                  <a:tcPr>
                    <a:lnL w="28575" cap="flat" cmpd="sng" algn="ctr">
                      <a:solidFill>
                        <a:schemeClr val="tx1">
                          <a:lumMod val="75000"/>
                          <a:lumOff val="25000"/>
                        </a:schemeClr>
                      </a:solidFill>
                      <a:prstDash val="solid"/>
                      <a:round/>
                      <a:headEnd type="none" w="med" len="med"/>
                      <a:tailEnd type="none" w="med" len="med"/>
                    </a:lnL>
                    <a:lnR w="28575" cap="flat" cmpd="sng" algn="ctr">
                      <a:solidFill>
                        <a:schemeClr val="tx1">
                          <a:lumMod val="75000"/>
                          <a:lumOff val="25000"/>
                        </a:schemeClr>
                      </a:solidFill>
                      <a:prstDash val="solid"/>
                      <a:round/>
                      <a:headEnd type="none" w="med" len="med"/>
                      <a:tailEnd type="none" w="med" len="med"/>
                    </a:lnR>
                    <a:lnT w="28575" cap="flat" cmpd="sng" algn="ctr">
                      <a:solidFill>
                        <a:schemeClr val="tx1">
                          <a:lumMod val="75000"/>
                          <a:lumOff val="25000"/>
                        </a:schemeClr>
                      </a:solidFill>
                      <a:prstDash val="solid"/>
                      <a:round/>
                      <a:headEnd type="none" w="med" len="med"/>
                      <a:tailEnd type="none" w="med" len="med"/>
                    </a:lnT>
                    <a:lnB w="285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075350180"/>
                  </a:ext>
                </a:extLst>
              </a:tr>
            </a:tbl>
          </a:graphicData>
        </a:graphic>
      </p:graphicFrame>
      <p:sp>
        <p:nvSpPr>
          <p:cNvPr id="12" name="Rectangle 11">
            <a:extLst>
              <a:ext uri="{FF2B5EF4-FFF2-40B4-BE49-F238E27FC236}">
                <a16:creationId xmlns:a16="http://schemas.microsoft.com/office/drawing/2014/main" id="{85D18B0B-CCC9-4329-7B07-DF332C96F047}"/>
              </a:ext>
            </a:extLst>
          </p:cNvPr>
          <p:cNvSpPr/>
          <p:nvPr/>
        </p:nvSpPr>
        <p:spPr>
          <a:xfrm>
            <a:off x="3931920" y="2971801"/>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ECDA12A-60BB-BCDD-F284-C80FDBE382B9}"/>
              </a:ext>
            </a:extLst>
          </p:cNvPr>
          <p:cNvSpPr/>
          <p:nvPr/>
        </p:nvSpPr>
        <p:spPr>
          <a:xfrm>
            <a:off x="3931920" y="4101083"/>
            <a:ext cx="1078992" cy="658368"/>
          </a:xfrm>
          <a:prstGeom prst="rect">
            <a:avLst/>
          </a:pr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771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14E25-59D2-A814-3503-FEC99B0D93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0AB94-1DD3-4434-1FF0-EB22F8946F6E}"/>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a:t>
            </a:r>
          </a:p>
        </p:txBody>
      </p:sp>
      <p:sp>
        <p:nvSpPr>
          <p:cNvPr id="3" name="Content Placeholder 2">
            <a:extLst>
              <a:ext uri="{FF2B5EF4-FFF2-40B4-BE49-F238E27FC236}">
                <a16:creationId xmlns:a16="http://schemas.microsoft.com/office/drawing/2014/main" id="{0F7599BD-28F6-D63A-ACC8-2AD8E5917726}"/>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The Three C’s at Work</a:t>
            </a:r>
          </a:p>
          <a:p>
            <a:pPr marL="0" indent="0" algn="just">
              <a:buNone/>
            </a:pPr>
            <a:r>
              <a:rPr lang="en-US" sz="2400" dirty="0">
                <a:latin typeface="Times New Roman Regular" panose="02020603050405020304" charset="0"/>
                <a:cs typeface="Times New Roman Regular" panose="02020603050405020304" charset="0"/>
              </a:rPr>
              <a:t>	1. </a:t>
            </a:r>
            <a:r>
              <a:rPr lang="en-US" sz="2400" b="1" i="1" dirty="0">
                <a:latin typeface="Times New Roman Regular" panose="02020603050405020304" charset="0"/>
                <a:cs typeface="Times New Roman Regular" panose="02020603050405020304" charset="0"/>
              </a:rPr>
              <a:t>Create the card</a:t>
            </a:r>
            <a:r>
              <a:rPr lang="en-US" sz="2400" dirty="0">
                <a:latin typeface="Times New Roman Regular" panose="02020603050405020304" charset="0"/>
                <a:cs typeface="Times New Roman Regular" panose="02020603050405020304" charset="0"/>
              </a:rPr>
              <a:t>: Write out user stories on physical cards or 	digitally. Keep them simple, no technical details, capture 	everything from the user’s perspective.</a:t>
            </a:r>
          </a:p>
          <a:p>
            <a:pPr marL="0" indent="0" algn="just">
              <a:buNone/>
            </a:pPr>
            <a:r>
              <a:rPr lang="en-US" sz="2400" dirty="0">
                <a:latin typeface="Times New Roman Regular" panose="02020603050405020304" charset="0"/>
                <a:cs typeface="Times New Roman Regular" panose="02020603050405020304" charset="0"/>
              </a:rPr>
              <a:t>	2. </a:t>
            </a:r>
            <a:r>
              <a:rPr lang="en-US" sz="2400" b="1" i="1" dirty="0">
                <a:latin typeface="Times New Roman Regular" panose="02020603050405020304" charset="0"/>
                <a:cs typeface="Times New Roman Regular" panose="02020603050405020304" charset="0"/>
              </a:rPr>
              <a:t>Engage in Conversations</a:t>
            </a:r>
            <a:r>
              <a:rPr lang="en-US" sz="2400" dirty="0">
                <a:latin typeface="Times New Roman Regular" panose="02020603050405020304" charset="0"/>
                <a:cs typeface="Times New Roman Regular" panose="02020603050405020304" charset="0"/>
              </a:rPr>
              <a:t>: Discuss each card with 	stakeholders and clarify any uncertainties you might have 	about the user stories on the cards.</a:t>
            </a:r>
            <a:endParaRPr lang="en-US" sz="2400" b="1" i="1" dirty="0">
              <a:latin typeface="Times New Roman Regular" panose="02020603050405020304" charset="0"/>
              <a:cs typeface="Times New Roman Regular" panose="02020603050405020304" charset="0"/>
            </a:endParaRPr>
          </a:p>
          <a:p>
            <a:pPr marL="0" indent="0" algn="just">
              <a:buNone/>
            </a:pPr>
            <a:r>
              <a:rPr lang="en-US" sz="2400" dirty="0">
                <a:latin typeface="Times New Roman Regular" panose="02020603050405020304" charset="0"/>
                <a:cs typeface="Times New Roman Regular" panose="02020603050405020304" charset="0"/>
              </a:rPr>
              <a:t>	3. </a:t>
            </a:r>
            <a:r>
              <a:rPr lang="en-US" sz="2400" b="1" i="1" dirty="0">
                <a:latin typeface="Times New Roman Regular" panose="02020603050405020304" charset="0"/>
                <a:cs typeface="Times New Roman Regular" panose="02020603050405020304" charset="0"/>
              </a:rPr>
              <a:t>Define Confirmation Criteria</a:t>
            </a:r>
            <a:r>
              <a:rPr lang="en-US" sz="2400" dirty="0">
                <a:latin typeface="Times New Roman Regular" panose="02020603050405020304" charset="0"/>
                <a:cs typeface="Times New Roman Regular" panose="02020603050405020304" charset="0"/>
              </a:rPr>
              <a:t>: Have guidelines that clearly 	define what it means for each user story to be “</a:t>
            </a:r>
            <a:r>
              <a:rPr lang="en-US" sz="2400" b="1" i="1" dirty="0">
                <a:latin typeface="Times New Roman Regular" panose="02020603050405020304" charset="0"/>
                <a:cs typeface="Times New Roman Regular" panose="02020603050405020304" charset="0"/>
              </a:rPr>
              <a:t>done</a:t>
            </a:r>
            <a:r>
              <a:rPr lang="en-US" sz="2400" dirty="0">
                <a:latin typeface="Times New Roman Regular" panose="02020603050405020304" charset="0"/>
                <a:cs typeface="Times New Roman Regular" panose="02020603050405020304" charset="0"/>
              </a:rPr>
              <a:t>”. This is 	your checklist for the validity of the work done on a user 	story.</a:t>
            </a:r>
            <a:endParaRPr lang="en-US" sz="2400" b="1" i="1" dirty="0">
              <a:latin typeface="Times New Roman Regular" panose="02020603050405020304" charset="0"/>
              <a:cs typeface="Times New Roman Regular" panose="02020603050405020304" charset="0"/>
            </a:endParaRPr>
          </a:p>
          <a:p>
            <a:pPr marL="0" indent="0" algn="just">
              <a:buNone/>
            </a:pPr>
            <a:endParaRPr lang="en-US" sz="2800"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4275651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3CC5-181B-0395-4986-E2C5998DE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25127-DA95-CD43-21A0-7D466A375F15}"/>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A3A6FEA9-337D-4A42-0135-047E3C3FA61D}"/>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I</a:t>
            </a:r>
            <a:r>
              <a:rPr lang="en-US" sz="2800" dirty="0">
                <a:latin typeface="Times New Roman Regular" panose="02020603050405020304" charset="0"/>
                <a:cs typeface="Times New Roman Regular" panose="02020603050405020304" charset="0"/>
              </a:rPr>
              <a:t>.N.V.E.S.T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I</a:t>
            </a:r>
            <a:r>
              <a:rPr lang="en-US" sz="2800" i="1" dirty="0">
                <a:latin typeface="Times New Roman Regular" panose="02020603050405020304" charset="0"/>
                <a:cs typeface="Times New Roman Regular" panose="02020603050405020304" charset="0"/>
              </a:rPr>
              <a:t>ndependent</a:t>
            </a:r>
            <a:r>
              <a:rPr lang="en-US" sz="2800" dirty="0">
                <a:latin typeface="Times New Roman Regular" panose="02020603050405020304" charset="0"/>
                <a:cs typeface="Times New Roman Regular" panose="02020603050405020304" charset="0"/>
              </a:rPr>
              <a:t>: A user story should be able to stand on 	its own and not have dependencies with other stories. 	One should be able to develop and test each user 	story independently.</a:t>
            </a:r>
            <a:endParaRPr lang="en-US" sz="2800" i="1"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F01EF961-DD56-6E92-7F2C-730A350BA706}"/>
              </a:ext>
            </a:extLst>
          </p:cNvPr>
          <p:cNvGraphicFramePr>
            <a:graphicFrameLocks noGrp="1"/>
          </p:cNvGraphicFramePr>
          <p:nvPr>
            <p:extLst>
              <p:ext uri="{D42A27DB-BD31-4B8C-83A1-F6EECF244321}">
                <p14:modId xmlns:p14="http://schemas.microsoft.com/office/powerpoint/2010/main" val="2938668172"/>
              </p:ext>
            </p:extLst>
          </p:nvPr>
        </p:nvGraphicFramePr>
        <p:xfrm>
          <a:off x="1030224" y="4035044"/>
          <a:ext cx="6096000" cy="1005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register for courses, pay my tuition fees, and receive my class timetable so that I can begin the semester.</a:t>
                      </a:r>
                    </a:p>
                  </a:txBody>
                  <a:tcPr>
                    <a:lnL w="76200" cap="flat" cmpd="sng" algn="ctr">
                      <a:solidFill>
                        <a:schemeClr val="accent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5" name="Table 4">
            <a:extLst>
              <a:ext uri="{FF2B5EF4-FFF2-40B4-BE49-F238E27FC236}">
                <a16:creationId xmlns:a16="http://schemas.microsoft.com/office/drawing/2014/main" id="{339ACA36-7327-ED18-8C8F-5EC13CDBAD26}"/>
              </a:ext>
            </a:extLst>
          </p:cNvPr>
          <p:cNvGraphicFramePr>
            <a:graphicFrameLocks noGrp="1"/>
          </p:cNvGraphicFramePr>
          <p:nvPr>
            <p:extLst>
              <p:ext uri="{D42A27DB-BD31-4B8C-83A1-F6EECF244321}">
                <p14:modId xmlns:p14="http://schemas.microsoft.com/office/powerpoint/2010/main" val="3414363703"/>
              </p:ext>
            </p:extLst>
          </p:nvPr>
        </p:nvGraphicFramePr>
        <p:xfrm>
          <a:off x="457200" y="3745643"/>
          <a:ext cx="6096000" cy="70104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6096000">
                  <a:extLst>
                    <a:ext uri="{9D8B030D-6E8A-4147-A177-3AD203B41FA5}">
                      <a16:colId xmlns:a16="http://schemas.microsoft.com/office/drawing/2014/main" val="793038940"/>
                    </a:ext>
                  </a:extLst>
                </a:gridCol>
              </a:tblGrid>
              <a:tr h="36595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pay my tuition fees online so that I can meet my financial obligations.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DAD49999-83F0-AC7E-93EF-254CB2582945}"/>
              </a:ext>
            </a:extLst>
          </p:cNvPr>
          <p:cNvGraphicFramePr>
            <a:graphicFrameLocks noGrp="1"/>
          </p:cNvGraphicFramePr>
          <p:nvPr>
            <p:extLst>
              <p:ext uri="{D42A27DB-BD31-4B8C-83A1-F6EECF244321}">
                <p14:modId xmlns:p14="http://schemas.microsoft.com/office/powerpoint/2010/main" val="3108944901"/>
              </p:ext>
            </p:extLst>
          </p:nvPr>
        </p:nvGraphicFramePr>
        <p:xfrm>
          <a:off x="2221992" y="4537964"/>
          <a:ext cx="6096000" cy="100584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view my semester timetable after successful registration so that I know when my classes take place.</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7" name="Table 6">
            <a:extLst>
              <a:ext uri="{FF2B5EF4-FFF2-40B4-BE49-F238E27FC236}">
                <a16:creationId xmlns:a16="http://schemas.microsoft.com/office/drawing/2014/main" id="{EF4DC9E1-695B-1B5A-2B5D-20EEA94B94F6}"/>
              </a:ext>
            </a:extLst>
          </p:cNvPr>
          <p:cNvGraphicFramePr>
            <a:graphicFrameLocks noGrp="1"/>
          </p:cNvGraphicFramePr>
          <p:nvPr>
            <p:extLst>
              <p:ext uri="{D42A27DB-BD31-4B8C-83A1-F6EECF244321}">
                <p14:modId xmlns:p14="http://schemas.microsoft.com/office/powerpoint/2010/main" val="1319297948"/>
              </p:ext>
            </p:extLst>
          </p:nvPr>
        </p:nvGraphicFramePr>
        <p:xfrm>
          <a:off x="582168" y="5566886"/>
          <a:ext cx="6096000" cy="701040"/>
        </p:xfrm>
        <a:graphic>
          <a:graphicData uri="http://schemas.openxmlformats.org/drawingml/2006/table">
            <a:tbl>
              <a:tblPr firstRow="1" bandRow="1">
                <a:effectLst>
                  <a:outerShdw blurRad="50800" dist="38100" dir="18900000" algn="bl" rotWithShape="0">
                    <a:prstClr val="black">
                      <a:alpha val="40000"/>
                    </a:prstClr>
                  </a:outerShdw>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to register for available courses so that I can enroll in my semester.</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22988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6D4C-C93E-B713-6357-BE30605A4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3FD01-25B6-007A-5133-6EDA5923465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1DBE0FD8-D4E4-A314-1180-EE5F0936BD75}"/>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a:t>
            </a:r>
            <a:r>
              <a:rPr lang="en-US" sz="2800" b="1" dirty="0">
                <a:latin typeface="Times New Roman Regular" panose="02020603050405020304" charset="0"/>
                <a:cs typeface="Times New Roman Regular" panose="02020603050405020304" charset="0"/>
              </a:rPr>
              <a:t>N</a:t>
            </a:r>
            <a:r>
              <a:rPr lang="en-US" sz="2800" dirty="0">
                <a:latin typeface="Times New Roman Regular" panose="02020603050405020304" charset="0"/>
                <a:cs typeface="Times New Roman Regular" panose="02020603050405020304" charset="0"/>
              </a:rPr>
              <a:t>.V.E.S.T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N</a:t>
            </a:r>
            <a:r>
              <a:rPr lang="en-US" sz="2800" i="1" dirty="0">
                <a:latin typeface="Times New Roman Regular" panose="02020603050405020304" charset="0"/>
                <a:cs typeface="Times New Roman Regular" panose="02020603050405020304" charset="0"/>
              </a:rPr>
              <a:t>egotiable</a:t>
            </a:r>
            <a:r>
              <a:rPr lang="en-US" sz="2800" dirty="0">
                <a:latin typeface="Times New Roman Regular" panose="02020603050405020304" charset="0"/>
                <a:cs typeface="Times New Roman Regular" panose="02020603050405020304" charset="0"/>
              </a:rPr>
              <a:t>: Stories are not contracts, but rather 	reminders that a conversation needs to be had. 	Include the right amount of detail.</a:t>
            </a:r>
            <a:endParaRPr lang="en-US" sz="2800" i="1" dirty="0">
              <a:latin typeface="Times New Roman Regular" panose="02020603050405020304" charset="0"/>
              <a:cs typeface="Times New Roman Regular" panose="02020603050405020304" charset="0"/>
            </a:endParaRPr>
          </a:p>
        </p:txBody>
      </p:sp>
      <p:graphicFrame>
        <p:nvGraphicFramePr>
          <p:cNvPr id="8" name="Table 7">
            <a:extLst>
              <a:ext uri="{FF2B5EF4-FFF2-40B4-BE49-F238E27FC236}">
                <a16:creationId xmlns:a16="http://schemas.microsoft.com/office/drawing/2014/main" id="{F1786F70-CFD6-188E-3971-63C9152531FD}"/>
              </a:ext>
            </a:extLst>
          </p:cNvPr>
          <p:cNvGraphicFramePr>
            <a:graphicFrameLocks noGrp="1"/>
          </p:cNvGraphicFramePr>
          <p:nvPr>
            <p:extLst>
              <p:ext uri="{D42A27DB-BD31-4B8C-83A1-F6EECF244321}">
                <p14:modId xmlns:p14="http://schemas.microsoft.com/office/powerpoint/2010/main" val="1575214864"/>
              </p:ext>
            </p:extLst>
          </p:nvPr>
        </p:nvGraphicFramePr>
        <p:xfrm>
          <a:off x="1106424" y="3854196"/>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a drop-down menu containing exactly 12 preset grading rubrics using Arial 12pt font to grade assignments.</a:t>
                      </a:r>
                    </a:p>
                  </a:txBody>
                  <a:tcPr>
                    <a:lnL w="76200" cap="flat" cmpd="sng" algn="ctr">
                      <a:solidFill>
                        <a:schemeClr val="accent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9" name="Table 8">
            <a:extLst>
              <a:ext uri="{FF2B5EF4-FFF2-40B4-BE49-F238E27FC236}">
                <a16:creationId xmlns:a16="http://schemas.microsoft.com/office/drawing/2014/main" id="{897264B5-2DA5-1230-923F-FE84DBCEC8CC}"/>
              </a:ext>
            </a:extLst>
          </p:cNvPr>
          <p:cNvGraphicFramePr>
            <a:graphicFrameLocks noGrp="1"/>
          </p:cNvGraphicFramePr>
          <p:nvPr>
            <p:extLst>
              <p:ext uri="{D42A27DB-BD31-4B8C-83A1-F6EECF244321}">
                <p14:modId xmlns:p14="http://schemas.microsoft.com/office/powerpoint/2010/main" val="3049750554"/>
              </p:ext>
            </p:extLst>
          </p:nvPr>
        </p:nvGraphicFramePr>
        <p:xfrm>
          <a:off x="1106424" y="5157470"/>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to apply standard grading rubrics to student assignments so that I can grade consistently and save time.</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389489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E41A6-5214-3A17-940C-187322A71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306DA-0022-742F-C4F9-393A3190668C}"/>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97F7ED46-FBAB-5192-9DF3-DD8FBEA6EF49}"/>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a:t>
            </a:r>
            <a:r>
              <a:rPr lang="en-US" sz="2800" b="1" dirty="0">
                <a:latin typeface="Times New Roman Regular" panose="02020603050405020304" charset="0"/>
                <a:cs typeface="Times New Roman Regular" panose="02020603050405020304" charset="0"/>
              </a:rPr>
              <a:t>V</a:t>
            </a:r>
            <a:r>
              <a:rPr lang="en-US" sz="2800" dirty="0">
                <a:latin typeface="Times New Roman Regular" panose="02020603050405020304" charset="0"/>
                <a:cs typeface="Times New Roman Regular" panose="02020603050405020304" charset="0"/>
              </a:rPr>
              <a:t>.E.S.T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V</a:t>
            </a:r>
            <a:r>
              <a:rPr lang="en-US" sz="2800" i="1" dirty="0">
                <a:latin typeface="Times New Roman Regular" panose="02020603050405020304" charset="0"/>
                <a:cs typeface="Times New Roman Regular" panose="02020603050405020304" charset="0"/>
              </a:rPr>
              <a:t>aluable</a:t>
            </a:r>
            <a:r>
              <a:rPr lang="en-US" sz="2800" dirty="0">
                <a:latin typeface="Times New Roman Regular" panose="02020603050405020304" charset="0"/>
                <a:cs typeface="Times New Roman Regular" panose="02020603050405020304" charset="0"/>
              </a:rPr>
              <a:t>: Stories should show the value they deliver 	to the </a:t>
            </a:r>
            <a:r>
              <a:rPr lang="en-US" sz="2800" i="1" dirty="0">
                <a:latin typeface="Times New Roman Regular" panose="02020603050405020304" charset="0"/>
                <a:cs typeface="Times New Roman Regular" panose="02020603050405020304" charset="0"/>
              </a:rPr>
              <a:t>purchaser</a:t>
            </a:r>
            <a:r>
              <a:rPr lang="en-US" sz="2800" dirty="0">
                <a:latin typeface="Times New Roman Regular" panose="02020603050405020304" charset="0"/>
                <a:cs typeface="Times New Roman Regular" panose="02020603050405020304" charset="0"/>
              </a:rPr>
              <a:t> or </a:t>
            </a:r>
            <a:r>
              <a:rPr lang="en-US" sz="2800" i="1" dirty="0">
                <a:latin typeface="Times New Roman Regular" panose="02020603050405020304" charset="0"/>
                <a:cs typeface="Times New Roman Regular" panose="02020603050405020304" charset="0"/>
              </a:rPr>
              <a:t>user</a:t>
            </a:r>
            <a:r>
              <a:rPr lang="en-US" sz="2800" dirty="0">
                <a:latin typeface="Times New Roman Regular" panose="02020603050405020304" charset="0"/>
                <a:cs typeface="Times New Roman Regular" panose="02020603050405020304" charset="0"/>
              </a:rPr>
              <a:t> and not the developer. 	Endeavor to show how the story benefits the user.</a:t>
            </a:r>
            <a:endParaRPr lang="en-US" sz="2800" i="1" dirty="0">
              <a:latin typeface="Times New Roman Regular" panose="02020603050405020304" charset="0"/>
              <a:cs typeface="Times New Roman Regular" panose="02020603050405020304" charset="0"/>
            </a:endParaRPr>
          </a:p>
        </p:txBody>
      </p:sp>
      <p:graphicFrame>
        <p:nvGraphicFramePr>
          <p:cNvPr id="8" name="Table 7">
            <a:extLst>
              <a:ext uri="{FF2B5EF4-FFF2-40B4-BE49-F238E27FC236}">
                <a16:creationId xmlns:a16="http://schemas.microsoft.com/office/drawing/2014/main" id="{0E57E8B4-41DE-34A8-6EC8-392B9043ABED}"/>
              </a:ext>
            </a:extLst>
          </p:cNvPr>
          <p:cNvGraphicFramePr>
            <a:graphicFrameLocks noGrp="1"/>
          </p:cNvGraphicFramePr>
          <p:nvPr>
            <p:extLst>
              <p:ext uri="{D42A27DB-BD31-4B8C-83A1-F6EECF244321}">
                <p14:modId xmlns:p14="http://schemas.microsoft.com/office/powerpoint/2010/main" val="1646701419"/>
              </p:ext>
            </p:extLst>
          </p:nvPr>
        </p:nvGraphicFramePr>
        <p:xfrm>
          <a:off x="1106424" y="385419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developer, I want to optimize the database indexing for the </a:t>
                      </a:r>
                      <a:r>
                        <a:rPr lang="en-US" sz="2000" b="0" u="none" strike="noStrike" kern="1200" dirty="0" err="1">
                          <a:solidFill>
                            <a:schemeClr val="tx1"/>
                          </a:solidFill>
                          <a:effectLst/>
                          <a:latin typeface="Times New Roman" panose="02020603050405020304" pitchFamily="18" charset="0"/>
                          <a:ea typeface="+mn-ea"/>
                          <a:cs typeface="Times New Roman" panose="02020603050405020304" pitchFamily="18" charset="0"/>
                        </a:rPr>
                        <a:t>course_sections</a:t>
                      </a:r>
                      <a:r>
                        <a:rPr lang="en-US" sz="2000" b="0" dirty="0">
                          <a:solidFill>
                            <a:schemeClr val="tx1"/>
                          </a:solidFill>
                          <a:latin typeface="Times New Roman" panose="02020603050405020304" pitchFamily="18" charset="0"/>
                          <a:cs typeface="Times New Roman" panose="02020603050405020304" pitchFamily="18" charset="0"/>
                        </a:rPr>
                        <a:t> table.</a:t>
                      </a:r>
                    </a:p>
                  </a:txBody>
                  <a:tcPr>
                    <a:lnL w="76200" cap="flat" cmpd="sng" algn="ctr">
                      <a:solidFill>
                        <a:schemeClr val="accent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9" name="Table 8">
            <a:extLst>
              <a:ext uri="{FF2B5EF4-FFF2-40B4-BE49-F238E27FC236}">
                <a16:creationId xmlns:a16="http://schemas.microsoft.com/office/drawing/2014/main" id="{E2816EBD-095F-D854-9E55-A3755F3978A7}"/>
              </a:ext>
            </a:extLst>
          </p:cNvPr>
          <p:cNvGraphicFramePr>
            <a:graphicFrameLocks noGrp="1"/>
          </p:cNvGraphicFramePr>
          <p:nvPr>
            <p:extLst>
              <p:ext uri="{D42A27DB-BD31-4B8C-83A1-F6EECF244321}">
                <p14:modId xmlns:p14="http://schemas.microsoft.com/office/powerpoint/2010/main" val="2950476541"/>
              </p:ext>
            </p:extLst>
          </p:nvPr>
        </p:nvGraphicFramePr>
        <p:xfrm>
          <a:off x="1106424" y="4837430"/>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student, I want search results for available courses to load in under two seconds so that I can register quickly during peak hours.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254413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3F5E-8081-923C-0E2D-3F86B6159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A29CA-47EE-F9C5-A9B7-17DE70C9FBD1}"/>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588C1C95-33C1-60ED-1FA0-C04F66EA5202}"/>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I.N.V.</a:t>
            </a:r>
            <a:r>
              <a:rPr lang="en-US" sz="2800" b="1" dirty="0">
                <a:latin typeface="Times New Roman Regular" panose="02020603050405020304" charset="0"/>
                <a:cs typeface="Times New Roman Regular" panose="02020603050405020304" charset="0"/>
              </a:rPr>
              <a:t>E</a:t>
            </a:r>
            <a:r>
              <a:rPr lang="en-US" sz="2800" dirty="0">
                <a:latin typeface="Times New Roman Regular" panose="02020603050405020304" charset="0"/>
                <a:cs typeface="Times New Roman Regular" panose="02020603050405020304" charset="0"/>
              </a:rPr>
              <a:t>.S.T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E</a:t>
            </a:r>
            <a:r>
              <a:rPr lang="en-US" sz="2800" i="1" dirty="0">
                <a:latin typeface="Times New Roman Regular" panose="02020603050405020304" charset="0"/>
                <a:cs typeface="Times New Roman Regular" panose="02020603050405020304" charset="0"/>
              </a:rPr>
              <a:t>stimatable</a:t>
            </a:r>
            <a:r>
              <a:rPr lang="en-US" sz="2800" dirty="0">
                <a:latin typeface="Times New Roman Regular" panose="02020603050405020304" charset="0"/>
                <a:cs typeface="Times New Roman Regular" panose="02020603050405020304" charset="0"/>
              </a:rPr>
              <a:t>: The developers need to be able to 	estimate or make a good guess at how long it will 	take for the story to turn into working code.</a:t>
            </a:r>
          </a:p>
          <a:p>
            <a:pPr marL="0" indent="0" algn="just">
              <a:buNone/>
            </a:pPr>
            <a:endParaRPr lang="en-US" sz="2800" i="1" dirty="0">
              <a:latin typeface="Times New Roman Regular" panose="02020603050405020304" charset="0"/>
              <a:cs typeface="Times New Roman Regular" panose="02020603050405020304" charset="0"/>
            </a:endParaRPr>
          </a:p>
        </p:txBody>
      </p:sp>
      <p:graphicFrame>
        <p:nvGraphicFramePr>
          <p:cNvPr id="5" name="Table 4">
            <a:extLst>
              <a:ext uri="{FF2B5EF4-FFF2-40B4-BE49-F238E27FC236}">
                <a16:creationId xmlns:a16="http://schemas.microsoft.com/office/drawing/2014/main" id="{B8E0E284-3C81-5CBF-4ECF-FF0232E3E5DF}"/>
              </a:ext>
            </a:extLst>
          </p:cNvPr>
          <p:cNvGraphicFramePr>
            <a:graphicFrameLocks noGrp="1"/>
          </p:cNvGraphicFramePr>
          <p:nvPr>
            <p:extLst>
              <p:ext uri="{D42A27DB-BD31-4B8C-83A1-F6EECF244321}">
                <p14:modId xmlns:p14="http://schemas.microsoft.com/office/powerpoint/2010/main" val="3910990620"/>
              </p:ext>
            </p:extLst>
          </p:nvPr>
        </p:nvGraphicFramePr>
        <p:xfrm>
          <a:off x="1030224" y="3655568"/>
          <a:ext cx="7098792" cy="2760980"/>
        </p:xfrm>
        <a:graphic>
          <a:graphicData uri="http://schemas.openxmlformats.org/drawingml/2006/table">
            <a:tbl>
              <a:tblPr firstRow="1" bandRow="1">
                <a:tableStyleId>{2D5ABB26-0587-4C30-8999-92F81FD0307C}</a:tableStyleId>
              </a:tblPr>
              <a:tblGrid>
                <a:gridCol w="3549396">
                  <a:extLst>
                    <a:ext uri="{9D8B030D-6E8A-4147-A177-3AD203B41FA5}">
                      <a16:colId xmlns:a16="http://schemas.microsoft.com/office/drawing/2014/main" val="1643803910"/>
                    </a:ext>
                  </a:extLst>
                </a:gridCol>
                <a:gridCol w="3549396">
                  <a:extLst>
                    <a:ext uri="{9D8B030D-6E8A-4147-A177-3AD203B41FA5}">
                      <a16:colId xmlns:a16="http://schemas.microsoft.com/office/drawing/2014/main" val="1670495651"/>
                    </a:ext>
                  </a:extLst>
                </a:gridCol>
              </a:tblGrid>
              <a:tr h="679450">
                <a:tc>
                  <a:txBody>
                    <a:bodyPr/>
                    <a:lstStyle/>
                    <a:p>
                      <a:r>
                        <a:rPr lang="en-US" sz="2000" dirty="0">
                          <a:latin typeface="Times New Roman" panose="02020603050405020304" pitchFamily="18" charset="0"/>
                          <a:cs typeface="Times New Roman" panose="02020603050405020304" pitchFamily="18" charset="0"/>
                        </a:rPr>
                        <a:t>Reasons for Lack of Estimation</a:t>
                      </a:r>
                    </a:p>
                  </a:txBody>
                  <a:tcPr anchor="ctr">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Solutions</a:t>
                      </a:r>
                    </a:p>
                  </a:txBody>
                  <a:tcPr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5323967"/>
                  </a:ext>
                </a:extLst>
              </a:tr>
              <a:tr h="679450">
                <a:tc>
                  <a:txBody>
                    <a:bodyPr/>
                    <a:lstStyle/>
                    <a:p>
                      <a:r>
                        <a:rPr lang="en-US" sz="2000" dirty="0">
                          <a:latin typeface="Times New Roman" panose="02020603050405020304" pitchFamily="18" charset="0"/>
                          <a:cs typeface="Times New Roman" panose="02020603050405020304" pitchFamily="18" charset="0"/>
                        </a:rPr>
                        <a:t>Lack of Domain Knowledge</a:t>
                      </a:r>
                    </a:p>
                  </a:txBody>
                  <a:tcPr anchor="ct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Discuss with the customer for clarification.</a:t>
                      </a:r>
                    </a:p>
                  </a:txBody>
                  <a:tcPr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30537266"/>
                  </a:ext>
                </a:extLst>
              </a:tr>
              <a:tr h="679450">
                <a:tc>
                  <a:txBody>
                    <a:bodyPr/>
                    <a:lstStyle/>
                    <a:p>
                      <a:r>
                        <a:rPr lang="en-US" sz="2000" dirty="0">
                          <a:latin typeface="Times New Roman" panose="02020603050405020304" pitchFamily="18" charset="0"/>
                          <a:cs typeface="Times New Roman" panose="02020603050405020304" pitchFamily="18" charset="0"/>
                        </a:rPr>
                        <a:t>Lack of Technical Knowledge</a:t>
                      </a:r>
                    </a:p>
                  </a:txBody>
                  <a:tcPr anchor="ctr">
                    <a:lnL>
                      <a:noFill/>
                    </a:lnL>
                    <a:lnR w="381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Choose a developer to experiment with the technology.</a:t>
                      </a:r>
                    </a:p>
                  </a:txBody>
                  <a:tcPr anchor="ctr">
                    <a:lnL w="381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12903911"/>
                  </a:ext>
                </a:extLst>
              </a:tr>
              <a:tr h="679450">
                <a:tc>
                  <a:txBody>
                    <a:bodyPr/>
                    <a:lstStyle/>
                    <a:p>
                      <a:r>
                        <a:rPr lang="en-US" sz="2000" dirty="0">
                          <a:latin typeface="Times New Roman" panose="02020603050405020304" pitchFamily="18" charset="0"/>
                          <a:cs typeface="Times New Roman" panose="02020603050405020304" pitchFamily="18" charset="0"/>
                        </a:rPr>
                        <a:t>The Story is Too Big</a:t>
                      </a:r>
                    </a:p>
                  </a:txBody>
                  <a:tcPr anchor="ctr">
                    <a:lnL>
                      <a:noFill/>
                    </a:lnL>
                    <a:lnR w="381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2000" dirty="0">
                          <a:latin typeface="Times New Roman" panose="02020603050405020304" pitchFamily="18" charset="0"/>
                          <a:cs typeface="Times New Roman" panose="02020603050405020304" pitchFamily="18" charset="0"/>
                        </a:rPr>
                        <a:t>Create an epic out of the story.</a:t>
                      </a:r>
                    </a:p>
                  </a:txBody>
                  <a:tcPr anchor="ctr">
                    <a:lnL w="381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19011297"/>
                  </a:ext>
                </a:extLst>
              </a:tr>
            </a:tbl>
          </a:graphicData>
        </a:graphic>
      </p:graphicFrame>
    </p:spTree>
    <p:extLst>
      <p:ext uri="{BB962C8B-B14F-4D97-AF65-F5344CB8AC3E}">
        <p14:creationId xmlns:p14="http://schemas.microsoft.com/office/powerpoint/2010/main" val="389312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67103-3109-7152-AE34-BFE734347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B3194-D446-C1BC-36DD-83139D9C2535}"/>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3068AE07-5A1F-2CC5-7022-D5CEF0141BEF}"/>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I.N.V.E.</a:t>
            </a:r>
            <a:r>
              <a:rPr lang="en-US" sz="2800" b="1" dirty="0">
                <a:latin typeface="Times New Roman Regular" panose="02020603050405020304" charset="0"/>
                <a:cs typeface="Times New Roman Regular" panose="02020603050405020304" charset="0"/>
              </a:rPr>
              <a:t>S</a:t>
            </a:r>
            <a:r>
              <a:rPr lang="en-US" sz="2800" dirty="0">
                <a:latin typeface="Times New Roman Regular" panose="02020603050405020304" charset="0"/>
                <a:cs typeface="Times New Roman Regular" panose="02020603050405020304" charset="0"/>
              </a:rPr>
              <a:t>.T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S</a:t>
            </a:r>
            <a:r>
              <a:rPr lang="en-US" sz="2800" i="1" dirty="0">
                <a:latin typeface="Times New Roman Regular" panose="02020603050405020304" charset="0"/>
                <a:cs typeface="Times New Roman Regular" panose="02020603050405020304" charset="0"/>
              </a:rPr>
              <a:t>mall</a:t>
            </a:r>
            <a:r>
              <a:rPr lang="en-US" sz="2800" dirty="0">
                <a:latin typeface="Times New Roman Regular" panose="02020603050405020304" charset="0"/>
                <a:cs typeface="Times New Roman Regular" panose="02020603050405020304" charset="0"/>
              </a:rPr>
              <a:t>: Too large or too small stories become hard to 	plan for. The right story size depends on the team’s 	capabilities and the technologies in use.</a:t>
            </a: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r>
              <a:rPr lang="en-US" sz="2800" dirty="0">
                <a:latin typeface="Times New Roman Regular" panose="02020603050405020304" charset="0"/>
                <a:cs typeface="Times New Roman Regular" panose="02020603050405020304" charset="0"/>
              </a:rPr>
              <a:t>	</a:t>
            </a:r>
            <a:r>
              <a:rPr lang="en-US" sz="2800" b="1" dirty="0">
                <a:latin typeface="Times New Roman Regular" panose="02020603050405020304" charset="0"/>
                <a:cs typeface="Times New Roman Regular" panose="02020603050405020304" charset="0"/>
              </a:rPr>
              <a:t>Too Large? </a:t>
            </a:r>
            <a:r>
              <a:rPr lang="en-US" sz="2800" dirty="0">
                <a:latin typeface="Times New Roman Regular" panose="02020603050405020304" charset="0"/>
                <a:cs typeface="Times New Roman Regular" panose="02020603050405020304" charset="0"/>
              </a:rPr>
              <a:t>Split the Story</a:t>
            </a:r>
          </a:p>
          <a:p>
            <a:pPr marL="0" indent="0" algn="just">
              <a:buNone/>
            </a:pPr>
            <a:r>
              <a:rPr lang="en-US" sz="2800" dirty="0">
                <a:latin typeface="Times New Roman Regular" panose="02020603050405020304" charset="0"/>
                <a:cs typeface="Times New Roman Regular" panose="02020603050405020304" charset="0"/>
              </a:rPr>
              <a:t>	</a:t>
            </a:r>
            <a:r>
              <a:rPr lang="en-US" sz="2800" b="1" dirty="0">
                <a:latin typeface="Times New Roman Regular" panose="02020603050405020304" charset="0"/>
                <a:cs typeface="Times New Roman Regular" panose="02020603050405020304" charset="0"/>
              </a:rPr>
              <a:t>Too Small? </a:t>
            </a:r>
            <a:r>
              <a:rPr lang="en-US" sz="2800" dirty="0">
                <a:latin typeface="Times New Roman Regular" panose="02020603050405020304" charset="0"/>
                <a:cs typeface="Times New Roman Regular" panose="02020603050405020304" charset="0"/>
              </a:rPr>
              <a:t>Combine the Stories</a:t>
            </a:r>
          </a:p>
          <a:p>
            <a:pPr marL="0" indent="0" algn="just">
              <a:buNone/>
            </a:pPr>
            <a:endParaRPr lang="en-US" sz="2800" i="1"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362265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750D-D5B7-502C-3EB3-BA176B5F0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AB29D-F9C6-377C-D443-16BDCBF4397F}"/>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Writing User Stories: INVEST</a:t>
            </a:r>
          </a:p>
        </p:txBody>
      </p:sp>
      <p:sp>
        <p:nvSpPr>
          <p:cNvPr id="3" name="Content Placeholder 2">
            <a:extLst>
              <a:ext uri="{FF2B5EF4-FFF2-40B4-BE49-F238E27FC236}">
                <a16:creationId xmlns:a16="http://schemas.microsoft.com/office/drawing/2014/main" id="{A270F3E9-B365-17AB-E07E-7C9F2C053965}"/>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I.N.V.E.S.</a:t>
            </a:r>
            <a:r>
              <a:rPr lang="en-US" sz="2800" b="1" dirty="0">
                <a:latin typeface="Times New Roman Regular" panose="02020603050405020304" charset="0"/>
                <a:cs typeface="Times New Roman Regular" panose="02020603050405020304" charset="0"/>
              </a:rPr>
              <a:t>T</a:t>
            </a:r>
          </a:p>
          <a:p>
            <a:pPr marL="0" indent="0" algn="just">
              <a:buNone/>
            </a:pPr>
            <a:r>
              <a:rPr lang="en-US" sz="2800" b="1" dirty="0">
                <a:latin typeface="Times New Roman Regular" panose="02020603050405020304" charset="0"/>
                <a:cs typeface="Times New Roman Regular" panose="02020603050405020304" charset="0"/>
              </a:rPr>
              <a:t>	</a:t>
            </a:r>
            <a:r>
              <a:rPr lang="en-US" sz="2800" b="1" i="1" dirty="0">
                <a:latin typeface="Times New Roman Regular" panose="02020603050405020304" charset="0"/>
                <a:cs typeface="Times New Roman Regular" panose="02020603050405020304" charset="0"/>
              </a:rPr>
              <a:t>T</a:t>
            </a:r>
            <a:r>
              <a:rPr lang="en-US" sz="2800" i="1" dirty="0">
                <a:latin typeface="Times New Roman Regular" panose="02020603050405020304" charset="0"/>
                <a:cs typeface="Times New Roman Regular" panose="02020603050405020304" charset="0"/>
              </a:rPr>
              <a:t>estable</a:t>
            </a:r>
            <a:r>
              <a:rPr lang="en-US" sz="2800" dirty="0">
                <a:latin typeface="Times New Roman Regular" panose="02020603050405020304" charset="0"/>
                <a:cs typeface="Times New Roman Regular" panose="02020603050405020304" charset="0"/>
              </a:rPr>
              <a:t>: Stories need to tell developers when they 	should consider their work done. Always aim for 	tests that can be automated.</a:t>
            </a:r>
          </a:p>
          <a:p>
            <a:pPr marL="0" indent="0" algn="just">
              <a:buNone/>
            </a:pPr>
            <a:endParaRPr lang="en-US" sz="2800"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2969389A-B6B0-A3E5-F102-8EAD71B8E8E3}"/>
              </a:ext>
            </a:extLst>
          </p:cNvPr>
          <p:cNvGraphicFramePr>
            <a:graphicFrameLocks noGrp="1"/>
          </p:cNvGraphicFramePr>
          <p:nvPr>
            <p:extLst>
              <p:ext uri="{D42A27DB-BD31-4B8C-83A1-F6EECF244321}">
                <p14:modId xmlns:p14="http://schemas.microsoft.com/office/powerpoint/2010/main" val="4066091050"/>
              </p:ext>
            </p:extLst>
          </p:nvPr>
        </p:nvGraphicFramePr>
        <p:xfrm>
          <a:off x="1106424" y="385419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the attendance tracking feature to be user-friendly and fast.</a:t>
                      </a:r>
                    </a:p>
                  </a:txBody>
                  <a:tcPr>
                    <a:lnL w="76200" cap="flat" cmpd="sng" algn="ctr">
                      <a:solidFill>
                        <a:schemeClr val="accent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5" name="Table 4">
            <a:extLst>
              <a:ext uri="{FF2B5EF4-FFF2-40B4-BE49-F238E27FC236}">
                <a16:creationId xmlns:a16="http://schemas.microsoft.com/office/drawing/2014/main" id="{614C0506-76B9-9C41-065E-1E0257482D3D}"/>
              </a:ext>
            </a:extLst>
          </p:cNvPr>
          <p:cNvGraphicFramePr>
            <a:graphicFrameLocks noGrp="1"/>
          </p:cNvGraphicFramePr>
          <p:nvPr>
            <p:extLst>
              <p:ext uri="{D42A27DB-BD31-4B8C-83A1-F6EECF244321}">
                <p14:modId xmlns:p14="http://schemas.microsoft.com/office/powerpoint/2010/main" val="709909337"/>
              </p:ext>
            </p:extLst>
          </p:nvPr>
        </p:nvGraphicFramePr>
        <p:xfrm>
          <a:off x="1106424" y="4837430"/>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As a professor, I want to log student attendance with a single click per student so that I can complete the roster in under two minutes.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37558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109CF-A23D-37A8-D978-3A8A4EB61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E34D4-7D78-A1B3-04A4-D8F7EE71046B}"/>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A54758F3-8B94-2F70-A3F4-096982F1209B}"/>
              </a:ext>
            </a:extLst>
          </p:cNvPr>
          <p:cNvSpPr>
            <a:spLocks noGrp="1"/>
          </p:cNvSpPr>
          <p:nvPr>
            <p:ph idx="1"/>
          </p:nvPr>
        </p:nvSpPr>
        <p:spPr>
          <a:xfrm>
            <a:off x="457200" y="1600200"/>
            <a:ext cx="8229600" cy="4837176"/>
          </a:xfrm>
        </p:spPr>
        <p:txBody>
          <a:bodyPr>
            <a:normAutofit/>
          </a:bodyPr>
          <a:lstStyle/>
          <a:p>
            <a:pPr marL="0" indent="0" algn="just">
              <a:buNone/>
            </a:pPr>
            <a:r>
              <a:rPr lang="en-US" sz="2800" dirty="0">
                <a:latin typeface="Times New Roman Regular" panose="02020603050405020304" charset="0"/>
                <a:cs typeface="Times New Roman Regular" panose="02020603050405020304" charset="0"/>
              </a:rPr>
              <a:t>Acceptance Criteria refers to a set of conditions or rules that a user story must meet in order for it to be considered done. It tells developers what to build and testers how to verify it.</a:t>
            </a:r>
          </a:p>
          <a:p>
            <a:pPr marL="0" indent="0" algn="just">
              <a:buNone/>
            </a:pPr>
            <a:endParaRPr lang="en-US" sz="2800" dirty="0">
              <a:latin typeface="Times New Roman Regular" panose="02020603050405020304" charset="0"/>
              <a:cs typeface="Times New Roman Regular" panose="02020603050405020304" charset="0"/>
            </a:endParaRPr>
          </a:p>
          <a:p>
            <a:pPr marL="0" indent="0" algn="just">
              <a:buNone/>
            </a:pPr>
            <a:r>
              <a:rPr lang="en-US" sz="2800" b="1" dirty="0">
                <a:latin typeface="Times New Roman Regular" panose="02020603050405020304" charset="0"/>
                <a:cs typeface="Times New Roman Regular" panose="02020603050405020304" charset="0"/>
              </a:rPr>
              <a:t>GIVEN – WHEN – THEN</a:t>
            </a:r>
            <a:r>
              <a:rPr lang="en-US" sz="2800" dirty="0">
                <a:latin typeface="Times New Roman Regular" panose="02020603050405020304" charset="0"/>
                <a:cs typeface="Times New Roman Regular" panose="02020603050405020304" charset="0"/>
              </a:rPr>
              <a:t>: Refers to a format of crafting acceptance criteria and it gives a structured and understandable way of expressing the desired behavior of a user story. </a:t>
            </a:r>
            <a:endParaRPr lang="en-US" sz="2800" b="1" dirty="0">
              <a:latin typeface="Times New Roman Regular" panose="02020603050405020304" charset="0"/>
              <a:cs typeface="Times New Roman Regular" panose="02020603050405020304" charset="0"/>
            </a:endParaRPr>
          </a:p>
        </p:txBody>
      </p:sp>
    </p:spTree>
    <p:extLst>
      <p:ext uri="{BB962C8B-B14F-4D97-AF65-F5344CB8AC3E}">
        <p14:creationId xmlns:p14="http://schemas.microsoft.com/office/powerpoint/2010/main" val="379457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7A76F-93B5-95ED-B52C-72D58DA9A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584AA-3AC9-2AE3-ED03-BD32DC96766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7537A2C7-70C8-12F2-A0A0-068754F207F0}"/>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latin typeface="Times New Roman Regular" panose="02020603050405020304" charset="0"/>
                <a:cs typeface="Times New Roman Regular" panose="02020603050405020304" charset="0"/>
              </a:rPr>
              <a:t>GIVEN </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WHEN – THEN</a:t>
            </a:r>
          </a:p>
          <a:p>
            <a:pPr marL="0" indent="0" algn="just">
              <a:buNone/>
            </a:pPr>
            <a:r>
              <a:rPr lang="en-US" sz="2800" dirty="0">
                <a:latin typeface="Times New Roman Regular" panose="02020603050405020304" charset="0"/>
                <a:cs typeface="Times New Roman Regular" panose="02020603050405020304" charset="0"/>
              </a:rPr>
              <a:t>Sets the stage for the scenario that is going to be described in the acceptance criterion that is about to be stated. It gives context about the system.</a:t>
            </a:r>
          </a:p>
          <a:p>
            <a:pPr marL="0" indent="0" algn="just">
              <a:buNone/>
            </a:pPr>
            <a:endParaRPr lang="en-US" sz="2800"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5298870B-E39E-C672-681D-B892302143A7}"/>
              </a:ext>
            </a:extLst>
          </p:cNvPr>
          <p:cNvGraphicFramePr>
            <a:graphicFrameLocks noGrp="1"/>
          </p:cNvGraphicFramePr>
          <p:nvPr>
            <p:extLst>
              <p:ext uri="{D42A27DB-BD31-4B8C-83A1-F6EECF244321}">
                <p14:modId xmlns:p14="http://schemas.microsoft.com/office/powerpoint/2010/main" val="3839433122"/>
              </p:ext>
            </p:extLst>
          </p:nvPr>
        </p:nvGraphicFramePr>
        <p:xfrm>
          <a:off x="457200" y="3657854"/>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dirty="0">
                          <a:solidFill>
                            <a:schemeClr val="tx1"/>
                          </a:solidFill>
                          <a:latin typeface="Times New Roman" panose="02020603050405020304" pitchFamily="18" charset="0"/>
                          <a:cs typeface="Times New Roman" panose="02020603050405020304" pitchFamily="18" charset="0"/>
                        </a:rPr>
                        <a:t>As a student, I want to see a visual checklist of my remaining general education requirements so that I know what to take next semester.</a:t>
                      </a: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5D5087DA-BE06-71FD-7C85-827E61C8266D}"/>
              </a:ext>
            </a:extLst>
          </p:cNvPr>
          <p:cNvGraphicFramePr>
            <a:graphicFrameLocks noGrp="1"/>
          </p:cNvGraphicFramePr>
          <p:nvPr>
            <p:extLst>
              <p:ext uri="{D42A27DB-BD31-4B8C-83A1-F6EECF244321}">
                <p14:modId xmlns:p14="http://schemas.microsoft.com/office/powerpoint/2010/main" val="375861086"/>
              </p:ext>
            </p:extLst>
          </p:nvPr>
        </p:nvGraphicFramePr>
        <p:xfrm>
          <a:off x="457200" y="5047615"/>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Given</a:t>
                      </a:r>
                      <a:r>
                        <a:rPr lang="en-US" sz="2000" b="0" dirty="0">
                          <a:solidFill>
                            <a:schemeClr val="tx1"/>
                          </a:solidFill>
                          <a:latin typeface="Times New Roman" panose="02020603050405020304" pitchFamily="18" charset="0"/>
                          <a:cs typeface="Times New Roman" panose="02020603050405020304" pitchFamily="18" charset="0"/>
                        </a:rPr>
                        <a:t> the student is logged into the degree portal and views the checklist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55232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DD1AE-FF1A-5A63-5E81-CB4D220E4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D81BC-590A-7F26-E204-1B482D76024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CAC7A629-5CA7-1B3E-D470-829DFA95540C}"/>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solidFill>
                  <a:schemeClr val="tx1">
                    <a:lumMod val="50000"/>
                    <a:lumOff val="50000"/>
                  </a:schemeClr>
                </a:solidFill>
                <a:latin typeface="Times New Roman Regular" panose="02020603050405020304" charset="0"/>
                <a:cs typeface="Times New Roman Regular" panose="02020603050405020304" charset="0"/>
              </a:rPr>
              <a:t>GIVEN</a:t>
            </a:r>
            <a:r>
              <a:rPr lang="en-US" sz="2800" b="1" dirty="0">
                <a:latin typeface="Times New Roman Regular" panose="02020603050405020304" charset="0"/>
                <a:cs typeface="Times New Roman Regular" panose="02020603050405020304" charset="0"/>
              </a:rPr>
              <a:t> </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a:t>
            </a:r>
            <a:r>
              <a:rPr lang="en-US" sz="2800" b="1" dirty="0">
                <a:latin typeface="Times New Roman Regular" panose="02020603050405020304" charset="0"/>
                <a:cs typeface="Times New Roman Regular" panose="02020603050405020304" charset="0"/>
              </a:rPr>
              <a:t>WHEN</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 THEN</a:t>
            </a:r>
          </a:p>
          <a:p>
            <a:pPr marL="0" indent="0" algn="just">
              <a:buNone/>
            </a:pPr>
            <a:r>
              <a:rPr lang="en-US" sz="2800" dirty="0">
                <a:latin typeface="Times New Roman Regular" panose="02020603050405020304" charset="0"/>
                <a:cs typeface="Times New Roman Regular" panose="02020603050405020304" charset="0"/>
              </a:rPr>
              <a:t>Represents an action that the user performs or an event that happens within the system that triggers the behavior described in the user story.</a:t>
            </a:r>
          </a:p>
          <a:p>
            <a:pPr marL="0" indent="0" algn="just">
              <a:buNone/>
            </a:pPr>
            <a:endParaRPr lang="en-US" sz="2800"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6C48C9C8-B3DB-923C-2DA1-521EEA9061BE}"/>
              </a:ext>
            </a:extLst>
          </p:cNvPr>
          <p:cNvGraphicFramePr>
            <a:graphicFrameLocks noGrp="1"/>
          </p:cNvGraphicFramePr>
          <p:nvPr>
            <p:extLst>
              <p:ext uri="{D42A27DB-BD31-4B8C-83A1-F6EECF244321}">
                <p14:modId xmlns:p14="http://schemas.microsoft.com/office/powerpoint/2010/main" val="1329100482"/>
              </p:ext>
            </p:extLst>
          </p:nvPr>
        </p:nvGraphicFramePr>
        <p:xfrm>
          <a:off x="457200" y="3657854"/>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dirty="0">
                          <a:solidFill>
                            <a:schemeClr val="tx1"/>
                          </a:solidFill>
                          <a:latin typeface="Times New Roman" panose="02020603050405020304" pitchFamily="18" charset="0"/>
                          <a:cs typeface="Times New Roman" panose="02020603050405020304" pitchFamily="18" charset="0"/>
                        </a:rPr>
                        <a:t>As a student, I want to see a visual checklist of my remaining general education requirements so that I know what to take next semester.</a:t>
                      </a: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32FB46A5-9B9F-3004-5AF1-BFD413F627A5}"/>
              </a:ext>
            </a:extLst>
          </p:cNvPr>
          <p:cNvGraphicFramePr>
            <a:graphicFrameLocks noGrp="1"/>
          </p:cNvGraphicFramePr>
          <p:nvPr>
            <p:extLst>
              <p:ext uri="{D42A27DB-BD31-4B8C-83A1-F6EECF244321}">
                <p14:modId xmlns:p14="http://schemas.microsoft.com/office/powerpoint/2010/main" val="3511233861"/>
              </p:ext>
            </p:extLst>
          </p:nvPr>
        </p:nvGraphicFramePr>
        <p:xfrm>
          <a:off x="457200" y="5047615"/>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When</a:t>
                      </a:r>
                      <a:r>
                        <a:rPr lang="en-US" sz="2000" b="0" dirty="0">
                          <a:solidFill>
                            <a:schemeClr val="tx1"/>
                          </a:solidFill>
                          <a:latin typeface="Times New Roman" panose="02020603050405020304" pitchFamily="18" charset="0"/>
                          <a:cs typeface="Times New Roman" panose="02020603050405020304" pitchFamily="18" charset="0"/>
                        </a:rPr>
                        <a:t> they have not completed the "Historical Studies" requirement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237707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5652-76CE-2A93-FDA8-49CEC7560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FC898-453B-B54D-2562-95412D4A0752}"/>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961C5283-080F-016C-B8DC-FE983ACFEE1B}"/>
              </a:ext>
            </a:extLst>
          </p:cNvPr>
          <p:cNvSpPr>
            <a:spLocks noGrp="1"/>
          </p:cNvSpPr>
          <p:nvPr>
            <p:ph idx="1"/>
          </p:nvPr>
        </p:nvSpPr>
        <p:spPr>
          <a:xfrm>
            <a:off x="457200" y="1600200"/>
            <a:ext cx="8229600" cy="4837176"/>
          </a:xfrm>
        </p:spPr>
        <p:txBody>
          <a:bodyPr>
            <a:normAutofit/>
          </a:bodyPr>
          <a:lstStyle/>
          <a:p>
            <a:pPr marL="0" indent="0" algn="just">
              <a:buNone/>
            </a:pPr>
            <a:r>
              <a:rPr lang="en-US" sz="2800" b="1" dirty="0">
                <a:solidFill>
                  <a:schemeClr val="tx1">
                    <a:lumMod val="50000"/>
                    <a:lumOff val="50000"/>
                  </a:schemeClr>
                </a:solidFill>
                <a:latin typeface="Times New Roman Regular" panose="02020603050405020304" charset="0"/>
                <a:cs typeface="Times New Roman Regular" panose="02020603050405020304" charset="0"/>
              </a:rPr>
              <a:t>GIVEN</a:t>
            </a:r>
            <a:r>
              <a:rPr lang="en-US" sz="2800" b="1" dirty="0">
                <a:latin typeface="Times New Roman Regular" panose="02020603050405020304" charset="0"/>
                <a:cs typeface="Times New Roman Regular" panose="02020603050405020304" charset="0"/>
              </a:rPr>
              <a:t> </a:t>
            </a:r>
            <a:r>
              <a:rPr lang="en-US" sz="2800" b="1" dirty="0">
                <a:solidFill>
                  <a:schemeClr val="tx1">
                    <a:lumMod val="50000"/>
                    <a:lumOff val="50000"/>
                  </a:schemeClr>
                </a:solidFill>
                <a:latin typeface="Times New Roman Regular" panose="02020603050405020304" charset="0"/>
                <a:cs typeface="Times New Roman Regular" panose="02020603050405020304" charset="0"/>
              </a:rPr>
              <a:t>– WHEN – </a:t>
            </a:r>
            <a:r>
              <a:rPr lang="en-US" sz="2800" b="1" dirty="0">
                <a:latin typeface="Times New Roman Regular" panose="02020603050405020304" charset="0"/>
                <a:cs typeface="Times New Roman Regular" panose="02020603050405020304" charset="0"/>
              </a:rPr>
              <a:t>THEN</a:t>
            </a:r>
          </a:p>
          <a:p>
            <a:pPr marL="0" indent="0" algn="just">
              <a:buNone/>
            </a:pPr>
            <a:r>
              <a:rPr lang="en-US" sz="2800" dirty="0">
                <a:latin typeface="Times New Roman Regular" panose="02020603050405020304" charset="0"/>
                <a:cs typeface="Times New Roman Regular" panose="02020603050405020304" charset="0"/>
              </a:rPr>
              <a:t>Describes the consequence of the action performed in the WHEN clause before usually in terms of observable changes in the system.</a:t>
            </a:r>
          </a:p>
        </p:txBody>
      </p:sp>
      <p:graphicFrame>
        <p:nvGraphicFramePr>
          <p:cNvPr id="4" name="Table 3">
            <a:extLst>
              <a:ext uri="{FF2B5EF4-FFF2-40B4-BE49-F238E27FC236}">
                <a16:creationId xmlns:a16="http://schemas.microsoft.com/office/drawing/2014/main" id="{AF81EEBC-3FDB-83E1-646C-E47647925F3B}"/>
              </a:ext>
            </a:extLst>
          </p:cNvPr>
          <p:cNvGraphicFramePr>
            <a:graphicFrameLocks noGrp="1"/>
          </p:cNvGraphicFramePr>
          <p:nvPr>
            <p:extLst>
              <p:ext uri="{D42A27DB-BD31-4B8C-83A1-F6EECF244321}">
                <p14:modId xmlns:p14="http://schemas.microsoft.com/office/powerpoint/2010/main" val="3748129908"/>
              </p:ext>
            </p:extLst>
          </p:nvPr>
        </p:nvGraphicFramePr>
        <p:xfrm>
          <a:off x="457200" y="3623056"/>
          <a:ext cx="6096000" cy="10058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dirty="0">
                          <a:solidFill>
                            <a:schemeClr val="tx1"/>
                          </a:solidFill>
                          <a:latin typeface="Times New Roman" panose="02020603050405020304" pitchFamily="18" charset="0"/>
                          <a:cs typeface="Times New Roman" panose="02020603050405020304" pitchFamily="18" charset="0"/>
                        </a:rPr>
                        <a:t>As a student, I want to see a visual checklist of my remaining general education requirements so that I know what to take next semester.</a:t>
                      </a: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708F0AAF-E205-B8B7-E837-C77062D6420B}"/>
              </a:ext>
            </a:extLst>
          </p:cNvPr>
          <p:cNvGraphicFramePr>
            <a:graphicFrameLocks noGrp="1"/>
          </p:cNvGraphicFramePr>
          <p:nvPr>
            <p:extLst>
              <p:ext uri="{D42A27DB-BD31-4B8C-83A1-F6EECF244321}">
                <p14:modId xmlns:p14="http://schemas.microsoft.com/office/powerpoint/2010/main" val="908745367"/>
              </p:ext>
            </p:extLst>
          </p:nvPr>
        </p:nvGraphicFramePr>
        <p:xfrm>
          <a:off x="457200" y="572274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And</a:t>
                      </a:r>
                      <a:r>
                        <a:rPr lang="en-US" sz="2000" b="0" dirty="0">
                          <a:solidFill>
                            <a:schemeClr val="tx1"/>
                          </a:solidFill>
                          <a:latin typeface="Times New Roman" panose="02020603050405020304" pitchFamily="18" charset="0"/>
                          <a:cs typeface="Times New Roman" panose="02020603050405020304" pitchFamily="18" charset="0"/>
                        </a:rPr>
                        <a:t> a link is provided to view upcoming eligible history courses.</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7" name="Table 6">
            <a:extLst>
              <a:ext uri="{FF2B5EF4-FFF2-40B4-BE49-F238E27FC236}">
                <a16:creationId xmlns:a16="http://schemas.microsoft.com/office/drawing/2014/main" id="{025C06D4-D60A-7EFC-B08C-3C3FF265ABC5}"/>
              </a:ext>
            </a:extLst>
          </p:cNvPr>
          <p:cNvGraphicFramePr>
            <a:graphicFrameLocks noGrp="1"/>
          </p:cNvGraphicFramePr>
          <p:nvPr>
            <p:extLst>
              <p:ext uri="{D42A27DB-BD31-4B8C-83A1-F6EECF244321}">
                <p14:modId xmlns:p14="http://schemas.microsoft.com/office/powerpoint/2010/main" val="1477592632"/>
              </p:ext>
            </p:extLst>
          </p:nvPr>
        </p:nvGraphicFramePr>
        <p:xfrm>
          <a:off x="457200" y="484625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u="none" strike="noStrike" kern="1200" dirty="0">
                          <a:solidFill>
                            <a:schemeClr val="tx1"/>
                          </a:solidFill>
                          <a:effectLst/>
                          <a:latin typeface="Times New Roman" panose="02020603050405020304" pitchFamily="18" charset="0"/>
                          <a:ea typeface="+mn-ea"/>
                          <a:cs typeface="Times New Roman" panose="02020603050405020304" pitchFamily="18" charset="0"/>
                        </a:rPr>
                        <a:t>Then</a:t>
                      </a:r>
                      <a:r>
                        <a:rPr lang="en-US" sz="2000" b="0" dirty="0">
                          <a:solidFill>
                            <a:schemeClr val="tx1"/>
                          </a:solidFill>
                          <a:latin typeface="Times New Roman" panose="02020603050405020304" pitchFamily="18" charset="0"/>
                          <a:cs typeface="Times New Roman" panose="02020603050405020304" pitchFamily="18" charset="0"/>
                        </a:rPr>
                        <a:t> the system displays a red "Incomplete" icon next to it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270160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0699B-6A85-189B-12FD-8C37AAE10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EB194-BA0A-9BC8-B7EA-B2623AF611E9}"/>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User Stories: Acceptance Criteria</a:t>
            </a:r>
          </a:p>
        </p:txBody>
      </p:sp>
      <p:sp>
        <p:nvSpPr>
          <p:cNvPr id="3" name="Content Placeholder 2">
            <a:extLst>
              <a:ext uri="{FF2B5EF4-FFF2-40B4-BE49-F238E27FC236}">
                <a16:creationId xmlns:a16="http://schemas.microsoft.com/office/drawing/2014/main" id="{B1611214-FCFF-614E-3222-21FEB9AE793F}"/>
              </a:ext>
            </a:extLst>
          </p:cNvPr>
          <p:cNvSpPr>
            <a:spLocks noGrp="1"/>
          </p:cNvSpPr>
          <p:nvPr>
            <p:ph idx="1"/>
          </p:nvPr>
        </p:nvSpPr>
        <p:spPr>
          <a:xfrm>
            <a:off x="457200" y="1600200"/>
            <a:ext cx="8229600" cy="4837176"/>
          </a:xfrm>
        </p:spPr>
        <p:txBody>
          <a:bodyPr>
            <a:normAutofit/>
          </a:bodyPr>
          <a:lstStyle/>
          <a:p>
            <a:pPr marL="0" indent="0" algn="just">
              <a:buNone/>
            </a:pPr>
            <a:endParaRPr lang="en-US" sz="2800" b="1" dirty="0">
              <a:latin typeface="Times New Roman Regular" panose="02020603050405020304" charset="0"/>
              <a:cs typeface="Times New Roman Regular" panose="02020603050405020304" charset="0"/>
            </a:endParaRPr>
          </a:p>
        </p:txBody>
      </p:sp>
      <p:graphicFrame>
        <p:nvGraphicFramePr>
          <p:cNvPr id="4" name="Table 3">
            <a:extLst>
              <a:ext uri="{FF2B5EF4-FFF2-40B4-BE49-F238E27FC236}">
                <a16:creationId xmlns:a16="http://schemas.microsoft.com/office/drawing/2014/main" id="{55475C4A-52C0-1539-D85A-CE433FAF3A4B}"/>
              </a:ext>
            </a:extLst>
          </p:cNvPr>
          <p:cNvGraphicFramePr>
            <a:graphicFrameLocks noGrp="1"/>
          </p:cNvGraphicFramePr>
          <p:nvPr>
            <p:extLst>
              <p:ext uri="{D42A27DB-BD31-4B8C-83A1-F6EECF244321}">
                <p14:modId xmlns:p14="http://schemas.microsoft.com/office/powerpoint/2010/main" val="4225664200"/>
              </p:ext>
            </p:extLst>
          </p:nvPr>
        </p:nvGraphicFramePr>
        <p:xfrm>
          <a:off x="457200" y="1604740"/>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dirty="0">
                          <a:solidFill>
                            <a:schemeClr val="tx1"/>
                          </a:solidFill>
                          <a:latin typeface="Times New Roman" panose="02020603050405020304" pitchFamily="18" charset="0"/>
                          <a:cs typeface="Times New Roman" panose="02020603050405020304" pitchFamily="18" charset="0"/>
                        </a:rPr>
                        <a:t>Scenario: </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As a customer, I want to be able to add items to my shopping cart so that I can purchase them later.</a:t>
                      </a:r>
                      <a:endParaRPr lang="en-US" sz="2000" b="0" dirty="0">
                        <a:solidFill>
                          <a:schemeClr val="tx1"/>
                        </a:solidFill>
                        <a:latin typeface="Times New Roman" panose="02020603050405020304" pitchFamily="18" charset="0"/>
                        <a:cs typeface="Times New Roman" panose="02020603050405020304" pitchFamily="18" charset="0"/>
                      </a:endParaRPr>
                    </a:p>
                  </a:txBody>
                  <a:tcPr>
                    <a:lnL w="76200" cap="flat" cmpd="sng" algn="ctr">
                      <a:solidFill>
                        <a:schemeClr val="tx2">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6" name="Table 5">
            <a:extLst>
              <a:ext uri="{FF2B5EF4-FFF2-40B4-BE49-F238E27FC236}">
                <a16:creationId xmlns:a16="http://schemas.microsoft.com/office/drawing/2014/main" id="{B65007F7-AE97-483A-15E9-1B6DCDE4421F}"/>
              </a:ext>
            </a:extLst>
          </p:cNvPr>
          <p:cNvGraphicFramePr>
            <a:graphicFrameLocks noGrp="1"/>
          </p:cNvGraphicFramePr>
          <p:nvPr>
            <p:extLst>
              <p:ext uri="{D42A27DB-BD31-4B8C-83A1-F6EECF244321}">
                <p14:modId xmlns:p14="http://schemas.microsoft.com/office/powerpoint/2010/main" val="1308493281"/>
              </p:ext>
            </p:extLst>
          </p:nvPr>
        </p:nvGraphicFramePr>
        <p:xfrm>
          <a:off x="457200" y="3241322"/>
          <a:ext cx="6096000" cy="3962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When</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I click the “Add to Cart” button for a product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7" name="Table 6">
            <a:extLst>
              <a:ext uri="{FF2B5EF4-FFF2-40B4-BE49-F238E27FC236}">
                <a16:creationId xmlns:a16="http://schemas.microsoft.com/office/drawing/2014/main" id="{04F8C872-C12C-4C70-0C37-515073E6DA37}"/>
              </a:ext>
            </a:extLst>
          </p:cNvPr>
          <p:cNvGraphicFramePr>
            <a:graphicFrameLocks noGrp="1"/>
          </p:cNvGraphicFramePr>
          <p:nvPr>
            <p:extLst>
              <p:ext uri="{D42A27DB-BD31-4B8C-83A1-F6EECF244321}">
                <p14:modId xmlns:p14="http://schemas.microsoft.com/office/powerpoint/2010/main" val="2085047924"/>
              </p:ext>
            </p:extLst>
          </p:nvPr>
        </p:nvGraphicFramePr>
        <p:xfrm>
          <a:off x="457200" y="2547870"/>
          <a:ext cx="6096000" cy="3962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Given</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I am on the product page</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5" name="Table 4">
            <a:extLst>
              <a:ext uri="{FF2B5EF4-FFF2-40B4-BE49-F238E27FC236}">
                <a16:creationId xmlns:a16="http://schemas.microsoft.com/office/drawing/2014/main" id="{E56FCBC4-5C9F-D849-8F72-A697AF4DA504}"/>
              </a:ext>
            </a:extLst>
          </p:cNvPr>
          <p:cNvGraphicFramePr>
            <a:graphicFrameLocks noGrp="1"/>
          </p:cNvGraphicFramePr>
          <p:nvPr>
            <p:extLst>
              <p:ext uri="{D42A27DB-BD31-4B8C-83A1-F6EECF244321}">
                <p14:modId xmlns:p14="http://schemas.microsoft.com/office/powerpoint/2010/main" val="2429349830"/>
              </p:ext>
            </p:extLst>
          </p:nvPr>
        </p:nvGraphicFramePr>
        <p:xfrm>
          <a:off x="457200" y="3934774"/>
          <a:ext cx="6096000" cy="3962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Then</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The product should be added to my shopping cart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8" name="Table 7">
            <a:extLst>
              <a:ext uri="{FF2B5EF4-FFF2-40B4-BE49-F238E27FC236}">
                <a16:creationId xmlns:a16="http://schemas.microsoft.com/office/drawing/2014/main" id="{590B9DB1-8E16-8A2C-C87C-EF92C178D7D9}"/>
              </a:ext>
            </a:extLst>
          </p:cNvPr>
          <p:cNvGraphicFramePr>
            <a:graphicFrameLocks noGrp="1"/>
          </p:cNvGraphicFramePr>
          <p:nvPr>
            <p:extLst>
              <p:ext uri="{D42A27DB-BD31-4B8C-83A1-F6EECF244321}">
                <p14:modId xmlns:p14="http://schemas.microsoft.com/office/powerpoint/2010/main" val="1765468717"/>
              </p:ext>
            </p:extLst>
          </p:nvPr>
        </p:nvGraphicFramePr>
        <p:xfrm>
          <a:off x="457200" y="4628226"/>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And</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The cart icon in the navigation bar should display the updated item count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graphicFrame>
        <p:nvGraphicFramePr>
          <p:cNvPr id="9" name="Table 8">
            <a:extLst>
              <a:ext uri="{FF2B5EF4-FFF2-40B4-BE49-F238E27FC236}">
                <a16:creationId xmlns:a16="http://schemas.microsoft.com/office/drawing/2014/main" id="{797DF3C3-A4D9-307D-D46D-FCD4C16E80A7}"/>
              </a:ext>
            </a:extLst>
          </p:cNvPr>
          <p:cNvGraphicFramePr>
            <a:graphicFrameLocks noGrp="1"/>
          </p:cNvGraphicFramePr>
          <p:nvPr>
            <p:extLst>
              <p:ext uri="{D42A27DB-BD31-4B8C-83A1-F6EECF244321}">
                <p14:modId xmlns:p14="http://schemas.microsoft.com/office/powerpoint/2010/main" val="2209565521"/>
              </p:ext>
            </p:extLst>
          </p:nvPr>
        </p:nvGraphicFramePr>
        <p:xfrm>
          <a:off x="457200" y="5626478"/>
          <a:ext cx="6096000" cy="701040"/>
        </p:xfrm>
        <a:graphic>
          <a:graphicData uri="http://schemas.openxmlformats.org/drawingml/2006/table">
            <a:tbl>
              <a:tblPr firstRow="1" bandRow="1">
                <a:effectLst/>
                <a:tableStyleId>{5C22544A-7EE6-4342-B048-85BDC9FD1C3A}</a:tableStyleId>
              </a:tblPr>
              <a:tblGrid>
                <a:gridCol w="6096000">
                  <a:extLst>
                    <a:ext uri="{9D8B030D-6E8A-4147-A177-3AD203B41FA5}">
                      <a16:colId xmlns:a16="http://schemas.microsoft.com/office/drawing/2014/main" val="793038940"/>
                    </a:ext>
                  </a:extLst>
                </a:gridCol>
              </a:tblGrid>
              <a:tr h="370840">
                <a:tc>
                  <a:txBody>
                    <a:bodyPr/>
                    <a:lstStyle/>
                    <a:p>
                      <a:r>
                        <a:rPr lang="en-US" sz="2000" b="1" i="0" kern="1200" dirty="0">
                          <a:solidFill>
                            <a:schemeClr val="tx1"/>
                          </a:solidFill>
                          <a:effectLst/>
                          <a:latin typeface="Times New Roman" panose="02020603050405020304" pitchFamily="18" charset="0"/>
                          <a:ea typeface="+mn-ea"/>
                          <a:cs typeface="Times New Roman" panose="02020603050405020304" pitchFamily="18" charset="0"/>
                        </a:rPr>
                        <a:t>And</a:t>
                      </a:r>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 I should see a confirmation message indicating the addition of the product to the cart</a:t>
                      </a:r>
                    </a:p>
                  </a:txBody>
                  <a:tcPr>
                    <a:lnL w="76200" cap="flat" cmpd="sng" algn="ctr">
                      <a:solidFill>
                        <a:schemeClr val="accent3">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65514566"/>
                  </a:ext>
                </a:extLst>
              </a:tr>
            </a:tbl>
          </a:graphicData>
        </a:graphic>
      </p:graphicFrame>
    </p:spTree>
    <p:extLst>
      <p:ext uri="{BB962C8B-B14F-4D97-AF65-F5344CB8AC3E}">
        <p14:creationId xmlns:p14="http://schemas.microsoft.com/office/powerpoint/2010/main" val="168500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5D22E-7D6D-6E6F-37AF-94E22824F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ACCE1-0415-3CAD-9ABE-D62CAE56F16B}"/>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So Far…</a:t>
            </a:r>
          </a:p>
        </p:txBody>
      </p:sp>
      <p:sp>
        <p:nvSpPr>
          <p:cNvPr id="3" name="Content Placeholder 2">
            <a:extLst>
              <a:ext uri="{FF2B5EF4-FFF2-40B4-BE49-F238E27FC236}">
                <a16:creationId xmlns:a16="http://schemas.microsoft.com/office/drawing/2014/main" id="{701DD966-37F7-85CF-D3F4-B899C9C51BE4}"/>
              </a:ext>
            </a:extLst>
          </p:cNvPr>
          <p:cNvSpPr>
            <a:spLocks noGrp="1"/>
          </p:cNvSpPr>
          <p:nvPr>
            <p:ph idx="1"/>
          </p:nvPr>
        </p:nvSpPr>
        <p:spPr>
          <a:xfrm>
            <a:off x="457200" y="1600200"/>
            <a:ext cx="8229600" cy="4837176"/>
          </a:xfrm>
        </p:spPr>
        <p:txBody>
          <a:bodyPr>
            <a:normAutofit/>
          </a:bodyPr>
          <a:lstStyle/>
          <a:p>
            <a:pPr algn="just"/>
            <a:r>
              <a:rPr lang="en-US" sz="2800" dirty="0">
                <a:latin typeface="Times New Roman Regular" panose="02020603050405020304" charset="0"/>
                <a:cs typeface="Times New Roman Regular" panose="02020603050405020304" charset="0"/>
              </a:rPr>
              <a:t>What’s Wrong with Raw Requirements</a:t>
            </a:r>
          </a:p>
          <a:p>
            <a:pPr algn="just"/>
            <a:r>
              <a:rPr lang="en-US" sz="2800" dirty="0">
                <a:latin typeface="Times New Roman Regular" panose="02020603050405020304" charset="0"/>
                <a:cs typeface="Times New Roman Regular" panose="02020603050405020304" charset="0"/>
              </a:rPr>
              <a:t>Defined Requirements Analysis</a:t>
            </a:r>
          </a:p>
          <a:p>
            <a:pPr algn="just"/>
            <a:r>
              <a:rPr lang="en-US" sz="2800" dirty="0">
                <a:latin typeface="Times New Roman Regular" panose="02020603050405020304" charset="0"/>
                <a:cs typeface="Times New Roman Regular" panose="02020603050405020304" charset="0"/>
              </a:rPr>
              <a:t>Rationale for Performing Requirements Analysis</a:t>
            </a:r>
          </a:p>
          <a:p>
            <a:pPr algn="just"/>
            <a:r>
              <a:rPr lang="en-US" sz="2800" dirty="0">
                <a:latin typeface="Times New Roman Regular" panose="02020603050405020304" charset="0"/>
                <a:cs typeface="Times New Roman Regular" panose="02020603050405020304" charset="0"/>
              </a:rPr>
              <a:t>Structuring Requirements (Use Cases and User Stories)</a:t>
            </a:r>
          </a:p>
          <a:p>
            <a:pPr algn="just"/>
            <a:r>
              <a:rPr lang="en-US" sz="2800" dirty="0">
                <a:latin typeface="Times New Roman Regular" panose="02020603050405020304" charset="0"/>
                <a:cs typeface="Times New Roman Regular" panose="02020603050405020304" charset="0"/>
              </a:rPr>
              <a:t>Use Cases and Use Case Diagrams</a:t>
            </a:r>
          </a:p>
          <a:p>
            <a:pPr algn="just"/>
            <a:r>
              <a:rPr lang="en-US" sz="2800" dirty="0">
                <a:latin typeface="Times New Roman Regular" panose="02020603050405020304" charset="0"/>
                <a:cs typeface="Times New Roman Regular" panose="02020603050405020304" charset="0"/>
              </a:rPr>
              <a:t>User Stories – 3C’s, INVEST, Acceptance Criteria</a:t>
            </a:r>
          </a:p>
        </p:txBody>
      </p:sp>
    </p:spTree>
    <p:extLst>
      <p:ext uri="{BB962C8B-B14F-4D97-AF65-F5344CB8AC3E}">
        <p14:creationId xmlns:p14="http://schemas.microsoft.com/office/powerpoint/2010/main" val="208142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F576-27DA-73A4-A60B-0DD5EFC26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09E09-3FC9-B717-6F67-05D3BA759E92}"/>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References</a:t>
            </a:r>
          </a:p>
        </p:txBody>
      </p:sp>
      <p:sp>
        <p:nvSpPr>
          <p:cNvPr id="3" name="Content Placeholder 2">
            <a:extLst>
              <a:ext uri="{FF2B5EF4-FFF2-40B4-BE49-F238E27FC236}">
                <a16:creationId xmlns:a16="http://schemas.microsoft.com/office/drawing/2014/main" id="{634D6992-8DF4-1E81-75AD-C5095975B2E8}"/>
              </a:ext>
            </a:extLst>
          </p:cNvPr>
          <p:cNvSpPr>
            <a:spLocks noGrp="1"/>
          </p:cNvSpPr>
          <p:nvPr>
            <p:ph idx="1"/>
          </p:nvPr>
        </p:nvSpPr>
        <p:spPr>
          <a:xfrm>
            <a:off x="457200" y="1600200"/>
            <a:ext cx="8229600" cy="4398264"/>
          </a:xfrm>
        </p:spPr>
        <p:txBody>
          <a:bodyPr>
            <a:noAutofit/>
          </a:bodyPr>
          <a:lstStyle/>
          <a:p>
            <a:r>
              <a:rPr lang="en-US" sz="2200" dirty="0">
                <a:latin typeface="Times New Roman" panose="02020603050405020304" pitchFamily="18" charset="0"/>
                <a:cs typeface="Times New Roman" panose="02020603050405020304" pitchFamily="18" charset="0"/>
              </a:rPr>
              <a:t>“OWASP Product Security Guide | OWASP Foundation.” </a:t>
            </a:r>
            <a:r>
              <a:rPr lang="en-US" sz="2200" dirty="0">
                <a:latin typeface="Times New Roman" panose="02020603050405020304" pitchFamily="18" charset="0"/>
                <a:cs typeface="Times New Roman" panose="02020603050405020304" pitchFamily="18" charset="0"/>
                <a:hlinkClick r:id="rId2"/>
              </a:rPr>
              <a:t>https://owasp.org/www-project-product-security-guide/</a:t>
            </a:r>
            <a:endParaRPr lang="en-US" sz="2200" dirty="0">
              <a:latin typeface="Times New Roman" panose="02020603050405020304" pitchFamily="18" charset="0"/>
              <a:cs typeface="Times New Roman" panose="02020603050405020304" pitchFamily="18" charset="0"/>
            </a:endParaRPr>
          </a:p>
          <a:p>
            <a:r>
              <a:rPr lang="en-US" sz="2200" dirty="0" err="1">
                <a:latin typeface="Times New Roman" panose="02020603050405020304" pitchFamily="18" charset="0"/>
                <a:cs typeface="Times New Roman" panose="02020603050405020304" pitchFamily="18" charset="0"/>
              </a:rPr>
              <a:t>GeeksforGeeks</a:t>
            </a:r>
            <a:r>
              <a:rPr lang="en-US" sz="2200" dirty="0">
                <a:latin typeface="Times New Roman" panose="02020603050405020304" pitchFamily="18" charset="0"/>
                <a:cs typeface="Times New Roman" panose="02020603050405020304" pitchFamily="18" charset="0"/>
              </a:rPr>
              <a:t>, “Use Case Diagram Unified Modeling Language (UML),” </a:t>
            </a:r>
            <a:r>
              <a:rPr lang="en-US" sz="2200" i="1" dirty="0" err="1">
                <a:latin typeface="Times New Roman" panose="02020603050405020304" pitchFamily="18" charset="0"/>
                <a:cs typeface="Times New Roman" panose="02020603050405020304" pitchFamily="18" charset="0"/>
              </a:rPr>
              <a:t>GeeksforGeeks</a:t>
            </a:r>
            <a:r>
              <a:rPr lang="en-US" sz="2200" dirty="0">
                <a:latin typeface="Times New Roman" panose="02020603050405020304" pitchFamily="18" charset="0"/>
                <a:cs typeface="Times New Roman" panose="02020603050405020304" pitchFamily="18" charset="0"/>
              </a:rPr>
              <a:t>, Jun. 24, 2026. </a:t>
            </a:r>
            <a:r>
              <a:rPr lang="en-US" sz="2200" dirty="0">
                <a:latin typeface="Times New Roman" panose="02020603050405020304" pitchFamily="18" charset="0"/>
                <a:cs typeface="Times New Roman" panose="02020603050405020304" pitchFamily="18" charset="0"/>
                <a:hlinkClick r:id="rId3"/>
              </a:rPr>
              <a:t>https://www.geeksforgeeks.org/system-design/use-case-diagram/</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Atlassian, “User stories with examples and a template | Atlassian,” Mar. 10, 2026. </a:t>
            </a:r>
            <a:r>
              <a:rPr lang="en-US" sz="2200" dirty="0">
                <a:latin typeface="Times New Roman" panose="02020603050405020304" pitchFamily="18" charset="0"/>
                <a:cs typeface="Times New Roman" panose="02020603050405020304" pitchFamily="18" charset="0"/>
                <a:hlinkClick r:id="rId4"/>
              </a:rPr>
              <a:t>https://www.atlassian.com/agile/project-management/user-stories</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 B. Salem, “Creating the perfect user story with INVEST criteria - </a:t>
            </a:r>
            <a:r>
              <a:rPr lang="en-US" sz="2200" dirty="0" err="1">
                <a:latin typeface="Times New Roman" panose="02020603050405020304" pitchFamily="18" charset="0"/>
                <a:cs typeface="Times New Roman" panose="02020603050405020304" pitchFamily="18" charset="0"/>
              </a:rPr>
              <a:t>Scrum-Master·Org</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Scrum Master #1</a:t>
            </a:r>
            <a:r>
              <a:rPr lang="en-US" sz="2200" dirty="0">
                <a:latin typeface="Times New Roman" panose="02020603050405020304" pitchFamily="18" charset="0"/>
                <a:cs typeface="Times New Roman" panose="02020603050405020304" pitchFamily="18" charset="0"/>
              </a:rPr>
              <a:t>, Jun. 20, 2024. </a:t>
            </a:r>
            <a:r>
              <a:rPr lang="en-US" sz="2200" dirty="0">
                <a:latin typeface="Times New Roman" panose="02020603050405020304" pitchFamily="18" charset="0"/>
                <a:cs typeface="Times New Roman" panose="02020603050405020304" pitchFamily="18" charset="0"/>
                <a:hlinkClick r:id="rId5"/>
              </a:rPr>
              <a:t>https://scrum-master.org/en/creating-the-perfect-user-story-with-invest-criteria/</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752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B94D-A622-31A5-14CC-324EBF9E8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CF3A1-85FE-6EF3-94A8-03F9FED1FA97}"/>
              </a:ext>
            </a:extLst>
          </p:cNvPr>
          <p:cNvSpPr>
            <a:spLocks noGrp="1"/>
          </p:cNvSpPr>
          <p:nvPr>
            <p:ph type="title"/>
          </p:nvPr>
        </p:nvSpPr>
        <p:spPr>
          <a:solidFill>
            <a:schemeClr val="tx1"/>
          </a:solidFill>
        </p:spPr>
        <p:txBody>
          <a:bodyPr>
            <a:normAutofit/>
          </a:bodyPr>
          <a:lstStyle/>
          <a:p>
            <a:r>
              <a:rPr lang="en-US" dirty="0">
                <a:solidFill>
                  <a:srgbClr val="FFFF00"/>
                </a:solidFill>
                <a:latin typeface="Times New Roman Regular" panose="02020603050405020304" charset="0"/>
                <a:cs typeface="Times New Roman Regular" panose="02020603050405020304" charset="0"/>
              </a:rPr>
              <a:t>References</a:t>
            </a:r>
          </a:p>
        </p:txBody>
      </p:sp>
      <p:sp>
        <p:nvSpPr>
          <p:cNvPr id="3" name="Content Placeholder 2">
            <a:extLst>
              <a:ext uri="{FF2B5EF4-FFF2-40B4-BE49-F238E27FC236}">
                <a16:creationId xmlns:a16="http://schemas.microsoft.com/office/drawing/2014/main" id="{D457E27F-B66F-B633-513E-B266CC8E8645}"/>
              </a:ext>
            </a:extLst>
          </p:cNvPr>
          <p:cNvSpPr>
            <a:spLocks noGrp="1"/>
          </p:cNvSpPr>
          <p:nvPr>
            <p:ph idx="1"/>
          </p:nvPr>
        </p:nvSpPr>
        <p:spPr>
          <a:xfrm>
            <a:off x="457200" y="1600200"/>
            <a:ext cx="8229600" cy="4398264"/>
          </a:xfrm>
        </p:spPr>
        <p:txBody>
          <a:bodyPr>
            <a:noAutofit/>
          </a:bodyPr>
          <a:lstStyle/>
          <a:p>
            <a:r>
              <a:rPr lang="en-US" sz="2200" dirty="0">
                <a:latin typeface="Times New Roman" panose="02020603050405020304" pitchFamily="18" charset="0"/>
                <a:cs typeface="Times New Roman" panose="02020603050405020304" pitchFamily="18" charset="0"/>
              </a:rPr>
              <a:t>“Give / when / then acceptance criteria for user stories in agile development,” </a:t>
            </a:r>
            <a:r>
              <a:rPr lang="en-US" sz="2200" i="1" dirty="0">
                <a:latin typeface="Times New Roman" panose="02020603050405020304" pitchFamily="18" charset="0"/>
                <a:cs typeface="Times New Roman" panose="02020603050405020304" pitchFamily="18" charset="0"/>
              </a:rPr>
              <a:t>Visual Paradigm Guides</a:t>
            </a:r>
            <a:r>
              <a:rPr lang="en-US" sz="2200" dirty="0">
                <a:latin typeface="Times New Roman" panose="02020603050405020304" pitchFamily="18" charset="0"/>
                <a:cs typeface="Times New Roman" panose="02020603050405020304" pitchFamily="18" charset="0"/>
              </a:rPr>
              <a:t>, Sep. 18, 2023. </a:t>
            </a:r>
            <a:r>
              <a:rPr lang="en-US" sz="2200" dirty="0">
                <a:latin typeface="Times New Roman" panose="02020603050405020304" pitchFamily="18" charset="0"/>
                <a:cs typeface="Times New Roman" panose="02020603050405020304" pitchFamily="18" charset="0"/>
                <a:hlinkClick r:id="rId2"/>
              </a:rPr>
              <a:t>https://guides.visual-paradigm.com/give-when-then-acceptance-criteria-for-user-stories-in-agile-development/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3235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11509</TotalTime>
  <Words>2162</Words>
  <Application>Microsoft Office PowerPoint</Application>
  <PresentationFormat>On-screen Show (4:3)</PresentationFormat>
  <Paragraphs>225</Paragraphs>
  <Slides>36</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Aptos</vt:lpstr>
      <vt:lpstr>Arial</vt:lpstr>
      <vt:lpstr>Calibri</vt:lpstr>
      <vt:lpstr>Times New Roman</vt:lpstr>
      <vt:lpstr>Times New Roman Bold</vt:lpstr>
      <vt:lpstr>Times New Roman Regular</vt:lpstr>
      <vt:lpstr>Wingdings</vt:lpstr>
      <vt:lpstr>Office Theme</vt:lpstr>
      <vt:lpstr>REQUIREMENT ENGINEERING </vt:lpstr>
      <vt:lpstr>Lesson 5: Requirement Analysis</vt:lpstr>
      <vt:lpstr>Previously…</vt:lpstr>
      <vt:lpstr>Chapter Outlines </vt:lpstr>
      <vt:lpstr>Where We Are Now</vt:lpstr>
      <vt:lpstr>What’s Wrong with Raw Requirements?</vt:lpstr>
      <vt:lpstr>What is Requirements Analysis?</vt:lpstr>
      <vt:lpstr>What is Requirements Analysis</vt:lpstr>
      <vt:lpstr>Why Requirements Analysis</vt:lpstr>
      <vt:lpstr>Structuring Requirements (Use Cases vs User Stories)</vt:lpstr>
      <vt:lpstr>Use Cases</vt:lpstr>
      <vt:lpstr>Use Cases</vt:lpstr>
      <vt:lpstr>Use Cases</vt:lpstr>
      <vt:lpstr>Use Cases</vt:lpstr>
      <vt:lpstr>Use Cases</vt:lpstr>
      <vt:lpstr>Use Cases</vt:lpstr>
      <vt:lpstr>Use Cases</vt:lpstr>
      <vt:lpstr>Use Cases</vt:lpstr>
      <vt:lpstr>User Stories</vt:lpstr>
      <vt:lpstr>User Stories</vt:lpstr>
      <vt:lpstr>User Stories</vt:lpstr>
      <vt:lpstr>User Stories</vt:lpstr>
      <vt:lpstr>Writing User Stories: INVEST</vt:lpstr>
      <vt:lpstr>Writing User Stories: INVEST</vt:lpstr>
      <vt:lpstr>Writing User Stories: INVEST</vt:lpstr>
      <vt:lpstr>Writing User Stories: INVEST</vt:lpstr>
      <vt:lpstr>Writing User Stories: INVEST</vt:lpstr>
      <vt:lpstr>Writing User Stories: INVEST</vt:lpstr>
      <vt:lpstr>User Stories: Acceptance Criteria</vt:lpstr>
      <vt:lpstr>User Stories: Acceptance Criteria</vt:lpstr>
      <vt:lpstr>User Stories: Acceptance Criteria</vt:lpstr>
      <vt:lpstr>User Stories: Acceptance Criteria</vt:lpstr>
      <vt:lpstr>User Stories: Acceptance Criteria</vt:lpstr>
      <vt:lpstr>So Far…</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 </dc:title>
  <dc:creator>STUDENT</dc:creator>
  <dc:description>generated using python-pptx</dc:description>
  <cp:lastModifiedBy>user</cp:lastModifiedBy>
  <cp:revision>29</cp:revision>
  <dcterms:created xsi:type="dcterms:W3CDTF">2026-02-12T12:59:59Z</dcterms:created>
  <dcterms:modified xsi:type="dcterms:W3CDTF">2026-07-14T15:38:52Z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1033-12.1.23155.23155</vt:lpwstr>
  </property>
  <property fmtid="{D5CDD505-2E9C-101B-9397-08002B2CF9AE}" pid="3" name="ICV">
    <vt:lpwstr>83F5A14D51F2EB5EDF1EEC661AE8FD04_43</vt:lpwstr>
  </property>
</Properties>
</file>