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34" r:id="rId3"/>
    <p:sldId id="332" r:id="rId4"/>
    <p:sldId id="406" r:id="rId5"/>
    <p:sldId id="381" r:id="rId6"/>
    <p:sldId id="382" r:id="rId7"/>
    <p:sldId id="383" r:id="rId8"/>
    <p:sldId id="384" r:id="rId9"/>
    <p:sldId id="385" r:id="rId10"/>
    <p:sldId id="386" r:id="rId11"/>
    <p:sldId id="387" r:id="rId12"/>
    <p:sldId id="388" r:id="rId13"/>
    <p:sldId id="409" r:id="rId14"/>
    <p:sldId id="408" r:id="rId15"/>
    <p:sldId id="389" r:id="rId16"/>
    <p:sldId id="390" r:id="rId17"/>
    <p:sldId id="392" r:id="rId18"/>
    <p:sldId id="407" r:id="rId19"/>
    <p:sldId id="410" r:id="rId20"/>
    <p:sldId id="411" r:id="rId21"/>
    <p:sldId id="393" r:id="rId22"/>
    <p:sldId id="394" r:id="rId23"/>
    <p:sldId id="412" r:id="rId24"/>
    <p:sldId id="395" r:id="rId25"/>
    <p:sldId id="396" r:id="rId26"/>
    <p:sldId id="397" r:id="rId27"/>
    <p:sldId id="398" r:id="rId28"/>
    <p:sldId id="399" r:id="rId29"/>
    <p:sldId id="400" r:id="rId30"/>
    <p:sldId id="401" r:id="rId31"/>
    <p:sldId id="402" r:id="rId32"/>
    <p:sldId id="403" r:id="rId33"/>
    <p:sldId id="405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84" d="100"/>
          <a:sy n="84" d="100"/>
        </p:scale>
        <p:origin x="55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635" cy="1470025"/>
          </a:xfrm>
          <a:solidFill>
            <a:schemeClr val="tx1"/>
          </a:solidFill>
        </p:spPr>
        <p:txBody>
          <a:bodyPr/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REQUIREMENT ENGINEERING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Previously…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704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Introduction to Requirement Analysis</a:t>
            </a:r>
          </a:p>
          <a:p>
            <a:pPr algn="just"/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Structuring Requirements (Use Cases and User Stories)</a:t>
            </a:r>
          </a:p>
          <a:p>
            <a:pPr algn="just"/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Requirement Prioritization</a:t>
            </a:r>
          </a:p>
          <a:p>
            <a:pPr algn="just"/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Conflict Resolution in Requirements</a:t>
            </a:r>
          </a:p>
          <a:p>
            <a:pPr algn="just"/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Requirement Modeling</a:t>
            </a:r>
          </a:p>
          <a:p>
            <a:pPr algn="just"/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Quality Attributes of Good Requirements</a:t>
            </a:r>
          </a:p>
          <a:p>
            <a:pPr algn="just"/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PIECES Framework for Requirement Analysis</a:t>
            </a:r>
          </a:p>
          <a:p>
            <a:pPr algn="just"/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Tools for Requirement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25140"/>
            <a:ext cx="9144000" cy="162242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 6: Requirement Specification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58142-92A0-3547-18B7-AACF50D7C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2A00B-2219-EBFB-DE3E-B7B8CF3B9D3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Chapter Outlines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EC721-C149-3BFE-4974-A3D75631B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70400"/>
          </a:xfrm>
        </p:spPr>
        <p:txBody>
          <a:bodyPr/>
          <a:lstStyle/>
          <a:p>
            <a:pPr algn="just"/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Introduction to Requirement Specification</a:t>
            </a:r>
          </a:p>
          <a:p>
            <a:pPr algn="just"/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Structure of a Software Requirements Specification (SRS)</a:t>
            </a:r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Document</a:t>
            </a:r>
            <a:endParaRPr sz="28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r>
              <a:rPr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Writing Clear Requirements</a:t>
            </a:r>
          </a:p>
          <a:p>
            <a:pPr algn="just"/>
            <a:r>
              <a:rPr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Validation and Verification of Requirements</a:t>
            </a:r>
          </a:p>
          <a:p>
            <a:pPr algn="just"/>
            <a:r>
              <a:rPr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Deliverables at the End of the Requirement Specification Phase</a:t>
            </a:r>
          </a:p>
        </p:txBody>
      </p:sp>
    </p:spTree>
    <p:extLst>
      <p:ext uri="{BB962C8B-B14F-4D97-AF65-F5344CB8AC3E}">
        <p14:creationId xmlns:p14="http://schemas.microsoft.com/office/powerpoint/2010/main" val="311848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1. </a:t>
            </a:r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Introduction to Requirement Specification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463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Requirement Specification is </a:t>
            </a:r>
            <a:r>
              <a:rPr sz="2800" b="1" dirty="0">
                <a:latin typeface="Times New Roman Regular" panose="02020603050405020304" charset="0"/>
                <a:cs typeface="Times New Roman Regular" panose="02020603050405020304" charset="0"/>
              </a:rPr>
              <a:t>the process of clearly defining and documenting all the system's functional and non-functional requirements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endParaRPr lang="en-US" sz="28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 algn="just">
              <a:buNone/>
            </a:pP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It typically results in an SRS document, which outlines </a:t>
            </a:r>
            <a:r>
              <a:rPr sz="2800" b="1" dirty="0">
                <a:latin typeface="Times New Roman Regular" panose="02020603050405020304" charset="0"/>
                <a:cs typeface="Times New Roman Regular" panose="02020603050405020304" charset="0"/>
              </a:rPr>
              <a:t>what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the system will do and </a:t>
            </a:r>
            <a:r>
              <a:rPr sz="2800" b="1" dirty="0">
                <a:latin typeface="Times New Roman Regular" panose="02020603050405020304" charset="0"/>
                <a:cs typeface="Times New Roman Regular" panose="02020603050405020304" charset="0"/>
              </a:rPr>
              <a:t>how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it will perform under different conditions.</a:t>
            </a:r>
          </a:p>
          <a:p>
            <a:pPr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Objectives: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Ensure all stakeholders (developers, testers, clients) have a clear understanding of system requirements.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1. </a:t>
            </a:r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Introduction to Requirement Specification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476625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Provide a baseline for system design, development, and testing.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Serve as a reference throughout the software development lifecycle to avoid scope creep and misunderstandings.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1868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A well-organized SRS should be clear, concise, and complete. It typically follows a standard structure, which includes the following sections:</a:t>
            </a:r>
          </a:p>
          <a:p>
            <a:pPr marL="0" lvl="0" indent="0" algn="just">
              <a:buNone/>
            </a:pPr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2.1 Introduction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Purpose: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State the </a:t>
            </a:r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goal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of the SRS document and its intended audience (developers, project managers, testers, etc.).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Scope: </a:t>
            </a:r>
            <a:r>
              <a:rPr lang="en-US" sz="2800" dirty="0">
                <a:latin typeface="Times New Roman Regular" panose="02020603050405020304" charset="0"/>
                <a:cs typeface="Times New Roman Bold" panose="02020603050405020304" charset="0"/>
              </a:rPr>
              <a:t>Provide a description 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of the system, including what the system will and will not cover.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8580"/>
          </a:xfrm>
        </p:spPr>
        <p:txBody>
          <a:bodyPr>
            <a:noAutofit/>
          </a:bodyPr>
          <a:lstStyle/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Definitions, Acronyms, and Abbreviations: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List any technical terms or acronyms used in the document.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References: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Mention any related documents, standards, or guidelines.</a:t>
            </a:r>
          </a:p>
          <a:p>
            <a:pPr lvl="0" algn="just"/>
            <a:r>
              <a:rPr sz="2800" b="1" dirty="0">
                <a:latin typeface="Times New Roman Bold" panose="02020603050405020304" charset="0"/>
                <a:cs typeface="Times New Roman Bold" panose="02020603050405020304" charset="0"/>
              </a:rPr>
              <a:t>Overview:</a:t>
            </a: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 Provide an overview of the rest of the SRS, briefly summarizing its content.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8580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System Overview</a:t>
            </a: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Purpose: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 the overall objectives of the system and how it fits into the business or user needs.</a:t>
            </a: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Context: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Describe how the system will interact with other systems or stakeholders.</a:t>
            </a: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 and Dependencies: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 any assumptions made during the requirements gathering process and any dependencies on external systems or components.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8580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Functional Requirements</a:t>
            </a: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Functional requirements define the specific behaviors or functions of the system. These are typically described as actions the system must perform.</a:t>
            </a: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Break down the system's functional requirements into use cases, user stories, or features. Each requirement should be numbered and described in detail.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8580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format for functional requirements:</a:t>
            </a: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FR1: User Registration</a:t>
            </a:r>
          </a:p>
          <a:p>
            <a:pPr marL="0" lv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allow new users to register by providing their email, password, and contact details.</a:t>
            </a: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FR2: Product Search</a:t>
            </a:r>
          </a:p>
          <a:p>
            <a:pPr marL="0" lv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allow users to search for products by entering keywords, categories, or price ranges.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8580"/>
          </a:xfrm>
        </p:spPr>
        <p:txBody>
          <a:bodyPr>
            <a:noAutofit/>
          </a:bodyPr>
          <a:lstStyle/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FR3: Real-time Sensor Data (Smart Irrigation)</a:t>
            </a:r>
          </a:p>
          <a:p>
            <a:pPr marL="0" lv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collect real-time sensor data (moisture, temperature) and adjust irrigation schedules automatically.</a:t>
            </a:r>
          </a:p>
          <a:p>
            <a:pPr marL="0" lv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functional requirement:</a:t>
            </a: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 the input data or trigger events.</a:t>
            </a: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Describe what the system does with the input.</a:t>
            </a: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 the expected result or system behavior.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1D63A-035F-CF87-264D-E6A3078FF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EE9B-88ED-D6B4-35AE-436A752EAD9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FA61C-D5E6-95FE-C3E9-75CC06926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8580"/>
          </a:xfrm>
        </p:spPr>
        <p:txBody>
          <a:bodyPr>
            <a:noAutofit/>
          </a:bodyPr>
          <a:lstStyle/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FR3: Real-time Sensor Data (Smart Irrigation)</a:t>
            </a:r>
          </a:p>
          <a:p>
            <a:pPr marL="0" lv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collect real-time sensor data (moisture, temperature) and adjust irrigation schedules automatically.</a:t>
            </a:r>
          </a:p>
          <a:p>
            <a:pPr marL="0" lvl="0" indent="0" algn="just">
              <a:buNone/>
            </a:pP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sz="28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moisture and temperature readings pushed every 60 seconds from field sensors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readings against configured thresholds for the crop type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irrigation schedule and an alert if the sensor is not working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36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3163D-8F76-AD40-69A6-4680B8BBF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D7A14-ADA4-8B1D-3939-BECAD35CD33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6567B-42B0-43A7-F06B-658465D82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8580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Class Activity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of a domain for which you are creating an app.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three feature of the app / web app / system and write it as a function requirement in the format shown before.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input, process and output.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 with another group. Can they understand your functional requirement without asking a question?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8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8580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 Non-Functional Requirements (NFRs)</a:t>
            </a:r>
          </a:p>
          <a:p>
            <a:pPr lvl="0" algn="just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 define system attributes, such as performance, security, usability, and scalability.</a:t>
            </a:r>
          </a:p>
          <a:p>
            <a:pPr marL="0" lv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format for non-functional requirements:</a:t>
            </a: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NFR1: Performance</a:t>
            </a:r>
          </a:p>
          <a:p>
            <a:pPr lvl="1"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respond to user actions within 2 seconds for 90% of requests.</a:t>
            </a:r>
          </a:p>
          <a:p>
            <a:pPr marL="0" lvl="0" indent="0" algn="just">
              <a:buNone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8580"/>
          </a:xfrm>
        </p:spPr>
        <p:txBody>
          <a:bodyPr>
            <a:noAutofit/>
          </a:bodyPr>
          <a:lstStyle/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NFR2: Security</a:t>
            </a:r>
          </a:p>
          <a:p>
            <a:pPr lvl="1"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sensitive data must be encrypted in transit and at rest using industry-standard encryption algorithms.</a:t>
            </a: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NFR3: Usability</a:t>
            </a:r>
          </a:p>
          <a:p>
            <a:pPr lvl="1"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be accessible to users with disabilities, conforming to WCAG 2.0 standards.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9565"/>
            <a:ext cx="8229600" cy="4983797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Non-Functional Requirements:</a:t>
            </a: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times, throughput, load handling.</a:t>
            </a: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Encryption, access control, audit trails.</a:t>
            </a: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use, accessibility, user interface design.</a:t>
            </a:r>
          </a:p>
          <a:p>
            <a:pPr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rates</a:t>
            </a:r>
          </a:p>
          <a:p>
            <a:pPr lvl="0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uptime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Ability to handle increased loads or expand functionality.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C2C3B-719D-0CB3-52BE-FF845B79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D576-10CB-1AE4-0586-277B1642D4E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A20FC-95CA-83D5-03AB-B6F2293C4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99565"/>
            <a:ext cx="8229600" cy="2021459"/>
          </a:xfrm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Adherence to industry standards or regulations (e.g., GDPR, HIPAA).</a:t>
            </a:r>
          </a:p>
          <a:p>
            <a:pPr marL="0" lvl="0" indent="0" algn="just">
              <a:buNone/>
            </a:pP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15142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01FCF-F743-7C84-96F7-221C1379F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AD8DF-1DEB-BCD1-7A0B-91B5B4ACD7B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C1B31-C96E-648D-488B-5449DAC6C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99565"/>
            <a:ext cx="8229600" cy="4609211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Class Activity: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KAHOOT!! </a:t>
            </a:r>
            <a:r>
              <a:rPr lang="en-US" sz="28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kahoot.it</a:t>
            </a:r>
          </a:p>
        </p:txBody>
      </p:sp>
    </p:spTree>
    <p:extLst>
      <p:ext uri="{BB962C8B-B14F-4D97-AF65-F5344CB8AC3E}">
        <p14:creationId xmlns:p14="http://schemas.microsoft.com/office/powerpoint/2010/main" val="183495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74CB5-A94D-4D72-D757-0FEC51F00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4E944-F768-2CDE-772B-2EE73BC70D1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Yesterday…</a:t>
            </a:r>
            <a:endParaRPr lang="en-US" dirty="0">
              <a:solidFill>
                <a:srgbClr val="FFFF0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2F28F-7170-5969-7044-5BED7EB22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99565"/>
            <a:ext cx="8229600" cy="4609211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to Requirement Specification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sections that make up an SRS Document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Documenting FRs and NFRs</a:t>
            </a:r>
          </a:p>
          <a:p>
            <a:pPr marL="0" lvl="0" indent="0" algn="just">
              <a:buNone/>
            </a:pP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804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9565"/>
            <a:ext cx="8229600" cy="5258435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 System Models</a:t>
            </a:r>
          </a:p>
          <a:p>
            <a:pPr marL="0" lv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section, various models and diagrams should be included to visually represent the system’s behavior and structure. These models help clarify and communicate requirements more effectively.</a:t>
            </a:r>
          </a:p>
          <a:p>
            <a:pPr lvl="1" algn="just">
              <a:buFont typeface="Arial" panose="020B0604020202090204" pitchFamily="34" charset="0"/>
              <a:buChar char="•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Diagrams: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Illustrate how different users (actors) interact with the system.</a:t>
            </a:r>
          </a:p>
          <a:p>
            <a:pPr lvl="1" algn="just">
              <a:buFont typeface="Arial" panose="020B0604020202090204" pitchFamily="34" charset="0"/>
              <a:buChar char="•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Diagrams (DFDs):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how data moves through the system and the processes that transform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9565"/>
            <a:ext cx="8229600" cy="5258435"/>
          </a:xfrm>
        </p:spPr>
        <p:txBody>
          <a:bodyPr>
            <a:noAutofit/>
          </a:bodyPr>
          <a:lstStyle/>
          <a:p>
            <a:pPr lvl="1" algn="just">
              <a:buFont typeface="Arial" panose="020B0604020202090204" pitchFamily="34" charset="0"/>
              <a:buChar char="•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Entity-Relationship Diagrams (ERDs):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 the relationships between data entities within the system.</a:t>
            </a:r>
          </a:p>
          <a:p>
            <a:pPr lvl="1" algn="just">
              <a:buFont typeface="Arial" panose="020B0604020202090204" pitchFamily="34" charset="0"/>
              <a:buChar char="•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Diagrams: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Depict how system components interact over time to complete a process.</a:t>
            </a:r>
          </a:p>
          <a:p>
            <a:pPr lvl="0" algn="just">
              <a:buFont typeface="Arial" panose="020B0604020202090204" pitchFamily="34" charset="0"/>
              <a:buChar char="•"/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47B95-6699-01BF-A733-926603E78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03B31-D601-D5CD-E22C-1697A3225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pPr marL="5715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  <a:p>
            <a:pPr marL="5715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8B655-50B3-89C8-77DE-FC96C4796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999" y="658368"/>
            <a:ext cx="6571691" cy="501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2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9565"/>
            <a:ext cx="8229600" cy="5258435"/>
          </a:xfrm>
        </p:spPr>
        <p:txBody>
          <a:bodyPr>
            <a:noAutofit/>
          </a:bodyPr>
          <a:lstStyle/>
          <a:p>
            <a:pPr marL="0" lvl="0" indent="0" algn="just">
              <a:buFont typeface="Arial" panose="020B0604020202090204" pitchFamily="34" charset="0"/>
              <a:buNone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2.6 User Requirements</a:t>
            </a:r>
          </a:p>
          <a:p>
            <a:pPr lvl="0" algn="just">
              <a:buFont typeface="Arial" panose="020B0604020202090204" pitchFamily="34" charset="0"/>
              <a:buChar char="•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Personas: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Describe the different types of users who will interact with the 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9565"/>
            <a:ext cx="8229600" cy="4261739"/>
          </a:xfrm>
        </p:spPr>
        <p:txBody>
          <a:bodyPr>
            <a:noAutofit/>
          </a:bodyPr>
          <a:lstStyle/>
          <a:p>
            <a:pPr marL="0" lvl="0" indent="0" algn="just">
              <a:buFont typeface="Arial" panose="020B0604020202090204" pitchFamily="34" charset="0"/>
              <a:buNone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2.7 External Interface Requirements</a:t>
            </a:r>
          </a:p>
          <a:p>
            <a:pPr lvl="0" algn="just">
              <a:buFont typeface="Arial" panose="020B0604020202090204" pitchFamily="34" charset="0"/>
              <a:buChar char="•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 (UI):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how the system will look and feel. Include Figma prototypes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wireframes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visualization.</a:t>
            </a:r>
          </a:p>
          <a:p>
            <a:pPr lvl="0" algn="just">
              <a:buFont typeface="Arial" panose="020B0604020202090204" pitchFamily="34" charset="0"/>
              <a:buChar char="•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Interfaces: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 any hardware that the system will interact with (e.g., IoT sensors, medical devices).</a:t>
            </a:r>
          </a:p>
          <a:p>
            <a:pPr lvl="0" algn="just">
              <a:buFont typeface="Arial" panose="020B0604020202090204" pitchFamily="34" charset="0"/>
              <a:buChar char="•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Interfaces: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Specify the interactions with external software systems (e.g., APIs, databases).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9565"/>
            <a:ext cx="8229600" cy="5258435"/>
          </a:xfrm>
        </p:spPr>
        <p:txBody>
          <a:bodyPr>
            <a:noAutofit/>
          </a:bodyPr>
          <a:lstStyle/>
          <a:p>
            <a:pPr lvl="0" algn="just">
              <a:buFont typeface="Arial" panose="020B0604020202090204" pitchFamily="34" charset="0"/>
              <a:buChar char="•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Interfaces: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 the protocols and data formats used for communication between system components (e.g., RESTful APIs, HTTP,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9565"/>
            <a:ext cx="8229600" cy="5258435"/>
          </a:xfrm>
        </p:spPr>
        <p:txBody>
          <a:bodyPr>
            <a:noAutofit/>
          </a:bodyPr>
          <a:lstStyle/>
          <a:p>
            <a:pPr marL="0" lvl="0" indent="0" algn="just">
              <a:buFont typeface="Arial" panose="020B0604020202090204" pitchFamily="34" charset="0"/>
              <a:buNone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2.8 Constraints and Limitations</a:t>
            </a:r>
          </a:p>
          <a:p>
            <a:pPr lvl="0" algn="just">
              <a:buFont typeface="Arial" panose="020B0604020202090204" pitchFamily="34" charset="0"/>
              <a:buChar char="•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Limitations: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Describe any constraints related to hardware (e.g., sensor battery life, bandwidth).</a:t>
            </a:r>
          </a:p>
          <a:p>
            <a:pPr lvl="0" algn="just">
              <a:buFont typeface="Arial" panose="020B0604020202090204" pitchFamily="34" charset="0"/>
              <a:buChar char="•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Constraints: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Outline project timelines and deadlines that affect the system’s design or development.</a:t>
            </a:r>
          </a:p>
          <a:p>
            <a:pPr lvl="0" algn="just">
              <a:buFont typeface="Arial" panose="020B0604020202090204" pitchFamily="34" charset="0"/>
              <a:buChar char="•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and Regulatory Constraints: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Specify any legal requirements the system must meet (e.g., data privacy laws, industry regulations).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2. Structure of a Software Requirements Specification (SRS)</a:t>
            </a:r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9565"/>
            <a:ext cx="8229600" cy="5258435"/>
          </a:xfrm>
        </p:spPr>
        <p:txBody>
          <a:bodyPr>
            <a:noAutofit/>
          </a:bodyPr>
          <a:lstStyle/>
          <a:p>
            <a:pPr marL="0" lvl="0" indent="0" algn="just">
              <a:buFont typeface="Arial" panose="020B0604020202090204" pitchFamily="34" charset="0"/>
              <a:buNone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2.9 Assumptions and Dependencies</a:t>
            </a:r>
          </a:p>
          <a:p>
            <a:pPr lvl="0" algn="just">
              <a:buFont typeface="Arial" panose="020B0604020202090204" pitchFamily="34" charset="0"/>
              <a:buChar char="•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 any assumptions made during the requirements gathering process (e.g., "It is assumed that users will have access to high-speed internet").</a:t>
            </a:r>
          </a:p>
          <a:p>
            <a:pPr lvl="0" algn="just">
              <a:buFont typeface="Arial" panose="020B0604020202090204" pitchFamily="34" charset="0"/>
              <a:buChar char="•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Dependencies: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any external dependencies or components that the system relies on (e.g., third-party APIs, external databases).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Writing Clear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9565"/>
            <a:ext cx="8229600" cy="5258435"/>
          </a:xfrm>
        </p:spPr>
        <p:txBody>
          <a:bodyPr>
            <a:noAutofit/>
          </a:bodyPr>
          <a:lstStyle/>
          <a:p>
            <a:pPr marL="0" lvl="0" indent="0" algn="just">
              <a:buFont typeface="Arial" panose="020B0604020202090204" pitchFamily="34" charset="0"/>
              <a:buNone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Guidelines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writing clear, unambiguous requirements:</a:t>
            </a:r>
          </a:p>
          <a:p>
            <a:pPr lvl="1" algn="just">
              <a:buFont typeface="Arial" panose="020B0604020202090204" pitchFamily="34" charset="0"/>
              <a:buChar char="•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simple, concise language: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Avoid jargon or complex terms that may confuse stakeholders.</a:t>
            </a:r>
          </a:p>
          <a:p>
            <a:pPr lvl="1" algn="just">
              <a:buFont typeface="Arial" panose="020B0604020202090204" pitchFamily="34" charset="0"/>
              <a:buChar char="•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specific: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Requirements should not be vague or open to interpretation.</a:t>
            </a:r>
          </a:p>
          <a:p>
            <a:pPr lvl="1" algn="just">
              <a:buFont typeface="Arial" panose="020B0604020202090204" pitchFamily="34" charset="0"/>
              <a:buChar char="•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requirements testable: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each requirement can be verified through testing or inspection.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Writing Clear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9565"/>
            <a:ext cx="8229600" cy="4334891"/>
          </a:xfrm>
        </p:spPr>
        <p:txBody>
          <a:bodyPr>
            <a:noAutofit/>
          </a:bodyPr>
          <a:lstStyle/>
          <a:p>
            <a:pPr lvl="1" algn="just">
              <a:buFont typeface="Arial" panose="020B0604020202090204" pitchFamily="34" charset="0"/>
              <a:buChar char="•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requirements: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Clearly indicate which requirements are critical and which are optional (e.g., using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MoSCoW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prioritization).</a:t>
            </a:r>
          </a:p>
          <a:p>
            <a:pPr marL="0" lvl="0" indent="0" algn="just">
              <a:buFont typeface="Arial" panose="020B0604020202090204" pitchFamily="34" charset="0"/>
              <a:buNone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0" algn="just">
              <a:buFont typeface="Arial" panose="020B0604020202090204" pitchFamily="34" charset="0"/>
              <a:buChar char="•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Poorly Written Requirement: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should load quickly.</a:t>
            </a:r>
          </a:p>
          <a:p>
            <a:pPr lvl="0" algn="just">
              <a:buFont typeface="Arial" panose="020B0604020202090204" pitchFamily="34" charset="0"/>
              <a:buChar char="•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Well-Written Requirement: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must load the dashboard page within 2 seconds when accessed from a broadband connection (minimum 10 Mbps).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4. Validation and Verification of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9565"/>
            <a:ext cx="8229600" cy="5258435"/>
          </a:xfrm>
        </p:spPr>
        <p:txBody>
          <a:bodyPr>
            <a:noAutofit/>
          </a:bodyPr>
          <a:lstStyle/>
          <a:p>
            <a:pPr marL="0" lvl="0" indent="0" algn="just">
              <a:buFont typeface="Arial" panose="020B0604020202090204" pitchFamily="34" charset="0"/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SRS is completed, it is essential to validate and verify the requirements to ensure they meet the stakeholder's expectations and are feasible for implementation.</a:t>
            </a:r>
          </a:p>
          <a:p>
            <a:pPr lvl="0" algn="just">
              <a:buFont typeface="Arial" panose="020B0604020202090204" pitchFamily="34" charset="0"/>
              <a:buChar char="•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that the documented requirements reflect the real needs of the stakeholders.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Requirements review meetings, user acceptance testing (UAT), and stakeholder interviews.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4. Validation and Verification of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9565"/>
            <a:ext cx="8229600" cy="4662805"/>
          </a:xfrm>
        </p:spPr>
        <p:txBody>
          <a:bodyPr>
            <a:noAutofit/>
          </a:bodyPr>
          <a:lstStyle/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Confirms that the requirements are clear, complete, and testable.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Inspection, walkthroughs, and peer reviews.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5</a:t>
            </a:r>
            <a:r>
              <a:rPr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. Deliverables at the End of the Requirement Specification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9565"/>
            <a:ext cx="8229600" cy="5125720"/>
          </a:xfrm>
        </p:spPr>
        <p:txBody>
          <a:bodyPr>
            <a:noAutofit/>
          </a:bodyPr>
          <a:lstStyle/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SRS Document: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finalized document outlining all system requirements, models, and constraints.</a:t>
            </a: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Figma Prototypes: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representation of the system's user interface.</a:t>
            </a:r>
          </a:p>
          <a:p>
            <a:pPr lvl="0"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and Signed Off Requirements: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stakeholder agreement on the documented requirements.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3015</TotalTime>
  <Words>1669</Words>
  <Application>Microsoft Office PowerPoint</Application>
  <PresentationFormat>On-screen Show (4:3)</PresentationFormat>
  <Paragraphs>145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Times New Roman</vt:lpstr>
      <vt:lpstr>Times New Roman Bold</vt:lpstr>
      <vt:lpstr>Times New Roman Regular</vt:lpstr>
      <vt:lpstr>Wingdings</vt:lpstr>
      <vt:lpstr>Office Theme</vt:lpstr>
      <vt:lpstr>REQUIREMENT ENGINEERING </vt:lpstr>
      <vt:lpstr>Previously…</vt:lpstr>
      <vt:lpstr>Lesson 6: Requirement Specification</vt:lpstr>
      <vt:lpstr>Chapter Outlines </vt:lpstr>
      <vt:lpstr>1. Introduction to Requirement Specification </vt:lpstr>
      <vt:lpstr>1. Introduction to Requirement Specification </vt:lpstr>
      <vt:lpstr>2. Structure of a Software Requirements Specification (SRS) </vt:lpstr>
      <vt:lpstr>2. Structure of a Software Requirements Specification (SRS) </vt:lpstr>
      <vt:lpstr>2. Structure of a Software Requirements Specification (SRS) </vt:lpstr>
      <vt:lpstr>2. Structure of a Software Requirements Specification (SRS) </vt:lpstr>
      <vt:lpstr>2. Structure of a Software Requirements Specification (SRS) </vt:lpstr>
      <vt:lpstr>2. Structure of a Software Requirements Specification (SRS) </vt:lpstr>
      <vt:lpstr>2. Structure of a Software Requirements Specification (SRS) </vt:lpstr>
      <vt:lpstr>2. Structure of a Software Requirements Specification (SRS) </vt:lpstr>
      <vt:lpstr>2. Structure of a Software Requirements Specification (SRS) </vt:lpstr>
      <vt:lpstr>2. Structure of a Software Requirements Specification (SRS) </vt:lpstr>
      <vt:lpstr>2. Structure of a Software Requirements Specification (SRS) </vt:lpstr>
      <vt:lpstr>2. Structure of a Software Requirements Specification (SRS) </vt:lpstr>
      <vt:lpstr>2. Structure of a Software Requirements Specification (SRS) </vt:lpstr>
      <vt:lpstr>Yesterday…</vt:lpstr>
      <vt:lpstr>2. Structure of a Software Requirements Specification (SRS) </vt:lpstr>
      <vt:lpstr>2. Structure of a Software Requirements Specification (SRS) </vt:lpstr>
      <vt:lpstr>PowerPoint Presentation</vt:lpstr>
      <vt:lpstr>2. Structure of a Software Requirements Specification (SRS) </vt:lpstr>
      <vt:lpstr>2. Structure of a Software Requirements Specification (SRS) </vt:lpstr>
      <vt:lpstr>2. Structure of a Software Requirements Specification (SRS) </vt:lpstr>
      <vt:lpstr>2. Structure of a Software Requirements Specification (SRS) </vt:lpstr>
      <vt:lpstr>2. Structure of a Software Requirements Specification (SRS) </vt:lpstr>
      <vt:lpstr>3. Writing Clear Requirements</vt:lpstr>
      <vt:lpstr>3. Writing Clear Requirements</vt:lpstr>
      <vt:lpstr>4. Validation and Verification of Requirements</vt:lpstr>
      <vt:lpstr>4. Validation and Verification of Requirements</vt:lpstr>
      <vt:lpstr>5. Deliverables at the End of the Requirement Specification Phase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Kabera Clapton Gahenda</cp:lastModifiedBy>
  <cp:revision>32</cp:revision>
  <dcterms:created xsi:type="dcterms:W3CDTF">2026-02-12T13:00:23Z</dcterms:created>
  <dcterms:modified xsi:type="dcterms:W3CDTF">2026-07-15T14:09:24Z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1033-12.1.23155.23155</vt:lpwstr>
  </property>
  <property fmtid="{D5CDD505-2E9C-101B-9397-08002B2CF9AE}" pid="3" name="ICV">
    <vt:lpwstr>79571A3EE6E73328006CFE66B864B9B2_43</vt:lpwstr>
  </property>
</Properties>
</file>