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7" r:id="rId3"/>
    <p:sldId id="264" r:id="rId4"/>
    <p:sldId id="321" r:id="rId5"/>
    <p:sldId id="306" r:id="rId6"/>
    <p:sldId id="307" r:id="rId7"/>
    <p:sldId id="308" r:id="rId8"/>
    <p:sldId id="309" r:id="rId9"/>
    <p:sldId id="310" r:id="rId10"/>
    <p:sldId id="311" r:id="rId11"/>
    <p:sldId id="322" r:id="rId12"/>
    <p:sldId id="312" r:id="rId13"/>
    <p:sldId id="313" r:id="rId14"/>
    <p:sldId id="314" r:id="rId15"/>
    <p:sldId id="323" r:id="rId16"/>
    <p:sldId id="315" r:id="rId17"/>
    <p:sldId id="316" r:id="rId18"/>
    <p:sldId id="324" r:id="rId19"/>
    <p:sldId id="317" r:id="rId20"/>
    <p:sldId id="318" r:id="rId21"/>
    <p:sldId id="319" r:id="rId22"/>
    <p:sldId id="320" r:id="rId23"/>
    <p:sldId id="325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84" d="100"/>
          <a:sy n="84" d="100"/>
        </p:scale>
        <p:origin x="86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635" cy="1470025"/>
          </a:xfrm>
          <a:solidFill>
            <a:schemeClr val="tx1"/>
          </a:solidFill>
        </p:spPr>
        <p:txBody>
          <a:bodyPr/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REQUIREMENT ENGINEERING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635" cy="1914525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</a:br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Chapter 2: </a:t>
            </a:r>
            <a:r>
              <a:rPr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Requirement Engineering Process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Previously…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824605"/>
          </a:xfrm>
        </p:spPr>
        <p:txBody>
          <a:bodyPr/>
          <a:lstStyle/>
          <a:p>
            <a:pPr lvl="0" algn="just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Definition of Requirements Engineering</a:t>
            </a:r>
          </a:p>
          <a:p>
            <a:pPr lvl="0" algn="just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Importance of Requirements Engineering</a:t>
            </a:r>
          </a:p>
          <a:p>
            <a:pPr lvl="0" algn="just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Types of Requirements</a:t>
            </a:r>
          </a:p>
          <a:p>
            <a:pPr lvl="0" algn="just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Stakeholders</a:t>
            </a:r>
          </a:p>
          <a:p>
            <a:pPr lvl="0" algn="just"/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Challenges faced in Requirements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FCF7-129A-3E16-738D-B97A2AB2D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B85E-E0CA-C58F-B9C2-714962B61C5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Chapter 2 Outline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A8A79-73FD-64B7-CFBB-B62C89B3E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824605"/>
          </a:xfrm>
        </p:spPr>
        <p:txBody>
          <a:bodyPr/>
          <a:lstStyle/>
          <a:p>
            <a:pPr algn="just"/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An overview of the Requirement Engineering Process</a:t>
            </a:r>
          </a:p>
          <a:p>
            <a:pPr algn="just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Requirement Engineering Phases</a:t>
            </a:r>
          </a:p>
          <a:p>
            <a:pPr algn="just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Challenges 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in the </a:t>
            </a: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Requirement Engineering P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rocess</a:t>
            </a:r>
          </a:p>
          <a:p>
            <a:pPr marL="0" indent="0" algn="just">
              <a:buNone/>
            </a:pPr>
            <a:endParaRPr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7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1. Overview of the Requirement Engineering Process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7615"/>
          </a:xfrm>
        </p:spPr>
        <p:txBody>
          <a:bodyPr>
            <a:normAutofit lnSpcReduction="10000"/>
          </a:bodyPr>
          <a:lstStyle/>
          <a:p>
            <a:pPr algn="just"/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The Requirement Engineering process is a systematic approach to </a:t>
            </a:r>
            <a:r>
              <a:rPr b="1" dirty="0">
                <a:latin typeface="Times New Roman Regular" panose="02020603050405020304" charset="0"/>
                <a:cs typeface="Times New Roman Regular" panose="02020603050405020304" charset="0"/>
              </a:rPr>
              <a:t>gather, analyze, document, validate, 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and</a:t>
            </a:r>
            <a:r>
              <a:rPr b="1" dirty="0">
                <a:latin typeface="Times New Roman Regular" panose="02020603050405020304" charset="0"/>
                <a:cs typeface="Times New Roman Regular" panose="02020603050405020304" charset="0"/>
              </a:rPr>
              <a:t> manage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 the requirements for a system or project.</a:t>
            </a:r>
          </a:p>
          <a:p>
            <a:pPr algn="just"/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This process ensures that the system </a:t>
            </a:r>
            <a:r>
              <a:rPr b="1" dirty="0">
                <a:latin typeface="Times New Roman Regular" panose="02020603050405020304" charset="0"/>
                <a:cs typeface="Times New Roman Regular" panose="02020603050405020304" charset="0"/>
              </a:rPr>
              <a:t>meets the needs and expectations of stakeholders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, leading to a successful outcome.</a:t>
            </a:r>
          </a:p>
          <a:p>
            <a:pPr algn="just"/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The process is </a:t>
            </a:r>
            <a:r>
              <a:rPr i="1" dirty="0">
                <a:latin typeface="Times New Roman Regular" panose="02020603050405020304" charset="0"/>
                <a:cs typeface="Times New Roman Regular" panose="02020603050405020304" charset="0"/>
              </a:rPr>
              <a:t>iterative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, often involving </a:t>
            </a:r>
            <a:r>
              <a:rPr b="1" dirty="0">
                <a:latin typeface="Times New Roman Regular" panose="02020603050405020304" charset="0"/>
                <a:cs typeface="Times New Roman Regular" panose="02020603050405020304" charset="0"/>
              </a:rPr>
              <a:t>revisiting earlier stages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 as new information emerges or requirements change.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Phases: Elicitation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761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3200" b="1" dirty="0">
                <a:latin typeface="Times New Roman Regular" panose="02020603050405020304" charset="0"/>
                <a:cs typeface="Times New Roman Regular" panose="02020603050405020304" charset="0"/>
              </a:rPr>
              <a:t>a. Elicitation</a:t>
            </a:r>
          </a:p>
          <a:p>
            <a:pPr algn="just"/>
            <a:r>
              <a:rPr sz="3200" b="1" dirty="0">
                <a:latin typeface="Times New Roman Regular" panose="02020603050405020304" charset="0"/>
                <a:cs typeface="Times New Roman Regular" panose="02020603050405020304" charset="0"/>
              </a:rPr>
              <a:t>Objective: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 To gather requirements from stakeholders through various techniques.</a:t>
            </a:r>
          </a:p>
          <a:p>
            <a:pPr algn="just"/>
            <a:r>
              <a:rPr sz="3200" b="1" dirty="0">
                <a:latin typeface="Times New Roman Regular" panose="02020603050405020304" charset="0"/>
                <a:cs typeface="Times New Roman Regular" panose="02020603050405020304" charset="0"/>
              </a:rPr>
              <a:t>Techniques: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3200" b="1" dirty="0">
                <a:latin typeface="Times New Roman Regular" panose="02020603050405020304" charset="0"/>
                <a:cs typeface="Times New Roman Regular" panose="02020603050405020304" charset="0"/>
              </a:rPr>
              <a:t>Interviews: 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Speaking directly with stakeholders to understand their needs.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3200" b="1" dirty="0">
                <a:latin typeface="Times New Roman Regular" panose="02020603050405020304" charset="0"/>
                <a:cs typeface="Times New Roman Regular" panose="02020603050405020304" charset="0"/>
              </a:rPr>
              <a:t>Surveys/Questionnaires: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 Collecting structured feedback from a larger group.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Phases: Elicitation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7615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charset="0"/>
              <a:buChar char=""/>
            </a:pPr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Workshops: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 Collaborative sessions to brainstorm requirements.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Observation: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 Watching users in their work environment to understand their needs.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Prototyping: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 Creating early versions of a system to solicit feedback.</a:t>
            </a:r>
          </a:p>
          <a:p>
            <a:pPr lvl="0" algn="just"/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Challenges: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 Ambiguities in stakeholder communication, unexpressed needs, conflicting requirements.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Phases: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7615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b. Analysis</a:t>
            </a:r>
          </a:p>
          <a:p>
            <a:pPr lvl="0" algn="just"/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Objective: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 To analyze and refine the gathered requirements for clarity and feasibility.</a:t>
            </a:r>
          </a:p>
          <a:p>
            <a:pPr lvl="0" algn="just"/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Activities: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Prioritization: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 Determining which requirements are most critical to stakeholders and the project.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Phases: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7615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charset="0"/>
              <a:buChar char=""/>
            </a:pPr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Conflict Resolution: 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Resolving conflicting requirements between different stakeholders.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Modeling: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 Using techniques like Data Flow Diagrams (DFD), Use Case Diagrams, or Entity-Relationship Diagrams (ERDs) to visually represent requirements.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Phases: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7615"/>
          </a:xfrm>
        </p:spPr>
        <p:txBody>
          <a:bodyPr>
            <a:normAutofit/>
          </a:bodyPr>
          <a:lstStyle/>
          <a:p>
            <a:pPr lvl="0" algn="just"/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Outcome: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 A set of well-defined, structured requirements that can guide system design.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D487E-265B-C334-F1AE-2C9D00374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BC99D-E7FC-0CEC-B651-5EE3D5C9885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Phases: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393B2-4DBC-103D-3474-2ECC44BC5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7615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c. Specification</a:t>
            </a:r>
          </a:p>
          <a:p>
            <a:pPr lvl="0" algn="just"/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Objective: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 To document the analyzed requirements in a structured format that developers and stakeholders can understand.</a:t>
            </a:r>
          </a:p>
        </p:txBody>
      </p:sp>
    </p:spTree>
    <p:extLst>
      <p:ext uri="{BB962C8B-B14F-4D97-AF65-F5344CB8AC3E}">
        <p14:creationId xmlns:p14="http://schemas.microsoft.com/office/powerpoint/2010/main" val="3645464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Phases: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7615"/>
          </a:xfrm>
        </p:spPr>
        <p:txBody>
          <a:bodyPr>
            <a:normAutofit/>
          </a:bodyPr>
          <a:lstStyle/>
          <a:p>
            <a:pPr lvl="0" algn="just"/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Key Elements: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Software Requirements Specification (SRS): 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A document that formalizes all functional and non-functional requirements.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Standards: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 Following IEEE or other relevant industry standards for structuring and writing clear, concise, and unambiguous requirements.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Phases: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7615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charset="0"/>
              <a:buChar char=""/>
            </a:pPr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Templates and Tools: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 Using requirement management tools to create, store, and manage specifications.</a:t>
            </a:r>
            <a:r>
              <a:rPr lang="en-US" sz="3200" dirty="0">
                <a:latin typeface="Times New Roman Regular" panose="02020603050405020304" charset="0"/>
                <a:cs typeface="Times New Roman Regular" panose="02020603050405020304" charset="0"/>
              </a:rPr>
              <a:t> For example:</a:t>
            </a:r>
          </a:p>
          <a:p>
            <a:pPr lvl="2" algn="just">
              <a:buFont typeface="Wingdings" panose="05000000000000000000" charset="0"/>
              <a:buChar char=""/>
            </a:pPr>
            <a: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Jama Connect</a:t>
            </a:r>
          </a:p>
          <a:p>
            <a:pPr lvl="2" algn="just">
              <a:buFont typeface="Wingdings" panose="05000000000000000000" charset="0"/>
              <a:buChar char=""/>
            </a:pPr>
            <a:r>
              <a:rPr lang="en-US" sz="2800" dirty="0" err="1">
                <a:latin typeface="Times New Roman Regular" panose="02020603050405020304" charset="0"/>
                <a:cs typeface="Times New Roman Regular" panose="02020603050405020304" charset="0"/>
              </a:rPr>
              <a:t>ReqView</a:t>
            </a:r>
            <a:endParaRPr lang="en-US" sz="28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2" algn="just">
              <a:buFont typeface="Wingdings" panose="05000000000000000000" charset="0"/>
              <a:buChar char=""/>
            </a:pPr>
            <a:r>
              <a:rPr lang="en-US" sz="2800" dirty="0" err="1">
                <a:latin typeface="Times New Roman Regular" panose="02020603050405020304" charset="0"/>
                <a:cs typeface="Times New Roman Regular" panose="02020603050405020304" charset="0"/>
              </a:rPr>
              <a:t>Visure</a:t>
            </a:r>
            <a: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 Requirements</a:t>
            </a:r>
          </a:p>
          <a:p>
            <a:pPr lvl="2" algn="just">
              <a:buFont typeface="Wingdings" panose="05000000000000000000" charset="0"/>
              <a:buChar char=""/>
            </a:pPr>
            <a:endParaRPr lang="en-US" sz="28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914400" lvl="2" indent="0" algn="just">
              <a:buNone/>
            </a:pPr>
            <a:r>
              <a:rPr 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…and so on…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Phases: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7615"/>
          </a:xfrm>
        </p:spPr>
        <p:txBody>
          <a:bodyPr>
            <a:normAutofit/>
          </a:bodyPr>
          <a:lstStyle/>
          <a:p>
            <a:pPr lvl="0" algn="just"/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Challenges: 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Writing clear, unambiguous requirements that can be easily understood by all stakeholders.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0F7D2-408F-6B28-09E0-EB103C22C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52377-9A89-FFED-A210-8A7BA40F101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Phases: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E63F4-285E-B448-E9EE-EAC14013C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7615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d. Validation</a:t>
            </a:r>
          </a:p>
          <a:p>
            <a:pPr lvl="0" algn="just"/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Objective: 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To ensure that the requirements accurately reflect stakeholder needs and are feasible to implement.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0" algn="just"/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Validation Techniques: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lang="en-US" sz="3200" b="1" dirty="0">
                <a:latin typeface="Times New Roman Bold" panose="02020603050405020304" charset="0"/>
                <a:cs typeface="Times New Roman Bold" panose="02020603050405020304" charset="0"/>
              </a:rPr>
              <a:t>Inspections:</a:t>
            </a:r>
            <a:r>
              <a:rPr lang="en-US" sz="3200" dirty="0">
                <a:latin typeface="Times New Roman Regular" panose="02020603050405020304" charset="0"/>
                <a:cs typeface="Times New Roman Regular" panose="02020603050405020304" charset="0"/>
              </a:rPr>
              <a:t> Systematic examination of requirements by a team.</a:t>
            </a:r>
          </a:p>
        </p:txBody>
      </p:sp>
    </p:spTree>
    <p:extLst>
      <p:ext uri="{BB962C8B-B14F-4D97-AF65-F5344CB8AC3E}">
        <p14:creationId xmlns:p14="http://schemas.microsoft.com/office/powerpoint/2010/main" val="3055648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Phases: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849624"/>
          </a:xfrm>
        </p:spPr>
        <p:txBody>
          <a:bodyPr>
            <a:noAutofit/>
          </a:bodyPr>
          <a:lstStyle/>
          <a:p>
            <a:pPr lvl="1" algn="just">
              <a:buFont typeface="Wingdings" panose="05000000000000000000" charset="0"/>
              <a:buChar char=""/>
            </a:pPr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Reviews: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 Meetings where stakeholders and team members review the requirements.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Walkthroughs: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 Step-by-step review of the requirement documents to ensure completeness and accuracy.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Prototyping: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 Testing initial models or versions of the system to gather feedback.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Phases: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50592"/>
          </a:xfrm>
        </p:spPr>
        <p:txBody>
          <a:bodyPr>
            <a:normAutofit/>
          </a:bodyPr>
          <a:lstStyle/>
          <a:p>
            <a:pPr lvl="0" algn="just"/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Challenges: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 Identifying overlooked requirements and resolving discrepancies between stakeholder expectations and documented requirements.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46A61-8297-73BA-7DD9-9C12A6797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4811-2921-FB0C-35D4-589580DDFF7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Phases: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D1187-48D4-F82E-51D8-05B97BEDF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78025"/>
            <a:ext cx="8229600" cy="2542032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e. Management</a:t>
            </a:r>
          </a:p>
          <a:p>
            <a:pPr lvl="0" algn="just"/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Objective: 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To manage and control changes to the requirements throughout the project lifecycle.</a:t>
            </a:r>
          </a:p>
        </p:txBody>
      </p:sp>
    </p:spTree>
    <p:extLst>
      <p:ext uri="{BB962C8B-B14F-4D97-AF65-F5344CB8AC3E}">
        <p14:creationId xmlns:p14="http://schemas.microsoft.com/office/powerpoint/2010/main" val="98702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Phases of Requirement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1056"/>
            <a:ext cx="8229600" cy="5047615"/>
          </a:xfrm>
        </p:spPr>
        <p:txBody>
          <a:bodyPr>
            <a:noAutofit/>
          </a:bodyPr>
          <a:lstStyle/>
          <a:p>
            <a:pPr lvl="0" algn="just"/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Activities: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Requirement Traceability: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 Tracking each requirement to ensure it is addressed in the system’s design, development, and testing phases.</a:t>
            </a:r>
          </a:p>
          <a:p>
            <a:pPr lvl="1" algn="just">
              <a:buFont typeface="Wingdings" panose="05000000000000000000" charset="0"/>
              <a:buChar char=""/>
            </a:pPr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Change Management: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 Handling changes in requirements, keeping them documented and communicated to all stakeholders.</a:t>
            </a:r>
          </a:p>
          <a:p>
            <a:pPr lvl="1" algn="just">
              <a:buFont typeface="Wingdings" panose="05000000000000000000" charset="0"/>
              <a:buChar char=""/>
            </a:pPr>
            <a:endParaRPr sz="32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Phases of Requirement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7615"/>
          </a:xfrm>
        </p:spPr>
        <p:txBody>
          <a:bodyPr>
            <a:normAutofit/>
          </a:bodyPr>
          <a:lstStyle/>
          <a:p>
            <a:pPr marL="628650" lvl="2" indent="-457200" algn="just">
              <a:buFont typeface="Wingdings" panose="05000000000000000000" charset="0"/>
              <a:buChar char=""/>
            </a:pPr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Version Control: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Maintaining different versions of the requirements document as changes occur.</a:t>
            </a:r>
            <a:endParaRPr sz="3200" b="1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lvl="0" algn="just"/>
            <a:r>
              <a:rPr sz="3200" b="1" dirty="0">
                <a:latin typeface="Times New Roman Bold" panose="02020603050405020304" charset="0"/>
                <a:cs typeface="Times New Roman Bold" panose="02020603050405020304" charset="0"/>
              </a:rPr>
              <a:t>Challenges:</a:t>
            </a:r>
            <a:r>
              <a:rPr sz="3200" b="1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sz="3200" dirty="0">
                <a:latin typeface="Times New Roman Regular" panose="02020603050405020304" charset="0"/>
                <a:cs typeface="Times New Roman Regular" panose="02020603050405020304" charset="0"/>
              </a:rPr>
              <a:t>Keeping track of evolving requirements, communicating changes effectively, and managing stakeholder expectations.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3. Key Challenges in the Requirement Engineering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60"/>
          </a:xfrm>
        </p:spPr>
        <p:txBody>
          <a:bodyPr>
            <a:normAutofit lnSpcReduction="10000"/>
          </a:bodyPr>
          <a:lstStyle/>
          <a:p>
            <a:pPr lvl="0" algn="just"/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Evolving Requirements: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 Requirements may change over time due to new stakeholder insights or changes in business needs.</a:t>
            </a:r>
          </a:p>
          <a:p>
            <a:pPr lvl="0" algn="just"/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Stakeholder Conflicts: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 Different stakeholders may have conflicting needs, requiring resolution to ensure alignment.</a:t>
            </a:r>
          </a:p>
          <a:p>
            <a:pPr lvl="0" algn="just"/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Miscommunication: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 Poor communication between technical and non-technical stakeholders can result in misunderstood or incomplete requirements.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3. Key Challenges in the Requirement Engineering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856355"/>
          </a:xfrm>
        </p:spPr>
        <p:txBody>
          <a:bodyPr>
            <a:normAutofit/>
          </a:bodyPr>
          <a:lstStyle/>
          <a:p>
            <a:pPr lvl="0" algn="just"/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Documentation Quality: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 Poorly documented requirements can lead to project delays or system failures.</a:t>
            </a:r>
          </a:p>
          <a:p>
            <a:pPr lvl="0" algn="just"/>
            <a:r>
              <a:rPr b="1" dirty="0">
                <a:latin typeface="Times New Roman Bold" panose="02020603050405020304" charset="0"/>
                <a:cs typeface="Times New Roman Bold" panose="02020603050405020304" charset="0"/>
              </a:rPr>
              <a:t>Traceability:</a:t>
            </a:r>
            <a:r>
              <a:rPr dirty="0">
                <a:latin typeface="Times New Roman Regular" panose="02020603050405020304" charset="0"/>
                <a:cs typeface="Times New Roman Regular" panose="02020603050405020304" charset="0"/>
              </a:rPr>
              <a:t> Maintaining a clear trace from initial requirements to their implementation and testing can be difficult but is essential for project success.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54D58-6C73-258A-FF68-AA5A18364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218E6-22AE-0AF4-E0E7-68D8AFF9B3F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0E79D-4E72-2621-6B33-984CECD5A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856355"/>
          </a:xfrm>
        </p:spPr>
        <p:txBody>
          <a:bodyPr>
            <a:normAutofit/>
          </a:bodyPr>
          <a:lstStyle/>
          <a:p>
            <a:pPr lvl="0" algn="just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Requirements Engineering Process</a:t>
            </a:r>
          </a:p>
          <a:p>
            <a:pPr lvl="0" algn="just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The 5 requirements engineering phases</a:t>
            </a:r>
          </a:p>
          <a:p>
            <a:pPr lvl="0" algn="just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Challenges faced during the requirements engineering process</a:t>
            </a:r>
            <a:endParaRPr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45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3821</TotalTime>
  <Words>777</Words>
  <Application>Microsoft Office PowerPoint</Application>
  <PresentationFormat>On-screen Show (4:3)</PresentationFormat>
  <Paragraphs>85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Times New Roman</vt:lpstr>
      <vt:lpstr>Times New Roman Bold</vt:lpstr>
      <vt:lpstr>Times New Roman Regular</vt:lpstr>
      <vt:lpstr>Wingdings</vt:lpstr>
      <vt:lpstr>Office Theme</vt:lpstr>
      <vt:lpstr>REQUIREMENT ENGINEERING </vt:lpstr>
      <vt:lpstr> Chapter 2: Requirement Engineering Process</vt:lpstr>
      <vt:lpstr>Previously…</vt:lpstr>
      <vt:lpstr>Chapter 2 Outline </vt:lpstr>
      <vt:lpstr>1. Overview of the Requirement Engineering Process </vt:lpstr>
      <vt:lpstr>2. Phases: Elicitation</vt:lpstr>
      <vt:lpstr>2. Phases: Elicitation</vt:lpstr>
      <vt:lpstr>2. Phases: Analysis</vt:lpstr>
      <vt:lpstr>2. Phases: Analysis</vt:lpstr>
      <vt:lpstr>2. Phases: Analysis</vt:lpstr>
      <vt:lpstr>2. Phases: Specification</vt:lpstr>
      <vt:lpstr>2. Phases: Specification</vt:lpstr>
      <vt:lpstr>2. Phases: Specification</vt:lpstr>
      <vt:lpstr>2. Phases: Specification</vt:lpstr>
      <vt:lpstr>2. Phases: Validation</vt:lpstr>
      <vt:lpstr>2. Phases: Validation</vt:lpstr>
      <vt:lpstr>2. Phases: Validation</vt:lpstr>
      <vt:lpstr>2. Phases: Management</vt:lpstr>
      <vt:lpstr>2. Phases of Requirement Engineering</vt:lpstr>
      <vt:lpstr>2. Phases of Requirement Engineering</vt:lpstr>
      <vt:lpstr>3. Key Challenges in the Requirement Engineering Process</vt:lpstr>
      <vt:lpstr>3. Key Challenges in the Requirement Engineering Process</vt:lpstr>
      <vt:lpstr>Recap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Kabera Clapton Gahenda</cp:lastModifiedBy>
  <cp:revision>23</cp:revision>
  <dcterms:created xsi:type="dcterms:W3CDTF">2026-02-12T13:16:37Z</dcterms:created>
  <dcterms:modified xsi:type="dcterms:W3CDTF">2026-06-23T10:15:22Z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1033-12.1.23155.23155</vt:lpwstr>
  </property>
  <property fmtid="{D5CDD505-2E9C-101B-9397-08002B2CF9AE}" pid="3" name="ICV">
    <vt:lpwstr>2FC47EA19566A5AE6B60E866EB1151BC_42</vt:lpwstr>
  </property>
</Properties>
</file>