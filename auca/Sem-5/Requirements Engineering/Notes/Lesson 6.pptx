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32" r:id="rId3"/>
    <p:sldId id="334" r:id="rId4"/>
    <p:sldId id="439" r:id="rId5"/>
    <p:sldId id="418" r:id="rId6"/>
    <p:sldId id="417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6" r:id="rId15"/>
    <p:sldId id="427" r:id="rId16"/>
    <p:sldId id="429" r:id="rId17"/>
    <p:sldId id="428" r:id="rId18"/>
    <p:sldId id="430" r:id="rId19"/>
    <p:sldId id="431" r:id="rId20"/>
    <p:sldId id="432" r:id="rId21"/>
    <p:sldId id="433" r:id="rId22"/>
    <p:sldId id="434" r:id="rId23"/>
    <p:sldId id="435" r:id="rId24"/>
    <p:sldId id="436" r:id="rId25"/>
    <p:sldId id="437" r:id="rId26"/>
    <p:sldId id="438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86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635" cy="1470025"/>
          </a:xfrm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REQUIREMENT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25140"/>
            <a:ext cx="9144000" cy="162242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 6: Requirement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Last Week…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9990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Introduction to Requirement Specification</a:t>
            </a:r>
          </a:p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Structure of a Software Requirements Specification (SRS) Document</a:t>
            </a:r>
          </a:p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Writing Clear Requirements</a:t>
            </a:r>
          </a:p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Validation and Verification of Requirements</a:t>
            </a:r>
          </a:p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Deliverables at the End of the Requirement Specification Phase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14D2B-CD39-0988-F922-EED8F3EC2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A6A2C-32A9-373F-FAF5-F4BF9342734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Learning Objectives: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CA896-685F-8CCD-1EA0-AB03AA474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999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By the end of this chapter, students will be able to: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Define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Requirement Validation and understand its importance in the Requirements Engineering process.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Explain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the goals and benefits of Requirement Validation in reducing project risk and improving system quality.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Identify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and apply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various techniques for validating requirements, including inspections, reviews, walkthroughs, prototyping, and scenario testing.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Evaluate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requirements against key validation criteria, such as clarity, completeness, consistency, feasibility, and testability.</a:t>
            </a:r>
          </a:p>
        </p:txBody>
      </p:sp>
    </p:spTree>
    <p:extLst>
      <p:ext uri="{BB962C8B-B14F-4D97-AF65-F5344CB8AC3E}">
        <p14:creationId xmlns:p14="http://schemas.microsoft.com/office/powerpoint/2010/main" val="54800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Learning Objectives: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9990"/>
          </a:xfrm>
        </p:spPr>
        <p:txBody>
          <a:bodyPr>
            <a:normAutofit/>
          </a:bodyPr>
          <a:lstStyle/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Use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checklists and feedback to refine requirements, ensuring they align with stakeholder needs.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Document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findings from validation sessions and collaborate with stakeholders to resolve identified issues.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Implement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Requirement Validation as a process to ensure that requirements are ready for the design and development stages</a:t>
            </a:r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Chapter Outlines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70400"/>
          </a:xfrm>
        </p:spPr>
        <p:txBody>
          <a:bodyPr/>
          <a:lstStyle/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Introduction to Requirement Validation</a:t>
            </a:r>
          </a:p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Importance of Requirement Validation</a:t>
            </a:r>
          </a:p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Techniques for Requirement Validation</a:t>
            </a:r>
          </a:p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Key Validation Criteria</a:t>
            </a:r>
          </a:p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Requirement Validation Process</a:t>
            </a:r>
          </a:p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Challenges in Requirement Validation</a:t>
            </a:r>
          </a:p>
          <a:p>
            <a:pPr algn="just"/>
            <a:endParaRPr sz="28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1. Introduction to Requirement Validation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70400"/>
          </a:xfrm>
        </p:spPr>
        <p:txBody>
          <a:bodyPr/>
          <a:lstStyle/>
          <a:p>
            <a:pPr marL="0" indent="0" algn="just">
              <a:buNone/>
            </a:pPr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Definition:</a:t>
            </a:r>
          </a:p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Requirement Validation is </a:t>
            </a:r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the process of ensuring that documented requirements accurately represent stakeholder needs, are clear, feasible, and testable, and align with the project’s overall objectives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. It acts as a safeguard, ensuring that the requirements meet quality standards before proceeding to design and development.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1. Introduction to Requirement Validation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70400"/>
          </a:xfrm>
        </p:spPr>
        <p:txBody>
          <a:bodyPr/>
          <a:lstStyle/>
          <a:p>
            <a:pPr marL="0" indent="0" algn="just">
              <a:buNone/>
            </a:pPr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Objectives:</a:t>
            </a:r>
          </a:p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Confirm requirements reflect true stakeholder needs and are implementable.</a:t>
            </a:r>
          </a:p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Detect errors or ambiguities to avoid costly changes later in the development cycle.</a:t>
            </a:r>
          </a:p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Ensure requirements provide a solid foundation for design, development, and testing.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Importance of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713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Requirement Validation is essential for several reasons: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Cost Reduction: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Errors caught early during validation are significantly less expensive to fix than those identified during design or development.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Quality Improvement: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Ensuring requirements are clear and complete improves the system's quality by reducing the likelihood of misunderstandings and rework.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Stakeholder Satisfaction: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Validating requirements with stakeholders’ input ensures that the system aligns with their expectations, increasing their satisfaction and trust in the project.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Importance of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7135"/>
          </a:xfrm>
        </p:spPr>
        <p:txBody>
          <a:bodyPr>
            <a:normAutofit/>
          </a:bodyPr>
          <a:lstStyle/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Foundation for Development: 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Validated requirements provide a stable basis for design and testing, reducing the risk of scope creep or project drift.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713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There are various techniques used to validate requirements, each suited to identifying different types of issues:</a:t>
            </a:r>
          </a:p>
          <a:p>
            <a:pPr marL="0" indent="0" algn="just">
              <a:buNone/>
            </a:pPr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a) Inspections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Description: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Formal, structured reviews where a team goes through requirements documents to identify ambiguities, errors, and inconsistencies.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Process: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A moderator guides the inspection meeting.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Reviewers analyze each requirement, providing feedback and noting any problems.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7135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A moderator guides the inspection meeting.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Reviewers analyze each requirement, providing feedback and noting any problems.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A final report is prepared with recommendations for corrections.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Advantages: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Inspections are systematic and help uncover subtle errors that may be missed in informal reviews.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7135"/>
          </a:xfrm>
        </p:spPr>
        <p:txBody>
          <a:bodyPr>
            <a:normAutofit lnSpcReduction="10000"/>
          </a:bodyPr>
          <a:lstStyle/>
          <a:p>
            <a:pPr marL="0" lvl="0" indent="0" algn="just">
              <a:buNone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b) Reviews</a:t>
            </a:r>
          </a:p>
          <a:p>
            <a:pPr lvl="0" algn="just"/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Description: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Less formal than inspections, reviews involve project team members and stakeholders.</a:t>
            </a:r>
          </a:p>
          <a:p>
            <a:pPr lvl="0" algn="just"/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Types: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Peer Reviews: 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Team members review each other’s work, identifying errors from a technical perspective.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Stakeholder Reviews: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Stakeholders confirm that requirements meet their expectations.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7135"/>
          </a:xfrm>
        </p:spPr>
        <p:txBody>
          <a:bodyPr>
            <a:normAutofit/>
          </a:bodyPr>
          <a:lstStyle/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Process: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Requirements are presented, and feedback is gathered.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Feedback is documented for potential revisions.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Advantages: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Reviews bring diverse perspectives and help ensure that the requirements align with both technical and business needs.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7135"/>
          </a:xfrm>
        </p:spPr>
        <p:txBody>
          <a:bodyPr>
            <a:normAutofit lnSpcReduction="10000"/>
          </a:bodyPr>
          <a:lstStyle/>
          <a:p>
            <a:pPr marL="0" lvl="0" indent="0" algn="just">
              <a:buNone/>
            </a:pPr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c) Walkthroughs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Description: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Step-by-step presentation of requirements with participants asking questions, clarifying details, and identifying issues.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Participants: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Include requirements engineers, stakeholders, and team members.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Process: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The requirements engineer presents each requirement in sequence.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Participants interact, raising questions and identifying potential issues.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7135"/>
          </a:xfrm>
        </p:spPr>
        <p:txBody>
          <a:bodyPr>
            <a:normAutofit/>
          </a:bodyPr>
          <a:lstStyle/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Advantages: 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Walkthroughs encourage team-wide understanding and allow for real-time feedback and clarification.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7135"/>
          </a:xfrm>
        </p:spPr>
        <p:txBody>
          <a:bodyPr>
            <a:normAutofit fontScale="90000" lnSpcReduction="10000"/>
          </a:bodyPr>
          <a:lstStyle/>
          <a:p>
            <a:pPr marL="0" lvl="0" indent="0" algn="just">
              <a:buNone/>
            </a:pPr>
            <a:r>
              <a:rPr sz="3110" b="1" dirty="0">
                <a:latin typeface="Times New Roman Bold" panose="02020603050405020304" charset="0"/>
                <a:cs typeface="Times New Roman Bold" panose="02020603050405020304" charset="0"/>
              </a:rPr>
              <a:t>d) Prototyping</a:t>
            </a:r>
          </a:p>
          <a:p>
            <a:pPr lvl="0" algn="just"/>
            <a:r>
              <a:rPr sz="3110" b="1" dirty="0">
                <a:latin typeface="Times New Roman Regular" panose="02020603050405020304" charset="0"/>
                <a:cs typeface="Times New Roman Regular" panose="02020603050405020304" charset="0"/>
              </a:rPr>
              <a:t>Description:</a:t>
            </a:r>
            <a:r>
              <a:rPr sz="3110" dirty="0">
                <a:latin typeface="Times New Roman Regular" panose="02020603050405020304" charset="0"/>
                <a:cs typeface="Times New Roman Regular" panose="02020603050405020304" charset="0"/>
              </a:rPr>
              <a:t> Creating an early model or prototype of the system based on requirements.</a:t>
            </a:r>
          </a:p>
          <a:p>
            <a:pPr lvl="0" algn="just"/>
            <a:r>
              <a:rPr sz="3110" b="1" dirty="0">
                <a:latin typeface="Times New Roman Regular" panose="02020603050405020304" charset="0"/>
                <a:cs typeface="Times New Roman Regular" panose="02020603050405020304" charset="0"/>
              </a:rPr>
              <a:t>Process: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110" dirty="0">
                <a:latin typeface="Times New Roman Regular" panose="02020603050405020304" charset="0"/>
                <a:cs typeface="Times New Roman Regular" panose="02020603050405020304" charset="0"/>
              </a:rPr>
              <a:t>The prototype is presented to stakeholders who provide feedback on its functionality and usability.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110" dirty="0">
                <a:latin typeface="Times New Roman Regular" panose="02020603050405020304" charset="0"/>
                <a:cs typeface="Times New Roman Regular" panose="02020603050405020304" charset="0"/>
              </a:rPr>
              <a:t>Feedback is used to refine and improve the requirements.</a:t>
            </a:r>
          </a:p>
          <a:p>
            <a:pPr lvl="0" algn="just"/>
            <a:r>
              <a:rPr sz="3110" b="1" dirty="0">
                <a:latin typeface="Times New Roman Regular" panose="02020603050405020304" charset="0"/>
                <a:cs typeface="Times New Roman Regular" panose="02020603050405020304" charset="0"/>
              </a:rPr>
              <a:t>Advantages:</a:t>
            </a:r>
            <a:r>
              <a:rPr sz="3110" dirty="0">
                <a:latin typeface="Times New Roman Regular" panose="02020603050405020304" charset="0"/>
                <a:cs typeface="Times New Roman Regular" panose="02020603050405020304" charset="0"/>
              </a:rPr>
              <a:t> Prototypes give stakeholders a tangible view of the system, making it easier to catch overlooked requirements or identify usability issues.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1713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sz="2700" b="1" dirty="0">
                <a:latin typeface="Times New Roman Regular" panose="02020603050405020304" charset="0"/>
                <a:cs typeface="Times New Roman Regular" panose="02020603050405020304" charset="0"/>
              </a:rPr>
              <a:t>e) Testing Requirements (Scenarios)</a:t>
            </a:r>
          </a:p>
          <a:p>
            <a:pPr lvl="0" algn="just"/>
            <a:r>
              <a:rPr sz="2700" b="1" dirty="0">
                <a:latin typeface="Times New Roman Bold" panose="02020603050405020304" charset="0"/>
                <a:cs typeface="Times New Roman Bold" panose="02020603050405020304" charset="0"/>
              </a:rPr>
              <a:t>Description: </a:t>
            </a:r>
            <a:r>
              <a:rPr sz="2700" dirty="0">
                <a:latin typeface="Times New Roman Regular" panose="02020603050405020304" charset="0"/>
                <a:cs typeface="Times New Roman Regular" panose="02020603050405020304" charset="0"/>
              </a:rPr>
              <a:t>Using real-world scenarios to evaluate whether requirements can handle typical and edge cases.</a:t>
            </a:r>
          </a:p>
          <a:p>
            <a:pPr lvl="0" algn="just"/>
            <a:r>
              <a:rPr sz="2700" b="1" dirty="0">
                <a:latin typeface="Times New Roman Bold" panose="02020603050405020304" charset="0"/>
                <a:cs typeface="Times New Roman Bold" panose="02020603050405020304" charset="0"/>
              </a:rPr>
              <a:t>Process: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2700" dirty="0">
                <a:latin typeface="Times New Roman Regular" panose="02020603050405020304" charset="0"/>
                <a:cs typeface="Times New Roman Regular" panose="02020603050405020304" charset="0"/>
              </a:rPr>
              <a:t>Hypothetical scenarios are developed, simulating real-world conditions.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2700" dirty="0">
                <a:latin typeface="Times New Roman Regular" panose="02020603050405020304" charset="0"/>
                <a:cs typeface="Times New Roman Regular" panose="02020603050405020304" charset="0"/>
              </a:rPr>
              <a:t>The system’s requirements are tested against these scenarios to verify their feasibility.</a:t>
            </a:r>
          </a:p>
          <a:p>
            <a:pPr lvl="0" algn="just"/>
            <a:r>
              <a:rPr sz="2700" b="1" dirty="0">
                <a:latin typeface="Times New Roman Bold" panose="02020603050405020304" charset="0"/>
                <a:cs typeface="Times New Roman Bold" panose="02020603050405020304" charset="0"/>
              </a:rPr>
              <a:t>Advantages: </a:t>
            </a:r>
            <a:r>
              <a:rPr sz="2700" dirty="0">
                <a:latin typeface="Times New Roman Regular" panose="02020603050405020304" charset="0"/>
                <a:cs typeface="Times New Roman Regular" panose="02020603050405020304" charset="0"/>
              </a:rPr>
              <a:t>Scenario testing helps uncover gaps in requirements, especially in terms of usability and functionality.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25843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f) Checklists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Description: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Lists of criteria that each requirement must meet to be considered valid.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Common Checklist Items: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Is each requirement clear and unambiguous?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Are there any conflicting requirements?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Are all necessary functions covered?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Is each requirement verifiable?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Advantages: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Checklists provide a simple, systematic way to ensure requirements meet minimum quality standards.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 Key Validation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25843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When validating requirements, each requirement should be assessed against specific criteria: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Completeness: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The requirement should contain all necessary information and no critical details should be missing.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Clarity: 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Each requirement should be stated unambiguously so that all stakeholders interpret it in the same way.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Consistency: 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Requirements should not conflict with one another or with other documents.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 Key Validation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258435"/>
          </a:xfrm>
        </p:spPr>
        <p:txBody>
          <a:bodyPr>
            <a:noAutofit/>
          </a:bodyPr>
          <a:lstStyle/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Feasibility: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The requirement should be realistic, given project constraints such as budget, time, and resources.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Testability: 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Each requirement should be stated in a way that allows it to be tested and verified.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Traceability: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Each requirement should trace back to a business need or stakeholder input, ensuring it aligns with project goals.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5. Requirement Validation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44004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The Requirement Validation process includes several key steps: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Preparation: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Gather all relevant documentation and prepare a validation plan.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Select appropriate validation techniques based on project needs and schedule.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Requirement Review: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Conduct reviews, inspections, or walkthroughs based on the chosen validation method.</a:t>
            </a:r>
          </a:p>
          <a:p>
            <a:pPr marL="457200" lvl="1" indent="0" algn="just">
              <a:buFont typeface="Wingdings" panose="05000000000000000000" charset="0"/>
              <a:buNone/>
            </a:pPr>
            <a:endParaRPr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5. Requirement Validation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440045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Each requirement is reviewed against validation criteria.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Documentation of Findings: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Document issues found during validation, including ambiguities, gaps, or inconsistencies.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Compile feedback for requirements refinement.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Resolution of Issues: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Address and resolve identified issues in collaboration with stakeholders.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Update the requirements document to incorporate changes.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5. Requirement Validation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440045"/>
          </a:xfrm>
        </p:spPr>
        <p:txBody>
          <a:bodyPr>
            <a:noAutofit/>
          </a:bodyPr>
          <a:lstStyle/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Sign-Off: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Obtain formal approval from stakeholders, confirming that requirements are accurate and complete.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Sign-off marks the requirements as ready for the design phase.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6. Challenges in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44004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Common Challenges:</a:t>
            </a:r>
          </a:p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Ambiguity: 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Vague requirements are difficult to validate and can lead to misunderstandings.</a:t>
            </a:r>
          </a:p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Stakeholder Availability: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Limited availability of stakeholders may delay validation sessions.</a:t>
            </a:r>
          </a:p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Changing Requirements: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Evolving project needs or business conditions can make it challenging to finalize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6. Challenges in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440045"/>
          </a:xfrm>
        </p:spPr>
        <p:txBody>
          <a:bodyPr>
            <a:noAutofit/>
          </a:bodyPr>
          <a:lstStyle/>
          <a:p>
            <a:pPr lvl="0" algn="just"/>
            <a:r>
              <a:rPr sz="2800" b="1" dirty="0">
                <a:latin typeface="Times New Roman Regular" panose="02020603050405020304" charset="0"/>
                <a:cs typeface="Times New Roman Regular" panose="02020603050405020304" charset="0"/>
              </a:rPr>
              <a:t>Lack of Testability: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Some requirements may be difficult to test if not clearly defined or measurable.</a:t>
            </a:r>
          </a:p>
          <a:p>
            <a:pPr marL="0" lvl="0" indent="0" algn="just">
              <a:buNone/>
            </a:pPr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Overcoming Challenges:</a:t>
            </a:r>
          </a:p>
          <a:p>
            <a:pPr lvl="0"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Encourage stakeholders to prioritize requirement clarity and completeness.</a:t>
            </a:r>
          </a:p>
          <a:p>
            <a:pPr lvl="0"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Use checklists and validation criteria rigorously to identify ambiguities early.</a:t>
            </a:r>
          </a:p>
          <a:p>
            <a:pPr lvl="0"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Schedule regular validation sessions to accommodate any changes in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1330</Words>
  <Application>Microsoft Office PowerPoint</Application>
  <PresentationFormat>On-screen Show (4:3)</PresentationFormat>
  <Paragraphs>134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Times New Roman</vt:lpstr>
      <vt:lpstr>Times New Roman Bold</vt:lpstr>
      <vt:lpstr>Times New Roman Regular</vt:lpstr>
      <vt:lpstr>Wingdings</vt:lpstr>
      <vt:lpstr>Office Theme</vt:lpstr>
      <vt:lpstr>REQUIREMENT ENGINEERING </vt:lpstr>
      <vt:lpstr>Lesson 6: Requirement Validation</vt:lpstr>
      <vt:lpstr>Last Week…</vt:lpstr>
      <vt:lpstr>Learning Objectives:  </vt:lpstr>
      <vt:lpstr>Learning Objectives:  </vt:lpstr>
      <vt:lpstr>Chapter Outlines </vt:lpstr>
      <vt:lpstr>1. Introduction to Requirement Validation </vt:lpstr>
      <vt:lpstr>1. Introduction to Requirement Validation </vt:lpstr>
      <vt:lpstr>2. Importance of Requirement Validation</vt:lpstr>
      <vt:lpstr>2. Importance of Requirement Validation</vt:lpstr>
      <vt:lpstr>3. Techniques for Requirement Validation</vt:lpstr>
      <vt:lpstr>3. Techniques for Requirement Validation</vt:lpstr>
      <vt:lpstr>3. Techniques for Requirement Validation</vt:lpstr>
      <vt:lpstr>3. Techniques for Requirement Validation</vt:lpstr>
      <vt:lpstr>3. Techniques for Requirement Validation</vt:lpstr>
      <vt:lpstr>3. Techniques for Requirement Validation</vt:lpstr>
      <vt:lpstr>3. Techniques for Requirement Validation</vt:lpstr>
      <vt:lpstr>3. Techniques for Requirement Validation</vt:lpstr>
      <vt:lpstr>3. Techniques for Requirement Validation</vt:lpstr>
      <vt:lpstr>4. Key Validation Criteria</vt:lpstr>
      <vt:lpstr>4. Key Validation Criteria</vt:lpstr>
      <vt:lpstr>5. Requirement Validation Process</vt:lpstr>
      <vt:lpstr>5. Requirement Validation Process</vt:lpstr>
      <vt:lpstr>5. Requirement Validation Process</vt:lpstr>
      <vt:lpstr>6. Challenges in Requirement Validation</vt:lpstr>
      <vt:lpstr>6. Challenges in Requirement Validation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Kabera Clapton Gahenda</cp:lastModifiedBy>
  <cp:revision>32</cp:revision>
  <dcterms:created xsi:type="dcterms:W3CDTF">2026-02-12T13:00:49Z</dcterms:created>
  <dcterms:modified xsi:type="dcterms:W3CDTF">2026-07-21T13:35:56Z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3623BFDE8A596A6388541B67282C285A_43</vt:lpwstr>
  </property>
</Properties>
</file>