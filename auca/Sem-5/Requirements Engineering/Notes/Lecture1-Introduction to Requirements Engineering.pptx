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71" r:id="rId9"/>
    <p:sldId id="263" r:id="rId10"/>
    <p:sldId id="267" r:id="rId11"/>
    <p:sldId id="264" r:id="rId12"/>
    <p:sldId id="268" r:id="rId13"/>
    <p:sldId id="266" r:id="rId14"/>
    <p:sldId id="269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A943E-BA01-46A7-B697-0E51E8320D60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6305F-A7B6-40DB-A979-0DB98CF25D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24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51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90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61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21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54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82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94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278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16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5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6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22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399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129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56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065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98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20C2D-6B33-41AC-8DA9-E9489E7A92A7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34FF7-3FDD-4009-BE7C-034DD7CEFA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49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9166" y="548640"/>
            <a:ext cx="9144000" cy="5795553"/>
          </a:xfrm>
        </p:spPr>
        <p:txBody>
          <a:bodyPr>
            <a:normAutofit fontScale="90000"/>
          </a:bodyPr>
          <a:lstStyle/>
          <a:p>
            <a:r>
              <a:rPr lang="en-GB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ENGINEERING </a:t>
            </a:r>
            <a:r>
              <a:rPr lang="en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Lecturer : Odile Nzambazamariya</a:t>
            </a:r>
            <a:b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GB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Lecture 1: Introduction to Requirements Engineering</a:t>
            </a:r>
            <a:b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Adventist University of Central Africa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1316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4738"/>
          </a:xfrm>
        </p:spPr>
        <p:txBody>
          <a:bodyPr>
            <a:normAutofit/>
          </a:bodyPr>
          <a:lstStyle/>
          <a:p>
            <a:r>
              <a:rPr lang="en-GB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DESCRIPTION 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course explores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concepts and techniques of Requirements Engineering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 vital component in software and systems development. Students will learn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identify, document, and manage both functional and non-functional requirements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By the end of the course, students will be able to gather, model, document, and manage requirements for both small and large-scale projects while ensuring alignment with business goals and stakeholder expectations.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4484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OBJECTIVES: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and explain the key concepts of Requirements Engineering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engage with stakeholders effectively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Analyze, prioritize, and model requirements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clear and well-structured requirements specifications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manage requirements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agile approaches to Requirements Engineering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 and resolve common challenges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8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8315"/>
          </a:xfrm>
        </p:spPr>
        <p:txBody>
          <a:bodyPr>
            <a:noAutofit/>
          </a:bodyPr>
          <a:lstStyle/>
          <a:p>
            <a:r>
              <a:rPr lang="en-GB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Outlines: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7611"/>
            <a:ext cx="10515600" cy="5149352"/>
          </a:xfrm>
        </p:spPr>
        <p:txBody>
          <a:bodyPr/>
          <a:lstStyle/>
          <a:p>
            <a:pPr algn="just"/>
            <a:r>
              <a:rPr lang="en-GB" dirty="0" smtClean="0">
                <a:latin typeface="Times New Roman Regular" panose="02020603050405020304" charset="0"/>
                <a:cs typeface="Times New Roman Regular" panose="02020603050405020304" charset="0"/>
              </a:rPr>
              <a:t>Definition of Requirements Engineering</a:t>
            </a:r>
          </a:p>
          <a:p>
            <a:pPr algn="just"/>
            <a:r>
              <a:rPr lang="en-GB" dirty="0" smtClean="0">
                <a:latin typeface="Times New Roman Regular" panose="02020603050405020304" charset="0"/>
                <a:cs typeface="Times New Roman Regular" panose="02020603050405020304" charset="0"/>
              </a:rPr>
              <a:t>Importance of Requirements Engineering</a:t>
            </a:r>
          </a:p>
          <a:p>
            <a:pPr algn="just"/>
            <a:r>
              <a:rPr lang="en-GB" dirty="0" smtClean="0">
                <a:latin typeface="Times New Roman Regular" panose="02020603050405020304" charset="0"/>
                <a:cs typeface="Times New Roman Regular" panose="02020603050405020304" charset="0"/>
              </a:rPr>
              <a:t>Types of Requirements</a:t>
            </a:r>
          </a:p>
          <a:p>
            <a:pPr algn="just"/>
            <a:r>
              <a:rPr lang="en-GB" dirty="0" smtClean="0">
                <a:latin typeface="Times New Roman Regular" panose="02020603050405020304" charset="0"/>
                <a:cs typeface="Times New Roman Regular" panose="02020603050405020304" charset="0"/>
              </a:rPr>
              <a:t>Stakeholders in Requirement Engineering</a:t>
            </a:r>
          </a:p>
          <a:p>
            <a:pPr algn="just"/>
            <a:r>
              <a:rPr lang="en-GB" dirty="0" smtClean="0">
                <a:latin typeface="Times New Roman Regular" panose="02020603050405020304" charset="0"/>
                <a:cs typeface="Times New Roman Regular" panose="02020603050405020304" charset="0"/>
              </a:rPr>
              <a:t>Challenges in Requirements Engineering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992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Requirements Engineering?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identifying, documenting, and managing requirements in the engineering design process is known as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engineering (RE)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a common approach in systems and software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421899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114697" y="677527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6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Requirements Engineering?</a:t>
            </a:r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73531"/>
            <a:ext cx="3413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73531"/>
            <a:ext cx="3413760" cy="12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480" y="323088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Elicitation</a:t>
            </a:r>
            <a:endParaRPr lang="en-US" sz="2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480" y="3901440"/>
            <a:ext cx="304800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Gathering needs from stakeholders through interviews, surveys &amp; workshops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2673531"/>
            <a:ext cx="3413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2673531"/>
            <a:ext cx="3413760" cy="12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23088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Specification</a:t>
            </a:r>
            <a:endParaRPr lang="en-US" sz="2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0" y="3901440"/>
            <a:ext cx="304800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Documenting requirements clearly, unambiguously, and completely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68640" y="2673531"/>
            <a:ext cx="3413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68640" y="2673531"/>
            <a:ext cx="3413760" cy="12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520" y="323088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</a:t>
            </a:r>
            <a:endParaRPr lang="en-US" sz="2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51520" y="3901440"/>
            <a:ext cx="304800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Ensuring requirements accurately reflect stakeholder needs and are feasible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96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requirements engineering important?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it sets a specific path for project development. Second, clients may have a long list of ideas, features, and functionalities when building new software, and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engineering give them a framework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fitting into these ideas.</a:t>
            </a:r>
          </a:p>
        </p:txBody>
      </p:sp>
    </p:spTree>
    <p:extLst>
      <p:ext uri="{BB962C8B-B14F-4D97-AF65-F5344CB8AC3E}">
        <p14:creationId xmlns:p14="http://schemas.microsoft.com/office/powerpoint/2010/main" val="2740684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96983" y="50335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67543" y="377953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6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</a:t>
            </a:r>
            <a:r>
              <a:rPr lang="en-GB" sz="36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Requirements Engineering</a:t>
            </a:r>
          </a:p>
          <a:p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52503" y="1368117"/>
            <a:ext cx="3901440" cy="1828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2503" y="1298449"/>
            <a:ext cx="39014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70%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52503" y="2475847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 software failures are caused by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67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poor requirements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84069" y="3697660"/>
            <a:ext cx="34137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7973" y="3697660"/>
            <a:ext cx="85344" cy="853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1333" y="374642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Rework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1333" y="409999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Clear requirements minimize costly changes late in development.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92778" y="4639928"/>
            <a:ext cx="34137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4069" y="4673020"/>
            <a:ext cx="85344" cy="853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1333" y="472178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Saves Time &amp; Cost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91333" y="507535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Fixing a requirements error costs 10–100× more after deployment.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77943" y="3709852"/>
            <a:ext cx="34137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87523" y="3709852"/>
            <a:ext cx="85344" cy="853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85207" y="3758620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Improves Quality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85207" y="4112188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Well-defined requirements lead to software that truly meets user needs.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2629" y="3697660"/>
            <a:ext cx="34137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2629" y="3697660"/>
            <a:ext cx="85344" cy="853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9893" y="374642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Manages Risk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09893" y="409999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 identification of ambiguities and conflicts prevents project failure.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02629" y="4673020"/>
            <a:ext cx="34137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2629" y="4673020"/>
            <a:ext cx="85344" cy="853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9893" y="472178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Aligns Teams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09893" y="5075356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Creates a shared understanding between developers, clients, and users.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14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337" y="86451"/>
            <a:ext cx="10515600" cy="1325563"/>
          </a:xfrm>
          <a:noFill/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Requirements</a:t>
            </a:r>
            <a:endParaRPr lang="en-US" dirty="0">
              <a:solidFill>
                <a:srgbClr val="FFFF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5081905"/>
          </a:xfrm>
        </p:spPr>
        <p:txBody>
          <a:bodyPr>
            <a:normAutofit fontScale="97500"/>
          </a:bodyPr>
          <a:lstStyle/>
          <a:p>
            <a:pPr lvl="0" algn="just"/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There are two major types of requirements in RE</a:t>
            </a:r>
            <a:r>
              <a:rPr dirty="0" smtClean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just">
              <a:buNone/>
            </a:pP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Functional Requirements: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These define the specific behaviors or functions of the system. </a:t>
            </a: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For example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, a functional requirement for an e-commerce website might be </a:t>
            </a: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"the system must allow users to create accounts and make purchases online</a:t>
            </a:r>
            <a:r>
              <a:rPr b="1" dirty="0" smtClean="0">
                <a:latin typeface="Times New Roman Bold" panose="02020603050405020304" charset="0"/>
                <a:cs typeface="Times New Roman Bold" panose="02020603050405020304" charset="0"/>
              </a:rPr>
              <a:t>."</a:t>
            </a:r>
            <a:endParaRPr lang="en-US" b="1" dirty="0" smtClean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457200" lvl="1" indent="0" algn="just">
              <a:buNone/>
            </a:pPr>
            <a:endParaRPr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1"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Non-Functional Requirements: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These describe the quality attributes of the system, such as performance, security, usability, and scalability. </a:t>
            </a: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For example, "the system must support 100,000 concurrent users without crashing"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is a non-functional requirement</a:t>
            </a:r>
          </a:p>
        </p:txBody>
      </p:sp>
    </p:spTree>
    <p:extLst>
      <p:ext uri="{BB962C8B-B14F-4D97-AF65-F5344CB8AC3E}">
        <p14:creationId xmlns:p14="http://schemas.microsoft.com/office/powerpoint/2010/main" val="343613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6822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268224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600" dirty="0" smtClean="0">
                <a:solidFill>
                  <a:srgbClr val="02318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Types of Requirements</a:t>
            </a:r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158240"/>
            <a:ext cx="5364480" cy="536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7680" y="1158240"/>
            <a:ext cx="5364480" cy="87782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560" y="1194816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Functional Requirements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0560" y="1621536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D1FA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the system SHOULD DO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07136" y="2316480"/>
            <a:ext cx="219456" cy="219456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" y="2218944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login &amp; authentication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07136" y="3096768"/>
            <a:ext cx="219456" cy="219456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6320" y="2999232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a payment transaction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7136" y="3877056"/>
            <a:ext cx="219456" cy="219456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6320" y="3779520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 a monthly report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7136" y="4657344"/>
            <a:ext cx="219456" cy="219456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320" y="4559808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Send email notifications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7136" y="5437632"/>
            <a:ext cx="219456" cy="219456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320" y="5340096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Search and filter records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1158240"/>
            <a:ext cx="5364480" cy="536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9840" y="1158240"/>
            <a:ext cx="5364480" cy="877824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2720" y="1194816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Non-Functional Requirements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1621536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D1FA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well the system PERFORMS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59296" y="2316480"/>
            <a:ext cx="219456" cy="219456"/>
          </a:xfrm>
          <a:prstGeom prst="ellipse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8480" y="2218944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Performance: respond in &lt; 2 sec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59296" y="3096768"/>
            <a:ext cx="219456" cy="219456"/>
          </a:xfrm>
          <a:prstGeom prst="ellipse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8480" y="2999232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Security: encrypt all user data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59296" y="3877056"/>
            <a:ext cx="219456" cy="219456"/>
          </a:xfrm>
          <a:prstGeom prst="ellipse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8480" y="3779520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Scalability: support 10,000 users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59296" y="4657344"/>
            <a:ext cx="219456" cy="219456"/>
          </a:xfrm>
          <a:prstGeom prst="ellipse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8480" y="4559808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Usability: WCAG 2.1 compliant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59296" y="5437632"/>
            <a:ext cx="219456" cy="219456"/>
          </a:xfrm>
          <a:prstGeom prst="ellipse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8480" y="5340096"/>
            <a:ext cx="4632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Reliability: 99.9% uptime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44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702"/>
            <a:ext cx="10515600" cy="1325563"/>
          </a:xfrm>
          <a:noFill/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 in Requirement Engineering</a:t>
            </a:r>
            <a:endParaRPr lang="en-US" dirty="0">
              <a:solidFill>
                <a:srgbClr val="FFFF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5081905"/>
          </a:xfrm>
        </p:spPr>
        <p:txBody>
          <a:bodyPr>
            <a:normAutofit fontScale="97500"/>
          </a:bodyPr>
          <a:lstStyle/>
          <a:p>
            <a:pPr lvl="0" algn="just"/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Stakeholders are individuals or groups with an interest in the development of the system. They can influence the requirements and thus the system's success. </a:t>
            </a:r>
          </a:p>
        </p:txBody>
      </p:sp>
    </p:spTree>
    <p:extLst>
      <p:ext uri="{BB962C8B-B14F-4D97-AF65-F5344CB8AC3E}">
        <p14:creationId xmlns:p14="http://schemas.microsoft.com/office/powerpoint/2010/main" val="593770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6822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268224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Stakeholders in Requirements Engineering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767840"/>
            <a:ext cx="347472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680" y="1767840"/>
            <a:ext cx="3474720" cy="975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560" y="1938528"/>
            <a:ext cx="310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3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Clients / Sponsors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2438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Fund the project; define high-level business goals and budget constraints.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67200" y="1767840"/>
            <a:ext cx="347472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67200" y="1767840"/>
            <a:ext cx="3474720" cy="9753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0080" y="1938528"/>
            <a:ext cx="310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65F4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 Users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50080" y="2438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the final system daily; provide practical needs and usability feedback.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0" y="1767840"/>
            <a:ext cx="347472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767840"/>
            <a:ext cx="3474720" cy="97536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38528"/>
            <a:ext cx="310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7C2D1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Managers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0" y="2438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Plan, track, and deliver the project; balance scope, time, and cost.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084320"/>
            <a:ext cx="347472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680" y="4084320"/>
            <a:ext cx="3474720" cy="9753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60" y="4255008"/>
            <a:ext cx="310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4C1D9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Developers &amp; Architects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560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the system; clarify technical feasibility of requirements.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67200" y="4084320"/>
            <a:ext cx="347472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67200" y="4084320"/>
            <a:ext cx="3474720" cy="97536"/>
          </a:xfrm>
          <a:prstGeom prst="rect">
            <a:avLst/>
          </a:prstGeom>
          <a:solidFill>
            <a:srgbClr val="713F12"/>
          </a:solidFill>
          <a:ln w="12700">
            <a:solidFill>
              <a:srgbClr val="713F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0080" y="4255008"/>
            <a:ext cx="310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713F1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QA / Testers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50080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 that the system meets requirements through systematic testing.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046720" y="4084320"/>
            <a:ext cx="347472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4084320"/>
            <a:ext cx="3474720" cy="97536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255008"/>
            <a:ext cx="310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64E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 Experts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 specialized knowledge about the business domain and regulations.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22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Requirements Engineering</a:t>
            </a:r>
            <a:endParaRPr lang="en-US" dirty="0">
              <a:solidFill>
                <a:srgbClr val="FFFF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171" y="2305596"/>
            <a:ext cx="9191897" cy="2344782"/>
          </a:xfrm>
        </p:spPr>
        <p:txBody>
          <a:bodyPr>
            <a:normAutofit fontScale="97500"/>
          </a:bodyPr>
          <a:lstStyle/>
          <a:p>
            <a:pPr marL="0" lvl="0" indent="0" algn="just">
              <a:buNone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Requirements Engineering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refer to the common difficulties that arise when trying to gather, define, and document software requirements.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69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6822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268224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600" dirty="0" smtClean="0">
                <a:solidFill>
                  <a:srgbClr val="02318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Challenges in Requirements Engineering</a:t>
            </a:r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1219200"/>
            <a:ext cx="731520" cy="87782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219200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87424" y="1219200"/>
            <a:ext cx="1009497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316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Ambiguity: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1316736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Stakeholders use vague language. 'The system should be </a:t>
            </a:r>
            <a:r>
              <a:rPr lang="en-US" sz="1733" dirty="0" smtClean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fast‘, </a:t>
            </a:r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fast exactly?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316480"/>
            <a:ext cx="731520" cy="87782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2316480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87424" y="2316480"/>
            <a:ext cx="1009497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414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Incomplete Requirements: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2414016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Stakeholders often don't know what they want until they see a prototype.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413760"/>
            <a:ext cx="731520" cy="87782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3413760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487424" y="3413760"/>
            <a:ext cx="1009497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5112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Conflicting Requirements: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0" y="3511296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Different stakeholders have contradictory needs that must be negotiated and resolved.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511040"/>
            <a:ext cx="731520" cy="87782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600" y="4511040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487424" y="4511040"/>
            <a:ext cx="1009497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4608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Requirements Creep: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474720" y="4608576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Scope grows uncontrollably as new requirements are added without proper control.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600" y="5608320"/>
            <a:ext cx="731520" cy="87782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600" y="5608320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487424" y="5608320"/>
            <a:ext cx="1009497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5705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B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Communication Gaps: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74720" y="5705856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 teams and non-technical stakeholders speak different languages.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356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6754"/>
            <a:ext cx="10515600" cy="101019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</a:t>
            </a:r>
            <a:br>
              <a:rPr lang="en-GB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0194"/>
            <a:ext cx="10515600" cy="5166769"/>
          </a:xfrm>
        </p:spPr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 is the systematic process of gathering, documenting, and validating software requirements.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 requirements are the foundation of successful software, poor RE leads to project failure.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can be Functional, Non-Functional, or Domain-specific.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stakeholders: clients, users, developers play a critical role in RE.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include ambiguity, incomplete needs, conflicts, scope creep, and communication.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773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794</Words>
  <Application>Microsoft Office PowerPoint</Application>
  <PresentationFormat>Widescreen</PresentationFormat>
  <Paragraphs>111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Times New Roman Bold</vt:lpstr>
      <vt:lpstr>Times New Roman Regular</vt:lpstr>
      <vt:lpstr>Wingdings</vt:lpstr>
      <vt:lpstr>Office Theme</vt:lpstr>
      <vt:lpstr>REQUIREMENTS ENGINEERING       Lecturer : Odile Nzambazamariya    Lecture 1: Introduction to Requirements Engineering   Adventist University of Central Africa</vt:lpstr>
      <vt:lpstr>COURSE DESCRIPTION </vt:lpstr>
      <vt:lpstr>LEARNING OBJECTIVES:</vt:lpstr>
      <vt:lpstr>Outlines:</vt:lpstr>
      <vt:lpstr>What is Requirements Engineering?</vt:lpstr>
      <vt:lpstr>PowerPoint Presentation</vt:lpstr>
      <vt:lpstr>Why is requirements engineering important?</vt:lpstr>
      <vt:lpstr>PowerPoint Presentation</vt:lpstr>
      <vt:lpstr>Types of Requirements</vt:lpstr>
      <vt:lpstr>PowerPoint Presentation</vt:lpstr>
      <vt:lpstr>Stakeholders in Requirement Engineering</vt:lpstr>
      <vt:lpstr>PowerPoint Presentation</vt:lpstr>
      <vt:lpstr>Challenges in Requirements Engineering</vt:lpstr>
      <vt:lpstr>PowerPoint Presentation</vt:lpstr>
      <vt:lpstr>Key Takeaways 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ENGINEERING     Lecturer : Odile Nzambazamariya  Lecture 1:   Adventist University of Central Africa</dc:title>
  <dc:creator>Microsoft account</dc:creator>
  <cp:lastModifiedBy>Microsoft account</cp:lastModifiedBy>
  <cp:revision>15</cp:revision>
  <dcterms:created xsi:type="dcterms:W3CDTF">2026-06-08T10:30:54Z</dcterms:created>
  <dcterms:modified xsi:type="dcterms:W3CDTF">2026-06-08T18:23:28Z</dcterms:modified>
</cp:coreProperties>
</file>