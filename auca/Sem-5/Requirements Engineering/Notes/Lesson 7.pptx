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332" r:id="rId3"/>
    <p:sldId id="334" r:id="rId4"/>
    <p:sldId id="441" r:id="rId5"/>
    <p:sldId id="417" r:id="rId6"/>
    <p:sldId id="419" r:id="rId7"/>
    <p:sldId id="442" r:id="rId8"/>
    <p:sldId id="443" r:id="rId9"/>
    <p:sldId id="457" r:id="rId10"/>
    <p:sldId id="458" r:id="rId11"/>
    <p:sldId id="459" r:id="rId12"/>
    <p:sldId id="447" r:id="rId13"/>
    <p:sldId id="448" r:id="rId14"/>
    <p:sldId id="449" r:id="rId15"/>
    <p:sldId id="450" r:id="rId16"/>
    <p:sldId id="460" r:id="rId17"/>
    <p:sldId id="451" r:id="rId18"/>
    <p:sldId id="452" r:id="rId19"/>
    <p:sldId id="453" r:id="rId20"/>
    <p:sldId id="454" r:id="rId21"/>
    <p:sldId id="455" r:id="rId22"/>
    <p:sldId id="456" r:id="rId23"/>
    <p:sldId id="461" r:id="rId24"/>
    <p:sldId id="462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86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21C40-83F2-4CC1-BC79-D76B55C54DE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7C86D-C392-4D3C-BF59-A9593E2F1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3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cause-effect diagram and risk assessment matrices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7C86D-C392-4D3C-BF59-A9593E2F18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79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85FA-1937-BB89-F713-F6B3B9A2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742D8-E76E-3F55-0502-B3D2F8A66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818A5-85C5-A582-73B0-A3498FB59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cause-effect diagram and risk assessment 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FB7FA-0CFC-CC12-9E12-CA199827A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7C86D-C392-4D3C-BF59-A9593E2F18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31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ED314-7255-B853-D21F-316EFADA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44996D-C3CE-CA70-645F-FC1A85EF9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05935-6C6A-4CBE-69C3-B0069C536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cause-effect diagram and risk assessment 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83644-06F5-1BF9-85EA-7089AC29A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7C86D-C392-4D3C-BF59-A9593E2F18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96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D8AF-8316-495E-CCD7-913A9698B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9A8C2-35F3-FDB7-AC1F-8D6A0BF79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85278-6F69-116D-9D7C-73B25B3A5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cause-effect diagram and risk assessment 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583D6-DB81-F912-D1BF-43633AC51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7C86D-C392-4D3C-BF59-A9593E2F18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42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05DC-2C1B-FDBA-F7DF-9CE2B5AE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23A54-F08C-0ED3-25DF-21A7528D9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7761C-F150-6277-BCE0-D0E28E44F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cause-effect diagram and risk assessment matrices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FCA0A-C3E4-A319-E6B9-FA788828B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7C86D-C392-4D3C-BF59-A9593E2F18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8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470025"/>
          </a:xfrm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25140"/>
            <a:ext cx="9144000" cy="162242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 7: Change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Learning Objectives: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99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sz="2800" dirty="0">
                <a:latin typeface="Times New Roman Regular" panose="02020603050405020304" charset="0"/>
                <a:cs typeface="Times New Roman Regular" panose="02020603050405020304" charset="0"/>
              </a:rPr>
              <a:t>By the end of this chapter, students will be able to: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Understand the Fundamentals of Change Management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Describe the Change Management Process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Apply Techniques for Managing Requirement Changes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Understand the Role of Change Control Boards (CCB)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Utilize Tools for Change Management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Manage Requirement Changes in Agile and Traditional Environments</a:t>
            </a:r>
          </a:p>
          <a:p>
            <a:pPr algn="just"/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Learning Objectives: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9990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Apply Best Practices for Effective Change Management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Analyze a Real-World Case Study on Change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Outlines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0400"/>
          </a:xfrm>
        </p:spPr>
        <p:txBody>
          <a:bodyPr/>
          <a:lstStyle/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Introduction to Change Management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Change Management Process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Techniques for Managing Requirement Changes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Best Practices in Change Management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Tools for Change Management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Case Study: Change Management in Agile Development</a:t>
            </a:r>
          </a:p>
          <a:p>
            <a:pPr algn="just"/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just"/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1. Introduction to Change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8229600" cy="5257165"/>
          </a:xfrm>
        </p:spPr>
        <p:txBody>
          <a:bodyPr>
            <a:noAutofit/>
          </a:bodyPr>
          <a:lstStyle/>
          <a:p>
            <a:pPr algn="just"/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Change management in requirements engineering is </a:t>
            </a:r>
            <a:r>
              <a:rPr lang="en-US" altLang="en-US" sz="2700" b="1" dirty="0">
                <a:latin typeface="Times New Roman Bold" panose="02020603050405020304" charset="0"/>
                <a:cs typeface="Times New Roman Bold" panose="02020603050405020304" charset="0"/>
              </a:rPr>
              <a:t>the process of handling modifications to requirements systematically</a:t>
            </a:r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. Since software development is dynamic, changes in requirements often arise due to:</a:t>
            </a:r>
          </a:p>
          <a:p>
            <a:pPr lvl="1"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New business needs</a:t>
            </a:r>
          </a:p>
          <a:p>
            <a:pPr lvl="1"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Evolving stakeholder expectations</a:t>
            </a:r>
          </a:p>
          <a:p>
            <a:pPr lvl="1"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Market competition</a:t>
            </a:r>
          </a:p>
          <a:p>
            <a:pPr lvl="1"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Technological advancements</a:t>
            </a:r>
          </a:p>
          <a:p>
            <a:pPr algn="just"/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A well-defined change management process helps </a:t>
            </a:r>
            <a:r>
              <a:rPr lang="en-US" altLang="en-US" sz="2700" b="1" dirty="0">
                <a:latin typeface="Times New Roman Bold" panose="02020603050405020304" charset="0"/>
                <a:cs typeface="Times New Roman Bold" panose="02020603050405020304" charset="0"/>
              </a:rPr>
              <a:t>reduce project risks, prevent scope creep, and maintain system integrity.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Change Management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700" dirty="0">
                <a:latin typeface="Times New Roman" panose="02020603050405020304" charset="0"/>
                <a:cs typeface="Times New Roman" panose="02020603050405020304" charset="0"/>
              </a:rPr>
              <a:t>The process typically follows these steps:</a:t>
            </a:r>
          </a:p>
          <a:p>
            <a:pPr algn="just"/>
            <a:r>
              <a:rPr lang="en-US" altLang="en-US" sz="2700" b="1" dirty="0">
                <a:latin typeface="Times New Roman Bold" panose="02020603050405020304" charset="0"/>
                <a:cs typeface="Times New Roman Bold" panose="02020603050405020304" charset="0"/>
              </a:rPr>
              <a:t>Step 1: Identify Change Requests</a:t>
            </a:r>
          </a:p>
          <a:p>
            <a:pPr lvl="1" algn="just"/>
            <a:r>
              <a:rPr lang="en-US" altLang="en-US" b="1" dirty="0">
                <a:latin typeface="Times New Roman Bold" panose="02020603050405020304" charset="0"/>
                <a:cs typeface="Times New Roman Bold" panose="02020603050405020304" charset="0"/>
              </a:rPr>
              <a:t>Sources of change requests:</a:t>
            </a:r>
          </a:p>
          <a:p>
            <a:pPr lvl="2" algn="just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Stakeholders (clients, users, developers, etc.)</a:t>
            </a:r>
          </a:p>
          <a:p>
            <a:pPr lvl="2" algn="just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Regulatory or compliance updates</a:t>
            </a:r>
          </a:p>
          <a:p>
            <a:pPr lvl="2" algn="just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Market trends</a:t>
            </a:r>
          </a:p>
          <a:p>
            <a:pPr lvl="2" algn="just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Technological shifts</a:t>
            </a:r>
          </a:p>
          <a:p>
            <a:pPr lvl="1" algn="just"/>
            <a:r>
              <a:rPr lang="en-US" altLang="en-US" sz="3265" b="1" dirty="0">
                <a:latin typeface="Times New Roman Bold" panose="02020603050405020304" charset="0"/>
                <a:cs typeface="Times New Roman Bold" panose="02020603050405020304" charset="0"/>
              </a:rPr>
              <a:t>Tools for tracking changes:</a:t>
            </a:r>
          </a:p>
          <a:p>
            <a:pPr lvl="2" algn="just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Change request forms</a:t>
            </a:r>
          </a:p>
          <a:p>
            <a:pPr lvl="2" algn="just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Issue tracking systems (e.g., JIRA, Trello, Redmine)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Change Management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800" b="1" dirty="0">
                <a:latin typeface="Times New Roman Regular" panose="02020603050405020304" charset="0"/>
                <a:cs typeface="Times New Roman Regular" panose="02020603050405020304" charset="0"/>
              </a:rPr>
              <a:t>Step 2: Evaluate Impact</a:t>
            </a:r>
          </a:p>
          <a:p>
            <a:pPr lvl="2" algn="just"/>
            <a:r>
              <a:rPr lang="en-US" altLang="en-US" sz="2800" b="1" dirty="0">
                <a:latin typeface="Times New Roman Regular" panose="02020603050405020304" charset="0"/>
                <a:cs typeface="Times New Roman Regular" panose="02020603050405020304" charset="0"/>
              </a:rPr>
              <a:t>Assess the change in terms of:</a:t>
            </a:r>
          </a:p>
          <a:p>
            <a:pPr lvl="3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Feasibility: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Can it be implemented with available resources?</a:t>
            </a:r>
          </a:p>
          <a:p>
            <a:pPr lvl="3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Cost: 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What will be the financial impact?</a:t>
            </a:r>
          </a:p>
          <a:p>
            <a:pPr lvl="3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Schedule: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Will it delay the project?</a:t>
            </a:r>
          </a:p>
          <a:p>
            <a:pPr lvl="3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Risk: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Does it introduce new security or compliance risks?</a:t>
            </a:r>
          </a:p>
          <a:p>
            <a:pPr lvl="2" algn="just"/>
            <a:r>
              <a:rPr lang="en-US" altLang="en-US" sz="2800" b="1" dirty="0">
                <a:latin typeface="Times New Roman Regular" panose="02020603050405020304" charset="0"/>
                <a:cs typeface="Times New Roman Regular" panose="02020603050405020304" charset="0"/>
              </a:rPr>
              <a:t>Tools &amp; Techniques:</a:t>
            </a:r>
          </a:p>
          <a:p>
            <a:pPr lvl="3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Impact analysis (e.g., cause-effect diagrams)</a:t>
            </a:r>
          </a:p>
          <a:p>
            <a:pPr lvl="3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Risk assessment matrices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F033-417D-A4CE-6594-1B630DF7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5F87-48FF-58ED-16CF-C81F8DB007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Change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55107-8975-5D1B-208E-FFACD895A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marL="57150" indent="0" algn="just">
              <a:buNone/>
            </a:pPr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A Risk Register for an E-Commerce Platform</a:t>
            </a:r>
          </a:p>
          <a:p>
            <a:pPr marL="57150" indent="0" algn="just">
              <a:buNone/>
            </a:pPr>
            <a:endParaRPr lang="en-US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12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E5A6-1867-2032-1A10-87651F14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A22E2-3C75-83D3-EC88-C40882FCF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marL="57150" indent="0" algn="just">
              <a:buNone/>
            </a:pPr>
            <a:endParaRPr lang="en-US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E482DD-A69E-39AB-A5EB-23A6050DB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104068"/>
              </p:ext>
            </p:extLst>
          </p:nvPr>
        </p:nvGraphicFramePr>
        <p:xfrm>
          <a:off x="292608" y="197072"/>
          <a:ext cx="8394192" cy="6463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223">
                  <a:extLst>
                    <a:ext uri="{9D8B030D-6E8A-4147-A177-3AD203B41FA5}">
                      <a16:colId xmlns:a16="http://schemas.microsoft.com/office/drawing/2014/main" val="2998127979"/>
                    </a:ext>
                  </a:extLst>
                </a:gridCol>
                <a:gridCol w="2111025">
                  <a:extLst>
                    <a:ext uri="{9D8B030D-6E8A-4147-A177-3AD203B41FA5}">
                      <a16:colId xmlns:a16="http://schemas.microsoft.com/office/drawing/2014/main" val="1308918270"/>
                    </a:ext>
                  </a:extLst>
                </a:gridCol>
                <a:gridCol w="1167009">
                  <a:extLst>
                    <a:ext uri="{9D8B030D-6E8A-4147-A177-3AD203B41FA5}">
                      <a16:colId xmlns:a16="http://schemas.microsoft.com/office/drawing/2014/main" val="2370735888"/>
                    </a:ext>
                  </a:extLst>
                </a:gridCol>
                <a:gridCol w="1127721">
                  <a:extLst>
                    <a:ext uri="{9D8B030D-6E8A-4147-A177-3AD203B41FA5}">
                      <a16:colId xmlns:a16="http://schemas.microsoft.com/office/drawing/2014/main" val="3972746509"/>
                    </a:ext>
                  </a:extLst>
                </a:gridCol>
                <a:gridCol w="755000">
                  <a:extLst>
                    <a:ext uri="{9D8B030D-6E8A-4147-A177-3AD203B41FA5}">
                      <a16:colId xmlns:a16="http://schemas.microsoft.com/office/drawing/2014/main" val="2881446418"/>
                    </a:ext>
                  </a:extLst>
                </a:gridCol>
                <a:gridCol w="2217214">
                  <a:extLst>
                    <a:ext uri="{9D8B030D-6E8A-4147-A177-3AD203B41FA5}">
                      <a16:colId xmlns:a16="http://schemas.microsoft.com/office/drawing/2014/main" val="652484523"/>
                    </a:ext>
                  </a:extLst>
                </a:gridCol>
              </a:tblGrid>
              <a:tr h="1224592">
                <a:tc>
                  <a:txBody>
                    <a:bodyPr/>
                    <a:lstStyle/>
                    <a:p>
                      <a:r>
                        <a:rPr lang="en-US" dirty="0"/>
                        <a:t>Change Request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Request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Likelihood of Failure 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 of Failure 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CCB Decision /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320717"/>
                  </a:ext>
                </a:extLst>
              </a:tr>
              <a:tr h="1224592">
                <a:tc>
                  <a:txBody>
                    <a:bodyPr/>
                    <a:lstStyle/>
                    <a:p>
                      <a:r>
                        <a:rPr lang="en-US" dirty="0"/>
                        <a:t>CR-01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the primary payment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Decline/Postpone</a:t>
                      </a:r>
                      <a:r>
                        <a:rPr lang="en-US" dirty="0"/>
                        <a:t>: High risk to revenue. Requires a separate sandboxed pilot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674211"/>
                  </a:ext>
                </a:extLst>
              </a:tr>
              <a:tr h="1224592">
                <a:tc>
                  <a:txBody>
                    <a:bodyPr/>
                    <a:lstStyle/>
                    <a:p>
                      <a:r>
                        <a:rPr lang="en-US" dirty="0"/>
                        <a:t>CR-02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a dark mode toggle to user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Approve</a:t>
                      </a:r>
                      <a:r>
                        <a:rPr lang="en-US" dirty="0"/>
                        <a:t>: Minimal system impact. Can be assigned directly to junior developers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710163"/>
                  </a:ext>
                </a:extLst>
              </a:tr>
              <a:tr h="1591969">
                <a:tc>
                  <a:txBody>
                    <a:bodyPr/>
                    <a:lstStyle/>
                    <a:p>
                      <a:r>
                        <a:rPr lang="en-US" dirty="0"/>
                        <a:t>CR-03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Migrate session tokens from cookies to local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Defer for Review</a:t>
                      </a:r>
                      <a:r>
                        <a:rPr lang="en-US" b="0" dirty="0"/>
                        <a:t>: Medium risk to security. Requires formal security architecture audit.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4"/>
                  </a:ext>
                </a:extLst>
              </a:tr>
              <a:tr h="119811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Rewrite the checkout cart algorithm to support bulk discounts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Approve with Guardrails</a:t>
                      </a:r>
                      <a:r>
                        <a:rPr lang="en-US" b="0" dirty="0"/>
                        <a:t>: Medium risk. Requires strict regression testing.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3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02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19722-1A35-E682-94F6-E392168C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D35017-DA03-8435-5D20-C2EA2FB79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451198"/>
              </p:ext>
            </p:extLst>
          </p:nvPr>
        </p:nvGraphicFramePr>
        <p:xfrm>
          <a:off x="1014984" y="1042416"/>
          <a:ext cx="7187180" cy="501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7436">
                  <a:extLst>
                    <a:ext uri="{9D8B030D-6E8A-4147-A177-3AD203B41FA5}">
                      <a16:colId xmlns:a16="http://schemas.microsoft.com/office/drawing/2014/main" val="1173188395"/>
                    </a:ext>
                  </a:extLst>
                </a:gridCol>
                <a:gridCol w="1437436">
                  <a:extLst>
                    <a:ext uri="{9D8B030D-6E8A-4147-A177-3AD203B41FA5}">
                      <a16:colId xmlns:a16="http://schemas.microsoft.com/office/drawing/2014/main" val="1707306492"/>
                    </a:ext>
                  </a:extLst>
                </a:gridCol>
                <a:gridCol w="1437436">
                  <a:extLst>
                    <a:ext uri="{9D8B030D-6E8A-4147-A177-3AD203B41FA5}">
                      <a16:colId xmlns:a16="http://schemas.microsoft.com/office/drawing/2014/main" val="249336332"/>
                    </a:ext>
                  </a:extLst>
                </a:gridCol>
                <a:gridCol w="1437436">
                  <a:extLst>
                    <a:ext uri="{9D8B030D-6E8A-4147-A177-3AD203B41FA5}">
                      <a16:colId xmlns:a16="http://schemas.microsoft.com/office/drawing/2014/main" val="876996101"/>
                    </a:ext>
                  </a:extLst>
                </a:gridCol>
                <a:gridCol w="1437436">
                  <a:extLst>
                    <a:ext uri="{9D8B030D-6E8A-4147-A177-3AD203B41FA5}">
                      <a16:colId xmlns:a16="http://schemas.microsoft.com/office/drawing/2014/main" val="3872349859"/>
                    </a:ext>
                  </a:extLst>
                </a:gridCol>
              </a:tblGrid>
              <a:tr h="100218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619550"/>
                  </a:ext>
                </a:extLst>
              </a:tr>
              <a:tr h="100218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20 (CR-01)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371086"/>
                  </a:ext>
                </a:extLst>
              </a:tr>
              <a:tr h="100218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 (CR-04)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12 (CR-03)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47935"/>
                  </a:ext>
                </a:extLst>
              </a:tr>
              <a:tr h="100218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444061"/>
                  </a:ext>
                </a:extLst>
              </a:tr>
              <a:tr h="1002183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 (CR-02)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9761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F198868-AD31-8EAF-6B46-A31D98E88E20}"/>
              </a:ext>
            </a:extLst>
          </p:cNvPr>
          <p:cNvSpPr txBox="1"/>
          <p:nvPr/>
        </p:nvSpPr>
        <p:spPr>
          <a:xfrm>
            <a:off x="1135379" y="67308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Negligible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9915F-90BF-7C2B-E0FD-62870C3635A9}"/>
              </a:ext>
            </a:extLst>
          </p:cNvPr>
          <p:cNvSpPr txBox="1"/>
          <p:nvPr/>
        </p:nvSpPr>
        <p:spPr>
          <a:xfrm>
            <a:off x="2636518" y="67308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1E4AE-CA1D-E8AA-D736-731E47E50D33}"/>
              </a:ext>
            </a:extLst>
          </p:cNvPr>
          <p:cNvSpPr txBox="1"/>
          <p:nvPr/>
        </p:nvSpPr>
        <p:spPr>
          <a:xfrm>
            <a:off x="5611364" y="66803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Critical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9E802-609F-F43E-6C29-8928DFB66D91}"/>
              </a:ext>
            </a:extLst>
          </p:cNvPr>
          <p:cNvSpPr txBox="1"/>
          <p:nvPr/>
        </p:nvSpPr>
        <p:spPr>
          <a:xfrm>
            <a:off x="3998974" y="673084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12822-569B-B20E-C3AA-5A4FA29A3DBD}"/>
              </a:ext>
            </a:extLst>
          </p:cNvPr>
          <p:cNvSpPr txBox="1"/>
          <p:nvPr/>
        </p:nvSpPr>
        <p:spPr>
          <a:xfrm>
            <a:off x="6830564" y="67056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Catastrophic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2F0D0D-DD4E-E064-4127-79263DC25854}"/>
              </a:ext>
            </a:extLst>
          </p:cNvPr>
          <p:cNvSpPr txBox="1"/>
          <p:nvPr/>
        </p:nvSpPr>
        <p:spPr>
          <a:xfrm>
            <a:off x="3696462" y="210312"/>
            <a:ext cx="1751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04C656-8912-222C-F80B-EF2D17199E8C}"/>
              </a:ext>
            </a:extLst>
          </p:cNvPr>
          <p:cNvSpPr txBox="1"/>
          <p:nvPr/>
        </p:nvSpPr>
        <p:spPr>
          <a:xfrm rot="16200000">
            <a:off x="-770002" y="3093095"/>
            <a:ext cx="213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LIKELIHOOD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851180-ABF3-EE61-1ABD-74D9910C87B9}"/>
              </a:ext>
            </a:extLst>
          </p:cNvPr>
          <p:cNvSpPr txBox="1"/>
          <p:nvPr/>
        </p:nvSpPr>
        <p:spPr>
          <a:xfrm rot="16200000">
            <a:off x="294325" y="5225422"/>
            <a:ext cx="832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A1490-9A53-3DB4-74CF-908ABD7F4B50}"/>
              </a:ext>
            </a:extLst>
          </p:cNvPr>
          <p:cNvSpPr txBox="1"/>
          <p:nvPr/>
        </p:nvSpPr>
        <p:spPr>
          <a:xfrm rot="16200000">
            <a:off x="228287" y="4318753"/>
            <a:ext cx="964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Unlikely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FC50E8-D786-7DA9-740F-61EE588B8638}"/>
              </a:ext>
            </a:extLst>
          </p:cNvPr>
          <p:cNvSpPr txBox="1"/>
          <p:nvPr/>
        </p:nvSpPr>
        <p:spPr>
          <a:xfrm rot="16200000">
            <a:off x="150176" y="3267934"/>
            <a:ext cx="112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Moderate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ADD0B5-5748-89D0-0B9B-E3B3B56D28BA}"/>
              </a:ext>
            </a:extLst>
          </p:cNvPr>
          <p:cNvSpPr txBox="1"/>
          <p:nvPr/>
        </p:nvSpPr>
        <p:spPr>
          <a:xfrm rot="16200000">
            <a:off x="320614" y="2262242"/>
            <a:ext cx="780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Likely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AB3200-B338-8DBD-9D38-19E6C7380F65}"/>
              </a:ext>
            </a:extLst>
          </p:cNvPr>
          <p:cNvSpPr txBox="1"/>
          <p:nvPr/>
        </p:nvSpPr>
        <p:spPr>
          <a:xfrm rot="16200000">
            <a:off x="159261" y="1165709"/>
            <a:ext cx="1003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Almost Certain</a:t>
            </a:r>
          </a:p>
        </p:txBody>
      </p:sp>
    </p:spTree>
    <p:extLst>
      <p:ext uri="{BB962C8B-B14F-4D97-AF65-F5344CB8AC3E}">
        <p14:creationId xmlns:p14="http://schemas.microsoft.com/office/powerpoint/2010/main" val="172876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Change Management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Step 3: Approve or Reject Changes</a:t>
            </a:r>
          </a:p>
          <a:p>
            <a:pPr lvl="1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Change Control Board (CCB): A team of stakeholders who decide on changes.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Decision criteria: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Critical vs. Optional changes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Business value and Return on Investment</a:t>
            </a:r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(ROI</a:t>
            </a:r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Compatibility with system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Change Management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Step 4: Implement the Change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Update the requirement documents (SRS, backlog, user stories)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Modify design documents and system architecture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Implement changes in code and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Change Management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Step 5: Validate and Test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Regression testing to ensure no side effects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User acceptance testing (UAT) for business validation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Step 6: Communicate and Document Changes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Update project documentation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Inform stakeholders about approved changes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Ensure team alignment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Managing Requirement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3200" b="1" dirty="0">
                <a:latin typeface="Times New Roman Bold" panose="02020603050405020304" charset="0"/>
                <a:cs typeface="Times New Roman Bold" panose="02020603050405020304" charset="0"/>
              </a:rPr>
              <a:t>Version Control Systems (VCS)</a:t>
            </a:r>
          </a:p>
          <a:p>
            <a:pPr lvl="1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Helps track requirement changes over time.</a:t>
            </a:r>
          </a:p>
          <a:p>
            <a:pPr lvl="1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Tools: Git, SVN</a:t>
            </a:r>
          </a:p>
          <a:p>
            <a:pPr lvl="0" algn="just"/>
            <a:r>
              <a:rPr lang="en-US" altLang="en-US" sz="3200" b="1" dirty="0">
                <a:latin typeface="Times New Roman Bold" panose="02020603050405020304" charset="0"/>
                <a:cs typeface="Times New Roman Bold" panose="02020603050405020304" charset="0"/>
              </a:rPr>
              <a:t>Traceability Matrices</a:t>
            </a:r>
          </a:p>
          <a:p>
            <a:pPr lvl="1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Links each requirement to design, code, and test cases.</a:t>
            </a:r>
          </a:p>
          <a:p>
            <a:pPr lvl="1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Ensures changes are properly tracked.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4D6B-9F54-23F5-AFEB-58B6E48E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70775-A500-CF52-D58D-42723CF5F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marL="57150" indent="0" algn="just">
              <a:buNone/>
            </a:pPr>
            <a:endParaRPr lang="en-US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A4FDB4-5A7F-8815-5FC3-A742749DA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05910"/>
              </p:ext>
            </p:extLst>
          </p:nvPr>
        </p:nvGraphicFramePr>
        <p:xfrm>
          <a:off x="374904" y="752209"/>
          <a:ext cx="8394192" cy="5353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528">
                  <a:extLst>
                    <a:ext uri="{9D8B030D-6E8A-4147-A177-3AD203B41FA5}">
                      <a16:colId xmlns:a16="http://schemas.microsoft.com/office/drawing/2014/main" val="2998127979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130891827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370735888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3972746509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881446418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652484523"/>
                    </a:ext>
                  </a:extLst>
                </a:gridCol>
              </a:tblGrid>
              <a:tr h="872776">
                <a:tc>
                  <a:txBody>
                    <a:bodyPr/>
                    <a:lstStyle/>
                    <a:p>
                      <a:r>
                        <a:rPr lang="en-US" dirty="0"/>
                        <a:t>Req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Requirement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Design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Case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320717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en-US" dirty="0"/>
                        <a:t>BR-01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must support secure login via email and password.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SEC-DS-101 (Login Form Architecture)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auth_controller.py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TC-AUTH-01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674211"/>
                  </a:ext>
                </a:extLst>
              </a:tr>
              <a:tr h="1224592">
                <a:tc>
                  <a:txBody>
                    <a:bodyPr/>
                    <a:lstStyle/>
                    <a:p>
                      <a:r>
                        <a:rPr lang="en-US" dirty="0"/>
                        <a:t>BR-02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must lock the user account after 3 failed login attempts.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SEC-DS-102 (Account Lockout Policy)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lockout_service.py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TC-AUTH-02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710163"/>
                  </a:ext>
                </a:extLst>
              </a:tr>
              <a:tr h="1052264">
                <a:tc>
                  <a:txBody>
                    <a:bodyPr/>
                    <a:lstStyle/>
                    <a:p>
                      <a:r>
                        <a:rPr lang="en-US" dirty="0"/>
                        <a:t>BR-03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 must be able to reset their password via an email link.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SEC-DS-103 (Password Reset 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mail_service.py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TC-AUTH-03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4"/>
                  </a:ext>
                </a:extLst>
              </a:tr>
              <a:tr h="119811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 must require at least 1 character number and 1 special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SEC-DS-104 (Password Complexity)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validation_utils.py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TC-AUTH-04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3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48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Managing Requirement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Change Prioritization Methods</a:t>
            </a:r>
          </a:p>
          <a:p>
            <a:pPr lvl="1" algn="just"/>
            <a:r>
              <a:rPr lang="en-US" altLang="en-US" sz="2800" b="1" dirty="0" err="1">
                <a:latin typeface="Times New Roman Bold" panose="02020603050405020304" charset="0"/>
                <a:cs typeface="Times New Roman Bold" panose="02020603050405020304" charset="0"/>
              </a:rPr>
              <a:t>MoSCoW</a:t>
            </a:r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 Method: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Must-have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Should-have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Could-have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Won't-have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Kano Model: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Basic needs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Performance needs</a:t>
            </a:r>
          </a:p>
          <a:p>
            <a:pPr lvl="2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Delighters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Techniques for Managing Requirement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Agile Change Management</a:t>
            </a:r>
          </a:p>
          <a:p>
            <a:pPr lvl="1" algn="just"/>
            <a:r>
              <a:rPr lang="en-US" altLang="en-US" sz="2450" dirty="0">
                <a:latin typeface="Times New Roman Regular" panose="02020603050405020304" charset="0"/>
                <a:cs typeface="Times New Roman Regular" panose="02020603050405020304" charset="0"/>
              </a:rPr>
              <a:t>Use of backlogs for dynamic requirements.</a:t>
            </a:r>
          </a:p>
          <a:p>
            <a:pPr lvl="2" algn="just"/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A backlog is a prioritized list of work for the development team derived from the product roadmap and its requirements.</a:t>
            </a:r>
          </a:p>
          <a:p>
            <a:pPr lvl="2" algn="just"/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The development team continuously pulls work out of the backlog at a certain rhythm depending on their framework of choice e.g. every iteration in scrum or continually in kanban</a:t>
            </a:r>
          </a:p>
          <a:p>
            <a:pPr lvl="1" algn="just"/>
            <a:r>
              <a:rPr lang="en-US" altLang="en-US" sz="2450" dirty="0">
                <a:latin typeface="Times New Roman Regular" panose="02020603050405020304" charset="0"/>
                <a:cs typeface="Times New Roman Regular" panose="02020603050405020304" charset="0"/>
              </a:rPr>
              <a:t>Sprint reviews to accommodate changes iteratively.</a:t>
            </a:r>
          </a:p>
          <a:p>
            <a:pPr lvl="2" algn="just"/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Agile ceremony where teams present completed work, gather feedback and align with stakeholders.</a:t>
            </a:r>
          </a:p>
          <a:p>
            <a:pPr lvl="2" algn="just"/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Agile ceremonies are activities done on a recurring basis in an agile project such as </a:t>
            </a:r>
            <a:r>
              <a:rPr lang="en-US" altLang="en-US" sz="2050" b="1" dirty="0">
                <a:latin typeface="Times New Roman Regular" panose="02020603050405020304" charset="0"/>
                <a:cs typeface="Times New Roman Regular" panose="02020603050405020304" charset="0"/>
              </a:rPr>
              <a:t>sprint planning</a:t>
            </a:r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altLang="en-US" sz="2050" b="1" dirty="0">
                <a:latin typeface="Times New Roman Regular" panose="02020603050405020304" charset="0"/>
                <a:cs typeface="Times New Roman Regular" panose="02020603050405020304" charset="0"/>
              </a:rPr>
              <a:t>sprint reviews</a:t>
            </a:r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altLang="en-US" sz="2050" b="1" dirty="0">
                <a:latin typeface="Times New Roman Regular" panose="02020603050405020304" charset="0"/>
                <a:cs typeface="Times New Roman Regular" panose="02020603050405020304" charset="0"/>
              </a:rPr>
              <a:t>sprint retrospectives</a:t>
            </a:r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 and </a:t>
            </a:r>
            <a:r>
              <a:rPr lang="en-US" altLang="en-US" sz="2050" b="1" dirty="0">
                <a:latin typeface="Times New Roman Regular" panose="02020603050405020304" charset="0"/>
                <a:cs typeface="Times New Roman Regular" panose="02020603050405020304" charset="0"/>
              </a:rPr>
              <a:t>daily stand-ups</a:t>
            </a:r>
            <a:r>
              <a:rPr lang="en-US" altLang="en-US" sz="2050" dirty="0">
                <a:latin typeface="Times New Roman Regular" panose="02020603050405020304" charset="0"/>
                <a:cs typeface="Times New Roman Regular" panose="02020603050405020304" charset="0"/>
              </a:rPr>
              <a:t>. They are not “just” meetings.</a:t>
            </a:r>
            <a:endParaRPr lang="en-US" altLang="en-US" sz="2050" b="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 Best Practices in Change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Establish a formal change control process.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Use a requirements repository to track versions.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Keep stakeholders engaged in decision-making.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Apply impact analysis before approving changes.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Implement automation tools to track requirement changes.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Avoid excessive scope changes (scope creep prevention).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5. Tools for Change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Here are some tools commonly used in Change Management:</a:t>
            </a:r>
          </a:p>
          <a:p>
            <a:pPr lvl="0" algn="just"/>
            <a:endParaRPr lang="en-US" altLang="en-US" sz="28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3950"/>
            <a:ext cx="9144000" cy="3121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6. Case Study: Change Management in Agile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57276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b="1">
                <a:latin typeface="Times New Roman Regular" panose="02020603050405020304" charset="0"/>
                <a:cs typeface="Times New Roman Regular" panose="02020603050405020304" charset="0"/>
              </a:rPr>
              <a:t>Scenario:</a:t>
            </a:r>
          </a:p>
          <a:p>
            <a:pPr lvl="0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A fintech startup is developing a mobile banking app. During Sprint 3, a government regulation change requires an additional security verification feature.</a:t>
            </a:r>
          </a:p>
          <a:p>
            <a:pPr lvl="0" algn="just"/>
            <a:r>
              <a:rPr lang="en-US" altLang="en-US" sz="2800" b="1">
                <a:latin typeface="Times New Roman Regular" panose="02020603050405020304" charset="0"/>
                <a:cs typeface="Times New Roman Regular" panose="02020603050405020304" charset="0"/>
              </a:rPr>
              <a:t>How Change Management is Applied:</a:t>
            </a:r>
          </a:p>
          <a:p>
            <a:pPr lvl="1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Change request is logged by the compliance team.</a:t>
            </a:r>
          </a:p>
          <a:p>
            <a:pPr lvl="1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Impact Analysis shows:</a:t>
            </a:r>
          </a:p>
          <a:p>
            <a:pPr lvl="2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Development effort: Medium</a:t>
            </a:r>
          </a:p>
          <a:p>
            <a:pPr lvl="2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Security risk: High</a:t>
            </a:r>
          </a:p>
          <a:p>
            <a:pPr lvl="2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Project timeline: +1 week extension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6. Case Study: Change Management in Agile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2992755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The Change Control Board approves the change.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Developers implement the feature and update UAT test cases.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The new security feature is deployed, and stakeholders are notified.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D8F2-57F3-A725-CC1E-F466E9423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992B-97FD-8838-CBBE-A06243D9D65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9BFB-B5B9-89A0-A24B-6C0D0047F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2992755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Atlassian, “What is a Sprint Review in Agile? | Atlassian,”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Atlassian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Feb. 11, 2026. https://www.atlassian.com/agile/scrum/sprint-reviews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Atlassian, “What is a Sprint Review in Agile? | Atlassian,”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Atlassian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Feb. 11, 2026. https://www.atlassian.com/agile/scrum/sprint-reviews</a:t>
            </a:r>
          </a:p>
        </p:txBody>
      </p:sp>
    </p:spTree>
    <p:extLst>
      <p:ext uri="{BB962C8B-B14F-4D97-AF65-F5344CB8AC3E}">
        <p14:creationId xmlns:p14="http://schemas.microsoft.com/office/powerpoint/2010/main" val="3885455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6F71-7889-B23A-6796-E50DF9AB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1D8B-1A92-D770-26E9-BB3F058800B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What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52D0-6DF4-430A-3FC7-20ADDD804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2622"/>
            <a:ext cx="8229600" cy="2992755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 Junior Business Analyst and Project Manager roles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into Human-Computer Interaction (HCI) research.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know you can do your PhD after Undergrad?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tools like Figma, Jira, Trello, Miro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 your work 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create a portfolio site</a:t>
            </a:r>
          </a:p>
        </p:txBody>
      </p:sp>
    </p:spTree>
    <p:extLst>
      <p:ext uri="{BB962C8B-B14F-4D97-AF65-F5344CB8AC3E}">
        <p14:creationId xmlns:p14="http://schemas.microsoft.com/office/powerpoint/2010/main" val="191590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2920</TotalTime>
  <Words>1279</Words>
  <Application>Microsoft Office PowerPoint</Application>
  <PresentationFormat>On-screen Show (4:3)</PresentationFormat>
  <Paragraphs>234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Times New Roman</vt:lpstr>
      <vt:lpstr>Times New Roman Bold</vt:lpstr>
      <vt:lpstr>Times New Roman Regular</vt:lpstr>
      <vt:lpstr>Office Theme</vt:lpstr>
      <vt:lpstr>REQUIREMENT ENGINEERING </vt:lpstr>
      <vt:lpstr>Lesson 7: Change Management</vt:lpstr>
      <vt:lpstr>Learning Objectives:  </vt:lpstr>
      <vt:lpstr>Learning Objectives:  </vt:lpstr>
      <vt:lpstr>Chapter Outlines </vt:lpstr>
      <vt:lpstr>1. Introduction to Change Management</vt:lpstr>
      <vt:lpstr>2. Change Management Process</vt:lpstr>
      <vt:lpstr>2. Change Management Process</vt:lpstr>
      <vt:lpstr>2. Change Management Process</vt:lpstr>
      <vt:lpstr>PowerPoint Presentation</vt:lpstr>
      <vt:lpstr>PowerPoint Presentation</vt:lpstr>
      <vt:lpstr>2. Change Management Process</vt:lpstr>
      <vt:lpstr>2. Change Management Process</vt:lpstr>
      <vt:lpstr>2. Change Management Process</vt:lpstr>
      <vt:lpstr>3. Techniques for Managing Requirement Changes</vt:lpstr>
      <vt:lpstr>PowerPoint Presentation</vt:lpstr>
      <vt:lpstr>3. Techniques for Managing Requirement Changes</vt:lpstr>
      <vt:lpstr>3. Techniques for Managing Requirement Changes</vt:lpstr>
      <vt:lpstr>4. Best Practices in Change Management</vt:lpstr>
      <vt:lpstr>5. Tools for Change Management</vt:lpstr>
      <vt:lpstr>6. Case Study: Change Management in Agile Development</vt:lpstr>
      <vt:lpstr>6. Case Study: Change Management in Agile Development</vt:lpstr>
      <vt:lpstr>References</vt:lpstr>
      <vt:lpstr>What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Kabera Clapton Gahenda</cp:lastModifiedBy>
  <cp:revision>38</cp:revision>
  <dcterms:created xsi:type="dcterms:W3CDTF">2026-02-12T13:01:21Z</dcterms:created>
  <dcterms:modified xsi:type="dcterms:W3CDTF">2026-07-22T12:07:00Z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DCBDCE96F824567BF18F35672C0E6497_43</vt:lpwstr>
  </property>
</Properties>
</file>