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87" r:id="rId3"/>
    <p:sldId id="277" r:id="rId4"/>
    <p:sldId id="297" r:id="rId5"/>
    <p:sldId id="272" r:id="rId6"/>
    <p:sldId id="308" r:id="rId7"/>
    <p:sldId id="264" r:id="rId8"/>
    <p:sldId id="300" r:id="rId9"/>
    <p:sldId id="304" r:id="rId10"/>
    <p:sldId id="289" r:id="rId11"/>
    <p:sldId id="290" r:id="rId12"/>
    <p:sldId id="291" r:id="rId13"/>
    <p:sldId id="301" r:id="rId14"/>
    <p:sldId id="292" r:id="rId15"/>
    <p:sldId id="293" r:id="rId16"/>
    <p:sldId id="294" r:id="rId17"/>
    <p:sldId id="302" r:id="rId18"/>
    <p:sldId id="303" r:id="rId19"/>
    <p:sldId id="309" r:id="rId20"/>
    <p:sldId id="30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D95C4-917D-4282-B0F8-88891CF7E3D7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6585A-6F61-4376-96D3-120F8FED3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3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 ladies and gentlemen. Welcome to Requirements Engineering class of summer 2026! Who’s excited?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84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CF35-C38A-372B-D89B-91E6889C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6E6AC-8963-E6B8-E7A3-27A35778D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09713-3EB2-3818-8743-938569EBE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mythical man month is a book that shows how adding more people to a software project only delays the project further. New people require training which is time from existing </a:t>
            </a:r>
            <a:r>
              <a:rPr lang="en-US" dirty="0" err="1"/>
              <a:t>devs</a:t>
            </a:r>
            <a:r>
              <a:rPr lang="en-US" dirty="0"/>
              <a:t> that they could use on the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FB6D0-11C5-62C9-745A-76D02862D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37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mythical man month is a book that shows how adding more people to a software project only delays the project further. New people require training which is time from existing </a:t>
            </a:r>
            <a:r>
              <a:rPr lang="en-US" dirty="0" err="1"/>
              <a:t>devs</a:t>
            </a:r>
            <a:r>
              <a:rPr lang="en-US" dirty="0"/>
              <a:t> that they could use on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70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FAFB-00CF-EDCF-A0AF-0F292EF6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CC2FF-720C-505B-6F00-E157F842B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6EA8C-C629-EB6D-B48C-4115A7494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mythical man month is a book that shows how adding more people to a software project only delays the project further. New people require training which is time from existing </a:t>
            </a:r>
            <a:r>
              <a:rPr lang="en-US" dirty="0" err="1"/>
              <a:t>devs</a:t>
            </a:r>
            <a:r>
              <a:rPr lang="en-US" dirty="0"/>
              <a:t> that they could use on the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AF66-9241-FE6E-3477-E881695D6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91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fact that stake-holders is a composite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97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28F1-242A-2FD9-4B43-B00D8BCC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D7946-5016-AACB-F091-D178EFCB7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729D9-42BC-D04A-BC02-BAD8E3F5D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mythical man month is a book that shows how adding more people to a software project only delays the project further. New people require training which is time from existing </a:t>
            </a:r>
            <a:r>
              <a:rPr lang="en-US" dirty="0" err="1"/>
              <a:t>devs</a:t>
            </a:r>
            <a:r>
              <a:rPr lang="en-US" dirty="0"/>
              <a:t> that they could use on the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9DE23-9AEF-5FED-88B1-03A1FD2AF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585A-6F61-4376-96D3-120F8FED3E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5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REQUIREMENTS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LEARNING 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6065"/>
            <a:ext cx="7886700" cy="5048885"/>
          </a:xfrm>
        </p:spPr>
        <p:txBody>
          <a:bodyPr>
            <a:noAutofit/>
          </a:bodyPr>
          <a:lstStyle/>
          <a:p>
            <a:pPr algn="l"/>
            <a:r>
              <a:rPr lang="en-US" sz="2700" dirty="0"/>
              <a:t>Understand and explain the key concepts of Requirements Engineering</a:t>
            </a:r>
          </a:p>
          <a:p>
            <a:pPr algn="l"/>
            <a:r>
              <a:rPr lang="en-US" sz="2700" dirty="0"/>
              <a:t>Identify and engage with stakeholders effectively</a:t>
            </a:r>
          </a:p>
          <a:p>
            <a:pPr algn="l"/>
            <a:r>
              <a:rPr lang="en-US" sz="2700" dirty="0"/>
              <a:t>Analyze, prioritize, and model requirements</a:t>
            </a:r>
          </a:p>
          <a:p>
            <a:pPr algn="l"/>
            <a:r>
              <a:rPr lang="en-US" sz="2700" dirty="0"/>
              <a:t>Write clear and well-structured requirements specifications</a:t>
            </a:r>
          </a:p>
          <a:p>
            <a:pPr algn="l"/>
            <a:r>
              <a:rPr lang="en-US" sz="2700" dirty="0"/>
              <a:t>Validate and manage requirements </a:t>
            </a:r>
          </a:p>
          <a:p>
            <a:pPr algn="l"/>
            <a:r>
              <a:rPr lang="en-US" sz="2700" dirty="0"/>
              <a:t>Apply agile approaches to Requirements Engineering</a:t>
            </a:r>
          </a:p>
          <a:p>
            <a:pPr algn="l"/>
            <a:r>
              <a:rPr lang="en-US" sz="2700" dirty="0"/>
              <a:t>Address and resolve common challenges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I </a:t>
            </a:r>
            <a:b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</a:br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Introduction to Requirement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D6C3-51DE-0EC0-A1B9-85E351C5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75E4-7DE8-08DB-FC14-A7A3524F476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Opinion 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1265E-CDD5-78B4-9CB5-CB39F431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22232"/>
            <a:ext cx="7886700" cy="161353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/>
              <a:t>How many of you think requirements are an essential part of software engineering / development?</a:t>
            </a:r>
          </a:p>
        </p:txBody>
      </p:sp>
    </p:spTree>
    <p:extLst>
      <p:ext uri="{BB962C8B-B14F-4D97-AF65-F5344CB8AC3E}">
        <p14:creationId xmlns:p14="http://schemas.microsoft.com/office/powerpoint/2010/main" val="68999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0AC966-0CFC-46E7-453B-4CDD1DED0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92004" y="166957"/>
            <a:ext cx="9328007" cy="6524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34B2-BAA6-25BB-5FDA-34EB4D70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C709-2A76-FBC4-EA70-FB0F477C03D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Quotes…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39AFE-AA16-5EC3-93C2-B1855A73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15465"/>
            <a:ext cx="7886700" cy="4182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000" dirty="0"/>
              <a:t>The hardest single part of building a software system is deciding precisely what to build.        </a:t>
            </a:r>
            <a:r>
              <a:rPr lang="en-US" sz="2600" i="1" dirty="0"/>
              <a:t>Fred Brooks (from The Mythical Man-Month)                     ~</a:t>
            </a:r>
          </a:p>
          <a:p>
            <a:pPr marL="0" indent="0" algn="ctr">
              <a:buNone/>
            </a:pPr>
            <a:r>
              <a:rPr lang="en-US" sz="3000" dirty="0"/>
              <a:t>A software system is only as good as the communication of the requirements that define it.                                                                                 </a:t>
            </a:r>
            <a:r>
              <a:rPr lang="en-US" sz="2400" i="1" dirty="0"/>
              <a:t>Karl Wiegers</a:t>
            </a:r>
          </a:p>
        </p:txBody>
      </p:sp>
    </p:spTree>
    <p:extLst>
      <p:ext uri="{BB962C8B-B14F-4D97-AF65-F5344CB8AC3E}">
        <p14:creationId xmlns:p14="http://schemas.microsoft.com/office/powerpoint/2010/main" val="240603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1 Outline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52620"/>
          </a:xfrm>
        </p:spPr>
        <p:txBody>
          <a:bodyPr/>
          <a:lstStyle/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Definition of Requirements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Engineering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Importance of Requirements Engineering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Types of Requirements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Stakeholders in Requirement Engineering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Challenges in Requirements Engineering</a:t>
            </a:r>
          </a:p>
          <a:p>
            <a:pPr marL="0" indent="0" algn="just">
              <a:buNone/>
            </a:pPr>
            <a:endParaRPr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C4D2-13A8-5CA3-18C8-D3200BA6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A55D-EF67-913A-62EE-AB18B779ADF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What is a Requirement?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0E5D-DA17-C0BE-7D91-B12A0B971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90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 Regular" panose="02020603050405020304" charset="0"/>
                <a:cs typeface="Times New Roman Bold" panose="02020603050405020304" charset="0"/>
              </a:rPr>
              <a:t>A requirement is a capability or a condition that must be met in order for a software to solve a problem. 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Bold" panose="02020603050405020304" charset="0"/>
              </a:rPr>
              <a:t>Requirements offer a description of how the system ought to behave once completed.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Bold" panose="02020603050405020304" charset="0"/>
              </a:rPr>
              <a:t>Requirements reflect the needs of stakeholders.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Bold" panose="02020603050405020304" charset="0"/>
              </a:rPr>
              <a:t>Requirements are the bridge between business objectives and software implementation.</a:t>
            </a:r>
            <a:endParaRPr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9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F0B6-A426-B61C-0B94-C58CBFEC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5BF8-57A1-DF93-9645-17CC875CDCF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Definition of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A77E-D380-0404-574D-6FF761E1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905"/>
          </a:xfrm>
        </p:spPr>
        <p:txBody>
          <a:bodyPr>
            <a:normAutofit lnSpcReduction="10000"/>
          </a:bodyPr>
          <a:lstStyle/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Requirements Engineering (RE) is a systematic process of defining, documenting, and maintaining the requirements for a system or software.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It involves understanding the needs of stakeholders and ensuring that the system or product will meet these needs. 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The main objective of RE is to ensure the success of a project by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clearly identifying the expectations from the system</a:t>
            </a:r>
          </a:p>
          <a:p>
            <a:pPr algn="just"/>
            <a:endParaRPr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7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Importance of Requirements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90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Foundation for System Development: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It provides a clear understanding of what is to be built, serving as a blueprint for design, implementation, and testing.</a:t>
            </a:r>
          </a:p>
          <a:p>
            <a:pPr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Reduction in Project Failure: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Poor requirements or misunderstandings can lead to project delays, cost overruns, and product failures. RE helps avoid this by ensuring clarity and agreement from the beginning.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Importance of Requirements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90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Stakeholder Alignment: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It ensures that the project addresses the needs and expectations of all stakeholders, minimizing the risk of developing a product that does not satisfy its intended users.</a:t>
            </a:r>
          </a:p>
          <a:p>
            <a:pPr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Cost Efficiency: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Errors in requirements discovered during development or after product delivery are much more expensive to fix. Proper RE minimizes the chance of such errors.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Types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1"/>
            <a:ext cx="8229600" cy="3002280"/>
          </a:xfrm>
        </p:spPr>
        <p:txBody>
          <a:bodyPr>
            <a:normAutofit fontScale="97500"/>
          </a:bodyPr>
          <a:lstStyle/>
          <a:p>
            <a:pPr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Functional Requirements: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These define the specific behaviors or functions of the system.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For example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, a functional requirement for an e-commerce website might be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"the system must allow users to create accounts and make purchases online."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2D04-A0F5-53A5-9F57-C29CC06B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026C-8C6D-F895-9D1C-CC2F5BF5EFA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Types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D474-EEBE-0375-2CD9-79265BD26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0040"/>
            <a:ext cx="8229600" cy="4792471"/>
          </a:xfrm>
        </p:spPr>
        <p:txBody>
          <a:bodyPr>
            <a:normAutofit fontScale="97500"/>
          </a:bodyPr>
          <a:lstStyle/>
          <a:p>
            <a:pPr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Non-Functional Requirements: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These describe the quality attributes of the system, such as performance, security, usability, and scalability. </a:t>
            </a: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For example, "the system must support 100,000 concurrent users without crashing"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is a non-functional requirement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Font typeface="Wingdings" panose="05000000000000000000" charset="0"/>
              <a:buChar char=""/>
            </a:pPr>
            <a:r>
              <a:rPr lang="en-US" b="1" i="1" dirty="0">
                <a:latin typeface="Times New Roman" panose="02020603050405020304" charset="0"/>
                <a:cs typeface="Times New Roman" panose="02020603050405020304" charset="0"/>
              </a:rPr>
              <a:t>Domain Requirements: </a:t>
            </a:r>
            <a:r>
              <a:rPr lang="en-US" i="1" dirty="0">
                <a:latin typeface="Times New Roman" panose="02020603050405020304" charset="0"/>
                <a:cs typeface="Times New Roman" panose="02020603050405020304" charset="0"/>
              </a:rPr>
              <a:t>These are requirements that pertain to a particular industry or field within which the system is to be used.</a:t>
            </a:r>
            <a:endParaRPr b="1" i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89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Stakeholders in 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4601"/>
            <a:ext cx="8229600" cy="2545080"/>
          </a:xfrm>
        </p:spPr>
        <p:txBody>
          <a:bodyPr>
            <a:normAutofit fontScale="97500"/>
          </a:bodyPr>
          <a:lstStyle/>
          <a:p>
            <a:pPr lvl="0" algn="just"/>
            <a:r>
              <a:rPr b="1" dirty="0">
                <a:latin typeface="Times New Roman" panose="02020603050405020304" charset="0"/>
                <a:cs typeface="Times New Roman" panose="02020603050405020304" charset="0"/>
              </a:rPr>
              <a:t>Stakeholders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are individuals or groups with an interest in the development of the system. They can influence the requirements and thus the system's success. Key stakeholders in RE include: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21011-5941-274E-539D-F2484A8D7062}"/>
              </a:ext>
            </a:extLst>
          </p:cNvPr>
          <p:cNvSpPr txBox="1"/>
          <p:nvPr/>
        </p:nvSpPr>
        <p:spPr>
          <a:xfrm>
            <a:off x="721360" y="5638800"/>
            <a:ext cx="796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charset="0"/>
                <a:cs typeface="Times New Roman" panose="02020603050405020304" charset="0"/>
              </a:rPr>
              <a:t>In the 1700s </a:t>
            </a:r>
            <a:r>
              <a:rPr lang="en-US" i="1" dirty="0"/>
              <a:t>a "stake-holder" was literally the neutral third party who physically held the wagered money in a betting pool until the winner was determined.</a:t>
            </a:r>
            <a:endParaRPr lang="en-US" i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Stakeholders in 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905"/>
          </a:xfrm>
        </p:spPr>
        <p:txBody>
          <a:bodyPr>
            <a:normAutofit lnSpcReduction="10000"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End Users: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People who will directly interact with the system.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Customers/Clients: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Those who pay for the system or own the product.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System Engineers/Developers: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Responsible for implementing the system based on the requirements.</a:t>
            </a:r>
            <a:endParaRPr lang="en-US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Project Managers: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Oversee the project to ensure timelines and budgets are met.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Regulators: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May impose legal or safety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Challenges in Requirements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9961"/>
            <a:ext cx="8229600" cy="3205480"/>
          </a:xfrm>
        </p:spPr>
        <p:txBody>
          <a:bodyPr>
            <a:normAutofit fontScale="97500"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Ambiguity: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Misunderstanding or incomplete requirements can lead to confusion during development.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Stakeholder Conflicts: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Different stakeholders may have conflicting priorities, making it difficult to align on a set of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D375-1DBF-8D32-A634-646FD8BE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7478-FBB6-B379-CB70-691CC9941D3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Challenges in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C267-65B1-DC49-DFA7-099D7C006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19961"/>
            <a:ext cx="8229600" cy="3205480"/>
          </a:xfrm>
        </p:spPr>
        <p:txBody>
          <a:bodyPr>
            <a:normAutofit fontScale="97500" lnSpcReduction="10000"/>
          </a:bodyPr>
          <a:lstStyle/>
          <a:p>
            <a:pPr lvl="0" algn="just"/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Evolving Requirements: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In dynamic environments, requirements may change, necessitating flexibility in the RE process.</a:t>
            </a:r>
          </a:p>
          <a:p>
            <a:pPr lvl="0" algn="just"/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Communication Gaps: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Miscommunication between technical and non-technical stakeholders can result in improper requirement gathering.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6143-7585-9E31-968E-83C450B4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E4A4-9007-8FA0-2FC2-F8A582F9209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2460-B13C-E676-DFB3-F583FFE4A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19961"/>
            <a:ext cx="8229600" cy="3205480"/>
          </a:xfrm>
        </p:spPr>
        <p:txBody>
          <a:bodyPr>
            <a:normAutofit fontScale="97500"/>
          </a:bodyPr>
          <a:lstStyle/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Definition of Requirements Engineering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Importance of Requirements Engineering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Types of Requirements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Stakeholders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Challenges faced in Requirements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636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74FF-6AB7-4DDA-E8E3-86154CE3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0591-2783-BC85-12DC-3F903311F03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Opinion 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EFB3-3A66-6D67-CA54-CC3293F4A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22232"/>
            <a:ext cx="7886700" cy="161353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/>
              <a:t>How many of you think requirements are an essential part of software engineering / development?</a:t>
            </a:r>
          </a:p>
        </p:txBody>
      </p:sp>
    </p:spTree>
    <p:extLst>
      <p:ext uri="{BB962C8B-B14F-4D97-AF65-F5344CB8AC3E}">
        <p14:creationId xmlns:p14="http://schemas.microsoft.com/office/powerpoint/2010/main" val="354517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888F-1E6A-DBD9-51DE-E6B456FE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4F9E-6125-1894-88E1-A1FF05D0017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cs typeface="Times New Roman Regular" panose="0202060305040502030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3BC7C-D539-966C-053A-D72DFD21B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8488"/>
            <a:ext cx="8229600" cy="3806953"/>
          </a:xfrm>
        </p:spPr>
        <p:txBody>
          <a:bodyPr>
            <a:normAutofit fontScale="97500"/>
          </a:bodyPr>
          <a:lstStyle/>
          <a:p>
            <a:r>
              <a:rPr lang="en-US" sz="2100" dirty="0"/>
              <a:t>H. Possel, “How IT-Projects really work,” </a:t>
            </a:r>
            <a:r>
              <a:rPr lang="en-US" sz="2100" i="1" dirty="0"/>
              <a:t>Copyright 2003-2005 Heiko Possel</a:t>
            </a:r>
            <a:r>
              <a:rPr lang="en-US" sz="2100" dirty="0"/>
              <a:t>. https://www.smart-words.org/jokes/how-it-projects-really-work.html</a:t>
            </a:r>
          </a:p>
          <a:p>
            <a:r>
              <a:rPr lang="en-US" sz="2000" dirty="0"/>
              <a:t>“Software Requirements Specifications,” </a:t>
            </a:r>
            <a:r>
              <a:rPr lang="en-US" sz="2000" i="1" dirty="0"/>
              <a:t>IEEE Computer Society</a:t>
            </a:r>
            <a:r>
              <a:rPr lang="en-US" sz="2000" dirty="0"/>
              <a:t>, Apr. 17, 2024. https://www.computer.org/resources/software-requirements-specifications#requirements-fundamentals</a:t>
            </a:r>
          </a:p>
        </p:txBody>
      </p:sp>
    </p:spTree>
    <p:extLst>
      <p:ext uri="{BB962C8B-B14F-4D97-AF65-F5344CB8AC3E}">
        <p14:creationId xmlns:p14="http://schemas.microsoft.com/office/powerpoint/2010/main" val="333607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986</Words>
  <Application>Microsoft Office PowerPoint</Application>
  <PresentationFormat>On-screen Show (4:3)</PresentationFormat>
  <Paragraphs>80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Times New Roman</vt:lpstr>
      <vt:lpstr>Times New Roman Bold</vt:lpstr>
      <vt:lpstr>Times New Roman Regular</vt:lpstr>
      <vt:lpstr>Wingdings</vt:lpstr>
      <vt:lpstr>Office Theme</vt:lpstr>
      <vt:lpstr>REQUIREMENTS ENGINEERING </vt:lpstr>
      <vt:lpstr>LEARNING OBJECTIVES:</vt:lpstr>
      <vt:lpstr>Chapter I  Introduction to Requirement Engineering</vt:lpstr>
      <vt:lpstr>Opinion Poll</vt:lpstr>
      <vt:lpstr>PowerPoint Presentation</vt:lpstr>
      <vt:lpstr>Some Quotes…</vt:lpstr>
      <vt:lpstr>Chapter 1 Outline </vt:lpstr>
      <vt:lpstr>What is a Requirement?</vt:lpstr>
      <vt:lpstr>Definition of Requirements Engineering</vt:lpstr>
      <vt:lpstr>Importance of Requirements Engineering</vt:lpstr>
      <vt:lpstr>Importance of Requirements Engineering</vt:lpstr>
      <vt:lpstr>Types of Requirements</vt:lpstr>
      <vt:lpstr>Types of Requirements</vt:lpstr>
      <vt:lpstr>Stakeholders in Requirement Engineering</vt:lpstr>
      <vt:lpstr>Stakeholders in Requirement Engineering</vt:lpstr>
      <vt:lpstr>Challenges in Requirements Engineering</vt:lpstr>
      <vt:lpstr>Challenges in Requirements Engineering</vt:lpstr>
      <vt:lpstr>Recap</vt:lpstr>
      <vt:lpstr>Opinion Poll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ENGINEERING </dc:title>
  <dc:creator/>
  <dc:description>generated using python-pptx</dc:description>
  <cp:lastModifiedBy>user</cp:lastModifiedBy>
  <cp:revision>22</cp:revision>
  <dcterms:created xsi:type="dcterms:W3CDTF">2025-01-28T06:35:46Z</dcterms:created>
  <dcterms:modified xsi:type="dcterms:W3CDTF">2026-06-28T07:06:55Z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1033-6.11.0.8615</vt:lpwstr>
  </property>
  <property fmtid="{D5CDD505-2E9C-101B-9397-08002B2CF9AE}" pid="3" name="ICV">
    <vt:lpwstr>DF6CA598AA8900F7D0C397670B15E661_42</vt:lpwstr>
  </property>
</Properties>
</file>