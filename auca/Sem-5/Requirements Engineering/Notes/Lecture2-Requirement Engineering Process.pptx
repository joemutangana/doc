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488C-F31E-426E-B0BA-0C0B5CDFF268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4170-FD37-4CF0-81ED-BD2378D9FE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8778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488C-F31E-426E-B0BA-0C0B5CDFF268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4170-FD37-4CF0-81ED-BD2378D9FE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4513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488C-F31E-426E-B0BA-0C0B5CDFF268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4170-FD37-4CF0-81ED-BD2378D9FE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5417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488C-F31E-426E-B0BA-0C0B5CDFF268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4170-FD37-4CF0-81ED-BD2378D9FE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4135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488C-F31E-426E-B0BA-0C0B5CDFF268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4170-FD37-4CF0-81ED-BD2378D9FE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679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488C-F31E-426E-B0BA-0C0B5CDFF268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4170-FD37-4CF0-81ED-BD2378D9FE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2511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488C-F31E-426E-B0BA-0C0B5CDFF268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4170-FD37-4CF0-81ED-BD2378D9FE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7981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488C-F31E-426E-B0BA-0C0B5CDFF268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4170-FD37-4CF0-81ED-BD2378D9FE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2015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488C-F31E-426E-B0BA-0C0B5CDFF268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4170-FD37-4CF0-81ED-BD2378D9FE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9379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488C-F31E-426E-B0BA-0C0B5CDFF268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4170-FD37-4CF0-81ED-BD2378D9FE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9899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488C-F31E-426E-B0BA-0C0B5CDFF268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4170-FD37-4CF0-81ED-BD2378D9FE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5981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6C488C-F31E-426E-B0BA-0C0B5CDFF268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424170-FD37-4CF0-81ED-BD2378D9FE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9804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06286" y="905692"/>
            <a:ext cx="9144000" cy="5503816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 ENGINEERING </a:t>
            </a:r>
          </a:p>
          <a:p>
            <a:endParaRPr lang="en-GB" dirty="0">
              <a:solidFill>
                <a:srgbClr val="02318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lang="en-GB" dirty="0">
              <a:solidFill>
                <a:srgbClr val="02318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rPr lang="en-GB" dirty="0">
                <a:latin typeface="Times New Roman"/>
                <a:ea typeface="Times New Roman"/>
                <a:cs typeface="Times New Roman"/>
                <a:sym typeface="Times New Roman"/>
              </a:rPr>
              <a:t>Lecturer : Odile Nzambazamariya</a:t>
            </a:r>
          </a:p>
          <a:p>
            <a:endParaRPr lang="en-GB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lang="en-US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lang="en-GB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rPr lang="en-GB" dirty="0">
                <a:latin typeface="Times New Roman"/>
                <a:ea typeface="Times New Roman"/>
                <a:cs typeface="Times New Roman"/>
                <a:sym typeface="Times New Roman"/>
              </a:rPr>
              <a:t>Lecture 2: Requirement Engineering </a:t>
            </a:r>
            <a:r>
              <a:rPr lang="en-GB" dirty="0" smtClean="0">
                <a:latin typeface="Times New Roman"/>
                <a:ea typeface="Times New Roman"/>
                <a:cs typeface="Times New Roman"/>
                <a:sym typeface="Times New Roman"/>
              </a:rPr>
              <a:t>Process</a:t>
            </a:r>
            <a:endParaRPr lang="en-GB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lang="en-GB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rPr lang="en-GB" dirty="0">
                <a:latin typeface="Times New Roman"/>
                <a:ea typeface="Times New Roman"/>
                <a:cs typeface="Times New Roman"/>
                <a:sym typeface="Times New Roman"/>
              </a:rPr>
              <a:t>Adventist University of Central Africa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Outlines: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>
                <a:latin typeface="Times New Roman Regular" panose="02020603050405020304" charset="0"/>
                <a:cs typeface="Times New Roman Regular" panose="02020603050405020304" charset="0"/>
              </a:rPr>
              <a:t>An overview of the Requirement Engineering Process</a:t>
            </a:r>
          </a:p>
          <a:p>
            <a:pPr algn="just"/>
            <a:r>
              <a:rPr lang="en-GB" b="1" dirty="0">
                <a:latin typeface="Times New Roman Bold" panose="02020603050405020304" charset="0"/>
                <a:cs typeface="Times New Roman Bold" panose="02020603050405020304" charset="0"/>
              </a:rPr>
              <a:t>The different phases:</a:t>
            </a:r>
            <a:r>
              <a:rPr lang="en-GB" dirty="0">
                <a:latin typeface="Times New Roman Regular" panose="02020603050405020304" charset="0"/>
                <a:cs typeface="Times New Roman Regular" panose="02020603050405020304" charset="0"/>
              </a:rPr>
              <a:t> Elicitation, Analysis, Specification, Validation, and Management.</a:t>
            </a:r>
          </a:p>
          <a:p>
            <a:pPr algn="just"/>
            <a:r>
              <a:rPr lang="en-GB" b="1" dirty="0">
                <a:latin typeface="Times New Roman Bold" panose="02020603050405020304" charset="0"/>
                <a:cs typeface="Times New Roman Bold" panose="02020603050405020304" charset="0"/>
              </a:rPr>
              <a:t>Key challenges</a:t>
            </a:r>
            <a:r>
              <a:rPr lang="en-GB" dirty="0">
                <a:latin typeface="Times New Roman Regular" panose="02020603050405020304" charset="0"/>
                <a:cs typeface="Times New Roman Regular" panose="02020603050405020304" charset="0"/>
              </a:rPr>
              <a:t> in the process</a:t>
            </a:r>
          </a:p>
          <a:p>
            <a:pPr algn="just"/>
            <a:r>
              <a:rPr lang="en-GB" dirty="0">
                <a:latin typeface="Times New Roman Regular" panose="02020603050405020304" charset="0"/>
                <a:cs typeface="Times New Roman Regular" panose="02020603050405020304" charset="0"/>
              </a:rPr>
              <a:t>Stakeholder identification and the iterative nature of the process</a:t>
            </a:r>
          </a:p>
          <a:p>
            <a:pPr algn="just"/>
            <a:r>
              <a:rPr lang="en-GB" dirty="0">
                <a:latin typeface="Times New Roman Regular" panose="02020603050405020304" charset="0"/>
                <a:cs typeface="Times New Roman Regular" panose="02020603050405020304" charset="0"/>
              </a:rPr>
              <a:t>Types of requirements: Functional, Non-Functional, and Domain</a:t>
            </a:r>
          </a:p>
          <a:p>
            <a:pPr algn="just"/>
            <a:r>
              <a:rPr lang="en-GB" dirty="0">
                <a:latin typeface="Times New Roman Regular" panose="02020603050405020304" charset="0"/>
                <a:cs typeface="Times New Roman Regular" panose="02020603050405020304" charset="0"/>
              </a:rPr>
              <a:t>Requirement tools, traceability, and best practices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Overview of the Requirement Engineering Process</a:t>
            </a: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sz="2400" dirty="0">
                <a:latin typeface="Times New Roman Regular" panose="02020603050405020304" charset="0"/>
                <a:cs typeface="Times New Roman Regular" panose="02020603050405020304" charset="0"/>
              </a:rPr>
              <a:t>The Requirement Engineering process is a systematic </a:t>
            </a:r>
            <a:r>
              <a:rPr lang="en-GB" sz="2400" b="1" dirty="0">
                <a:latin typeface="Times New Roman Bold" panose="02020603050405020304" charset="0"/>
                <a:cs typeface="Times New Roman Bold" panose="02020603050405020304" charset="0"/>
              </a:rPr>
              <a:t>approach to gather, analyze, document, validate, and manage</a:t>
            </a:r>
            <a:r>
              <a:rPr lang="en-GB" sz="2400" dirty="0">
                <a:latin typeface="Times New Roman Regular" panose="02020603050405020304" charset="0"/>
                <a:cs typeface="Times New Roman Regular" panose="02020603050405020304" charset="0"/>
              </a:rPr>
              <a:t> the requirements for a system or project.</a:t>
            </a:r>
          </a:p>
          <a:p>
            <a:pPr algn="just"/>
            <a:r>
              <a:rPr lang="en-GB" sz="2400" dirty="0">
                <a:latin typeface="Times New Roman Regular" panose="02020603050405020304" charset="0"/>
                <a:cs typeface="Times New Roman Regular" panose="02020603050405020304" charset="0"/>
              </a:rPr>
              <a:t>This process ensures that the system </a:t>
            </a:r>
            <a:r>
              <a:rPr lang="en-GB" sz="2400" b="1" dirty="0">
                <a:latin typeface="Times New Roman Bold" panose="02020603050405020304" charset="0"/>
                <a:cs typeface="Times New Roman Bold" panose="02020603050405020304" charset="0"/>
              </a:rPr>
              <a:t>meets the needs and expectations of stakeholders</a:t>
            </a:r>
            <a:r>
              <a:rPr lang="en-GB" sz="2400" dirty="0">
                <a:latin typeface="Times New Roman Regular" panose="02020603050405020304" charset="0"/>
                <a:cs typeface="Times New Roman Regular" panose="02020603050405020304" charset="0"/>
              </a:rPr>
              <a:t>, leading to a successful outcome.</a:t>
            </a:r>
          </a:p>
          <a:p>
            <a:pPr algn="just"/>
            <a:r>
              <a:rPr lang="en-GB" sz="2400" dirty="0">
                <a:latin typeface="Times New Roman Regular" panose="02020603050405020304" charset="0"/>
                <a:cs typeface="Times New Roman Regular" panose="02020603050405020304" charset="0"/>
              </a:rPr>
              <a:t>The process is iterative, often involving </a:t>
            </a:r>
            <a:r>
              <a:rPr lang="en-GB" sz="2400" b="1" dirty="0">
                <a:latin typeface="Times New Roman Bold" panose="02020603050405020304" charset="0"/>
                <a:cs typeface="Times New Roman Bold" panose="02020603050405020304" charset="0"/>
              </a:rPr>
              <a:t>revisiting earlier stages</a:t>
            </a:r>
            <a:r>
              <a:rPr lang="en-GB" sz="2400" dirty="0">
                <a:latin typeface="Times New Roman Regular" panose="02020603050405020304" charset="0"/>
                <a:cs typeface="Times New Roman Regular" panose="02020603050405020304" charset="0"/>
              </a:rPr>
              <a:t> as new information emerges or requirements change.</a:t>
            </a:r>
          </a:p>
          <a:p>
            <a:pPr algn="just"/>
            <a:r>
              <a:rPr lang="en-GB" sz="2400" dirty="0">
                <a:latin typeface="Times New Roman Regular" panose="02020603050405020304" charset="0"/>
                <a:cs typeface="Times New Roman Regular" panose="02020603050405020304" charset="0"/>
              </a:rPr>
              <a:t>High-quality requirements prevent costly </a:t>
            </a:r>
            <a:r>
              <a:rPr lang="en-GB" sz="2400" dirty="0" smtClean="0">
                <a:latin typeface="Times New Roman Regular" panose="02020603050405020304" charset="0"/>
                <a:cs typeface="Times New Roman Regular" panose="02020603050405020304" charset="0"/>
              </a:rPr>
              <a:t>rework, </a:t>
            </a:r>
            <a:r>
              <a:rPr lang="en-GB" sz="2400" dirty="0">
                <a:latin typeface="Times New Roman Regular" panose="02020603050405020304" charset="0"/>
                <a:cs typeface="Times New Roman Regular" panose="02020603050405020304" charset="0"/>
              </a:rPr>
              <a:t>fixing a defect </a:t>
            </a:r>
            <a:r>
              <a:rPr lang="en-GB" sz="2400" b="1" dirty="0">
                <a:latin typeface="Times New Roman Bold" panose="02020603050405020304" charset="0"/>
                <a:cs typeface="Times New Roman Bold" panose="02020603050405020304" charset="0"/>
              </a:rPr>
              <a:t>after deployment costs 10–100 times more</a:t>
            </a:r>
            <a:r>
              <a:rPr lang="en-GB" sz="2400" dirty="0">
                <a:latin typeface="Times New Roman Regular" panose="02020603050405020304" charset="0"/>
                <a:cs typeface="Times New Roman Regular" panose="02020603050405020304" charset="0"/>
              </a:rPr>
              <a:t> than fixing it during the requirements phase.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Phases of Requirement Engineering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GB" dirty="0">
                <a:latin typeface="Times New Roman Regular" panose="02020603050405020304" charset="0"/>
                <a:cs typeface="Times New Roman Regular" panose="02020603050405020304" charset="0"/>
              </a:rPr>
              <a:t>The Requirement Engineering process consists of five interconnected phases:</a:t>
            </a:r>
          </a:p>
          <a:p>
            <a:pPr marL="0" indent="0" algn="just">
              <a:buNone/>
            </a:pPr>
            <a:endParaRPr lang="en-GB" dirty="0"/>
          </a:p>
          <a:p>
            <a:pPr marL="0" indent="0" algn="just">
              <a:buNone/>
            </a:pPr>
            <a:r>
              <a:rPr lang="en-GB" b="1" dirty="0">
                <a:latin typeface="Times New Roman Bold" panose="02020603050405020304" charset="0"/>
                <a:cs typeface="Times New Roman Bold" panose="02020603050405020304" charset="0"/>
              </a:rPr>
              <a:t>a. Elicitation</a:t>
            </a:r>
          </a:p>
          <a:p>
            <a:pPr marL="0" indent="0" algn="just">
              <a:buNone/>
            </a:pPr>
            <a:r>
              <a:rPr lang="en-GB" b="1" dirty="0">
                <a:latin typeface="Times New Roman Bold" panose="02020603050405020304" charset="0"/>
                <a:cs typeface="Times New Roman Bold" panose="02020603050405020304" charset="0"/>
              </a:rPr>
              <a:t>b. Analysis</a:t>
            </a:r>
          </a:p>
          <a:p>
            <a:pPr marL="0" indent="0" algn="just">
              <a:buNone/>
            </a:pPr>
            <a:r>
              <a:rPr lang="en-GB" b="1" dirty="0">
                <a:latin typeface="Times New Roman Bold" panose="02020603050405020304" charset="0"/>
                <a:cs typeface="Times New Roman Bold" panose="02020603050405020304" charset="0"/>
              </a:rPr>
              <a:t>c. Specification</a:t>
            </a:r>
          </a:p>
          <a:p>
            <a:pPr marL="0" indent="0" algn="just">
              <a:buNone/>
            </a:pPr>
            <a:r>
              <a:rPr lang="en-GB" b="1" dirty="0">
                <a:latin typeface="Times New Roman Bold" panose="02020603050405020304" charset="0"/>
                <a:cs typeface="Times New Roman Bold" panose="02020603050405020304" charset="0"/>
              </a:rPr>
              <a:t>d. Validation</a:t>
            </a:r>
          </a:p>
          <a:p>
            <a:pPr marL="0" indent="0" algn="just">
              <a:buNone/>
            </a:pPr>
            <a:r>
              <a:rPr lang="en-GB" b="1" dirty="0">
                <a:latin typeface="Times New Roman Bold" panose="02020603050405020304" charset="0"/>
                <a:cs typeface="Times New Roman Bold" panose="02020603050405020304" charset="0"/>
              </a:rPr>
              <a:t>e. Management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Phases of Requirement Engineering</a:t>
            </a:r>
            <a:endParaRPr lang="en-GB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buAutoNum type="alphaLcPeriod"/>
            </a:pPr>
            <a:r>
              <a:rPr lang="en-GB" sz="2000" b="1" dirty="0" smtClean="0">
                <a:latin typeface="Times New Roman Bold" panose="02020603050405020304" charset="0"/>
                <a:cs typeface="Times New Roman Bold" panose="02020603050405020304" charset="0"/>
              </a:rPr>
              <a:t>Elicitation</a:t>
            </a:r>
          </a:p>
          <a:p>
            <a:pPr marL="0" indent="0" algn="just">
              <a:buNone/>
            </a:pPr>
            <a:endParaRPr lang="en-GB" sz="2000" b="1" dirty="0">
              <a:latin typeface="Times New Roman Bold" panose="02020603050405020304" charset="0"/>
              <a:cs typeface="Times New Roman Bold" panose="02020603050405020304" charset="0"/>
            </a:endParaRPr>
          </a:p>
          <a:p>
            <a:pPr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Objective: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To gather requirements from stakeholders through structured and exploratory techniques.</a:t>
            </a:r>
          </a:p>
          <a:p>
            <a:pPr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Techniques: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Interviews: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Speaking directly with stakeholders to understand their needs and goals.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Surveys/Questionnaires: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Collecting structured feedback from a larger group of stakeholders.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Workshops: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Collaborative sessions to brainstorm and gather requirements collectively.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Observation: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Watching users in their work environment to understand their real needs.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Prototyping: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Creating early versions of a system to solicit feedback from users.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Phases of Requirement Engineering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 algn="just">
              <a:buAutoNum type="alphaLcPeriod"/>
            </a:pPr>
            <a:r>
              <a:rPr lang="en-GB" sz="2000" b="1" dirty="0" smtClean="0">
                <a:latin typeface="Times New Roman Bold" panose="02020603050405020304" charset="0"/>
                <a:cs typeface="Times New Roman Bold" panose="02020603050405020304" charset="0"/>
              </a:rPr>
              <a:t>Elicitation </a:t>
            </a:r>
            <a:endParaRPr lang="en-GB" sz="2000" b="1" dirty="0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0" indent="0" algn="just">
              <a:buNone/>
            </a:pPr>
            <a:endParaRPr lang="en-GB" sz="2000" b="1" dirty="0">
              <a:latin typeface="Times New Roman Bold" panose="02020603050405020304" charset="0"/>
              <a:cs typeface="Times New Roman Bold" panose="02020603050405020304" charset="0"/>
            </a:endParaRPr>
          </a:p>
          <a:p>
            <a:pPr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Advanced Techniques: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Focus Groups: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Structured discussions with selected stakeholders to explore system goals.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Ethnography: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Immersive observation of users in their natural environment to uncover implicit needs.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Document Analysis: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Reviewing existing manuals, reports, and forms to derive current process requirements.</a:t>
            </a:r>
          </a:p>
          <a:p>
            <a:pPr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Challenges: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Ambiguities in stakeholder communication, unexpressed needs, and conflicting requirements.</a:t>
            </a:r>
          </a:p>
          <a:p>
            <a:pPr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Best Practice: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Combine at least three techniques to cross-validate findings and reduce blind spots.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Phases of Requirement Engineering</a:t>
            </a:r>
            <a:endParaRPr lang="en-GB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GB" sz="2400" b="1" dirty="0">
                <a:latin typeface="Times New Roman Bold" panose="02020603050405020304" charset="0"/>
                <a:cs typeface="Times New Roman Bold" panose="02020603050405020304" charset="0"/>
              </a:rPr>
              <a:t>b. </a:t>
            </a:r>
            <a:r>
              <a:rPr lang="en-GB" sz="2400" b="1" dirty="0" smtClean="0">
                <a:latin typeface="Times New Roman Bold" panose="02020603050405020304" charset="0"/>
                <a:cs typeface="Times New Roman Bold" panose="02020603050405020304" charset="0"/>
              </a:rPr>
              <a:t>Analysis</a:t>
            </a:r>
          </a:p>
          <a:p>
            <a:pPr marL="0" indent="0" algn="just">
              <a:buNone/>
            </a:pPr>
            <a:endParaRPr lang="en-GB" sz="2400" b="1" dirty="0">
              <a:latin typeface="Times New Roman Bold" panose="02020603050405020304" charset="0"/>
              <a:cs typeface="Times New Roman Bold" panose="02020603050405020304" charset="0"/>
            </a:endParaRPr>
          </a:p>
          <a:p>
            <a:pPr algn="just"/>
            <a:r>
              <a:rPr lang="en-GB" sz="2400" b="1" dirty="0">
                <a:latin typeface="Times New Roman Bold" panose="02020603050405020304" charset="0"/>
                <a:cs typeface="Times New Roman Bold" panose="02020603050405020304" charset="0"/>
              </a:rPr>
              <a:t>Objective:</a:t>
            </a:r>
            <a:r>
              <a:rPr lang="en-GB" sz="2400" dirty="0">
                <a:latin typeface="Times New Roman Regular" panose="02020603050405020304" charset="0"/>
                <a:cs typeface="Times New Roman Regular" panose="02020603050405020304" charset="0"/>
              </a:rPr>
              <a:t> To analyze and refine the gathered requirements for clarity, consistency, and feasibility.</a:t>
            </a:r>
          </a:p>
          <a:p>
            <a:pPr algn="just"/>
            <a:r>
              <a:rPr lang="en-GB" sz="2400" b="1" dirty="0">
                <a:latin typeface="Times New Roman Bold" panose="02020603050405020304" charset="0"/>
                <a:cs typeface="Times New Roman Bold" panose="02020603050405020304" charset="0"/>
              </a:rPr>
              <a:t>Activities:</a:t>
            </a:r>
          </a:p>
          <a:p>
            <a:pPr lvl="1" algn="just"/>
            <a:r>
              <a:rPr lang="en-GB" b="1" dirty="0">
                <a:latin typeface="Times New Roman Bold" panose="02020603050405020304" charset="0"/>
                <a:cs typeface="Times New Roman Bold" panose="02020603050405020304" charset="0"/>
              </a:rPr>
              <a:t>Prioritization:</a:t>
            </a:r>
            <a:r>
              <a:rPr lang="en-GB" dirty="0">
                <a:latin typeface="Times New Roman Regular" panose="02020603050405020304" charset="0"/>
                <a:cs typeface="Times New Roman Regular" panose="02020603050405020304" charset="0"/>
              </a:rPr>
              <a:t> Determining which requirements are most critical to stakeholders and the project.</a:t>
            </a:r>
          </a:p>
          <a:p>
            <a:pPr lvl="1" algn="just"/>
            <a:r>
              <a:rPr lang="en-GB" b="1" dirty="0">
                <a:latin typeface="Times New Roman Bold" panose="02020603050405020304" charset="0"/>
                <a:cs typeface="Times New Roman Bold" panose="02020603050405020304" charset="0"/>
              </a:rPr>
              <a:t>Conflict Resolution:</a:t>
            </a:r>
            <a:r>
              <a:rPr lang="en-GB" dirty="0">
                <a:latin typeface="Times New Roman Regular" panose="02020603050405020304" charset="0"/>
                <a:cs typeface="Times New Roman Regular" panose="02020603050405020304" charset="0"/>
              </a:rPr>
              <a:t> Resolving conflicting requirements between different stakeholders.</a:t>
            </a:r>
          </a:p>
          <a:p>
            <a:pPr lvl="1" algn="just"/>
            <a:r>
              <a:rPr lang="en-GB" b="1" dirty="0">
                <a:latin typeface="Times New Roman Bold" panose="02020603050405020304" charset="0"/>
                <a:cs typeface="Times New Roman Bold" panose="02020603050405020304" charset="0"/>
              </a:rPr>
              <a:t>Modeling:</a:t>
            </a:r>
            <a:r>
              <a:rPr lang="en-GB" dirty="0">
                <a:latin typeface="Times New Roman Regular" panose="02020603050405020304" charset="0"/>
                <a:cs typeface="Times New Roman Regular" panose="02020603050405020304" charset="0"/>
              </a:rPr>
              <a:t> Using techniques like Data Flow Diagrams (DFD), Use Case Diagrams, or Entity-Relationship Diagrams (ERDs) to visually represent requirements.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Phases of Requirement Engineering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b. Analysis: </a:t>
            </a:r>
            <a:r>
              <a:rPr lang="en-GB" sz="2000" b="1" dirty="0" err="1">
                <a:latin typeface="Times New Roman Bold" panose="02020603050405020304" charset="0"/>
                <a:cs typeface="Times New Roman Bold" panose="02020603050405020304" charset="0"/>
              </a:rPr>
              <a:t>Modeling</a:t>
            </a:r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 </a:t>
            </a:r>
            <a:r>
              <a:rPr lang="en-GB" sz="2000" b="1" dirty="0" smtClean="0">
                <a:latin typeface="Times New Roman Bold" panose="02020603050405020304" charset="0"/>
                <a:cs typeface="Times New Roman Bold" panose="02020603050405020304" charset="0"/>
              </a:rPr>
              <a:t>Tools</a:t>
            </a:r>
          </a:p>
          <a:p>
            <a:pPr marL="0" indent="0" algn="just">
              <a:buNone/>
            </a:pPr>
            <a:endParaRPr lang="en-GB" sz="2000" b="1" dirty="0">
              <a:latin typeface="Times New Roman Bold" panose="02020603050405020304" charset="0"/>
              <a:cs typeface="Times New Roman Bold" panose="02020603050405020304" charset="0"/>
            </a:endParaRP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Use Case Diagrams: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Model interactions between users (actors) and the system. Show what the system does, not how.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Data Flow Diagrams (DFD):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Illustrate how data moves through a system — from inputs through processes to outputs.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Entity-Relationship Diagrams (ERD):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Map data entities and their relationships, essential for database-driven systems.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State Diagrams: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Show how a system transitions between states in response to specific events</a:t>
            </a:r>
            <a:r>
              <a:rPr lang="en-GB" sz="2000" dirty="0" smtClean="0">
                <a:latin typeface="Times New Roman Regular" panose="02020603050405020304" charset="0"/>
                <a:cs typeface="Times New Roman Regular" panose="02020603050405020304" charset="0"/>
              </a:rPr>
              <a:t>.</a:t>
            </a:r>
          </a:p>
          <a:p>
            <a:pPr marL="457200" lvl="1" indent="0" algn="just">
              <a:buNone/>
            </a:pPr>
            <a:endParaRPr lang="en-GB" sz="20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0" indent="0" algn="just">
              <a:buNone/>
            </a:pPr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Outcome: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A set of well-defined, structured requirements that can guide system design and development.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Phases of Requirement Engineering</a:t>
            </a:r>
            <a:endParaRPr lang="en-GB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b. Analysis: Requirement Prioritization</a:t>
            </a:r>
          </a:p>
          <a:p>
            <a:pPr algn="just"/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Not all requirements carry equal weight. Prioritization ensures critical features are delivered first, especially when resources or time are limited.</a:t>
            </a:r>
          </a:p>
          <a:p>
            <a:pPr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MoSCoW Method: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Must Have: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Core, non-negotiable features essential to the system.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Should Have: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Important but not critical requirements.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Could Have: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Nice-to-have features if time and resources permit.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Won’t Have: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Deferred to future releases.</a:t>
            </a:r>
          </a:p>
          <a:p>
            <a:pPr algn="just"/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Other methods include </a:t>
            </a:r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Weighted Ranking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and the </a:t>
            </a:r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Kano Model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(classifying by user satisfaction impact).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Phases of Requirement Engineering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c. </a:t>
            </a:r>
            <a:r>
              <a:rPr lang="en-GB" sz="2000" b="1" dirty="0" smtClean="0">
                <a:latin typeface="Times New Roman Bold" panose="02020603050405020304" charset="0"/>
                <a:cs typeface="Times New Roman Bold" panose="02020603050405020304" charset="0"/>
              </a:rPr>
              <a:t>Specification</a:t>
            </a:r>
          </a:p>
          <a:p>
            <a:pPr marL="0" indent="0" algn="just">
              <a:buNone/>
            </a:pPr>
            <a:endParaRPr lang="en-GB" sz="2000" b="1" dirty="0">
              <a:latin typeface="Times New Roman Bold" panose="02020603050405020304" charset="0"/>
              <a:cs typeface="Times New Roman Bold" panose="02020603050405020304" charset="0"/>
            </a:endParaRPr>
          </a:p>
          <a:p>
            <a:pPr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Objective: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To document the analyzed requirements in a structured format that developers and stakeholders can clearly understand and verify.</a:t>
            </a:r>
          </a:p>
          <a:p>
            <a:pPr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Key Elements: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Software Requirements Specification (SRS):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A document that formalizes all functional and non-functional requirements.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Standards: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Following IEEE Std 830 or ISO/IEC 29148 for structuring and writing clear, concise, and unambiguous requirements.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Templates and Tools: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Using requirement management tools to create, store, and manage specifications.</a:t>
            </a:r>
          </a:p>
          <a:p>
            <a:pPr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Challenges: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Writing clear, unambiguous requirements that can be correctly understood by all stakeholders.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Phases of Requirement Engineering</a:t>
            </a:r>
            <a:endParaRPr lang="en-GB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2400" b="1" dirty="0">
                <a:latin typeface="Times New Roman Bold" panose="02020603050405020304" charset="0"/>
                <a:cs typeface="Times New Roman Bold" panose="02020603050405020304" charset="0"/>
              </a:rPr>
              <a:t>c. Specification: SRS Document Structure (IEEE Std 830</a:t>
            </a:r>
            <a:r>
              <a:rPr lang="en-GB" sz="2400" b="1" dirty="0" smtClean="0">
                <a:latin typeface="Times New Roman Bold" panose="02020603050405020304" charset="0"/>
                <a:cs typeface="Times New Roman Bold" panose="02020603050405020304" charset="0"/>
              </a:rPr>
              <a:t>)</a:t>
            </a:r>
          </a:p>
          <a:p>
            <a:pPr marL="0" indent="0" algn="just">
              <a:buNone/>
            </a:pPr>
            <a:endParaRPr lang="en-GB" sz="2400" b="1" dirty="0">
              <a:latin typeface="Times New Roman Bold" panose="02020603050405020304" charset="0"/>
              <a:cs typeface="Times New Roman Bold" panose="02020603050405020304" charset="0"/>
            </a:endParaRPr>
          </a:p>
          <a:p>
            <a:pPr lvl="1" algn="just"/>
            <a:r>
              <a:rPr lang="en-GB" b="1" dirty="0">
                <a:latin typeface="Times New Roman Bold" panose="02020603050405020304" charset="0"/>
                <a:cs typeface="Times New Roman Bold" panose="02020603050405020304" charset="0"/>
              </a:rPr>
              <a:t>1. Introduction:</a:t>
            </a:r>
            <a:r>
              <a:rPr lang="en-GB" dirty="0">
                <a:latin typeface="Times New Roman Regular" panose="02020603050405020304" charset="0"/>
                <a:cs typeface="Times New Roman Regular" panose="02020603050405020304" charset="0"/>
              </a:rPr>
              <a:t> Purpose, scope, definitions, acronyms, references, and document overview.</a:t>
            </a:r>
          </a:p>
          <a:p>
            <a:pPr lvl="1" algn="just"/>
            <a:r>
              <a:rPr lang="en-GB" b="1" dirty="0">
                <a:latin typeface="Times New Roman Bold" panose="02020603050405020304" charset="0"/>
                <a:cs typeface="Times New Roman Bold" panose="02020603050405020304" charset="0"/>
              </a:rPr>
              <a:t>2. Overall Description:</a:t>
            </a:r>
            <a:r>
              <a:rPr lang="en-GB" dirty="0">
                <a:latin typeface="Times New Roman Regular" panose="02020603050405020304" charset="0"/>
                <a:cs typeface="Times New Roman Regular" panose="02020603050405020304" charset="0"/>
              </a:rPr>
              <a:t> Product perspective, system functions, user characteristics, constraints, and assumptions.</a:t>
            </a:r>
          </a:p>
          <a:p>
            <a:pPr lvl="1" algn="just"/>
            <a:r>
              <a:rPr lang="en-GB" b="1" dirty="0">
                <a:latin typeface="Times New Roman Bold" panose="02020603050405020304" charset="0"/>
                <a:cs typeface="Times New Roman Bold" panose="02020603050405020304" charset="0"/>
              </a:rPr>
              <a:t>3. Specific Requirements:</a:t>
            </a:r>
            <a:r>
              <a:rPr lang="en-GB" dirty="0">
                <a:latin typeface="Times New Roman Regular" panose="02020603050405020304" charset="0"/>
                <a:cs typeface="Times New Roman Regular" panose="02020603050405020304" charset="0"/>
              </a:rPr>
              <a:t> Functional, non-functional, interface, and performance requirements </a:t>
            </a:r>
            <a:r>
              <a:rPr lang="en-GB" dirty="0" smtClean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GB" dirty="0">
                <a:latin typeface="Times New Roman Regular" panose="02020603050405020304" charset="0"/>
                <a:cs typeface="Times New Roman Regular" panose="02020603050405020304" charset="0"/>
              </a:rPr>
              <a:t>fully detailed and testable.</a:t>
            </a:r>
          </a:p>
          <a:p>
            <a:pPr lvl="1" algn="just"/>
            <a:r>
              <a:rPr lang="en-GB" b="1" dirty="0">
                <a:latin typeface="Times New Roman Bold" panose="02020603050405020304" charset="0"/>
                <a:cs typeface="Times New Roman Bold" panose="02020603050405020304" charset="0"/>
              </a:rPr>
              <a:t>4. Appendices:</a:t>
            </a:r>
            <a:r>
              <a:rPr lang="en-GB" dirty="0">
                <a:latin typeface="Times New Roman Regular" panose="02020603050405020304" charset="0"/>
                <a:cs typeface="Times New Roman Regular" panose="02020603050405020304" charset="0"/>
              </a:rPr>
              <a:t> Supplementary information including glossary and index.</a:t>
            </a:r>
          </a:p>
          <a:p>
            <a:pPr marL="0" indent="0" algn="just">
              <a:buNone/>
            </a:pPr>
            <a:r>
              <a:rPr lang="en-GB" sz="2400" dirty="0">
                <a:latin typeface="Times New Roman Regular" panose="02020603050405020304" charset="0"/>
                <a:cs typeface="Times New Roman Regular" panose="02020603050405020304" charset="0"/>
              </a:rPr>
              <a:t>A good SRS is: </a:t>
            </a:r>
            <a:r>
              <a:rPr lang="en-GB" sz="2400" b="1" dirty="0">
                <a:latin typeface="Times New Roman Bold" panose="02020603050405020304" charset="0"/>
                <a:cs typeface="Times New Roman Bold" panose="02020603050405020304" charset="0"/>
              </a:rPr>
              <a:t>Complete, Consistent, Unambiguous, Verifiable, Modifiable, and Traceable.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Phases of Requirement Engineering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c. Specification: Types of </a:t>
            </a:r>
            <a:r>
              <a:rPr lang="en-GB" sz="2000" b="1" dirty="0" smtClean="0">
                <a:latin typeface="Times New Roman Bold" panose="02020603050405020304" charset="0"/>
                <a:cs typeface="Times New Roman Bold" panose="02020603050405020304" charset="0"/>
              </a:rPr>
              <a:t>Requirements</a:t>
            </a:r>
          </a:p>
          <a:p>
            <a:pPr marL="0" indent="0" algn="just">
              <a:buNone/>
            </a:pPr>
            <a:endParaRPr lang="en-GB" sz="2000" b="1" dirty="0">
              <a:latin typeface="Times New Roman Bold" panose="02020603050405020304" charset="0"/>
              <a:cs typeface="Times New Roman Bold" panose="02020603050405020304" charset="0"/>
            </a:endParaRPr>
          </a:p>
          <a:p>
            <a:pPr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Functional Requirements: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Define what the system must </a:t>
            </a:r>
            <a:r>
              <a:rPr lang="en-GB" sz="2000" dirty="0" smtClean="0">
                <a:latin typeface="Times New Roman Regular" panose="02020603050405020304" charset="0"/>
                <a:cs typeface="Times New Roman Regular" panose="02020603050405020304" charset="0"/>
              </a:rPr>
              <a:t>do, 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specific behaviors, features, and operations.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Example: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“The system shall allow users to log in using email and password.”</a:t>
            </a:r>
          </a:p>
          <a:p>
            <a:pPr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Non-Functional Requirements: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Define quality attributes such as performance, reliability, scalability, and security.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Example: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“The system shall respond to queries within 2 seconds under normal load.”</a:t>
            </a:r>
          </a:p>
          <a:p>
            <a:pPr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Domain Requirements: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Constraints derived from the application domain, such as regulatory compliance or legal obligations.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Example: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Patient data must comply with HIPAA privacy regulations.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Phases of Requirement Engineering</a:t>
            </a:r>
            <a:endParaRPr lang="en-GB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d. Validation</a:t>
            </a:r>
          </a:p>
          <a:p>
            <a:pPr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Objective: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To ensure that the requirements accurately reflect stakeholder needs and are feasible to implement.</a:t>
            </a:r>
          </a:p>
          <a:p>
            <a:pPr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Validation Techniques: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Inspections: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Systematic examination of requirements by a review team following a formal checklist.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Reviews: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Meetings where stakeholders and team members evaluate requirements for correctness.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Walkthroughs: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Step-by-step review of the requirement documents to ensure completeness and accuracy.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Prototyping: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Testing initial models or mockups to gather real user feedback before full development.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Acceptance Test Design: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Writing test cases from </a:t>
            </a:r>
            <a:r>
              <a:rPr lang="en-GB" sz="2000" dirty="0" smtClean="0">
                <a:latin typeface="Times New Roman Regular" panose="02020603050405020304" charset="0"/>
                <a:cs typeface="Times New Roman Regular" panose="02020603050405020304" charset="0"/>
              </a:rPr>
              <a:t>requirements, 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if a requirement cannot be tested, it cannot be validated.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Phases of Requirement Engineering</a:t>
            </a:r>
            <a:endParaRPr lang="en-GB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2400" b="1" dirty="0">
                <a:latin typeface="Times New Roman Bold" panose="02020603050405020304" charset="0"/>
                <a:cs typeface="Times New Roman Bold" panose="02020603050405020304" charset="0"/>
              </a:rPr>
              <a:t>d. </a:t>
            </a:r>
            <a:r>
              <a:rPr lang="en-GB" sz="2400" b="1" dirty="0" smtClean="0">
                <a:latin typeface="Times New Roman Bold" panose="02020603050405020304" charset="0"/>
                <a:cs typeface="Times New Roman Bold" panose="02020603050405020304" charset="0"/>
              </a:rPr>
              <a:t>Validation</a:t>
            </a:r>
          </a:p>
          <a:p>
            <a:pPr marL="0" indent="0" algn="just">
              <a:buNone/>
            </a:pPr>
            <a:endParaRPr lang="en-GB" sz="2400" b="1" dirty="0">
              <a:latin typeface="Times New Roman Bold" panose="02020603050405020304" charset="0"/>
              <a:cs typeface="Times New Roman Bold" panose="02020603050405020304" charset="0"/>
            </a:endParaRPr>
          </a:p>
          <a:p>
            <a:pPr algn="just"/>
            <a:r>
              <a:rPr lang="en-GB" sz="2400" b="1" dirty="0">
                <a:latin typeface="Times New Roman Bold" panose="02020603050405020304" charset="0"/>
                <a:cs typeface="Times New Roman Bold" panose="02020603050405020304" charset="0"/>
              </a:rPr>
              <a:t>Challenges:</a:t>
            </a:r>
            <a:r>
              <a:rPr lang="en-GB" sz="2400" dirty="0">
                <a:latin typeface="Times New Roman Regular" panose="02020603050405020304" charset="0"/>
                <a:cs typeface="Times New Roman Regular" panose="02020603050405020304" charset="0"/>
              </a:rPr>
              <a:t> Identifying overlooked requirements and resolving discrepancies between stakeholder expectations and documented requirements.</a:t>
            </a:r>
          </a:p>
          <a:p>
            <a:pPr algn="just"/>
            <a:r>
              <a:rPr lang="en-GB" sz="2400" b="1" dirty="0">
                <a:latin typeface="Times New Roman Bold" panose="02020603050405020304" charset="0"/>
                <a:cs typeface="Times New Roman Bold" panose="02020603050405020304" charset="0"/>
              </a:rPr>
              <a:t>Key Insight:</a:t>
            </a:r>
            <a:r>
              <a:rPr lang="en-GB" sz="2400" dirty="0">
                <a:latin typeface="Times New Roman Regular" panose="02020603050405020304" charset="0"/>
                <a:cs typeface="Times New Roman Regular" panose="02020603050405020304" charset="0"/>
              </a:rPr>
              <a:t> Detecting a requirements defect during validation is </a:t>
            </a:r>
            <a:r>
              <a:rPr lang="en-GB" sz="2400" b="1" dirty="0">
                <a:latin typeface="Times New Roman Bold" panose="02020603050405020304" charset="0"/>
                <a:cs typeface="Times New Roman Bold" panose="02020603050405020304" charset="0"/>
              </a:rPr>
              <a:t>10–100 times cheaper</a:t>
            </a:r>
            <a:r>
              <a:rPr lang="en-GB" sz="2400" dirty="0">
                <a:latin typeface="Times New Roman Regular" panose="02020603050405020304" charset="0"/>
                <a:cs typeface="Times New Roman Regular" panose="02020603050405020304" charset="0"/>
              </a:rPr>
              <a:t> than detecting it after deployment.</a:t>
            </a:r>
          </a:p>
          <a:p>
            <a:pPr algn="just"/>
            <a:r>
              <a:rPr lang="en-GB" sz="2400" b="1" dirty="0">
                <a:latin typeface="Times New Roman Bold" panose="02020603050405020304" charset="0"/>
                <a:cs typeface="Times New Roman Bold" panose="02020603050405020304" charset="0"/>
              </a:rPr>
              <a:t>User Story Mapping:</a:t>
            </a:r>
            <a:r>
              <a:rPr lang="en-GB" sz="2400" dirty="0">
                <a:latin typeface="Times New Roman Regular" panose="02020603050405020304" charset="0"/>
                <a:cs typeface="Times New Roman Regular" panose="02020603050405020304" charset="0"/>
              </a:rPr>
              <a:t> An agile technique that maps user journeys to validate completeness of functional coverage across all personas.</a:t>
            </a:r>
          </a:p>
          <a:p>
            <a:pPr algn="just"/>
            <a:r>
              <a:rPr lang="en-GB" sz="2400" b="1" dirty="0">
                <a:latin typeface="Times New Roman Bold" panose="02020603050405020304" charset="0"/>
                <a:cs typeface="Times New Roman Bold" panose="02020603050405020304" charset="0"/>
              </a:rPr>
              <a:t>Outcome:</a:t>
            </a:r>
            <a:r>
              <a:rPr lang="en-GB" sz="2400" dirty="0">
                <a:latin typeface="Times New Roman Regular" panose="02020603050405020304" charset="0"/>
                <a:cs typeface="Times New Roman Regular" panose="02020603050405020304" charset="0"/>
              </a:rPr>
              <a:t> A validated, agreed-upon set of requirements that provides a solid foundation for design and development to begin.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Phases of Requirement Engineering</a:t>
            </a: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e. </a:t>
            </a:r>
            <a:r>
              <a:rPr lang="en-GB" sz="2000" b="1" dirty="0" smtClean="0">
                <a:latin typeface="Times New Roman Bold" panose="02020603050405020304" charset="0"/>
                <a:cs typeface="Times New Roman Bold" panose="02020603050405020304" charset="0"/>
              </a:rPr>
              <a:t>Management</a:t>
            </a:r>
          </a:p>
          <a:p>
            <a:pPr marL="0" indent="0" algn="just">
              <a:buNone/>
            </a:pPr>
            <a:endParaRPr lang="en-GB" sz="2000" b="1" dirty="0">
              <a:latin typeface="Times New Roman Bold" panose="02020603050405020304" charset="0"/>
              <a:cs typeface="Times New Roman Bold" panose="02020603050405020304" charset="0"/>
            </a:endParaRPr>
          </a:p>
          <a:p>
            <a:pPr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Objective: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To manage and control changes to the requirements throughout the project lifecycle.</a:t>
            </a:r>
          </a:p>
          <a:p>
            <a:pPr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Activities: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Requirement Traceability: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Tracking each requirement to ensure it is addressed in the system’s design, development, and testing phases.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Change Management: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Handling changes in requirements — keeping them documented and communicated to all stakeholders.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Version Control: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Maintaining different versions of the requirements document as changes occur.</a:t>
            </a:r>
          </a:p>
          <a:p>
            <a:pPr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Challenges: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Keeping track of evolving requirements, communicating changes effectively, and managing stakeholder expectations.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160" y="0"/>
            <a:ext cx="10515600" cy="880201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Phases of Requirement Engineering</a:t>
            </a: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e. Management: Requirement Traceability Matrix (RTM</a:t>
            </a:r>
            <a:r>
              <a:rPr lang="en-GB" sz="2000" b="1" dirty="0" smtClean="0">
                <a:latin typeface="Times New Roman Bold" panose="02020603050405020304" charset="0"/>
                <a:cs typeface="Times New Roman Bold" panose="02020603050405020304" charset="0"/>
              </a:rPr>
              <a:t>)</a:t>
            </a:r>
          </a:p>
          <a:p>
            <a:pPr marL="0" indent="0" algn="just">
              <a:buNone/>
            </a:pPr>
            <a:endParaRPr lang="en-GB" sz="2000" b="1" dirty="0">
              <a:latin typeface="Times New Roman Bold" panose="02020603050405020304" charset="0"/>
              <a:cs typeface="Times New Roman Bold" panose="02020603050405020304" charset="0"/>
            </a:endParaRPr>
          </a:p>
          <a:p>
            <a:pPr algn="just"/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An RTM maps every requirement to its source, design component, code module, and test case </a:t>
            </a:r>
            <a:r>
              <a:rPr lang="en-GB" sz="2000" dirty="0" smtClean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providing end-to-end accountability.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Forward Traceability: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Requirements → Design → Code → Tests. Confirms all requirements are implemented.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Backward Traceability: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Tests → Code → Requirements. Confirms nothing is built without a valid requirement.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Bidirectional Traceability: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Full coverage in both </a:t>
            </a:r>
            <a:r>
              <a:rPr lang="en-GB" sz="2000" dirty="0" smtClean="0">
                <a:latin typeface="Times New Roman Regular" panose="02020603050405020304" charset="0"/>
                <a:cs typeface="Times New Roman Regular" panose="02020603050405020304" charset="0"/>
              </a:rPr>
              <a:t>directions, 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the gold standard for safety-critical and regulated industries.</a:t>
            </a:r>
          </a:p>
          <a:p>
            <a:pPr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Benefit: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When a requirement changes, the RTM immediately shows every </a:t>
            </a:r>
            <a:r>
              <a:rPr lang="en-GB" sz="2000" dirty="0" smtClean="0">
                <a:latin typeface="Times New Roman Regular" panose="02020603050405020304" charset="0"/>
                <a:cs typeface="Times New Roman Regular" panose="02020603050405020304" charset="0"/>
              </a:rPr>
              <a:t>artefact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,</a:t>
            </a:r>
            <a:r>
              <a:rPr lang="en-GB" sz="2000" dirty="0" smtClean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design, code, and test </a:t>
            </a:r>
            <a:r>
              <a:rPr lang="en-GB" sz="2000" dirty="0" smtClean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that is affected.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>
            <a:normAutofit/>
          </a:bodyPr>
          <a:lstStyle/>
          <a:p>
            <a:r>
              <a:rPr lang="en-GB" sz="3200" dirty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Key Challenges in the Requirement Engineering Process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sz="2400" b="1" dirty="0">
                <a:latin typeface="Times New Roman Bold" panose="02020603050405020304" charset="0"/>
                <a:cs typeface="Times New Roman Bold" panose="02020603050405020304" charset="0"/>
              </a:rPr>
              <a:t>Evolving Requirements:</a:t>
            </a:r>
            <a:r>
              <a:rPr lang="en-GB" sz="2400" dirty="0">
                <a:latin typeface="Times New Roman Regular" panose="02020603050405020304" charset="0"/>
                <a:cs typeface="Times New Roman Regular" panose="02020603050405020304" charset="0"/>
              </a:rPr>
              <a:t> Requirements may change over time due to new stakeholder insights, shifting market conditions, or changes in business needs.</a:t>
            </a:r>
          </a:p>
          <a:p>
            <a:pPr algn="just"/>
            <a:r>
              <a:rPr lang="en-GB" sz="2400" b="1" dirty="0">
                <a:latin typeface="Times New Roman Bold" panose="02020603050405020304" charset="0"/>
                <a:cs typeface="Times New Roman Bold" panose="02020603050405020304" charset="0"/>
              </a:rPr>
              <a:t>Stakeholder Conflicts:</a:t>
            </a:r>
            <a:r>
              <a:rPr lang="en-GB" sz="2400" dirty="0">
                <a:latin typeface="Times New Roman Regular" panose="02020603050405020304" charset="0"/>
                <a:cs typeface="Times New Roman Regular" panose="02020603050405020304" charset="0"/>
              </a:rPr>
              <a:t> Different stakeholders may have conflicting needs, requiring careful negotiation and resolution to ensure alignment.</a:t>
            </a:r>
          </a:p>
          <a:p>
            <a:pPr algn="just"/>
            <a:r>
              <a:rPr lang="en-GB" sz="2400" b="1" dirty="0">
                <a:latin typeface="Times New Roman Bold" panose="02020603050405020304" charset="0"/>
                <a:cs typeface="Times New Roman Bold" panose="02020603050405020304" charset="0"/>
              </a:rPr>
              <a:t>Miscommunication:</a:t>
            </a:r>
            <a:r>
              <a:rPr lang="en-GB" sz="2400" dirty="0">
                <a:latin typeface="Times New Roman Regular" panose="02020603050405020304" charset="0"/>
                <a:cs typeface="Times New Roman Regular" panose="02020603050405020304" charset="0"/>
              </a:rPr>
              <a:t> Poor communication between technical and non-technical stakeholders can result in misunderstood or incomplete requirements.</a:t>
            </a:r>
          </a:p>
          <a:p>
            <a:pPr algn="just"/>
            <a:r>
              <a:rPr lang="en-GB" sz="2400" b="1" dirty="0">
                <a:latin typeface="Times New Roman Bold" panose="02020603050405020304" charset="0"/>
                <a:cs typeface="Times New Roman Bold" panose="02020603050405020304" charset="0"/>
              </a:rPr>
              <a:t>Documentation Quality:</a:t>
            </a:r>
            <a:r>
              <a:rPr lang="en-GB" sz="2400" dirty="0">
                <a:latin typeface="Times New Roman Regular" panose="02020603050405020304" charset="0"/>
                <a:cs typeface="Times New Roman Regular" panose="02020603050405020304" charset="0"/>
              </a:rPr>
              <a:t> Poorly documented requirements can lead to project delays, misimplementation, or system failures.</a:t>
            </a:r>
          </a:p>
          <a:p>
            <a:pPr algn="just"/>
            <a:r>
              <a:rPr lang="en-GB" sz="2400" b="1" dirty="0">
                <a:latin typeface="Times New Roman Bold" panose="02020603050405020304" charset="0"/>
                <a:cs typeface="Times New Roman Bold" panose="02020603050405020304" charset="0"/>
              </a:rPr>
              <a:t>Traceability:</a:t>
            </a:r>
            <a:r>
              <a:rPr lang="en-GB" sz="2400" dirty="0">
                <a:latin typeface="Times New Roman Regular" panose="02020603050405020304" charset="0"/>
                <a:cs typeface="Times New Roman Regular" panose="02020603050405020304" charset="0"/>
              </a:rPr>
              <a:t> Maintaining a clear trace from initial requirements to implementation and testing is difficult but essential for project success.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</p:spPr>
        <p:txBody>
          <a:bodyPr>
            <a:normAutofit/>
          </a:bodyPr>
          <a:lstStyle/>
          <a:p>
            <a:r>
              <a:rPr lang="en-GB" sz="3200" dirty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Key Challenges: Evolving Requirements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Requirements change throughout a project due to multiple factors: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Business Environment Changes: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Market shifts, mergers, or competitive pressures alter what the system must do.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Stakeholder Learning: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Stakeholders discover new needs or refine their understanding as the system takes shape via prototypes.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Technology Evolution: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Emerging tools or platforms create opportunities or constraints not foreseen at project start.</a:t>
            </a:r>
          </a:p>
          <a:p>
            <a:pPr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Mitigation Strategy: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Establish formal change control processes, use a requirements baseline, and maintain the RTM to assess impact before approving changes.</a:t>
            </a:r>
          </a:p>
          <a:p>
            <a:pPr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Key Rule: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No requirement changes without a documented change request, impact assessment, and stakeholder sign-off.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6989"/>
          </a:xfrm>
        </p:spPr>
        <p:txBody>
          <a:bodyPr>
            <a:normAutofit/>
          </a:bodyPr>
          <a:lstStyle/>
          <a:p>
            <a:r>
              <a:rPr lang="en-GB" sz="3200" dirty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Key Challenges: Stakeholder Conflicts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Different stakeholders bring </a:t>
            </a:r>
            <a:r>
              <a:rPr lang="en-GB" sz="2000" dirty="0" smtClean="0">
                <a:latin typeface="Times New Roman Regular" panose="02020603050405020304" charset="0"/>
                <a:cs typeface="Times New Roman Regular" panose="02020603050405020304" charset="0"/>
              </a:rPr>
              <a:t>different, sometimes conflicting, 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needs, priorities, and success criteria.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Conflicting Priorities: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The sales team wants easy-to-use interfaces; the security team wants strict authentication </a:t>
            </a:r>
            <a:r>
              <a:rPr lang="en-GB" sz="2000" dirty="0" smtClean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both are valid.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Resolution Techniques: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Workshops, negotiation sessions, and priority voting help surface and resolve disagreements constructively.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Trade-off Analysis: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Document trade-offs explicitly. When stakeholders understand the cost of each choice, consensus emerges faster.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Escalation Path: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Define upfront who has final authority when conflicts cannot be resolved at the team level.</a:t>
            </a:r>
          </a:p>
          <a:p>
            <a:pPr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Key Rule: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Record all resolutions and their rationale. Undocumented decisions get </a:t>
            </a:r>
            <a:r>
              <a:rPr lang="en-GB" sz="2000" dirty="0" err="1" smtClean="0">
                <a:latin typeface="Times New Roman Regular" panose="02020603050405020304" charset="0"/>
                <a:cs typeface="Times New Roman Regular" panose="02020603050405020304" charset="0"/>
              </a:rPr>
              <a:t>relitigated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,</a:t>
            </a:r>
            <a:r>
              <a:rPr lang="en-GB" sz="2000" dirty="0" smtClean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costing time and trust.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1115" y="269331"/>
            <a:ext cx="10515600" cy="566692"/>
          </a:xfrm>
        </p:spPr>
        <p:txBody>
          <a:bodyPr>
            <a:normAutofit/>
          </a:bodyPr>
          <a:lstStyle/>
          <a:p>
            <a:r>
              <a:rPr lang="en-GB" sz="3200" dirty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Key Challenges: Miscommunication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1115" y="1346654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Poor communication between technical and non-technical stakeholders is one of the most common causes of requirement defects.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Technical Jargon: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Technical teams use terms non-technical stakeholders do not understand — and vice versa.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Assumed Context: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Team members assume shared understanding that does not exist, creating silent misalignment.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Vague Language: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Words like “fast”, “secure”, or “user-friendly” are ambiguous without quantified acceptance criteria.</a:t>
            </a:r>
          </a:p>
          <a:p>
            <a:pPr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Mitigation: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Use structured reviews, shared glossaries, acceptance criteria, use case scenarios, and visual models to bridge communication gaps.</a:t>
            </a:r>
          </a:p>
          <a:p>
            <a:pPr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Key Rule: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Every requirement must have a clearly stated, testable acceptance criterion.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4828"/>
            <a:ext cx="10515600" cy="645069"/>
          </a:xfrm>
        </p:spPr>
        <p:txBody>
          <a:bodyPr>
            <a:normAutofit/>
          </a:bodyPr>
          <a:lstStyle/>
          <a:p>
            <a:r>
              <a:rPr lang="en-GB" sz="3200" dirty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 Process: An Iterative Model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9237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Requirement Engineering is rarely a linear, one-pass process. The five phases frequently overlap and feed back into each other.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Elicitation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uncovers gaps that trigger re-analysis.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Validation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feedback may return the team to specification or even elicitation.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Management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ensures traceability is maintained throughout every iteration.</a:t>
            </a:r>
          </a:p>
          <a:p>
            <a:pPr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Why Iterative?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Phases Overlap: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Elicitation and analysis often run concurrently; validation findings feed back into specification.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Emerging Knowledge: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Stakeholders clarify needs </a:t>
            </a:r>
            <a:r>
              <a:rPr lang="en-GB" sz="2000" dirty="0" smtClean="0">
                <a:latin typeface="Times New Roman Regular" panose="02020603050405020304" charset="0"/>
                <a:cs typeface="Times New Roman Regular" panose="02020603050405020304" charset="0"/>
              </a:rPr>
              <a:t>progressively, 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what they discover in one round reshapes earlier decisions.</a:t>
            </a:r>
          </a:p>
          <a:p>
            <a:pPr algn="just"/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Each cycle refines understanding, reduces ambiguity, and brings the project closer to a reliable specification.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8703"/>
            <a:ext cx="10515600" cy="662486"/>
          </a:xfrm>
        </p:spPr>
        <p:txBody>
          <a:bodyPr>
            <a:normAutofit/>
          </a:bodyPr>
          <a:lstStyle/>
          <a:p>
            <a:r>
              <a:rPr lang="en-GB" sz="3200" dirty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Stakeholder Identification and Analysis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3703"/>
            <a:ext cx="10515600" cy="4853260"/>
          </a:xfrm>
        </p:spPr>
        <p:txBody>
          <a:bodyPr>
            <a:normAutofit/>
          </a:bodyPr>
          <a:lstStyle/>
          <a:p>
            <a:pPr algn="just"/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A stakeholder is anyone who affects or is affected by the system. Identifying all stakeholders early prevents missed requirements.</a:t>
            </a:r>
          </a:p>
          <a:p>
            <a:pPr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Categories of Stakeholders: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Primary Stakeholders: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End-users, clients, and system operators who interact directly with the delivered system.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Secondary Stakeholders: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Managers, regulators, and auditors who indirectly influence requirements and project decisions.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Tertiary Stakeholders: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Competitors, industry standards bodies, and the general public who shape the operating environment.</a:t>
            </a:r>
          </a:p>
          <a:p>
            <a:pPr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Key Tools: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Stakeholder maps, RACI matrices, and onion diagrams help visualize roles, influence levels, and communication responsibilities.</a:t>
            </a:r>
          </a:p>
          <a:p>
            <a:pPr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Best Practice: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Revisit the stakeholder list at each project </a:t>
            </a:r>
            <a:r>
              <a:rPr lang="en-GB" sz="2000" dirty="0" smtClean="0">
                <a:latin typeface="Times New Roman Regular" panose="02020603050405020304" charset="0"/>
                <a:cs typeface="Times New Roman Regular" panose="02020603050405020304" charset="0"/>
              </a:rPr>
              <a:t>phase, 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new stakeholders often emerge as scope becomes clearer.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0624"/>
            <a:ext cx="10515600" cy="679904"/>
          </a:xfrm>
        </p:spPr>
        <p:txBody>
          <a:bodyPr>
            <a:normAutofit/>
          </a:bodyPr>
          <a:lstStyle/>
          <a:p>
            <a:r>
              <a:rPr lang="en-GB" sz="3200" dirty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Elicitation </a:t>
            </a:r>
            <a:r>
              <a:rPr lang="en-GB" sz="3200" dirty="0" smtClean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Techniques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51156"/>
            <a:ext cx="10515600" cy="4351338"/>
          </a:xfrm>
        </p:spPr>
        <p:txBody>
          <a:bodyPr>
            <a:noAutofit/>
          </a:bodyPr>
          <a:lstStyle/>
          <a:p>
            <a:pPr algn="just"/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No single technique captures all requirements. Combining multiple methods reduces blind spots and increases completeness.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Interviews: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One-on-one sessions allow in-depth exploration of individual stakeholder needs and priorities.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Focus Groups: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Group discussions surface shared goals and reveal areas of disagreement early.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Ethnography: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Immersive observation uncovers implicit, unstated needs that stakeholders cannot articulate themselves.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Use Case Analysis: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Scenario-based walkthroughs trace each user interaction step-by-step through the proposed system.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Document Analysis: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Reviewing legacy systems, manuals, and reports derives current process requirements systematically.</a:t>
            </a:r>
          </a:p>
          <a:p>
            <a:pPr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Best Practice: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Validate findings from one technique against findings from another before documenting requirements.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2784"/>
          </a:xfrm>
        </p:spPr>
        <p:txBody>
          <a:bodyPr>
            <a:normAutofit/>
          </a:bodyPr>
          <a:lstStyle/>
          <a:p>
            <a:r>
              <a:rPr lang="en-GB" sz="3200" dirty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 Analysis: Modeling and Prioritization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Analysis transforms raw stakeholder inputs into structured, prioritized, and verified requirements.</a:t>
            </a:r>
          </a:p>
          <a:p>
            <a:pPr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Modeling Techniques: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Use Case Diagrams: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Show what the system must do from the user’s perspective, without specifying implementation.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Data Flow Diagrams: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Visualize data movement and transformation through the system.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Entity-Relationship Diagrams: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Define data structures and relationships critical for database design.</a:t>
            </a:r>
          </a:p>
          <a:p>
            <a:pPr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Prioritization Techniques: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MoSCoW: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Must Have, Should Have, Could Have, Won’t Have.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Weighted Ranking: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Numerical scoring based on value, cost, and risk.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Kano Model: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Classify requirements by their impact on user satisfaction.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0201"/>
          </a:xfrm>
        </p:spPr>
        <p:txBody>
          <a:bodyPr>
            <a:normAutofit/>
          </a:bodyPr>
          <a:lstStyle/>
          <a:p>
            <a:r>
              <a:rPr lang="en-GB" sz="3200" dirty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Specification: SRS and Requirement Management Tools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SRS is the authoritative document produced by the specification phase. Its quality directly determines project success.</a:t>
            </a:r>
          </a:p>
          <a:p>
            <a:pPr algn="just"/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Properties of a Good SRS:</a:t>
            </a:r>
          </a:p>
          <a:p>
            <a:pPr lvl="1" algn="just"/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Complete: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requirements are documented with no gaps.</a:t>
            </a:r>
          </a:p>
          <a:p>
            <a:pPr lvl="1" algn="just"/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Consistent: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requirement contradicts another.</a:t>
            </a:r>
          </a:p>
          <a:p>
            <a:pPr lvl="1" algn="just"/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Unambiguous: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Every requirement has exactly one interpretation.</a:t>
            </a:r>
          </a:p>
          <a:p>
            <a:pPr lvl="1" algn="just"/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Verifiable: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Every requirement can be tested or demonstrated.</a:t>
            </a:r>
          </a:p>
          <a:p>
            <a:pPr algn="just"/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Management Tools:</a:t>
            </a:r>
          </a:p>
          <a:p>
            <a:pPr lvl="1" algn="just"/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JIRA: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Industry-standard tool for agile user stories and requirement tracking.</a:t>
            </a:r>
          </a:p>
          <a:p>
            <a:pPr lvl="1" algn="just"/>
            <a:r>
              <a:rPr lang="en-GB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Confluence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Collaborative documentation wiki for sharing and versioning requirements.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8944"/>
          </a:xfrm>
        </p:spPr>
        <p:txBody>
          <a:bodyPr>
            <a:normAutofit/>
          </a:bodyPr>
          <a:lstStyle/>
          <a:p>
            <a:r>
              <a:rPr lang="en-GB" sz="3200" dirty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Validation Techniques in Detail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3697" y="1433739"/>
            <a:ext cx="10515600" cy="4775472"/>
          </a:xfrm>
        </p:spPr>
        <p:txBody>
          <a:bodyPr>
            <a:normAutofit/>
          </a:bodyPr>
          <a:lstStyle/>
          <a:p>
            <a:pPr algn="just"/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Validation confirms that requirements are correct, complete, and feasible before development begins.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Formal Reviews: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Scheduled meetings where the SRS is evaluated against defined acceptance criteria by all stakeholders.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Inspections: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Structured peer review with logged defects categorized by type, executed independently of the author.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Acceptance Test Design: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Creating test cases directly from requirements — a requirement that cannot be tested must be rewritten.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User Story Mapping: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Mapping user journeys validates complete functional coverage across all user personas.</a:t>
            </a:r>
          </a:p>
          <a:p>
            <a:pPr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Key Insight: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Catching a defect during validation costs far less than finding it during system testing or after release.</a:t>
            </a:r>
          </a:p>
          <a:p>
            <a:pPr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Outcome: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A validated SRS with stakeholder sign-off that provides a firm baseline for design.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8612"/>
          </a:xfrm>
        </p:spPr>
        <p:txBody>
          <a:bodyPr>
            <a:normAutofit/>
          </a:bodyPr>
          <a:lstStyle/>
          <a:p>
            <a:r>
              <a:rPr lang="en-GB" sz="3200" dirty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 Change Management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0154" y="1625328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Requirements will change. A formal change management process prevents scope creep and uncontrolled drift.</a:t>
            </a:r>
          </a:p>
          <a:p>
            <a:pPr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Change Control Process: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1. Change Request: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A stakeholder formally submits a documented change request describing the proposed modification.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2. Impact Assessment: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The team evaluates the effect on schedule, cost, design, code, and test cases using the RTM.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3. Decision and Approval: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Authorized stakeholders approve, reject, or defer the change based on the impact assessment.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4. Implementation and Tracing: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Approved changes are implemented and all affected artifacts are updated and re-traced.</a:t>
            </a:r>
          </a:p>
          <a:p>
            <a:pPr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Key Rule: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No requirement changes without a documented change request and formal approval </a:t>
            </a:r>
            <a:r>
              <a:rPr lang="en-GB" sz="2000" dirty="0" smtClean="0">
                <a:latin typeface="Times New Roman Regular" panose="02020603050405020304" charset="0"/>
                <a:cs typeface="Times New Roman Regular" panose="02020603050405020304" charset="0"/>
              </a:rPr>
              <a:t>informal 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changes destroy traceability.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</p:spPr>
        <p:txBody>
          <a:bodyPr>
            <a:normAutofit/>
          </a:bodyPr>
          <a:lstStyle/>
          <a:p>
            <a:r>
              <a:rPr lang="en-GB" sz="3200" dirty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Agile vs. Traditional Requirement Engineering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8206"/>
            <a:ext cx="10515600" cy="4748757"/>
          </a:xfrm>
        </p:spPr>
        <p:txBody>
          <a:bodyPr>
            <a:noAutofit/>
          </a:bodyPr>
          <a:lstStyle/>
          <a:p>
            <a:pPr algn="just"/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Both approaches share core RE activities. They differ in timing, granularity, and how they handle change.</a:t>
            </a:r>
          </a:p>
          <a:p>
            <a:pPr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Traditional (Waterfall):</a:t>
            </a:r>
          </a:p>
          <a:p>
            <a:pPr lvl="1" algn="just"/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Requirements gathered upfront in full before design begins.</a:t>
            </a:r>
          </a:p>
          <a:p>
            <a:pPr lvl="1" algn="just"/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Documented in a formal SRS; changes require formal change control.</a:t>
            </a:r>
          </a:p>
          <a:p>
            <a:pPr lvl="1" algn="just"/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Suitable for stable, well-understood domains with fixed scope.</a:t>
            </a:r>
          </a:p>
          <a:p>
            <a:pPr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Agile:</a:t>
            </a:r>
          </a:p>
          <a:p>
            <a:pPr lvl="1" algn="just"/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Requirements expressed as User Stories (</a:t>
            </a:r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As a </a:t>
            </a:r>
            <a:r>
              <a:rPr lang="en-GB" sz="2000" b="1" dirty="0" smtClean="0">
                <a:latin typeface="Times New Roman Bold" panose="02020603050405020304" charset="0"/>
                <a:cs typeface="Times New Roman Bold" panose="02020603050405020304" charset="0"/>
              </a:rPr>
              <a:t>user, </a:t>
            </a:r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I want </a:t>
            </a:r>
            <a:r>
              <a:rPr lang="en-GB" sz="2000" b="1" dirty="0" smtClean="0">
                <a:latin typeface="Times New Roman Bold" panose="02020603050405020304" charset="0"/>
                <a:cs typeface="Times New Roman Bold" panose="02020603050405020304" charset="0"/>
              </a:rPr>
              <a:t>goal </a:t>
            </a:r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so that </a:t>
            </a:r>
            <a:r>
              <a:rPr lang="en-GB" sz="2000" b="1" dirty="0" smtClean="0">
                <a:latin typeface="Times New Roman Bold" panose="02020603050405020304" charset="0"/>
                <a:cs typeface="Times New Roman Bold" panose="02020603050405020304" charset="0"/>
              </a:rPr>
              <a:t>benefit</a:t>
            </a:r>
            <a:r>
              <a:rPr lang="en-GB" sz="2000" dirty="0" smtClean="0">
                <a:latin typeface="Times New Roman Regular" panose="02020603050405020304" charset="0"/>
                <a:cs typeface="Times New Roman Regular" panose="02020603050405020304" charset="0"/>
              </a:rPr>
              <a:t>) 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refined iteratively.</a:t>
            </a:r>
          </a:p>
          <a:p>
            <a:pPr lvl="1" algn="just"/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Changes welcomed and accommodated in each sprint.</a:t>
            </a:r>
          </a:p>
          <a:p>
            <a:pPr lvl="1" algn="just"/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Suitable for innovative or uncertain domains with evolving requirements.</a:t>
            </a:r>
          </a:p>
          <a:p>
            <a:pPr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Hybrid Approaches: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Use upfront RE for architecture-critical decisions and agile backlog refinement for features.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3869"/>
            <a:ext cx="10515600" cy="566692"/>
          </a:xfrm>
        </p:spPr>
        <p:txBody>
          <a:bodyPr>
            <a:normAutofit/>
          </a:bodyPr>
          <a:lstStyle/>
          <a:p>
            <a:r>
              <a:rPr lang="en-GB" sz="3200" dirty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 Engineering Best Practices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18903"/>
            <a:ext cx="10515600" cy="5158060"/>
          </a:xfrm>
        </p:spPr>
        <p:txBody>
          <a:bodyPr>
            <a:normAutofit/>
          </a:bodyPr>
          <a:lstStyle/>
          <a:p>
            <a:pPr algn="just"/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Following proven best practices significantly reduces requirement-related project failures</a:t>
            </a:r>
            <a:r>
              <a:rPr lang="en-GB" sz="2000" dirty="0" smtClean="0">
                <a:latin typeface="Times New Roman Regular" panose="02020603050405020304" charset="0"/>
                <a:cs typeface="Times New Roman Regular" panose="02020603050405020304" charset="0"/>
              </a:rPr>
              <a:t>.</a:t>
            </a:r>
          </a:p>
          <a:p>
            <a:pPr marL="0" indent="0" algn="just">
              <a:buNone/>
            </a:pPr>
            <a:endParaRPr lang="en-GB" sz="20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Involve Stakeholders Early: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Engage all stakeholder types from project kickoff to surface requirements before commitments are made.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Use Multiple Elicitation Techniques: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No single method captures all </a:t>
            </a:r>
            <a:r>
              <a:rPr lang="en-GB" sz="2000" dirty="0" smtClean="0">
                <a:latin typeface="Times New Roman Regular" panose="02020603050405020304" charset="0"/>
                <a:cs typeface="Times New Roman Regular" panose="02020603050405020304" charset="0"/>
              </a:rPr>
              <a:t>requirements, triangulate 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findings using interviews, workshops, and prototyping.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Document Incrementally: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Capture requirements as they emerge rather than waiting for a single requirements gathering phase.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Validate Continuously: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Review and test requirements with stakeholders at each iteration, not just at a final sign-off meeting.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Maintain a Living RTM: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Keep the traceability matrix updated throughout development as a first-class project artifact.</a:t>
            </a:r>
          </a:p>
          <a:p>
            <a:pPr lvl="1" algn="just"/>
            <a:r>
              <a:rPr lang="en-GB" sz="2000" b="1" dirty="0">
                <a:latin typeface="Times New Roman Bold" panose="02020603050405020304" charset="0"/>
                <a:cs typeface="Times New Roman Bold" panose="02020603050405020304" charset="0"/>
              </a:rPr>
              <a:t>Control Changes Formally:</a:t>
            </a:r>
            <a:r>
              <a:rPr lang="en-GB" sz="2000" dirty="0">
                <a:latin typeface="Times New Roman Regular" panose="02020603050405020304" charset="0"/>
                <a:cs typeface="Times New Roman Regular" panose="02020603050405020304" charset="0"/>
              </a:rPr>
              <a:t> Use a change request process with impact assessment to prevent scope creep and uncontrolled drift.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7355"/>
          </a:xfrm>
        </p:spPr>
        <p:txBody>
          <a:bodyPr>
            <a:normAutofit fontScale="90000"/>
          </a:bodyPr>
          <a:lstStyle/>
          <a:p>
            <a:r>
              <a:rPr lang="en-GB" sz="3200" dirty="0">
                <a:solidFill>
                  <a:srgbClr val="0231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 and Key Takeaways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9525" y="1573076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 lvl="1"/>
            <a:r>
              <a:rPr lang="en-GB" sz="2800" b="1" dirty="0">
                <a:latin typeface="Times New Roman Bold" panose="02020603050405020304" charset="0"/>
                <a:cs typeface="Times New Roman Bold" panose="02020603050405020304" charset="0"/>
              </a:rPr>
              <a:t>Five Phases:</a:t>
            </a:r>
            <a:r>
              <a:rPr lang="en-GB" sz="2800" dirty="0">
                <a:latin typeface="Times New Roman Regular" panose="02020603050405020304" charset="0"/>
                <a:cs typeface="Times New Roman Regular" panose="02020603050405020304" charset="0"/>
              </a:rPr>
              <a:t> Elicitation, Analysis, Specification, Validation, and Management form the core RE lifecycle</a:t>
            </a:r>
            <a:r>
              <a:rPr lang="en-GB" sz="2800" dirty="0" smtClean="0">
                <a:latin typeface="Times New Roman Regular" panose="02020603050405020304" charset="0"/>
                <a:cs typeface="Times New Roman Regular" panose="02020603050405020304" charset="0"/>
              </a:rPr>
              <a:t>.</a:t>
            </a:r>
          </a:p>
          <a:p>
            <a:pPr marL="457200" lvl="1" indent="0">
              <a:buNone/>
            </a:pPr>
            <a:endParaRPr lang="en-GB" sz="28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lvl="1"/>
            <a:r>
              <a:rPr lang="en-GB" sz="2800" b="1" dirty="0">
                <a:latin typeface="Times New Roman Bold" panose="02020603050405020304" charset="0"/>
                <a:cs typeface="Times New Roman Bold" panose="02020603050405020304" charset="0"/>
              </a:rPr>
              <a:t>Iterative Nature:</a:t>
            </a:r>
            <a:r>
              <a:rPr lang="en-GB" sz="2800" dirty="0">
                <a:latin typeface="Times New Roman Regular" panose="02020603050405020304" charset="0"/>
                <a:cs typeface="Times New Roman Regular" panose="02020603050405020304" charset="0"/>
              </a:rPr>
              <a:t> RE is not a one-time </a:t>
            </a:r>
            <a:r>
              <a:rPr lang="en-GB" sz="2800" dirty="0" smtClean="0">
                <a:latin typeface="Times New Roman Regular" panose="02020603050405020304" charset="0"/>
                <a:cs typeface="Times New Roman Regular" panose="02020603050405020304" charset="0"/>
              </a:rPr>
              <a:t>activity, </a:t>
            </a:r>
            <a:r>
              <a:rPr lang="en-GB" sz="2800" dirty="0">
                <a:latin typeface="Times New Roman Regular" panose="02020603050405020304" charset="0"/>
                <a:cs typeface="Times New Roman Regular" panose="02020603050405020304" charset="0"/>
              </a:rPr>
              <a:t>phases overlap and revisit each other as understanding grows</a:t>
            </a:r>
            <a:r>
              <a:rPr lang="en-GB" sz="2800" dirty="0" smtClean="0">
                <a:latin typeface="Times New Roman Regular" panose="02020603050405020304" charset="0"/>
                <a:cs typeface="Times New Roman Regular" panose="02020603050405020304" charset="0"/>
              </a:rPr>
              <a:t>.</a:t>
            </a:r>
          </a:p>
          <a:p>
            <a:pPr marL="457200" lvl="1" indent="0">
              <a:buNone/>
            </a:pPr>
            <a:endParaRPr lang="en-GB" sz="28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lvl="1"/>
            <a:r>
              <a:rPr lang="en-GB" sz="2800" b="1" dirty="0">
                <a:latin typeface="Times New Roman Bold" panose="02020603050405020304" charset="0"/>
                <a:cs typeface="Times New Roman Bold" panose="02020603050405020304" charset="0"/>
              </a:rPr>
              <a:t>Stakeholder Involvement:</a:t>
            </a:r>
            <a:r>
              <a:rPr lang="en-GB" sz="2800" dirty="0">
                <a:latin typeface="Times New Roman Regular" panose="02020603050405020304" charset="0"/>
                <a:cs typeface="Times New Roman Regular" panose="02020603050405020304" charset="0"/>
              </a:rPr>
              <a:t> Continuous engagement with all stakeholder types is essential for complete and accurate requirements</a:t>
            </a:r>
            <a:r>
              <a:rPr lang="en-GB" sz="2800" dirty="0" smtClean="0">
                <a:latin typeface="Times New Roman Regular" panose="02020603050405020304" charset="0"/>
                <a:cs typeface="Times New Roman Regular" panose="02020603050405020304" charset="0"/>
              </a:rPr>
              <a:t>.</a:t>
            </a:r>
          </a:p>
          <a:p>
            <a:pPr marL="457200" lvl="1" indent="0">
              <a:buNone/>
            </a:pPr>
            <a:endParaRPr lang="en-GB" sz="28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lvl="1"/>
            <a:r>
              <a:rPr lang="en-GB" sz="2800" b="1" dirty="0">
                <a:latin typeface="Times New Roman Bold" panose="02020603050405020304" charset="0"/>
                <a:cs typeface="Times New Roman Bold" panose="02020603050405020304" charset="0"/>
              </a:rPr>
              <a:t>SRS as Foundation:</a:t>
            </a:r>
            <a:r>
              <a:rPr lang="en-GB" sz="2800" dirty="0">
                <a:latin typeface="Times New Roman Regular" panose="02020603050405020304" charset="0"/>
                <a:cs typeface="Times New Roman Regular" panose="02020603050405020304" charset="0"/>
              </a:rPr>
              <a:t> The SRS is the authoritative document. Its quality directly determines project success</a:t>
            </a:r>
            <a:r>
              <a:rPr lang="en-GB" sz="2800" dirty="0" smtClean="0">
                <a:latin typeface="Times New Roman Regular" panose="02020603050405020304" charset="0"/>
                <a:cs typeface="Times New Roman Regular" panose="02020603050405020304" charset="0"/>
              </a:rPr>
              <a:t>.</a:t>
            </a:r>
          </a:p>
          <a:p>
            <a:pPr marL="457200" lvl="1" indent="0">
              <a:buNone/>
            </a:pPr>
            <a:endParaRPr lang="en-GB" sz="28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lvl="1"/>
            <a:r>
              <a:rPr lang="en-GB" sz="2800" b="1" dirty="0">
                <a:latin typeface="Times New Roman Bold" panose="02020603050405020304" charset="0"/>
                <a:cs typeface="Times New Roman Bold" panose="02020603050405020304" charset="0"/>
              </a:rPr>
              <a:t>Traceability:</a:t>
            </a:r>
            <a:r>
              <a:rPr lang="en-GB" sz="2800" dirty="0">
                <a:latin typeface="Times New Roman Regular" panose="02020603050405020304" charset="0"/>
                <a:cs typeface="Times New Roman Regular" panose="02020603050405020304" charset="0"/>
              </a:rPr>
              <a:t> An RTM ensures requirements are implemented, tested, and that changes can be managed safely</a:t>
            </a:r>
            <a:r>
              <a:rPr lang="en-GB" sz="2800" dirty="0" smtClean="0">
                <a:latin typeface="Times New Roman Regular" panose="02020603050405020304" charset="0"/>
                <a:cs typeface="Times New Roman Regular" panose="02020603050405020304" charset="0"/>
              </a:rPr>
              <a:t>.</a:t>
            </a:r>
          </a:p>
          <a:p>
            <a:pPr marL="457200" lvl="1" indent="0">
              <a:buNone/>
            </a:pPr>
            <a:endParaRPr lang="en-GB" sz="28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lvl="1"/>
            <a:r>
              <a:rPr lang="en-GB" sz="2800" b="1" dirty="0">
                <a:latin typeface="Times New Roman Bold" panose="02020603050405020304" charset="0"/>
                <a:cs typeface="Times New Roman Bold" panose="02020603050405020304" charset="0"/>
              </a:rPr>
              <a:t>Change Control:</a:t>
            </a:r>
            <a:r>
              <a:rPr lang="en-GB" sz="2800" dirty="0">
                <a:latin typeface="Times New Roman Regular" panose="02020603050405020304" charset="0"/>
                <a:cs typeface="Times New Roman Regular" panose="02020603050405020304" charset="0"/>
              </a:rPr>
              <a:t> All requirement changes must follow a formal process </a:t>
            </a:r>
            <a:r>
              <a:rPr lang="en-GB" sz="2800" dirty="0" smtClean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GB" sz="2800" dirty="0">
                <a:latin typeface="Times New Roman Regular" panose="02020603050405020304" charset="0"/>
                <a:cs typeface="Times New Roman Regular" panose="02020603050405020304" charset="0"/>
              </a:rPr>
              <a:t>informal changes destroy traceability.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04875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2315</TotalTime>
  <Words>3009</Words>
  <Application>Microsoft Office PowerPoint</Application>
  <PresentationFormat>Widescreen</PresentationFormat>
  <Paragraphs>254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Calibri</vt:lpstr>
      <vt:lpstr>Calibri Light</vt:lpstr>
      <vt:lpstr>Times New Roman</vt:lpstr>
      <vt:lpstr>Times New Roman Bold</vt:lpstr>
      <vt:lpstr>Times New Roman Regular</vt:lpstr>
      <vt:lpstr>Office Theme</vt:lpstr>
      <vt:lpstr>PowerPoint Presentation</vt:lpstr>
      <vt:lpstr>Outlines:</vt:lpstr>
      <vt:lpstr>1. Overview of the Requirement Engineering Process</vt:lpstr>
      <vt:lpstr>2. Phases of Requirement Engineering</vt:lpstr>
      <vt:lpstr>2. Phases of Requirement Engineering</vt:lpstr>
      <vt:lpstr>2. Phases of Requirement Engineering</vt:lpstr>
      <vt:lpstr>2. Phases of Requirement Engineering</vt:lpstr>
      <vt:lpstr>2. Phases of Requirement Engineering</vt:lpstr>
      <vt:lpstr>2. Phases of Requirement Engineering</vt:lpstr>
      <vt:lpstr>2. Phases of Requirement Engineering</vt:lpstr>
      <vt:lpstr>2. Phases of Requirement Engineering</vt:lpstr>
      <vt:lpstr>2. Phases of Requirement Engineering</vt:lpstr>
      <vt:lpstr>2. Phases of Requirement Engineering</vt:lpstr>
      <vt:lpstr>2. Phases of Requirement Engineering</vt:lpstr>
      <vt:lpstr>2. Phases of Requirement Engineering</vt:lpstr>
      <vt:lpstr>2. Phases of Requirement Engineering</vt:lpstr>
      <vt:lpstr>3. Key Challenges in the Requirement Engineering Process</vt:lpstr>
      <vt:lpstr>3. Key Challenges: Evolving Requirements</vt:lpstr>
      <vt:lpstr>3. Key Challenges: Stakeholder Conflicts</vt:lpstr>
      <vt:lpstr>3. Key Challenges: Miscommunication</vt:lpstr>
      <vt:lpstr>The RE Process: An Iterative Model</vt:lpstr>
      <vt:lpstr>Stakeholder Identification and Analysis</vt:lpstr>
      <vt:lpstr>Elicitation Techniques</vt:lpstr>
      <vt:lpstr>Requirements Analysis: Modeling and Prioritization</vt:lpstr>
      <vt:lpstr>Specification: SRS and Requirement Management Tools</vt:lpstr>
      <vt:lpstr>Validation Techniques in Detail</vt:lpstr>
      <vt:lpstr>Requirement Change Management</vt:lpstr>
      <vt:lpstr>Agile vs. Traditional Requirement Engineering</vt:lpstr>
      <vt:lpstr>Requirement Engineering Best Practices</vt:lpstr>
      <vt:lpstr>Summary and Key Takeaways</vt:lpstr>
    </vt:vector>
  </TitlesOfParts>
  <Company>HP Inc.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17</cp:revision>
  <dcterms:created xsi:type="dcterms:W3CDTF">2026-06-15T16:15:08Z</dcterms:created>
  <dcterms:modified xsi:type="dcterms:W3CDTF">2026-06-17T07:43:50Z</dcterms:modified>
</cp:coreProperties>
</file>