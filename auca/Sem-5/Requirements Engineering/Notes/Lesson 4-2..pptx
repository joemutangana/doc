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65"/>
  </p:notesMasterIdLst>
  <p:sldIdLst>
    <p:sldId id="256" r:id="rId2"/>
    <p:sldId id="332" r:id="rId3"/>
    <p:sldId id="334" r:id="rId4"/>
    <p:sldId id="379" r:id="rId5"/>
    <p:sldId id="358" r:id="rId6"/>
    <p:sldId id="381" r:id="rId7"/>
    <p:sldId id="383" r:id="rId8"/>
    <p:sldId id="380" r:id="rId9"/>
    <p:sldId id="359" r:id="rId10"/>
    <p:sldId id="384" r:id="rId11"/>
    <p:sldId id="360" r:id="rId12"/>
    <p:sldId id="386" r:id="rId13"/>
    <p:sldId id="387" r:id="rId14"/>
    <p:sldId id="388" r:id="rId15"/>
    <p:sldId id="389" r:id="rId16"/>
    <p:sldId id="390" r:id="rId17"/>
    <p:sldId id="391" r:id="rId18"/>
    <p:sldId id="392" r:id="rId19"/>
    <p:sldId id="393" r:id="rId20"/>
    <p:sldId id="394" r:id="rId21"/>
    <p:sldId id="395" r:id="rId22"/>
    <p:sldId id="396" r:id="rId23"/>
    <p:sldId id="397" r:id="rId24"/>
    <p:sldId id="398" r:id="rId25"/>
    <p:sldId id="399" r:id="rId26"/>
    <p:sldId id="400" r:id="rId27"/>
    <p:sldId id="401" r:id="rId28"/>
    <p:sldId id="402" r:id="rId29"/>
    <p:sldId id="403" r:id="rId30"/>
    <p:sldId id="404" r:id="rId31"/>
    <p:sldId id="405" r:id="rId32"/>
    <p:sldId id="406" r:id="rId33"/>
    <p:sldId id="407" r:id="rId34"/>
    <p:sldId id="409" r:id="rId35"/>
    <p:sldId id="411" r:id="rId36"/>
    <p:sldId id="410" r:id="rId37"/>
    <p:sldId id="412" r:id="rId38"/>
    <p:sldId id="361" r:id="rId39"/>
    <p:sldId id="413" r:id="rId40"/>
    <p:sldId id="362" r:id="rId41"/>
    <p:sldId id="414" r:id="rId42"/>
    <p:sldId id="415" r:id="rId43"/>
    <p:sldId id="363" r:id="rId44"/>
    <p:sldId id="365" r:id="rId45"/>
    <p:sldId id="366" r:id="rId46"/>
    <p:sldId id="367" r:id="rId47"/>
    <p:sldId id="368" r:id="rId48"/>
    <p:sldId id="416" r:id="rId49"/>
    <p:sldId id="417" r:id="rId50"/>
    <p:sldId id="418" r:id="rId51"/>
    <p:sldId id="369" r:id="rId52"/>
    <p:sldId id="419" r:id="rId53"/>
    <p:sldId id="370" r:id="rId54"/>
    <p:sldId id="420" r:id="rId55"/>
    <p:sldId id="371" r:id="rId56"/>
    <p:sldId id="372" r:id="rId57"/>
    <p:sldId id="373" r:id="rId58"/>
    <p:sldId id="374" r:id="rId59"/>
    <p:sldId id="376" r:id="rId60"/>
    <p:sldId id="377" r:id="rId61"/>
    <p:sldId id="378" r:id="rId62"/>
    <p:sldId id="382" r:id="rId63"/>
    <p:sldId id="408" r:id="rId6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450" autoAdjust="0"/>
    <p:restoredTop sz="94660"/>
  </p:normalViewPr>
  <p:slideViewPr>
    <p:cSldViewPr snapToGrid="0" snapToObjects="1" showGuides="1">
      <p:cViewPr>
        <p:scale>
          <a:sx n="100" d="100"/>
          <a:sy n="100" d="100"/>
        </p:scale>
        <p:origin x="864" y="-288"/>
      </p:cViewPr>
      <p:guideLst>
        <p:guide orient="horz" pos="2160"/>
        <p:guide pos="2886"/>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A1C966-0D86-46E7-AD63-E3A9531956A6}" type="datetimeFigureOut">
              <a:rPr lang="en-US" smtClean="0"/>
              <a:t>7/7/2026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D3BE28-FA99-46E5-B1DE-BE9D6FCBD9C4}" type="slidenum">
              <a:rPr lang="en-US" smtClean="0"/>
              <a:t>‹#›</a:t>
            </a:fld>
            <a:endParaRPr lang="en-US"/>
          </a:p>
        </p:txBody>
      </p:sp>
    </p:spTree>
    <p:extLst>
      <p:ext uri="{BB962C8B-B14F-4D97-AF65-F5344CB8AC3E}">
        <p14:creationId xmlns:p14="http://schemas.microsoft.com/office/powerpoint/2010/main" val="40934127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UML came up in the mid to late 1990s created by a team known as the three amigos. The problem they were trying to solve was for software developers to be able to specify, visualize and document the systems that they were building. It provided a standardized, language agnostic and extensible way to model software architecture and design. </a:t>
            </a:r>
          </a:p>
        </p:txBody>
      </p:sp>
      <p:sp>
        <p:nvSpPr>
          <p:cNvPr id="4" name="Slide Number Placeholder 3"/>
          <p:cNvSpPr>
            <a:spLocks noGrp="1"/>
          </p:cNvSpPr>
          <p:nvPr>
            <p:ph type="sldNum" sz="quarter" idx="5"/>
          </p:nvPr>
        </p:nvSpPr>
        <p:spPr/>
        <p:txBody>
          <a:bodyPr/>
          <a:lstStyle/>
          <a:p>
            <a:fld id="{08D3BE28-FA99-46E5-B1DE-BE9D6FCBD9C4}" type="slidenum">
              <a:rPr lang="en-US" smtClean="0"/>
              <a:t>13</a:t>
            </a:fld>
            <a:endParaRPr lang="en-US"/>
          </a:p>
        </p:txBody>
      </p:sp>
    </p:spTree>
    <p:extLst>
      <p:ext uri="{BB962C8B-B14F-4D97-AF65-F5344CB8AC3E}">
        <p14:creationId xmlns:p14="http://schemas.microsoft.com/office/powerpoint/2010/main" val="41172105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BC385-0E65-4F79-B3FF-92E319B1E7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E01F05-1888-B821-483F-BE468DA0CAF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78DEC89-783C-CCB9-9182-C56F1694FDB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C79F5B-1E0B-B046-419E-BA2E19228AC9}"/>
              </a:ext>
            </a:extLst>
          </p:cNvPr>
          <p:cNvSpPr>
            <a:spLocks noGrp="1"/>
          </p:cNvSpPr>
          <p:nvPr>
            <p:ph type="sldNum" sz="quarter" idx="5"/>
          </p:nvPr>
        </p:nvSpPr>
        <p:spPr/>
        <p:txBody>
          <a:bodyPr/>
          <a:lstStyle/>
          <a:p>
            <a:fld id="{08D3BE28-FA99-46E5-B1DE-BE9D6FCBD9C4}" type="slidenum">
              <a:rPr lang="en-US" smtClean="0"/>
              <a:t>14</a:t>
            </a:fld>
            <a:endParaRPr lang="en-US"/>
          </a:p>
        </p:txBody>
      </p:sp>
    </p:spTree>
    <p:extLst>
      <p:ext uri="{BB962C8B-B14F-4D97-AF65-F5344CB8AC3E}">
        <p14:creationId xmlns:p14="http://schemas.microsoft.com/office/powerpoint/2010/main" val="2307429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F9A04-B2BD-5207-E0C8-C0258E3D9A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7164AD-AF50-56B5-0AEB-4270F819F89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DBDBBA1-C1F1-2FE4-4589-B4D05452511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269BFDD-D475-9429-F0DB-85F88CA785D4}"/>
              </a:ext>
            </a:extLst>
          </p:cNvPr>
          <p:cNvSpPr>
            <a:spLocks noGrp="1"/>
          </p:cNvSpPr>
          <p:nvPr>
            <p:ph type="sldNum" sz="quarter" idx="5"/>
          </p:nvPr>
        </p:nvSpPr>
        <p:spPr/>
        <p:txBody>
          <a:bodyPr/>
          <a:lstStyle/>
          <a:p>
            <a:fld id="{08D3BE28-FA99-46E5-B1DE-BE9D6FCBD9C4}" type="slidenum">
              <a:rPr lang="en-US" smtClean="0"/>
              <a:t>15</a:t>
            </a:fld>
            <a:endParaRPr lang="en-US"/>
          </a:p>
        </p:txBody>
      </p:sp>
    </p:spTree>
    <p:extLst>
      <p:ext uri="{BB962C8B-B14F-4D97-AF65-F5344CB8AC3E}">
        <p14:creationId xmlns:p14="http://schemas.microsoft.com/office/powerpoint/2010/main" val="35765547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1D785-9D4B-2D59-F6E4-CFD7E5D431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EEBC83-239A-4ADE-9208-E3E2125529E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C96CEF1-ACED-7CE2-6EFF-A00C94FB767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E501F5E-BEDF-76E3-10FB-97808B3283C7}"/>
              </a:ext>
            </a:extLst>
          </p:cNvPr>
          <p:cNvSpPr>
            <a:spLocks noGrp="1"/>
          </p:cNvSpPr>
          <p:nvPr>
            <p:ph type="sldNum" sz="quarter" idx="5"/>
          </p:nvPr>
        </p:nvSpPr>
        <p:spPr/>
        <p:txBody>
          <a:bodyPr/>
          <a:lstStyle/>
          <a:p>
            <a:fld id="{08D3BE28-FA99-46E5-B1DE-BE9D6FCBD9C4}" type="slidenum">
              <a:rPr lang="en-US" smtClean="0"/>
              <a:t>16</a:t>
            </a:fld>
            <a:endParaRPr lang="en-US"/>
          </a:p>
        </p:txBody>
      </p:sp>
    </p:spTree>
    <p:extLst>
      <p:ext uri="{BB962C8B-B14F-4D97-AF65-F5344CB8AC3E}">
        <p14:creationId xmlns:p14="http://schemas.microsoft.com/office/powerpoint/2010/main" val="10876418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7E8E6-430A-D4EB-85FD-DF57251A48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98AFAC-9F45-4C62-A2BF-E9BA57A604C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67314A3-F8B2-1471-8095-21134A696C45}"/>
              </a:ext>
            </a:extLst>
          </p:cNvPr>
          <p:cNvSpPr>
            <a:spLocks noGrp="1"/>
          </p:cNvSpPr>
          <p:nvPr>
            <p:ph type="body" idx="1"/>
          </p:nvPr>
        </p:nvSpPr>
        <p:spPr/>
        <p:txBody>
          <a:bodyPr/>
          <a:lstStyle/>
          <a:p>
            <a:r>
              <a:rPr lang="en-US" dirty="0"/>
              <a:t>In this scenario, requesting a chemical should request it from the stockroom, however there is an option for the person requesting a chemical to search through the catalog of vendors. Another example would be a system with a use case of submitting an assignment. This use case would have a relationship with a use case of applying a late penalty is the student submits the assignment late.</a:t>
            </a:r>
          </a:p>
        </p:txBody>
      </p:sp>
      <p:sp>
        <p:nvSpPr>
          <p:cNvPr id="4" name="Slide Number Placeholder 3">
            <a:extLst>
              <a:ext uri="{FF2B5EF4-FFF2-40B4-BE49-F238E27FC236}">
                <a16:creationId xmlns:a16="http://schemas.microsoft.com/office/drawing/2014/main" id="{CA55E127-C4DB-2127-81AE-FD929C69A9CD}"/>
              </a:ext>
            </a:extLst>
          </p:cNvPr>
          <p:cNvSpPr>
            <a:spLocks noGrp="1"/>
          </p:cNvSpPr>
          <p:nvPr>
            <p:ph type="sldNum" sz="quarter" idx="5"/>
          </p:nvPr>
        </p:nvSpPr>
        <p:spPr/>
        <p:txBody>
          <a:bodyPr/>
          <a:lstStyle/>
          <a:p>
            <a:fld id="{08D3BE28-FA99-46E5-B1DE-BE9D6FCBD9C4}" type="slidenum">
              <a:rPr lang="en-US" smtClean="0"/>
              <a:t>17</a:t>
            </a:fld>
            <a:endParaRPr lang="en-US"/>
          </a:p>
        </p:txBody>
      </p:sp>
    </p:spTree>
    <p:extLst>
      <p:ext uri="{BB962C8B-B14F-4D97-AF65-F5344CB8AC3E}">
        <p14:creationId xmlns:p14="http://schemas.microsoft.com/office/powerpoint/2010/main" val="23444893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3E44E-B72E-CF35-D3F8-6C19564BDF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72D96F-0EFF-CA5C-C019-A0E22FEA13B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CF70145-8B5F-9490-E218-8FFC837A27DC}"/>
              </a:ext>
            </a:extLst>
          </p:cNvPr>
          <p:cNvSpPr>
            <a:spLocks noGrp="1"/>
          </p:cNvSpPr>
          <p:nvPr>
            <p:ph type="body" idx="1"/>
          </p:nvPr>
        </p:nvSpPr>
        <p:spPr/>
        <p:txBody>
          <a:bodyPr/>
          <a:lstStyle/>
          <a:p>
            <a:r>
              <a:rPr lang="en-US" dirty="0"/>
              <a:t>"Models a relationship where a base use case explicitly incorporates the behavior of another use case at a specified point. The inclusion is mandatory; the base use case cannot complete its main flow without executing the included use case.</a:t>
            </a:r>
          </a:p>
        </p:txBody>
      </p:sp>
      <p:sp>
        <p:nvSpPr>
          <p:cNvPr id="4" name="Slide Number Placeholder 3">
            <a:extLst>
              <a:ext uri="{FF2B5EF4-FFF2-40B4-BE49-F238E27FC236}">
                <a16:creationId xmlns:a16="http://schemas.microsoft.com/office/drawing/2014/main" id="{8F6D0BA7-B1E3-F433-619B-484DBE415A07}"/>
              </a:ext>
            </a:extLst>
          </p:cNvPr>
          <p:cNvSpPr>
            <a:spLocks noGrp="1"/>
          </p:cNvSpPr>
          <p:nvPr>
            <p:ph type="sldNum" sz="quarter" idx="5"/>
          </p:nvPr>
        </p:nvSpPr>
        <p:spPr/>
        <p:txBody>
          <a:bodyPr/>
          <a:lstStyle/>
          <a:p>
            <a:fld id="{08D3BE28-FA99-46E5-B1DE-BE9D6FCBD9C4}" type="slidenum">
              <a:rPr lang="en-US" smtClean="0"/>
              <a:t>18</a:t>
            </a:fld>
            <a:endParaRPr lang="en-US"/>
          </a:p>
        </p:txBody>
      </p:sp>
    </p:spTree>
    <p:extLst>
      <p:ext uri="{BB962C8B-B14F-4D97-AF65-F5344CB8AC3E}">
        <p14:creationId xmlns:p14="http://schemas.microsoft.com/office/powerpoint/2010/main" val="3050243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FF856-D78F-9D91-26C7-F9BFD4DC2A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31FEF1-207C-61F0-E0EB-E12788F90AA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D8AB811-FC7D-46E6-7A83-D9458C26C0E1}"/>
              </a:ext>
            </a:extLst>
          </p:cNvPr>
          <p:cNvSpPr>
            <a:spLocks noGrp="1"/>
          </p:cNvSpPr>
          <p:nvPr>
            <p:ph type="body" idx="1"/>
          </p:nvPr>
        </p:nvSpPr>
        <p:spPr/>
        <p:txBody>
          <a:bodyPr/>
          <a:lstStyle/>
          <a:p>
            <a:r>
              <a:rPr lang="en-US" dirty="0"/>
              <a:t>Informal because the customer is the priority and thus they should be able to understand these stories.</a:t>
            </a:r>
          </a:p>
        </p:txBody>
      </p:sp>
      <p:sp>
        <p:nvSpPr>
          <p:cNvPr id="4" name="Slide Number Placeholder 3">
            <a:extLst>
              <a:ext uri="{FF2B5EF4-FFF2-40B4-BE49-F238E27FC236}">
                <a16:creationId xmlns:a16="http://schemas.microsoft.com/office/drawing/2014/main" id="{F7971024-D914-76B3-0533-BB47C8405FEF}"/>
              </a:ext>
            </a:extLst>
          </p:cNvPr>
          <p:cNvSpPr>
            <a:spLocks noGrp="1"/>
          </p:cNvSpPr>
          <p:nvPr>
            <p:ph type="sldNum" sz="quarter" idx="5"/>
          </p:nvPr>
        </p:nvSpPr>
        <p:spPr/>
        <p:txBody>
          <a:bodyPr/>
          <a:lstStyle/>
          <a:p>
            <a:fld id="{08D3BE28-FA99-46E5-B1DE-BE9D6FCBD9C4}" type="slidenum">
              <a:rPr lang="en-US" smtClean="0"/>
              <a:t>19</a:t>
            </a:fld>
            <a:endParaRPr lang="en-US"/>
          </a:p>
        </p:txBody>
      </p:sp>
    </p:spTree>
    <p:extLst>
      <p:ext uri="{BB962C8B-B14F-4D97-AF65-F5344CB8AC3E}">
        <p14:creationId xmlns:p14="http://schemas.microsoft.com/office/powerpoint/2010/main" val="16848671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34CC4-F895-03DD-5573-063767AAF7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E76A71-ECBD-1F4E-D4F7-55D09D599E6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0C47833-B673-4142-F608-ED9C3CA77A1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1BD800E-0550-0DBB-C09A-CB1F1C362FA7}"/>
              </a:ext>
            </a:extLst>
          </p:cNvPr>
          <p:cNvSpPr>
            <a:spLocks noGrp="1"/>
          </p:cNvSpPr>
          <p:nvPr>
            <p:ph type="sldNum" sz="quarter" idx="5"/>
          </p:nvPr>
        </p:nvSpPr>
        <p:spPr/>
        <p:txBody>
          <a:bodyPr/>
          <a:lstStyle/>
          <a:p>
            <a:fld id="{08D3BE28-FA99-46E5-B1DE-BE9D6FCBD9C4}" type="slidenum">
              <a:rPr lang="en-US" smtClean="0"/>
              <a:t>20</a:t>
            </a:fld>
            <a:endParaRPr lang="en-US"/>
          </a:p>
        </p:txBody>
      </p:sp>
    </p:spTree>
    <p:extLst>
      <p:ext uri="{BB962C8B-B14F-4D97-AF65-F5344CB8AC3E}">
        <p14:creationId xmlns:p14="http://schemas.microsoft.com/office/powerpoint/2010/main" val="22056757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222CD-3684-1261-75CA-71A9B87EBB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AD19C2-196D-E070-9F1D-9F2FD57E841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4486670-379E-D767-366B-08E39045BC41}"/>
              </a:ext>
            </a:extLst>
          </p:cNvPr>
          <p:cNvSpPr>
            <a:spLocks noGrp="1"/>
          </p:cNvSpPr>
          <p:nvPr>
            <p:ph type="body" idx="1"/>
          </p:nvPr>
        </p:nvSpPr>
        <p:spPr/>
        <p:txBody>
          <a:bodyPr/>
          <a:lstStyle/>
          <a:p>
            <a:r>
              <a:rPr lang="en-US" dirty="0"/>
              <a:t>Cards used to be physical and written manually on Post-it cards (Sticky Notes) but today they can also be digital. What matters about the card is less the material the card is made of and more the content of the card. Cards are used because they are small and thus you are also forced to keep your user stories as short as reasonably possible. The card represents the team’s commitment to discuss the story hence the Conversation part of the 3C’s.</a:t>
            </a:r>
          </a:p>
        </p:txBody>
      </p:sp>
      <p:sp>
        <p:nvSpPr>
          <p:cNvPr id="4" name="Slide Number Placeholder 3">
            <a:extLst>
              <a:ext uri="{FF2B5EF4-FFF2-40B4-BE49-F238E27FC236}">
                <a16:creationId xmlns:a16="http://schemas.microsoft.com/office/drawing/2014/main" id="{4973EE45-1A6B-2472-BBD5-7083C9192321}"/>
              </a:ext>
            </a:extLst>
          </p:cNvPr>
          <p:cNvSpPr>
            <a:spLocks noGrp="1"/>
          </p:cNvSpPr>
          <p:nvPr>
            <p:ph type="sldNum" sz="quarter" idx="5"/>
          </p:nvPr>
        </p:nvSpPr>
        <p:spPr/>
        <p:txBody>
          <a:bodyPr/>
          <a:lstStyle/>
          <a:p>
            <a:fld id="{08D3BE28-FA99-46E5-B1DE-BE9D6FCBD9C4}" type="slidenum">
              <a:rPr lang="en-US" smtClean="0"/>
              <a:t>21</a:t>
            </a:fld>
            <a:endParaRPr lang="en-US"/>
          </a:p>
        </p:txBody>
      </p:sp>
    </p:spTree>
    <p:extLst>
      <p:ext uri="{BB962C8B-B14F-4D97-AF65-F5344CB8AC3E}">
        <p14:creationId xmlns:p14="http://schemas.microsoft.com/office/powerpoint/2010/main" val="37318421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1E5A7-A866-FFA7-657C-B8010D2649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7DDD1E-5278-C947-3C93-7EFECB01505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03C32C0-8847-E635-75DB-C4886494791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A26F359-0B33-A654-FB90-0B0F683C70FE}"/>
              </a:ext>
            </a:extLst>
          </p:cNvPr>
          <p:cNvSpPr>
            <a:spLocks noGrp="1"/>
          </p:cNvSpPr>
          <p:nvPr>
            <p:ph type="sldNum" sz="quarter" idx="5"/>
          </p:nvPr>
        </p:nvSpPr>
        <p:spPr/>
        <p:txBody>
          <a:bodyPr/>
          <a:lstStyle/>
          <a:p>
            <a:fld id="{08D3BE28-FA99-46E5-B1DE-BE9D6FCBD9C4}" type="slidenum">
              <a:rPr lang="en-US" smtClean="0"/>
              <a:t>22</a:t>
            </a:fld>
            <a:endParaRPr lang="en-US"/>
          </a:p>
        </p:txBody>
      </p:sp>
    </p:spTree>
    <p:extLst>
      <p:ext uri="{BB962C8B-B14F-4D97-AF65-F5344CB8AC3E}">
        <p14:creationId xmlns:p14="http://schemas.microsoft.com/office/powerpoint/2010/main" val="17328793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3388D-593D-1243-697E-91D505D8E2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85E9CD-63D3-2951-ADFA-EC8A0F96F12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AB786B1-9DFF-F66C-7CD0-4C52CEB533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947129B-C3C9-8F11-DB79-DD69F504809B}"/>
              </a:ext>
            </a:extLst>
          </p:cNvPr>
          <p:cNvSpPr>
            <a:spLocks noGrp="1"/>
          </p:cNvSpPr>
          <p:nvPr>
            <p:ph type="sldNum" sz="quarter" idx="5"/>
          </p:nvPr>
        </p:nvSpPr>
        <p:spPr/>
        <p:txBody>
          <a:bodyPr/>
          <a:lstStyle/>
          <a:p>
            <a:fld id="{08D3BE28-FA99-46E5-B1DE-BE9D6FCBD9C4}" type="slidenum">
              <a:rPr lang="en-US" smtClean="0"/>
              <a:t>23</a:t>
            </a:fld>
            <a:endParaRPr lang="en-US"/>
          </a:p>
        </p:txBody>
      </p:sp>
    </p:spTree>
    <p:extLst>
      <p:ext uri="{BB962C8B-B14F-4D97-AF65-F5344CB8AC3E}">
        <p14:creationId xmlns:p14="http://schemas.microsoft.com/office/powerpoint/2010/main" val="26657256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8115B-859D-101D-145A-ADD73B1722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B3A28B-E3A3-4C87-BCE0-FD3A7F5389A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00EAABB-5C34-DF39-CD29-792CB7F9F20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3E0FCED-61B5-5539-4964-D502D2B8926B}"/>
              </a:ext>
            </a:extLst>
          </p:cNvPr>
          <p:cNvSpPr>
            <a:spLocks noGrp="1"/>
          </p:cNvSpPr>
          <p:nvPr>
            <p:ph type="sldNum" sz="quarter" idx="5"/>
          </p:nvPr>
        </p:nvSpPr>
        <p:spPr/>
        <p:txBody>
          <a:bodyPr/>
          <a:lstStyle/>
          <a:p>
            <a:fld id="{08D3BE28-FA99-46E5-B1DE-BE9D6FCBD9C4}" type="slidenum">
              <a:rPr lang="en-US" smtClean="0"/>
              <a:t>24</a:t>
            </a:fld>
            <a:endParaRPr lang="en-US"/>
          </a:p>
        </p:txBody>
      </p:sp>
    </p:spTree>
    <p:extLst>
      <p:ext uri="{BB962C8B-B14F-4D97-AF65-F5344CB8AC3E}">
        <p14:creationId xmlns:p14="http://schemas.microsoft.com/office/powerpoint/2010/main" val="34838675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184F7E-6D1D-722C-687B-BE7312CCA0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0DF526-5C1C-2A1B-0559-75D3285472B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6C057B0-28B2-A176-5DC9-6F921BD422D9}"/>
              </a:ext>
            </a:extLst>
          </p:cNvPr>
          <p:cNvSpPr>
            <a:spLocks noGrp="1"/>
          </p:cNvSpPr>
          <p:nvPr>
            <p:ph type="body" idx="1"/>
          </p:nvPr>
        </p:nvSpPr>
        <p:spPr/>
        <p:txBody>
          <a:bodyPr/>
          <a:lstStyle/>
          <a:p>
            <a:r>
              <a:rPr lang="en-US" dirty="0"/>
              <a:t>The purchaser might have different things that bring them value as opposed to the user. The purchaser might be paying the software for 5000 people and one of their stories might be how the software will be documented. This might not be very useful to the individual users of the software though.</a:t>
            </a:r>
          </a:p>
          <a:p>
            <a:endParaRPr lang="en-US" dirty="0"/>
          </a:p>
          <a:p>
            <a:r>
              <a:rPr lang="en-US" dirty="0"/>
              <a:t>The goal of indexing is to increase the speed of database queries and thus can be rephrased to say the above.</a:t>
            </a:r>
          </a:p>
        </p:txBody>
      </p:sp>
      <p:sp>
        <p:nvSpPr>
          <p:cNvPr id="4" name="Slide Number Placeholder 3">
            <a:extLst>
              <a:ext uri="{FF2B5EF4-FFF2-40B4-BE49-F238E27FC236}">
                <a16:creationId xmlns:a16="http://schemas.microsoft.com/office/drawing/2014/main" id="{85AA85DF-C82C-8870-FA2F-D2A823275ACD}"/>
              </a:ext>
            </a:extLst>
          </p:cNvPr>
          <p:cNvSpPr>
            <a:spLocks noGrp="1"/>
          </p:cNvSpPr>
          <p:nvPr>
            <p:ph type="sldNum" sz="quarter" idx="5"/>
          </p:nvPr>
        </p:nvSpPr>
        <p:spPr/>
        <p:txBody>
          <a:bodyPr/>
          <a:lstStyle/>
          <a:p>
            <a:fld id="{08D3BE28-FA99-46E5-B1DE-BE9D6FCBD9C4}" type="slidenum">
              <a:rPr lang="en-US" smtClean="0"/>
              <a:t>25</a:t>
            </a:fld>
            <a:endParaRPr lang="en-US"/>
          </a:p>
        </p:txBody>
      </p:sp>
    </p:spTree>
    <p:extLst>
      <p:ext uri="{BB962C8B-B14F-4D97-AF65-F5344CB8AC3E}">
        <p14:creationId xmlns:p14="http://schemas.microsoft.com/office/powerpoint/2010/main" val="14082183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D99E4-D0C3-5541-6BE5-77E2EEB93A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525EB6-9E7A-DCCF-7AB2-3D98FC90CCA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B93E45B-B723-2278-40D9-4FE8748CB360}"/>
              </a:ext>
            </a:extLst>
          </p:cNvPr>
          <p:cNvSpPr>
            <a:spLocks noGrp="1"/>
          </p:cNvSpPr>
          <p:nvPr>
            <p:ph type="body" idx="1"/>
          </p:nvPr>
        </p:nvSpPr>
        <p:spPr/>
        <p:txBody>
          <a:bodyPr/>
          <a:lstStyle/>
          <a:p>
            <a:r>
              <a:rPr lang="en-US" dirty="0"/>
              <a:t>1. Imagine working on a medical system that requires “New users to get a diabetic screening”. For someone who has never worked with diabetics, it might be challenging to understand what diabetic screening means. Does this involve a simple form or are we meant to send a screening kit to the person’s home?</a:t>
            </a:r>
            <a:br>
              <a:rPr lang="en-US" dirty="0"/>
            </a:br>
            <a:br>
              <a:rPr lang="en-US" dirty="0"/>
            </a:br>
            <a:r>
              <a:rPr lang="en-US" dirty="0"/>
              <a:t>2. Imagine you are asked to build a system with a chatbot, would you know how long that would take without ever building one? So now you have to go online and find different resources on how chatbots are built.</a:t>
            </a:r>
          </a:p>
          <a:p>
            <a:endParaRPr lang="en-US" dirty="0"/>
          </a:p>
          <a:p>
            <a:r>
              <a:rPr lang="en-US" dirty="0"/>
              <a:t>An epic is a large body of work that cannot be completed in one agile iteration. Epics are made up of smaller stories.</a:t>
            </a:r>
          </a:p>
        </p:txBody>
      </p:sp>
      <p:sp>
        <p:nvSpPr>
          <p:cNvPr id="4" name="Slide Number Placeholder 3">
            <a:extLst>
              <a:ext uri="{FF2B5EF4-FFF2-40B4-BE49-F238E27FC236}">
                <a16:creationId xmlns:a16="http://schemas.microsoft.com/office/drawing/2014/main" id="{28BC5311-030E-271F-8A9E-965088E36A53}"/>
              </a:ext>
            </a:extLst>
          </p:cNvPr>
          <p:cNvSpPr>
            <a:spLocks noGrp="1"/>
          </p:cNvSpPr>
          <p:nvPr>
            <p:ph type="sldNum" sz="quarter" idx="5"/>
          </p:nvPr>
        </p:nvSpPr>
        <p:spPr/>
        <p:txBody>
          <a:bodyPr/>
          <a:lstStyle/>
          <a:p>
            <a:fld id="{08D3BE28-FA99-46E5-B1DE-BE9D6FCBD9C4}" type="slidenum">
              <a:rPr lang="en-US" smtClean="0"/>
              <a:t>26</a:t>
            </a:fld>
            <a:endParaRPr lang="en-US"/>
          </a:p>
        </p:txBody>
      </p:sp>
    </p:spTree>
    <p:extLst>
      <p:ext uri="{BB962C8B-B14F-4D97-AF65-F5344CB8AC3E}">
        <p14:creationId xmlns:p14="http://schemas.microsoft.com/office/powerpoint/2010/main" val="30605226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20064C-F5FB-36FB-515E-DAC3535DD1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88EDFD-7796-19DF-6BBC-15CB1377D8A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AD0E372-EBBB-F12C-7FA0-CF638E751C02}"/>
              </a:ext>
            </a:extLst>
          </p:cNvPr>
          <p:cNvSpPr>
            <a:spLocks noGrp="1"/>
          </p:cNvSpPr>
          <p:nvPr>
            <p:ph type="body" idx="1"/>
          </p:nvPr>
        </p:nvSpPr>
        <p:spPr/>
        <p:txBody>
          <a:bodyPr/>
          <a:lstStyle/>
          <a:p>
            <a:r>
              <a:rPr lang="en-US" dirty="0"/>
              <a:t>If you are training a model, there are certain constraints that will be placed on the team and how fast it can go since models take time to build.</a:t>
            </a:r>
          </a:p>
        </p:txBody>
      </p:sp>
      <p:sp>
        <p:nvSpPr>
          <p:cNvPr id="4" name="Slide Number Placeholder 3">
            <a:extLst>
              <a:ext uri="{FF2B5EF4-FFF2-40B4-BE49-F238E27FC236}">
                <a16:creationId xmlns:a16="http://schemas.microsoft.com/office/drawing/2014/main" id="{ADE2FE6C-B116-08A6-BD9B-F333370C697B}"/>
              </a:ext>
            </a:extLst>
          </p:cNvPr>
          <p:cNvSpPr>
            <a:spLocks noGrp="1"/>
          </p:cNvSpPr>
          <p:nvPr>
            <p:ph type="sldNum" sz="quarter" idx="5"/>
          </p:nvPr>
        </p:nvSpPr>
        <p:spPr/>
        <p:txBody>
          <a:bodyPr/>
          <a:lstStyle/>
          <a:p>
            <a:fld id="{08D3BE28-FA99-46E5-B1DE-BE9D6FCBD9C4}" type="slidenum">
              <a:rPr lang="en-US" smtClean="0"/>
              <a:t>27</a:t>
            </a:fld>
            <a:endParaRPr lang="en-US"/>
          </a:p>
        </p:txBody>
      </p:sp>
    </p:spTree>
    <p:extLst>
      <p:ext uri="{BB962C8B-B14F-4D97-AF65-F5344CB8AC3E}">
        <p14:creationId xmlns:p14="http://schemas.microsoft.com/office/powerpoint/2010/main" val="1253758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AEAE73-0F05-0D83-A72F-FBAFFB2F57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C108FB-157A-7CAC-4AEA-1CB9B8BDE6E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82E85E7-0B77-766F-8E4B-E00467E4C7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5542432-1260-9592-F7A9-E36CB360B467}"/>
              </a:ext>
            </a:extLst>
          </p:cNvPr>
          <p:cNvSpPr>
            <a:spLocks noGrp="1"/>
          </p:cNvSpPr>
          <p:nvPr>
            <p:ph type="sldNum" sz="quarter" idx="5"/>
          </p:nvPr>
        </p:nvSpPr>
        <p:spPr/>
        <p:txBody>
          <a:bodyPr/>
          <a:lstStyle/>
          <a:p>
            <a:fld id="{08D3BE28-FA99-46E5-B1DE-BE9D6FCBD9C4}" type="slidenum">
              <a:rPr lang="en-US" smtClean="0"/>
              <a:t>28</a:t>
            </a:fld>
            <a:endParaRPr lang="en-US"/>
          </a:p>
        </p:txBody>
      </p:sp>
    </p:spTree>
    <p:extLst>
      <p:ext uri="{BB962C8B-B14F-4D97-AF65-F5344CB8AC3E}">
        <p14:creationId xmlns:p14="http://schemas.microsoft.com/office/powerpoint/2010/main" val="32404069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F584B0-77AA-1940-DDD4-2236166A0D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228029-06C0-373E-F697-6142464662A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6DD551B-7C2E-5121-DA41-D7FBE2AF3F6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49D2D11-BAAA-809D-07BC-730E4BCE99DF}"/>
              </a:ext>
            </a:extLst>
          </p:cNvPr>
          <p:cNvSpPr>
            <a:spLocks noGrp="1"/>
          </p:cNvSpPr>
          <p:nvPr>
            <p:ph type="sldNum" sz="quarter" idx="5"/>
          </p:nvPr>
        </p:nvSpPr>
        <p:spPr/>
        <p:txBody>
          <a:bodyPr/>
          <a:lstStyle/>
          <a:p>
            <a:fld id="{08D3BE28-FA99-46E5-B1DE-BE9D6FCBD9C4}" type="slidenum">
              <a:rPr lang="en-US" smtClean="0"/>
              <a:t>29</a:t>
            </a:fld>
            <a:endParaRPr lang="en-US"/>
          </a:p>
        </p:txBody>
      </p:sp>
    </p:spTree>
    <p:extLst>
      <p:ext uri="{BB962C8B-B14F-4D97-AF65-F5344CB8AC3E}">
        <p14:creationId xmlns:p14="http://schemas.microsoft.com/office/powerpoint/2010/main" val="27215959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C02F8-BBBE-AB22-5890-76F362781B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585988-C61D-0E65-31BA-D1ED852A5C8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94D65BA-F746-F7DF-F973-F53DC8A03BD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88897A8-9117-E5F4-0C58-1F59E7D2097E}"/>
              </a:ext>
            </a:extLst>
          </p:cNvPr>
          <p:cNvSpPr>
            <a:spLocks noGrp="1"/>
          </p:cNvSpPr>
          <p:nvPr>
            <p:ph type="sldNum" sz="quarter" idx="5"/>
          </p:nvPr>
        </p:nvSpPr>
        <p:spPr/>
        <p:txBody>
          <a:bodyPr/>
          <a:lstStyle/>
          <a:p>
            <a:fld id="{08D3BE28-FA99-46E5-B1DE-BE9D6FCBD9C4}" type="slidenum">
              <a:rPr lang="en-US" smtClean="0"/>
              <a:t>30</a:t>
            </a:fld>
            <a:endParaRPr lang="en-US"/>
          </a:p>
        </p:txBody>
      </p:sp>
    </p:spTree>
    <p:extLst>
      <p:ext uri="{BB962C8B-B14F-4D97-AF65-F5344CB8AC3E}">
        <p14:creationId xmlns:p14="http://schemas.microsoft.com/office/powerpoint/2010/main" val="11527714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FEDEA-2FFD-968C-F341-0C6B87F4E6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57F086-064A-E61F-142A-1D3024FFC13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DAD2C63-6061-A799-10AF-F2EAB48C8F7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4E2C37-86E8-34E6-1FFA-90B28E1A4829}"/>
              </a:ext>
            </a:extLst>
          </p:cNvPr>
          <p:cNvSpPr>
            <a:spLocks noGrp="1"/>
          </p:cNvSpPr>
          <p:nvPr>
            <p:ph type="sldNum" sz="quarter" idx="5"/>
          </p:nvPr>
        </p:nvSpPr>
        <p:spPr/>
        <p:txBody>
          <a:bodyPr/>
          <a:lstStyle/>
          <a:p>
            <a:fld id="{08D3BE28-FA99-46E5-B1DE-BE9D6FCBD9C4}" type="slidenum">
              <a:rPr lang="en-US" smtClean="0"/>
              <a:t>31</a:t>
            </a:fld>
            <a:endParaRPr lang="en-US"/>
          </a:p>
        </p:txBody>
      </p:sp>
    </p:spTree>
    <p:extLst>
      <p:ext uri="{BB962C8B-B14F-4D97-AF65-F5344CB8AC3E}">
        <p14:creationId xmlns:p14="http://schemas.microsoft.com/office/powerpoint/2010/main" val="39058206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125CD-675A-4FEC-EA5D-D8AFCA25E7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5D02D2-9C8F-D6AF-B062-EBFB68E260F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057D55D-5DC9-F7A0-7271-5F53DB5F117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C1BD3F5-910A-9BEA-0ABF-09D12C08441A}"/>
              </a:ext>
            </a:extLst>
          </p:cNvPr>
          <p:cNvSpPr>
            <a:spLocks noGrp="1"/>
          </p:cNvSpPr>
          <p:nvPr>
            <p:ph type="sldNum" sz="quarter" idx="5"/>
          </p:nvPr>
        </p:nvSpPr>
        <p:spPr/>
        <p:txBody>
          <a:bodyPr/>
          <a:lstStyle/>
          <a:p>
            <a:fld id="{08D3BE28-FA99-46E5-B1DE-BE9D6FCBD9C4}" type="slidenum">
              <a:rPr lang="en-US" smtClean="0"/>
              <a:t>32</a:t>
            </a:fld>
            <a:endParaRPr lang="en-US"/>
          </a:p>
        </p:txBody>
      </p:sp>
    </p:spTree>
    <p:extLst>
      <p:ext uri="{BB962C8B-B14F-4D97-AF65-F5344CB8AC3E}">
        <p14:creationId xmlns:p14="http://schemas.microsoft.com/office/powerpoint/2010/main" val="32471946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2A1862-B95D-AD5E-0129-EB49F3D3D0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68782E-4A23-26EF-A555-3463F89ABBB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A4757C0-42AD-C71C-448B-25346E354EA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EC7112D-8496-F7E8-EFE8-2715CA95FF4E}"/>
              </a:ext>
            </a:extLst>
          </p:cNvPr>
          <p:cNvSpPr>
            <a:spLocks noGrp="1"/>
          </p:cNvSpPr>
          <p:nvPr>
            <p:ph type="sldNum" sz="quarter" idx="5"/>
          </p:nvPr>
        </p:nvSpPr>
        <p:spPr/>
        <p:txBody>
          <a:bodyPr/>
          <a:lstStyle/>
          <a:p>
            <a:fld id="{08D3BE28-FA99-46E5-B1DE-BE9D6FCBD9C4}" type="slidenum">
              <a:rPr lang="en-US" smtClean="0"/>
              <a:t>33</a:t>
            </a:fld>
            <a:endParaRPr lang="en-US"/>
          </a:p>
        </p:txBody>
      </p:sp>
    </p:spTree>
    <p:extLst>
      <p:ext uri="{BB962C8B-B14F-4D97-AF65-F5344CB8AC3E}">
        <p14:creationId xmlns:p14="http://schemas.microsoft.com/office/powerpoint/2010/main" val="29829825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27FB18-3DC8-A421-C44F-3CAFE5BA3F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25F37A-7992-9ABF-DBBC-ECE9149CEF7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36C3F8A-8CFD-95E1-D3BF-B075DC985D4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07315B9-6D7E-70A7-9E58-AD2BC6BC7C47}"/>
              </a:ext>
            </a:extLst>
          </p:cNvPr>
          <p:cNvSpPr>
            <a:spLocks noGrp="1"/>
          </p:cNvSpPr>
          <p:nvPr>
            <p:ph type="sldNum" sz="quarter" idx="5"/>
          </p:nvPr>
        </p:nvSpPr>
        <p:spPr/>
        <p:txBody>
          <a:bodyPr/>
          <a:lstStyle/>
          <a:p>
            <a:fld id="{08D3BE28-FA99-46E5-B1DE-BE9D6FCBD9C4}" type="slidenum">
              <a:rPr lang="en-US" smtClean="0"/>
              <a:t>34</a:t>
            </a:fld>
            <a:endParaRPr lang="en-US"/>
          </a:p>
        </p:txBody>
      </p:sp>
    </p:spTree>
    <p:extLst>
      <p:ext uri="{BB962C8B-B14F-4D97-AF65-F5344CB8AC3E}">
        <p14:creationId xmlns:p14="http://schemas.microsoft.com/office/powerpoint/2010/main" val="24941821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BB499-8072-3C7A-B944-CD65BF6353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FAC51B-1710-9513-E719-68072A98F5A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4FABD06-37A1-6C4F-F960-CD24EAE94AC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7974419-34C4-433A-DC81-99D7BB4D10B1}"/>
              </a:ext>
            </a:extLst>
          </p:cNvPr>
          <p:cNvSpPr>
            <a:spLocks noGrp="1"/>
          </p:cNvSpPr>
          <p:nvPr>
            <p:ph type="sldNum" sz="quarter" idx="5"/>
          </p:nvPr>
        </p:nvSpPr>
        <p:spPr/>
        <p:txBody>
          <a:bodyPr/>
          <a:lstStyle/>
          <a:p>
            <a:fld id="{08D3BE28-FA99-46E5-B1DE-BE9D6FCBD9C4}" type="slidenum">
              <a:rPr lang="en-US" smtClean="0"/>
              <a:t>35</a:t>
            </a:fld>
            <a:endParaRPr lang="en-US"/>
          </a:p>
        </p:txBody>
      </p:sp>
    </p:spTree>
    <p:extLst>
      <p:ext uri="{BB962C8B-B14F-4D97-AF65-F5344CB8AC3E}">
        <p14:creationId xmlns:p14="http://schemas.microsoft.com/office/powerpoint/2010/main" val="38650999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9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9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9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owasp.org/www-project-product-security-guide/"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docs.google.com/document/d/1X4Nmg5mM4VglBoPoMuJA3xC1WZjo2hUwb40CN6GwdaQ/edit?usp=sharing"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visual-paradigm.com/guide/uml-unified-modeling-language/what-is-uml/"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hyperlink" Target="https://www.productplan.com/learn/strategies-prioritize-product-features"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hyperlink" Target="https://www.geeksforgeeks.org/system-design/use-case-diagram/" TargetMode="External"/><Relationship Id="rId2" Type="http://schemas.openxmlformats.org/officeDocument/2006/relationships/hyperlink" Target="https://owasp.org/www-project-product-security-guide/" TargetMode="External"/><Relationship Id="rId1" Type="http://schemas.openxmlformats.org/officeDocument/2006/relationships/slideLayout" Target="../slideLayouts/slideLayout2.xml"/><Relationship Id="rId5" Type="http://schemas.openxmlformats.org/officeDocument/2006/relationships/hyperlink" Target="https://scrum-master.org/en/creating-the-perfect-user-story-with-invest-criteria/" TargetMode="External"/><Relationship Id="rId4" Type="http://schemas.openxmlformats.org/officeDocument/2006/relationships/hyperlink" Target="https://www.atlassian.com/agile/project-management/user-stories" TargetMode="External"/></Relationships>
</file>

<file path=ppt/slides/_rels/slide63.xml.rels><?xml version="1.0" encoding="UTF-8" standalone="yes"?>
<Relationships xmlns="http://schemas.openxmlformats.org/package/2006/relationships"><Relationship Id="rId3" Type="http://schemas.openxmlformats.org/officeDocument/2006/relationships/hyperlink" Target="https://www.productplan.com/glossary/kano-model" TargetMode="External"/><Relationship Id="rId2" Type="http://schemas.openxmlformats.org/officeDocument/2006/relationships/hyperlink" Target="https://guides.visual-paradigm.com/give-when-then-acceptance-criteria-for-user-stories-in-agile-development/" TargetMode="External"/><Relationship Id="rId1" Type="http://schemas.openxmlformats.org/officeDocument/2006/relationships/slideLayout" Target="../slideLayouts/slideLayout2.xml"/><Relationship Id="rId4" Type="http://schemas.openxmlformats.org/officeDocument/2006/relationships/hyperlink" Target="https://www.canva.com/online-whiteboard/data-flow-diagram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2130425"/>
            <a:ext cx="9144635" cy="1470025"/>
          </a:xfrm>
          <a:solidFill>
            <a:schemeClr val="tx1"/>
          </a:solidFill>
        </p:spPr>
        <p:txBody>
          <a:bodyPr/>
          <a:lstStyle/>
          <a:p>
            <a:r>
              <a:rPr lang="en-US">
                <a:solidFill>
                  <a:srgbClr val="FFFF00"/>
                </a:solidFill>
                <a:latin typeface="Times New Roman Regular" panose="02020603050405020304" charset="0"/>
                <a:cs typeface="Times New Roman Regular" panose="02020603050405020304" charset="0"/>
              </a:rPr>
              <a:t>REQUIREMENT ENGINEERING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025140"/>
            <a:ext cx="9144000" cy="1622425"/>
          </a:xfrm>
          <a:solidFill>
            <a:schemeClr val="tx1"/>
          </a:solidFill>
        </p:spPr>
        <p:txBody>
          <a:bodyPr>
            <a:normAutofit/>
          </a:bodyPr>
          <a:lstStyle/>
          <a:p>
            <a:pPr algn="ctr"/>
            <a:r>
              <a:rPr lang="en-US" b="1" dirty="0">
                <a:solidFill>
                  <a:srgbClr val="FFFF00"/>
                </a:solidFill>
              </a:rPr>
              <a:t>Lesson 5: Requirement Analysis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1"/>
          </a:solidFill>
        </p:spPr>
        <p:txBody>
          <a:bodyPr/>
          <a:lstStyle/>
          <a:p>
            <a:r>
              <a:rPr lang="en-US" dirty="0">
                <a:solidFill>
                  <a:srgbClr val="FFFF00"/>
                </a:solidFill>
                <a:latin typeface="Times New Roman Regular" panose="02020603050405020304" charset="0"/>
                <a:cs typeface="Times New Roman Regular" panose="02020603050405020304" charset="0"/>
              </a:rPr>
              <a:t>Previously…</a:t>
            </a:r>
          </a:p>
        </p:txBody>
      </p:sp>
      <p:sp>
        <p:nvSpPr>
          <p:cNvPr id="3" name="Content Placeholder 2"/>
          <p:cNvSpPr>
            <a:spLocks noGrp="1"/>
          </p:cNvSpPr>
          <p:nvPr>
            <p:ph idx="1"/>
          </p:nvPr>
        </p:nvSpPr>
        <p:spPr>
          <a:xfrm>
            <a:off x="457200" y="1600200"/>
            <a:ext cx="8229600" cy="3940175"/>
          </a:xfrm>
        </p:spPr>
        <p:txBody>
          <a:bodyPr/>
          <a:lstStyle/>
          <a:p>
            <a:pPr algn="just"/>
            <a:r>
              <a:rPr lang="en-US" altLang="en-US" sz="2800" dirty="0">
                <a:latin typeface="Times New Roman Regular" panose="02020603050405020304" charset="0"/>
                <a:cs typeface="Times New Roman Regular" panose="02020603050405020304" charset="0"/>
              </a:rPr>
              <a:t>Introduction to Requirement Elicitation</a:t>
            </a:r>
          </a:p>
          <a:p>
            <a:pPr algn="just"/>
            <a:r>
              <a:rPr lang="en-US" altLang="en-US" sz="2800" dirty="0">
                <a:latin typeface="Times New Roman Regular" panose="02020603050405020304" charset="0"/>
                <a:cs typeface="Times New Roman Regular" panose="02020603050405020304" charset="0"/>
              </a:rPr>
              <a:t>Importance of Requirement Elicitation</a:t>
            </a:r>
          </a:p>
          <a:p>
            <a:pPr algn="just"/>
            <a:r>
              <a:rPr lang="en-US" altLang="en-US" sz="2800" dirty="0">
                <a:latin typeface="Times New Roman Regular" panose="02020603050405020304" charset="0"/>
                <a:cs typeface="Times New Roman Regular" panose="02020603050405020304" charset="0"/>
              </a:rPr>
              <a:t>Stakeholders and Sources of Requirements</a:t>
            </a:r>
          </a:p>
          <a:p>
            <a:pPr algn="just"/>
            <a:r>
              <a:rPr lang="en-US" altLang="en-US" sz="2800" dirty="0">
                <a:latin typeface="Times New Roman Regular" panose="02020603050405020304" charset="0"/>
                <a:cs typeface="Times New Roman Regular" panose="02020603050405020304" charset="0"/>
              </a:rPr>
              <a:t>Techniques for Requirement Elicitation</a:t>
            </a:r>
          </a:p>
          <a:p>
            <a:pPr algn="just"/>
            <a:r>
              <a:rPr lang="en-US" altLang="en-US" sz="2800" dirty="0">
                <a:latin typeface="Times New Roman Regular" panose="02020603050405020304" charset="0"/>
                <a:cs typeface="Times New Roman Regular" panose="02020603050405020304" charset="0"/>
              </a:rPr>
              <a:t>Challenges in Requirement Elicitation</a:t>
            </a:r>
          </a:p>
          <a:p>
            <a:pPr algn="just"/>
            <a:r>
              <a:rPr lang="en-US" altLang="en-US" sz="2800" dirty="0">
                <a:latin typeface="Times New Roman Regular" panose="02020603050405020304" charset="0"/>
                <a:cs typeface="Times New Roman Regular" panose="02020603050405020304" charset="0"/>
              </a:rPr>
              <a:t>Best Practices for Effective Requirement Elicitation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76AEA-A3A0-7B25-30CB-B4C7606607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613CA0-C4D0-70C7-1A3D-21FCD1A4E87E}"/>
              </a:ext>
            </a:extLst>
          </p:cNvPr>
          <p:cNvSpPr>
            <a:spLocks noGrp="1"/>
          </p:cNvSpPr>
          <p:nvPr>
            <p:ph type="title"/>
          </p:nvPr>
        </p:nvSpPr>
        <p:spPr>
          <a:solidFill>
            <a:schemeClr val="tx1"/>
          </a:solidFill>
        </p:spPr>
        <p:txBody>
          <a:bodyPr/>
          <a:lstStyle/>
          <a:p>
            <a:r>
              <a:rPr lang="en-US">
                <a:solidFill>
                  <a:srgbClr val="FFFF00"/>
                </a:solidFill>
                <a:latin typeface="Times New Roman Regular" panose="02020603050405020304" charset="0"/>
                <a:cs typeface="Times New Roman Regular" panose="02020603050405020304" charset="0"/>
              </a:rPr>
              <a:t>Chapter Outlines </a:t>
            </a:r>
          </a:p>
        </p:txBody>
      </p:sp>
      <p:sp>
        <p:nvSpPr>
          <p:cNvPr id="3" name="Content Placeholder 2">
            <a:extLst>
              <a:ext uri="{FF2B5EF4-FFF2-40B4-BE49-F238E27FC236}">
                <a16:creationId xmlns:a16="http://schemas.microsoft.com/office/drawing/2014/main" id="{5FB6C0E9-96B6-2B49-CD7F-2BC1B4407625}"/>
              </a:ext>
            </a:extLst>
          </p:cNvPr>
          <p:cNvSpPr>
            <a:spLocks noGrp="1"/>
          </p:cNvSpPr>
          <p:nvPr>
            <p:ph idx="1"/>
          </p:nvPr>
        </p:nvSpPr>
        <p:spPr>
          <a:xfrm>
            <a:off x="457200" y="1600200"/>
            <a:ext cx="8229600" cy="3940175"/>
          </a:xfrm>
        </p:spPr>
        <p:txBody>
          <a:bodyPr>
            <a:normAutofit fontScale="92500"/>
          </a:bodyPr>
          <a:lstStyle/>
          <a:p>
            <a:pPr algn="just"/>
            <a:r>
              <a:rPr sz="2800" dirty="0">
                <a:latin typeface="Times New Roman Regular" panose="02020603050405020304" charset="0"/>
                <a:cs typeface="Times New Roman Regular" panose="02020603050405020304" charset="0"/>
              </a:rPr>
              <a:t>Introduction to Requirement Analysis</a:t>
            </a:r>
            <a:endParaRPr lang="en-US" sz="2800" dirty="0">
              <a:latin typeface="Times New Roman Regular" panose="02020603050405020304" charset="0"/>
              <a:cs typeface="Times New Roman Regular" panose="02020603050405020304" charset="0"/>
            </a:endParaRPr>
          </a:p>
          <a:p>
            <a:pPr algn="just"/>
            <a:r>
              <a:rPr lang="en-US" sz="2800" dirty="0">
                <a:latin typeface="Times New Roman Regular" panose="02020603050405020304" charset="0"/>
                <a:cs typeface="Times New Roman Regular" panose="02020603050405020304" charset="0"/>
              </a:rPr>
              <a:t>Structuring Requirements (Use Cases and User Stories)</a:t>
            </a:r>
            <a:endParaRPr sz="2800" dirty="0">
              <a:latin typeface="Times New Roman Regular" panose="02020603050405020304" charset="0"/>
              <a:cs typeface="Times New Roman Regular" panose="02020603050405020304" charset="0"/>
            </a:endParaRPr>
          </a:p>
          <a:p>
            <a:pPr algn="just"/>
            <a:r>
              <a:rPr sz="2800" dirty="0">
                <a:latin typeface="Times New Roman Regular" panose="02020603050405020304" charset="0"/>
                <a:cs typeface="Times New Roman Regular" panose="02020603050405020304" charset="0"/>
              </a:rPr>
              <a:t>Requirement Prioritization</a:t>
            </a:r>
          </a:p>
          <a:p>
            <a:pPr algn="just"/>
            <a:r>
              <a:rPr sz="2800" dirty="0">
                <a:latin typeface="Times New Roman Regular" panose="02020603050405020304" charset="0"/>
                <a:cs typeface="Times New Roman Regular" panose="02020603050405020304" charset="0"/>
              </a:rPr>
              <a:t>Conflict Resolution in Requirements</a:t>
            </a:r>
          </a:p>
          <a:p>
            <a:pPr algn="just"/>
            <a:r>
              <a:rPr sz="2800" dirty="0">
                <a:latin typeface="Times New Roman Regular" panose="02020603050405020304" charset="0"/>
                <a:cs typeface="Times New Roman Regular" panose="02020603050405020304" charset="0"/>
              </a:rPr>
              <a:t>Requirement Modeling</a:t>
            </a:r>
          </a:p>
          <a:p>
            <a:pPr algn="just"/>
            <a:r>
              <a:rPr sz="2800" dirty="0">
                <a:latin typeface="Times New Roman Regular" panose="02020603050405020304" charset="0"/>
                <a:cs typeface="Times New Roman Regular" panose="02020603050405020304" charset="0"/>
              </a:rPr>
              <a:t>Quality Attributes of Good Requirements</a:t>
            </a:r>
          </a:p>
          <a:p>
            <a:pPr algn="just"/>
            <a:r>
              <a:rPr sz="2800" dirty="0">
                <a:latin typeface="Times New Roman Regular" panose="02020603050405020304" charset="0"/>
                <a:cs typeface="Times New Roman Regular" panose="02020603050405020304" charset="0"/>
              </a:rPr>
              <a:t>PIECES Framework for Requirement Analysis</a:t>
            </a:r>
          </a:p>
          <a:p>
            <a:pPr algn="just"/>
            <a:r>
              <a:rPr sz="2800" dirty="0">
                <a:latin typeface="Times New Roman Regular" panose="02020603050405020304" charset="0"/>
                <a:cs typeface="Times New Roman Regular" panose="02020603050405020304" charset="0"/>
              </a:rPr>
              <a:t>Tools for Requirement Analysis</a:t>
            </a:r>
          </a:p>
          <a:p>
            <a:pPr algn="just"/>
            <a:endParaRPr sz="2800" dirty="0">
              <a:latin typeface="Times New Roman Regular" panose="02020603050405020304" charset="0"/>
              <a:cs typeface="Times New Roman Regular" panose="02020603050405020304" charset="0"/>
            </a:endParaRPr>
          </a:p>
        </p:txBody>
      </p:sp>
    </p:spTree>
    <p:extLst>
      <p:ext uri="{BB962C8B-B14F-4D97-AF65-F5344CB8AC3E}">
        <p14:creationId xmlns:p14="http://schemas.microsoft.com/office/powerpoint/2010/main" val="4106200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1"/>
          </a:solidFill>
        </p:spPr>
        <p:txBody>
          <a:bodyPr>
            <a:normAutofit/>
          </a:bodyPr>
          <a:lstStyle/>
          <a:p>
            <a:r>
              <a:rPr lang="en-US" dirty="0">
                <a:solidFill>
                  <a:srgbClr val="FFFF00"/>
                </a:solidFill>
                <a:latin typeface="Times New Roman Regular" panose="02020603050405020304" charset="0"/>
                <a:cs typeface="Times New Roman Regular" panose="02020603050405020304" charset="0"/>
              </a:rPr>
              <a:t>Where We Are Now</a:t>
            </a:r>
          </a:p>
        </p:txBody>
      </p:sp>
      <p:sp>
        <p:nvSpPr>
          <p:cNvPr id="3" name="Content Placeholder 2"/>
          <p:cNvSpPr>
            <a:spLocks noGrp="1"/>
          </p:cNvSpPr>
          <p:nvPr>
            <p:ph idx="1"/>
          </p:nvPr>
        </p:nvSpPr>
        <p:spPr>
          <a:xfrm>
            <a:off x="457200" y="1600200"/>
            <a:ext cx="8467344" cy="4782312"/>
          </a:xfrm>
        </p:spPr>
        <p:txBody>
          <a:bodyPr>
            <a:normAutofit lnSpcReduction="10000"/>
          </a:bodyPr>
          <a:lstStyle/>
          <a:p>
            <a:pPr marL="0" indent="0" algn="just">
              <a:buNone/>
            </a:pPr>
            <a:r>
              <a:rPr lang="en-US" sz="2800" strike="sngStrike" dirty="0">
                <a:solidFill>
                  <a:schemeClr val="tx1">
                    <a:lumMod val="50000"/>
                    <a:lumOff val="50000"/>
                  </a:schemeClr>
                </a:solidFill>
                <a:latin typeface="Times New Roman Regular" panose="02020603050405020304" charset="0"/>
                <a:cs typeface="Times New Roman Regular" panose="02020603050405020304" charset="0"/>
              </a:rPr>
              <a:t>Requirement Elicitation</a:t>
            </a:r>
            <a:r>
              <a:rPr lang="en-US" sz="2800" dirty="0">
                <a:solidFill>
                  <a:schemeClr val="tx1">
                    <a:lumMod val="50000"/>
                    <a:lumOff val="50000"/>
                  </a:schemeClr>
                </a:solidFill>
                <a:latin typeface="Times New Roman Regular" panose="02020603050405020304" charset="0"/>
                <a:cs typeface="Times New Roman Regular" panose="02020603050405020304" charset="0"/>
              </a:rPr>
              <a:t> </a:t>
            </a:r>
            <a:r>
              <a:rPr lang="en-US" sz="2800" dirty="0">
                <a:latin typeface="Times New Roman Regular" panose="02020603050405020304" charset="0"/>
                <a:cs typeface="Times New Roman Regular" panose="02020603050405020304" charset="0"/>
              </a:rPr>
              <a:t>✅</a:t>
            </a:r>
          </a:p>
          <a:p>
            <a:pPr marL="0" indent="0" algn="just">
              <a:buNone/>
            </a:pPr>
            <a:r>
              <a:rPr lang="en-US" dirty="0"/>
              <a:t>"</a:t>
            </a:r>
            <a:r>
              <a:rPr lang="en-US" i="1" dirty="0"/>
              <a:t>Users need to upload a profile pic. It should look super crisp on modern phones and high-res monitors. Make sure the file size is tiny so our app doesn't slow down. Also, users want to edit or crop them right in the app. Let's make it look like Instagram's setup. Oh, and legal says we need to make sure users aren't uploading anything inappropriate, so auto-moderate that, but do it instantly so they aren't waiting.</a:t>
            </a:r>
            <a:r>
              <a:rPr lang="en-US" dirty="0"/>
              <a:t>"</a:t>
            </a:r>
            <a:r>
              <a:rPr lang="en-US" sz="2800" dirty="0"/>
              <a:t> [</a:t>
            </a:r>
            <a:r>
              <a:rPr lang="en-US" sz="2800" dirty="0">
                <a:hlinkClick r:id="rId2"/>
              </a:rPr>
              <a:t>1</a:t>
            </a:r>
            <a:r>
              <a:rPr lang="en-US" sz="2800" dirty="0"/>
              <a:t>]</a:t>
            </a:r>
            <a:endParaRPr sz="2800" dirty="0">
              <a:latin typeface="Times New Roman Regular" panose="02020603050405020304" charset="0"/>
              <a:cs typeface="Times New Roman Regular" panose="020206030504050203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9BED5-CCBF-8F2D-676B-6BAC53A5AA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B594D0-2CAA-0BC1-E652-EB206000AE6B}"/>
              </a:ext>
            </a:extLst>
          </p:cNvPr>
          <p:cNvSpPr>
            <a:spLocks noGrp="1"/>
          </p:cNvSpPr>
          <p:nvPr>
            <p:ph type="title"/>
          </p:nvPr>
        </p:nvSpPr>
        <p:spPr>
          <a:solidFill>
            <a:schemeClr val="tx1"/>
          </a:solidFill>
        </p:spPr>
        <p:txBody>
          <a:bodyPr>
            <a:normAutofit fontScale="90000"/>
          </a:bodyPr>
          <a:lstStyle/>
          <a:p>
            <a:r>
              <a:rPr lang="en-US" dirty="0">
                <a:solidFill>
                  <a:srgbClr val="FFFF00"/>
                </a:solidFill>
                <a:latin typeface="Times New Roman Regular" panose="02020603050405020304" charset="0"/>
                <a:cs typeface="Times New Roman Regular" panose="02020603050405020304" charset="0"/>
              </a:rPr>
              <a:t>What’s Wrong with Raw Requirements?</a:t>
            </a:r>
          </a:p>
        </p:txBody>
      </p:sp>
      <p:sp>
        <p:nvSpPr>
          <p:cNvPr id="3" name="Content Placeholder 2">
            <a:extLst>
              <a:ext uri="{FF2B5EF4-FFF2-40B4-BE49-F238E27FC236}">
                <a16:creationId xmlns:a16="http://schemas.microsoft.com/office/drawing/2014/main" id="{0B1BA2AC-0D58-7C43-8ECA-F635A560A6B3}"/>
              </a:ext>
            </a:extLst>
          </p:cNvPr>
          <p:cNvSpPr>
            <a:spLocks noGrp="1"/>
          </p:cNvSpPr>
          <p:nvPr>
            <p:ph idx="1"/>
          </p:nvPr>
        </p:nvSpPr>
        <p:spPr>
          <a:xfrm>
            <a:off x="457200" y="1600200"/>
            <a:ext cx="8467344" cy="4782312"/>
          </a:xfrm>
        </p:spPr>
        <p:txBody>
          <a:bodyPr>
            <a:normAutofit/>
          </a:bodyPr>
          <a:lstStyle/>
          <a:p>
            <a:pPr algn="just"/>
            <a:r>
              <a:rPr lang="en-US" sz="2800" dirty="0">
                <a:latin typeface="Times New Roman Regular" panose="02020603050405020304" charset="0"/>
                <a:cs typeface="Times New Roman Regular" panose="02020603050405020304" charset="0"/>
              </a:rPr>
              <a:t>Conflicting Goals</a:t>
            </a:r>
          </a:p>
          <a:p>
            <a:pPr lvl="1" algn="just"/>
            <a:r>
              <a:rPr lang="en-US" sz="2400" dirty="0">
                <a:latin typeface="Times New Roman Regular" panose="02020603050405020304" charset="0"/>
                <a:cs typeface="Times New Roman Regular" panose="02020603050405020304" charset="0"/>
              </a:rPr>
              <a:t>Higher resolution vs Small file sizes</a:t>
            </a:r>
          </a:p>
          <a:p>
            <a:pPr algn="just"/>
            <a:r>
              <a:rPr lang="en-US" sz="2800" dirty="0">
                <a:latin typeface="Times New Roman Regular" panose="02020603050405020304" charset="0"/>
                <a:cs typeface="Times New Roman Regular" panose="02020603050405020304" charset="0"/>
              </a:rPr>
              <a:t>Scope creep</a:t>
            </a:r>
          </a:p>
          <a:p>
            <a:pPr lvl="1" algn="just"/>
            <a:r>
              <a:rPr lang="en-US" sz="2400" dirty="0">
                <a:latin typeface="Times New Roman Regular" panose="02020603050405020304" charset="0"/>
                <a:cs typeface="Times New Roman Regular" panose="02020603050405020304" charset="0"/>
              </a:rPr>
              <a:t>In-app photo editor could be a massive undertaking</a:t>
            </a:r>
          </a:p>
          <a:p>
            <a:pPr algn="just"/>
            <a:r>
              <a:rPr lang="en-US" sz="2800" dirty="0">
                <a:latin typeface="Times New Roman Regular" panose="02020603050405020304" charset="0"/>
                <a:cs typeface="Times New Roman Regular" panose="02020603050405020304" charset="0"/>
              </a:rPr>
              <a:t>Missing Constraints</a:t>
            </a:r>
          </a:p>
          <a:p>
            <a:pPr lvl="1" algn="just"/>
            <a:r>
              <a:rPr lang="en-US" sz="2400" dirty="0">
                <a:latin typeface="Times New Roman Regular" panose="02020603050405020304" charset="0"/>
                <a:cs typeface="Times New Roman Regular" panose="02020603050405020304" charset="0"/>
              </a:rPr>
              <a:t>What file types are allowed (jpeg, pdf, docx) and what file sizes are allowed?</a:t>
            </a:r>
          </a:p>
          <a:p>
            <a:pPr algn="just"/>
            <a:r>
              <a:rPr lang="en-US" sz="2800" dirty="0">
                <a:latin typeface="Times New Roman Regular" panose="02020603050405020304" charset="0"/>
                <a:cs typeface="Times New Roman Regular" panose="02020603050405020304" charset="0"/>
              </a:rPr>
              <a:t>Vague terms</a:t>
            </a:r>
          </a:p>
          <a:p>
            <a:pPr lvl="1" algn="just"/>
            <a:r>
              <a:rPr lang="en-US" sz="2400" dirty="0">
                <a:latin typeface="Times New Roman Regular" panose="02020603050405020304" charset="0"/>
                <a:cs typeface="Times New Roman Regular" panose="02020603050405020304" charset="0"/>
              </a:rPr>
              <a:t>What “inappropriate” mean exactly (secular vs sharia context)</a:t>
            </a:r>
            <a:endParaRPr sz="2400" dirty="0">
              <a:latin typeface="Times New Roman Regular" panose="02020603050405020304" charset="0"/>
              <a:cs typeface="Times New Roman Regular" panose="02020603050405020304" charset="0"/>
            </a:endParaRPr>
          </a:p>
        </p:txBody>
      </p:sp>
    </p:spTree>
    <p:extLst>
      <p:ext uri="{BB962C8B-B14F-4D97-AF65-F5344CB8AC3E}">
        <p14:creationId xmlns:p14="http://schemas.microsoft.com/office/powerpoint/2010/main" val="1359718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91AC29-79CB-D820-703D-404A104895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7B2EEA-1A78-8E4B-9653-A9806F844F27}"/>
              </a:ext>
            </a:extLst>
          </p:cNvPr>
          <p:cNvSpPr>
            <a:spLocks noGrp="1"/>
          </p:cNvSpPr>
          <p:nvPr>
            <p:ph type="title"/>
          </p:nvPr>
        </p:nvSpPr>
        <p:spPr>
          <a:xfrm>
            <a:off x="0" y="3025140"/>
            <a:ext cx="9144000" cy="1622425"/>
          </a:xfrm>
          <a:solidFill>
            <a:schemeClr val="tx1"/>
          </a:solidFill>
        </p:spPr>
        <p:txBody>
          <a:bodyPr>
            <a:normAutofit/>
          </a:bodyPr>
          <a:lstStyle/>
          <a:p>
            <a:pPr algn="ctr"/>
            <a:r>
              <a:rPr lang="en-US" dirty="0">
                <a:solidFill>
                  <a:srgbClr val="FFFF00"/>
                </a:solidFill>
                <a:latin typeface="Times New Roman" panose="02020603050405020304" pitchFamily="18" charset="0"/>
                <a:cs typeface="Times New Roman" panose="02020603050405020304" pitchFamily="18" charset="0"/>
              </a:rPr>
              <a:t>What is Requirements Analysis?</a:t>
            </a:r>
          </a:p>
        </p:txBody>
      </p:sp>
    </p:spTree>
    <p:extLst>
      <p:ext uri="{BB962C8B-B14F-4D97-AF65-F5344CB8AC3E}">
        <p14:creationId xmlns:p14="http://schemas.microsoft.com/office/powerpoint/2010/main" val="10680089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34AB77-A09B-1FEB-E655-BCC8D9D869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953B93-C3E3-3365-2698-1DE3835422A4}"/>
              </a:ext>
            </a:extLst>
          </p:cNvPr>
          <p:cNvSpPr>
            <a:spLocks noGrp="1"/>
          </p:cNvSpPr>
          <p:nvPr>
            <p:ph type="title"/>
          </p:nvPr>
        </p:nvSpPr>
        <p:spPr>
          <a:solidFill>
            <a:schemeClr val="tx1"/>
          </a:solidFill>
        </p:spPr>
        <p:txBody>
          <a:bodyPr>
            <a:normAutofit/>
          </a:bodyPr>
          <a:lstStyle/>
          <a:p>
            <a:r>
              <a:rPr lang="en-US" dirty="0">
                <a:solidFill>
                  <a:srgbClr val="FFFF00"/>
                </a:solidFill>
                <a:latin typeface="Times New Roman Regular" panose="02020603050405020304" charset="0"/>
                <a:cs typeface="Times New Roman Regular" panose="02020603050405020304" charset="0"/>
              </a:rPr>
              <a:t>What is Requirements Analysis</a:t>
            </a:r>
          </a:p>
        </p:txBody>
      </p:sp>
      <p:sp>
        <p:nvSpPr>
          <p:cNvPr id="3" name="Content Placeholder 2">
            <a:extLst>
              <a:ext uri="{FF2B5EF4-FFF2-40B4-BE49-F238E27FC236}">
                <a16:creationId xmlns:a16="http://schemas.microsoft.com/office/drawing/2014/main" id="{1425478F-0598-D6D0-6DB6-D2DD78E6F5AA}"/>
              </a:ext>
            </a:extLst>
          </p:cNvPr>
          <p:cNvSpPr>
            <a:spLocks noGrp="1"/>
          </p:cNvSpPr>
          <p:nvPr>
            <p:ph idx="1"/>
          </p:nvPr>
        </p:nvSpPr>
        <p:spPr>
          <a:xfrm>
            <a:off x="457200" y="1600200"/>
            <a:ext cx="8229600" cy="3940175"/>
          </a:xfrm>
        </p:spPr>
        <p:txBody>
          <a:bodyPr/>
          <a:lstStyle/>
          <a:p>
            <a:pPr algn="just"/>
            <a:r>
              <a:rPr sz="2800" dirty="0">
                <a:latin typeface="Times New Roman Regular" panose="02020603050405020304" charset="0"/>
                <a:cs typeface="Times New Roman Regular" panose="02020603050405020304" charset="0"/>
              </a:rPr>
              <a:t>Requirement Analysis is a crucial phase in the Requirements Engineering process where </a:t>
            </a:r>
            <a:r>
              <a:rPr sz="2800" b="1" dirty="0">
                <a:latin typeface="Times New Roman Bold" panose="02020603050405020304" charset="0"/>
                <a:cs typeface="Times New Roman Bold" panose="02020603050405020304" charset="0"/>
              </a:rPr>
              <a:t>the raw data collected from stakeholders is refined into precise, actionable requirements</a:t>
            </a:r>
            <a:r>
              <a:rPr sz="2800" dirty="0">
                <a:latin typeface="Times New Roman Regular" panose="02020603050405020304" charset="0"/>
                <a:cs typeface="Times New Roman Regular" panose="02020603050405020304" charset="0"/>
              </a:rPr>
              <a:t>. </a:t>
            </a:r>
          </a:p>
          <a:p>
            <a:pPr algn="just"/>
            <a:r>
              <a:rPr sz="2800" dirty="0">
                <a:latin typeface="Times New Roman Regular" panose="02020603050405020304" charset="0"/>
                <a:cs typeface="Times New Roman Regular" panose="02020603050405020304" charset="0"/>
              </a:rPr>
              <a:t>This step ensures that the requirements are </a:t>
            </a:r>
            <a:r>
              <a:rPr sz="2800" b="1" dirty="0">
                <a:latin typeface="Times New Roman Bold" panose="02020603050405020304" charset="0"/>
                <a:cs typeface="Times New Roman Bold" panose="02020603050405020304" charset="0"/>
              </a:rPr>
              <a:t>well-understood, unambiguous, and aligned with the stakeholders’ expectations, laying a solid foundation for the design and development phases</a:t>
            </a:r>
            <a:r>
              <a:rPr sz="2800" dirty="0">
                <a:latin typeface="Times New Roman Regular" panose="02020603050405020304" charset="0"/>
                <a:cs typeface="Times New Roman Regular" panose="02020603050405020304" charset="0"/>
              </a:rPr>
              <a:t>.</a:t>
            </a:r>
          </a:p>
        </p:txBody>
      </p:sp>
    </p:spTree>
    <p:extLst>
      <p:ext uri="{BB962C8B-B14F-4D97-AF65-F5344CB8AC3E}">
        <p14:creationId xmlns:p14="http://schemas.microsoft.com/office/powerpoint/2010/main" val="2691270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1"/>
          </a:solidFill>
        </p:spPr>
        <p:txBody>
          <a:bodyPr>
            <a:normAutofit/>
          </a:bodyPr>
          <a:lstStyle/>
          <a:p>
            <a:r>
              <a:rPr lang="en-US" dirty="0">
                <a:solidFill>
                  <a:srgbClr val="FFFF00"/>
                </a:solidFill>
                <a:latin typeface="Times New Roman Regular" panose="02020603050405020304" charset="0"/>
                <a:cs typeface="Times New Roman Regular" panose="02020603050405020304" charset="0"/>
              </a:rPr>
              <a:t>Why Requirements Analysis</a:t>
            </a:r>
          </a:p>
        </p:txBody>
      </p:sp>
      <p:sp>
        <p:nvSpPr>
          <p:cNvPr id="3" name="Content Placeholder 2"/>
          <p:cNvSpPr>
            <a:spLocks noGrp="1"/>
          </p:cNvSpPr>
          <p:nvPr>
            <p:ph idx="1"/>
          </p:nvPr>
        </p:nvSpPr>
        <p:spPr>
          <a:xfrm>
            <a:off x="457200" y="1600200"/>
            <a:ext cx="8229600" cy="4534535"/>
          </a:xfrm>
        </p:spPr>
        <p:txBody>
          <a:bodyPr>
            <a:normAutofit/>
          </a:bodyPr>
          <a:lstStyle/>
          <a:p>
            <a:pPr algn="just"/>
            <a:r>
              <a:rPr sz="2800" b="1" dirty="0">
                <a:latin typeface="Times New Roman Bold" panose="02020603050405020304" charset="0"/>
                <a:cs typeface="Times New Roman Bold" panose="02020603050405020304" charset="0"/>
              </a:rPr>
              <a:t>Key Objectives:</a:t>
            </a:r>
          </a:p>
          <a:p>
            <a:pPr lvl="1" algn="just">
              <a:buFont typeface="Wingdings" panose="05000000000000000000" charset="0"/>
              <a:buChar char=""/>
            </a:pPr>
            <a:r>
              <a:rPr sz="2800" dirty="0">
                <a:latin typeface="Times New Roman Regular" panose="02020603050405020304" charset="0"/>
                <a:cs typeface="Times New Roman Regular" panose="02020603050405020304" charset="0"/>
              </a:rPr>
              <a:t>Convert elicited data into structured requirements.</a:t>
            </a:r>
          </a:p>
          <a:p>
            <a:pPr lvl="1" algn="just">
              <a:buFont typeface="Wingdings" panose="05000000000000000000" charset="0"/>
              <a:buChar char=""/>
            </a:pPr>
            <a:r>
              <a:rPr sz="2800" dirty="0">
                <a:latin typeface="Times New Roman Regular" panose="02020603050405020304" charset="0"/>
                <a:cs typeface="Times New Roman Regular" panose="02020603050405020304" charset="0"/>
              </a:rPr>
              <a:t>Prioritize requirements based on value, cost, and feasibility.</a:t>
            </a:r>
          </a:p>
          <a:p>
            <a:pPr lvl="1" algn="just">
              <a:buFont typeface="Wingdings" panose="05000000000000000000" charset="0"/>
              <a:buChar char=""/>
            </a:pPr>
            <a:r>
              <a:rPr sz="2800" dirty="0">
                <a:latin typeface="Times New Roman Regular" panose="02020603050405020304" charset="0"/>
                <a:cs typeface="Times New Roman Regular" panose="02020603050405020304" charset="0"/>
              </a:rPr>
              <a:t>Resolve conflicts and ensure alignment among stakeholders.</a:t>
            </a:r>
          </a:p>
          <a:p>
            <a:pPr lvl="1" algn="just">
              <a:buFont typeface="Wingdings" panose="05000000000000000000" charset="0"/>
              <a:buChar char=""/>
            </a:pPr>
            <a:r>
              <a:rPr sz="2800" dirty="0">
                <a:latin typeface="Times New Roman Regular" panose="02020603050405020304" charset="0"/>
                <a:cs typeface="Times New Roman Regular" panose="02020603050405020304" charset="0"/>
              </a:rPr>
              <a:t>Model requirements to provide clear communication and understanding.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3A623-A7CF-C4CA-1280-BE816B4EE4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BF98EE-893A-99BF-43B0-4A3B22061910}"/>
              </a:ext>
            </a:extLst>
          </p:cNvPr>
          <p:cNvSpPr>
            <a:spLocks noGrp="1"/>
          </p:cNvSpPr>
          <p:nvPr>
            <p:ph type="title"/>
          </p:nvPr>
        </p:nvSpPr>
        <p:spPr>
          <a:xfrm>
            <a:off x="0" y="2617787"/>
            <a:ext cx="9144000" cy="1622425"/>
          </a:xfrm>
          <a:solidFill>
            <a:schemeClr val="tx1"/>
          </a:solidFill>
        </p:spPr>
        <p:txBody>
          <a:bodyPr>
            <a:normAutofit/>
          </a:bodyPr>
          <a:lstStyle/>
          <a:p>
            <a:pPr algn="ctr"/>
            <a:r>
              <a:rPr lang="en-US" dirty="0">
                <a:solidFill>
                  <a:srgbClr val="FFFF00"/>
                </a:solidFill>
                <a:latin typeface="Times New Roman" panose="02020603050405020304" pitchFamily="18" charset="0"/>
                <a:cs typeface="Times New Roman" panose="02020603050405020304" pitchFamily="18" charset="0"/>
              </a:rPr>
              <a:t>Structuring Requirements</a:t>
            </a:r>
            <a:br>
              <a:rPr lang="en-US" dirty="0">
                <a:solidFill>
                  <a:srgbClr val="FFFF00"/>
                </a:solidFill>
                <a:latin typeface="Times New Roman" panose="02020603050405020304" pitchFamily="18" charset="0"/>
                <a:cs typeface="Times New Roman" panose="02020603050405020304" pitchFamily="18" charset="0"/>
              </a:rPr>
            </a:br>
            <a:r>
              <a:rPr lang="en-US" dirty="0">
                <a:solidFill>
                  <a:srgbClr val="FFFF00"/>
                </a:solidFill>
                <a:latin typeface="Times New Roman" panose="02020603050405020304" pitchFamily="18" charset="0"/>
                <a:cs typeface="Times New Roman" panose="02020603050405020304" pitchFamily="18" charset="0"/>
              </a:rPr>
              <a:t>(Use Cases vs User Stories)</a:t>
            </a:r>
          </a:p>
        </p:txBody>
      </p:sp>
    </p:spTree>
    <p:extLst>
      <p:ext uri="{BB962C8B-B14F-4D97-AF65-F5344CB8AC3E}">
        <p14:creationId xmlns:p14="http://schemas.microsoft.com/office/powerpoint/2010/main" val="27907274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1"/>
          </a:solidFill>
        </p:spPr>
        <p:txBody>
          <a:bodyPr>
            <a:normAutofit/>
          </a:bodyPr>
          <a:lstStyle/>
          <a:p>
            <a:r>
              <a:rPr lang="en-US" dirty="0">
                <a:solidFill>
                  <a:srgbClr val="FFFF00"/>
                </a:solidFill>
                <a:latin typeface="Times New Roman Regular" panose="02020603050405020304" charset="0"/>
                <a:cs typeface="Times New Roman Regular" panose="02020603050405020304" charset="0"/>
              </a:rPr>
              <a:t>Use Cases</a:t>
            </a:r>
          </a:p>
        </p:txBody>
      </p:sp>
      <p:sp>
        <p:nvSpPr>
          <p:cNvPr id="3" name="Content Placeholder 2"/>
          <p:cNvSpPr>
            <a:spLocks noGrp="1"/>
          </p:cNvSpPr>
          <p:nvPr>
            <p:ph idx="1"/>
          </p:nvPr>
        </p:nvSpPr>
        <p:spPr>
          <a:xfrm>
            <a:off x="457200" y="1600200"/>
            <a:ext cx="8229600" cy="4534535"/>
          </a:xfrm>
        </p:spPr>
        <p:txBody>
          <a:bodyPr>
            <a:normAutofit/>
          </a:bodyPr>
          <a:lstStyle/>
          <a:p>
            <a:pPr algn="just"/>
            <a:r>
              <a:rPr lang="en-US" sz="2800" dirty="0">
                <a:latin typeface="Times New Roman" panose="02020603050405020304" pitchFamily="18" charset="0"/>
                <a:cs typeface="Times New Roman" panose="02020603050405020304" pitchFamily="18" charset="0"/>
              </a:rPr>
              <a:t>A use case describes a sequence of interactions between a system and an external actor that results in the actor being able to achieve some outcome of value.</a:t>
            </a:r>
          </a:p>
          <a:p>
            <a:pPr marL="0" indent="0" algn="just">
              <a:buNone/>
            </a:pPr>
            <a:r>
              <a:rPr lang="en-US" sz="2800" b="1" dirty="0">
                <a:latin typeface="Times New Roman Regular" panose="02020603050405020304" charset="0"/>
                <a:cs typeface="Times New Roman Regular" panose="02020603050405020304" charset="0"/>
              </a:rPr>
              <a:t>How to Construct a Use Case:</a:t>
            </a:r>
          </a:p>
          <a:p>
            <a:pPr lvl="1" algn="just"/>
            <a:r>
              <a:rPr lang="en-US" sz="2400" dirty="0">
                <a:latin typeface="Times New Roman Regular" panose="02020603050405020304" charset="0"/>
                <a:cs typeface="Times New Roman Regular" panose="02020603050405020304" charset="0"/>
              </a:rPr>
              <a:t>Written in the form of: </a:t>
            </a:r>
            <a:r>
              <a:rPr lang="en-US" sz="2400" b="1" i="1" dirty="0">
                <a:latin typeface="Times New Roman Regular" panose="02020603050405020304" charset="0"/>
                <a:cs typeface="Times New Roman Regular" panose="02020603050405020304" charset="0"/>
              </a:rPr>
              <a:t>Verb + Object</a:t>
            </a:r>
          </a:p>
          <a:p>
            <a:pPr lvl="1" algn="just"/>
            <a:r>
              <a:rPr lang="en-US" sz="2400" dirty="0">
                <a:latin typeface="Times New Roman Regular" panose="02020603050405020304" charset="0"/>
                <a:cs typeface="Times New Roman Regular" panose="02020603050405020304" charset="0"/>
              </a:rPr>
              <a:t>Descriptive Names</a:t>
            </a:r>
          </a:p>
          <a:p>
            <a:pPr marL="57150" indent="0" algn="just">
              <a:buNone/>
            </a:pPr>
            <a:r>
              <a:rPr lang="en-US" sz="2800" dirty="0">
                <a:latin typeface="Times New Roman Regular" panose="02020603050405020304" charset="0"/>
                <a:cs typeface="Times New Roman Regular" panose="02020603050405020304" charset="0"/>
                <a:hlinkClick r:id="rId2"/>
              </a:rPr>
              <a:t>Sample Use Cases</a:t>
            </a:r>
            <a:endParaRPr lang="en-US" sz="2800" dirty="0">
              <a:latin typeface="Times New Roman Regular" panose="02020603050405020304" charset="0"/>
              <a:cs typeface="Times New Roman Regular" panose="020206030504050203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74B5D-1D71-0FAA-A7E8-1EC4F2827F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5A55B3-7FB1-A607-83FA-B0FE89320FC8}"/>
              </a:ext>
            </a:extLst>
          </p:cNvPr>
          <p:cNvSpPr>
            <a:spLocks noGrp="1"/>
          </p:cNvSpPr>
          <p:nvPr>
            <p:ph type="title"/>
          </p:nvPr>
        </p:nvSpPr>
        <p:spPr>
          <a:solidFill>
            <a:schemeClr val="tx1"/>
          </a:solidFill>
        </p:spPr>
        <p:txBody>
          <a:bodyPr>
            <a:normAutofit/>
          </a:bodyPr>
          <a:lstStyle/>
          <a:p>
            <a:r>
              <a:rPr lang="en-US" dirty="0">
                <a:solidFill>
                  <a:srgbClr val="FFFF00"/>
                </a:solidFill>
                <a:latin typeface="Times New Roman Regular" panose="02020603050405020304" charset="0"/>
                <a:cs typeface="Times New Roman Regular" panose="02020603050405020304" charset="0"/>
              </a:rPr>
              <a:t>Use Cases</a:t>
            </a:r>
          </a:p>
        </p:txBody>
      </p:sp>
      <p:sp>
        <p:nvSpPr>
          <p:cNvPr id="3" name="Content Placeholder 2">
            <a:extLst>
              <a:ext uri="{FF2B5EF4-FFF2-40B4-BE49-F238E27FC236}">
                <a16:creationId xmlns:a16="http://schemas.microsoft.com/office/drawing/2014/main" id="{727567B1-0DE1-D1BC-1E87-58EA9A132459}"/>
              </a:ext>
            </a:extLst>
          </p:cNvPr>
          <p:cNvSpPr>
            <a:spLocks noGrp="1"/>
          </p:cNvSpPr>
          <p:nvPr>
            <p:ph idx="1"/>
          </p:nvPr>
        </p:nvSpPr>
        <p:spPr>
          <a:xfrm>
            <a:off x="457200" y="1600200"/>
            <a:ext cx="8229600" cy="4837176"/>
          </a:xfrm>
        </p:spPr>
        <p:txBody>
          <a:bodyPr>
            <a:normAutofit fontScale="92500" lnSpcReduction="10000"/>
          </a:bodyPr>
          <a:lstStyle/>
          <a:p>
            <a:pPr marL="0" indent="0" algn="just">
              <a:buNone/>
            </a:pPr>
            <a:r>
              <a:rPr lang="en-US" sz="2800" b="1" dirty="0">
                <a:latin typeface="Times New Roman Regular" panose="02020603050405020304" charset="0"/>
                <a:cs typeface="Times New Roman Regular" panose="02020603050405020304" charset="0"/>
              </a:rPr>
              <a:t>Actors in a Use Case: </a:t>
            </a:r>
            <a:r>
              <a:rPr lang="en-US" sz="2800" dirty="0">
                <a:latin typeface="Times New Roman Regular" panose="02020603050405020304" charset="0"/>
                <a:cs typeface="Times New Roman Regular" panose="02020603050405020304" charset="0"/>
              </a:rPr>
              <a:t>A use case describes a sequence of interactions between a </a:t>
            </a:r>
            <a:r>
              <a:rPr lang="en-US" sz="2800" b="1" i="1" dirty="0">
                <a:latin typeface="Times New Roman Regular" panose="02020603050405020304" charset="0"/>
                <a:cs typeface="Times New Roman Regular" panose="02020603050405020304" charset="0"/>
              </a:rPr>
              <a:t>system </a:t>
            </a:r>
            <a:r>
              <a:rPr lang="en-US" sz="2800" dirty="0">
                <a:latin typeface="Times New Roman Regular" panose="02020603050405020304" charset="0"/>
                <a:cs typeface="Times New Roman Regular" panose="02020603050405020304" charset="0"/>
              </a:rPr>
              <a:t>and an </a:t>
            </a:r>
            <a:r>
              <a:rPr lang="en-US" sz="2800" b="1" i="1" dirty="0">
                <a:latin typeface="Times New Roman Regular" panose="02020603050405020304" charset="0"/>
                <a:cs typeface="Times New Roman Regular" panose="02020603050405020304" charset="0"/>
              </a:rPr>
              <a:t>actor</a:t>
            </a:r>
            <a:endParaRPr lang="en-US" sz="2800" dirty="0">
              <a:latin typeface="Times New Roman Regular" panose="02020603050405020304" charset="0"/>
              <a:cs typeface="Times New Roman Regular" panose="02020603050405020304" charset="0"/>
            </a:endParaRPr>
          </a:p>
          <a:p>
            <a:pPr marL="0" indent="0" algn="just">
              <a:buNone/>
            </a:pPr>
            <a:r>
              <a:rPr lang="en-US" sz="2800" dirty="0">
                <a:latin typeface="Times New Roman Regular" panose="02020603050405020304" charset="0"/>
                <a:cs typeface="Times New Roman Regular" panose="02020603050405020304" charset="0"/>
              </a:rPr>
              <a:t>Therefore, an </a:t>
            </a:r>
            <a:r>
              <a:rPr lang="en-US" sz="2800" b="1" i="1" dirty="0">
                <a:latin typeface="Times New Roman Regular" panose="02020603050405020304" charset="0"/>
                <a:cs typeface="Times New Roman Regular" panose="02020603050405020304" charset="0"/>
              </a:rPr>
              <a:t>actor</a:t>
            </a:r>
            <a:r>
              <a:rPr lang="en-US" sz="2800" dirty="0">
                <a:latin typeface="Times New Roman Regular" panose="02020603050405020304" charset="0"/>
                <a:cs typeface="Times New Roman Regular" panose="02020603050405020304" charset="0"/>
              </a:rPr>
              <a:t> is a person or a system or hardware that interacts with a system to perform a use case</a:t>
            </a:r>
          </a:p>
          <a:p>
            <a:pPr marL="0" indent="0" algn="just">
              <a:buNone/>
            </a:pPr>
            <a:r>
              <a:rPr lang="en-US" sz="2800" b="1" dirty="0">
                <a:latin typeface="Times New Roman Regular" panose="02020603050405020304" charset="0"/>
                <a:cs typeface="Times New Roman Regular" panose="02020603050405020304" charset="0"/>
              </a:rPr>
              <a:t>How to Identify actors:</a:t>
            </a:r>
          </a:p>
          <a:p>
            <a:pPr algn="just"/>
            <a:r>
              <a:rPr lang="en-US" sz="2800" dirty="0">
                <a:latin typeface="Times New Roman" panose="02020603050405020304" pitchFamily="18" charset="0"/>
                <a:cs typeface="Times New Roman" panose="02020603050405020304" pitchFamily="18" charset="0"/>
              </a:rPr>
              <a:t>Who (or what) is notified when something occurs within the system? </a:t>
            </a:r>
          </a:p>
          <a:p>
            <a:pPr algn="just"/>
            <a:r>
              <a:rPr lang="en-US" sz="2800" dirty="0">
                <a:latin typeface="Times New Roman" panose="02020603050405020304" pitchFamily="18" charset="0"/>
                <a:cs typeface="Times New Roman" panose="02020603050405020304" pitchFamily="18" charset="0"/>
              </a:rPr>
              <a:t>Who (or what) provides information or services to the system? </a:t>
            </a:r>
          </a:p>
          <a:p>
            <a:pPr algn="just"/>
            <a:r>
              <a:rPr lang="en-US" sz="2800" dirty="0">
                <a:latin typeface="Times New Roman" panose="02020603050405020304" pitchFamily="18" charset="0"/>
                <a:cs typeface="Times New Roman" panose="02020603050405020304" pitchFamily="18" charset="0"/>
              </a:rPr>
              <a:t>Who (or what) helps the system respond to and complete a task?</a:t>
            </a:r>
            <a:endParaRPr lang="en-US"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70154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097ECF-5343-3C3F-B9D3-34BBD4BF93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6DDED5-3A0C-81F8-AF6D-641E9DA6C579}"/>
              </a:ext>
            </a:extLst>
          </p:cNvPr>
          <p:cNvSpPr>
            <a:spLocks noGrp="1"/>
          </p:cNvSpPr>
          <p:nvPr>
            <p:ph type="title"/>
          </p:nvPr>
        </p:nvSpPr>
        <p:spPr>
          <a:solidFill>
            <a:schemeClr val="tx1"/>
          </a:solidFill>
        </p:spPr>
        <p:txBody>
          <a:bodyPr>
            <a:normAutofit/>
          </a:bodyPr>
          <a:lstStyle/>
          <a:p>
            <a:r>
              <a:rPr lang="en-US" dirty="0">
                <a:solidFill>
                  <a:srgbClr val="FFFF00"/>
                </a:solidFill>
                <a:latin typeface="Times New Roman Regular" panose="02020603050405020304" charset="0"/>
                <a:cs typeface="Times New Roman Regular" panose="02020603050405020304" charset="0"/>
              </a:rPr>
              <a:t>Use Cases</a:t>
            </a:r>
          </a:p>
        </p:txBody>
      </p:sp>
      <p:sp>
        <p:nvSpPr>
          <p:cNvPr id="3" name="Content Placeholder 2">
            <a:extLst>
              <a:ext uri="{FF2B5EF4-FFF2-40B4-BE49-F238E27FC236}">
                <a16:creationId xmlns:a16="http://schemas.microsoft.com/office/drawing/2014/main" id="{2A5328A0-CA11-3DD9-6D92-7875E6DD59B2}"/>
              </a:ext>
            </a:extLst>
          </p:cNvPr>
          <p:cNvSpPr>
            <a:spLocks noGrp="1"/>
          </p:cNvSpPr>
          <p:nvPr>
            <p:ph idx="1"/>
          </p:nvPr>
        </p:nvSpPr>
        <p:spPr>
          <a:xfrm>
            <a:off x="457200" y="1600200"/>
            <a:ext cx="8229600" cy="4837176"/>
          </a:xfrm>
        </p:spPr>
        <p:txBody>
          <a:bodyPr>
            <a:normAutofit/>
          </a:bodyPr>
          <a:lstStyle/>
          <a:p>
            <a:pPr marL="0" indent="0" algn="just">
              <a:buNone/>
            </a:pPr>
            <a:r>
              <a:rPr lang="en-US" sz="2800" b="1" dirty="0">
                <a:latin typeface="Times New Roman Regular" panose="02020603050405020304" charset="0"/>
                <a:cs typeface="Times New Roman Regular" panose="02020603050405020304" charset="0"/>
              </a:rPr>
              <a:t>Use Case Diagrams:</a:t>
            </a:r>
          </a:p>
          <a:p>
            <a:pPr marL="0" indent="0" algn="just">
              <a:buNone/>
            </a:pPr>
            <a:r>
              <a:rPr lang="en-US" sz="2800" dirty="0">
                <a:latin typeface="Times New Roman Regular" panose="02020603050405020304" charset="0"/>
                <a:cs typeface="Times New Roman Regular" panose="02020603050405020304" charset="0"/>
              </a:rPr>
              <a:t>A high-level representation of a use cases usually done using the </a:t>
            </a:r>
            <a:r>
              <a:rPr lang="en-US" sz="2800" b="1" i="1" dirty="0">
                <a:latin typeface="Times New Roman Regular" panose="02020603050405020304" charset="0"/>
                <a:cs typeface="Times New Roman Regular" panose="02020603050405020304" charset="0"/>
                <a:hlinkClick r:id="rId3"/>
              </a:rPr>
              <a:t>Unified Modelling Language</a:t>
            </a:r>
            <a:r>
              <a:rPr lang="en-US" sz="2800" b="1" i="1" dirty="0">
                <a:latin typeface="Times New Roman Regular" panose="02020603050405020304" charset="0"/>
                <a:cs typeface="Times New Roman Regular" panose="02020603050405020304" charset="0"/>
              </a:rPr>
              <a:t> </a:t>
            </a:r>
            <a:r>
              <a:rPr lang="en-US" sz="2800" dirty="0">
                <a:latin typeface="Times New Roman Regular" panose="02020603050405020304" charset="0"/>
                <a:cs typeface="Times New Roman Regular" panose="02020603050405020304" charset="0"/>
              </a:rPr>
              <a:t>(UML).</a:t>
            </a:r>
          </a:p>
          <a:p>
            <a:pPr marL="0" indent="0" algn="just">
              <a:buNone/>
            </a:pPr>
            <a:r>
              <a:rPr lang="en-US" sz="2800" b="1" dirty="0">
                <a:latin typeface="Times New Roman Regular" panose="02020603050405020304" charset="0"/>
                <a:cs typeface="Times New Roman Regular" panose="02020603050405020304" charset="0"/>
              </a:rPr>
              <a:t>Elements of a Use Case Diagram:</a:t>
            </a:r>
          </a:p>
          <a:p>
            <a:pPr marL="0" indent="0" algn="just">
              <a:buNone/>
            </a:pPr>
            <a:r>
              <a:rPr lang="en-US" sz="2800" i="1" dirty="0">
                <a:latin typeface="Times New Roman Regular" panose="02020603050405020304" charset="0"/>
                <a:cs typeface="Times New Roman Regular" panose="02020603050405020304" charset="0"/>
              </a:rPr>
              <a:t>Actors</a:t>
            </a:r>
          </a:p>
          <a:p>
            <a:pPr marL="0" indent="0" algn="just">
              <a:buNone/>
            </a:pPr>
            <a:endParaRPr lang="en-US" sz="2800" dirty="0">
              <a:latin typeface="Times New Roman Regular" panose="02020603050405020304" charset="0"/>
              <a:cs typeface="Times New Roman Regular" panose="02020603050405020304" charset="0"/>
            </a:endParaRPr>
          </a:p>
          <a:p>
            <a:pPr marL="0" indent="0" algn="just">
              <a:buNone/>
            </a:pPr>
            <a:endParaRPr lang="en-US" sz="2800" dirty="0">
              <a:latin typeface="Times New Roman Regular" panose="02020603050405020304" charset="0"/>
              <a:cs typeface="Times New Roman Regular" panose="02020603050405020304" charset="0"/>
            </a:endParaRPr>
          </a:p>
          <a:p>
            <a:pPr marL="0" indent="0" algn="just">
              <a:buNone/>
            </a:pPr>
            <a:r>
              <a:rPr lang="en-US" sz="2800" i="1" dirty="0">
                <a:latin typeface="Times New Roman Regular" panose="02020603050405020304" charset="0"/>
                <a:cs typeface="Times New Roman Regular" panose="02020603050405020304" charset="0"/>
              </a:rPr>
              <a:t>Use Case</a:t>
            </a:r>
          </a:p>
        </p:txBody>
      </p:sp>
      <p:pic>
        <p:nvPicPr>
          <p:cNvPr id="6" name="Picture 5">
            <a:extLst>
              <a:ext uri="{FF2B5EF4-FFF2-40B4-BE49-F238E27FC236}">
                <a16:creationId xmlns:a16="http://schemas.microsoft.com/office/drawing/2014/main" id="{86028130-7241-7439-13BC-31C283F27797}"/>
              </a:ext>
            </a:extLst>
          </p:cNvPr>
          <p:cNvPicPr>
            <a:picLocks noChangeAspect="1"/>
          </p:cNvPicPr>
          <p:nvPr/>
        </p:nvPicPr>
        <p:blipFill>
          <a:blip r:embed="rId4"/>
          <a:stretch>
            <a:fillRect/>
          </a:stretch>
        </p:blipFill>
        <p:spPr>
          <a:xfrm>
            <a:off x="1973357" y="3635990"/>
            <a:ext cx="907003" cy="1440534"/>
          </a:xfrm>
          <a:prstGeom prst="rect">
            <a:avLst/>
          </a:prstGeom>
        </p:spPr>
      </p:pic>
      <p:pic>
        <p:nvPicPr>
          <p:cNvPr id="7" name="Picture 6">
            <a:extLst>
              <a:ext uri="{FF2B5EF4-FFF2-40B4-BE49-F238E27FC236}">
                <a16:creationId xmlns:a16="http://schemas.microsoft.com/office/drawing/2014/main" id="{B28CE316-3FC6-83AB-AB82-BC539765792F}"/>
              </a:ext>
            </a:extLst>
          </p:cNvPr>
          <p:cNvPicPr>
            <a:picLocks noChangeAspect="1"/>
          </p:cNvPicPr>
          <p:nvPr/>
        </p:nvPicPr>
        <p:blipFill>
          <a:blip r:embed="rId5"/>
          <a:stretch>
            <a:fillRect/>
          </a:stretch>
        </p:blipFill>
        <p:spPr>
          <a:xfrm>
            <a:off x="2562606" y="5008054"/>
            <a:ext cx="2009394" cy="1439353"/>
          </a:xfrm>
          <a:prstGeom prst="rect">
            <a:avLst/>
          </a:prstGeom>
        </p:spPr>
      </p:pic>
    </p:spTree>
    <p:extLst>
      <p:ext uri="{BB962C8B-B14F-4D97-AF65-F5344CB8AC3E}">
        <p14:creationId xmlns:p14="http://schemas.microsoft.com/office/powerpoint/2010/main" val="4098750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fade">
                                      <p:cBhvr>
                                        <p:cTn id="3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792EC-6B6A-1060-03FA-6AC30B59CE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DE5618-C147-6BC4-DC81-EFF1D12D1B4D}"/>
              </a:ext>
            </a:extLst>
          </p:cNvPr>
          <p:cNvSpPr>
            <a:spLocks noGrp="1"/>
          </p:cNvSpPr>
          <p:nvPr>
            <p:ph type="title"/>
          </p:nvPr>
        </p:nvSpPr>
        <p:spPr>
          <a:solidFill>
            <a:schemeClr val="tx1"/>
          </a:solidFill>
        </p:spPr>
        <p:txBody>
          <a:bodyPr>
            <a:normAutofit/>
          </a:bodyPr>
          <a:lstStyle/>
          <a:p>
            <a:r>
              <a:rPr lang="en-US" dirty="0">
                <a:solidFill>
                  <a:srgbClr val="FFFF00"/>
                </a:solidFill>
                <a:latin typeface="Times New Roman Regular" panose="02020603050405020304" charset="0"/>
                <a:cs typeface="Times New Roman Regular" panose="02020603050405020304" charset="0"/>
              </a:rPr>
              <a:t>Use Cases</a:t>
            </a:r>
          </a:p>
        </p:txBody>
      </p:sp>
      <p:sp>
        <p:nvSpPr>
          <p:cNvPr id="3" name="Content Placeholder 2">
            <a:extLst>
              <a:ext uri="{FF2B5EF4-FFF2-40B4-BE49-F238E27FC236}">
                <a16:creationId xmlns:a16="http://schemas.microsoft.com/office/drawing/2014/main" id="{D2F9D9AB-CCC0-A2DE-EF76-09553C7FEB08}"/>
              </a:ext>
            </a:extLst>
          </p:cNvPr>
          <p:cNvSpPr>
            <a:spLocks noGrp="1"/>
          </p:cNvSpPr>
          <p:nvPr>
            <p:ph idx="1"/>
          </p:nvPr>
        </p:nvSpPr>
        <p:spPr>
          <a:xfrm>
            <a:off x="457200" y="1600200"/>
            <a:ext cx="8229600" cy="4837176"/>
          </a:xfrm>
        </p:spPr>
        <p:txBody>
          <a:bodyPr>
            <a:normAutofit/>
          </a:bodyPr>
          <a:lstStyle/>
          <a:p>
            <a:pPr marL="0" indent="0" algn="just">
              <a:buNone/>
            </a:pPr>
            <a:r>
              <a:rPr lang="en-US" sz="2800" b="1" dirty="0">
                <a:latin typeface="Times New Roman Regular" panose="02020603050405020304" charset="0"/>
                <a:cs typeface="Times New Roman Regular" panose="02020603050405020304" charset="0"/>
              </a:rPr>
              <a:t>Elements of a Use Case Diagram (</a:t>
            </a:r>
            <a:r>
              <a:rPr lang="en-US" sz="2800" b="1" dirty="0" err="1">
                <a:latin typeface="Times New Roman Regular" panose="02020603050405020304" charset="0"/>
                <a:cs typeface="Times New Roman Regular" panose="02020603050405020304" charset="0"/>
              </a:rPr>
              <a:t>Cont</a:t>
            </a:r>
            <a:r>
              <a:rPr lang="en-US" sz="2800" b="1" dirty="0">
                <a:latin typeface="Times New Roman Regular" panose="02020603050405020304" charset="0"/>
                <a:cs typeface="Times New Roman Regular" panose="02020603050405020304" charset="0"/>
              </a:rPr>
              <a:t>…):</a:t>
            </a:r>
          </a:p>
          <a:p>
            <a:pPr marL="0" indent="0">
              <a:buNone/>
            </a:pPr>
            <a:r>
              <a:rPr lang="en-US" sz="2800" i="1" dirty="0">
                <a:latin typeface="Times New Roman Regular" panose="02020603050405020304" charset="0"/>
                <a:cs typeface="Times New Roman Regular" panose="02020603050405020304" charset="0"/>
              </a:rPr>
              <a:t>System Boundary</a:t>
            </a:r>
            <a:r>
              <a:rPr lang="en-US" sz="2800" dirty="0">
                <a:latin typeface="Times New Roman Regular" panose="02020603050405020304" charset="0"/>
                <a:cs typeface="Times New Roman Regular" panose="02020603050405020304" charset="0"/>
              </a:rPr>
              <a:t>: Defines the scope of the system being modelled. What is in the system.</a:t>
            </a:r>
          </a:p>
        </p:txBody>
      </p:sp>
      <p:sp>
        <p:nvSpPr>
          <p:cNvPr id="5" name="Rectangle 4">
            <a:extLst>
              <a:ext uri="{FF2B5EF4-FFF2-40B4-BE49-F238E27FC236}">
                <a16:creationId xmlns:a16="http://schemas.microsoft.com/office/drawing/2014/main" id="{E050DA3C-FFCE-F35D-52E3-8C4425E4FEBE}"/>
              </a:ext>
            </a:extLst>
          </p:cNvPr>
          <p:cNvSpPr/>
          <p:nvPr/>
        </p:nvSpPr>
        <p:spPr>
          <a:xfrm>
            <a:off x="1435608" y="3218688"/>
            <a:ext cx="1517904" cy="2258568"/>
          </a:xfrm>
          <a:prstGeom prst="rect">
            <a:avLst/>
          </a:prstGeom>
          <a:solidFill>
            <a:schemeClr val="bg1"/>
          </a:solidFill>
          <a:ln w="19050">
            <a:solidFill>
              <a:schemeClr val="tx1">
                <a:lumMod val="95000"/>
                <a:lumOff val="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79948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364B9-2FFF-07FE-182B-E0975C16D2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74DDEF-E224-6069-39AE-000299709427}"/>
              </a:ext>
            </a:extLst>
          </p:cNvPr>
          <p:cNvSpPr>
            <a:spLocks noGrp="1"/>
          </p:cNvSpPr>
          <p:nvPr>
            <p:ph type="title"/>
          </p:nvPr>
        </p:nvSpPr>
        <p:spPr>
          <a:solidFill>
            <a:schemeClr val="tx1"/>
          </a:solidFill>
        </p:spPr>
        <p:txBody>
          <a:bodyPr>
            <a:normAutofit/>
          </a:bodyPr>
          <a:lstStyle/>
          <a:p>
            <a:r>
              <a:rPr lang="en-US" dirty="0">
                <a:solidFill>
                  <a:srgbClr val="FFFF00"/>
                </a:solidFill>
                <a:latin typeface="Times New Roman Regular" panose="02020603050405020304" charset="0"/>
                <a:cs typeface="Times New Roman Regular" panose="02020603050405020304" charset="0"/>
              </a:rPr>
              <a:t>Use Cases</a:t>
            </a:r>
          </a:p>
        </p:txBody>
      </p:sp>
      <p:sp>
        <p:nvSpPr>
          <p:cNvPr id="3" name="Content Placeholder 2">
            <a:extLst>
              <a:ext uri="{FF2B5EF4-FFF2-40B4-BE49-F238E27FC236}">
                <a16:creationId xmlns:a16="http://schemas.microsoft.com/office/drawing/2014/main" id="{0F6041CE-0E66-AF95-21B6-764B6BDA7CD6}"/>
              </a:ext>
            </a:extLst>
          </p:cNvPr>
          <p:cNvSpPr>
            <a:spLocks noGrp="1"/>
          </p:cNvSpPr>
          <p:nvPr>
            <p:ph idx="1"/>
          </p:nvPr>
        </p:nvSpPr>
        <p:spPr>
          <a:xfrm>
            <a:off x="457200" y="1600200"/>
            <a:ext cx="8229600" cy="4837176"/>
          </a:xfrm>
        </p:spPr>
        <p:txBody>
          <a:bodyPr>
            <a:normAutofit/>
          </a:bodyPr>
          <a:lstStyle/>
          <a:p>
            <a:pPr marL="0" indent="0" algn="just">
              <a:buNone/>
            </a:pPr>
            <a:r>
              <a:rPr lang="en-US" sz="2800" b="1" dirty="0">
                <a:latin typeface="Times New Roman Regular" panose="02020603050405020304" charset="0"/>
                <a:cs typeface="Times New Roman Regular" panose="02020603050405020304" charset="0"/>
              </a:rPr>
              <a:t>Elements of a Use Case Diagram (</a:t>
            </a:r>
            <a:r>
              <a:rPr lang="en-US" sz="2800" b="1" dirty="0" err="1">
                <a:latin typeface="Times New Roman Regular" panose="02020603050405020304" charset="0"/>
                <a:cs typeface="Times New Roman Regular" panose="02020603050405020304" charset="0"/>
              </a:rPr>
              <a:t>Cont</a:t>
            </a:r>
            <a:r>
              <a:rPr lang="en-US" sz="2800" b="1" dirty="0">
                <a:latin typeface="Times New Roman Regular" panose="02020603050405020304" charset="0"/>
                <a:cs typeface="Times New Roman Regular" panose="02020603050405020304" charset="0"/>
              </a:rPr>
              <a:t>…):</a:t>
            </a:r>
          </a:p>
          <a:p>
            <a:pPr marL="0" indent="0" algn="just">
              <a:buNone/>
            </a:pPr>
            <a:r>
              <a:rPr lang="en-US" sz="2800" i="1" dirty="0">
                <a:latin typeface="Times New Roman Regular" panose="02020603050405020304" charset="0"/>
                <a:cs typeface="Times New Roman Regular" panose="02020603050405020304" charset="0"/>
              </a:rPr>
              <a:t>Arrows</a:t>
            </a:r>
            <a:r>
              <a:rPr lang="en-US" sz="2800" dirty="0">
                <a:latin typeface="Times New Roman Regular" panose="02020603050405020304" charset="0"/>
                <a:cs typeface="Times New Roman Regular" panose="02020603050405020304" charset="0"/>
              </a:rPr>
              <a:t>: Serve a number of purposes depending on its </a:t>
            </a:r>
            <a:r>
              <a:rPr lang="en-US" sz="2800" b="1" dirty="0">
                <a:latin typeface="Times New Roman Regular" panose="02020603050405020304" charset="0"/>
                <a:cs typeface="Times New Roman Regular" panose="02020603050405020304" charset="0"/>
              </a:rPr>
              <a:t>direction</a:t>
            </a:r>
            <a:r>
              <a:rPr lang="en-US" sz="2800" dirty="0">
                <a:latin typeface="Times New Roman Regular" panose="02020603050405020304" charset="0"/>
                <a:cs typeface="Times New Roman Regular" panose="02020603050405020304" charset="0"/>
              </a:rPr>
              <a:t> or style.</a:t>
            </a:r>
          </a:p>
          <a:p>
            <a:pPr lvl="1" algn="just"/>
            <a:r>
              <a:rPr lang="en-US" sz="2400" b="1" dirty="0">
                <a:latin typeface="Times New Roman Regular" panose="02020603050405020304" charset="0"/>
                <a:cs typeface="Times New Roman Regular" panose="02020603050405020304" charset="0"/>
              </a:rPr>
              <a:t>Actor to Use Case</a:t>
            </a:r>
            <a:r>
              <a:rPr lang="en-US" sz="2400" dirty="0">
                <a:latin typeface="Times New Roman Regular" panose="02020603050405020304" charset="0"/>
                <a:cs typeface="Times New Roman Regular" panose="02020603050405020304" charset="0"/>
              </a:rPr>
              <a:t>: Indicates that the actor is the primary actor for that use case.</a:t>
            </a:r>
          </a:p>
          <a:p>
            <a:pPr marL="457200" lvl="1" indent="0" algn="just">
              <a:buNone/>
            </a:pPr>
            <a:endParaRPr lang="en-US" sz="2400" dirty="0">
              <a:latin typeface="Times New Roman Regular" panose="02020603050405020304" charset="0"/>
              <a:cs typeface="Times New Roman Regular" panose="02020603050405020304" charset="0"/>
            </a:endParaRPr>
          </a:p>
        </p:txBody>
      </p:sp>
      <p:pic>
        <p:nvPicPr>
          <p:cNvPr id="4" name="Picture 3">
            <a:extLst>
              <a:ext uri="{FF2B5EF4-FFF2-40B4-BE49-F238E27FC236}">
                <a16:creationId xmlns:a16="http://schemas.microsoft.com/office/drawing/2014/main" id="{5610C803-36C6-E602-204A-C45C546B4484}"/>
              </a:ext>
            </a:extLst>
          </p:cNvPr>
          <p:cNvPicPr>
            <a:picLocks noChangeAspect="1"/>
          </p:cNvPicPr>
          <p:nvPr/>
        </p:nvPicPr>
        <p:blipFill>
          <a:blip r:embed="rId3"/>
          <a:stretch>
            <a:fillRect/>
          </a:stretch>
        </p:blipFill>
        <p:spPr>
          <a:xfrm>
            <a:off x="2368296" y="3593594"/>
            <a:ext cx="4773168" cy="2287828"/>
          </a:xfrm>
          <a:prstGeom prst="rect">
            <a:avLst/>
          </a:prstGeom>
        </p:spPr>
      </p:pic>
    </p:spTree>
    <p:extLst>
      <p:ext uri="{BB962C8B-B14F-4D97-AF65-F5344CB8AC3E}">
        <p14:creationId xmlns:p14="http://schemas.microsoft.com/office/powerpoint/2010/main" val="4181435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B9DFE7-EA36-4AF2-2FAA-9C306469A8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A1B76E-0DC4-B08A-1E88-4475C8CEAFC7}"/>
              </a:ext>
            </a:extLst>
          </p:cNvPr>
          <p:cNvSpPr>
            <a:spLocks noGrp="1"/>
          </p:cNvSpPr>
          <p:nvPr>
            <p:ph type="title"/>
          </p:nvPr>
        </p:nvSpPr>
        <p:spPr>
          <a:solidFill>
            <a:schemeClr val="tx1"/>
          </a:solidFill>
        </p:spPr>
        <p:txBody>
          <a:bodyPr>
            <a:normAutofit/>
          </a:bodyPr>
          <a:lstStyle/>
          <a:p>
            <a:r>
              <a:rPr lang="en-US" dirty="0">
                <a:solidFill>
                  <a:srgbClr val="FFFF00"/>
                </a:solidFill>
                <a:latin typeface="Times New Roman Regular" panose="02020603050405020304" charset="0"/>
                <a:cs typeface="Times New Roman Regular" panose="02020603050405020304" charset="0"/>
              </a:rPr>
              <a:t>Use Cases</a:t>
            </a:r>
          </a:p>
        </p:txBody>
      </p:sp>
      <p:sp>
        <p:nvSpPr>
          <p:cNvPr id="3" name="Content Placeholder 2">
            <a:extLst>
              <a:ext uri="{FF2B5EF4-FFF2-40B4-BE49-F238E27FC236}">
                <a16:creationId xmlns:a16="http://schemas.microsoft.com/office/drawing/2014/main" id="{A882CBE4-C694-AA76-A511-92340B82CC6C}"/>
              </a:ext>
            </a:extLst>
          </p:cNvPr>
          <p:cNvSpPr>
            <a:spLocks noGrp="1"/>
          </p:cNvSpPr>
          <p:nvPr>
            <p:ph idx="1"/>
          </p:nvPr>
        </p:nvSpPr>
        <p:spPr>
          <a:xfrm>
            <a:off x="457200" y="1600200"/>
            <a:ext cx="8229600" cy="4837176"/>
          </a:xfrm>
        </p:spPr>
        <p:txBody>
          <a:bodyPr>
            <a:normAutofit/>
          </a:bodyPr>
          <a:lstStyle/>
          <a:p>
            <a:pPr marL="0" indent="0" algn="just">
              <a:buNone/>
            </a:pPr>
            <a:r>
              <a:rPr lang="en-US" sz="2800" b="1" dirty="0">
                <a:latin typeface="Times New Roman Regular" panose="02020603050405020304" charset="0"/>
                <a:cs typeface="Times New Roman Regular" panose="02020603050405020304" charset="0"/>
              </a:rPr>
              <a:t>Elements of a Use Case Diagram (</a:t>
            </a:r>
            <a:r>
              <a:rPr lang="en-US" sz="2800" b="1" dirty="0" err="1">
                <a:latin typeface="Times New Roman Regular" panose="02020603050405020304" charset="0"/>
                <a:cs typeface="Times New Roman Regular" panose="02020603050405020304" charset="0"/>
              </a:rPr>
              <a:t>Cont</a:t>
            </a:r>
            <a:r>
              <a:rPr lang="en-US" sz="2800" b="1" dirty="0">
                <a:latin typeface="Times New Roman Regular" panose="02020603050405020304" charset="0"/>
                <a:cs typeface="Times New Roman Regular" panose="02020603050405020304" charset="0"/>
              </a:rPr>
              <a:t>…):</a:t>
            </a:r>
          </a:p>
          <a:p>
            <a:pPr marL="0" indent="0" algn="just">
              <a:buNone/>
            </a:pPr>
            <a:r>
              <a:rPr lang="en-US" sz="2800" i="1" dirty="0">
                <a:latin typeface="Times New Roman Regular" panose="02020603050405020304" charset="0"/>
                <a:cs typeface="Times New Roman Regular" panose="02020603050405020304" charset="0"/>
              </a:rPr>
              <a:t>Arrows</a:t>
            </a:r>
            <a:r>
              <a:rPr lang="en-US" sz="2800" dirty="0">
                <a:latin typeface="Times New Roman Regular" panose="02020603050405020304" charset="0"/>
                <a:cs typeface="Times New Roman Regular" panose="02020603050405020304" charset="0"/>
              </a:rPr>
              <a:t>: Serve a number of purposes depending on its </a:t>
            </a:r>
            <a:r>
              <a:rPr lang="en-US" sz="2800" b="1" dirty="0">
                <a:latin typeface="Times New Roman Regular" panose="02020603050405020304" charset="0"/>
                <a:cs typeface="Times New Roman Regular" panose="02020603050405020304" charset="0"/>
              </a:rPr>
              <a:t>direction</a:t>
            </a:r>
            <a:r>
              <a:rPr lang="en-US" sz="2800" dirty="0">
                <a:latin typeface="Times New Roman Regular" panose="02020603050405020304" charset="0"/>
                <a:cs typeface="Times New Roman Regular" panose="02020603050405020304" charset="0"/>
              </a:rPr>
              <a:t> or style.</a:t>
            </a:r>
          </a:p>
          <a:p>
            <a:pPr lvl="1" algn="just"/>
            <a:r>
              <a:rPr lang="en-US" sz="2400" b="1" dirty="0">
                <a:latin typeface="Times New Roman Regular" panose="02020603050405020304" charset="0"/>
                <a:cs typeface="Times New Roman Regular" panose="02020603050405020304" charset="0"/>
              </a:rPr>
              <a:t>Use Case to Actor</a:t>
            </a:r>
            <a:r>
              <a:rPr lang="en-US" sz="2400" dirty="0">
                <a:latin typeface="Times New Roman Regular" panose="02020603050405020304" charset="0"/>
                <a:cs typeface="Times New Roman Regular" panose="02020603050405020304" charset="0"/>
              </a:rPr>
              <a:t>: Indicates a secondary actor who (</a:t>
            </a:r>
            <a:r>
              <a:rPr lang="en-US" sz="2400" i="1" dirty="0">
                <a:latin typeface="Times New Roman Regular" panose="02020603050405020304" charset="0"/>
                <a:cs typeface="Times New Roman Regular" panose="02020603050405020304" charset="0"/>
              </a:rPr>
              <a:t>human or other system</a:t>
            </a:r>
            <a:r>
              <a:rPr lang="en-US" sz="2400" dirty="0">
                <a:latin typeface="Times New Roman Regular" panose="02020603050405020304" charset="0"/>
                <a:cs typeface="Times New Roman Regular" panose="02020603050405020304" charset="0"/>
              </a:rPr>
              <a:t>) participates somehow in the successful execution of the use case.</a:t>
            </a:r>
          </a:p>
          <a:p>
            <a:pPr marL="457200" lvl="1" indent="0" algn="just">
              <a:buNone/>
            </a:pPr>
            <a:endParaRPr lang="en-US" sz="2400" dirty="0">
              <a:latin typeface="Times New Roman Regular" panose="02020603050405020304" charset="0"/>
              <a:cs typeface="Times New Roman Regular" panose="02020603050405020304" charset="0"/>
            </a:endParaRPr>
          </a:p>
        </p:txBody>
      </p:sp>
      <p:pic>
        <p:nvPicPr>
          <p:cNvPr id="5" name="Picture 4">
            <a:extLst>
              <a:ext uri="{FF2B5EF4-FFF2-40B4-BE49-F238E27FC236}">
                <a16:creationId xmlns:a16="http://schemas.microsoft.com/office/drawing/2014/main" id="{CAD3D76A-CBD1-DEDA-DC26-3D812D277980}"/>
              </a:ext>
            </a:extLst>
          </p:cNvPr>
          <p:cNvPicPr>
            <a:picLocks noChangeAspect="1"/>
          </p:cNvPicPr>
          <p:nvPr/>
        </p:nvPicPr>
        <p:blipFill>
          <a:blip r:embed="rId3"/>
          <a:stretch>
            <a:fillRect/>
          </a:stretch>
        </p:blipFill>
        <p:spPr>
          <a:xfrm>
            <a:off x="989235" y="4018788"/>
            <a:ext cx="7165529" cy="2231886"/>
          </a:xfrm>
          <a:prstGeom prst="rect">
            <a:avLst/>
          </a:prstGeom>
        </p:spPr>
      </p:pic>
    </p:spTree>
    <p:extLst>
      <p:ext uri="{BB962C8B-B14F-4D97-AF65-F5344CB8AC3E}">
        <p14:creationId xmlns:p14="http://schemas.microsoft.com/office/powerpoint/2010/main" val="1350881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8377F9-6F4A-C86E-5C5D-BC97B2CE32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85D51E-4D23-BD8D-FEC1-F883821DB88F}"/>
              </a:ext>
            </a:extLst>
          </p:cNvPr>
          <p:cNvSpPr>
            <a:spLocks noGrp="1"/>
          </p:cNvSpPr>
          <p:nvPr>
            <p:ph type="title"/>
          </p:nvPr>
        </p:nvSpPr>
        <p:spPr>
          <a:solidFill>
            <a:schemeClr val="tx1"/>
          </a:solidFill>
        </p:spPr>
        <p:txBody>
          <a:bodyPr>
            <a:normAutofit/>
          </a:bodyPr>
          <a:lstStyle/>
          <a:p>
            <a:r>
              <a:rPr lang="en-US" dirty="0">
                <a:solidFill>
                  <a:srgbClr val="FFFF00"/>
                </a:solidFill>
                <a:latin typeface="Times New Roman Regular" panose="02020603050405020304" charset="0"/>
                <a:cs typeface="Times New Roman Regular" panose="02020603050405020304" charset="0"/>
              </a:rPr>
              <a:t>Use Cases</a:t>
            </a:r>
          </a:p>
        </p:txBody>
      </p:sp>
      <p:sp>
        <p:nvSpPr>
          <p:cNvPr id="3" name="Content Placeholder 2">
            <a:extLst>
              <a:ext uri="{FF2B5EF4-FFF2-40B4-BE49-F238E27FC236}">
                <a16:creationId xmlns:a16="http://schemas.microsoft.com/office/drawing/2014/main" id="{D1244BB4-CEBE-10BA-2FFA-6C7CE13B3380}"/>
              </a:ext>
            </a:extLst>
          </p:cNvPr>
          <p:cNvSpPr>
            <a:spLocks noGrp="1"/>
          </p:cNvSpPr>
          <p:nvPr>
            <p:ph idx="1"/>
          </p:nvPr>
        </p:nvSpPr>
        <p:spPr>
          <a:xfrm>
            <a:off x="457200" y="1600200"/>
            <a:ext cx="8229600" cy="4837176"/>
          </a:xfrm>
        </p:spPr>
        <p:txBody>
          <a:bodyPr>
            <a:normAutofit/>
          </a:bodyPr>
          <a:lstStyle/>
          <a:p>
            <a:pPr marL="0" indent="0" algn="just">
              <a:buNone/>
            </a:pPr>
            <a:r>
              <a:rPr lang="en-US" sz="2800" b="1" dirty="0">
                <a:latin typeface="Times New Roman Regular" panose="02020603050405020304" charset="0"/>
                <a:cs typeface="Times New Roman Regular" panose="02020603050405020304" charset="0"/>
              </a:rPr>
              <a:t>Elements of a Use Case Diagram (</a:t>
            </a:r>
            <a:r>
              <a:rPr lang="en-US" sz="2800" b="1" dirty="0" err="1">
                <a:latin typeface="Times New Roman Regular" panose="02020603050405020304" charset="0"/>
                <a:cs typeface="Times New Roman Regular" panose="02020603050405020304" charset="0"/>
              </a:rPr>
              <a:t>Cont</a:t>
            </a:r>
            <a:r>
              <a:rPr lang="en-US" sz="2800" b="1" dirty="0">
                <a:latin typeface="Times New Roman Regular" panose="02020603050405020304" charset="0"/>
                <a:cs typeface="Times New Roman Regular" panose="02020603050405020304" charset="0"/>
              </a:rPr>
              <a:t>…):</a:t>
            </a:r>
          </a:p>
          <a:p>
            <a:pPr marL="0" indent="0" algn="just">
              <a:buNone/>
            </a:pPr>
            <a:r>
              <a:rPr lang="en-US" sz="2800" i="1" dirty="0">
                <a:latin typeface="Times New Roman Regular" panose="02020603050405020304" charset="0"/>
                <a:cs typeface="Times New Roman Regular" panose="02020603050405020304" charset="0"/>
              </a:rPr>
              <a:t>Arrows</a:t>
            </a:r>
            <a:r>
              <a:rPr lang="en-US" sz="2800" dirty="0">
                <a:latin typeface="Times New Roman Regular" panose="02020603050405020304" charset="0"/>
                <a:cs typeface="Times New Roman Regular" panose="02020603050405020304" charset="0"/>
              </a:rPr>
              <a:t>: Serve a number of purposes depending on its direction or </a:t>
            </a:r>
            <a:r>
              <a:rPr lang="en-US" sz="2800" b="1" dirty="0">
                <a:latin typeface="Times New Roman Regular" panose="02020603050405020304" charset="0"/>
                <a:cs typeface="Times New Roman Regular" panose="02020603050405020304" charset="0"/>
              </a:rPr>
              <a:t>style</a:t>
            </a:r>
            <a:r>
              <a:rPr lang="en-US" sz="2800" dirty="0">
                <a:latin typeface="Times New Roman Regular" panose="02020603050405020304" charset="0"/>
                <a:cs typeface="Times New Roman Regular" panose="02020603050405020304" charset="0"/>
              </a:rPr>
              <a:t>.</a:t>
            </a:r>
          </a:p>
          <a:p>
            <a:pPr lvl="1" algn="just"/>
            <a:r>
              <a:rPr lang="en-US" sz="2400" b="1" dirty="0">
                <a:latin typeface="Times New Roman Regular" panose="02020603050405020304" charset="0"/>
                <a:cs typeface="Times New Roman Regular" panose="02020603050405020304" charset="0"/>
              </a:rPr>
              <a:t>Extend</a:t>
            </a:r>
            <a:r>
              <a:rPr lang="en-US" sz="2400" dirty="0">
                <a:latin typeface="Times New Roman Regular" panose="02020603050405020304" charset="0"/>
                <a:cs typeface="Times New Roman Regular" panose="02020603050405020304" charset="0"/>
              </a:rPr>
              <a:t>: Models a conditional relationship between two use cases whereby </a:t>
            </a:r>
            <a:r>
              <a:rPr lang="en-US" sz="2400" b="1" i="1" dirty="0">
                <a:latin typeface="Times New Roman Regular" panose="02020603050405020304" charset="0"/>
                <a:cs typeface="Times New Roman Regular" panose="02020603050405020304" charset="0"/>
              </a:rPr>
              <a:t>use case B </a:t>
            </a:r>
            <a:r>
              <a:rPr lang="en-US" sz="2400" dirty="0">
                <a:latin typeface="Times New Roman Regular" panose="02020603050405020304" charset="0"/>
                <a:cs typeface="Times New Roman Regular" panose="02020603050405020304" charset="0"/>
              </a:rPr>
              <a:t>extends the normal flow of </a:t>
            </a:r>
            <a:r>
              <a:rPr lang="en-US" sz="2400" b="1" i="1" dirty="0">
                <a:latin typeface="Times New Roman Regular" panose="02020603050405020304" charset="0"/>
                <a:cs typeface="Times New Roman Regular" panose="02020603050405020304" charset="0"/>
              </a:rPr>
              <a:t>use case A</a:t>
            </a:r>
            <a:r>
              <a:rPr lang="en-US" sz="2400" dirty="0">
                <a:latin typeface="Times New Roman Regular" panose="02020603050405020304" charset="0"/>
                <a:cs typeface="Times New Roman Regular" panose="02020603050405020304" charset="0"/>
              </a:rPr>
              <a:t> (note the direction of the arrow)</a:t>
            </a:r>
          </a:p>
          <a:p>
            <a:pPr marL="457200" lvl="1" indent="0" algn="just">
              <a:buNone/>
            </a:pPr>
            <a:endParaRPr lang="en-US" sz="2400" b="1" i="1" dirty="0">
              <a:latin typeface="Times New Roman Regular" panose="02020603050405020304" charset="0"/>
              <a:cs typeface="Times New Roman Regular" panose="02020603050405020304" charset="0"/>
            </a:endParaRPr>
          </a:p>
        </p:txBody>
      </p:sp>
      <p:pic>
        <p:nvPicPr>
          <p:cNvPr id="8" name="Picture 7">
            <a:extLst>
              <a:ext uri="{FF2B5EF4-FFF2-40B4-BE49-F238E27FC236}">
                <a16:creationId xmlns:a16="http://schemas.microsoft.com/office/drawing/2014/main" id="{39188CFC-1D11-1DB8-B3C3-103C5A29C5EA}"/>
              </a:ext>
            </a:extLst>
          </p:cNvPr>
          <p:cNvPicPr>
            <a:picLocks noChangeAspect="1"/>
          </p:cNvPicPr>
          <p:nvPr/>
        </p:nvPicPr>
        <p:blipFill>
          <a:blip r:embed="rId3"/>
          <a:stretch>
            <a:fillRect/>
          </a:stretch>
        </p:blipFill>
        <p:spPr>
          <a:xfrm>
            <a:off x="1143000" y="4200104"/>
            <a:ext cx="6857999" cy="1822784"/>
          </a:xfrm>
          <a:prstGeom prst="rect">
            <a:avLst/>
          </a:prstGeom>
        </p:spPr>
      </p:pic>
    </p:spTree>
    <p:extLst>
      <p:ext uri="{BB962C8B-B14F-4D97-AF65-F5344CB8AC3E}">
        <p14:creationId xmlns:p14="http://schemas.microsoft.com/office/powerpoint/2010/main" val="1141332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72005-7940-7773-CEDD-838BA29C29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525397-DFE4-103A-4786-263EA8192320}"/>
              </a:ext>
            </a:extLst>
          </p:cNvPr>
          <p:cNvSpPr>
            <a:spLocks noGrp="1"/>
          </p:cNvSpPr>
          <p:nvPr>
            <p:ph type="title"/>
          </p:nvPr>
        </p:nvSpPr>
        <p:spPr>
          <a:solidFill>
            <a:schemeClr val="tx1"/>
          </a:solidFill>
        </p:spPr>
        <p:txBody>
          <a:bodyPr>
            <a:normAutofit/>
          </a:bodyPr>
          <a:lstStyle/>
          <a:p>
            <a:r>
              <a:rPr lang="en-US" dirty="0">
                <a:solidFill>
                  <a:srgbClr val="FFFF00"/>
                </a:solidFill>
                <a:latin typeface="Times New Roman Regular" panose="02020603050405020304" charset="0"/>
                <a:cs typeface="Times New Roman Regular" panose="02020603050405020304" charset="0"/>
              </a:rPr>
              <a:t>Use Cases</a:t>
            </a:r>
          </a:p>
        </p:txBody>
      </p:sp>
      <p:sp>
        <p:nvSpPr>
          <p:cNvPr id="3" name="Content Placeholder 2">
            <a:extLst>
              <a:ext uri="{FF2B5EF4-FFF2-40B4-BE49-F238E27FC236}">
                <a16:creationId xmlns:a16="http://schemas.microsoft.com/office/drawing/2014/main" id="{1D34267A-3697-C363-A727-31A16A4487ED}"/>
              </a:ext>
            </a:extLst>
          </p:cNvPr>
          <p:cNvSpPr>
            <a:spLocks noGrp="1"/>
          </p:cNvSpPr>
          <p:nvPr>
            <p:ph idx="1"/>
          </p:nvPr>
        </p:nvSpPr>
        <p:spPr>
          <a:xfrm>
            <a:off x="457200" y="1600200"/>
            <a:ext cx="8229600" cy="4837176"/>
          </a:xfrm>
        </p:spPr>
        <p:txBody>
          <a:bodyPr>
            <a:normAutofit/>
          </a:bodyPr>
          <a:lstStyle/>
          <a:p>
            <a:pPr marL="0" indent="0" algn="just">
              <a:buNone/>
            </a:pPr>
            <a:r>
              <a:rPr lang="en-US" sz="2800" b="1" dirty="0">
                <a:latin typeface="Times New Roman Regular" panose="02020603050405020304" charset="0"/>
                <a:cs typeface="Times New Roman Regular" panose="02020603050405020304" charset="0"/>
              </a:rPr>
              <a:t>Elements of a Use Case Diagram (</a:t>
            </a:r>
            <a:r>
              <a:rPr lang="en-US" sz="2800" b="1" dirty="0" err="1">
                <a:latin typeface="Times New Roman Regular" panose="02020603050405020304" charset="0"/>
                <a:cs typeface="Times New Roman Regular" panose="02020603050405020304" charset="0"/>
              </a:rPr>
              <a:t>Cont</a:t>
            </a:r>
            <a:r>
              <a:rPr lang="en-US" sz="2800" b="1" dirty="0">
                <a:latin typeface="Times New Roman Regular" panose="02020603050405020304" charset="0"/>
                <a:cs typeface="Times New Roman Regular" panose="02020603050405020304" charset="0"/>
              </a:rPr>
              <a:t>…):</a:t>
            </a:r>
          </a:p>
          <a:p>
            <a:pPr marL="0" indent="0" algn="just">
              <a:buNone/>
            </a:pPr>
            <a:r>
              <a:rPr lang="en-US" sz="2800" i="1" dirty="0">
                <a:latin typeface="Times New Roman Regular" panose="02020603050405020304" charset="0"/>
                <a:cs typeface="Times New Roman Regular" panose="02020603050405020304" charset="0"/>
              </a:rPr>
              <a:t>Arrows</a:t>
            </a:r>
            <a:r>
              <a:rPr lang="en-US" sz="2800" dirty="0">
                <a:latin typeface="Times New Roman Regular" panose="02020603050405020304" charset="0"/>
                <a:cs typeface="Times New Roman Regular" panose="02020603050405020304" charset="0"/>
              </a:rPr>
              <a:t>: Serve a number of purposes depending on its direction or </a:t>
            </a:r>
            <a:r>
              <a:rPr lang="en-US" sz="2800" b="1" dirty="0">
                <a:latin typeface="Times New Roman Regular" panose="02020603050405020304" charset="0"/>
                <a:cs typeface="Times New Roman Regular" panose="02020603050405020304" charset="0"/>
              </a:rPr>
              <a:t>style</a:t>
            </a:r>
            <a:r>
              <a:rPr lang="en-US" sz="2800" dirty="0">
                <a:latin typeface="Times New Roman Regular" panose="02020603050405020304" charset="0"/>
                <a:cs typeface="Times New Roman Regular" panose="02020603050405020304" charset="0"/>
              </a:rPr>
              <a:t>.</a:t>
            </a:r>
          </a:p>
          <a:p>
            <a:pPr lvl="1" algn="just"/>
            <a:r>
              <a:rPr lang="en-US" sz="2400" b="1" dirty="0">
                <a:latin typeface="Times New Roman Regular" panose="02020603050405020304" charset="0"/>
                <a:cs typeface="Times New Roman Regular" panose="02020603050405020304" charset="0"/>
              </a:rPr>
              <a:t>Include</a:t>
            </a:r>
            <a:r>
              <a:rPr lang="en-US" sz="2400" dirty="0">
                <a:latin typeface="Times New Roman Regular" panose="02020603050405020304" charset="0"/>
                <a:cs typeface="Times New Roman Regular" panose="02020603050405020304" charset="0"/>
              </a:rPr>
              <a:t>: </a:t>
            </a:r>
            <a:r>
              <a:rPr lang="en-US" sz="2400" dirty="0">
                <a:latin typeface="Times New Roman" panose="02020603050405020304" pitchFamily="18" charset="0"/>
                <a:cs typeface="Times New Roman" panose="02020603050405020304" pitchFamily="18" charset="0"/>
              </a:rPr>
              <a:t>Models a relationship where a base use case explicitly incorporates the behavior of another use case at a specified point.</a:t>
            </a:r>
          </a:p>
          <a:p>
            <a:pPr marL="457200" lvl="1" indent="0" algn="just">
              <a:buNone/>
            </a:pPr>
            <a:endParaRPr lang="en-US" sz="2400" b="1" i="1" dirty="0">
              <a:latin typeface="Times New Roman Regular" panose="02020603050405020304" charset="0"/>
              <a:cs typeface="Times New Roman Regular" panose="02020603050405020304" charset="0"/>
            </a:endParaRPr>
          </a:p>
        </p:txBody>
      </p:sp>
      <p:pic>
        <p:nvPicPr>
          <p:cNvPr id="4" name="Picture 3">
            <a:extLst>
              <a:ext uri="{FF2B5EF4-FFF2-40B4-BE49-F238E27FC236}">
                <a16:creationId xmlns:a16="http://schemas.microsoft.com/office/drawing/2014/main" id="{B449D34E-E347-CB10-5B60-61ED5D2F9D32}"/>
              </a:ext>
            </a:extLst>
          </p:cNvPr>
          <p:cNvPicPr>
            <a:picLocks noChangeAspect="1"/>
          </p:cNvPicPr>
          <p:nvPr/>
        </p:nvPicPr>
        <p:blipFill>
          <a:blip r:embed="rId3"/>
          <a:stretch>
            <a:fillRect/>
          </a:stretch>
        </p:blipFill>
        <p:spPr>
          <a:xfrm>
            <a:off x="2862072" y="3673267"/>
            <a:ext cx="5111496" cy="3184733"/>
          </a:xfrm>
          <a:prstGeom prst="rect">
            <a:avLst/>
          </a:prstGeom>
        </p:spPr>
      </p:pic>
    </p:spTree>
    <p:extLst>
      <p:ext uri="{BB962C8B-B14F-4D97-AF65-F5344CB8AC3E}">
        <p14:creationId xmlns:p14="http://schemas.microsoft.com/office/powerpoint/2010/main" val="2175880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CA535-B9DE-8378-4BD9-F762E95FE7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DE429C-2B07-9043-DB19-F2921E687FFE}"/>
              </a:ext>
            </a:extLst>
          </p:cNvPr>
          <p:cNvSpPr>
            <a:spLocks noGrp="1"/>
          </p:cNvSpPr>
          <p:nvPr>
            <p:ph type="title"/>
          </p:nvPr>
        </p:nvSpPr>
        <p:spPr>
          <a:solidFill>
            <a:schemeClr val="tx1"/>
          </a:solidFill>
        </p:spPr>
        <p:txBody>
          <a:bodyPr>
            <a:normAutofit/>
          </a:bodyPr>
          <a:lstStyle/>
          <a:p>
            <a:r>
              <a:rPr lang="en-US" dirty="0">
                <a:solidFill>
                  <a:srgbClr val="FFFF00"/>
                </a:solidFill>
                <a:latin typeface="Times New Roman Regular" panose="02020603050405020304" charset="0"/>
                <a:cs typeface="Times New Roman Regular" panose="02020603050405020304" charset="0"/>
              </a:rPr>
              <a:t>User Stories</a:t>
            </a:r>
          </a:p>
        </p:txBody>
      </p:sp>
      <p:sp>
        <p:nvSpPr>
          <p:cNvPr id="3" name="Content Placeholder 2">
            <a:extLst>
              <a:ext uri="{FF2B5EF4-FFF2-40B4-BE49-F238E27FC236}">
                <a16:creationId xmlns:a16="http://schemas.microsoft.com/office/drawing/2014/main" id="{BC0C00C7-33CE-8C6D-0BB7-8D44DEFB7C99}"/>
              </a:ext>
            </a:extLst>
          </p:cNvPr>
          <p:cNvSpPr>
            <a:spLocks noGrp="1"/>
          </p:cNvSpPr>
          <p:nvPr>
            <p:ph idx="1"/>
          </p:nvPr>
        </p:nvSpPr>
        <p:spPr>
          <a:xfrm>
            <a:off x="457200" y="1600200"/>
            <a:ext cx="8229600" cy="4837176"/>
          </a:xfrm>
        </p:spPr>
        <p:txBody>
          <a:bodyPr>
            <a:normAutofit/>
          </a:bodyPr>
          <a:lstStyle/>
          <a:p>
            <a:pPr marL="0" indent="0" algn="just">
              <a:buNone/>
            </a:pPr>
            <a:r>
              <a:rPr lang="en-US" sz="2800" b="1" dirty="0">
                <a:latin typeface="Times New Roman Regular" panose="02020603050405020304" charset="0"/>
                <a:cs typeface="Times New Roman Regular" panose="02020603050405020304" charset="0"/>
              </a:rPr>
              <a:t>What is a User Story?</a:t>
            </a:r>
          </a:p>
          <a:p>
            <a:pPr marL="0" indent="0" algn="just">
              <a:buNone/>
            </a:pPr>
            <a:r>
              <a:rPr lang="en-US" sz="2800" dirty="0">
                <a:latin typeface="Times New Roman Regular" panose="02020603050405020304" charset="0"/>
                <a:cs typeface="Times New Roman Regular" panose="02020603050405020304" charset="0"/>
              </a:rPr>
              <a:t>	A user story is a description of functionality that will be valuable to a user or buyer of a system or software.</a:t>
            </a:r>
          </a:p>
          <a:p>
            <a:pPr marL="0" indent="0" algn="just">
              <a:buNone/>
            </a:pPr>
            <a:r>
              <a:rPr lang="en-US" sz="2800" dirty="0">
                <a:latin typeface="Times New Roman Regular" panose="02020603050405020304" charset="0"/>
                <a:cs typeface="Times New Roman Regular" panose="02020603050405020304" charset="0"/>
              </a:rPr>
              <a:t>	It is an </a:t>
            </a:r>
            <a:r>
              <a:rPr lang="en-US" sz="2800" i="1" dirty="0">
                <a:latin typeface="Times New Roman Regular" panose="02020603050405020304" charset="0"/>
                <a:cs typeface="Times New Roman Regular" panose="02020603050405020304" charset="0"/>
              </a:rPr>
              <a:t>informal</a:t>
            </a:r>
            <a:r>
              <a:rPr lang="en-US" sz="2800" dirty="0">
                <a:latin typeface="Times New Roman Regular" panose="02020603050405020304" charset="0"/>
                <a:cs typeface="Times New Roman Regular" panose="02020603050405020304" charset="0"/>
              </a:rPr>
              <a:t> description of a software feature written from an end-user’s perspective. The goal of a user story is to articulate how a software feature will deliver value back to the customers.</a:t>
            </a:r>
          </a:p>
          <a:p>
            <a:pPr marL="0" indent="0" algn="just">
              <a:buNone/>
            </a:pPr>
            <a:r>
              <a:rPr lang="en-US" sz="2800" dirty="0">
                <a:latin typeface="Times New Roman Regular" panose="02020603050405020304" charset="0"/>
                <a:cs typeface="Times New Roman Regular" panose="02020603050405020304" charset="0"/>
              </a:rPr>
              <a:t>	It can also be seen as the smallest unit of work in an Agile framework.</a:t>
            </a:r>
          </a:p>
        </p:txBody>
      </p:sp>
    </p:spTree>
    <p:extLst>
      <p:ext uri="{BB962C8B-B14F-4D97-AF65-F5344CB8AC3E}">
        <p14:creationId xmlns:p14="http://schemas.microsoft.com/office/powerpoint/2010/main" val="3830028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20F70-6A46-B3F1-E9E1-B2EA238798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BD5BEE-B78D-7C3C-B922-59492F54504D}"/>
              </a:ext>
            </a:extLst>
          </p:cNvPr>
          <p:cNvSpPr>
            <a:spLocks noGrp="1"/>
          </p:cNvSpPr>
          <p:nvPr>
            <p:ph type="title"/>
          </p:nvPr>
        </p:nvSpPr>
        <p:spPr>
          <a:solidFill>
            <a:schemeClr val="tx1"/>
          </a:solidFill>
        </p:spPr>
        <p:txBody>
          <a:bodyPr>
            <a:normAutofit/>
          </a:bodyPr>
          <a:lstStyle/>
          <a:p>
            <a:r>
              <a:rPr lang="en-US" dirty="0">
                <a:solidFill>
                  <a:srgbClr val="FFFF00"/>
                </a:solidFill>
                <a:latin typeface="Times New Roman Regular" panose="02020603050405020304" charset="0"/>
                <a:cs typeface="Times New Roman Regular" panose="02020603050405020304" charset="0"/>
              </a:rPr>
              <a:t>User Stories</a:t>
            </a:r>
          </a:p>
        </p:txBody>
      </p:sp>
      <p:sp>
        <p:nvSpPr>
          <p:cNvPr id="3" name="Content Placeholder 2">
            <a:extLst>
              <a:ext uri="{FF2B5EF4-FFF2-40B4-BE49-F238E27FC236}">
                <a16:creationId xmlns:a16="http://schemas.microsoft.com/office/drawing/2014/main" id="{ED3B19B2-0F88-9E9C-D36C-23E3C9CE9D52}"/>
              </a:ext>
            </a:extLst>
          </p:cNvPr>
          <p:cNvSpPr>
            <a:spLocks noGrp="1"/>
          </p:cNvSpPr>
          <p:nvPr>
            <p:ph idx="1"/>
          </p:nvPr>
        </p:nvSpPr>
        <p:spPr>
          <a:xfrm>
            <a:off x="457200" y="1600200"/>
            <a:ext cx="8229600" cy="4837176"/>
          </a:xfrm>
        </p:spPr>
        <p:txBody>
          <a:bodyPr>
            <a:normAutofit/>
          </a:bodyPr>
          <a:lstStyle/>
          <a:p>
            <a:pPr marL="0" indent="0" algn="just">
              <a:buNone/>
            </a:pPr>
            <a:r>
              <a:rPr lang="en-US" sz="2800" b="1" dirty="0">
                <a:latin typeface="Times New Roman Regular" panose="02020603050405020304" charset="0"/>
                <a:cs typeface="Times New Roman Regular" panose="02020603050405020304" charset="0"/>
              </a:rPr>
              <a:t>The Three C’s of User Stories</a:t>
            </a:r>
          </a:p>
          <a:p>
            <a:pPr marL="0" indent="0" algn="just">
              <a:buNone/>
            </a:pPr>
            <a:endParaRPr lang="en-US" sz="2800" dirty="0">
              <a:latin typeface="Times New Roman Regular" panose="02020603050405020304" charset="0"/>
              <a:cs typeface="Times New Roman Regular" panose="02020603050405020304" charset="0"/>
            </a:endParaRPr>
          </a:p>
        </p:txBody>
      </p:sp>
      <p:grpSp>
        <p:nvGrpSpPr>
          <p:cNvPr id="6" name="Group 5">
            <a:extLst>
              <a:ext uri="{FF2B5EF4-FFF2-40B4-BE49-F238E27FC236}">
                <a16:creationId xmlns:a16="http://schemas.microsoft.com/office/drawing/2014/main" id="{188731C1-B56E-66B0-64DF-95A7616F3573}"/>
              </a:ext>
            </a:extLst>
          </p:cNvPr>
          <p:cNvGrpSpPr/>
          <p:nvPr/>
        </p:nvGrpSpPr>
        <p:grpSpPr>
          <a:xfrm>
            <a:off x="457200" y="2215728"/>
            <a:ext cx="2935225" cy="3054788"/>
            <a:chOff x="457200" y="2215728"/>
            <a:chExt cx="2935225" cy="3054788"/>
          </a:xfrm>
        </p:grpSpPr>
        <p:pic>
          <p:nvPicPr>
            <p:cNvPr id="4" name="Picture 3" descr="Code never lies, but comments sometimes do.&quot; ~Ron Jeffries  https://t.co/WKFk8mRJ2n">
              <a:extLst>
                <a:ext uri="{FF2B5EF4-FFF2-40B4-BE49-F238E27FC236}">
                  <a16:creationId xmlns:a16="http://schemas.microsoft.com/office/drawing/2014/main" id="{155EBFFE-2602-1A8C-3569-76FA2FF5C773}"/>
                </a:ext>
              </a:extLst>
            </p:cNvPr>
            <p:cNvPicPr>
              <a:picLocks noChangeAspect="1"/>
            </p:cNvPicPr>
            <p:nvPr/>
          </p:nvPicPr>
          <p:blipFill>
            <a:blip r:embed="rId3"/>
            <a:srcRect r="40685"/>
            <a:stretch>
              <a:fillRect/>
            </a:stretch>
          </p:blipFill>
          <p:spPr>
            <a:xfrm>
              <a:off x="539497" y="2215728"/>
              <a:ext cx="2852928" cy="2685456"/>
            </a:xfrm>
            <a:prstGeom prst="rect">
              <a:avLst/>
            </a:prstGeom>
          </p:spPr>
        </p:pic>
        <p:sp>
          <p:nvSpPr>
            <p:cNvPr id="5" name="TextBox 4">
              <a:extLst>
                <a:ext uri="{FF2B5EF4-FFF2-40B4-BE49-F238E27FC236}">
                  <a16:creationId xmlns:a16="http://schemas.microsoft.com/office/drawing/2014/main" id="{438B4044-24AD-E47E-47E3-45F7056293C7}"/>
                </a:ext>
              </a:extLst>
            </p:cNvPr>
            <p:cNvSpPr txBox="1"/>
            <p:nvPr/>
          </p:nvSpPr>
          <p:spPr>
            <a:xfrm>
              <a:off x="457200" y="4901184"/>
              <a:ext cx="2852928"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Ron Jeffries</a:t>
              </a:r>
            </a:p>
          </p:txBody>
        </p:sp>
      </p:grpSp>
      <p:sp>
        <p:nvSpPr>
          <p:cNvPr id="7" name="TextBox 6">
            <a:extLst>
              <a:ext uri="{FF2B5EF4-FFF2-40B4-BE49-F238E27FC236}">
                <a16:creationId xmlns:a16="http://schemas.microsoft.com/office/drawing/2014/main" id="{9EFB47A2-5F4E-1179-6D8A-80784DFDFD36}"/>
              </a:ext>
            </a:extLst>
          </p:cNvPr>
          <p:cNvSpPr txBox="1"/>
          <p:nvPr/>
        </p:nvSpPr>
        <p:spPr>
          <a:xfrm>
            <a:off x="3703320" y="2340864"/>
            <a:ext cx="4983480" cy="3477875"/>
          </a:xfrm>
          <a:prstGeom prst="rect">
            <a:avLst/>
          </a:prstGeom>
          <a:noFill/>
        </p:spPr>
        <p:txBody>
          <a:bodyPr wrap="square" rtlCol="0">
            <a:spAutoFit/>
          </a:bodyPr>
          <a:lstStyle/>
          <a:p>
            <a:pPr marL="285750" indent="-285750">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Card: </a:t>
            </a:r>
            <a:r>
              <a:rPr lang="en-US" sz="2200" dirty="0">
                <a:latin typeface="Times New Roman" panose="02020603050405020304" pitchFamily="18" charset="0"/>
                <a:cs typeface="Times New Roman" panose="02020603050405020304" pitchFamily="18" charset="0"/>
              </a:rPr>
              <a:t>Usually, a physical note that captures the user’s intent with the system.</a:t>
            </a:r>
            <a:endParaRPr lang="en-US" sz="22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Conversation: </a:t>
            </a:r>
            <a:r>
              <a:rPr lang="en-US" sz="2200" dirty="0">
                <a:latin typeface="Times New Roman" panose="02020603050405020304" pitchFamily="18" charset="0"/>
                <a:cs typeface="Times New Roman" panose="02020603050405020304" pitchFamily="18" charset="0"/>
              </a:rPr>
              <a:t>Refers to the discussions between developers, stakeholders  and product owners to flesh out the details of cards.</a:t>
            </a:r>
            <a:endParaRPr lang="en-US" sz="22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Confirmation:</a:t>
            </a:r>
            <a:r>
              <a:rPr lang="en-US" sz="2200" dirty="0">
                <a:latin typeface="Times New Roman" panose="02020603050405020304" pitchFamily="18" charset="0"/>
                <a:cs typeface="Times New Roman" panose="02020603050405020304" pitchFamily="18" charset="0"/>
              </a:rPr>
              <a:t> The acceptance criteria that prove that a story is done and working as expected.</a:t>
            </a:r>
            <a:endParaRPr lang="en-US" sz="2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89362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animEffect transition="in" filter="fade">
                                      <p:cBhvr>
                                        <p:cTn id="17" dur="500"/>
                                        <p:tgtEl>
                                          <p:spTgt spid="7">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xEl>
                                              <p:pRg st="1" end="1"/>
                                            </p:txEl>
                                          </p:spTgt>
                                        </p:tgtEl>
                                        <p:attrNameLst>
                                          <p:attrName>style.visibility</p:attrName>
                                        </p:attrNameLst>
                                      </p:cBhvr>
                                      <p:to>
                                        <p:strVal val="visible"/>
                                      </p:to>
                                    </p:set>
                                    <p:animEffect transition="in" filter="fade">
                                      <p:cBhvr>
                                        <p:cTn id="22" dur="500"/>
                                        <p:tgtEl>
                                          <p:spTgt spid="7">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xEl>
                                              <p:pRg st="2" end="2"/>
                                            </p:txEl>
                                          </p:spTgt>
                                        </p:tgtEl>
                                        <p:attrNameLst>
                                          <p:attrName>style.visibility</p:attrName>
                                        </p:attrNameLst>
                                      </p:cBhvr>
                                      <p:to>
                                        <p:strVal val="visible"/>
                                      </p:to>
                                    </p:set>
                                    <p:animEffect transition="in" filter="fade">
                                      <p:cBhvr>
                                        <p:cTn id="27"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A2A6E-0C6D-1E2E-41AB-066F9D67BB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FCA003-EA24-0696-427D-3273646A5114}"/>
              </a:ext>
            </a:extLst>
          </p:cNvPr>
          <p:cNvSpPr>
            <a:spLocks noGrp="1"/>
          </p:cNvSpPr>
          <p:nvPr>
            <p:ph type="title"/>
          </p:nvPr>
        </p:nvSpPr>
        <p:spPr>
          <a:solidFill>
            <a:schemeClr val="tx1"/>
          </a:solidFill>
        </p:spPr>
        <p:txBody>
          <a:bodyPr>
            <a:normAutofit/>
          </a:bodyPr>
          <a:lstStyle/>
          <a:p>
            <a:r>
              <a:rPr lang="en-US" dirty="0">
                <a:solidFill>
                  <a:srgbClr val="FFFF00"/>
                </a:solidFill>
                <a:latin typeface="Times New Roman Regular" panose="02020603050405020304" charset="0"/>
                <a:cs typeface="Times New Roman Regular" panose="02020603050405020304" charset="0"/>
              </a:rPr>
              <a:t>User Stories</a:t>
            </a:r>
          </a:p>
        </p:txBody>
      </p:sp>
      <p:graphicFrame>
        <p:nvGraphicFramePr>
          <p:cNvPr id="8" name="Content Placeholder 7">
            <a:extLst>
              <a:ext uri="{FF2B5EF4-FFF2-40B4-BE49-F238E27FC236}">
                <a16:creationId xmlns:a16="http://schemas.microsoft.com/office/drawing/2014/main" id="{3B72A9AC-A27A-4BE0-4527-61CDED796272}"/>
              </a:ext>
            </a:extLst>
          </p:cNvPr>
          <p:cNvGraphicFramePr>
            <a:graphicFrameLocks noGrp="1"/>
          </p:cNvGraphicFramePr>
          <p:nvPr>
            <p:ph idx="1"/>
            <p:extLst>
              <p:ext uri="{D42A27DB-BD31-4B8C-83A1-F6EECF244321}">
                <p14:modId xmlns:p14="http://schemas.microsoft.com/office/powerpoint/2010/main" val="1412051014"/>
              </p:ext>
            </p:extLst>
          </p:nvPr>
        </p:nvGraphicFramePr>
        <p:xfrm>
          <a:off x="457200" y="1600200"/>
          <a:ext cx="4754880" cy="3002280"/>
        </p:xfrm>
        <a:graphic>
          <a:graphicData uri="http://schemas.openxmlformats.org/drawingml/2006/table">
            <a:tbl>
              <a:tblPr firstRow="1" bandRow="1">
                <a:effectLst>
                  <a:outerShdw blurRad="63500" sx="102000" sy="102000" algn="ctr" rotWithShape="0">
                    <a:prstClr val="black">
                      <a:alpha val="40000"/>
                    </a:prstClr>
                  </a:outerShdw>
                </a:effectLst>
                <a:tableStyleId>{2D5ABB26-0587-4C30-8999-92F81FD0307C}</a:tableStyleId>
              </a:tblPr>
              <a:tblGrid>
                <a:gridCol w="4754880">
                  <a:extLst>
                    <a:ext uri="{9D8B030D-6E8A-4147-A177-3AD203B41FA5}">
                      <a16:colId xmlns:a16="http://schemas.microsoft.com/office/drawing/2014/main" val="344095588"/>
                    </a:ext>
                  </a:extLst>
                </a:gridCol>
              </a:tblGrid>
              <a:tr h="3002280">
                <a:tc>
                  <a:txBody>
                    <a:bodyPr/>
                    <a:lstStyle/>
                    <a:p>
                      <a:r>
                        <a:rPr lang="en-US" dirty="0">
                          <a:latin typeface="Times New Roman" panose="02020603050405020304" pitchFamily="18" charset="0"/>
                          <a:cs typeface="Times New Roman" panose="02020603050405020304" pitchFamily="18" charset="0"/>
                        </a:rPr>
                        <a:t>As a &lt;particular user&gt;, I want to &lt;accomplish this task&gt; so that I can &lt;achieve this objective or goal&gt;.</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Estimate: </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Priority: </a:t>
                      </a:r>
                    </a:p>
                  </a:txBody>
                  <a:tcPr>
                    <a:lnL w="28575" cap="flat" cmpd="sng" algn="ctr">
                      <a:solidFill>
                        <a:schemeClr val="tx1">
                          <a:lumMod val="75000"/>
                          <a:lumOff val="25000"/>
                        </a:schemeClr>
                      </a:solidFill>
                      <a:prstDash val="solid"/>
                      <a:round/>
                      <a:headEnd type="none" w="med" len="med"/>
                      <a:tailEnd type="none" w="med" len="med"/>
                    </a:lnL>
                    <a:lnR w="28575" cap="flat" cmpd="sng" algn="ctr">
                      <a:solidFill>
                        <a:schemeClr val="tx1">
                          <a:lumMod val="75000"/>
                          <a:lumOff val="25000"/>
                        </a:schemeClr>
                      </a:solidFill>
                      <a:prstDash val="solid"/>
                      <a:round/>
                      <a:headEnd type="none" w="med" len="med"/>
                      <a:tailEnd type="none" w="med" len="med"/>
                    </a:lnR>
                    <a:lnT w="28575" cap="flat" cmpd="sng" algn="ctr">
                      <a:solidFill>
                        <a:schemeClr val="tx1">
                          <a:lumMod val="75000"/>
                          <a:lumOff val="25000"/>
                        </a:schemeClr>
                      </a:solidFill>
                      <a:prstDash val="solid"/>
                      <a:round/>
                      <a:headEnd type="none" w="med" len="med"/>
                      <a:tailEnd type="none" w="med" len="med"/>
                    </a:lnT>
                    <a:lnB w="285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075350180"/>
                  </a:ext>
                </a:extLst>
              </a:tr>
            </a:tbl>
          </a:graphicData>
        </a:graphic>
      </p:graphicFrame>
      <p:sp>
        <p:nvSpPr>
          <p:cNvPr id="9" name="Rectangle 8">
            <a:extLst>
              <a:ext uri="{FF2B5EF4-FFF2-40B4-BE49-F238E27FC236}">
                <a16:creationId xmlns:a16="http://schemas.microsoft.com/office/drawing/2014/main" id="{8E115DB3-0B35-599E-7989-EE257F3F7B0B}"/>
              </a:ext>
            </a:extLst>
          </p:cNvPr>
          <p:cNvSpPr/>
          <p:nvPr/>
        </p:nvSpPr>
        <p:spPr>
          <a:xfrm>
            <a:off x="1627632" y="2569464"/>
            <a:ext cx="1078992" cy="658368"/>
          </a:xfrm>
          <a:prstGeom prst="rect">
            <a:avLst/>
          </a:prstGeom>
          <a:no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9C95D6B-6382-2464-81D3-A95DC86FF331}"/>
              </a:ext>
            </a:extLst>
          </p:cNvPr>
          <p:cNvSpPr/>
          <p:nvPr/>
        </p:nvSpPr>
        <p:spPr>
          <a:xfrm>
            <a:off x="1627632" y="3630169"/>
            <a:ext cx="1078992" cy="658368"/>
          </a:xfrm>
          <a:prstGeom prst="rect">
            <a:avLst/>
          </a:prstGeom>
          <a:no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aphicFrame>
        <p:nvGraphicFramePr>
          <p:cNvPr id="11" name="Content Placeholder 7">
            <a:extLst>
              <a:ext uri="{FF2B5EF4-FFF2-40B4-BE49-F238E27FC236}">
                <a16:creationId xmlns:a16="http://schemas.microsoft.com/office/drawing/2014/main" id="{2B909DC9-0F53-7774-F179-6FB7562BBF26}"/>
              </a:ext>
            </a:extLst>
          </p:cNvPr>
          <p:cNvGraphicFramePr>
            <a:graphicFrameLocks/>
          </p:cNvGraphicFramePr>
          <p:nvPr>
            <p:extLst>
              <p:ext uri="{D42A27DB-BD31-4B8C-83A1-F6EECF244321}">
                <p14:modId xmlns:p14="http://schemas.microsoft.com/office/powerpoint/2010/main" val="2081819700"/>
              </p:ext>
            </p:extLst>
          </p:nvPr>
        </p:nvGraphicFramePr>
        <p:xfrm>
          <a:off x="2761488" y="2129029"/>
          <a:ext cx="4754880" cy="3002280"/>
        </p:xfrm>
        <a:graphic>
          <a:graphicData uri="http://schemas.openxmlformats.org/drawingml/2006/table">
            <a:tbl>
              <a:tblPr firstRow="1" bandRow="1">
                <a:effectLst>
                  <a:outerShdw blurRad="63500" sx="102000" sy="102000" algn="ctr" rotWithShape="0">
                    <a:prstClr val="black">
                      <a:alpha val="40000"/>
                    </a:prstClr>
                  </a:outerShdw>
                </a:effectLst>
                <a:tableStyleId>{2D5ABB26-0587-4C30-8999-92F81FD0307C}</a:tableStyleId>
              </a:tblPr>
              <a:tblGrid>
                <a:gridCol w="4754880">
                  <a:extLst>
                    <a:ext uri="{9D8B030D-6E8A-4147-A177-3AD203B41FA5}">
                      <a16:colId xmlns:a16="http://schemas.microsoft.com/office/drawing/2014/main" val="344095588"/>
                    </a:ext>
                  </a:extLst>
                </a:gridCol>
              </a:tblGrid>
              <a:tr h="3002280">
                <a:tc>
                  <a:txBody>
                    <a:bodyPr/>
                    <a:lstStyle/>
                    <a:p>
                      <a:r>
                        <a:rPr lang="en-US" dirty="0">
                          <a:latin typeface="Times New Roman" panose="02020603050405020304" pitchFamily="18" charset="0"/>
                          <a:cs typeface="Times New Roman" panose="02020603050405020304" pitchFamily="18" charset="0"/>
                        </a:rPr>
                        <a:t>As a </a:t>
                      </a:r>
                      <a:r>
                        <a:rPr lang="en-US" i="1" u="sng" dirty="0">
                          <a:latin typeface="Times New Roman" panose="02020603050405020304" pitchFamily="18" charset="0"/>
                          <a:cs typeface="Times New Roman" panose="02020603050405020304" pitchFamily="18" charset="0"/>
                        </a:rPr>
                        <a:t>student</a:t>
                      </a:r>
                      <a:r>
                        <a:rPr lang="en-US" dirty="0">
                          <a:latin typeface="Times New Roman" panose="02020603050405020304" pitchFamily="18" charset="0"/>
                          <a:cs typeface="Times New Roman" panose="02020603050405020304" pitchFamily="18" charset="0"/>
                        </a:rPr>
                        <a:t>, I want to </a:t>
                      </a:r>
                      <a:r>
                        <a:rPr lang="en-US" i="1" u="sng" dirty="0">
                          <a:latin typeface="Times New Roman" panose="02020603050405020304" pitchFamily="18" charset="0"/>
                          <a:cs typeface="Times New Roman" panose="02020603050405020304" pitchFamily="18" charset="0"/>
                        </a:rPr>
                        <a:t>download my transcript</a:t>
                      </a:r>
                      <a:r>
                        <a:rPr lang="en-US" dirty="0">
                          <a:latin typeface="Times New Roman" panose="02020603050405020304" pitchFamily="18" charset="0"/>
                          <a:cs typeface="Times New Roman" panose="02020603050405020304" pitchFamily="18" charset="0"/>
                        </a:rPr>
                        <a:t> so that I can </a:t>
                      </a:r>
                      <a:r>
                        <a:rPr lang="en-US" i="1" u="sng" dirty="0">
                          <a:latin typeface="Times New Roman" panose="02020603050405020304" pitchFamily="18" charset="0"/>
                          <a:cs typeface="Times New Roman" panose="02020603050405020304" pitchFamily="18" charset="0"/>
                        </a:rPr>
                        <a:t>have a digital copy of my transcript</a:t>
                      </a:r>
                      <a:r>
                        <a:rPr lang="en-US" i="0" u="none"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Estimate: </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Priority: </a:t>
                      </a:r>
                    </a:p>
                  </a:txBody>
                  <a:tcPr>
                    <a:lnL w="28575" cap="flat" cmpd="sng" algn="ctr">
                      <a:solidFill>
                        <a:schemeClr val="tx1">
                          <a:lumMod val="75000"/>
                          <a:lumOff val="25000"/>
                        </a:schemeClr>
                      </a:solidFill>
                      <a:prstDash val="solid"/>
                      <a:round/>
                      <a:headEnd type="none" w="med" len="med"/>
                      <a:tailEnd type="none" w="med" len="med"/>
                    </a:lnL>
                    <a:lnR w="28575" cap="flat" cmpd="sng" algn="ctr">
                      <a:solidFill>
                        <a:schemeClr val="tx1">
                          <a:lumMod val="75000"/>
                          <a:lumOff val="25000"/>
                        </a:schemeClr>
                      </a:solidFill>
                      <a:prstDash val="solid"/>
                      <a:round/>
                      <a:headEnd type="none" w="med" len="med"/>
                      <a:tailEnd type="none" w="med" len="med"/>
                    </a:lnR>
                    <a:lnT w="28575" cap="flat" cmpd="sng" algn="ctr">
                      <a:solidFill>
                        <a:schemeClr val="tx1">
                          <a:lumMod val="75000"/>
                          <a:lumOff val="25000"/>
                        </a:schemeClr>
                      </a:solidFill>
                      <a:prstDash val="solid"/>
                      <a:round/>
                      <a:headEnd type="none" w="med" len="med"/>
                      <a:tailEnd type="none" w="med" len="med"/>
                    </a:lnT>
                    <a:lnB w="285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075350180"/>
                  </a:ext>
                </a:extLst>
              </a:tr>
            </a:tbl>
          </a:graphicData>
        </a:graphic>
      </p:graphicFrame>
      <p:sp>
        <p:nvSpPr>
          <p:cNvPr id="12" name="Rectangle 11">
            <a:extLst>
              <a:ext uri="{FF2B5EF4-FFF2-40B4-BE49-F238E27FC236}">
                <a16:creationId xmlns:a16="http://schemas.microsoft.com/office/drawing/2014/main" id="{85D18B0B-CCC9-4329-7B07-DF332C96F047}"/>
              </a:ext>
            </a:extLst>
          </p:cNvPr>
          <p:cNvSpPr/>
          <p:nvPr/>
        </p:nvSpPr>
        <p:spPr>
          <a:xfrm>
            <a:off x="3931920" y="2894997"/>
            <a:ext cx="1078992" cy="658368"/>
          </a:xfrm>
          <a:prstGeom prst="rect">
            <a:avLst/>
          </a:prstGeom>
          <a:no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ECDA12A-60BB-BCDD-F284-C80FDBE382B9}"/>
              </a:ext>
            </a:extLst>
          </p:cNvPr>
          <p:cNvSpPr/>
          <p:nvPr/>
        </p:nvSpPr>
        <p:spPr>
          <a:xfrm>
            <a:off x="3931920" y="3935572"/>
            <a:ext cx="1078992" cy="658368"/>
          </a:xfrm>
          <a:prstGeom prst="rect">
            <a:avLst/>
          </a:prstGeom>
          <a:no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97719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2" grpId="0" animBg="1"/>
      <p:bldP spid="1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F14E25-59D2-A814-3503-FEC99B0D93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10AB94-1DD3-4434-1FF0-EB22F8946F6E}"/>
              </a:ext>
            </a:extLst>
          </p:cNvPr>
          <p:cNvSpPr>
            <a:spLocks noGrp="1"/>
          </p:cNvSpPr>
          <p:nvPr>
            <p:ph type="title"/>
          </p:nvPr>
        </p:nvSpPr>
        <p:spPr>
          <a:solidFill>
            <a:schemeClr val="tx1"/>
          </a:solidFill>
        </p:spPr>
        <p:txBody>
          <a:bodyPr>
            <a:normAutofit/>
          </a:bodyPr>
          <a:lstStyle/>
          <a:p>
            <a:r>
              <a:rPr lang="en-US" dirty="0">
                <a:solidFill>
                  <a:srgbClr val="FFFF00"/>
                </a:solidFill>
                <a:latin typeface="Times New Roman Regular" panose="02020603050405020304" charset="0"/>
                <a:cs typeface="Times New Roman Regular" panose="02020603050405020304" charset="0"/>
              </a:rPr>
              <a:t>User Stories</a:t>
            </a:r>
          </a:p>
        </p:txBody>
      </p:sp>
      <p:sp>
        <p:nvSpPr>
          <p:cNvPr id="3" name="Content Placeholder 2">
            <a:extLst>
              <a:ext uri="{FF2B5EF4-FFF2-40B4-BE49-F238E27FC236}">
                <a16:creationId xmlns:a16="http://schemas.microsoft.com/office/drawing/2014/main" id="{0F7599BD-28F6-D63A-ACC8-2AD8E5917726}"/>
              </a:ext>
            </a:extLst>
          </p:cNvPr>
          <p:cNvSpPr>
            <a:spLocks noGrp="1"/>
          </p:cNvSpPr>
          <p:nvPr>
            <p:ph idx="1"/>
          </p:nvPr>
        </p:nvSpPr>
        <p:spPr>
          <a:xfrm>
            <a:off x="457200" y="1600200"/>
            <a:ext cx="8229600" cy="4837176"/>
          </a:xfrm>
        </p:spPr>
        <p:txBody>
          <a:bodyPr>
            <a:normAutofit/>
          </a:bodyPr>
          <a:lstStyle/>
          <a:p>
            <a:pPr marL="0" indent="0" algn="just">
              <a:buNone/>
            </a:pPr>
            <a:r>
              <a:rPr lang="en-US" sz="2800" b="1" dirty="0">
                <a:latin typeface="Times New Roman Regular" panose="02020603050405020304" charset="0"/>
                <a:cs typeface="Times New Roman Regular" panose="02020603050405020304" charset="0"/>
              </a:rPr>
              <a:t>The Three C’s at Work</a:t>
            </a:r>
          </a:p>
          <a:p>
            <a:pPr marL="0" indent="0" algn="just">
              <a:buNone/>
            </a:pPr>
            <a:r>
              <a:rPr lang="en-US" sz="2400" dirty="0">
                <a:latin typeface="Times New Roman Regular" panose="02020603050405020304" charset="0"/>
                <a:cs typeface="Times New Roman Regular" panose="02020603050405020304" charset="0"/>
              </a:rPr>
              <a:t>	1. </a:t>
            </a:r>
            <a:r>
              <a:rPr lang="en-US" sz="2400" b="1" i="1" dirty="0">
                <a:latin typeface="Times New Roman Regular" panose="02020603050405020304" charset="0"/>
                <a:cs typeface="Times New Roman Regular" panose="02020603050405020304" charset="0"/>
              </a:rPr>
              <a:t>Create the card</a:t>
            </a:r>
            <a:r>
              <a:rPr lang="en-US" sz="2400" dirty="0">
                <a:latin typeface="Times New Roman Regular" panose="02020603050405020304" charset="0"/>
                <a:cs typeface="Times New Roman Regular" panose="02020603050405020304" charset="0"/>
              </a:rPr>
              <a:t>: Write out user stories on physical cards or 	digitally. Keep them simple, no technical details, capture 	everything from the user’s perspective.</a:t>
            </a:r>
          </a:p>
          <a:p>
            <a:pPr marL="0" indent="0" algn="just">
              <a:buNone/>
            </a:pPr>
            <a:r>
              <a:rPr lang="en-US" sz="2400" dirty="0">
                <a:latin typeface="Times New Roman Regular" panose="02020603050405020304" charset="0"/>
                <a:cs typeface="Times New Roman Regular" panose="02020603050405020304" charset="0"/>
              </a:rPr>
              <a:t>	2. </a:t>
            </a:r>
            <a:r>
              <a:rPr lang="en-US" sz="2400" b="1" i="1" dirty="0">
                <a:latin typeface="Times New Roman Regular" panose="02020603050405020304" charset="0"/>
                <a:cs typeface="Times New Roman Regular" panose="02020603050405020304" charset="0"/>
              </a:rPr>
              <a:t>Engage in Conversations</a:t>
            </a:r>
            <a:r>
              <a:rPr lang="en-US" sz="2400" dirty="0">
                <a:latin typeface="Times New Roman Regular" panose="02020603050405020304" charset="0"/>
                <a:cs typeface="Times New Roman Regular" panose="02020603050405020304" charset="0"/>
              </a:rPr>
              <a:t>: Discuss each card with 	stakeholders and clarify any uncertainties you might have 	about the user stories on the cards.</a:t>
            </a:r>
            <a:endParaRPr lang="en-US" sz="2400" b="1" i="1" dirty="0">
              <a:latin typeface="Times New Roman Regular" panose="02020603050405020304" charset="0"/>
              <a:cs typeface="Times New Roman Regular" panose="02020603050405020304" charset="0"/>
            </a:endParaRPr>
          </a:p>
          <a:p>
            <a:pPr marL="0" indent="0" algn="just">
              <a:buNone/>
            </a:pPr>
            <a:r>
              <a:rPr lang="en-US" sz="2400" dirty="0">
                <a:latin typeface="Times New Roman Regular" panose="02020603050405020304" charset="0"/>
                <a:cs typeface="Times New Roman Regular" panose="02020603050405020304" charset="0"/>
              </a:rPr>
              <a:t>	3. </a:t>
            </a:r>
            <a:r>
              <a:rPr lang="en-US" sz="2400" b="1" i="1" dirty="0">
                <a:latin typeface="Times New Roman Regular" panose="02020603050405020304" charset="0"/>
                <a:cs typeface="Times New Roman Regular" panose="02020603050405020304" charset="0"/>
              </a:rPr>
              <a:t>Define Confirmation Criteria</a:t>
            </a:r>
            <a:r>
              <a:rPr lang="en-US" sz="2400" dirty="0">
                <a:latin typeface="Times New Roman Regular" panose="02020603050405020304" charset="0"/>
                <a:cs typeface="Times New Roman Regular" panose="02020603050405020304" charset="0"/>
              </a:rPr>
              <a:t>: Have guidelines that clearly 	define what it means for each user story to be “</a:t>
            </a:r>
            <a:r>
              <a:rPr lang="en-US" sz="2400" b="1" i="1" dirty="0">
                <a:latin typeface="Times New Roman Regular" panose="02020603050405020304" charset="0"/>
                <a:cs typeface="Times New Roman Regular" panose="02020603050405020304" charset="0"/>
              </a:rPr>
              <a:t>done</a:t>
            </a:r>
            <a:r>
              <a:rPr lang="en-US" sz="2400" dirty="0">
                <a:latin typeface="Times New Roman Regular" panose="02020603050405020304" charset="0"/>
                <a:cs typeface="Times New Roman Regular" panose="02020603050405020304" charset="0"/>
              </a:rPr>
              <a:t>”. This is 	your checklist for the validity of the work done on a user 	story.</a:t>
            </a:r>
            <a:endParaRPr lang="en-US" sz="2400" b="1" i="1" dirty="0">
              <a:latin typeface="Times New Roman Regular" panose="02020603050405020304" charset="0"/>
              <a:cs typeface="Times New Roman Regular" panose="02020603050405020304" charset="0"/>
            </a:endParaRPr>
          </a:p>
          <a:p>
            <a:pPr marL="0" indent="0" algn="just">
              <a:buNone/>
            </a:pPr>
            <a:endParaRPr lang="en-US" sz="2800" dirty="0">
              <a:latin typeface="Times New Roman Regular" panose="02020603050405020304" charset="0"/>
              <a:cs typeface="Times New Roman Regular" panose="02020603050405020304" charset="0"/>
            </a:endParaRPr>
          </a:p>
        </p:txBody>
      </p:sp>
    </p:spTree>
    <p:extLst>
      <p:ext uri="{BB962C8B-B14F-4D97-AF65-F5344CB8AC3E}">
        <p14:creationId xmlns:p14="http://schemas.microsoft.com/office/powerpoint/2010/main" val="4275651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8F3CC5-181B-0395-4986-E2C5998DE1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225127-DA95-CD43-21A0-7D466A375F15}"/>
              </a:ext>
            </a:extLst>
          </p:cNvPr>
          <p:cNvSpPr>
            <a:spLocks noGrp="1"/>
          </p:cNvSpPr>
          <p:nvPr>
            <p:ph type="title"/>
          </p:nvPr>
        </p:nvSpPr>
        <p:spPr>
          <a:solidFill>
            <a:schemeClr val="tx1"/>
          </a:solidFill>
        </p:spPr>
        <p:txBody>
          <a:bodyPr>
            <a:normAutofit/>
          </a:bodyPr>
          <a:lstStyle/>
          <a:p>
            <a:r>
              <a:rPr lang="en-US" dirty="0">
                <a:solidFill>
                  <a:srgbClr val="FFFF00"/>
                </a:solidFill>
                <a:latin typeface="Times New Roman Regular" panose="02020603050405020304" charset="0"/>
                <a:cs typeface="Times New Roman Regular" panose="02020603050405020304" charset="0"/>
              </a:rPr>
              <a:t>Writing User Stories: INVEST</a:t>
            </a:r>
          </a:p>
        </p:txBody>
      </p:sp>
      <p:sp>
        <p:nvSpPr>
          <p:cNvPr id="3" name="Content Placeholder 2">
            <a:extLst>
              <a:ext uri="{FF2B5EF4-FFF2-40B4-BE49-F238E27FC236}">
                <a16:creationId xmlns:a16="http://schemas.microsoft.com/office/drawing/2014/main" id="{A3A6FEA9-337D-4A42-0135-047E3C3FA61D}"/>
              </a:ext>
            </a:extLst>
          </p:cNvPr>
          <p:cNvSpPr>
            <a:spLocks noGrp="1"/>
          </p:cNvSpPr>
          <p:nvPr>
            <p:ph idx="1"/>
          </p:nvPr>
        </p:nvSpPr>
        <p:spPr>
          <a:xfrm>
            <a:off x="457200" y="1600200"/>
            <a:ext cx="8229600" cy="4837176"/>
          </a:xfrm>
        </p:spPr>
        <p:txBody>
          <a:bodyPr>
            <a:normAutofit/>
          </a:bodyPr>
          <a:lstStyle/>
          <a:p>
            <a:pPr marL="0" indent="0" algn="just">
              <a:buNone/>
            </a:pPr>
            <a:r>
              <a:rPr lang="en-US" sz="2800" b="1" dirty="0">
                <a:latin typeface="Times New Roman Regular" panose="02020603050405020304" charset="0"/>
                <a:cs typeface="Times New Roman Regular" panose="02020603050405020304" charset="0"/>
              </a:rPr>
              <a:t>I</a:t>
            </a:r>
            <a:r>
              <a:rPr lang="en-US" sz="2800" dirty="0">
                <a:latin typeface="Times New Roman Regular" panose="02020603050405020304" charset="0"/>
                <a:cs typeface="Times New Roman Regular" panose="02020603050405020304" charset="0"/>
              </a:rPr>
              <a:t>.N.V.E.S.T</a:t>
            </a:r>
          </a:p>
          <a:p>
            <a:pPr marL="0" indent="0" algn="just">
              <a:buNone/>
            </a:pPr>
            <a:r>
              <a:rPr lang="en-US" sz="2800" b="1" dirty="0">
                <a:latin typeface="Times New Roman Regular" panose="02020603050405020304" charset="0"/>
                <a:cs typeface="Times New Roman Regular" panose="02020603050405020304" charset="0"/>
              </a:rPr>
              <a:t>	</a:t>
            </a:r>
            <a:r>
              <a:rPr lang="en-US" sz="2800" b="1" i="1" dirty="0">
                <a:latin typeface="Times New Roman Regular" panose="02020603050405020304" charset="0"/>
                <a:cs typeface="Times New Roman Regular" panose="02020603050405020304" charset="0"/>
              </a:rPr>
              <a:t>I</a:t>
            </a:r>
            <a:r>
              <a:rPr lang="en-US" sz="2800" i="1" dirty="0">
                <a:latin typeface="Times New Roman Regular" panose="02020603050405020304" charset="0"/>
                <a:cs typeface="Times New Roman Regular" panose="02020603050405020304" charset="0"/>
              </a:rPr>
              <a:t>ndependent</a:t>
            </a:r>
            <a:r>
              <a:rPr lang="en-US" sz="2800" dirty="0">
                <a:latin typeface="Times New Roman Regular" panose="02020603050405020304" charset="0"/>
                <a:cs typeface="Times New Roman Regular" panose="02020603050405020304" charset="0"/>
              </a:rPr>
              <a:t>: A user story should be able to stand on 	its own and not have dependencies with other stories. 	One should be able to develop and test each user 	story independently.</a:t>
            </a:r>
            <a:endParaRPr lang="en-US" sz="2800" i="1" dirty="0">
              <a:latin typeface="Times New Roman Regular" panose="02020603050405020304" charset="0"/>
              <a:cs typeface="Times New Roman Regular" panose="02020603050405020304" charset="0"/>
            </a:endParaRPr>
          </a:p>
        </p:txBody>
      </p:sp>
      <p:graphicFrame>
        <p:nvGraphicFramePr>
          <p:cNvPr id="4" name="Table 3">
            <a:extLst>
              <a:ext uri="{FF2B5EF4-FFF2-40B4-BE49-F238E27FC236}">
                <a16:creationId xmlns:a16="http://schemas.microsoft.com/office/drawing/2014/main" id="{F01EF961-DD56-6E92-7F2C-730A350BA706}"/>
              </a:ext>
            </a:extLst>
          </p:cNvPr>
          <p:cNvGraphicFramePr>
            <a:graphicFrameLocks noGrp="1"/>
          </p:cNvGraphicFramePr>
          <p:nvPr>
            <p:extLst>
              <p:ext uri="{D42A27DB-BD31-4B8C-83A1-F6EECF244321}">
                <p14:modId xmlns:p14="http://schemas.microsoft.com/office/powerpoint/2010/main" val="2938668172"/>
              </p:ext>
            </p:extLst>
          </p:nvPr>
        </p:nvGraphicFramePr>
        <p:xfrm>
          <a:off x="1030224" y="4035044"/>
          <a:ext cx="6096000" cy="100584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793038940"/>
                    </a:ext>
                  </a:extLst>
                </a:gridCol>
              </a:tblGrid>
              <a:tr h="370840">
                <a:tc>
                  <a:txBody>
                    <a:bodyPr/>
                    <a:lstStyle/>
                    <a:p>
                      <a:r>
                        <a:rPr lang="en-US" sz="2000" b="0" dirty="0">
                          <a:solidFill>
                            <a:schemeClr val="tx1"/>
                          </a:solidFill>
                          <a:latin typeface="Times New Roman" panose="02020603050405020304" pitchFamily="18" charset="0"/>
                          <a:cs typeface="Times New Roman" panose="02020603050405020304" pitchFamily="18" charset="0"/>
                        </a:rPr>
                        <a:t>As a student, I want to register for courses, pay my tuition fees, and receive my class timetable so that I can begin the semester.</a:t>
                      </a:r>
                    </a:p>
                  </a:txBody>
                  <a:tcPr>
                    <a:lnL w="76200" cap="flat" cmpd="sng" algn="ctr">
                      <a:solidFill>
                        <a:schemeClr val="accent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2165514566"/>
                  </a:ext>
                </a:extLst>
              </a:tr>
            </a:tbl>
          </a:graphicData>
        </a:graphic>
      </p:graphicFrame>
      <p:graphicFrame>
        <p:nvGraphicFramePr>
          <p:cNvPr id="5" name="Table 4">
            <a:extLst>
              <a:ext uri="{FF2B5EF4-FFF2-40B4-BE49-F238E27FC236}">
                <a16:creationId xmlns:a16="http://schemas.microsoft.com/office/drawing/2014/main" id="{339ACA36-7327-ED18-8C8F-5EC13CDBAD26}"/>
              </a:ext>
            </a:extLst>
          </p:cNvPr>
          <p:cNvGraphicFramePr>
            <a:graphicFrameLocks noGrp="1"/>
          </p:cNvGraphicFramePr>
          <p:nvPr>
            <p:extLst>
              <p:ext uri="{D42A27DB-BD31-4B8C-83A1-F6EECF244321}">
                <p14:modId xmlns:p14="http://schemas.microsoft.com/office/powerpoint/2010/main" val="3414363703"/>
              </p:ext>
            </p:extLst>
          </p:nvPr>
        </p:nvGraphicFramePr>
        <p:xfrm>
          <a:off x="457200" y="3745643"/>
          <a:ext cx="6096000" cy="701040"/>
        </p:xfrm>
        <a:graphic>
          <a:graphicData uri="http://schemas.openxmlformats.org/drawingml/2006/table">
            <a:tbl>
              <a:tblPr firstRow="1" bandRow="1">
                <a:effectLst>
                  <a:outerShdw blurRad="50800" dist="38100" dir="5400000" algn="t" rotWithShape="0">
                    <a:prstClr val="black">
                      <a:alpha val="40000"/>
                    </a:prstClr>
                  </a:outerShdw>
                </a:effectLst>
                <a:tableStyleId>{5C22544A-7EE6-4342-B048-85BDC9FD1C3A}</a:tableStyleId>
              </a:tblPr>
              <a:tblGrid>
                <a:gridCol w="6096000">
                  <a:extLst>
                    <a:ext uri="{9D8B030D-6E8A-4147-A177-3AD203B41FA5}">
                      <a16:colId xmlns:a16="http://schemas.microsoft.com/office/drawing/2014/main" val="793038940"/>
                    </a:ext>
                  </a:extLst>
                </a:gridCol>
              </a:tblGrid>
              <a:tr h="365950">
                <a:tc>
                  <a:txBody>
                    <a:bodyPr/>
                    <a:lstStyle/>
                    <a:p>
                      <a:r>
                        <a:rPr lang="en-US" sz="2000" b="0" dirty="0">
                          <a:solidFill>
                            <a:schemeClr val="tx1"/>
                          </a:solidFill>
                          <a:latin typeface="Times New Roman" panose="02020603050405020304" pitchFamily="18" charset="0"/>
                          <a:cs typeface="Times New Roman" panose="02020603050405020304" pitchFamily="18" charset="0"/>
                        </a:rPr>
                        <a:t>As a student, I want to pay my tuition fees online so that I can meet my financial obligations.</a:t>
                      </a:r>
                    </a:p>
                  </a:txBody>
                  <a:tcPr>
                    <a:lnL w="76200" cap="flat" cmpd="sng" algn="ctr">
                      <a:solidFill>
                        <a:schemeClr val="accent3">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2165514566"/>
                  </a:ext>
                </a:extLst>
              </a:tr>
            </a:tbl>
          </a:graphicData>
        </a:graphic>
      </p:graphicFrame>
      <p:graphicFrame>
        <p:nvGraphicFramePr>
          <p:cNvPr id="6" name="Table 5">
            <a:extLst>
              <a:ext uri="{FF2B5EF4-FFF2-40B4-BE49-F238E27FC236}">
                <a16:creationId xmlns:a16="http://schemas.microsoft.com/office/drawing/2014/main" id="{DAD49999-83F0-AC7E-93EF-254CB2582945}"/>
              </a:ext>
            </a:extLst>
          </p:cNvPr>
          <p:cNvGraphicFramePr>
            <a:graphicFrameLocks noGrp="1"/>
          </p:cNvGraphicFramePr>
          <p:nvPr>
            <p:extLst>
              <p:ext uri="{D42A27DB-BD31-4B8C-83A1-F6EECF244321}">
                <p14:modId xmlns:p14="http://schemas.microsoft.com/office/powerpoint/2010/main" val="3108944901"/>
              </p:ext>
            </p:extLst>
          </p:nvPr>
        </p:nvGraphicFramePr>
        <p:xfrm>
          <a:off x="2221992" y="4537964"/>
          <a:ext cx="6096000" cy="1005840"/>
        </p:xfrm>
        <a:graphic>
          <a:graphicData uri="http://schemas.openxmlformats.org/drawingml/2006/table">
            <a:tbl>
              <a:tblPr firstRow="1" bandRow="1">
                <a:effectLst>
                  <a:outerShdw blurRad="63500" sx="102000" sy="102000" algn="ctr" rotWithShape="0">
                    <a:prstClr val="black">
                      <a:alpha val="40000"/>
                    </a:prstClr>
                  </a:outerShdw>
                </a:effectLst>
                <a:tableStyleId>{5C22544A-7EE6-4342-B048-85BDC9FD1C3A}</a:tableStyleId>
              </a:tblPr>
              <a:tblGrid>
                <a:gridCol w="6096000">
                  <a:extLst>
                    <a:ext uri="{9D8B030D-6E8A-4147-A177-3AD203B41FA5}">
                      <a16:colId xmlns:a16="http://schemas.microsoft.com/office/drawing/2014/main" val="793038940"/>
                    </a:ext>
                  </a:extLst>
                </a:gridCol>
              </a:tblGrid>
              <a:tr h="370840">
                <a:tc>
                  <a:txBody>
                    <a:bodyPr/>
                    <a:lstStyle/>
                    <a:p>
                      <a:r>
                        <a:rPr lang="en-US" sz="2000" b="0" dirty="0">
                          <a:solidFill>
                            <a:schemeClr val="tx1"/>
                          </a:solidFill>
                          <a:latin typeface="Times New Roman" panose="02020603050405020304" pitchFamily="18" charset="0"/>
                          <a:cs typeface="Times New Roman" panose="02020603050405020304" pitchFamily="18" charset="0"/>
                        </a:rPr>
                        <a:t>As a student, I want to view my semester timetable after successful registration so that I know when my classes take place.</a:t>
                      </a:r>
                    </a:p>
                  </a:txBody>
                  <a:tcPr>
                    <a:lnL w="76200" cap="flat" cmpd="sng" algn="ctr">
                      <a:solidFill>
                        <a:schemeClr val="accent3">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2165514566"/>
                  </a:ext>
                </a:extLst>
              </a:tr>
            </a:tbl>
          </a:graphicData>
        </a:graphic>
      </p:graphicFrame>
      <p:graphicFrame>
        <p:nvGraphicFramePr>
          <p:cNvPr id="7" name="Table 6">
            <a:extLst>
              <a:ext uri="{FF2B5EF4-FFF2-40B4-BE49-F238E27FC236}">
                <a16:creationId xmlns:a16="http://schemas.microsoft.com/office/drawing/2014/main" id="{EF4DC9E1-695B-1B5A-2B5D-20EEA94B94F6}"/>
              </a:ext>
            </a:extLst>
          </p:cNvPr>
          <p:cNvGraphicFramePr>
            <a:graphicFrameLocks noGrp="1"/>
          </p:cNvGraphicFramePr>
          <p:nvPr>
            <p:extLst>
              <p:ext uri="{D42A27DB-BD31-4B8C-83A1-F6EECF244321}">
                <p14:modId xmlns:p14="http://schemas.microsoft.com/office/powerpoint/2010/main" val="1319297948"/>
              </p:ext>
            </p:extLst>
          </p:nvPr>
        </p:nvGraphicFramePr>
        <p:xfrm>
          <a:off x="582168" y="5566886"/>
          <a:ext cx="6096000" cy="701040"/>
        </p:xfrm>
        <a:graphic>
          <a:graphicData uri="http://schemas.openxmlformats.org/drawingml/2006/table">
            <a:tbl>
              <a:tblPr firstRow="1" bandRow="1">
                <a:effectLst>
                  <a:outerShdw blurRad="50800" dist="38100" dir="18900000" algn="bl" rotWithShape="0">
                    <a:prstClr val="black">
                      <a:alpha val="40000"/>
                    </a:prstClr>
                  </a:outerShdw>
                </a:effectLst>
                <a:tableStyleId>{5C22544A-7EE6-4342-B048-85BDC9FD1C3A}</a:tableStyleId>
              </a:tblPr>
              <a:tblGrid>
                <a:gridCol w="6096000">
                  <a:extLst>
                    <a:ext uri="{9D8B030D-6E8A-4147-A177-3AD203B41FA5}">
                      <a16:colId xmlns:a16="http://schemas.microsoft.com/office/drawing/2014/main" val="793038940"/>
                    </a:ext>
                  </a:extLst>
                </a:gridCol>
              </a:tblGrid>
              <a:tr h="370840">
                <a:tc>
                  <a:txBody>
                    <a:bodyPr/>
                    <a:lstStyle/>
                    <a:p>
                      <a:r>
                        <a:rPr lang="en-US" sz="2000" b="0" dirty="0">
                          <a:solidFill>
                            <a:schemeClr val="tx1"/>
                          </a:solidFill>
                          <a:latin typeface="Times New Roman" panose="02020603050405020304" pitchFamily="18" charset="0"/>
                          <a:cs typeface="Times New Roman" panose="02020603050405020304" pitchFamily="18" charset="0"/>
                        </a:rPr>
                        <a:t>As a student, I want to register for available courses so that I can enroll in my semester.</a:t>
                      </a:r>
                    </a:p>
                  </a:txBody>
                  <a:tcPr>
                    <a:lnL w="76200" cap="flat" cmpd="sng" algn="ctr">
                      <a:solidFill>
                        <a:schemeClr val="accent3">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2165514566"/>
                  </a:ext>
                </a:extLst>
              </a:tr>
            </a:tbl>
          </a:graphicData>
        </a:graphic>
      </p:graphicFrame>
    </p:spTree>
    <p:extLst>
      <p:ext uri="{BB962C8B-B14F-4D97-AF65-F5344CB8AC3E}">
        <p14:creationId xmlns:p14="http://schemas.microsoft.com/office/powerpoint/2010/main" val="1229885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C16D4C-C93E-B713-6357-BE30605A49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13FD01-25B6-007A-5133-6EDA59234657}"/>
              </a:ext>
            </a:extLst>
          </p:cNvPr>
          <p:cNvSpPr>
            <a:spLocks noGrp="1"/>
          </p:cNvSpPr>
          <p:nvPr>
            <p:ph type="title"/>
          </p:nvPr>
        </p:nvSpPr>
        <p:spPr>
          <a:solidFill>
            <a:schemeClr val="tx1"/>
          </a:solidFill>
        </p:spPr>
        <p:txBody>
          <a:bodyPr>
            <a:normAutofit/>
          </a:bodyPr>
          <a:lstStyle/>
          <a:p>
            <a:r>
              <a:rPr lang="en-US" dirty="0">
                <a:solidFill>
                  <a:srgbClr val="FFFF00"/>
                </a:solidFill>
                <a:latin typeface="Times New Roman Regular" panose="02020603050405020304" charset="0"/>
                <a:cs typeface="Times New Roman Regular" panose="02020603050405020304" charset="0"/>
              </a:rPr>
              <a:t>Writing User Stories: INVEST</a:t>
            </a:r>
          </a:p>
        </p:txBody>
      </p:sp>
      <p:sp>
        <p:nvSpPr>
          <p:cNvPr id="3" name="Content Placeholder 2">
            <a:extLst>
              <a:ext uri="{FF2B5EF4-FFF2-40B4-BE49-F238E27FC236}">
                <a16:creationId xmlns:a16="http://schemas.microsoft.com/office/drawing/2014/main" id="{1DBE0FD8-D4E4-A314-1180-EE5F0936BD75}"/>
              </a:ext>
            </a:extLst>
          </p:cNvPr>
          <p:cNvSpPr>
            <a:spLocks noGrp="1"/>
          </p:cNvSpPr>
          <p:nvPr>
            <p:ph idx="1"/>
          </p:nvPr>
        </p:nvSpPr>
        <p:spPr>
          <a:xfrm>
            <a:off x="457200" y="1600200"/>
            <a:ext cx="8229600" cy="4837176"/>
          </a:xfrm>
        </p:spPr>
        <p:txBody>
          <a:bodyPr>
            <a:normAutofit/>
          </a:bodyPr>
          <a:lstStyle/>
          <a:p>
            <a:pPr marL="0" indent="0" algn="just">
              <a:buNone/>
            </a:pPr>
            <a:r>
              <a:rPr lang="en-US" sz="2800" dirty="0">
                <a:latin typeface="Times New Roman Regular" panose="02020603050405020304" charset="0"/>
                <a:cs typeface="Times New Roman Regular" panose="02020603050405020304" charset="0"/>
              </a:rPr>
              <a:t>I.</a:t>
            </a:r>
            <a:r>
              <a:rPr lang="en-US" sz="2800" b="1" dirty="0">
                <a:latin typeface="Times New Roman Regular" panose="02020603050405020304" charset="0"/>
                <a:cs typeface="Times New Roman Regular" panose="02020603050405020304" charset="0"/>
              </a:rPr>
              <a:t>N</a:t>
            </a:r>
            <a:r>
              <a:rPr lang="en-US" sz="2800" dirty="0">
                <a:latin typeface="Times New Roman Regular" panose="02020603050405020304" charset="0"/>
                <a:cs typeface="Times New Roman Regular" panose="02020603050405020304" charset="0"/>
              </a:rPr>
              <a:t>.V.E.S.T</a:t>
            </a:r>
          </a:p>
          <a:p>
            <a:pPr marL="0" indent="0" algn="just">
              <a:buNone/>
            </a:pPr>
            <a:r>
              <a:rPr lang="en-US" sz="2800" b="1" dirty="0">
                <a:latin typeface="Times New Roman Regular" panose="02020603050405020304" charset="0"/>
                <a:cs typeface="Times New Roman Regular" panose="02020603050405020304" charset="0"/>
              </a:rPr>
              <a:t>	</a:t>
            </a:r>
            <a:r>
              <a:rPr lang="en-US" sz="2800" b="1" i="1" dirty="0">
                <a:latin typeface="Times New Roman Regular" panose="02020603050405020304" charset="0"/>
                <a:cs typeface="Times New Roman Regular" panose="02020603050405020304" charset="0"/>
              </a:rPr>
              <a:t>N</a:t>
            </a:r>
            <a:r>
              <a:rPr lang="en-US" sz="2800" i="1" dirty="0">
                <a:latin typeface="Times New Roman Regular" panose="02020603050405020304" charset="0"/>
                <a:cs typeface="Times New Roman Regular" panose="02020603050405020304" charset="0"/>
              </a:rPr>
              <a:t>egotiable</a:t>
            </a:r>
            <a:r>
              <a:rPr lang="en-US" sz="2800" dirty="0">
                <a:latin typeface="Times New Roman Regular" panose="02020603050405020304" charset="0"/>
                <a:cs typeface="Times New Roman Regular" panose="02020603050405020304" charset="0"/>
              </a:rPr>
              <a:t>: Stories are not contracts, but rather 	reminders that a conversation needs to be had. 	Include the right amount of detail.</a:t>
            </a:r>
            <a:endParaRPr lang="en-US" sz="2800" i="1" dirty="0">
              <a:latin typeface="Times New Roman Regular" panose="02020603050405020304" charset="0"/>
              <a:cs typeface="Times New Roman Regular" panose="02020603050405020304" charset="0"/>
            </a:endParaRPr>
          </a:p>
        </p:txBody>
      </p:sp>
      <p:graphicFrame>
        <p:nvGraphicFramePr>
          <p:cNvPr id="8" name="Table 7">
            <a:extLst>
              <a:ext uri="{FF2B5EF4-FFF2-40B4-BE49-F238E27FC236}">
                <a16:creationId xmlns:a16="http://schemas.microsoft.com/office/drawing/2014/main" id="{F1786F70-CFD6-188E-3971-63C9152531FD}"/>
              </a:ext>
            </a:extLst>
          </p:cNvPr>
          <p:cNvGraphicFramePr>
            <a:graphicFrameLocks noGrp="1"/>
          </p:cNvGraphicFramePr>
          <p:nvPr>
            <p:extLst>
              <p:ext uri="{D42A27DB-BD31-4B8C-83A1-F6EECF244321}">
                <p14:modId xmlns:p14="http://schemas.microsoft.com/office/powerpoint/2010/main" val="1575214864"/>
              </p:ext>
            </p:extLst>
          </p:nvPr>
        </p:nvGraphicFramePr>
        <p:xfrm>
          <a:off x="1106424" y="3854196"/>
          <a:ext cx="6096000" cy="1005840"/>
        </p:xfrm>
        <a:graphic>
          <a:graphicData uri="http://schemas.openxmlformats.org/drawingml/2006/table">
            <a:tbl>
              <a:tblPr firstRow="1" bandRow="1">
                <a:effectLst/>
                <a:tableStyleId>{5C22544A-7EE6-4342-B048-85BDC9FD1C3A}</a:tableStyleId>
              </a:tblPr>
              <a:tblGrid>
                <a:gridCol w="6096000">
                  <a:extLst>
                    <a:ext uri="{9D8B030D-6E8A-4147-A177-3AD203B41FA5}">
                      <a16:colId xmlns:a16="http://schemas.microsoft.com/office/drawing/2014/main" val="793038940"/>
                    </a:ext>
                  </a:extLst>
                </a:gridCol>
              </a:tblGrid>
              <a:tr h="370840">
                <a:tc>
                  <a:txBody>
                    <a:bodyPr/>
                    <a:lstStyle/>
                    <a:p>
                      <a:r>
                        <a:rPr lang="en-US" sz="2000" b="0" dirty="0">
                          <a:solidFill>
                            <a:schemeClr val="tx1"/>
                          </a:solidFill>
                          <a:latin typeface="Times New Roman" panose="02020603050405020304" pitchFamily="18" charset="0"/>
                          <a:cs typeface="Times New Roman" panose="02020603050405020304" pitchFamily="18" charset="0"/>
                        </a:rPr>
                        <a:t>As a professor, I want a drop-down menu containing exactly 12 preset grading rubrics using Arial 12pt font to grade assignments.</a:t>
                      </a:r>
                    </a:p>
                  </a:txBody>
                  <a:tcPr>
                    <a:lnL w="76200" cap="flat" cmpd="sng" algn="ctr">
                      <a:solidFill>
                        <a:schemeClr val="accent2">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2165514566"/>
                  </a:ext>
                </a:extLst>
              </a:tr>
            </a:tbl>
          </a:graphicData>
        </a:graphic>
      </p:graphicFrame>
      <p:graphicFrame>
        <p:nvGraphicFramePr>
          <p:cNvPr id="9" name="Table 8">
            <a:extLst>
              <a:ext uri="{FF2B5EF4-FFF2-40B4-BE49-F238E27FC236}">
                <a16:creationId xmlns:a16="http://schemas.microsoft.com/office/drawing/2014/main" id="{897264B5-2DA5-1230-923F-FE84DBCEC8CC}"/>
              </a:ext>
            </a:extLst>
          </p:cNvPr>
          <p:cNvGraphicFramePr>
            <a:graphicFrameLocks noGrp="1"/>
          </p:cNvGraphicFramePr>
          <p:nvPr>
            <p:extLst>
              <p:ext uri="{D42A27DB-BD31-4B8C-83A1-F6EECF244321}">
                <p14:modId xmlns:p14="http://schemas.microsoft.com/office/powerpoint/2010/main" val="3049750554"/>
              </p:ext>
            </p:extLst>
          </p:nvPr>
        </p:nvGraphicFramePr>
        <p:xfrm>
          <a:off x="1106424" y="5157470"/>
          <a:ext cx="6096000" cy="1005840"/>
        </p:xfrm>
        <a:graphic>
          <a:graphicData uri="http://schemas.openxmlformats.org/drawingml/2006/table">
            <a:tbl>
              <a:tblPr firstRow="1" bandRow="1">
                <a:effectLst/>
                <a:tableStyleId>{5C22544A-7EE6-4342-B048-85BDC9FD1C3A}</a:tableStyleId>
              </a:tblPr>
              <a:tblGrid>
                <a:gridCol w="6096000">
                  <a:extLst>
                    <a:ext uri="{9D8B030D-6E8A-4147-A177-3AD203B41FA5}">
                      <a16:colId xmlns:a16="http://schemas.microsoft.com/office/drawing/2014/main" val="793038940"/>
                    </a:ext>
                  </a:extLst>
                </a:gridCol>
              </a:tblGrid>
              <a:tr h="370840">
                <a:tc>
                  <a:txBody>
                    <a:bodyPr/>
                    <a:lstStyle/>
                    <a:p>
                      <a:r>
                        <a:rPr lang="en-US" sz="2000" b="0" dirty="0">
                          <a:solidFill>
                            <a:schemeClr val="tx1"/>
                          </a:solidFill>
                          <a:latin typeface="Times New Roman" panose="02020603050405020304" pitchFamily="18" charset="0"/>
                          <a:cs typeface="Times New Roman" panose="02020603050405020304" pitchFamily="18" charset="0"/>
                        </a:rPr>
                        <a:t>As a professor, I want to apply standard grading rubrics to student assignments so that I can grade consistently and save time.</a:t>
                      </a:r>
                    </a:p>
                  </a:txBody>
                  <a:tcPr>
                    <a:lnL w="76200" cap="flat" cmpd="sng" algn="ctr">
                      <a:solidFill>
                        <a:schemeClr val="accent3">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2165514566"/>
                  </a:ext>
                </a:extLst>
              </a:tr>
            </a:tbl>
          </a:graphicData>
        </a:graphic>
      </p:graphicFrame>
    </p:spTree>
    <p:extLst>
      <p:ext uri="{BB962C8B-B14F-4D97-AF65-F5344CB8AC3E}">
        <p14:creationId xmlns:p14="http://schemas.microsoft.com/office/powerpoint/2010/main" val="3894890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0E41A6-5214-3A17-940C-187322A71E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B306DA-0022-742F-C4F9-393A3190668C}"/>
              </a:ext>
            </a:extLst>
          </p:cNvPr>
          <p:cNvSpPr>
            <a:spLocks noGrp="1"/>
          </p:cNvSpPr>
          <p:nvPr>
            <p:ph type="title"/>
          </p:nvPr>
        </p:nvSpPr>
        <p:spPr>
          <a:solidFill>
            <a:schemeClr val="tx1"/>
          </a:solidFill>
        </p:spPr>
        <p:txBody>
          <a:bodyPr>
            <a:normAutofit/>
          </a:bodyPr>
          <a:lstStyle/>
          <a:p>
            <a:r>
              <a:rPr lang="en-US" dirty="0">
                <a:solidFill>
                  <a:srgbClr val="FFFF00"/>
                </a:solidFill>
                <a:latin typeface="Times New Roman Regular" panose="02020603050405020304" charset="0"/>
                <a:cs typeface="Times New Roman Regular" panose="02020603050405020304" charset="0"/>
              </a:rPr>
              <a:t>Writing User Stories: INVEST</a:t>
            </a:r>
          </a:p>
        </p:txBody>
      </p:sp>
      <p:sp>
        <p:nvSpPr>
          <p:cNvPr id="3" name="Content Placeholder 2">
            <a:extLst>
              <a:ext uri="{FF2B5EF4-FFF2-40B4-BE49-F238E27FC236}">
                <a16:creationId xmlns:a16="http://schemas.microsoft.com/office/drawing/2014/main" id="{97F7ED46-FBAB-5192-9DF3-DD8FBEA6EF49}"/>
              </a:ext>
            </a:extLst>
          </p:cNvPr>
          <p:cNvSpPr>
            <a:spLocks noGrp="1"/>
          </p:cNvSpPr>
          <p:nvPr>
            <p:ph idx="1"/>
          </p:nvPr>
        </p:nvSpPr>
        <p:spPr>
          <a:xfrm>
            <a:off x="457200" y="1600200"/>
            <a:ext cx="8229600" cy="4837176"/>
          </a:xfrm>
        </p:spPr>
        <p:txBody>
          <a:bodyPr>
            <a:normAutofit/>
          </a:bodyPr>
          <a:lstStyle/>
          <a:p>
            <a:pPr marL="0" indent="0" algn="just">
              <a:buNone/>
            </a:pPr>
            <a:r>
              <a:rPr lang="en-US" sz="2800" dirty="0">
                <a:latin typeface="Times New Roman Regular" panose="02020603050405020304" charset="0"/>
                <a:cs typeface="Times New Roman Regular" panose="02020603050405020304" charset="0"/>
              </a:rPr>
              <a:t>I.N.</a:t>
            </a:r>
            <a:r>
              <a:rPr lang="en-US" sz="2800" b="1" dirty="0">
                <a:latin typeface="Times New Roman Regular" panose="02020603050405020304" charset="0"/>
                <a:cs typeface="Times New Roman Regular" panose="02020603050405020304" charset="0"/>
              </a:rPr>
              <a:t>V</a:t>
            </a:r>
            <a:r>
              <a:rPr lang="en-US" sz="2800" dirty="0">
                <a:latin typeface="Times New Roman Regular" panose="02020603050405020304" charset="0"/>
                <a:cs typeface="Times New Roman Regular" panose="02020603050405020304" charset="0"/>
              </a:rPr>
              <a:t>.E.S.T</a:t>
            </a:r>
          </a:p>
          <a:p>
            <a:pPr marL="0" indent="0" algn="just">
              <a:buNone/>
            </a:pPr>
            <a:r>
              <a:rPr lang="en-US" sz="2800" b="1" dirty="0">
                <a:latin typeface="Times New Roman Regular" panose="02020603050405020304" charset="0"/>
                <a:cs typeface="Times New Roman Regular" panose="02020603050405020304" charset="0"/>
              </a:rPr>
              <a:t>	</a:t>
            </a:r>
            <a:r>
              <a:rPr lang="en-US" sz="2800" b="1" i="1" dirty="0">
                <a:latin typeface="Times New Roman Regular" panose="02020603050405020304" charset="0"/>
                <a:cs typeface="Times New Roman Regular" panose="02020603050405020304" charset="0"/>
              </a:rPr>
              <a:t>V</a:t>
            </a:r>
            <a:r>
              <a:rPr lang="en-US" sz="2800" i="1" dirty="0">
                <a:latin typeface="Times New Roman Regular" panose="02020603050405020304" charset="0"/>
                <a:cs typeface="Times New Roman Regular" panose="02020603050405020304" charset="0"/>
              </a:rPr>
              <a:t>aluable</a:t>
            </a:r>
            <a:r>
              <a:rPr lang="en-US" sz="2800" dirty="0">
                <a:latin typeface="Times New Roman Regular" panose="02020603050405020304" charset="0"/>
                <a:cs typeface="Times New Roman Regular" panose="02020603050405020304" charset="0"/>
              </a:rPr>
              <a:t>: Stories should show the value they deliver 	to the </a:t>
            </a:r>
            <a:r>
              <a:rPr lang="en-US" sz="2800" i="1" dirty="0">
                <a:latin typeface="Times New Roman Regular" panose="02020603050405020304" charset="0"/>
                <a:cs typeface="Times New Roman Regular" panose="02020603050405020304" charset="0"/>
              </a:rPr>
              <a:t>purchaser</a:t>
            </a:r>
            <a:r>
              <a:rPr lang="en-US" sz="2800" dirty="0">
                <a:latin typeface="Times New Roman Regular" panose="02020603050405020304" charset="0"/>
                <a:cs typeface="Times New Roman Regular" panose="02020603050405020304" charset="0"/>
              </a:rPr>
              <a:t> or </a:t>
            </a:r>
            <a:r>
              <a:rPr lang="en-US" sz="2800" i="1" dirty="0">
                <a:latin typeface="Times New Roman Regular" panose="02020603050405020304" charset="0"/>
                <a:cs typeface="Times New Roman Regular" panose="02020603050405020304" charset="0"/>
              </a:rPr>
              <a:t>user</a:t>
            </a:r>
            <a:r>
              <a:rPr lang="en-US" sz="2800" dirty="0">
                <a:latin typeface="Times New Roman Regular" panose="02020603050405020304" charset="0"/>
                <a:cs typeface="Times New Roman Regular" panose="02020603050405020304" charset="0"/>
              </a:rPr>
              <a:t> and not the developer. 	Endeavor to show how the story benefits the user.</a:t>
            </a:r>
            <a:endParaRPr lang="en-US" sz="2800" i="1" dirty="0">
              <a:latin typeface="Times New Roman Regular" panose="02020603050405020304" charset="0"/>
              <a:cs typeface="Times New Roman Regular" panose="02020603050405020304" charset="0"/>
            </a:endParaRPr>
          </a:p>
        </p:txBody>
      </p:sp>
      <p:graphicFrame>
        <p:nvGraphicFramePr>
          <p:cNvPr id="8" name="Table 7">
            <a:extLst>
              <a:ext uri="{FF2B5EF4-FFF2-40B4-BE49-F238E27FC236}">
                <a16:creationId xmlns:a16="http://schemas.microsoft.com/office/drawing/2014/main" id="{0E57E8B4-41DE-34A8-6EC8-392B9043ABED}"/>
              </a:ext>
            </a:extLst>
          </p:cNvPr>
          <p:cNvGraphicFramePr>
            <a:graphicFrameLocks noGrp="1"/>
          </p:cNvGraphicFramePr>
          <p:nvPr>
            <p:extLst>
              <p:ext uri="{D42A27DB-BD31-4B8C-83A1-F6EECF244321}">
                <p14:modId xmlns:p14="http://schemas.microsoft.com/office/powerpoint/2010/main" val="1646701419"/>
              </p:ext>
            </p:extLst>
          </p:nvPr>
        </p:nvGraphicFramePr>
        <p:xfrm>
          <a:off x="1106424" y="3854196"/>
          <a:ext cx="6096000" cy="701040"/>
        </p:xfrm>
        <a:graphic>
          <a:graphicData uri="http://schemas.openxmlformats.org/drawingml/2006/table">
            <a:tbl>
              <a:tblPr firstRow="1" bandRow="1">
                <a:effectLst/>
                <a:tableStyleId>{5C22544A-7EE6-4342-B048-85BDC9FD1C3A}</a:tableStyleId>
              </a:tblPr>
              <a:tblGrid>
                <a:gridCol w="6096000">
                  <a:extLst>
                    <a:ext uri="{9D8B030D-6E8A-4147-A177-3AD203B41FA5}">
                      <a16:colId xmlns:a16="http://schemas.microsoft.com/office/drawing/2014/main" val="793038940"/>
                    </a:ext>
                  </a:extLst>
                </a:gridCol>
              </a:tblGrid>
              <a:tr h="370840">
                <a:tc>
                  <a:txBody>
                    <a:bodyPr/>
                    <a:lstStyle/>
                    <a:p>
                      <a:r>
                        <a:rPr lang="en-US" sz="2000" b="0" dirty="0">
                          <a:solidFill>
                            <a:schemeClr val="tx1"/>
                          </a:solidFill>
                          <a:latin typeface="Times New Roman" panose="02020603050405020304" pitchFamily="18" charset="0"/>
                          <a:cs typeface="Times New Roman" panose="02020603050405020304" pitchFamily="18" charset="0"/>
                        </a:rPr>
                        <a:t>As a developer, I want to optimize the database indexing for the </a:t>
                      </a:r>
                      <a:r>
                        <a:rPr lang="en-US" sz="2000" b="0" u="none" strike="noStrike" kern="1200" dirty="0" err="1">
                          <a:solidFill>
                            <a:schemeClr val="tx1"/>
                          </a:solidFill>
                          <a:effectLst/>
                          <a:latin typeface="Times New Roman" panose="02020603050405020304" pitchFamily="18" charset="0"/>
                          <a:ea typeface="+mn-ea"/>
                          <a:cs typeface="Times New Roman" panose="02020603050405020304" pitchFamily="18" charset="0"/>
                        </a:rPr>
                        <a:t>course_sections</a:t>
                      </a:r>
                      <a:r>
                        <a:rPr lang="en-US" sz="2000" b="0" dirty="0">
                          <a:solidFill>
                            <a:schemeClr val="tx1"/>
                          </a:solidFill>
                          <a:latin typeface="Times New Roman" panose="02020603050405020304" pitchFamily="18" charset="0"/>
                          <a:cs typeface="Times New Roman" panose="02020603050405020304" pitchFamily="18" charset="0"/>
                        </a:rPr>
                        <a:t> table.</a:t>
                      </a:r>
                    </a:p>
                  </a:txBody>
                  <a:tcPr>
                    <a:lnL w="76200" cap="flat" cmpd="sng" algn="ctr">
                      <a:solidFill>
                        <a:schemeClr val="accent2">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2165514566"/>
                  </a:ext>
                </a:extLst>
              </a:tr>
            </a:tbl>
          </a:graphicData>
        </a:graphic>
      </p:graphicFrame>
      <p:graphicFrame>
        <p:nvGraphicFramePr>
          <p:cNvPr id="9" name="Table 8">
            <a:extLst>
              <a:ext uri="{FF2B5EF4-FFF2-40B4-BE49-F238E27FC236}">
                <a16:creationId xmlns:a16="http://schemas.microsoft.com/office/drawing/2014/main" id="{E2816EBD-095F-D854-9E55-A3755F3978A7}"/>
              </a:ext>
            </a:extLst>
          </p:cNvPr>
          <p:cNvGraphicFramePr>
            <a:graphicFrameLocks noGrp="1"/>
          </p:cNvGraphicFramePr>
          <p:nvPr>
            <p:extLst>
              <p:ext uri="{D42A27DB-BD31-4B8C-83A1-F6EECF244321}">
                <p14:modId xmlns:p14="http://schemas.microsoft.com/office/powerpoint/2010/main" val="2950476541"/>
              </p:ext>
            </p:extLst>
          </p:nvPr>
        </p:nvGraphicFramePr>
        <p:xfrm>
          <a:off x="1106424" y="4837430"/>
          <a:ext cx="6096000" cy="1005840"/>
        </p:xfrm>
        <a:graphic>
          <a:graphicData uri="http://schemas.openxmlformats.org/drawingml/2006/table">
            <a:tbl>
              <a:tblPr firstRow="1" bandRow="1">
                <a:effectLst/>
                <a:tableStyleId>{5C22544A-7EE6-4342-B048-85BDC9FD1C3A}</a:tableStyleId>
              </a:tblPr>
              <a:tblGrid>
                <a:gridCol w="6096000">
                  <a:extLst>
                    <a:ext uri="{9D8B030D-6E8A-4147-A177-3AD203B41FA5}">
                      <a16:colId xmlns:a16="http://schemas.microsoft.com/office/drawing/2014/main" val="793038940"/>
                    </a:ext>
                  </a:extLst>
                </a:gridCol>
              </a:tblGrid>
              <a:tr h="370840">
                <a:tc>
                  <a:txBody>
                    <a:bodyPr/>
                    <a:lstStyle/>
                    <a:p>
                      <a:r>
                        <a:rPr lang="en-US" sz="2000" b="0" dirty="0">
                          <a:solidFill>
                            <a:schemeClr val="tx1"/>
                          </a:solidFill>
                          <a:latin typeface="Times New Roman" panose="02020603050405020304" pitchFamily="18" charset="0"/>
                          <a:cs typeface="Times New Roman" panose="02020603050405020304" pitchFamily="18" charset="0"/>
                        </a:rPr>
                        <a:t>As a student, I want search results for available courses to load in under two seconds so that I can register quickly during peak hours.</a:t>
                      </a:r>
                    </a:p>
                  </a:txBody>
                  <a:tcPr>
                    <a:lnL w="76200" cap="flat" cmpd="sng" algn="ctr">
                      <a:solidFill>
                        <a:schemeClr val="accent3">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2165514566"/>
                  </a:ext>
                </a:extLst>
              </a:tr>
            </a:tbl>
          </a:graphicData>
        </a:graphic>
      </p:graphicFrame>
    </p:spTree>
    <p:extLst>
      <p:ext uri="{BB962C8B-B14F-4D97-AF65-F5344CB8AC3E}">
        <p14:creationId xmlns:p14="http://schemas.microsoft.com/office/powerpoint/2010/main" val="2544134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A03F5E-8081-923C-0E2D-3F86B6159B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CA29CA-47EE-F9C5-A9B7-17DE70C9FBD1}"/>
              </a:ext>
            </a:extLst>
          </p:cNvPr>
          <p:cNvSpPr>
            <a:spLocks noGrp="1"/>
          </p:cNvSpPr>
          <p:nvPr>
            <p:ph type="title"/>
          </p:nvPr>
        </p:nvSpPr>
        <p:spPr>
          <a:solidFill>
            <a:schemeClr val="tx1"/>
          </a:solidFill>
        </p:spPr>
        <p:txBody>
          <a:bodyPr>
            <a:normAutofit/>
          </a:bodyPr>
          <a:lstStyle/>
          <a:p>
            <a:r>
              <a:rPr lang="en-US" dirty="0">
                <a:solidFill>
                  <a:srgbClr val="FFFF00"/>
                </a:solidFill>
                <a:latin typeface="Times New Roman Regular" panose="02020603050405020304" charset="0"/>
                <a:cs typeface="Times New Roman Regular" panose="02020603050405020304" charset="0"/>
              </a:rPr>
              <a:t>Writing User Stories: INVEST</a:t>
            </a:r>
          </a:p>
        </p:txBody>
      </p:sp>
      <p:sp>
        <p:nvSpPr>
          <p:cNvPr id="3" name="Content Placeholder 2">
            <a:extLst>
              <a:ext uri="{FF2B5EF4-FFF2-40B4-BE49-F238E27FC236}">
                <a16:creationId xmlns:a16="http://schemas.microsoft.com/office/drawing/2014/main" id="{588C1C95-33C1-60ED-1FA0-C04F66EA5202}"/>
              </a:ext>
            </a:extLst>
          </p:cNvPr>
          <p:cNvSpPr>
            <a:spLocks noGrp="1"/>
          </p:cNvSpPr>
          <p:nvPr>
            <p:ph idx="1"/>
          </p:nvPr>
        </p:nvSpPr>
        <p:spPr>
          <a:xfrm>
            <a:off x="457200" y="1600200"/>
            <a:ext cx="8229600" cy="4837176"/>
          </a:xfrm>
        </p:spPr>
        <p:txBody>
          <a:bodyPr>
            <a:normAutofit/>
          </a:bodyPr>
          <a:lstStyle/>
          <a:p>
            <a:pPr marL="0" indent="0" algn="just">
              <a:buNone/>
            </a:pPr>
            <a:r>
              <a:rPr lang="en-US" sz="2800" dirty="0">
                <a:latin typeface="Times New Roman Regular" panose="02020603050405020304" charset="0"/>
                <a:cs typeface="Times New Roman Regular" panose="02020603050405020304" charset="0"/>
              </a:rPr>
              <a:t>I.N.V.</a:t>
            </a:r>
            <a:r>
              <a:rPr lang="en-US" sz="2800" b="1" dirty="0">
                <a:latin typeface="Times New Roman Regular" panose="02020603050405020304" charset="0"/>
                <a:cs typeface="Times New Roman Regular" panose="02020603050405020304" charset="0"/>
              </a:rPr>
              <a:t>E</a:t>
            </a:r>
            <a:r>
              <a:rPr lang="en-US" sz="2800" dirty="0">
                <a:latin typeface="Times New Roman Regular" panose="02020603050405020304" charset="0"/>
                <a:cs typeface="Times New Roman Regular" panose="02020603050405020304" charset="0"/>
              </a:rPr>
              <a:t>.S.T</a:t>
            </a:r>
          </a:p>
          <a:p>
            <a:pPr marL="0" indent="0" algn="just">
              <a:buNone/>
            </a:pPr>
            <a:r>
              <a:rPr lang="en-US" sz="2800" b="1" dirty="0">
                <a:latin typeface="Times New Roman Regular" panose="02020603050405020304" charset="0"/>
                <a:cs typeface="Times New Roman Regular" panose="02020603050405020304" charset="0"/>
              </a:rPr>
              <a:t>	</a:t>
            </a:r>
            <a:r>
              <a:rPr lang="en-US" sz="2800" b="1" i="1" dirty="0">
                <a:latin typeface="Times New Roman Regular" panose="02020603050405020304" charset="0"/>
                <a:cs typeface="Times New Roman Regular" panose="02020603050405020304" charset="0"/>
              </a:rPr>
              <a:t>E</a:t>
            </a:r>
            <a:r>
              <a:rPr lang="en-US" sz="2800" i="1" dirty="0">
                <a:latin typeface="Times New Roman Regular" panose="02020603050405020304" charset="0"/>
                <a:cs typeface="Times New Roman Regular" panose="02020603050405020304" charset="0"/>
              </a:rPr>
              <a:t>stimatable</a:t>
            </a:r>
            <a:r>
              <a:rPr lang="en-US" sz="2800" dirty="0">
                <a:latin typeface="Times New Roman Regular" panose="02020603050405020304" charset="0"/>
                <a:cs typeface="Times New Roman Regular" panose="02020603050405020304" charset="0"/>
              </a:rPr>
              <a:t>: The developers need to be able to 	estimate or make a good guess at how long it will 	take for the story to turn into working code.</a:t>
            </a:r>
          </a:p>
          <a:p>
            <a:pPr marL="0" indent="0" algn="just">
              <a:buNone/>
            </a:pPr>
            <a:endParaRPr lang="en-US" sz="2800" i="1" dirty="0">
              <a:latin typeface="Times New Roman Regular" panose="02020603050405020304" charset="0"/>
              <a:cs typeface="Times New Roman Regular" panose="02020603050405020304" charset="0"/>
            </a:endParaRPr>
          </a:p>
        </p:txBody>
      </p:sp>
      <p:graphicFrame>
        <p:nvGraphicFramePr>
          <p:cNvPr id="5" name="Table 4">
            <a:extLst>
              <a:ext uri="{FF2B5EF4-FFF2-40B4-BE49-F238E27FC236}">
                <a16:creationId xmlns:a16="http://schemas.microsoft.com/office/drawing/2014/main" id="{B8E0E284-3C81-5CBF-4ECF-FF0232E3E5DF}"/>
              </a:ext>
            </a:extLst>
          </p:cNvPr>
          <p:cNvGraphicFramePr>
            <a:graphicFrameLocks noGrp="1"/>
          </p:cNvGraphicFramePr>
          <p:nvPr>
            <p:extLst>
              <p:ext uri="{D42A27DB-BD31-4B8C-83A1-F6EECF244321}">
                <p14:modId xmlns:p14="http://schemas.microsoft.com/office/powerpoint/2010/main" val="3910990620"/>
              </p:ext>
            </p:extLst>
          </p:nvPr>
        </p:nvGraphicFramePr>
        <p:xfrm>
          <a:off x="1030224" y="3655568"/>
          <a:ext cx="7098792" cy="2760980"/>
        </p:xfrm>
        <a:graphic>
          <a:graphicData uri="http://schemas.openxmlformats.org/drawingml/2006/table">
            <a:tbl>
              <a:tblPr firstRow="1" bandRow="1">
                <a:tableStyleId>{2D5ABB26-0587-4C30-8999-92F81FD0307C}</a:tableStyleId>
              </a:tblPr>
              <a:tblGrid>
                <a:gridCol w="3549396">
                  <a:extLst>
                    <a:ext uri="{9D8B030D-6E8A-4147-A177-3AD203B41FA5}">
                      <a16:colId xmlns:a16="http://schemas.microsoft.com/office/drawing/2014/main" val="1643803910"/>
                    </a:ext>
                  </a:extLst>
                </a:gridCol>
                <a:gridCol w="3549396">
                  <a:extLst>
                    <a:ext uri="{9D8B030D-6E8A-4147-A177-3AD203B41FA5}">
                      <a16:colId xmlns:a16="http://schemas.microsoft.com/office/drawing/2014/main" val="1670495651"/>
                    </a:ext>
                  </a:extLst>
                </a:gridCol>
              </a:tblGrid>
              <a:tr h="679450">
                <a:tc>
                  <a:txBody>
                    <a:bodyPr/>
                    <a:lstStyle/>
                    <a:p>
                      <a:r>
                        <a:rPr lang="en-US" sz="2000" dirty="0">
                          <a:latin typeface="Times New Roman" panose="02020603050405020304" pitchFamily="18" charset="0"/>
                          <a:cs typeface="Times New Roman" panose="02020603050405020304" pitchFamily="18" charset="0"/>
                        </a:rPr>
                        <a:t>Reasons for Lack of Estimation</a:t>
                      </a:r>
                    </a:p>
                  </a:txBody>
                  <a:tcPr anchor="ctr">
                    <a:lnL>
                      <a:noFill/>
                    </a:lnL>
                    <a:lnR w="38100" cap="flat" cmpd="sng" algn="ctr">
                      <a:solidFill>
                        <a:schemeClr val="tx1"/>
                      </a:solidFill>
                      <a:prstDash val="solid"/>
                      <a:round/>
                      <a:headEnd type="none" w="med" len="med"/>
                      <a:tailEnd type="none" w="med" len="med"/>
                    </a:lnR>
                    <a:lnT>
                      <a:noFill/>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000" dirty="0">
                          <a:latin typeface="Times New Roman" panose="02020603050405020304" pitchFamily="18" charset="0"/>
                          <a:cs typeface="Times New Roman" panose="02020603050405020304" pitchFamily="18" charset="0"/>
                        </a:rPr>
                        <a:t>Solutions</a:t>
                      </a:r>
                    </a:p>
                  </a:txBody>
                  <a:tcPr anchor="ctr">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45323967"/>
                  </a:ext>
                </a:extLst>
              </a:tr>
              <a:tr h="679450">
                <a:tc>
                  <a:txBody>
                    <a:bodyPr/>
                    <a:lstStyle/>
                    <a:p>
                      <a:r>
                        <a:rPr lang="en-US" sz="2000" dirty="0">
                          <a:latin typeface="Times New Roman" panose="02020603050405020304" pitchFamily="18" charset="0"/>
                          <a:cs typeface="Times New Roman" panose="02020603050405020304" pitchFamily="18" charset="0"/>
                        </a:rPr>
                        <a:t>Lack of Domain Knowledge</a:t>
                      </a:r>
                    </a:p>
                  </a:txBody>
                  <a:tcPr anchor="ctr">
                    <a:lnL>
                      <a:noFill/>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762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000" dirty="0">
                          <a:latin typeface="Times New Roman" panose="02020603050405020304" pitchFamily="18" charset="0"/>
                          <a:cs typeface="Times New Roman" panose="02020603050405020304" pitchFamily="18" charset="0"/>
                        </a:rPr>
                        <a:t>Discuss with the customer for clarification.</a:t>
                      </a:r>
                    </a:p>
                  </a:txBody>
                  <a:tcPr anchor="ct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930537266"/>
                  </a:ext>
                </a:extLst>
              </a:tr>
              <a:tr h="679450">
                <a:tc>
                  <a:txBody>
                    <a:bodyPr/>
                    <a:lstStyle/>
                    <a:p>
                      <a:r>
                        <a:rPr lang="en-US" sz="2000" dirty="0">
                          <a:latin typeface="Times New Roman" panose="02020603050405020304" pitchFamily="18" charset="0"/>
                          <a:cs typeface="Times New Roman" panose="02020603050405020304" pitchFamily="18" charset="0"/>
                        </a:rPr>
                        <a:t>Lack of Technical Knowledge</a:t>
                      </a:r>
                    </a:p>
                  </a:txBody>
                  <a:tcPr anchor="ctr">
                    <a:lnL>
                      <a:noFill/>
                    </a:lnL>
                    <a:lnR w="38100" cap="flat" cmpd="sng" algn="ctr">
                      <a:solidFill>
                        <a:schemeClr val="tx1"/>
                      </a:solidFill>
                      <a:prstDash val="solid"/>
                      <a:round/>
                      <a:headEnd type="none" w="med" len="med"/>
                      <a:tailEnd type="none" w="med" len="med"/>
                    </a:lnR>
                    <a:lnT w="76200" cap="flat" cmpd="sng" algn="ctr">
                      <a:noFill/>
                      <a:prstDash val="solid"/>
                      <a:round/>
                      <a:headEnd type="none" w="med" len="med"/>
                      <a:tailEnd type="none" w="med" len="med"/>
                    </a:lnT>
                    <a:lnB w="762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000" dirty="0">
                          <a:latin typeface="Times New Roman" panose="02020603050405020304" pitchFamily="18" charset="0"/>
                          <a:cs typeface="Times New Roman" panose="02020603050405020304" pitchFamily="18" charset="0"/>
                        </a:rPr>
                        <a:t>Choose a developer to experiment with the technology.</a:t>
                      </a:r>
                    </a:p>
                  </a:txBody>
                  <a:tcPr anchor="ctr">
                    <a:lnL w="381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012903911"/>
                  </a:ext>
                </a:extLst>
              </a:tr>
              <a:tr h="679450">
                <a:tc>
                  <a:txBody>
                    <a:bodyPr/>
                    <a:lstStyle/>
                    <a:p>
                      <a:r>
                        <a:rPr lang="en-US" sz="2000" dirty="0">
                          <a:latin typeface="Times New Roman" panose="02020603050405020304" pitchFamily="18" charset="0"/>
                          <a:cs typeface="Times New Roman" panose="02020603050405020304" pitchFamily="18" charset="0"/>
                        </a:rPr>
                        <a:t>The Story is Too Big</a:t>
                      </a:r>
                    </a:p>
                  </a:txBody>
                  <a:tcPr anchor="ctr">
                    <a:lnL>
                      <a:noFill/>
                    </a:lnL>
                    <a:lnR w="38100" cap="flat" cmpd="sng" algn="ctr">
                      <a:solidFill>
                        <a:schemeClr val="tx1"/>
                      </a:solidFill>
                      <a:prstDash val="solid"/>
                      <a:round/>
                      <a:headEnd type="none" w="med" len="med"/>
                      <a:tailEnd type="none" w="med" len="med"/>
                    </a:lnR>
                    <a:lnT w="762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r>
                        <a:rPr lang="en-US" sz="2000" dirty="0">
                          <a:latin typeface="Times New Roman" panose="02020603050405020304" pitchFamily="18" charset="0"/>
                          <a:cs typeface="Times New Roman" panose="02020603050405020304" pitchFamily="18" charset="0"/>
                        </a:rPr>
                        <a:t>Create an epic out of the story.</a:t>
                      </a:r>
                    </a:p>
                  </a:txBody>
                  <a:tcPr anchor="ctr">
                    <a:lnL w="381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719011297"/>
                  </a:ext>
                </a:extLst>
              </a:tr>
            </a:tbl>
          </a:graphicData>
        </a:graphic>
      </p:graphicFrame>
    </p:spTree>
    <p:extLst>
      <p:ext uri="{BB962C8B-B14F-4D97-AF65-F5344CB8AC3E}">
        <p14:creationId xmlns:p14="http://schemas.microsoft.com/office/powerpoint/2010/main" val="3893128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967103-3109-7152-AE34-BFE7343477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FB3194-D446-C1BC-36DD-83139D9C2535}"/>
              </a:ext>
            </a:extLst>
          </p:cNvPr>
          <p:cNvSpPr>
            <a:spLocks noGrp="1"/>
          </p:cNvSpPr>
          <p:nvPr>
            <p:ph type="title"/>
          </p:nvPr>
        </p:nvSpPr>
        <p:spPr>
          <a:solidFill>
            <a:schemeClr val="tx1"/>
          </a:solidFill>
        </p:spPr>
        <p:txBody>
          <a:bodyPr>
            <a:normAutofit/>
          </a:bodyPr>
          <a:lstStyle/>
          <a:p>
            <a:r>
              <a:rPr lang="en-US" dirty="0">
                <a:solidFill>
                  <a:srgbClr val="FFFF00"/>
                </a:solidFill>
                <a:latin typeface="Times New Roman Regular" panose="02020603050405020304" charset="0"/>
                <a:cs typeface="Times New Roman Regular" panose="02020603050405020304" charset="0"/>
              </a:rPr>
              <a:t>Writing User Stories: INVEST</a:t>
            </a:r>
          </a:p>
        </p:txBody>
      </p:sp>
      <p:sp>
        <p:nvSpPr>
          <p:cNvPr id="3" name="Content Placeholder 2">
            <a:extLst>
              <a:ext uri="{FF2B5EF4-FFF2-40B4-BE49-F238E27FC236}">
                <a16:creationId xmlns:a16="http://schemas.microsoft.com/office/drawing/2014/main" id="{3068AE07-5A1F-2CC5-7022-D5CEF0141BEF}"/>
              </a:ext>
            </a:extLst>
          </p:cNvPr>
          <p:cNvSpPr>
            <a:spLocks noGrp="1"/>
          </p:cNvSpPr>
          <p:nvPr>
            <p:ph idx="1"/>
          </p:nvPr>
        </p:nvSpPr>
        <p:spPr>
          <a:xfrm>
            <a:off x="457200" y="1600200"/>
            <a:ext cx="8229600" cy="4837176"/>
          </a:xfrm>
        </p:spPr>
        <p:txBody>
          <a:bodyPr>
            <a:normAutofit/>
          </a:bodyPr>
          <a:lstStyle/>
          <a:p>
            <a:pPr marL="0" indent="0" algn="just">
              <a:buNone/>
            </a:pPr>
            <a:r>
              <a:rPr lang="en-US" sz="2800" dirty="0">
                <a:latin typeface="Times New Roman Regular" panose="02020603050405020304" charset="0"/>
                <a:cs typeface="Times New Roman Regular" panose="02020603050405020304" charset="0"/>
              </a:rPr>
              <a:t>I.N.V.E.</a:t>
            </a:r>
            <a:r>
              <a:rPr lang="en-US" sz="2800" b="1" dirty="0">
                <a:latin typeface="Times New Roman Regular" panose="02020603050405020304" charset="0"/>
                <a:cs typeface="Times New Roman Regular" panose="02020603050405020304" charset="0"/>
              </a:rPr>
              <a:t>S</a:t>
            </a:r>
            <a:r>
              <a:rPr lang="en-US" sz="2800" dirty="0">
                <a:latin typeface="Times New Roman Regular" panose="02020603050405020304" charset="0"/>
                <a:cs typeface="Times New Roman Regular" panose="02020603050405020304" charset="0"/>
              </a:rPr>
              <a:t>.T</a:t>
            </a:r>
          </a:p>
          <a:p>
            <a:pPr marL="0" indent="0" algn="just">
              <a:buNone/>
            </a:pPr>
            <a:r>
              <a:rPr lang="en-US" sz="2800" b="1" dirty="0">
                <a:latin typeface="Times New Roman Regular" panose="02020603050405020304" charset="0"/>
                <a:cs typeface="Times New Roman Regular" panose="02020603050405020304" charset="0"/>
              </a:rPr>
              <a:t>	</a:t>
            </a:r>
            <a:r>
              <a:rPr lang="en-US" sz="2800" b="1" i="1" dirty="0">
                <a:latin typeface="Times New Roman Regular" panose="02020603050405020304" charset="0"/>
                <a:cs typeface="Times New Roman Regular" panose="02020603050405020304" charset="0"/>
              </a:rPr>
              <a:t>S</a:t>
            </a:r>
            <a:r>
              <a:rPr lang="en-US" sz="2800" i="1" dirty="0">
                <a:latin typeface="Times New Roman Regular" panose="02020603050405020304" charset="0"/>
                <a:cs typeface="Times New Roman Regular" panose="02020603050405020304" charset="0"/>
              </a:rPr>
              <a:t>mall</a:t>
            </a:r>
            <a:r>
              <a:rPr lang="en-US" sz="2800" dirty="0">
                <a:latin typeface="Times New Roman Regular" panose="02020603050405020304" charset="0"/>
                <a:cs typeface="Times New Roman Regular" panose="02020603050405020304" charset="0"/>
              </a:rPr>
              <a:t>: Too large or too small stories become hard to 	plan for. The right story size depends on the team’s 	capabilities and the technologies in use.</a:t>
            </a:r>
          </a:p>
          <a:p>
            <a:pPr marL="0" indent="0" algn="just">
              <a:buNone/>
            </a:pPr>
            <a:endParaRPr lang="en-US" sz="2800" dirty="0">
              <a:latin typeface="Times New Roman Regular" panose="02020603050405020304" charset="0"/>
              <a:cs typeface="Times New Roman Regular" panose="02020603050405020304" charset="0"/>
            </a:endParaRPr>
          </a:p>
          <a:p>
            <a:pPr marL="0" indent="0" algn="just">
              <a:buNone/>
            </a:pPr>
            <a:r>
              <a:rPr lang="en-US" sz="2800" dirty="0">
                <a:latin typeface="Times New Roman Regular" panose="02020603050405020304" charset="0"/>
                <a:cs typeface="Times New Roman Regular" panose="02020603050405020304" charset="0"/>
              </a:rPr>
              <a:t>	</a:t>
            </a:r>
            <a:r>
              <a:rPr lang="en-US" sz="2800" b="1" dirty="0">
                <a:latin typeface="Times New Roman Regular" panose="02020603050405020304" charset="0"/>
                <a:cs typeface="Times New Roman Regular" panose="02020603050405020304" charset="0"/>
              </a:rPr>
              <a:t>Too Large? </a:t>
            </a:r>
            <a:r>
              <a:rPr lang="en-US" sz="2800" dirty="0">
                <a:latin typeface="Times New Roman Regular" panose="02020603050405020304" charset="0"/>
                <a:cs typeface="Times New Roman Regular" panose="02020603050405020304" charset="0"/>
              </a:rPr>
              <a:t>Split the Story</a:t>
            </a:r>
          </a:p>
          <a:p>
            <a:pPr marL="0" indent="0" algn="just">
              <a:buNone/>
            </a:pPr>
            <a:r>
              <a:rPr lang="en-US" sz="2800" dirty="0">
                <a:latin typeface="Times New Roman Regular" panose="02020603050405020304" charset="0"/>
                <a:cs typeface="Times New Roman Regular" panose="02020603050405020304" charset="0"/>
              </a:rPr>
              <a:t>	</a:t>
            </a:r>
            <a:r>
              <a:rPr lang="en-US" sz="2800" b="1" dirty="0">
                <a:latin typeface="Times New Roman Regular" panose="02020603050405020304" charset="0"/>
                <a:cs typeface="Times New Roman Regular" panose="02020603050405020304" charset="0"/>
              </a:rPr>
              <a:t>Too Small? </a:t>
            </a:r>
            <a:r>
              <a:rPr lang="en-US" sz="2800" dirty="0">
                <a:latin typeface="Times New Roman Regular" panose="02020603050405020304" charset="0"/>
                <a:cs typeface="Times New Roman Regular" panose="02020603050405020304" charset="0"/>
              </a:rPr>
              <a:t>Combine the Stories</a:t>
            </a:r>
          </a:p>
          <a:p>
            <a:pPr marL="0" indent="0" algn="just">
              <a:buNone/>
            </a:pPr>
            <a:endParaRPr lang="en-US" sz="2800" i="1" dirty="0">
              <a:latin typeface="Times New Roman Regular" panose="02020603050405020304" charset="0"/>
              <a:cs typeface="Times New Roman Regular" panose="02020603050405020304" charset="0"/>
            </a:endParaRPr>
          </a:p>
        </p:txBody>
      </p:sp>
    </p:spTree>
    <p:extLst>
      <p:ext uri="{BB962C8B-B14F-4D97-AF65-F5344CB8AC3E}">
        <p14:creationId xmlns:p14="http://schemas.microsoft.com/office/powerpoint/2010/main" val="3622656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A750D-D5B7-502C-3EB3-BA176B5F04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EAB29D-F9C6-377C-D443-16BDCBF4397F}"/>
              </a:ext>
            </a:extLst>
          </p:cNvPr>
          <p:cNvSpPr>
            <a:spLocks noGrp="1"/>
          </p:cNvSpPr>
          <p:nvPr>
            <p:ph type="title"/>
          </p:nvPr>
        </p:nvSpPr>
        <p:spPr>
          <a:solidFill>
            <a:schemeClr val="tx1"/>
          </a:solidFill>
        </p:spPr>
        <p:txBody>
          <a:bodyPr>
            <a:normAutofit/>
          </a:bodyPr>
          <a:lstStyle/>
          <a:p>
            <a:r>
              <a:rPr lang="en-US" dirty="0">
                <a:solidFill>
                  <a:srgbClr val="FFFF00"/>
                </a:solidFill>
                <a:latin typeface="Times New Roman Regular" panose="02020603050405020304" charset="0"/>
                <a:cs typeface="Times New Roman Regular" panose="02020603050405020304" charset="0"/>
              </a:rPr>
              <a:t>Writing User Stories: INVEST</a:t>
            </a:r>
          </a:p>
        </p:txBody>
      </p:sp>
      <p:sp>
        <p:nvSpPr>
          <p:cNvPr id="3" name="Content Placeholder 2">
            <a:extLst>
              <a:ext uri="{FF2B5EF4-FFF2-40B4-BE49-F238E27FC236}">
                <a16:creationId xmlns:a16="http://schemas.microsoft.com/office/drawing/2014/main" id="{A270F3E9-B365-17AB-E07E-7C9F2C053965}"/>
              </a:ext>
            </a:extLst>
          </p:cNvPr>
          <p:cNvSpPr>
            <a:spLocks noGrp="1"/>
          </p:cNvSpPr>
          <p:nvPr>
            <p:ph idx="1"/>
          </p:nvPr>
        </p:nvSpPr>
        <p:spPr>
          <a:xfrm>
            <a:off x="457200" y="1600200"/>
            <a:ext cx="8229600" cy="4837176"/>
          </a:xfrm>
        </p:spPr>
        <p:txBody>
          <a:bodyPr>
            <a:normAutofit/>
          </a:bodyPr>
          <a:lstStyle/>
          <a:p>
            <a:pPr marL="0" indent="0" algn="just">
              <a:buNone/>
            </a:pPr>
            <a:r>
              <a:rPr lang="en-US" sz="2800" dirty="0">
                <a:latin typeface="Times New Roman Regular" panose="02020603050405020304" charset="0"/>
                <a:cs typeface="Times New Roman Regular" panose="02020603050405020304" charset="0"/>
              </a:rPr>
              <a:t>I.N.V.E.S.</a:t>
            </a:r>
            <a:r>
              <a:rPr lang="en-US" sz="2800" b="1" dirty="0">
                <a:latin typeface="Times New Roman Regular" panose="02020603050405020304" charset="0"/>
                <a:cs typeface="Times New Roman Regular" panose="02020603050405020304" charset="0"/>
              </a:rPr>
              <a:t>T</a:t>
            </a:r>
          </a:p>
          <a:p>
            <a:pPr marL="0" indent="0" algn="just">
              <a:buNone/>
            </a:pPr>
            <a:r>
              <a:rPr lang="en-US" sz="2800" b="1" dirty="0">
                <a:latin typeface="Times New Roman Regular" panose="02020603050405020304" charset="0"/>
                <a:cs typeface="Times New Roman Regular" panose="02020603050405020304" charset="0"/>
              </a:rPr>
              <a:t>	</a:t>
            </a:r>
            <a:r>
              <a:rPr lang="en-US" sz="2800" b="1" i="1" dirty="0">
                <a:latin typeface="Times New Roman Regular" panose="02020603050405020304" charset="0"/>
                <a:cs typeface="Times New Roman Regular" panose="02020603050405020304" charset="0"/>
              </a:rPr>
              <a:t>T</a:t>
            </a:r>
            <a:r>
              <a:rPr lang="en-US" sz="2800" i="1" dirty="0">
                <a:latin typeface="Times New Roman Regular" panose="02020603050405020304" charset="0"/>
                <a:cs typeface="Times New Roman Regular" panose="02020603050405020304" charset="0"/>
              </a:rPr>
              <a:t>estable</a:t>
            </a:r>
            <a:r>
              <a:rPr lang="en-US" sz="2800" dirty="0">
                <a:latin typeface="Times New Roman Regular" panose="02020603050405020304" charset="0"/>
                <a:cs typeface="Times New Roman Regular" panose="02020603050405020304" charset="0"/>
              </a:rPr>
              <a:t>: Stories need to tell developers when they 	should consider their work done. Always aim for 	tests that can be automated.</a:t>
            </a:r>
          </a:p>
          <a:p>
            <a:pPr marL="0" indent="0" algn="just">
              <a:buNone/>
            </a:pPr>
            <a:endParaRPr lang="en-US" sz="2800" dirty="0">
              <a:latin typeface="Times New Roman Regular" panose="02020603050405020304" charset="0"/>
              <a:cs typeface="Times New Roman Regular" panose="02020603050405020304" charset="0"/>
            </a:endParaRPr>
          </a:p>
        </p:txBody>
      </p:sp>
      <p:graphicFrame>
        <p:nvGraphicFramePr>
          <p:cNvPr id="4" name="Table 3">
            <a:extLst>
              <a:ext uri="{FF2B5EF4-FFF2-40B4-BE49-F238E27FC236}">
                <a16:creationId xmlns:a16="http://schemas.microsoft.com/office/drawing/2014/main" id="{2969389A-B6B0-A3E5-F102-8EAD71B8E8E3}"/>
              </a:ext>
            </a:extLst>
          </p:cNvPr>
          <p:cNvGraphicFramePr>
            <a:graphicFrameLocks noGrp="1"/>
          </p:cNvGraphicFramePr>
          <p:nvPr>
            <p:extLst>
              <p:ext uri="{D42A27DB-BD31-4B8C-83A1-F6EECF244321}">
                <p14:modId xmlns:p14="http://schemas.microsoft.com/office/powerpoint/2010/main" val="4066091050"/>
              </p:ext>
            </p:extLst>
          </p:nvPr>
        </p:nvGraphicFramePr>
        <p:xfrm>
          <a:off x="1106424" y="3854196"/>
          <a:ext cx="6096000" cy="701040"/>
        </p:xfrm>
        <a:graphic>
          <a:graphicData uri="http://schemas.openxmlformats.org/drawingml/2006/table">
            <a:tbl>
              <a:tblPr firstRow="1" bandRow="1">
                <a:effectLst/>
                <a:tableStyleId>{5C22544A-7EE6-4342-B048-85BDC9FD1C3A}</a:tableStyleId>
              </a:tblPr>
              <a:tblGrid>
                <a:gridCol w="6096000">
                  <a:extLst>
                    <a:ext uri="{9D8B030D-6E8A-4147-A177-3AD203B41FA5}">
                      <a16:colId xmlns:a16="http://schemas.microsoft.com/office/drawing/2014/main" val="793038940"/>
                    </a:ext>
                  </a:extLst>
                </a:gridCol>
              </a:tblGrid>
              <a:tr h="370840">
                <a:tc>
                  <a:txBody>
                    <a:bodyPr/>
                    <a:lstStyle/>
                    <a:p>
                      <a:r>
                        <a:rPr lang="en-US" sz="2000" b="0" dirty="0">
                          <a:solidFill>
                            <a:schemeClr val="tx1"/>
                          </a:solidFill>
                          <a:latin typeface="Times New Roman" panose="02020603050405020304" pitchFamily="18" charset="0"/>
                          <a:cs typeface="Times New Roman" panose="02020603050405020304" pitchFamily="18" charset="0"/>
                        </a:rPr>
                        <a:t>As a professor, I want the attendance tracking feature to be user-friendly and fast.</a:t>
                      </a:r>
                    </a:p>
                  </a:txBody>
                  <a:tcPr>
                    <a:lnL w="76200" cap="flat" cmpd="sng" algn="ctr">
                      <a:solidFill>
                        <a:schemeClr val="accent2">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2165514566"/>
                  </a:ext>
                </a:extLst>
              </a:tr>
            </a:tbl>
          </a:graphicData>
        </a:graphic>
      </p:graphicFrame>
      <p:graphicFrame>
        <p:nvGraphicFramePr>
          <p:cNvPr id="5" name="Table 4">
            <a:extLst>
              <a:ext uri="{FF2B5EF4-FFF2-40B4-BE49-F238E27FC236}">
                <a16:creationId xmlns:a16="http://schemas.microsoft.com/office/drawing/2014/main" id="{614C0506-76B9-9C41-065E-1E0257482D3D}"/>
              </a:ext>
            </a:extLst>
          </p:cNvPr>
          <p:cNvGraphicFramePr>
            <a:graphicFrameLocks noGrp="1"/>
          </p:cNvGraphicFramePr>
          <p:nvPr>
            <p:extLst>
              <p:ext uri="{D42A27DB-BD31-4B8C-83A1-F6EECF244321}">
                <p14:modId xmlns:p14="http://schemas.microsoft.com/office/powerpoint/2010/main" val="709909337"/>
              </p:ext>
            </p:extLst>
          </p:nvPr>
        </p:nvGraphicFramePr>
        <p:xfrm>
          <a:off x="1106424" y="4837430"/>
          <a:ext cx="6096000" cy="1005840"/>
        </p:xfrm>
        <a:graphic>
          <a:graphicData uri="http://schemas.openxmlformats.org/drawingml/2006/table">
            <a:tbl>
              <a:tblPr firstRow="1" bandRow="1">
                <a:effectLst/>
                <a:tableStyleId>{5C22544A-7EE6-4342-B048-85BDC9FD1C3A}</a:tableStyleId>
              </a:tblPr>
              <a:tblGrid>
                <a:gridCol w="6096000">
                  <a:extLst>
                    <a:ext uri="{9D8B030D-6E8A-4147-A177-3AD203B41FA5}">
                      <a16:colId xmlns:a16="http://schemas.microsoft.com/office/drawing/2014/main" val="793038940"/>
                    </a:ext>
                  </a:extLst>
                </a:gridCol>
              </a:tblGrid>
              <a:tr h="370840">
                <a:tc>
                  <a:txBody>
                    <a:bodyPr/>
                    <a:lstStyle/>
                    <a:p>
                      <a:r>
                        <a:rPr lang="en-US" sz="2000" b="0" dirty="0">
                          <a:solidFill>
                            <a:schemeClr val="tx1"/>
                          </a:solidFill>
                          <a:latin typeface="Times New Roman" panose="02020603050405020304" pitchFamily="18" charset="0"/>
                          <a:cs typeface="Times New Roman" panose="02020603050405020304" pitchFamily="18" charset="0"/>
                        </a:rPr>
                        <a:t>As a professor, I want to log student attendance with a single click per student so that I can complete the roster in under two minutes.</a:t>
                      </a:r>
                    </a:p>
                  </a:txBody>
                  <a:tcPr>
                    <a:lnL w="76200" cap="flat" cmpd="sng" algn="ctr">
                      <a:solidFill>
                        <a:schemeClr val="accent3">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2165514566"/>
                  </a:ext>
                </a:extLst>
              </a:tr>
            </a:tbl>
          </a:graphicData>
        </a:graphic>
      </p:graphicFrame>
    </p:spTree>
    <p:extLst>
      <p:ext uri="{BB962C8B-B14F-4D97-AF65-F5344CB8AC3E}">
        <p14:creationId xmlns:p14="http://schemas.microsoft.com/office/powerpoint/2010/main" val="1375588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109CF-A23D-37A8-D978-3A8A4EB61B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4E34D4-7D78-A1B3-04A4-D8F7EE71046B}"/>
              </a:ext>
            </a:extLst>
          </p:cNvPr>
          <p:cNvSpPr>
            <a:spLocks noGrp="1"/>
          </p:cNvSpPr>
          <p:nvPr>
            <p:ph type="title"/>
          </p:nvPr>
        </p:nvSpPr>
        <p:spPr>
          <a:solidFill>
            <a:schemeClr val="tx1"/>
          </a:solidFill>
        </p:spPr>
        <p:txBody>
          <a:bodyPr>
            <a:normAutofit/>
          </a:bodyPr>
          <a:lstStyle/>
          <a:p>
            <a:r>
              <a:rPr lang="en-US" dirty="0">
                <a:solidFill>
                  <a:srgbClr val="FFFF00"/>
                </a:solidFill>
                <a:latin typeface="Times New Roman Regular" panose="02020603050405020304" charset="0"/>
                <a:cs typeface="Times New Roman Regular" panose="02020603050405020304" charset="0"/>
              </a:rPr>
              <a:t>User Stories: Acceptance Criteria</a:t>
            </a:r>
          </a:p>
        </p:txBody>
      </p:sp>
      <p:sp>
        <p:nvSpPr>
          <p:cNvPr id="3" name="Content Placeholder 2">
            <a:extLst>
              <a:ext uri="{FF2B5EF4-FFF2-40B4-BE49-F238E27FC236}">
                <a16:creationId xmlns:a16="http://schemas.microsoft.com/office/drawing/2014/main" id="{A54758F3-8B94-2F70-A3F4-096982F1209B}"/>
              </a:ext>
            </a:extLst>
          </p:cNvPr>
          <p:cNvSpPr>
            <a:spLocks noGrp="1"/>
          </p:cNvSpPr>
          <p:nvPr>
            <p:ph idx="1"/>
          </p:nvPr>
        </p:nvSpPr>
        <p:spPr>
          <a:xfrm>
            <a:off x="457200" y="1600200"/>
            <a:ext cx="8229600" cy="4837176"/>
          </a:xfrm>
        </p:spPr>
        <p:txBody>
          <a:bodyPr>
            <a:normAutofit/>
          </a:bodyPr>
          <a:lstStyle/>
          <a:p>
            <a:pPr marL="0" indent="0" algn="just">
              <a:buNone/>
            </a:pPr>
            <a:r>
              <a:rPr lang="en-US" sz="2800" dirty="0">
                <a:latin typeface="Times New Roman Regular" panose="02020603050405020304" charset="0"/>
                <a:cs typeface="Times New Roman Regular" panose="02020603050405020304" charset="0"/>
              </a:rPr>
              <a:t>Acceptance Criteria refers to a set of conditions or rules that a user story must meet in order for it to be considered done. It tells developers what to build and testers how to verify it.</a:t>
            </a:r>
          </a:p>
          <a:p>
            <a:pPr marL="0" indent="0" algn="just">
              <a:buNone/>
            </a:pPr>
            <a:endParaRPr lang="en-US" sz="2800" dirty="0">
              <a:latin typeface="Times New Roman Regular" panose="02020603050405020304" charset="0"/>
              <a:cs typeface="Times New Roman Regular" panose="02020603050405020304" charset="0"/>
            </a:endParaRPr>
          </a:p>
          <a:p>
            <a:pPr marL="0" indent="0" algn="just">
              <a:buNone/>
            </a:pPr>
            <a:r>
              <a:rPr lang="en-US" sz="2800" b="1" dirty="0">
                <a:latin typeface="Times New Roman Regular" panose="02020603050405020304" charset="0"/>
                <a:cs typeface="Times New Roman Regular" panose="02020603050405020304" charset="0"/>
              </a:rPr>
              <a:t>GIVEN – WHEN – THEN</a:t>
            </a:r>
            <a:r>
              <a:rPr lang="en-US" sz="2800" dirty="0">
                <a:latin typeface="Times New Roman Regular" panose="02020603050405020304" charset="0"/>
                <a:cs typeface="Times New Roman Regular" panose="02020603050405020304" charset="0"/>
              </a:rPr>
              <a:t>: Refers to a format of crafting acceptance criteria and it gives a structured and understandable way of expressing the desired behavior of a user story. </a:t>
            </a:r>
            <a:endParaRPr lang="en-US" sz="2800" b="1" dirty="0">
              <a:latin typeface="Times New Roman Regular" panose="02020603050405020304" charset="0"/>
              <a:cs typeface="Times New Roman Regular" panose="02020603050405020304" charset="0"/>
            </a:endParaRPr>
          </a:p>
        </p:txBody>
      </p:sp>
    </p:spTree>
    <p:extLst>
      <p:ext uri="{BB962C8B-B14F-4D97-AF65-F5344CB8AC3E}">
        <p14:creationId xmlns:p14="http://schemas.microsoft.com/office/powerpoint/2010/main" val="3794571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87A76F-93B5-95ED-B52C-72D58DA9A1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7584AA-3AC9-2AE3-ED03-BD32DC967669}"/>
              </a:ext>
            </a:extLst>
          </p:cNvPr>
          <p:cNvSpPr>
            <a:spLocks noGrp="1"/>
          </p:cNvSpPr>
          <p:nvPr>
            <p:ph type="title"/>
          </p:nvPr>
        </p:nvSpPr>
        <p:spPr>
          <a:solidFill>
            <a:schemeClr val="tx1"/>
          </a:solidFill>
        </p:spPr>
        <p:txBody>
          <a:bodyPr>
            <a:normAutofit/>
          </a:bodyPr>
          <a:lstStyle/>
          <a:p>
            <a:r>
              <a:rPr lang="en-US" dirty="0">
                <a:solidFill>
                  <a:srgbClr val="FFFF00"/>
                </a:solidFill>
                <a:latin typeface="Times New Roman Regular" panose="02020603050405020304" charset="0"/>
                <a:cs typeface="Times New Roman Regular" panose="02020603050405020304" charset="0"/>
              </a:rPr>
              <a:t>User Stories: Acceptance Criteria</a:t>
            </a:r>
          </a:p>
        </p:txBody>
      </p:sp>
      <p:sp>
        <p:nvSpPr>
          <p:cNvPr id="3" name="Content Placeholder 2">
            <a:extLst>
              <a:ext uri="{FF2B5EF4-FFF2-40B4-BE49-F238E27FC236}">
                <a16:creationId xmlns:a16="http://schemas.microsoft.com/office/drawing/2014/main" id="{7537A2C7-70C8-12F2-A0A0-068754F207F0}"/>
              </a:ext>
            </a:extLst>
          </p:cNvPr>
          <p:cNvSpPr>
            <a:spLocks noGrp="1"/>
          </p:cNvSpPr>
          <p:nvPr>
            <p:ph idx="1"/>
          </p:nvPr>
        </p:nvSpPr>
        <p:spPr>
          <a:xfrm>
            <a:off x="457200" y="1600200"/>
            <a:ext cx="8229600" cy="4837176"/>
          </a:xfrm>
        </p:spPr>
        <p:txBody>
          <a:bodyPr>
            <a:normAutofit/>
          </a:bodyPr>
          <a:lstStyle/>
          <a:p>
            <a:pPr marL="0" indent="0" algn="just">
              <a:buNone/>
            </a:pPr>
            <a:r>
              <a:rPr lang="en-US" sz="2800" b="1" dirty="0">
                <a:latin typeface="Times New Roman Regular" panose="02020603050405020304" charset="0"/>
                <a:cs typeface="Times New Roman Regular" panose="02020603050405020304" charset="0"/>
              </a:rPr>
              <a:t>GIVEN </a:t>
            </a:r>
            <a:r>
              <a:rPr lang="en-US" sz="2800" b="1" dirty="0">
                <a:solidFill>
                  <a:schemeClr val="tx1">
                    <a:lumMod val="50000"/>
                    <a:lumOff val="50000"/>
                  </a:schemeClr>
                </a:solidFill>
                <a:latin typeface="Times New Roman Regular" panose="02020603050405020304" charset="0"/>
                <a:cs typeface="Times New Roman Regular" panose="02020603050405020304" charset="0"/>
              </a:rPr>
              <a:t>– WHEN – THEN</a:t>
            </a:r>
          </a:p>
          <a:p>
            <a:pPr marL="0" indent="0" algn="just">
              <a:buNone/>
            </a:pPr>
            <a:r>
              <a:rPr lang="en-US" sz="2800" dirty="0">
                <a:latin typeface="Times New Roman Regular" panose="02020603050405020304" charset="0"/>
                <a:cs typeface="Times New Roman Regular" panose="02020603050405020304" charset="0"/>
              </a:rPr>
              <a:t>Sets the stage for the scenario that is going to be described in the acceptance criterion that is about to be stated. It gives context about the system.</a:t>
            </a:r>
          </a:p>
          <a:p>
            <a:pPr marL="0" indent="0" algn="just">
              <a:buNone/>
            </a:pPr>
            <a:endParaRPr lang="en-US" sz="2800" dirty="0">
              <a:latin typeface="Times New Roman Regular" panose="02020603050405020304" charset="0"/>
              <a:cs typeface="Times New Roman Regular" panose="02020603050405020304" charset="0"/>
            </a:endParaRPr>
          </a:p>
        </p:txBody>
      </p:sp>
      <p:graphicFrame>
        <p:nvGraphicFramePr>
          <p:cNvPr id="4" name="Table 3">
            <a:extLst>
              <a:ext uri="{FF2B5EF4-FFF2-40B4-BE49-F238E27FC236}">
                <a16:creationId xmlns:a16="http://schemas.microsoft.com/office/drawing/2014/main" id="{5298870B-E39E-C672-681D-B892302143A7}"/>
              </a:ext>
            </a:extLst>
          </p:cNvPr>
          <p:cNvGraphicFramePr>
            <a:graphicFrameLocks noGrp="1"/>
          </p:cNvGraphicFramePr>
          <p:nvPr>
            <p:extLst>
              <p:ext uri="{D42A27DB-BD31-4B8C-83A1-F6EECF244321}">
                <p14:modId xmlns:p14="http://schemas.microsoft.com/office/powerpoint/2010/main" val="3839433122"/>
              </p:ext>
            </p:extLst>
          </p:nvPr>
        </p:nvGraphicFramePr>
        <p:xfrm>
          <a:off x="457200" y="3657854"/>
          <a:ext cx="6096000" cy="1005840"/>
        </p:xfrm>
        <a:graphic>
          <a:graphicData uri="http://schemas.openxmlformats.org/drawingml/2006/table">
            <a:tbl>
              <a:tblPr firstRow="1" bandRow="1">
                <a:effectLst/>
                <a:tableStyleId>{5C22544A-7EE6-4342-B048-85BDC9FD1C3A}</a:tableStyleId>
              </a:tblPr>
              <a:tblGrid>
                <a:gridCol w="6096000">
                  <a:extLst>
                    <a:ext uri="{9D8B030D-6E8A-4147-A177-3AD203B41FA5}">
                      <a16:colId xmlns:a16="http://schemas.microsoft.com/office/drawing/2014/main" val="793038940"/>
                    </a:ext>
                  </a:extLst>
                </a:gridCol>
              </a:tblGrid>
              <a:tr h="370840">
                <a:tc>
                  <a:txBody>
                    <a:bodyPr/>
                    <a:lstStyle/>
                    <a:p>
                      <a:r>
                        <a:rPr lang="en-US" sz="2000" b="1" dirty="0">
                          <a:solidFill>
                            <a:schemeClr val="tx1"/>
                          </a:solidFill>
                          <a:latin typeface="Times New Roman" panose="02020603050405020304" pitchFamily="18" charset="0"/>
                          <a:cs typeface="Times New Roman" panose="02020603050405020304" pitchFamily="18" charset="0"/>
                        </a:rPr>
                        <a:t>Scenario: </a:t>
                      </a:r>
                      <a:r>
                        <a:rPr lang="en-US" sz="2000" b="0" dirty="0">
                          <a:solidFill>
                            <a:schemeClr val="tx1"/>
                          </a:solidFill>
                          <a:latin typeface="Times New Roman" panose="02020603050405020304" pitchFamily="18" charset="0"/>
                          <a:cs typeface="Times New Roman" panose="02020603050405020304" pitchFamily="18" charset="0"/>
                        </a:rPr>
                        <a:t>As a student, I want to see a visual checklist of my remaining general education requirements so that I know what to take next semester.</a:t>
                      </a:r>
                    </a:p>
                  </a:txBody>
                  <a:tcPr>
                    <a:lnL w="76200" cap="flat" cmpd="sng" algn="ctr">
                      <a:solidFill>
                        <a:schemeClr val="tx2">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2165514566"/>
                  </a:ext>
                </a:extLst>
              </a:tr>
            </a:tbl>
          </a:graphicData>
        </a:graphic>
      </p:graphicFrame>
      <p:graphicFrame>
        <p:nvGraphicFramePr>
          <p:cNvPr id="6" name="Table 5">
            <a:extLst>
              <a:ext uri="{FF2B5EF4-FFF2-40B4-BE49-F238E27FC236}">
                <a16:creationId xmlns:a16="http://schemas.microsoft.com/office/drawing/2014/main" id="{5D5087DA-BE06-71FD-7C85-827E61C8266D}"/>
              </a:ext>
            </a:extLst>
          </p:cNvPr>
          <p:cNvGraphicFramePr>
            <a:graphicFrameLocks noGrp="1"/>
          </p:cNvGraphicFramePr>
          <p:nvPr>
            <p:extLst>
              <p:ext uri="{D42A27DB-BD31-4B8C-83A1-F6EECF244321}">
                <p14:modId xmlns:p14="http://schemas.microsoft.com/office/powerpoint/2010/main" val="375861086"/>
              </p:ext>
            </p:extLst>
          </p:nvPr>
        </p:nvGraphicFramePr>
        <p:xfrm>
          <a:off x="457200" y="5047615"/>
          <a:ext cx="6096000" cy="701040"/>
        </p:xfrm>
        <a:graphic>
          <a:graphicData uri="http://schemas.openxmlformats.org/drawingml/2006/table">
            <a:tbl>
              <a:tblPr firstRow="1" bandRow="1">
                <a:effectLst/>
                <a:tableStyleId>{5C22544A-7EE6-4342-B048-85BDC9FD1C3A}</a:tableStyleId>
              </a:tblPr>
              <a:tblGrid>
                <a:gridCol w="6096000">
                  <a:extLst>
                    <a:ext uri="{9D8B030D-6E8A-4147-A177-3AD203B41FA5}">
                      <a16:colId xmlns:a16="http://schemas.microsoft.com/office/drawing/2014/main" val="793038940"/>
                    </a:ext>
                  </a:extLst>
                </a:gridCol>
              </a:tblGrid>
              <a:tr h="370840">
                <a:tc>
                  <a:txBody>
                    <a:bodyPr/>
                    <a:lstStyle/>
                    <a:p>
                      <a:r>
                        <a:rPr lang="en-US" sz="2000" b="1" u="none" strike="noStrike" kern="1200" dirty="0">
                          <a:solidFill>
                            <a:schemeClr val="tx1"/>
                          </a:solidFill>
                          <a:effectLst/>
                          <a:latin typeface="Times New Roman" panose="02020603050405020304" pitchFamily="18" charset="0"/>
                          <a:ea typeface="+mn-ea"/>
                          <a:cs typeface="Times New Roman" panose="02020603050405020304" pitchFamily="18" charset="0"/>
                        </a:rPr>
                        <a:t>Given</a:t>
                      </a:r>
                      <a:r>
                        <a:rPr lang="en-US" sz="2000" b="0" dirty="0">
                          <a:solidFill>
                            <a:schemeClr val="tx1"/>
                          </a:solidFill>
                          <a:latin typeface="Times New Roman" panose="02020603050405020304" pitchFamily="18" charset="0"/>
                          <a:cs typeface="Times New Roman" panose="02020603050405020304" pitchFamily="18" charset="0"/>
                        </a:rPr>
                        <a:t> the student is logged into the degree portal and views the checklist</a:t>
                      </a:r>
                    </a:p>
                  </a:txBody>
                  <a:tcPr>
                    <a:lnL w="76200" cap="flat" cmpd="sng" algn="ctr">
                      <a:solidFill>
                        <a:schemeClr val="accent3">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2165514566"/>
                  </a:ext>
                </a:extLst>
              </a:tr>
            </a:tbl>
          </a:graphicData>
        </a:graphic>
      </p:graphicFrame>
    </p:spTree>
    <p:extLst>
      <p:ext uri="{BB962C8B-B14F-4D97-AF65-F5344CB8AC3E}">
        <p14:creationId xmlns:p14="http://schemas.microsoft.com/office/powerpoint/2010/main" val="1552328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DD1AE-FF1A-5A63-5E81-CB4D220E4D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5D81BC-590A-7F26-E204-1B482D760249}"/>
              </a:ext>
            </a:extLst>
          </p:cNvPr>
          <p:cNvSpPr>
            <a:spLocks noGrp="1"/>
          </p:cNvSpPr>
          <p:nvPr>
            <p:ph type="title"/>
          </p:nvPr>
        </p:nvSpPr>
        <p:spPr>
          <a:solidFill>
            <a:schemeClr val="tx1"/>
          </a:solidFill>
        </p:spPr>
        <p:txBody>
          <a:bodyPr>
            <a:normAutofit/>
          </a:bodyPr>
          <a:lstStyle/>
          <a:p>
            <a:r>
              <a:rPr lang="en-US" dirty="0">
                <a:solidFill>
                  <a:srgbClr val="FFFF00"/>
                </a:solidFill>
                <a:latin typeface="Times New Roman Regular" panose="02020603050405020304" charset="0"/>
                <a:cs typeface="Times New Roman Regular" panose="02020603050405020304" charset="0"/>
              </a:rPr>
              <a:t>User Stories: Acceptance Criteria</a:t>
            </a:r>
          </a:p>
        </p:txBody>
      </p:sp>
      <p:sp>
        <p:nvSpPr>
          <p:cNvPr id="3" name="Content Placeholder 2">
            <a:extLst>
              <a:ext uri="{FF2B5EF4-FFF2-40B4-BE49-F238E27FC236}">
                <a16:creationId xmlns:a16="http://schemas.microsoft.com/office/drawing/2014/main" id="{CAC7A629-5CA7-1B3E-D470-829DFA95540C}"/>
              </a:ext>
            </a:extLst>
          </p:cNvPr>
          <p:cNvSpPr>
            <a:spLocks noGrp="1"/>
          </p:cNvSpPr>
          <p:nvPr>
            <p:ph idx="1"/>
          </p:nvPr>
        </p:nvSpPr>
        <p:spPr>
          <a:xfrm>
            <a:off x="457200" y="1600200"/>
            <a:ext cx="8229600" cy="4837176"/>
          </a:xfrm>
        </p:spPr>
        <p:txBody>
          <a:bodyPr>
            <a:normAutofit/>
          </a:bodyPr>
          <a:lstStyle/>
          <a:p>
            <a:pPr marL="0" indent="0" algn="just">
              <a:buNone/>
            </a:pPr>
            <a:r>
              <a:rPr lang="en-US" sz="2800" b="1" dirty="0">
                <a:solidFill>
                  <a:schemeClr val="tx1">
                    <a:lumMod val="50000"/>
                    <a:lumOff val="50000"/>
                  </a:schemeClr>
                </a:solidFill>
                <a:latin typeface="Times New Roman Regular" panose="02020603050405020304" charset="0"/>
                <a:cs typeface="Times New Roman Regular" panose="02020603050405020304" charset="0"/>
              </a:rPr>
              <a:t>GIVEN</a:t>
            </a:r>
            <a:r>
              <a:rPr lang="en-US" sz="2800" b="1" dirty="0">
                <a:latin typeface="Times New Roman Regular" panose="02020603050405020304" charset="0"/>
                <a:cs typeface="Times New Roman Regular" panose="02020603050405020304" charset="0"/>
              </a:rPr>
              <a:t> </a:t>
            </a:r>
            <a:r>
              <a:rPr lang="en-US" sz="2800" b="1" dirty="0">
                <a:solidFill>
                  <a:schemeClr val="tx1">
                    <a:lumMod val="50000"/>
                    <a:lumOff val="50000"/>
                  </a:schemeClr>
                </a:solidFill>
                <a:latin typeface="Times New Roman Regular" panose="02020603050405020304" charset="0"/>
                <a:cs typeface="Times New Roman Regular" panose="02020603050405020304" charset="0"/>
              </a:rPr>
              <a:t>– </a:t>
            </a:r>
            <a:r>
              <a:rPr lang="en-US" sz="2800" b="1" dirty="0">
                <a:latin typeface="Times New Roman Regular" panose="02020603050405020304" charset="0"/>
                <a:cs typeface="Times New Roman Regular" panose="02020603050405020304" charset="0"/>
              </a:rPr>
              <a:t>WHEN</a:t>
            </a:r>
            <a:r>
              <a:rPr lang="en-US" sz="2800" b="1" dirty="0">
                <a:solidFill>
                  <a:schemeClr val="tx1">
                    <a:lumMod val="50000"/>
                    <a:lumOff val="50000"/>
                  </a:schemeClr>
                </a:solidFill>
                <a:latin typeface="Times New Roman Regular" panose="02020603050405020304" charset="0"/>
                <a:cs typeface="Times New Roman Regular" panose="02020603050405020304" charset="0"/>
              </a:rPr>
              <a:t> – THEN</a:t>
            </a:r>
          </a:p>
          <a:p>
            <a:pPr marL="0" indent="0" algn="just">
              <a:buNone/>
            </a:pPr>
            <a:r>
              <a:rPr lang="en-US" sz="2800" dirty="0">
                <a:latin typeface="Times New Roman Regular" panose="02020603050405020304" charset="0"/>
                <a:cs typeface="Times New Roman Regular" panose="02020603050405020304" charset="0"/>
              </a:rPr>
              <a:t>Represents an action that the user performs or an event that happens within the system that triggers the behavior described in the user story.</a:t>
            </a:r>
          </a:p>
          <a:p>
            <a:pPr marL="0" indent="0" algn="just">
              <a:buNone/>
            </a:pPr>
            <a:endParaRPr lang="en-US" sz="2800" dirty="0">
              <a:latin typeface="Times New Roman Regular" panose="02020603050405020304" charset="0"/>
              <a:cs typeface="Times New Roman Regular" panose="02020603050405020304" charset="0"/>
            </a:endParaRPr>
          </a:p>
        </p:txBody>
      </p:sp>
      <p:graphicFrame>
        <p:nvGraphicFramePr>
          <p:cNvPr id="4" name="Table 3">
            <a:extLst>
              <a:ext uri="{FF2B5EF4-FFF2-40B4-BE49-F238E27FC236}">
                <a16:creationId xmlns:a16="http://schemas.microsoft.com/office/drawing/2014/main" id="{6C48C9C8-B3DB-923C-2DA1-521EEA9061BE}"/>
              </a:ext>
            </a:extLst>
          </p:cNvPr>
          <p:cNvGraphicFramePr>
            <a:graphicFrameLocks noGrp="1"/>
          </p:cNvGraphicFramePr>
          <p:nvPr>
            <p:extLst>
              <p:ext uri="{D42A27DB-BD31-4B8C-83A1-F6EECF244321}">
                <p14:modId xmlns:p14="http://schemas.microsoft.com/office/powerpoint/2010/main" val="1329100482"/>
              </p:ext>
            </p:extLst>
          </p:nvPr>
        </p:nvGraphicFramePr>
        <p:xfrm>
          <a:off x="457200" y="3657854"/>
          <a:ext cx="6096000" cy="1005840"/>
        </p:xfrm>
        <a:graphic>
          <a:graphicData uri="http://schemas.openxmlformats.org/drawingml/2006/table">
            <a:tbl>
              <a:tblPr firstRow="1" bandRow="1">
                <a:effectLst/>
                <a:tableStyleId>{5C22544A-7EE6-4342-B048-85BDC9FD1C3A}</a:tableStyleId>
              </a:tblPr>
              <a:tblGrid>
                <a:gridCol w="6096000">
                  <a:extLst>
                    <a:ext uri="{9D8B030D-6E8A-4147-A177-3AD203B41FA5}">
                      <a16:colId xmlns:a16="http://schemas.microsoft.com/office/drawing/2014/main" val="793038940"/>
                    </a:ext>
                  </a:extLst>
                </a:gridCol>
              </a:tblGrid>
              <a:tr h="370840">
                <a:tc>
                  <a:txBody>
                    <a:bodyPr/>
                    <a:lstStyle/>
                    <a:p>
                      <a:r>
                        <a:rPr lang="en-US" sz="2000" b="1" dirty="0">
                          <a:solidFill>
                            <a:schemeClr val="tx1"/>
                          </a:solidFill>
                          <a:latin typeface="Times New Roman" panose="02020603050405020304" pitchFamily="18" charset="0"/>
                          <a:cs typeface="Times New Roman" panose="02020603050405020304" pitchFamily="18" charset="0"/>
                        </a:rPr>
                        <a:t>Scenario: </a:t>
                      </a:r>
                      <a:r>
                        <a:rPr lang="en-US" sz="2000" b="0" dirty="0">
                          <a:solidFill>
                            <a:schemeClr val="tx1"/>
                          </a:solidFill>
                          <a:latin typeface="Times New Roman" panose="02020603050405020304" pitchFamily="18" charset="0"/>
                          <a:cs typeface="Times New Roman" panose="02020603050405020304" pitchFamily="18" charset="0"/>
                        </a:rPr>
                        <a:t>As a student, I want to see a visual checklist of my remaining general education requirements so that I know what to take next semester.</a:t>
                      </a:r>
                    </a:p>
                  </a:txBody>
                  <a:tcPr>
                    <a:lnL w="76200" cap="flat" cmpd="sng" algn="ctr">
                      <a:solidFill>
                        <a:schemeClr val="tx2">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2165514566"/>
                  </a:ext>
                </a:extLst>
              </a:tr>
            </a:tbl>
          </a:graphicData>
        </a:graphic>
      </p:graphicFrame>
      <p:graphicFrame>
        <p:nvGraphicFramePr>
          <p:cNvPr id="6" name="Table 5">
            <a:extLst>
              <a:ext uri="{FF2B5EF4-FFF2-40B4-BE49-F238E27FC236}">
                <a16:creationId xmlns:a16="http://schemas.microsoft.com/office/drawing/2014/main" id="{32FB46A5-9B9F-3004-5AF1-BFD413F627A5}"/>
              </a:ext>
            </a:extLst>
          </p:cNvPr>
          <p:cNvGraphicFramePr>
            <a:graphicFrameLocks noGrp="1"/>
          </p:cNvGraphicFramePr>
          <p:nvPr>
            <p:extLst>
              <p:ext uri="{D42A27DB-BD31-4B8C-83A1-F6EECF244321}">
                <p14:modId xmlns:p14="http://schemas.microsoft.com/office/powerpoint/2010/main" val="3511233861"/>
              </p:ext>
            </p:extLst>
          </p:nvPr>
        </p:nvGraphicFramePr>
        <p:xfrm>
          <a:off x="457200" y="5047615"/>
          <a:ext cx="6096000" cy="701040"/>
        </p:xfrm>
        <a:graphic>
          <a:graphicData uri="http://schemas.openxmlformats.org/drawingml/2006/table">
            <a:tbl>
              <a:tblPr firstRow="1" bandRow="1">
                <a:effectLst/>
                <a:tableStyleId>{5C22544A-7EE6-4342-B048-85BDC9FD1C3A}</a:tableStyleId>
              </a:tblPr>
              <a:tblGrid>
                <a:gridCol w="6096000">
                  <a:extLst>
                    <a:ext uri="{9D8B030D-6E8A-4147-A177-3AD203B41FA5}">
                      <a16:colId xmlns:a16="http://schemas.microsoft.com/office/drawing/2014/main" val="793038940"/>
                    </a:ext>
                  </a:extLst>
                </a:gridCol>
              </a:tblGrid>
              <a:tr h="370840">
                <a:tc>
                  <a:txBody>
                    <a:bodyPr/>
                    <a:lstStyle/>
                    <a:p>
                      <a:r>
                        <a:rPr lang="en-US" sz="2000" b="1" u="none" strike="noStrike" kern="1200" dirty="0">
                          <a:solidFill>
                            <a:schemeClr val="tx1"/>
                          </a:solidFill>
                          <a:effectLst/>
                          <a:latin typeface="Times New Roman" panose="02020603050405020304" pitchFamily="18" charset="0"/>
                          <a:ea typeface="+mn-ea"/>
                          <a:cs typeface="Times New Roman" panose="02020603050405020304" pitchFamily="18" charset="0"/>
                        </a:rPr>
                        <a:t>When</a:t>
                      </a:r>
                      <a:r>
                        <a:rPr lang="en-US" sz="2000" b="0" dirty="0">
                          <a:solidFill>
                            <a:schemeClr val="tx1"/>
                          </a:solidFill>
                          <a:latin typeface="Times New Roman" panose="02020603050405020304" pitchFamily="18" charset="0"/>
                          <a:cs typeface="Times New Roman" panose="02020603050405020304" pitchFamily="18" charset="0"/>
                        </a:rPr>
                        <a:t> they have not completed the "Historical Studies" requirement</a:t>
                      </a:r>
                    </a:p>
                  </a:txBody>
                  <a:tcPr>
                    <a:lnL w="76200" cap="flat" cmpd="sng" algn="ctr">
                      <a:solidFill>
                        <a:schemeClr val="accent3">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2165514566"/>
                  </a:ext>
                </a:extLst>
              </a:tr>
            </a:tbl>
          </a:graphicData>
        </a:graphic>
      </p:graphicFrame>
    </p:spTree>
    <p:extLst>
      <p:ext uri="{BB962C8B-B14F-4D97-AF65-F5344CB8AC3E}">
        <p14:creationId xmlns:p14="http://schemas.microsoft.com/office/powerpoint/2010/main" val="2377073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9B5652-76CE-2A93-FDA8-49CEC7560E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FFC898-453B-B54D-2562-95412D4A0752}"/>
              </a:ext>
            </a:extLst>
          </p:cNvPr>
          <p:cNvSpPr>
            <a:spLocks noGrp="1"/>
          </p:cNvSpPr>
          <p:nvPr>
            <p:ph type="title"/>
          </p:nvPr>
        </p:nvSpPr>
        <p:spPr>
          <a:solidFill>
            <a:schemeClr val="tx1"/>
          </a:solidFill>
        </p:spPr>
        <p:txBody>
          <a:bodyPr>
            <a:normAutofit/>
          </a:bodyPr>
          <a:lstStyle/>
          <a:p>
            <a:r>
              <a:rPr lang="en-US" dirty="0">
                <a:solidFill>
                  <a:srgbClr val="FFFF00"/>
                </a:solidFill>
                <a:latin typeface="Times New Roman Regular" panose="02020603050405020304" charset="0"/>
                <a:cs typeface="Times New Roman Regular" panose="02020603050405020304" charset="0"/>
              </a:rPr>
              <a:t>User Stories: Acceptance Criteria</a:t>
            </a:r>
          </a:p>
        </p:txBody>
      </p:sp>
      <p:sp>
        <p:nvSpPr>
          <p:cNvPr id="3" name="Content Placeholder 2">
            <a:extLst>
              <a:ext uri="{FF2B5EF4-FFF2-40B4-BE49-F238E27FC236}">
                <a16:creationId xmlns:a16="http://schemas.microsoft.com/office/drawing/2014/main" id="{961C5283-080F-016C-B8DC-FE983ACFEE1B}"/>
              </a:ext>
            </a:extLst>
          </p:cNvPr>
          <p:cNvSpPr>
            <a:spLocks noGrp="1"/>
          </p:cNvSpPr>
          <p:nvPr>
            <p:ph idx="1"/>
          </p:nvPr>
        </p:nvSpPr>
        <p:spPr>
          <a:xfrm>
            <a:off x="457200" y="1600200"/>
            <a:ext cx="8229600" cy="4837176"/>
          </a:xfrm>
        </p:spPr>
        <p:txBody>
          <a:bodyPr>
            <a:normAutofit/>
          </a:bodyPr>
          <a:lstStyle/>
          <a:p>
            <a:pPr marL="0" indent="0" algn="just">
              <a:buNone/>
            </a:pPr>
            <a:r>
              <a:rPr lang="en-US" sz="2800" b="1" dirty="0">
                <a:solidFill>
                  <a:schemeClr val="tx1">
                    <a:lumMod val="50000"/>
                    <a:lumOff val="50000"/>
                  </a:schemeClr>
                </a:solidFill>
                <a:latin typeface="Times New Roman Regular" panose="02020603050405020304" charset="0"/>
                <a:cs typeface="Times New Roman Regular" panose="02020603050405020304" charset="0"/>
              </a:rPr>
              <a:t>GIVEN</a:t>
            </a:r>
            <a:r>
              <a:rPr lang="en-US" sz="2800" b="1" dirty="0">
                <a:latin typeface="Times New Roman Regular" panose="02020603050405020304" charset="0"/>
                <a:cs typeface="Times New Roman Regular" panose="02020603050405020304" charset="0"/>
              </a:rPr>
              <a:t> </a:t>
            </a:r>
            <a:r>
              <a:rPr lang="en-US" sz="2800" b="1" dirty="0">
                <a:solidFill>
                  <a:schemeClr val="tx1">
                    <a:lumMod val="50000"/>
                    <a:lumOff val="50000"/>
                  </a:schemeClr>
                </a:solidFill>
                <a:latin typeface="Times New Roman Regular" panose="02020603050405020304" charset="0"/>
                <a:cs typeface="Times New Roman Regular" panose="02020603050405020304" charset="0"/>
              </a:rPr>
              <a:t>– WHEN – </a:t>
            </a:r>
            <a:r>
              <a:rPr lang="en-US" sz="2800" b="1" dirty="0">
                <a:latin typeface="Times New Roman Regular" panose="02020603050405020304" charset="0"/>
                <a:cs typeface="Times New Roman Regular" panose="02020603050405020304" charset="0"/>
              </a:rPr>
              <a:t>THEN</a:t>
            </a:r>
          </a:p>
          <a:p>
            <a:pPr marL="0" indent="0" algn="just">
              <a:buNone/>
            </a:pPr>
            <a:r>
              <a:rPr lang="en-US" sz="2800" dirty="0">
                <a:latin typeface="Times New Roman Regular" panose="02020603050405020304" charset="0"/>
                <a:cs typeface="Times New Roman Regular" panose="02020603050405020304" charset="0"/>
              </a:rPr>
              <a:t>Describes the consequence of the action performed in the WHEN clause before usually in terms of observable changes in the system.</a:t>
            </a:r>
          </a:p>
        </p:txBody>
      </p:sp>
      <p:graphicFrame>
        <p:nvGraphicFramePr>
          <p:cNvPr id="4" name="Table 3">
            <a:extLst>
              <a:ext uri="{FF2B5EF4-FFF2-40B4-BE49-F238E27FC236}">
                <a16:creationId xmlns:a16="http://schemas.microsoft.com/office/drawing/2014/main" id="{AF81EEBC-3FDB-83E1-646C-E47647925F3B}"/>
              </a:ext>
            </a:extLst>
          </p:cNvPr>
          <p:cNvGraphicFramePr>
            <a:graphicFrameLocks noGrp="1"/>
          </p:cNvGraphicFramePr>
          <p:nvPr>
            <p:extLst>
              <p:ext uri="{D42A27DB-BD31-4B8C-83A1-F6EECF244321}">
                <p14:modId xmlns:p14="http://schemas.microsoft.com/office/powerpoint/2010/main" val="3748129908"/>
              </p:ext>
            </p:extLst>
          </p:nvPr>
        </p:nvGraphicFramePr>
        <p:xfrm>
          <a:off x="457200" y="3623056"/>
          <a:ext cx="6096000" cy="1005840"/>
        </p:xfrm>
        <a:graphic>
          <a:graphicData uri="http://schemas.openxmlformats.org/drawingml/2006/table">
            <a:tbl>
              <a:tblPr firstRow="1" bandRow="1">
                <a:effectLst/>
                <a:tableStyleId>{5C22544A-7EE6-4342-B048-85BDC9FD1C3A}</a:tableStyleId>
              </a:tblPr>
              <a:tblGrid>
                <a:gridCol w="6096000">
                  <a:extLst>
                    <a:ext uri="{9D8B030D-6E8A-4147-A177-3AD203B41FA5}">
                      <a16:colId xmlns:a16="http://schemas.microsoft.com/office/drawing/2014/main" val="793038940"/>
                    </a:ext>
                  </a:extLst>
                </a:gridCol>
              </a:tblGrid>
              <a:tr h="370840">
                <a:tc>
                  <a:txBody>
                    <a:bodyPr/>
                    <a:lstStyle/>
                    <a:p>
                      <a:r>
                        <a:rPr lang="en-US" sz="2000" b="1" dirty="0">
                          <a:solidFill>
                            <a:schemeClr val="tx1"/>
                          </a:solidFill>
                          <a:latin typeface="Times New Roman" panose="02020603050405020304" pitchFamily="18" charset="0"/>
                          <a:cs typeface="Times New Roman" panose="02020603050405020304" pitchFamily="18" charset="0"/>
                        </a:rPr>
                        <a:t>Scenario: </a:t>
                      </a:r>
                      <a:r>
                        <a:rPr lang="en-US" sz="2000" b="0" dirty="0">
                          <a:solidFill>
                            <a:schemeClr val="tx1"/>
                          </a:solidFill>
                          <a:latin typeface="Times New Roman" panose="02020603050405020304" pitchFamily="18" charset="0"/>
                          <a:cs typeface="Times New Roman" panose="02020603050405020304" pitchFamily="18" charset="0"/>
                        </a:rPr>
                        <a:t>As a student, I want to see a visual checklist of my remaining general education requirements so that I know what to take next semester.</a:t>
                      </a:r>
                    </a:p>
                  </a:txBody>
                  <a:tcPr>
                    <a:lnL w="76200" cap="flat" cmpd="sng" algn="ctr">
                      <a:solidFill>
                        <a:schemeClr val="tx2">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2165514566"/>
                  </a:ext>
                </a:extLst>
              </a:tr>
            </a:tbl>
          </a:graphicData>
        </a:graphic>
      </p:graphicFrame>
      <p:graphicFrame>
        <p:nvGraphicFramePr>
          <p:cNvPr id="6" name="Table 5">
            <a:extLst>
              <a:ext uri="{FF2B5EF4-FFF2-40B4-BE49-F238E27FC236}">
                <a16:creationId xmlns:a16="http://schemas.microsoft.com/office/drawing/2014/main" id="{708F0AAF-E205-B8B7-E837-C77062D6420B}"/>
              </a:ext>
            </a:extLst>
          </p:cNvPr>
          <p:cNvGraphicFramePr>
            <a:graphicFrameLocks noGrp="1"/>
          </p:cNvGraphicFramePr>
          <p:nvPr>
            <p:extLst>
              <p:ext uri="{D42A27DB-BD31-4B8C-83A1-F6EECF244321}">
                <p14:modId xmlns:p14="http://schemas.microsoft.com/office/powerpoint/2010/main" val="908745367"/>
              </p:ext>
            </p:extLst>
          </p:nvPr>
        </p:nvGraphicFramePr>
        <p:xfrm>
          <a:off x="457200" y="5722746"/>
          <a:ext cx="6096000" cy="701040"/>
        </p:xfrm>
        <a:graphic>
          <a:graphicData uri="http://schemas.openxmlformats.org/drawingml/2006/table">
            <a:tbl>
              <a:tblPr firstRow="1" bandRow="1">
                <a:effectLst/>
                <a:tableStyleId>{5C22544A-7EE6-4342-B048-85BDC9FD1C3A}</a:tableStyleId>
              </a:tblPr>
              <a:tblGrid>
                <a:gridCol w="6096000">
                  <a:extLst>
                    <a:ext uri="{9D8B030D-6E8A-4147-A177-3AD203B41FA5}">
                      <a16:colId xmlns:a16="http://schemas.microsoft.com/office/drawing/2014/main" val="793038940"/>
                    </a:ext>
                  </a:extLst>
                </a:gridCol>
              </a:tblGrid>
              <a:tr h="370840">
                <a:tc>
                  <a:txBody>
                    <a:bodyPr/>
                    <a:lstStyle/>
                    <a:p>
                      <a:r>
                        <a:rPr lang="en-US" sz="2000" b="1" u="none" strike="noStrike" kern="1200" dirty="0">
                          <a:solidFill>
                            <a:schemeClr val="tx1"/>
                          </a:solidFill>
                          <a:effectLst/>
                          <a:latin typeface="Times New Roman" panose="02020603050405020304" pitchFamily="18" charset="0"/>
                          <a:ea typeface="+mn-ea"/>
                          <a:cs typeface="Times New Roman" panose="02020603050405020304" pitchFamily="18" charset="0"/>
                        </a:rPr>
                        <a:t>And</a:t>
                      </a:r>
                      <a:r>
                        <a:rPr lang="en-US" sz="2000" b="0" dirty="0">
                          <a:solidFill>
                            <a:schemeClr val="tx1"/>
                          </a:solidFill>
                          <a:latin typeface="Times New Roman" panose="02020603050405020304" pitchFamily="18" charset="0"/>
                          <a:cs typeface="Times New Roman" panose="02020603050405020304" pitchFamily="18" charset="0"/>
                        </a:rPr>
                        <a:t> a link is provided to view upcoming eligible history courses.</a:t>
                      </a:r>
                    </a:p>
                  </a:txBody>
                  <a:tcPr>
                    <a:lnL w="76200" cap="flat" cmpd="sng" algn="ctr">
                      <a:solidFill>
                        <a:schemeClr val="accent3">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2165514566"/>
                  </a:ext>
                </a:extLst>
              </a:tr>
            </a:tbl>
          </a:graphicData>
        </a:graphic>
      </p:graphicFrame>
      <p:graphicFrame>
        <p:nvGraphicFramePr>
          <p:cNvPr id="7" name="Table 6">
            <a:extLst>
              <a:ext uri="{FF2B5EF4-FFF2-40B4-BE49-F238E27FC236}">
                <a16:creationId xmlns:a16="http://schemas.microsoft.com/office/drawing/2014/main" id="{025C06D4-D60A-7EFC-B08C-3C3FF265ABC5}"/>
              </a:ext>
            </a:extLst>
          </p:cNvPr>
          <p:cNvGraphicFramePr>
            <a:graphicFrameLocks noGrp="1"/>
          </p:cNvGraphicFramePr>
          <p:nvPr>
            <p:extLst>
              <p:ext uri="{D42A27DB-BD31-4B8C-83A1-F6EECF244321}">
                <p14:modId xmlns:p14="http://schemas.microsoft.com/office/powerpoint/2010/main" val="1477592632"/>
              </p:ext>
            </p:extLst>
          </p:nvPr>
        </p:nvGraphicFramePr>
        <p:xfrm>
          <a:off x="457200" y="4846256"/>
          <a:ext cx="6096000" cy="701040"/>
        </p:xfrm>
        <a:graphic>
          <a:graphicData uri="http://schemas.openxmlformats.org/drawingml/2006/table">
            <a:tbl>
              <a:tblPr firstRow="1" bandRow="1">
                <a:effectLst/>
                <a:tableStyleId>{5C22544A-7EE6-4342-B048-85BDC9FD1C3A}</a:tableStyleId>
              </a:tblPr>
              <a:tblGrid>
                <a:gridCol w="6096000">
                  <a:extLst>
                    <a:ext uri="{9D8B030D-6E8A-4147-A177-3AD203B41FA5}">
                      <a16:colId xmlns:a16="http://schemas.microsoft.com/office/drawing/2014/main" val="793038940"/>
                    </a:ext>
                  </a:extLst>
                </a:gridCol>
              </a:tblGrid>
              <a:tr h="370840">
                <a:tc>
                  <a:txBody>
                    <a:bodyPr/>
                    <a:lstStyle/>
                    <a:p>
                      <a:r>
                        <a:rPr lang="en-US" sz="2000" b="1" u="none" strike="noStrike" kern="1200" dirty="0">
                          <a:solidFill>
                            <a:schemeClr val="tx1"/>
                          </a:solidFill>
                          <a:effectLst/>
                          <a:latin typeface="Times New Roman" panose="02020603050405020304" pitchFamily="18" charset="0"/>
                          <a:ea typeface="+mn-ea"/>
                          <a:cs typeface="Times New Roman" panose="02020603050405020304" pitchFamily="18" charset="0"/>
                        </a:rPr>
                        <a:t>Then</a:t>
                      </a:r>
                      <a:r>
                        <a:rPr lang="en-US" sz="2000" b="0" dirty="0">
                          <a:solidFill>
                            <a:schemeClr val="tx1"/>
                          </a:solidFill>
                          <a:latin typeface="Times New Roman" panose="02020603050405020304" pitchFamily="18" charset="0"/>
                          <a:cs typeface="Times New Roman" panose="02020603050405020304" pitchFamily="18" charset="0"/>
                        </a:rPr>
                        <a:t> the system displays a red "Incomplete" icon next to it</a:t>
                      </a:r>
                    </a:p>
                  </a:txBody>
                  <a:tcPr>
                    <a:lnL w="76200" cap="flat" cmpd="sng" algn="ctr">
                      <a:solidFill>
                        <a:schemeClr val="accent3">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2165514566"/>
                  </a:ext>
                </a:extLst>
              </a:tr>
            </a:tbl>
          </a:graphicData>
        </a:graphic>
      </p:graphicFrame>
    </p:spTree>
    <p:extLst>
      <p:ext uri="{BB962C8B-B14F-4D97-AF65-F5344CB8AC3E}">
        <p14:creationId xmlns:p14="http://schemas.microsoft.com/office/powerpoint/2010/main" val="2701603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50699B-6A85-189B-12FD-8C37AAE104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2EB194-BA0A-9BC8-B7EA-B2623AF611E9}"/>
              </a:ext>
            </a:extLst>
          </p:cNvPr>
          <p:cNvSpPr>
            <a:spLocks noGrp="1"/>
          </p:cNvSpPr>
          <p:nvPr>
            <p:ph type="title"/>
          </p:nvPr>
        </p:nvSpPr>
        <p:spPr>
          <a:solidFill>
            <a:schemeClr val="tx1"/>
          </a:solidFill>
        </p:spPr>
        <p:txBody>
          <a:bodyPr>
            <a:normAutofit/>
          </a:bodyPr>
          <a:lstStyle/>
          <a:p>
            <a:r>
              <a:rPr lang="en-US" dirty="0">
                <a:solidFill>
                  <a:srgbClr val="FFFF00"/>
                </a:solidFill>
                <a:latin typeface="Times New Roman Regular" panose="02020603050405020304" charset="0"/>
                <a:cs typeface="Times New Roman Regular" panose="02020603050405020304" charset="0"/>
              </a:rPr>
              <a:t>User Stories: Acceptance Criteria</a:t>
            </a:r>
          </a:p>
        </p:txBody>
      </p:sp>
      <p:sp>
        <p:nvSpPr>
          <p:cNvPr id="3" name="Content Placeholder 2">
            <a:extLst>
              <a:ext uri="{FF2B5EF4-FFF2-40B4-BE49-F238E27FC236}">
                <a16:creationId xmlns:a16="http://schemas.microsoft.com/office/drawing/2014/main" id="{B1611214-FCFF-614E-3222-21FEB9AE793F}"/>
              </a:ext>
            </a:extLst>
          </p:cNvPr>
          <p:cNvSpPr>
            <a:spLocks noGrp="1"/>
          </p:cNvSpPr>
          <p:nvPr>
            <p:ph idx="1"/>
          </p:nvPr>
        </p:nvSpPr>
        <p:spPr>
          <a:xfrm>
            <a:off x="457200" y="1600200"/>
            <a:ext cx="8229600" cy="4837176"/>
          </a:xfrm>
        </p:spPr>
        <p:txBody>
          <a:bodyPr>
            <a:normAutofit/>
          </a:bodyPr>
          <a:lstStyle/>
          <a:p>
            <a:pPr marL="0" indent="0" algn="just">
              <a:buNone/>
            </a:pPr>
            <a:endParaRPr lang="en-US" sz="2800" b="1" dirty="0">
              <a:latin typeface="Times New Roman Regular" panose="02020603050405020304" charset="0"/>
              <a:cs typeface="Times New Roman Regular" panose="02020603050405020304" charset="0"/>
            </a:endParaRPr>
          </a:p>
        </p:txBody>
      </p:sp>
      <p:graphicFrame>
        <p:nvGraphicFramePr>
          <p:cNvPr id="4" name="Table 3">
            <a:extLst>
              <a:ext uri="{FF2B5EF4-FFF2-40B4-BE49-F238E27FC236}">
                <a16:creationId xmlns:a16="http://schemas.microsoft.com/office/drawing/2014/main" id="{55475C4A-52C0-1539-D85A-CE433FAF3A4B}"/>
              </a:ext>
            </a:extLst>
          </p:cNvPr>
          <p:cNvGraphicFramePr>
            <a:graphicFrameLocks noGrp="1"/>
          </p:cNvGraphicFramePr>
          <p:nvPr>
            <p:extLst>
              <p:ext uri="{D42A27DB-BD31-4B8C-83A1-F6EECF244321}">
                <p14:modId xmlns:p14="http://schemas.microsoft.com/office/powerpoint/2010/main" val="4225664200"/>
              </p:ext>
            </p:extLst>
          </p:nvPr>
        </p:nvGraphicFramePr>
        <p:xfrm>
          <a:off x="457200" y="1604740"/>
          <a:ext cx="6096000" cy="701040"/>
        </p:xfrm>
        <a:graphic>
          <a:graphicData uri="http://schemas.openxmlformats.org/drawingml/2006/table">
            <a:tbl>
              <a:tblPr firstRow="1" bandRow="1">
                <a:effectLst/>
                <a:tableStyleId>{5C22544A-7EE6-4342-B048-85BDC9FD1C3A}</a:tableStyleId>
              </a:tblPr>
              <a:tblGrid>
                <a:gridCol w="6096000">
                  <a:extLst>
                    <a:ext uri="{9D8B030D-6E8A-4147-A177-3AD203B41FA5}">
                      <a16:colId xmlns:a16="http://schemas.microsoft.com/office/drawing/2014/main" val="793038940"/>
                    </a:ext>
                  </a:extLst>
                </a:gridCol>
              </a:tblGrid>
              <a:tr h="370840">
                <a:tc>
                  <a:txBody>
                    <a:bodyPr/>
                    <a:lstStyle/>
                    <a:p>
                      <a:r>
                        <a:rPr lang="en-US" sz="2000" b="1" dirty="0">
                          <a:solidFill>
                            <a:schemeClr val="tx1"/>
                          </a:solidFill>
                          <a:latin typeface="Times New Roman" panose="02020603050405020304" pitchFamily="18" charset="0"/>
                          <a:cs typeface="Times New Roman" panose="02020603050405020304" pitchFamily="18" charset="0"/>
                        </a:rPr>
                        <a:t>Scenario: </a:t>
                      </a:r>
                      <a:r>
                        <a:rPr lang="en-US" sz="2000" b="0" i="0" kern="1200" dirty="0">
                          <a:solidFill>
                            <a:schemeClr val="tx1"/>
                          </a:solidFill>
                          <a:effectLst/>
                          <a:latin typeface="Times New Roman" panose="02020603050405020304" pitchFamily="18" charset="0"/>
                          <a:ea typeface="+mn-ea"/>
                          <a:cs typeface="Times New Roman" panose="02020603050405020304" pitchFamily="18" charset="0"/>
                        </a:rPr>
                        <a:t>As a customer, I want to be able to add items to my shopping cart so that I can purchase them later.</a:t>
                      </a:r>
                      <a:endParaRPr lang="en-US" sz="2000" b="0" dirty="0">
                        <a:solidFill>
                          <a:schemeClr val="tx1"/>
                        </a:solidFill>
                        <a:latin typeface="Times New Roman" panose="02020603050405020304" pitchFamily="18" charset="0"/>
                        <a:cs typeface="Times New Roman" panose="02020603050405020304" pitchFamily="18" charset="0"/>
                      </a:endParaRPr>
                    </a:p>
                  </a:txBody>
                  <a:tcPr>
                    <a:lnL w="76200" cap="flat" cmpd="sng" algn="ctr">
                      <a:solidFill>
                        <a:schemeClr val="tx2">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2165514566"/>
                  </a:ext>
                </a:extLst>
              </a:tr>
            </a:tbl>
          </a:graphicData>
        </a:graphic>
      </p:graphicFrame>
      <p:graphicFrame>
        <p:nvGraphicFramePr>
          <p:cNvPr id="6" name="Table 5">
            <a:extLst>
              <a:ext uri="{FF2B5EF4-FFF2-40B4-BE49-F238E27FC236}">
                <a16:creationId xmlns:a16="http://schemas.microsoft.com/office/drawing/2014/main" id="{B65007F7-AE97-483A-15E9-1B6DCDE4421F}"/>
              </a:ext>
            </a:extLst>
          </p:cNvPr>
          <p:cNvGraphicFramePr>
            <a:graphicFrameLocks noGrp="1"/>
          </p:cNvGraphicFramePr>
          <p:nvPr>
            <p:extLst>
              <p:ext uri="{D42A27DB-BD31-4B8C-83A1-F6EECF244321}">
                <p14:modId xmlns:p14="http://schemas.microsoft.com/office/powerpoint/2010/main" val="1308493281"/>
              </p:ext>
            </p:extLst>
          </p:nvPr>
        </p:nvGraphicFramePr>
        <p:xfrm>
          <a:off x="457200" y="3241322"/>
          <a:ext cx="6096000" cy="396240"/>
        </p:xfrm>
        <a:graphic>
          <a:graphicData uri="http://schemas.openxmlformats.org/drawingml/2006/table">
            <a:tbl>
              <a:tblPr firstRow="1" bandRow="1">
                <a:effectLst/>
                <a:tableStyleId>{5C22544A-7EE6-4342-B048-85BDC9FD1C3A}</a:tableStyleId>
              </a:tblPr>
              <a:tblGrid>
                <a:gridCol w="6096000">
                  <a:extLst>
                    <a:ext uri="{9D8B030D-6E8A-4147-A177-3AD203B41FA5}">
                      <a16:colId xmlns:a16="http://schemas.microsoft.com/office/drawing/2014/main" val="793038940"/>
                    </a:ext>
                  </a:extLst>
                </a:gridCol>
              </a:tblGrid>
              <a:tr h="370840">
                <a:tc>
                  <a:txBody>
                    <a:bodyPr/>
                    <a:lstStyle/>
                    <a:p>
                      <a:r>
                        <a:rPr lang="en-US" sz="2000" b="1" i="0" kern="1200" dirty="0">
                          <a:solidFill>
                            <a:schemeClr val="tx1"/>
                          </a:solidFill>
                          <a:effectLst/>
                          <a:latin typeface="Times New Roman" panose="02020603050405020304" pitchFamily="18" charset="0"/>
                          <a:ea typeface="+mn-ea"/>
                          <a:cs typeface="Times New Roman" panose="02020603050405020304" pitchFamily="18" charset="0"/>
                        </a:rPr>
                        <a:t>When</a:t>
                      </a:r>
                      <a:r>
                        <a:rPr lang="en-US" sz="2000" b="0" i="0" kern="1200" dirty="0">
                          <a:solidFill>
                            <a:schemeClr val="tx1"/>
                          </a:solidFill>
                          <a:effectLst/>
                          <a:latin typeface="Times New Roman" panose="02020603050405020304" pitchFamily="18" charset="0"/>
                          <a:ea typeface="+mn-ea"/>
                          <a:cs typeface="Times New Roman" panose="02020603050405020304" pitchFamily="18" charset="0"/>
                        </a:rPr>
                        <a:t> I click the “Add to Cart” button for a product</a:t>
                      </a:r>
                    </a:p>
                  </a:txBody>
                  <a:tcPr>
                    <a:lnL w="76200" cap="flat" cmpd="sng" algn="ctr">
                      <a:solidFill>
                        <a:schemeClr val="accent3">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2165514566"/>
                  </a:ext>
                </a:extLst>
              </a:tr>
            </a:tbl>
          </a:graphicData>
        </a:graphic>
      </p:graphicFrame>
      <p:graphicFrame>
        <p:nvGraphicFramePr>
          <p:cNvPr id="7" name="Table 6">
            <a:extLst>
              <a:ext uri="{FF2B5EF4-FFF2-40B4-BE49-F238E27FC236}">
                <a16:creationId xmlns:a16="http://schemas.microsoft.com/office/drawing/2014/main" id="{04F8C872-C12C-4C70-0C37-515073E6DA37}"/>
              </a:ext>
            </a:extLst>
          </p:cNvPr>
          <p:cNvGraphicFramePr>
            <a:graphicFrameLocks noGrp="1"/>
          </p:cNvGraphicFramePr>
          <p:nvPr>
            <p:extLst>
              <p:ext uri="{D42A27DB-BD31-4B8C-83A1-F6EECF244321}">
                <p14:modId xmlns:p14="http://schemas.microsoft.com/office/powerpoint/2010/main" val="2085047924"/>
              </p:ext>
            </p:extLst>
          </p:nvPr>
        </p:nvGraphicFramePr>
        <p:xfrm>
          <a:off x="457200" y="2547870"/>
          <a:ext cx="6096000" cy="396240"/>
        </p:xfrm>
        <a:graphic>
          <a:graphicData uri="http://schemas.openxmlformats.org/drawingml/2006/table">
            <a:tbl>
              <a:tblPr firstRow="1" bandRow="1">
                <a:effectLst/>
                <a:tableStyleId>{5C22544A-7EE6-4342-B048-85BDC9FD1C3A}</a:tableStyleId>
              </a:tblPr>
              <a:tblGrid>
                <a:gridCol w="6096000">
                  <a:extLst>
                    <a:ext uri="{9D8B030D-6E8A-4147-A177-3AD203B41FA5}">
                      <a16:colId xmlns:a16="http://schemas.microsoft.com/office/drawing/2014/main" val="793038940"/>
                    </a:ext>
                  </a:extLst>
                </a:gridCol>
              </a:tblGrid>
              <a:tr h="370840">
                <a:tc>
                  <a:txBody>
                    <a:bodyPr/>
                    <a:lstStyle/>
                    <a:p>
                      <a:r>
                        <a:rPr lang="en-US" sz="2000" b="1" i="0" kern="1200" dirty="0">
                          <a:solidFill>
                            <a:schemeClr val="tx1"/>
                          </a:solidFill>
                          <a:effectLst/>
                          <a:latin typeface="Times New Roman" panose="02020603050405020304" pitchFamily="18" charset="0"/>
                          <a:ea typeface="+mn-ea"/>
                          <a:cs typeface="Times New Roman" panose="02020603050405020304" pitchFamily="18" charset="0"/>
                        </a:rPr>
                        <a:t>Given</a:t>
                      </a:r>
                      <a:r>
                        <a:rPr lang="en-US" sz="2000" b="0" i="0" kern="1200" dirty="0">
                          <a:solidFill>
                            <a:schemeClr val="tx1"/>
                          </a:solidFill>
                          <a:effectLst/>
                          <a:latin typeface="Times New Roman" panose="02020603050405020304" pitchFamily="18" charset="0"/>
                          <a:ea typeface="+mn-ea"/>
                          <a:cs typeface="Times New Roman" panose="02020603050405020304" pitchFamily="18" charset="0"/>
                        </a:rPr>
                        <a:t> I am on the product page</a:t>
                      </a:r>
                    </a:p>
                  </a:txBody>
                  <a:tcPr>
                    <a:lnL w="76200" cap="flat" cmpd="sng" algn="ctr">
                      <a:solidFill>
                        <a:schemeClr val="accent3">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2165514566"/>
                  </a:ext>
                </a:extLst>
              </a:tr>
            </a:tbl>
          </a:graphicData>
        </a:graphic>
      </p:graphicFrame>
      <p:graphicFrame>
        <p:nvGraphicFramePr>
          <p:cNvPr id="5" name="Table 4">
            <a:extLst>
              <a:ext uri="{FF2B5EF4-FFF2-40B4-BE49-F238E27FC236}">
                <a16:creationId xmlns:a16="http://schemas.microsoft.com/office/drawing/2014/main" id="{E56FCBC4-5C9F-D849-8F72-A697AF4DA504}"/>
              </a:ext>
            </a:extLst>
          </p:cNvPr>
          <p:cNvGraphicFramePr>
            <a:graphicFrameLocks noGrp="1"/>
          </p:cNvGraphicFramePr>
          <p:nvPr>
            <p:extLst>
              <p:ext uri="{D42A27DB-BD31-4B8C-83A1-F6EECF244321}">
                <p14:modId xmlns:p14="http://schemas.microsoft.com/office/powerpoint/2010/main" val="2429349830"/>
              </p:ext>
            </p:extLst>
          </p:nvPr>
        </p:nvGraphicFramePr>
        <p:xfrm>
          <a:off x="457200" y="3934774"/>
          <a:ext cx="6096000" cy="396240"/>
        </p:xfrm>
        <a:graphic>
          <a:graphicData uri="http://schemas.openxmlformats.org/drawingml/2006/table">
            <a:tbl>
              <a:tblPr firstRow="1" bandRow="1">
                <a:effectLst/>
                <a:tableStyleId>{5C22544A-7EE6-4342-B048-85BDC9FD1C3A}</a:tableStyleId>
              </a:tblPr>
              <a:tblGrid>
                <a:gridCol w="6096000">
                  <a:extLst>
                    <a:ext uri="{9D8B030D-6E8A-4147-A177-3AD203B41FA5}">
                      <a16:colId xmlns:a16="http://schemas.microsoft.com/office/drawing/2014/main" val="793038940"/>
                    </a:ext>
                  </a:extLst>
                </a:gridCol>
              </a:tblGrid>
              <a:tr h="370840">
                <a:tc>
                  <a:txBody>
                    <a:bodyPr/>
                    <a:lstStyle/>
                    <a:p>
                      <a:r>
                        <a:rPr lang="en-US" sz="2000" b="1" i="0" kern="1200" dirty="0">
                          <a:solidFill>
                            <a:schemeClr val="tx1"/>
                          </a:solidFill>
                          <a:effectLst/>
                          <a:latin typeface="Times New Roman" panose="02020603050405020304" pitchFamily="18" charset="0"/>
                          <a:ea typeface="+mn-ea"/>
                          <a:cs typeface="Times New Roman" panose="02020603050405020304" pitchFamily="18" charset="0"/>
                        </a:rPr>
                        <a:t>Then</a:t>
                      </a:r>
                      <a:r>
                        <a:rPr lang="en-US" sz="2000" b="0" i="0" kern="1200" dirty="0">
                          <a:solidFill>
                            <a:schemeClr val="tx1"/>
                          </a:solidFill>
                          <a:effectLst/>
                          <a:latin typeface="Times New Roman" panose="02020603050405020304" pitchFamily="18" charset="0"/>
                          <a:ea typeface="+mn-ea"/>
                          <a:cs typeface="Times New Roman" panose="02020603050405020304" pitchFamily="18" charset="0"/>
                        </a:rPr>
                        <a:t> The product should be added to my shopping cart</a:t>
                      </a:r>
                    </a:p>
                  </a:txBody>
                  <a:tcPr>
                    <a:lnL w="76200" cap="flat" cmpd="sng" algn="ctr">
                      <a:solidFill>
                        <a:schemeClr val="accent3">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2165514566"/>
                  </a:ext>
                </a:extLst>
              </a:tr>
            </a:tbl>
          </a:graphicData>
        </a:graphic>
      </p:graphicFrame>
      <p:graphicFrame>
        <p:nvGraphicFramePr>
          <p:cNvPr id="8" name="Table 7">
            <a:extLst>
              <a:ext uri="{FF2B5EF4-FFF2-40B4-BE49-F238E27FC236}">
                <a16:creationId xmlns:a16="http://schemas.microsoft.com/office/drawing/2014/main" id="{590B9DB1-8E16-8A2C-C87C-EF92C178D7D9}"/>
              </a:ext>
            </a:extLst>
          </p:cNvPr>
          <p:cNvGraphicFramePr>
            <a:graphicFrameLocks noGrp="1"/>
          </p:cNvGraphicFramePr>
          <p:nvPr>
            <p:extLst>
              <p:ext uri="{D42A27DB-BD31-4B8C-83A1-F6EECF244321}">
                <p14:modId xmlns:p14="http://schemas.microsoft.com/office/powerpoint/2010/main" val="1765468717"/>
              </p:ext>
            </p:extLst>
          </p:nvPr>
        </p:nvGraphicFramePr>
        <p:xfrm>
          <a:off x="457200" y="4628226"/>
          <a:ext cx="6096000" cy="701040"/>
        </p:xfrm>
        <a:graphic>
          <a:graphicData uri="http://schemas.openxmlformats.org/drawingml/2006/table">
            <a:tbl>
              <a:tblPr firstRow="1" bandRow="1">
                <a:effectLst/>
                <a:tableStyleId>{5C22544A-7EE6-4342-B048-85BDC9FD1C3A}</a:tableStyleId>
              </a:tblPr>
              <a:tblGrid>
                <a:gridCol w="6096000">
                  <a:extLst>
                    <a:ext uri="{9D8B030D-6E8A-4147-A177-3AD203B41FA5}">
                      <a16:colId xmlns:a16="http://schemas.microsoft.com/office/drawing/2014/main" val="793038940"/>
                    </a:ext>
                  </a:extLst>
                </a:gridCol>
              </a:tblGrid>
              <a:tr h="370840">
                <a:tc>
                  <a:txBody>
                    <a:bodyPr/>
                    <a:lstStyle/>
                    <a:p>
                      <a:r>
                        <a:rPr lang="en-US" sz="2000" b="1" i="0" kern="1200" dirty="0">
                          <a:solidFill>
                            <a:schemeClr val="tx1"/>
                          </a:solidFill>
                          <a:effectLst/>
                          <a:latin typeface="Times New Roman" panose="02020603050405020304" pitchFamily="18" charset="0"/>
                          <a:ea typeface="+mn-ea"/>
                          <a:cs typeface="Times New Roman" panose="02020603050405020304" pitchFamily="18" charset="0"/>
                        </a:rPr>
                        <a:t>And</a:t>
                      </a:r>
                      <a:r>
                        <a:rPr lang="en-US" sz="2000" b="0" i="0" kern="1200" dirty="0">
                          <a:solidFill>
                            <a:schemeClr val="tx1"/>
                          </a:solidFill>
                          <a:effectLst/>
                          <a:latin typeface="Times New Roman" panose="02020603050405020304" pitchFamily="18" charset="0"/>
                          <a:ea typeface="+mn-ea"/>
                          <a:cs typeface="Times New Roman" panose="02020603050405020304" pitchFamily="18" charset="0"/>
                        </a:rPr>
                        <a:t> The cart icon in the navigation bar should display the updated item count</a:t>
                      </a:r>
                    </a:p>
                  </a:txBody>
                  <a:tcPr>
                    <a:lnL w="76200" cap="flat" cmpd="sng" algn="ctr">
                      <a:solidFill>
                        <a:schemeClr val="accent3">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2165514566"/>
                  </a:ext>
                </a:extLst>
              </a:tr>
            </a:tbl>
          </a:graphicData>
        </a:graphic>
      </p:graphicFrame>
      <p:graphicFrame>
        <p:nvGraphicFramePr>
          <p:cNvPr id="9" name="Table 8">
            <a:extLst>
              <a:ext uri="{FF2B5EF4-FFF2-40B4-BE49-F238E27FC236}">
                <a16:creationId xmlns:a16="http://schemas.microsoft.com/office/drawing/2014/main" id="{797DF3C3-A4D9-307D-D46D-FCD4C16E80A7}"/>
              </a:ext>
            </a:extLst>
          </p:cNvPr>
          <p:cNvGraphicFramePr>
            <a:graphicFrameLocks noGrp="1"/>
          </p:cNvGraphicFramePr>
          <p:nvPr>
            <p:extLst>
              <p:ext uri="{D42A27DB-BD31-4B8C-83A1-F6EECF244321}">
                <p14:modId xmlns:p14="http://schemas.microsoft.com/office/powerpoint/2010/main" val="2209565521"/>
              </p:ext>
            </p:extLst>
          </p:nvPr>
        </p:nvGraphicFramePr>
        <p:xfrm>
          <a:off x="457200" y="5626478"/>
          <a:ext cx="6096000" cy="701040"/>
        </p:xfrm>
        <a:graphic>
          <a:graphicData uri="http://schemas.openxmlformats.org/drawingml/2006/table">
            <a:tbl>
              <a:tblPr firstRow="1" bandRow="1">
                <a:effectLst/>
                <a:tableStyleId>{5C22544A-7EE6-4342-B048-85BDC9FD1C3A}</a:tableStyleId>
              </a:tblPr>
              <a:tblGrid>
                <a:gridCol w="6096000">
                  <a:extLst>
                    <a:ext uri="{9D8B030D-6E8A-4147-A177-3AD203B41FA5}">
                      <a16:colId xmlns:a16="http://schemas.microsoft.com/office/drawing/2014/main" val="793038940"/>
                    </a:ext>
                  </a:extLst>
                </a:gridCol>
              </a:tblGrid>
              <a:tr h="370840">
                <a:tc>
                  <a:txBody>
                    <a:bodyPr/>
                    <a:lstStyle/>
                    <a:p>
                      <a:r>
                        <a:rPr lang="en-US" sz="2000" b="1" i="0" kern="1200" dirty="0">
                          <a:solidFill>
                            <a:schemeClr val="tx1"/>
                          </a:solidFill>
                          <a:effectLst/>
                          <a:latin typeface="Times New Roman" panose="02020603050405020304" pitchFamily="18" charset="0"/>
                          <a:ea typeface="+mn-ea"/>
                          <a:cs typeface="Times New Roman" panose="02020603050405020304" pitchFamily="18" charset="0"/>
                        </a:rPr>
                        <a:t>And</a:t>
                      </a:r>
                      <a:r>
                        <a:rPr lang="en-US" sz="2000" b="0" i="0" kern="1200" dirty="0">
                          <a:solidFill>
                            <a:schemeClr val="tx1"/>
                          </a:solidFill>
                          <a:effectLst/>
                          <a:latin typeface="Times New Roman" panose="02020603050405020304" pitchFamily="18" charset="0"/>
                          <a:ea typeface="+mn-ea"/>
                          <a:cs typeface="Times New Roman" panose="02020603050405020304" pitchFamily="18" charset="0"/>
                        </a:rPr>
                        <a:t> I should see a confirmation message indicating the addition of the product to the cart</a:t>
                      </a:r>
                    </a:p>
                  </a:txBody>
                  <a:tcPr>
                    <a:lnL w="76200" cap="flat" cmpd="sng" algn="ctr">
                      <a:solidFill>
                        <a:schemeClr val="accent3">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2165514566"/>
                  </a:ext>
                </a:extLst>
              </a:tr>
            </a:tbl>
          </a:graphicData>
        </a:graphic>
      </p:graphicFrame>
    </p:spTree>
    <p:extLst>
      <p:ext uri="{BB962C8B-B14F-4D97-AF65-F5344CB8AC3E}">
        <p14:creationId xmlns:p14="http://schemas.microsoft.com/office/powerpoint/2010/main" val="1685003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5D22E-7D6D-6E6F-37AF-94E22824FD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FACCE1-0415-3CAD-9ABE-D62CAE56F16B}"/>
              </a:ext>
            </a:extLst>
          </p:cNvPr>
          <p:cNvSpPr>
            <a:spLocks noGrp="1"/>
          </p:cNvSpPr>
          <p:nvPr>
            <p:ph type="title"/>
          </p:nvPr>
        </p:nvSpPr>
        <p:spPr>
          <a:solidFill>
            <a:schemeClr val="tx1"/>
          </a:solidFill>
        </p:spPr>
        <p:txBody>
          <a:bodyPr>
            <a:normAutofit/>
          </a:bodyPr>
          <a:lstStyle/>
          <a:p>
            <a:r>
              <a:rPr lang="en-US" dirty="0">
                <a:solidFill>
                  <a:srgbClr val="FFFF00"/>
                </a:solidFill>
                <a:latin typeface="Times New Roman Regular" panose="02020603050405020304" charset="0"/>
                <a:cs typeface="Times New Roman Regular" panose="02020603050405020304" charset="0"/>
              </a:rPr>
              <a:t>Yesterday…</a:t>
            </a:r>
          </a:p>
        </p:txBody>
      </p:sp>
      <p:sp>
        <p:nvSpPr>
          <p:cNvPr id="3" name="Content Placeholder 2">
            <a:extLst>
              <a:ext uri="{FF2B5EF4-FFF2-40B4-BE49-F238E27FC236}">
                <a16:creationId xmlns:a16="http://schemas.microsoft.com/office/drawing/2014/main" id="{701DD966-37F7-85CF-D3F4-B899C9C51BE4}"/>
              </a:ext>
            </a:extLst>
          </p:cNvPr>
          <p:cNvSpPr>
            <a:spLocks noGrp="1"/>
          </p:cNvSpPr>
          <p:nvPr>
            <p:ph idx="1"/>
          </p:nvPr>
        </p:nvSpPr>
        <p:spPr>
          <a:xfrm>
            <a:off x="457200" y="1600200"/>
            <a:ext cx="8229600" cy="4837176"/>
          </a:xfrm>
        </p:spPr>
        <p:txBody>
          <a:bodyPr>
            <a:normAutofit/>
          </a:bodyPr>
          <a:lstStyle/>
          <a:p>
            <a:pPr algn="just"/>
            <a:r>
              <a:rPr lang="en-US" sz="2800" dirty="0">
                <a:latin typeface="Times New Roman Regular" panose="02020603050405020304" charset="0"/>
                <a:cs typeface="Times New Roman Regular" panose="02020603050405020304" charset="0"/>
              </a:rPr>
              <a:t>What’s Wrong with Raw Requirements</a:t>
            </a:r>
          </a:p>
          <a:p>
            <a:pPr algn="just"/>
            <a:r>
              <a:rPr lang="en-US" sz="2800" dirty="0">
                <a:latin typeface="Times New Roman Regular" panose="02020603050405020304" charset="0"/>
                <a:cs typeface="Times New Roman Regular" panose="02020603050405020304" charset="0"/>
              </a:rPr>
              <a:t>Defined Requirements Analysis</a:t>
            </a:r>
          </a:p>
          <a:p>
            <a:pPr algn="just"/>
            <a:r>
              <a:rPr lang="en-US" sz="2800" dirty="0">
                <a:latin typeface="Times New Roman Regular" panose="02020603050405020304" charset="0"/>
                <a:cs typeface="Times New Roman Regular" panose="02020603050405020304" charset="0"/>
              </a:rPr>
              <a:t>Rationale for Performing Requirements Analysis</a:t>
            </a:r>
          </a:p>
          <a:p>
            <a:pPr algn="just"/>
            <a:r>
              <a:rPr lang="en-US" sz="2800" dirty="0">
                <a:latin typeface="Times New Roman Regular" panose="02020603050405020304" charset="0"/>
                <a:cs typeface="Times New Roman Regular" panose="02020603050405020304" charset="0"/>
              </a:rPr>
              <a:t>Structuring Requirements (Use Cases and User Stories)</a:t>
            </a:r>
          </a:p>
          <a:p>
            <a:pPr algn="just"/>
            <a:r>
              <a:rPr lang="en-US" sz="2800" dirty="0">
                <a:latin typeface="Times New Roman Regular" panose="02020603050405020304" charset="0"/>
                <a:cs typeface="Times New Roman Regular" panose="02020603050405020304" charset="0"/>
              </a:rPr>
              <a:t>Use Cases and Use Case Diagrams</a:t>
            </a:r>
          </a:p>
          <a:p>
            <a:pPr algn="just"/>
            <a:r>
              <a:rPr lang="en-US" sz="2800" dirty="0">
                <a:latin typeface="Times New Roman Regular" panose="02020603050405020304" charset="0"/>
                <a:cs typeface="Times New Roman Regular" panose="02020603050405020304" charset="0"/>
              </a:rPr>
              <a:t>User Stories – 3C’s, INVEST, Acceptance Criteria</a:t>
            </a:r>
          </a:p>
        </p:txBody>
      </p:sp>
    </p:spTree>
    <p:extLst>
      <p:ext uri="{BB962C8B-B14F-4D97-AF65-F5344CB8AC3E}">
        <p14:creationId xmlns:p14="http://schemas.microsoft.com/office/powerpoint/2010/main" val="2081426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4BDF0-100B-9ACF-4DE0-43FD61780E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20EC95-2CE4-1320-5373-38DEF053347B}"/>
              </a:ext>
            </a:extLst>
          </p:cNvPr>
          <p:cNvSpPr>
            <a:spLocks noGrp="1"/>
          </p:cNvSpPr>
          <p:nvPr>
            <p:ph type="title"/>
          </p:nvPr>
        </p:nvSpPr>
        <p:spPr>
          <a:solidFill>
            <a:schemeClr val="tx1"/>
          </a:solidFill>
        </p:spPr>
        <p:txBody>
          <a:bodyPr>
            <a:normAutofit/>
          </a:bodyPr>
          <a:lstStyle/>
          <a:p>
            <a:r>
              <a:rPr lang="en-US" dirty="0">
                <a:solidFill>
                  <a:srgbClr val="FFFF00"/>
                </a:solidFill>
                <a:latin typeface="Times New Roman Regular" panose="02020603050405020304" charset="0"/>
                <a:cs typeface="Times New Roman Regular" panose="02020603050405020304" charset="0"/>
              </a:rPr>
              <a:t>Today…</a:t>
            </a:r>
          </a:p>
        </p:txBody>
      </p:sp>
      <p:sp>
        <p:nvSpPr>
          <p:cNvPr id="3" name="Content Placeholder 2">
            <a:extLst>
              <a:ext uri="{FF2B5EF4-FFF2-40B4-BE49-F238E27FC236}">
                <a16:creationId xmlns:a16="http://schemas.microsoft.com/office/drawing/2014/main" id="{05D7174D-0A89-C6A5-FF00-3487C1AC2EE5}"/>
              </a:ext>
            </a:extLst>
          </p:cNvPr>
          <p:cNvSpPr>
            <a:spLocks noGrp="1"/>
          </p:cNvSpPr>
          <p:nvPr>
            <p:ph idx="1"/>
          </p:nvPr>
        </p:nvSpPr>
        <p:spPr>
          <a:xfrm>
            <a:off x="457200" y="1600200"/>
            <a:ext cx="8229600" cy="4837176"/>
          </a:xfrm>
        </p:spPr>
        <p:txBody>
          <a:bodyPr>
            <a:normAutofit/>
          </a:bodyPr>
          <a:lstStyle/>
          <a:p>
            <a:pPr algn="just"/>
            <a:r>
              <a:rPr lang="en-US" sz="2800" dirty="0">
                <a:latin typeface="Times New Roman Regular" panose="02020603050405020304" charset="0"/>
                <a:cs typeface="Times New Roman Regular" panose="02020603050405020304" charset="0"/>
              </a:rPr>
              <a:t>Requirements Prioritization</a:t>
            </a:r>
          </a:p>
          <a:p>
            <a:pPr algn="just"/>
            <a:r>
              <a:rPr lang="en-US" sz="2800" dirty="0">
                <a:latin typeface="Times New Roman Regular" panose="02020603050405020304" charset="0"/>
                <a:cs typeface="Times New Roman Regular" panose="02020603050405020304" charset="0"/>
              </a:rPr>
              <a:t>Conflict Resolution</a:t>
            </a:r>
          </a:p>
          <a:p>
            <a:pPr algn="just"/>
            <a:r>
              <a:rPr lang="en-US" sz="2800" dirty="0">
                <a:latin typeface="Times New Roman Regular" panose="02020603050405020304" charset="0"/>
                <a:cs typeface="Times New Roman Regular" panose="02020603050405020304" charset="0"/>
              </a:rPr>
              <a:t>Requirements Modeling</a:t>
            </a:r>
          </a:p>
          <a:p>
            <a:pPr algn="just"/>
            <a:r>
              <a:rPr lang="en-US" sz="2800" dirty="0">
                <a:latin typeface="Times New Roman Regular" panose="02020603050405020304" charset="0"/>
                <a:cs typeface="Times New Roman Regular" panose="02020603050405020304" charset="0"/>
              </a:rPr>
              <a:t>Quality Attributes of a Good Requirement</a:t>
            </a:r>
          </a:p>
          <a:p>
            <a:pPr algn="just"/>
            <a:r>
              <a:rPr lang="en-US" sz="2800" dirty="0">
                <a:latin typeface="Times New Roman Regular" panose="02020603050405020304" charset="0"/>
                <a:cs typeface="Times New Roman Regular" panose="02020603050405020304" charset="0"/>
              </a:rPr>
              <a:t>PIECES framework</a:t>
            </a:r>
          </a:p>
          <a:p>
            <a:pPr algn="just"/>
            <a:r>
              <a:rPr lang="en-US" sz="2800" dirty="0">
                <a:latin typeface="Times New Roman Regular" panose="02020603050405020304" charset="0"/>
                <a:cs typeface="Times New Roman Regular" panose="02020603050405020304" charset="0"/>
              </a:rPr>
              <a:t>Tools for Requirements Analysis</a:t>
            </a:r>
          </a:p>
          <a:p>
            <a:pPr algn="just"/>
            <a:endParaRPr lang="en-US" sz="2800" dirty="0">
              <a:latin typeface="Times New Roman Regular" panose="02020603050405020304" charset="0"/>
              <a:cs typeface="Times New Roman Regular" panose="02020603050405020304" charset="0"/>
            </a:endParaRPr>
          </a:p>
          <a:p>
            <a:pPr algn="just"/>
            <a:endParaRPr lang="en-US" sz="2800" dirty="0">
              <a:latin typeface="Times New Roman Regular" panose="02020603050405020304" charset="0"/>
              <a:cs typeface="Times New Roman Regular" panose="02020603050405020304" charset="0"/>
            </a:endParaRPr>
          </a:p>
        </p:txBody>
      </p:sp>
    </p:spTree>
    <p:extLst>
      <p:ext uri="{BB962C8B-B14F-4D97-AF65-F5344CB8AC3E}">
        <p14:creationId xmlns:p14="http://schemas.microsoft.com/office/powerpoint/2010/main" val="3901105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1"/>
          </a:solidFill>
        </p:spPr>
        <p:txBody>
          <a:bodyPr>
            <a:normAutofit/>
          </a:bodyPr>
          <a:lstStyle/>
          <a:p>
            <a:r>
              <a:rPr lang="en-US" dirty="0">
                <a:solidFill>
                  <a:srgbClr val="FFFF00"/>
                </a:solidFill>
                <a:latin typeface="Times New Roman Regular" panose="02020603050405020304" charset="0"/>
                <a:cs typeface="Times New Roman Regular" panose="02020603050405020304" charset="0"/>
              </a:rPr>
              <a:t>Requirement Prioritization</a:t>
            </a:r>
          </a:p>
        </p:txBody>
      </p:sp>
      <p:sp>
        <p:nvSpPr>
          <p:cNvPr id="3" name="Content Placeholder 2"/>
          <p:cNvSpPr>
            <a:spLocks noGrp="1"/>
          </p:cNvSpPr>
          <p:nvPr>
            <p:ph idx="1"/>
          </p:nvPr>
        </p:nvSpPr>
        <p:spPr>
          <a:xfrm>
            <a:off x="457200" y="1600200"/>
            <a:ext cx="8229600" cy="4534535"/>
          </a:xfrm>
        </p:spPr>
        <p:txBody>
          <a:bodyPr>
            <a:normAutofit/>
          </a:bodyPr>
          <a:lstStyle/>
          <a:p>
            <a:pPr algn="just"/>
            <a:r>
              <a:rPr sz="2800" b="1" dirty="0">
                <a:latin typeface="Times New Roman Bold" panose="02020603050405020304" charset="0"/>
                <a:cs typeface="Times New Roman Bold" panose="02020603050405020304" charset="0"/>
              </a:rPr>
              <a:t>Definition: </a:t>
            </a:r>
            <a:r>
              <a:rPr sz="2800" dirty="0">
                <a:latin typeface="Times New Roman Regular" panose="02020603050405020304" charset="0"/>
                <a:cs typeface="Times New Roman Regular" panose="02020603050405020304" charset="0"/>
              </a:rPr>
              <a:t>Requirement prioritization involves </a:t>
            </a:r>
            <a:r>
              <a:rPr sz="2800" b="1" dirty="0">
                <a:latin typeface="Times New Roman Bold" panose="02020603050405020304" charset="0"/>
                <a:cs typeface="Times New Roman Bold" panose="02020603050405020304" charset="0"/>
              </a:rPr>
              <a:t>ranking the requirements to determine which ones are essential to the project’s success and which are desirable but not mandatory</a:t>
            </a:r>
            <a:r>
              <a:rPr sz="2800" dirty="0">
                <a:latin typeface="Times New Roman Regular" panose="02020603050405020304" charset="0"/>
                <a:cs typeface="Times New Roman Regular" panose="02020603050405020304" charset="0"/>
              </a:rPr>
              <a:t>. It helps in resource allocation and in making informed decisions about what to include in the current project scope.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D225D-B45B-F5F5-EA73-11B09E92C1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790F89-F446-CFDC-18C4-D0BD304E2D5B}"/>
              </a:ext>
            </a:extLst>
          </p:cNvPr>
          <p:cNvSpPr>
            <a:spLocks noGrp="1"/>
          </p:cNvSpPr>
          <p:nvPr>
            <p:ph type="title"/>
          </p:nvPr>
        </p:nvSpPr>
        <p:spPr>
          <a:solidFill>
            <a:schemeClr val="tx1"/>
          </a:solidFill>
        </p:spPr>
        <p:txBody>
          <a:bodyPr>
            <a:normAutofit/>
          </a:bodyPr>
          <a:lstStyle/>
          <a:p>
            <a:r>
              <a:rPr lang="en-US" dirty="0">
                <a:solidFill>
                  <a:srgbClr val="FFFF00"/>
                </a:solidFill>
                <a:latin typeface="Times New Roman Regular" panose="02020603050405020304" charset="0"/>
                <a:cs typeface="Times New Roman Regular" panose="02020603050405020304" charset="0"/>
              </a:rPr>
              <a:t>Requirement Prioritization</a:t>
            </a:r>
          </a:p>
        </p:txBody>
      </p:sp>
      <p:sp>
        <p:nvSpPr>
          <p:cNvPr id="3" name="Content Placeholder 2">
            <a:extLst>
              <a:ext uri="{FF2B5EF4-FFF2-40B4-BE49-F238E27FC236}">
                <a16:creationId xmlns:a16="http://schemas.microsoft.com/office/drawing/2014/main" id="{6B0D742B-D95E-72EC-38CB-327DAE713BBC}"/>
              </a:ext>
            </a:extLst>
          </p:cNvPr>
          <p:cNvSpPr>
            <a:spLocks noGrp="1"/>
          </p:cNvSpPr>
          <p:nvPr>
            <p:ph idx="1"/>
          </p:nvPr>
        </p:nvSpPr>
        <p:spPr>
          <a:xfrm>
            <a:off x="457200" y="1600200"/>
            <a:ext cx="8229600" cy="4534535"/>
          </a:xfrm>
        </p:spPr>
        <p:txBody>
          <a:bodyPr>
            <a:normAutofit/>
          </a:bodyPr>
          <a:lstStyle/>
          <a:p>
            <a:pPr marL="0" indent="0" algn="just">
              <a:buNone/>
            </a:pPr>
            <a:r>
              <a:rPr lang="en-US" sz="2800" b="1" dirty="0">
                <a:latin typeface="Times New Roman Regular" panose="02020603050405020304" charset="0"/>
                <a:cs typeface="Times New Roman Regular" panose="02020603050405020304" charset="0"/>
              </a:rPr>
              <a:t>Why Prioritize Requirement?</a:t>
            </a:r>
          </a:p>
          <a:p>
            <a:pPr algn="just"/>
            <a:r>
              <a:rPr lang="en-US" sz="2400" b="1" i="1" dirty="0">
                <a:latin typeface="Times New Roman Regular" panose="02020603050405020304" charset="0"/>
                <a:cs typeface="Times New Roman Regular" panose="02020603050405020304" charset="0"/>
              </a:rPr>
              <a:t>Optimal Resource Management</a:t>
            </a:r>
            <a:r>
              <a:rPr lang="en-US" sz="2400" dirty="0">
                <a:latin typeface="Times New Roman Regular" panose="02020603050405020304" charset="0"/>
                <a:cs typeface="Times New Roman Regular" panose="02020603050405020304" charset="0"/>
              </a:rPr>
              <a:t>: Projects exist within constraints of time, money and labor therefore one ought to allocate resources in a way that yields the most return.</a:t>
            </a:r>
          </a:p>
          <a:p>
            <a:pPr algn="just"/>
            <a:r>
              <a:rPr lang="en-US" sz="2400" b="1" i="1" dirty="0">
                <a:latin typeface="Times New Roman Regular" panose="02020603050405020304" charset="0"/>
                <a:cs typeface="Times New Roman Regular" panose="02020603050405020304" charset="0"/>
              </a:rPr>
              <a:t>Defensible Scope Reduction</a:t>
            </a:r>
            <a:r>
              <a:rPr lang="en-US" sz="2400" dirty="0">
                <a:latin typeface="Times New Roman Regular" panose="02020603050405020304" charset="0"/>
                <a:cs typeface="Times New Roman Regular" panose="02020603050405020304" charset="0"/>
              </a:rPr>
              <a:t>: It becomes easy to know what requirements to drop in case of budget cuts or tighter deadlines.</a:t>
            </a:r>
          </a:p>
          <a:p>
            <a:pPr algn="just"/>
            <a:r>
              <a:rPr lang="en-US" sz="2400" b="1" i="1" dirty="0">
                <a:latin typeface="Times New Roman Regular" panose="02020603050405020304" charset="0"/>
                <a:cs typeface="Times New Roman Regular" panose="02020603050405020304" charset="0"/>
              </a:rPr>
              <a:t>Managing Expectations</a:t>
            </a:r>
            <a:r>
              <a:rPr lang="en-US" sz="2400" dirty="0">
                <a:latin typeface="Times New Roman Regular" panose="02020603050405020304" charset="0"/>
                <a:cs typeface="Times New Roman Regular" panose="02020603050405020304" charset="0"/>
              </a:rPr>
              <a:t>: Stakeholders and developers can agree that everything is not urgent.</a:t>
            </a:r>
          </a:p>
          <a:p>
            <a:pPr algn="just"/>
            <a:r>
              <a:rPr lang="en-US" sz="2400" b="1" i="1" dirty="0">
                <a:latin typeface="Times New Roman Regular" panose="02020603050405020304" charset="0"/>
                <a:cs typeface="Times New Roman Regular" panose="02020603050405020304" charset="0"/>
              </a:rPr>
              <a:t>Risk Mitigation</a:t>
            </a:r>
            <a:r>
              <a:rPr lang="en-US" sz="2400" dirty="0">
                <a:latin typeface="Times New Roman Regular" panose="02020603050405020304" charset="0"/>
                <a:cs typeface="Times New Roman Regular" panose="02020603050405020304" charset="0"/>
              </a:rPr>
              <a:t>: The team can address riskier requirements by giving them a higher priority.</a:t>
            </a:r>
            <a:endParaRPr sz="2400" dirty="0">
              <a:latin typeface="Times New Roman Regular" panose="02020603050405020304" charset="0"/>
              <a:cs typeface="Times New Roman Regular" panose="02020603050405020304" charset="0"/>
            </a:endParaRPr>
          </a:p>
        </p:txBody>
      </p:sp>
    </p:spTree>
    <p:extLst>
      <p:ext uri="{BB962C8B-B14F-4D97-AF65-F5344CB8AC3E}">
        <p14:creationId xmlns:p14="http://schemas.microsoft.com/office/powerpoint/2010/main" val="2512975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1"/>
          </a:solidFill>
        </p:spPr>
        <p:txBody>
          <a:bodyPr>
            <a:normAutofit fontScale="90000"/>
          </a:bodyPr>
          <a:lstStyle/>
          <a:p>
            <a:r>
              <a:rPr lang="en-US" dirty="0">
                <a:solidFill>
                  <a:srgbClr val="FFFF00"/>
                </a:solidFill>
                <a:latin typeface="Times New Roman Regular" panose="02020603050405020304" charset="0"/>
                <a:cs typeface="Times New Roman Regular" panose="02020603050405020304" charset="0"/>
              </a:rPr>
              <a:t>Requirement Prioritization Techniques</a:t>
            </a:r>
          </a:p>
        </p:txBody>
      </p:sp>
      <p:sp>
        <p:nvSpPr>
          <p:cNvPr id="3" name="Content Placeholder 2"/>
          <p:cNvSpPr>
            <a:spLocks noGrp="1"/>
          </p:cNvSpPr>
          <p:nvPr>
            <p:ph idx="1"/>
          </p:nvPr>
        </p:nvSpPr>
        <p:spPr>
          <a:xfrm>
            <a:off x="173736" y="1600200"/>
            <a:ext cx="8842248" cy="5047488"/>
          </a:xfrm>
        </p:spPr>
        <p:txBody>
          <a:bodyPr>
            <a:normAutofit/>
          </a:bodyPr>
          <a:lstStyle/>
          <a:p>
            <a:pPr marL="57150" indent="0" algn="just">
              <a:buNone/>
            </a:pPr>
            <a:r>
              <a:rPr b="1" dirty="0" err="1">
                <a:latin typeface="Times New Roman Bold" panose="02020603050405020304" charset="0"/>
                <a:cs typeface="Times New Roman Bold" panose="02020603050405020304" charset="0"/>
              </a:rPr>
              <a:t>MoSCoW</a:t>
            </a:r>
            <a:r>
              <a:rPr b="1" dirty="0">
                <a:latin typeface="Times New Roman Bold" panose="02020603050405020304" charset="0"/>
                <a:cs typeface="Times New Roman Bold" panose="02020603050405020304" charset="0"/>
              </a:rPr>
              <a:t> Method:</a:t>
            </a:r>
            <a:endParaRPr lang="en-US" sz="2800" b="1" dirty="0">
              <a:latin typeface="Times New Roman Regular" panose="02020603050405020304" charset="0"/>
              <a:cs typeface="Times New Roman Bold" panose="02020603050405020304" charset="0"/>
            </a:endParaRPr>
          </a:p>
          <a:p>
            <a:pPr marL="57150" indent="0" algn="just">
              <a:buNone/>
            </a:pPr>
            <a:endParaRPr b="1" dirty="0">
              <a:latin typeface="Times New Roman Bold" panose="02020603050405020304" charset="0"/>
              <a:cs typeface="Times New Roman Bold" panose="02020603050405020304" charset="0"/>
            </a:endParaRPr>
          </a:p>
        </p:txBody>
      </p:sp>
      <p:graphicFrame>
        <p:nvGraphicFramePr>
          <p:cNvPr id="4" name="Table 3">
            <a:extLst>
              <a:ext uri="{FF2B5EF4-FFF2-40B4-BE49-F238E27FC236}">
                <a16:creationId xmlns:a16="http://schemas.microsoft.com/office/drawing/2014/main" id="{57E8A9AB-32FC-9EC9-A7A1-7F1E93EBD635}"/>
              </a:ext>
            </a:extLst>
          </p:cNvPr>
          <p:cNvGraphicFramePr>
            <a:graphicFrameLocks noGrp="1"/>
          </p:cNvGraphicFramePr>
          <p:nvPr>
            <p:extLst>
              <p:ext uri="{D42A27DB-BD31-4B8C-83A1-F6EECF244321}">
                <p14:modId xmlns:p14="http://schemas.microsoft.com/office/powerpoint/2010/main" val="1460623593"/>
              </p:ext>
            </p:extLst>
          </p:nvPr>
        </p:nvGraphicFramePr>
        <p:xfrm>
          <a:off x="1479804" y="2293112"/>
          <a:ext cx="6184392" cy="4144264"/>
        </p:xfrm>
        <a:graphic>
          <a:graphicData uri="http://schemas.openxmlformats.org/drawingml/2006/table">
            <a:tbl>
              <a:tblPr firstRow="1" bandRow="1">
                <a:tableStyleId>{93296810-A885-4BE3-A3E7-6D5BEEA58F35}</a:tableStyleId>
              </a:tblPr>
              <a:tblGrid>
                <a:gridCol w="3092196">
                  <a:extLst>
                    <a:ext uri="{9D8B030D-6E8A-4147-A177-3AD203B41FA5}">
                      <a16:colId xmlns:a16="http://schemas.microsoft.com/office/drawing/2014/main" val="2000921036"/>
                    </a:ext>
                  </a:extLst>
                </a:gridCol>
                <a:gridCol w="3092196">
                  <a:extLst>
                    <a:ext uri="{9D8B030D-6E8A-4147-A177-3AD203B41FA5}">
                      <a16:colId xmlns:a16="http://schemas.microsoft.com/office/drawing/2014/main" val="1620492544"/>
                    </a:ext>
                  </a:extLst>
                </a:gridCol>
              </a:tblGrid>
              <a:tr h="2072132">
                <a:tc>
                  <a:txBody>
                    <a:bodyPr/>
                    <a:lstStyle/>
                    <a:p>
                      <a:pPr algn="ctr"/>
                      <a:r>
                        <a:rPr lang="en-US" sz="4400" dirty="0">
                          <a:latin typeface="Times New Roman" panose="02020603050405020304" pitchFamily="18" charset="0"/>
                          <a:cs typeface="Times New Roman" panose="02020603050405020304" pitchFamily="18" charset="0"/>
                        </a:rPr>
                        <a:t>Must Have</a:t>
                      </a:r>
                    </a:p>
                  </a:txBody>
                  <a:tcPr anchor="ctr">
                    <a:solidFill>
                      <a:schemeClr val="accent2">
                        <a:lumMod val="75000"/>
                      </a:schemeClr>
                    </a:solidFill>
                  </a:tcPr>
                </a:tc>
                <a:tc>
                  <a:txBody>
                    <a:bodyPr/>
                    <a:lstStyle/>
                    <a:p>
                      <a:r>
                        <a:rPr lang="en-US" sz="4400" b="1" kern="1200" dirty="0">
                          <a:solidFill>
                            <a:schemeClr val="lt1"/>
                          </a:solidFill>
                          <a:latin typeface="Times New Roman" panose="02020603050405020304" pitchFamily="18" charset="0"/>
                          <a:ea typeface="+mn-ea"/>
                          <a:cs typeface="Times New Roman" panose="02020603050405020304" pitchFamily="18" charset="0"/>
                        </a:rPr>
                        <a:t>Should Have</a:t>
                      </a:r>
                    </a:p>
                  </a:txBody>
                  <a:tcPr anchor="ctr">
                    <a:solidFill>
                      <a:schemeClr val="tx2">
                        <a:lumMod val="75000"/>
                      </a:schemeClr>
                    </a:solidFill>
                  </a:tcPr>
                </a:tc>
                <a:extLst>
                  <a:ext uri="{0D108BD9-81ED-4DB2-BD59-A6C34878D82A}">
                    <a16:rowId xmlns:a16="http://schemas.microsoft.com/office/drawing/2014/main" val="988826103"/>
                  </a:ext>
                </a:extLst>
              </a:tr>
              <a:tr h="2072132">
                <a:tc>
                  <a:txBody>
                    <a:bodyPr/>
                    <a:lstStyle/>
                    <a:p>
                      <a:r>
                        <a:rPr lang="en-US" sz="4400" b="1" kern="1200" dirty="0">
                          <a:solidFill>
                            <a:schemeClr val="lt1"/>
                          </a:solidFill>
                          <a:latin typeface="Times New Roman" panose="02020603050405020304" pitchFamily="18" charset="0"/>
                          <a:ea typeface="+mn-ea"/>
                          <a:cs typeface="Times New Roman" panose="02020603050405020304" pitchFamily="18" charset="0"/>
                        </a:rPr>
                        <a:t>Could</a:t>
                      </a:r>
                      <a:r>
                        <a:rPr lang="en-US" dirty="0">
                          <a:solidFill>
                            <a:schemeClr val="bg1"/>
                          </a:solidFill>
                        </a:rPr>
                        <a:t> </a:t>
                      </a:r>
                      <a:r>
                        <a:rPr lang="en-US" sz="4400" b="1" kern="1200" dirty="0">
                          <a:solidFill>
                            <a:schemeClr val="lt1"/>
                          </a:solidFill>
                          <a:latin typeface="Times New Roman" panose="02020603050405020304" pitchFamily="18" charset="0"/>
                          <a:ea typeface="+mn-ea"/>
                          <a:cs typeface="Times New Roman" panose="02020603050405020304" pitchFamily="18" charset="0"/>
                        </a:rPr>
                        <a:t>Have</a:t>
                      </a:r>
                    </a:p>
                  </a:txBody>
                  <a:tcPr anchor="ctr">
                    <a:solidFill>
                      <a:schemeClr val="accent3">
                        <a:lumMod val="50000"/>
                      </a:schemeClr>
                    </a:solidFill>
                  </a:tcPr>
                </a:tc>
                <a:tc>
                  <a:txBody>
                    <a:bodyPr/>
                    <a:lstStyle/>
                    <a:p>
                      <a:r>
                        <a:rPr lang="en-US" sz="4400" b="1" kern="1200" dirty="0">
                          <a:solidFill>
                            <a:schemeClr val="lt1"/>
                          </a:solidFill>
                          <a:latin typeface="Times New Roman" panose="02020603050405020304" pitchFamily="18" charset="0"/>
                          <a:ea typeface="+mn-ea"/>
                          <a:cs typeface="Times New Roman" panose="02020603050405020304" pitchFamily="18" charset="0"/>
                        </a:rPr>
                        <a:t>Will</a:t>
                      </a:r>
                      <a:r>
                        <a:rPr lang="en-US" sz="4400" kern="1200" dirty="0">
                          <a:solidFill>
                            <a:schemeClr val="bg1"/>
                          </a:solidFill>
                          <a:latin typeface="+mn-lt"/>
                          <a:ea typeface="+mn-ea"/>
                          <a:cs typeface="+mn-cs"/>
                        </a:rPr>
                        <a:t> </a:t>
                      </a:r>
                      <a:r>
                        <a:rPr lang="en-US" sz="4400" b="1" kern="1200" dirty="0">
                          <a:solidFill>
                            <a:schemeClr val="lt1"/>
                          </a:solidFill>
                          <a:latin typeface="Times New Roman" panose="02020603050405020304" pitchFamily="18" charset="0"/>
                          <a:ea typeface="+mn-ea"/>
                          <a:cs typeface="Times New Roman" panose="02020603050405020304" pitchFamily="18" charset="0"/>
                        </a:rPr>
                        <a:t>Not</a:t>
                      </a:r>
                      <a:r>
                        <a:rPr lang="en-US" sz="4400" b="1" kern="1200" dirty="0">
                          <a:solidFill>
                            <a:schemeClr val="bg1"/>
                          </a:solidFill>
                          <a:latin typeface="Times New Roman" panose="02020603050405020304" pitchFamily="18" charset="0"/>
                          <a:ea typeface="+mn-ea"/>
                          <a:cs typeface="Times New Roman" panose="02020603050405020304" pitchFamily="18" charset="0"/>
                        </a:rPr>
                        <a:t> </a:t>
                      </a:r>
                      <a:r>
                        <a:rPr lang="en-US" sz="4400" b="1" kern="1200" dirty="0">
                          <a:solidFill>
                            <a:schemeClr val="lt1"/>
                          </a:solidFill>
                          <a:latin typeface="Times New Roman" panose="02020603050405020304" pitchFamily="18" charset="0"/>
                          <a:ea typeface="+mn-ea"/>
                          <a:cs typeface="Times New Roman" panose="02020603050405020304" pitchFamily="18" charset="0"/>
                        </a:rPr>
                        <a:t>Have</a:t>
                      </a:r>
                    </a:p>
                  </a:txBody>
                  <a:tcPr anchor="ctr">
                    <a:solidFill>
                      <a:schemeClr val="accent4">
                        <a:lumMod val="50000"/>
                      </a:schemeClr>
                    </a:solidFill>
                  </a:tcPr>
                </a:tc>
                <a:extLst>
                  <a:ext uri="{0D108BD9-81ED-4DB2-BD59-A6C34878D82A}">
                    <a16:rowId xmlns:a16="http://schemas.microsoft.com/office/drawing/2014/main" val="2608310741"/>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C6E0E-FC65-3B02-E391-397657DA44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D95CD4-C499-DC9A-B068-B61C177F0998}"/>
              </a:ext>
            </a:extLst>
          </p:cNvPr>
          <p:cNvSpPr>
            <a:spLocks noGrp="1"/>
          </p:cNvSpPr>
          <p:nvPr>
            <p:ph type="title"/>
          </p:nvPr>
        </p:nvSpPr>
        <p:spPr>
          <a:solidFill>
            <a:schemeClr val="tx1"/>
          </a:solidFill>
        </p:spPr>
        <p:txBody>
          <a:bodyPr>
            <a:normAutofit fontScale="90000"/>
          </a:bodyPr>
          <a:lstStyle/>
          <a:p>
            <a:r>
              <a:rPr lang="en-US" dirty="0">
                <a:solidFill>
                  <a:srgbClr val="FFFF00"/>
                </a:solidFill>
                <a:latin typeface="Times New Roman Regular" panose="02020603050405020304" charset="0"/>
                <a:cs typeface="Times New Roman Regular" panose="02020603050405020304" charset="0"/>
              </a:rPr>
              <a:t>Requirement Prioritization Techniques</a:t>
            </a:r>
          </a:p>
        </p:txBody>
      </p:sp>
      <p:sp>
        <p:nvSpPr>
          <p:cNvPr id="3" name="Content Placeholder 2">
            <a:extLst>
              <a:ext uri="{FF2B5EF4-FFF2-40B4-BE49-F238E27FC236}">
                <a16:creationId xmlns:a16="http://schemas.microsoft.com/office/drawing/2014/main" id="{F865E5F7-E16E-381F-9DB4-913E60AE02CA}"/>
              </a:ext>
            </a:extLst>
          </p:cNvPr>
          <p:cNvSpPr>
            <a:spLocks noGrp="1"/>
          </p:cNvSpPr>
          <p:nvPr>
            <p:ph idx="1"/>
          </p:nvPr>
        </p:nvSpPr>
        <p:spPr>
          <a:xfrm>
            <a:off x="457200" y="1600200"/>
            <a:ext cx="8229600" cy="4534535"/>
          </a:xfrm>
        </p:spPr>
        <p:txBody>
          <a:bodyPr>
            <a:normAutofit/>
          </a:bodyPr>
          <a:lstStyle/>
          <a:p>
            <a:pPr algn="just">
              <a:buFont typeface="Wingdings" panose="05000000000000000000" charset="0"/>
              <a:buChar char=""/>
            </a:pPr>
            <a:r>
              <a:rPr sz="2800" b="1" dirty="0">
                <a:latin typeface="Times New Roman Bold" panose="02020603050405020304" charset="0"/>
                <a:cs typeface="Times New Roman Bold" panose="02020603050405020304" charset="0"/>
              </a:rPr>
              <a:t>Must Have: </a:t>
            </a:r>
            <a:r>
              <a:rPr sz="2800" dirty="0">
                <a:latin typeface="Times New Roman Regular" panose="02020603050405020304" charset="0"/>
                <a:cs typeface="Times New Roman Regular" panose="02020603050405020304" charset="0"/>
              </a:rPr>
              <a:t>Critical requirements that are non-negotiable for the system's basic functionality. Without these, the project will fail.</a:t>
            </a:r>
          </a:p>
          <a:p>
            <a:pPr algn="just">
              <a:buFont typeface="Wingdings" panose="05000000000000000000" charset="0"/>
              <a:buChar char=""/>
            </a:pPr>
            <a:r>
              <a:rPr sz="2800" b="1" dirty="0">
                <a:latin typeface="Times New Roman Bold" panose="02020603050405020304" charset="0"/>
                <a:cs typeface="Times New Roman Bold" panose="02020603050405020304" charset="0"/>
              </a:rPr>
              <a:t>Should Have:</a:t>
            </a:r>
            <a:r>
              <a:rPr sz="2800" dirty="0">
                <a:latin typeface="Times New Roman Regular" panose="02020603050405020304" charset="0"/>
                <a:cs typeface="Times New Roman Regular" panose="02020603050405020304" charset="0"/>
              </a:rPr>
              <a:t> Important requirements that are not critical but add significant value. They should be included if possible.</a:t>
            </a:r>
            <a:endParaRPr lang="en-US" sz="2800" dirty="0">
              <a:latin typeface="Times New Roman Regular" panose="02020603050405020304" charset="0"/>
              <a:cs typeface="Times New Roman Regular" panose="02020603050405020304" charset="0"/>
            </a:endParaRPr>
          </a:p>
          <a:p>
            <a:pPr algn="just">
              <a:buFont typeface="Wingdings" panose="05000000000000000000" charset="0"/>
              <a:buChar char=""/>
            </a:pPr>
            <a:r>
              <a:rPr lang="en-US" sz="2800" b="1" dirty="0">
                <a:latin typeface="Times New Roman" panose="02020603050405020304" pitchFamily="18" charset="0"/>
                <a:cs typeface="Times New Roman" panose="02020603050405020304" pitchFamily="18" charset="0"/>
              </a:rPr>
              <a:t>Could Have:</a:t>
            </a:r>
            <a:r>
              <a:rPr lang="en-US" sz="2800" dirty="0">
                <a:latin typeface="Times New Roman" panose="02020603050405020304" pitchFamily="18" charset="0"/>
                <a:cs typeface="Times New Roman" panose="02020603050405020304" pitchFamily="18" charset="0"/>
              </a:rPr>
              <a:t> Desirable but not necessary requirements that can be included if time and resources allow.</a:t>
            </a:r>
          </a:p>
          <a:p>
            <a:pPr algn="just">
              <a:buFont typeface="Wingdings" panose="05000000000000000000" charset="0"/>
              <a:buChar char=""/>
            </a:pPr>
            <a:endParaRPr sz="2800" dirty="0">
              <a:latin typeface="Times New Roman Regular" panose="02020603050405020304" charset="0"/>
              <a:cs typeface="Times New Roman Regular" panose="02020603050405020304" charset="0"/>
            </a:endParaRPr>
          </a:p>
        </p:txBody>
      </p:sp>
    </p:spTree>
    <p:extLst>
      <p:ext uri="{BB962C8B-B14F-4D97-AF65-F5344CB8AC3E}">
        <p14:creationId xmlns:p14="http://schemas.microsoft.com/office/powerpoint/2010/main" val="666398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1"/>
          </a:solidFill>
        </p:spPr>
        <p:txBody>
          <a:bodyPr>
            <a:normAutofit fontScale="90000"/>
          </a:bodyPr>
          <a:lstStyle/>
          <a:p>
            <a:r>
              <a:rPr lang="en-US" dirty="0">
                <a:solidFill>
                  <a:srgbClr val="FFFF00"/>
                </a:solidFill>
                <a:latin typeface="Times New Roman Regular" panose="02020603050405020304" charset="0"/>
                <a:cs typeface="Times New Roman Regular" panose="02020603050405020304" charset="0"/>
              </a:rPr>
              <a:t>Requirement Prioritization Techniques</a:t>
            </a:r>
          </a:p>
        </p:txBody>
      </p:sp>
      <p:sp>
        <p:nvSpPr>
          <p:cNvPr id="3" name="Content Placeholder 2"/>
          <p:cNvSpPr>
            <a:spLocks noGrp="1"/>
          </p:cNvSpPr>
          <p:nvPr>
            <p:ph idx="1"/>
          </p:nvPr>
        </p:nvSpPr>
        <p:spPr>
          <a:xfrm>
            <a:off x="457200" y="1600200"/>
            <a:ext cx="8229600" cy="4534535"/>
          </a:xfrm>
        </p:spPr>
        <p:txBody>
          <a:bodyPr>
            <a:normAutofit fontScale="97500"/>
          </a:bodyPr>
          <a:lstStyle/>
          <a:p>
            <a:pPr algn="just">
              <a:buFont typeface="Wingdings" panose="05000000000000000000" charset="0"/>
              <a:buChar char=""/>
            </a:pPr>
            <a:r>
              <a:rPr sz="2800" b="1" dirty="0">
                <a:latin typeface="Times New Roman" panose="02020603050405020304" pitchFamily="18" charset="0"/>
                <a:cs typeface="Times New Roman" panose="02020603050405020304" pitchFamily="18" charset="0"/>
              </a:rPr>
              <a:t>W</a:t>
            </a:r>
            <a:r>
              <a:rPr lang="en-US" sz="2800" b="1" dirty="0">
                <a:latin typeface="Times New Roman" panose="02020603050405020304" pitchFamily="18" charset="0"/>
                <a:cs typeface="Times New Roman" panose="02020603050405020304" pitchFamily="18" charset="0"/>
              </a:rPr>
              <a:t>ill Not</a:t>
            </a:r>
            <a:r>
              <a:rPr sz="2800" b="1" dirty="0">
                <a:latin typeface="Times New Roman" panose="02020603050405020304" pitchFamily="18" charset="0"/>
                <a:cs typeface="Times New Roman" panose="02020603050405020304" pitchFamily="18" charset="0"/>
              </a:rPr>
              <a:t> Have:</a:t>
            </a:r>
            <a:r>
              <a:rPr sz="2800" dirty="0">
                <a:latin typeface="Times New Roman" panose="02020603050405020304" pitchFamily="18" charset="0"/>
                <a:cs typeface="Times New Roman" panose="02020603050405020304" pitchFamily="18" charset="0"/>
              </a:rPr>
              <a:t> Requirements that are agreed to be deferred or dropped in this phase.</a:t>
            </a:r>
            <a:endParaRPr lang="en-US" sz="2800" dirty="0">
              <a:latin typeface="Times New Roman" panose="02020603050405020304" pitchFamily="18" charset="0"/>
              <a:cs typeface="Times New Roman" panose="02020603050405020304" pitchFamily="18" charset="0"/>
            </a:endParaRPr>
          </a:p>
          <a:p>
            <a:pPr marL="0" indent="0" algn="just">
              <a:spcBef>
                <a:spcPts val="1800"/>
              </a:spcBef>
              <a:buNone/>
            </a:pPr>
            <a:r>
              <a:rPr lang="en-US" sz="2800" dirty="0">
                <a:latin typeface="Times New Roman" panose="02020603050405020304" pitchFamily="18" charset="0"/>
                <a:cs typeface="Times New Roman" panose="02020603050405020304" pitchFamily="18" charset="0"/>
              </a:rPr>
              <a:t>The </a:t>
            </a:r>
            <a:r>
              <a:rPr lang="en-US" sz="2800" dirty="0" err="1">
                <a:latin typeface="Times New Roman" panose="02020603050405020304" pitchFamily="18" charset="0"/>
                <a:cs typeface="Times New Roman" panose="02020603050405020304" pitchFamily="18" charset="0"/>
              </a:rPr>
              <a:t>MoSCoW</a:t>
            </a:r>
            <a:r>
              <a:rPr lang="en-US" sz="2800" dirty="0">
                <a:latin typeface="Times New Roman" panose="02020603050405020304" pitchFamily="18" charset="0"/>
                <a:cs typeface="Times New Roman" panose="02020603050405020304" pitchFamily="18" charset="0"/>
              </a:rPr>
              <a:t> method helps you group different features under specific buckets, but it does not tell you what features belong to what buckets. For this you will need to look into other strategies that help you figure out which features are of the highest value (reading link below)</a:t>
            </a:r>
          </a:p>
          <a:p>
            <a:pPr marL="0" indent="0" algn="just">
              <a:spcBef>
                <a:spcPts val="1800"/>
              </a:spcBef>
              <a:buNone/>
            </a:pPr>
            <a:r>
              <a:rPr lang="en-US" sz="2800" dirty="0">
                <a:latin typeface="Times New Roman" panose="02020603050405020304" pitchFamily="18" charset="0"/>
                <a:cs typeface="Times New Roman" panose="02020603050405020304" pitchFamily="18" charset="0"/>
                <a:hlinkClick r:id="rId2"/>
              </a:rPr>
              <a:t>Prioritization Strategies</a:t>
            </a:r>
            <a:endParaRPr lang="en-US" sz="28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9DADB-354F-EBE0-21F8-094A94C916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598DE7-D7EF-73C4-52F7-0E9E2C4537C8}"/>
              </a:ext>
            </a:extLst>
          </p:cNvPr>
          <p:cNvSpPr>
            <a:spLocks noGrp="1"/>
          </p:cNvSpPr>
          <p:nvPr>
            <p:ph type="title"/>
          </p:nvPr>
        </p:nvSpPr>
        <p:spPr>
          <a:solidFill>
            <a:schemeClr val="tx1"/>
          </a:solidFill>
        </p:spPr>
        <p:txBody>
          <a:bodyPr>
            <a:normAutofit fontScale="90000"/>
          </a:bodyPr>
          <a:lstStyle/>
          <a:p>
            <a:r>
              <a:rPr lang="en-US" dirty="0">
                <a:solidFill>
                  <a:srgbClr val="FFFF00"/>
                </a:solidFill>
                <a:latin typeface="Times New Roman Regular" panose="02020603050405020304" charset="0"/>
                <a:cs typeface="Times New Roman Regular" panose="02020603050405020304" charset="0"/>
              </a:rPr>
              <a:t>Requirement Prioritization Techniques</a:t>
            </a:r>
          </a:p>
        </p:txBody>
      </p:sp>
      <p:sp>
        <p:nvSpPr>
          <p:cNvPr id="3" name="Content Placeholder 2">
            <a:extLst>
              <a:ext uri="{FF2B5EF4-FFF2-40B4-BE49-F238E27FC236}">
                <a16:creationId xmlns:a16="http://schemas.microsoft.com/office/drawing/2014/main" id="{58ADD08D-B2EC-6681-6F75-F9BFEAA74775}"/>
              </a:ext>
            </a:extLst>
          </p:cNvPr>
          <p:cNvSpPr>
            <a:spLocks noGrp="1"/>
          </p:cNvSpPr>
          <p:nvPr>
            <p:ph idx="1"/>
          </p:nvPr>
        </p:nvSpPr>
        <p:spPr>
          <a:xfrm>
            <a:off x="457200" y="1600200"/>
            <a:ext cx="8229600" cy="4534535"/>
          </a:xfrm>
        </p:spPr>
        <p:txBody>
          <a:bodyPr>
            <a:normAutofit fontScale="97500"/>
          </a:bodyPr>
          <a:lstStyle/>
          <a:p>
            <a:pPr marL="114300" indent="0" algn="just">
              <a:buNone/>
            </a:pPr>
            <a:r>
              <a:rPr lang="en-US" sz="2900" b="1" dirty="0">
                <a:latin typeface="Times New Roman" panose="02020603050405020304" pitchFamily="18" charset="0"/>
                <a:cs typeface="Times New Roman" panose="02020603050405020304" pitchFamily="18" charset="0"/>
              </a:rPr>
              <a:t>Kano Model</a:t>
            </a:r>
          </a:p>
          <a:p>
            <a:pPr marL="114300" indent="0" algn="just">
              <a:spcAft>
                <a:spcPts val="1200"/>
              </a:spcAft>
              <a:buNone/>
            </a:pPr>
            <a:r>
              <a:rPr lang="en-US" sz="2900" dirty="0">
                <a:latin typeface="Times New Roman" panose="02020603050405020304" pitchFamily="18" charset="0"/>
                <a:cs typeface="Times New Roman" panose="02020603050405020304" pitchFamily="18" charset="0"/>
              </a:rPr>
              <a:t>A framework for understanding how different features of a product impact customer satisfaction.</a:t>
            </a:r>
          </a:p>
          <a:p>
            <a:pPr marL="114300" indent="0" algn="just">
              <a:buNone/>
            </a:pPr>
            <a:r>
              <a:rPr lang="en-US" sz="2900" dirty="0">
                <a:latin typeface="Times New Roman" panose="02020603050405020304" pitchFamily="18" charset="0"/>
                <a:cs typeface="Times New Roman" panose="02020603050405020304" pitchFamily="18" charset="0"/>
              </a:rPr>
              <a:t>It is an approach of prioritizing features on a product roadmap based on the degree to which they are likely to satisfy customers</a:t>
            </a:r>
          </a:p>
        </p:txBody>
      </p:sp>
    </p:spTree>
    <p:extLst>
      <p:ext uri="{BB962C8B-B14F-4D97-AF65-F5344CB8AC3E}">
        <p14:creationId xmlns:p14="http://schemas.microsoft.com/office/powerpoint/2010/main" val="2621816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D5C5D-12F9-98E3-1AF1-20904BC47A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B4B16B-D7B9-BD51-8CDC-6FDF9D7D335A}"/>
              </a:ext>
            </a:extLst>
          </p:cNvPr>
          <p:cNvSpPr>
            <a:spLocks noGrp="1"/>
          </p:cNvSpPr>
          <p:nvPr>
            <p:ph type="title"/>
          </p:nvPr>
        </p:nvSpPr>
        <p:spPr>
          <a:solidFill>
            <a:schemeClr val="tx1"/>
          </a:solidFill>
        </p:spPr>
        <p:txBody>
          <a:bodyPr>
            <a:normAutofit/>
          </a:bodyPr>
          <a:lstStyle/>
          <a:p>
            <a:r>
              <a:rPr lang="en-US" dirty="0">
                <a:solidFill>
                  <a:srgbClr val="FFFF00"/>
                </a:solidFill>
                <a:latin typeface="Times New Roman Regular" panose="02020603050405020304" charset="0"/>
                <a:cs typeface="Times New Roman Regular" panose="02020603050405020304" charset="0"/>
              </a:rPr>
              <a:t>2. Requirement Prioritization</a:t>
            </a:r>
          </a:p>
        </p:txBody>
      </p:sp>
      <p:sp>
        <p:nvSpPr>
          <p:cNvPr id="3" name="Content Placeholder 2">
            <a:extLst>
              <a:ext uri="{FF2B5EF4-FFF2-40B4-BE49-F238E27FC236}">
                <a16:creationId xmlns:a16="http://schemas.microsoft.com/office/drawing/2014/main" id="{267194F7-6C4A-A8B9-525F-239E14F85089}"/>
              </a:ext>
            </a:extLst>
          </p:cNvPr>
          <p:cNvSpPr>
            <a:spLocks noGrp="1"/>
          </p:cNvSpPr>
          <p:nvPr>
            <p:ph idx="1"/>
          </p:nvPr>
        </p:nvSpPr>
        <p:spPr>
          <a:xfrm>
            <a:off x="457200" y="1600200"/>
            <a:ext cx="8229600" cy="4534535"/>
          </a:xfrm>
        </p:spPr>
        <p:txBody>
          <a:bodyPr>
            <a:normAutofit fontScale="97500"/>
          </a:bodyPr>
          <a:lstStyle/>
          <a:p>
            <a:pPr marL="114300" indent="0" algn="just">
              <a:buNone/>
            </a:pPr>
            <a:r>
              <a:rPr lang="en-US" sz="2900" b="1" dirty="0">
                <a:latin typeface="Times New Roman" panose="02020603050405020304" pitchFamily="18" charset="0"/>
                <a:cs typeface="Times New Roman" panose="02020603050405020304" pitchFamily="18" charset="0"/>
              </a:rPr>
              <a:t>Kano Model</a:t>
            </a:r>
          </a:p>
        </p:txBody>
      </p:sp>
      <p:grpSp>
        <p:nvGrpSpPr>
          <p:cNvPr id="33" name="Group 32">
            <a:extLst>
              <a:ext uri="{FF2B5EF4-FFF2-40B4-BE49-F238E27FC236}">
                <a16:creationId xmlns:a16="http://schemas.microsoft.com/office/drawing/2014/main" id="{0A281288-F393-F498-61DD-224BAE97A5A2}"/>
              </a:ext>
            </a:extLst>
          </p:cNvPr>
          <p:cNvGrpSpPr/>
          <p:nvPr/>
        </p:nvGrpSpPr>
        <p:grpSpPr>
          <a:xfrm>
            <a:off x="1161288" y="1847088"/>
            <a:ext cx="7525512" cy="4160520"/>
            <a:chOff x="1161288" y="1847088"/>
            <a:chExt cx="7525512" cy="4160520"/>
          </a:xfrm>
        </p:grpSpPr>
        <p:cxnSp>
          <p:nvCxnSpPr>
            <p:cNvPr id="5" name="Straight Arrow Connector 4">
              <a:extLst>
                <a:ext uri="{FF2B5EF4-FFF2-40B4-BE49-F238E27FC236}">
                  <a16:creationId xmlns:a16="http://schemas.microsoft.com/office/drawing/2014/main" id="{CCA07435-D5DC-229F-C07E-09E09AC866F1}"/>
                </a:ext>
              </a:extLst>
            </p:cNvPr>
            <p:cNvCxnSpPr>
              <a:cxnSpLocks/>
            </p:cNvCxnSpPr>
            <p:nvPr/>
          </p:nvCxnSpPr>
          <p:spPr>
            <a:xfrm>
              <a:off x="4709160" y="1847088"/>
              <a:ext cx="0" cy="4160520"/>
            </a:xfrm>
            <a:prstGeom prst="straightConnector1">
              <a:avLst/>
            </a:prstGeom>
            <a:ln w="57150">
              <a:headEnd type="triangle"/>
              <a:tailEnd type="triangle"/>
            </a:ln>
          </p:spPr>
          <p:style>
            <a:lnRef idx="2">
              <a:schemeClr val="dk1"/>
            </a:lnRef>
            <a:fillRef idx="0">
              <a:schemeClr val="dk1"/>
            </a:fillRef>
            <a:effectRef idx="1">
              <a:schemeClr val="dk1"/>
            </a:effectRef>
            <a:fontRef idx="minor">
              <a:schemeClr val="tx1"/>
            </a:fontRef>
          </p:style>
        </p:cxnSp>
        <p:cxnSp>
          <p:nvCxnSpPr>
            <p:cNvPr id="9" name="Straight Arrow Connector 8">
              <a:extLst>
                <a:ext uri="{FF2B5EF4-FFF2-40B4-BE49-F238E27FC236}">
                  <a16:creationId xmlns:a16="http://schemas.microsoft.com/office/drawing/2014/main" id="{E3399DA1-0826-FFDE-F51B-8BBFF083B4D9}"/>
                </a:ext>
              </a:extLst>
            </p:cNvPr>
            <p:cNvCxnSpPr/>
            <p:nvPr/>
          </p:nvCxnSpPr>
          <p:spPr>
            <a:xfrm>
              <a:off x="1161288" y="3721608"/>
              <a:ext cx="7525512" cy="0"/>
            </a:xfrm>
            <a:prstGeom prst="straightConnector1">
              <a:avLst/>
            </a:prstGeom>
            <a:ln w="57150">
              <a:headEnd type="triangle"/>
              <a:tailEnd type="triangle"/>
            </a:ln>
          </p:spPr>
          <p:style>
            <a:lnRef idx="2">
              <a:schemeClr val="dk1"/>
            </a:lnRef>
            <a:fillRef idx="0">
              <a:schemeClr val="dk1"/>
            </a:fillRef>
            <a:effectRef idx="1">
              <a:schemeClr val="dk1"/>
            </a:effectRef>
            <a:fontRef idx="minor">
              <a:schemeClr val="tx1"/>
            </a:fontRef>
          </p:style>
        </p:cxnSp>
      </p:grpSp>
      <p:sp>
        <p:nvSpPr>
          <p:cNvPr id="10" name="TextBox 9">
            <a:extLst>
              <a:ext uri="{FF2B5EF4-FFF2-40B4-BE49-F238E27FC236}">
                <a16:creationId xmlns:a16="http://schemas.microsoft.com/office/drawing/2014/main" id="{4C9E81B4-B402-B392-8B15-70198A39DBD3}"/>
              </a:ext>
            </a:extLst>
          </p:cNvPr>
          <p:cNvSpPr txBox="1"/>
          <p:nvPr/>
        </p:nvSpPr>
        <p:spPr>
          <a:xfrm>
            <a:off x="4709160" y="1799741"/>
            <a:ext cx="1362456"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Delighted</a:t>
            </a:r>
          </a:p>
        </p:txBody>
      </p:sp>
      <p:sp>
        <p:nvSpPr>
          <p:cNvPr id="12" name="TextBox 11">
            <a:extLst>
              <a:ext uri="{FF2B5EF4-FFF2-40B4-BE49-F238E27FC236}">
                <a16:creationId xmlns:a16="http://schemas.microsoft.com/office/drawing/2014/main" id="{13ADC26E-01C9-DA30-2A34-B08E149F509F}"/>
              </a:ext>
            </a:extLst>
          </p:cNvPr>
          <p:cNvSpPr txBox="1"/>
          <p:nvPr/>
        </p:nvSpPr>
        <p:spPr>
          <a:xfrm>
            <a:off x="3429000" y="5638276"/>
            <a:ext cx="1362456"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Dissatisfied</a:t>
            </a:r>
          </a:p>
        </p:txBody>
      </p:sp>
      <p:sp>
        <p:nvSpPr>
          <p:cNvPr id="14" name="TextBox 13">
            <a:extLst>
              <a:ext uri="{FF2B5EF4-FFF2-40B4-BE49-F238E27FC236}">
                <a16:creationId xmlns:a16="http://schemas.microsoft.com/office/drawing/2014/main" id="{8038C5BB-4092-D83B-7ADE-59D6954D52C5}"/>
              </a:ext>
            </a:extLst>
          </p:cNvPr>
          <p:cNvSpPr txBox="1"/>
          <p:nvPr/>
        </p:nvSpPr>
        <p:spPr>
          <a:xfrm>
            <a:off x="603504" y="3742682"/>
            <a:ext cx="1807464"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Not Implemented</a:t>
            </a:r>
          </a:p>
        </p:txBody>
      </p:sp>
      <p:sp>
        <p:nvSpPr>
          <p:cNvPr id="16" name="TextBox 15">
            <a:extLst>
              <a:ext uri="{FF2B5EF4-FFF2-40B4-BE49-F238E27FC236}">
                <a16:creationId xmlns:a16="http://schemas.microsoft.com/office/drawing/2014/main" id="{D575887F-F5D6-BA6F-46DD-9715823695D7}"/>
              </a:ext>
            </a:extLst>
          </p:cNvPr>
          <p:cNvSpPr txBox="1"/>
          <p:nvPr/>
        </p:nvSpPr>
        <p:spPr>
          <a:xfrm>
            <a:off x="6882383" y="3742682"/>
            <a:ext cx="1969005"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Fully Implemented</a:t>
            </a:r>
          </a:p>
        </p:txBody>
      </p:sp>
      <p:grpSp>
        <p:nvGrpSpPr>
          <p:cNvPr id="36" name="Group 35">
            <a:extLst>
              <a:ext uri="{FF2B5EF4-FFF2-40B4-BE49-F238E27FC236}">
                <a16:creationId xmlns:a16="http://schemas.microsoft.com/office/drawing/2014/main" id="{D4B2BC2C-EA8B-519B-6A3D-7C09ED88881E}"/>
              </a:ext>
            </a:extLst>
          </p:cNvPr>
          <p:cNvGrpSpPr/>
          <p:nvPr/>
        </p:nvGrpSpPr>
        <p:grpSpPr>
          <a:xfrm>
            <a:off x="2720340" y="1752600"/>
            <a:ext cx="4732012" cy="1852172"/>
            <a:chOff x="2720340" y="1752600"/>
            <a:chExt cx="4732012" cy="1852172"/>
          </a:xfrm>
        </p:grpSpPr>
        <p:sp>
          <p:nvSpPr>
            <p:cNvPr id="27" name="Freeform: Shape 26">
              <a:extLst>
                <a:ext uri="{FF2B5EF4-FFF2-40B4-BE49-F238E27FC236}">
                  <a16:creationId xmlns:a16="http://schemas.microsoft.com/office/drawing/2014/main" id="{66A8AF77-E92B-7970-70D2-2CFFBF55058A}"/>
                </a:ext>
              </a:extLst>
            </p:cNvPr>
            <p:cNvSpPr/>
            <p:nvPr/>
          </p:nvSpPr>
          <p:spPr>
            <a:xfrm>
              <a:off x="2720340" y="1752600"/>
              <a:ext cx="3512820" cy="1852172"/>
            </a:xfrm>
            <a:custGeom>
              <a:avLst/>
              <a:gdLst>
                <a:gd name="csX0" fmla="*/ 0 w 3512820"/>
                <a:gd name="csY0" fmla="*/ 1783080 h 1852172"/>
                <a:gd name="csX1" fmla="*/ 2004060 w 3512820"/>
                <a:gd name="csY1" fmla="*/ 1767840 h 1852172"/>
                <a:gd name="csX2" fmla="*/ 3169920 w 3512820"/>
                <a:gd name="csY2" fmla="*/ 944880 h 1852172"/>
                <a:gd name="csX3" fmla="*/ 3512820 w 3512820"/>
                <a:gd name="csY3" fmla="*/ 0 h 1852172"/>
              </a:gdLst>
              <a:ahLst/>
              <a:cxnLst>
                <a:cxn ang="0">
                  <a:pos x="csX0" y="csY0"/>
                </a:cxn>
                <a:cxn ang="0">
                  <a:pos x="csX1" y="csY1"/>
                </a:cxn>
                <a:cxn ang="0">
                  <a:pos x="csX2" y="csY2"/>
                </a:cxn>
                <a:cxn ang="0">
                  <a:pos x="csX3" y="csY3"/>
                </a:cxn>
              </a:cxnLst>
              <a:rect l="l" t="t" r="r" b="b"/>
              <a:pathLst>
                <a:path w="3512820" h="1852172">
                  <a:moveTo>
                    <a:pt x="0" y="1783080"/>
                  </a:moveTo>
                  <a:cubicBezTo>
                    <a:pt x="737870" y="1845310"/>
                    <a:pt x="1475740" y="1907540"/>
                    <a:pt x="2004060" y="1767840"/>
                  </a:cubicBezTo>
                  <a:cubicBezTo>
                    <a:pt x="2532380" y="1628140"/>
                    <a:pt x="2918460" y="1239520"/>
                    <a:pt x="3169920" y="944880"/>
                  </a:cubicBezTo>
                  <a:cubicBezTo>
                    <a:pt x="3421380" y="650240"/>
                    <a:pt x="3467100" y="325120"/>
                    <a:pt x="3512820" y="0"/>
                  </a:cubicBezTo>
                </a:path>
              </a:pathLst>
            </a:custGeom>
            <a:ln w="38100"/>
            <a:effectLst/>
          </p:spPr>
          <p:style>
            <a:lnRef idx="2">
              <a:schemeClr val="accent3"/>
            </a:lnRef>
            <a:fillRef idx="0">
              <a:schemeClr val="accent3"/>
            </a:fillRef>
            <a:effectRef idx="1">
              <a:schemeClr val="accent3"/>
            </a:effectRef>
            <a:fontRef idx="minor">
              <a:schemeClr val="tx1"/>
            </a:fontRef>
          </p:style>
          <p:txBody>
            <a:bodyPr rtlCol="0" anchor="ctr"/>
            <a:lstStyle/>
            <a:p>
              <a:pPr algn="ctr"/>
              <a:endParaRPr lang="en-US"/>
            </a:p>
          </p:txBody>
        </p:sp>
        <p:sp>
          <p:nvSpPr>
            <p:cNvPr id="28" name="TextBox 27">
              <a:extLst>
                <a:ext uri="{FF2B5EF4-FFF2-40B4-BE49-F238E27FC236}">
                  <a16:creationId xmlns:a16="http://schemas.microsoft.com/office/drawing/2014/main" id="{031930AB-DC79-DC6F-55E3-20A535DA834A}"/>
                </a:ext>
              </a:extLst>
            </p:cNvPr>
            <p:cNvSpPr txBox="1"/>
            <p:nvPr/>
          </p:nvSpPr>
          <p:spPr>
            <a:xfrm>
              <a:off x="6156959" y="1752600"/>
              <a:ext cx="1295393" cy="369332"/>
            </a:xfrm>
            <a:prstGeom prst="rect">
              <a:avLst/>
            </a:prstGeom>
            <a:noFill/>
          </p:spPr>
          <p:txBody>
            <a:bodyPr wrap="square" rtlCol="0">
              <a:spAutoFit/>
            </a:bodyPr>
            <a:lstStyle/>
            <a:p>
              <a:r>
                <a:rPr lang="en-US" b="1" dirty="0">
                  <a:solidFill>
                    <a:schemeClr val="accent3">
                      <a:lumMod val="75000"/>
                    </a:schemeClr>
                  </a:solidFill>
                  <a:latin typeface="Times New Roman" panose="02020603050405020304" pitchFamily="18" charset="0"/>
                  <a:cs typeface="Times New Roman" panose="02020603050405020304" pitchFamily="18" charset="0"/>
                </a:rPr>
                <a:t>Excitement</a:t>
              </a:r>
            </a:p>
          </p:txBody>
        </p:sp>
      </p:grpSp>
      <p:grpSp>
        <p:nvGrpSpPr>
          <p:cNvPr id="35" name="Group 34">
            <a:extLst>
              <a:ext uri="{FF2B5EF4-FFF2-40B4-BE49-F238E27FC236}">
                <a16:creationId xmlns:a16="http://schemas.microsoft.com/office/drawing/2014/main" id="{CB9D9059-A844-BA07-AA64-444061872EF6}"/>
              </a:ext>
            </a:extLst>
          </p:cNvPr>
          <p:cNvGrpSpPr/>
          <p:nvPr/>
        </p:nvGrpSpPr>
        <p:grpSpPr>
          <a:xfrm>
            <a:off x="1874521" y="2351635"/>
            <a:ext cx="5661409" cy="3090672"/>
            <a:chOff x="1874521" y="2351635"/>
            <a:chExt cx="5661409" cy="3090672"/>
          </a:xfrm>
        </p:grpSpPr>
        <p:sp>
          <p:nvSpPr>
            <p:cNvPr id="21" name="Freeform: Shape 20">
              <a:extLst>
                <a:ext uri="{FF2B5EF4-FFF2-40B4-BE49-F238E27FC236}">
                  <a16:creationId xmlns:a16="http://schemas.microsoft.com/office/drawing/2014/main" id="{46FEABA8-A159-7EE9-610F-068BB1D942F6}"/>
                </a:ext>
              </a:extLst>
            </p:cNvPr>
            <p:cNvSpPr/>
            <p:nvPr/>
          </p:nvSpPr>
          <p:spPr>
            <a:xfrm>
              <a:off x="1874521" y="2351635"/>
              <a:ext cx="5120640" cy="3090672"/>
            </a:xfrm>
            <a:custGeom>
              <a:avLst/>
              <a:gdLst>
                <a:gd name="csX0" fmla="*/ 0 w 5120640"/>
                <a:gd name="csY0" fmla="*/ 3090672 h 3090672"/>
                <a:gd name="csX1" fmla="*/ 5120640 w 5120640"/>
                <a:gd name="csY1" fmla="*/ 0 h 3090672"/>
                <a:gd name="csX2" fmla="*/ 5120640 w 5120640"/>
                <a:gd name="csY2" fmla="*/ 0 h 3090672"/>
              </a:gdLst>
              <a:ahLst/>
              <a:cxnLst>
                <a:cxn ang="0">
                  <a:pos x="csX0" y="csY0"/>
                </a:cxn>
                <a:cxn ang="0">
                  <a:pos x="csX1" y="csY1"/>
                </a:cxn>
                <a:cxn ang="0">
                  <a:pos x="csX2" y="csY2"/>
                </a:cxn>
              </a:cxnLst>
              <a:rect l="l" t="t" r="r" b="b"/>
              <a:pathLst>
                <a:path w="5120640" h="3090672">
                  <a:moveTo>
                    <a:pt x="0" y="3090672"/>
                  </a:moveTo>
                  <a:lnTo>
                    <a:pt x="5120640" y="0"/>
                  </a:lnTo>
                  <a:lnTo>
                    <a:pt x="5120640" y="0"/>
                  </a:lnTo>
                </a:path>
              </a:pathLst>
            </a:custGeom>
            <a:noFill/>
            <a:ln w="381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64A0991C-769D-4C3B-3F36-9DF178138A7C}"/>
                </a:ext>
              </a:extLst>
            </p:cNvPr>
            <p:cNvSpPr txBox="1"/>
            <p:nvPr/>
          </p:nvSpPr>
          <p:spPr>
            <a:xfrm rot="19751613">
              <a:off x="6062222" y="2521412"/>
              <a:ext cx="1473708" cy="369332"/>
            </a:xfrm>
            <a:prstGeom prst="rect">
              <a:avLst/>
            </a:prstGeom>
            <a:noFill/>
          </p:spPr>
          <p:txBody>
            <a:bodyPr wrap="square" rtlCol="0">
              <a:spAutoFit/>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Performance</a:t>
              </a:r>
            </a:p>
          </p:txBody>
        </p:sp>
      </p:grpSp>
      <p:grpSp>
        <p:nvGrpSpPr>
          <p:cNvPr id="34" name="Group 33">
            <a:extLst>
              <a:ext uri="{FF2B5EF4-FFF2-40B4-BE49-F238E27FC236}">
                <a16:creationId xmlns:a16="http://schemas.microsoft.com/office/drawing/2014/main" id="{C9E9C710-A3BB-599E-2944-2071F2AD2659}"/>
              </a:ext>
            </a:extLst>
          </p:cNvPr>
          <p:cNvGrpSpPr/>
          <p:nvPr/>
        </p:nvGrpSpPr>
        <p:grpSpPr>
          <a:xfrm>
            <a:off x="2685286" y="3834475"/>
            <a:ext cx="4197097" cy="1553818"/>
            <a:chOff x="2685286" y="3834475"/>
            <a:chExt cx="4197097" cy="1553818"/>
          </a:xfrm>
        </p:grpSpPr>
        <p:sp>
          <p:nvSpPr>
            <p:cNvPr id="23" name="Freeform: Shape 22">
              <a:extLst>
                <a:ext uri="{FF2B5EF4-FFF2-40B4-BE49-F238E27FC236}">
                  <a16:creationId xmlns:a16="http://schemas.microsoft.com/office/drawing/2014/main" id="{14063876-DE5B-CEA1-1A85-DDC58326087D}"/>
                </a:ext>
              </a:extLst>
            </p:cNvPr>
            <p:cNvSpPr/>
            <p:nvPr/>
          </p:nvSpPr>
          <p:spPr>
            <a:xfrm>
              <a:off x="2685286" y="3874335"/>
              <a:ext cx="4047747" cy="1513958"/>
            </a:xfrm>
            <a:custGeom>
              <a:avLst/>
              <a:gdLst>
                <a:gd name="csX0" fmla="*/ 0 w 4215384"/>
                <a:gd name="csY0" fmla="*/ 1427285 h 1427285"/>
                <a:gd name="csX1" fmla="*/ 1481328 w 4215384"/>
                <a:gd name="csY1" fmla="*/ 412301 h 1427285"/>
                <a:gd name="csX2" fmla="*/ 2295144 w 4215384"/>
                <a:gd name="csY2" fmla="*/ 64829 h 1427285"/>
                <a:gd name="csX3" fmla="*/ 4215384 w 4215384"/>
                <a:gd name="csY3" fmla="*/ 821 h 1427285"/>
              </a:gdLst>
              <a:ahLst/>
              <a:cxnLst>
                <a:cxn ang="0">
                  <a:pos x="csX0" y="csY0"/>
                </a:cxn>
                <a:cxn ang="0">
                  <a:pos x="csX1" y="csY1"/>
                </a:cxn>
                <a:cxn ang="0">
                  <a:pos x="csX2" y="csY2"/>
                </a:cxn>
                <a:cxn ang="0">
                  <a:pos x="csX3" y="csY3"/>
                </a:cxn>
              </a:cxnLst>
              <a:rect l="l" t="t" r="r" b="b"/>
              <a:pathLst>
                <a:path w="4215384" h="1427285">
                  <a:moveTo>
                    <a:pt x="0" y="1427285"/>
                  </a:moveTo>
                  <a:cubicBezTo>
                    <a:pt x="549402" y="1033331"/>
                    <a:pt x="1098804" y="639377"/>
                    <a:pt x="1481328" y="412301"/>
                  </a:cubicBezTo>
                  <a:cubicBezTo>
                    <a:pt x="1863852" y="185225"/>
                    <a:pt x="1839468" y="133409"/>
                    <a:pt x="2295144" y="64829"/>
                  </a:cubicBezTo>
                  <a:cubicBezTo>
                    <a:pt x="2750820" y="-3751"/>
                    <a:pt x="3483102" y="-1465"/>
                    <a:pt x="4215384" y="821"/>
                  </a:cubicBezTo>
                </a:path>
              </a:pathLst>
            </a:custGeom>
            <a:ln w="38100"/>
            <a:effectLst/>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sp>
          <p:nvSpPr>
            <p:cNvPr id="32" name="TextBox 31">
              <a:extLst>
                <a:ext uri="{FF2B5EF4-FFF2-40B4-BE49-F238E27FC236}">
                  <a16:creationId xmlns:a16="http://schemas.microsoft.com/office/drawing/2014/main" id="{A2DE1D5C-3E9D-0138-6547-77DFA0199354}"/>
                </a:ext>
              </a:extLst>
            </p:cNvPr>
            <p:cNvSpPr txBox="1"/>
            <p:nvPr/>
          </p:nvSpPr>
          <p:spPr>
            <a:xfrm>
              <a:off x="6103630" y="3834475"/>
              <a:ext cx="778753" cy="369332"/>
            </a:xfrm>
            <a:prstGeom prst="rect">
              <a:avLst/>
            </a:prstGeom>
            <a:noFill/>
          </p:spPr>
          <p:txBody>
            <a:bodyPr wrap="square" rtlCol="0">
              <a:spAutoFit/>
            </a:bodyPr>
            <a:lstStyle/>
            <a:p>
              <a:r>
                <a:rPr lang="en-US" b="1" dirty="0">
                  <a:solidFill>
                    <a:schemeClr val="accent2">
                      <a:lumMod val="75000"/>
                    </a:schemeClr>
                  </a:solidFill>
                  <a:latin typeface="Times New Roman" panose="02020603050405020304" pitchFamily="18" charset="0"/>
                  <a:cs typeface="Times New Roman" panose="02020603050405020304" pitchFamily="18" charset="0"/>
                </a:rPr>
                <a:t>Basic</a:t>
              </a:r>
            </a:p>
          </p:txBody>
        </p:sp>
      </p:grpSp>
    </p:spTree>
    <p:extLst>
      <p:ext uri="{BB962C8B-B14F-4D97-AF65-F5344CB8AC3E}">
        <p14:creationId xmlns:p14="http://schemas.microsoft.com/office/powerpoint/2010/main" val="2996561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4"/>
                                        </p:tgtEl>
                                        <p:attrNameLst>
                                          <p:attrName>style.visibility</p:attrName>
                                        </p:attrNameLst>
                                      </p:cBhvr>
                                      <p:to>
                                        <p:strVal val="visible"/>
                                      </p:to>
                                    </p:set>
                                    <p:animEffect transition="in" filter="fade">
                                      <p:cBhvr>
                                        <p:cTn id="32" dur="500"/>
                                        <p:tgtEl>
                                          <p:spTgt spid="3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5"/>
                                        </p:tgtEl>
                                        <p:attrNameLst>
                                          <p:attrName>style.visibility</p:attrName>
                                        </p:attrNameLst>
                                      </p:cBhvr>
                                      <p:to>
                                        <p:strVal val="visible"/>
                                      </p:to>
                                    </p:set>
                                    <p:animEffect transition="in" filter="fade">
                                      <p:cBhvr>
                                        <p:cTn id="37" dur="500"/>
                                        <p:tgtEl>
                                          <p:spTgt spid="35"/>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6"/>
                                        </p:tgtEl>
                                        <p:attrNameLst>
                                          <p:attrName>style.visibility</p:attrName>
                                        </p:attrNameLst>
                                      </p:cBhvr>
                                      <p:to>
                                        <p:strVal val="visible"/>
                                      </p:to>
                                    </p:set>
                                    <p:animEffect transition="in" filter="fade">
                                      <p:cBhvr>
                                        <p:cTn id="42"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P spid="14" grpId="0"/>
      <p:bldP spid="16"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1"/>
          </a:solidFill>
        </p:spPr>
        <p:txBody>
          <a:bodyPr>
            <a:normAutofit/>
          </a:bodyPr>
          <a:lstStyle/>
          <a:p>
            <a:r>
              <a:rPr lang="en-US" dirty="0">
                <a:solidFill>
                  <a:srgbClr val="FFFF00"/>
                </a:solidFill>
                <a:latin typeface="Times New Roman Regular" panose="02020603050405020304" charset="0"/>
                <a:cs typeface="Times New Roman Regular" panose="02020603050405020304" charset="0"/>
              </a:rPr>
              <a:t>2. Requirement Prioritization</a:t>
            </a:r>
          </a:p>
        </p:txBody>
      </p:sp>
      <p:sp>
        <p:nvSpPr>
          <p:cNvPr id="3" name="Content Placeholder 2"/>
          <p:cNvSpPr>
            <a:spLocks noGrp="1"/>
          </p:cNvSpPr>
          <p:nvPr>
            <p:ph idx="1"/>
          </p:nvPr>
        </p:nvSpPr>
        <p:spPr>
          <a:xfrm>
            <a:off x="457200" y="1600200"/>
            <a:ext cx="8229600" cy="4534535"/>
          </a:xfrm>
        </p:spPr>
        <p:txBody>
          <a:bodyPr>
            <a:normAutofit/>
          </a:bodyPr>
          <a:lstStyle/>
          <a:p>
            <a:pPr marL="0" indent="0" algn="just">
              <a:buNone/>
            </a:pPr>
            <a:r>
              <a:rPr lang="en-US" sz="2800" b="1" dirty="0">
                <a:latin typeface="Times New Roman" panose="02020603050405020304" pitchFamily="18" charset="0"/>
                <a:cs typeface="Times New Roman" panose="02020603050405020304" pitchFamily="18" charset="0"/>
              </a:rPr>
              <a:t>Categories of Features in Kano Model</a:t>
            </a:r>
          </a:p>
          <a:p>
            <a:pPr algn="just"/>
            <a:r>
              <a:rPr sz="2800" b="1" dirty="0">
                <a:latin typeface="Times New Roman" panose="02020603050405020304" pitchFamily="18" charset="0"/>
                <a:cs typeface="Times New Roman" panose="02020603050405020304" pitchFamily="18" charset="0"/>
              </a:rPr>
              <a:t>Basic Needs: </a:t>
            </a:r>
            <a:r>
              <a:rPr sz="2800" dirty="0">
                <a:latin typeface="Times New Roman" panose="02020603050405020304" pitchFamily="18" charset="0"/>
                <a:cs typeface="Times New Roman" panose="02020603050405020304" pitchFamily="18" charset="0"/>
              </a:rPr>
              <a:t>Expected and assumed features. If missing, users are dissatisfied.</a:t>
            </a:r>
            <a:r>
              <a:rPr lang="en-US" sz="2800" dirty="0">
                <a:latin typeface="Times New Roman" panose="02020603050405020304" pitchFamily="18" charset="0"/>
                <a:cs typeface="Times New Roman" panose="02020603050405020304" pitchFamily="18" charset="0"/>
              </a:rPr>
              <a:t> Usually taken for granted by users.</a:t>
            </a:r>
            <a:endParaRPr sz="2800" dirty="0">
              <a:latin typeface="Times New Roman" panose="02020603050405020304" pitchFamily="18" charset="0"/>
              <a:cs typeface="Times New Roman" panose="02020603050405020304" pitchFamily="18" charset="0"/>
            </a:endParaRPr>
          </a:p>
          <a:p>
            <a:pPr algn="just"/>
            <a:r>
              <a:rPr sz="2800" b="1" dirty="0">
                <a:latin typeface="Times New Roman" panose="02020603050405020304" pitchFamily="18" charset="0"/>
                <a:cs typeface="Times New Roman" panose="02020603050405020304" pitchFamily="18" charset="0"/>
              </a:rPr>
              <a:t>Performance Needs: </a:t>
            </a:r>
            <a:r>
              <a:rPr sz="2800" dirty="0">
                <a:latin typeface="Times New Roman" panose="02020603050405020304" pitchFamily="18" charset="0"/>
                <a:cs typeface="Times New Roman" panose="02020603050405020304" pitchFamily="18" charset="0"/>
              </a:rPr>
              <a:t>Directly linked to satisfaction. The more you provide, the happier the user.</a:t>
            </a:r>
          </a:p>
          <a:p>
            <a:pPr algn="just"/>
            <a:r>
              <a:rPr sz="2800" b="1" dirty="0">
                <a:latin typeface="Times New Roman" panose="02020603050405020304" pitchFamily="18" charset="0"/>
                <a:cs typeface="Times New Roman" panose="02020603050405020304" pitchFamily="18" charset="0"/>
              </a:rPr>
              <a:t>Excitement Needs:</a:t>
            </a:r>
            <a:r>
              <a:rPr sz="2800" dirty="0">
                <a:latin typeface="Times New Roman" panose="02020603050405020304" pitchFamily="18" charset="0"/>
                <a:cs typeface="Times New Roman" panose="02020603050405020304" pitchFamily="18" charset="0"/>
              </a:rPr>
              <a:t> Unexpected features that delight users and exceed expectations.</a:t>
            </a:r>
            <a:r>
              <a:rPr lang="en-US" sz="2800" dirty="0">
                <a:latin typeface="Times New Roman" panose="02020603050405020304" pitchFamily="18" charset="0"/>
                <a:cs typeface="Times New Roman" panose="02020603050405020304" pitchFamily="18" charset="0"/>
              </a:rPr>
              <a:t> These are innovative features that your competition does not have.</a:t>
            </a:r>
            <a:endParaRPr sz="28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1"/>
          </a:solidFill>
        </p:spPr>
        <p:txBody>
          <a:bodyPr>
            <a:normAutofit fontScale="90000"/>
          </a:bodyPr>
          <a:lstStyle/>
          <a:p>
            <a:r>
              <a:rPr lang="en-US" dirty="0">
                <a:solidFill>
                  <a:srgbClr val="FFFF00"/>
                </a:solidFill>
                <a:latin typeface="Times New Roman Regular" panose="02020603050405020304" charset="0"/>
                <a:cs typeface="Times New Roman Regular" panose="02020603050405020304" charset="0"/>
              </a:rPr>
              <a:t>Conflict Resolution in Requirements</a:t>
            </a:r>
          </a:p>
        </p:txBody>
      </p:sp>
      <p:sp>
        <p:nvSpPr>
          <p:cNvPr id="3" name="Content Placeholder 2"/>
          <p:cNvSpPr>
            <a:spLocks noGrp="1"/>
          </p:cNvSpPr>
          <p:nvPr>
            <p:ph idx="1"/>
          </p:nvPr>
        </p:nvSpPr>
        <p:spPr>
          <a:xfrm>
            <a:off x="457200" y="1600200"/>
            <a:ext cx="8229600" cy="4534535"/>
          </a:xfrm>
        </p:spPr>
        <p:txBody>
          <a:bodyPr>
            <a:normAutofit/>
          </a:bodyPr>
          <a:lstStyle/>
          <a:p>
            <a:pPr lvl="0" algn="just"/>
            <a:r>
              <a:rPr sz="2800" b="1" dirty="0">
                <a:latin typeface="Times New Roman" panose="02020603050405020304" pitchFamily="18" charset="0"/>
                <a:cs typeface="Times New Roman" panose="02020603050405020304" pitchFamily="18" charset="0"/>
              </a:rPr>
              <a:t>Definition:</a:t>
            </a:r>
            <a:r>
              <a:rPr sz="2800" dirty="0">
                <a:latin typeface="Times New Roman" panose="02020603050405020304" pitchFamily="18" charset="0"/>
                <a:cs typeface="Times New Roman" panose="02020603050405020304" pitchFamily="18" charset="0"/>
              </a:rPr>
              <a:t> Conflict resolution is the process of identifying and addressing disagreements between stakeholders regarding system requirements. These conflicts can arise due to differing priorities, perspectives, or expectations.</a:t>
            </a:r>
          </a:p>
          <a:p>
            <a:pPr lvl="0" algn="just"/>
            <a:r>
              <a:rPr sz="2800" b="1" dirty="0">
                <a:latin typeface="Times New Roman" panose="02020603050405020304" pitchFamily="18" charset="0"/>
                <a:cs typeface="Times New Roman" panose="02020603050405020304" pitchFamily="18" charset="0"/>
              </a:rPr>
              <a:t>Conflict Resolution Techniques:</a:t>
            </a:r>
          </a:p>
          <a:p>
            <a:pPr lvl="1" algn="just">
              <a:buFont typeface="Wingdings" panose="05000000000000000000" charset="0"/>
              <a:buChar char=""/>
            </a:pPr>
            <a:r>
              <a:rPr b="1" dirty="0">
                <a:latin typeface="Times New Roman" panose="02020603050405020304" pitchFamily="18" charset="0"/>
                <a:cs typeface="Times New Roman" panose="02020603050405020304" pitchFamily="18" charset="0"/>
              </a:rPr>
              <a:t>Negotiation:</a:t>
            </a:r>
            <a:r>
              <a:rPr dirty="0">
                <a:latin typeface="Times New Roman" panose="02020603050405020304" pitchFamily="18" charset="0"/>
                <a:cs typeface="Times New Roman" panose="02020603050405020304" pitchFamily="18" charset="0"/>
              </a:rPr>
              <a:t> Engaging stakeholders in discussions to reach a mutually acceptable compromise. It involves active listening, understanding the underlying interests, and finding a middle ground.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1"/>
          </a:solidFill>
        </p:spPr>
        <p:txBody>
          <a:bodyPr>
            <a:normAutofit fontScale="90000"/>
          </a:bodyPr>
          <a:lstStyle/>
          <a:p>
            <a:r>
              <a:rPr lang="en-US">
                <a:solidFill>
                  <a:srgbClr val="FFFF00"/>
                </a:solidFill>
                <a:latin typeface="Times New Roman Regular" panose="02020603050405020304" charset="0"/>
                <a:cs typeface="Times New Roman Regular" panose="02020603050405020304" charset="0"/>
              </a:rPr>
              <a:t>3. Conflict Resolution in Requirements</a:t>
            </a:r>
          </a:p>
        </p:txBody>
      </p:sp>
      <p:sp>
        <p:nvSpPr>
          <p:cNvPr id="3" name="Content Placeholder 2"/>
          <p:cNvSpPr>
            <a:spLocks noGrp="1"/>
          </p:cNvSpPr>
          <p:nvPr>
            <p:ph idx="1"/>
          </p:nvPr>
        </p:nvSpPr>
        <p:spPr>
          <a:xfrm>
            <a:off x="457200" y="1600200"/>
            <a:ext cx="8229600" cy="4534535"/>
          </a:xfrm>
        </p:spPr>
        <p:txBody>
          <a:bodyPr>
            <a:normAutofit/>
          </a:bodyPr>
          <a:lstStyle/>
          <a:p>
            <a:pPr lvl="1" algn="just">
              <a:buFont typeface="Wingdings" panose="05000000000000000000" charset="0"/>
              <a:buChar char=""/>
            </a:pPr>
            <a:r>
              <a:rPr b="1" dirty="0">
                <a:latin typeface="Times New Roman" panose="02020603050405020304" pitchFamily="18" charset="0"/>
                <a:cs typeface="Times New Roman" panose="02020603050405020304" pitchFamily="18" charset="0"/>
              </a:rPr>
              <a:t>Facilitation:</a:t>
            </a:r>
            <a:r>
              <a:rPr dirty="0">
                <a:latin typeface="Times New Roman" panose="02020603050405020304" pitchFamily="18" charset="0"/>
                <a:cs typeface="Times New Roman" panose="02020603050405020304" pitchFamily="18" charset="0"/>
              </a:rPr>
              <a:t> Using a neutral facilitator to guide discussions and help stakeholders articulate their needs and concerns. This technique helps prevent domination by a single party and ensures all voices are heard.</a:t>
            </a:r>
          </a:p>
          <a:p>
            <a:pPr lvl="1" algn="just">
              <a:buFont typeface="Wingdings" panose="05000000000000000000" charset="0"/>
              <a:buChar char=""/>
            </a:pPr>
            <a:r>
              <a:rPr b="1" dirty="0">
                <a:latin typeface="Times New Roman" panose="02020603050405020304" pitchFamily="18" charset="0"/>
                <a:cs typeface="Times New Roman" panose="02020603050405020304" pitchFamily="18" charset="0"/>
              </a:rPr>
              <a:t>Consensus Building:</a:t>
            </a:r>
            <a:r>
              <a:rPr dirty="0">
                <a:latin typeface="Times New Roman" panose="02020603050405020304" pitchFamily="18" charset="0"/>
                <a:cs typeface="Times New Roman" panose="02020603050405020304" pitchFamily="18" charset="0"/>
              </a:rPr>
              <a:t> Bringing stakeholders together to find common ground and agree on shared goals. This often involves iterative discussions and may require revisiting and modifying requirements.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1"/>
          </a:solidFill>
        </p:spPr>
        <p:txBody>
          <a:bodyPr>
            <a:normAutofit/>
          </a:bodyPr>
          <a:lstStyle/>
          <a:p>
            <a:r>
              <a:rPr lang="en-US">
                <a:solidFill>
                  <a:srgbClr val="FFFF00"/>
                </a:solidFill>
                <a:latin typeface="Times New Roman Regular" panose="02020603050405020304" charset="0"/>
                <a:cs typeface="Times New Roman Regular" panose="02020603050405020304" charset="0"/>
              </a:rPr>
              <a:t>4. Requirement Modeling</a:t>
            </a:r>
          </a:p>
        </p:txBody>
      </p:sp>
      <p:sp>
        <p:nvSpPr>
          <p:cNvPr id="3" name="Content Placeholder 2"/>
          <p:cNvSpPr>
            <a:spLocks noGrp="1"/>
          </p:cNvSpPr>
          <p:nvPr>
            <p:ph idx="1"/>
          </p:nvPr>
        </p:nvSpPr>
        <p:spPr>
          <a:xfrm>
            <a:off x="457200" y="1600200"/>
            <a:ext cx="8229600" cy="4914900"/>
          </a:xfrm>
        </p:spPr>
        <p:txBody>
          <a:bodyPr>
            <a:noAutofit/>
          </a:bodyPr>
          <a:lstStyle/>
          <a:p>
            <a:pPr lvl="0" algn="just"/>
            <a:r>
              <a:rPr sz="2800" b="1" dirty="0">
                <a:latin typeface="Times New Roman" panose="02020603050405020304" pitchFamily="18" charset="0"/>
                <a:cs typeface="Times New Roman" panose="02020603050405020304" pitchFamily="18" charset="0"/>
              </a:rPr>
              <a:t>Definition:</a:t>
            </a:r>
            <a:r>
              <a:rPr sz="2800" dirty="0">
                <a:latin typeface="Times New Roman" panose="02020603050405020304" pitchFamily="18" charset="0"/>
                <a:cs typeface="Times New Roman" panose="02020603050405020304" pitchFamily="18" charset="0"/>
              </a:rPr>
              <a:t> Requirement modeling uses visual representations to communicate and refine requirements. It simplifies complex requirements and helps in identifying inconsistencies, redundancies, and gaps.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1"/>
          </a:solidFill>
        </p:spPr>
        <p:txBody>
          <a:bodyPr>
            <a:normAutofit/>
          </a:bodyPr>
          <a:lstStyle/>
          <a:p>
            <a:r>
              <a:rPr lang="en-US">
                <a:solidFill>
                  <a:srgbClr val="FFFF00"/>
                </a:solidFill>
                <a:latin typeface="Times New Roman Regular" panose="02020603050405020304" charset="0"/>
                <a:cs typeface="Times New Roman Regular" panose="02020603050405020304" charset="0"/>
              </a:rPr>
              <a:t>4. Requirement Modeling</a:t>
            </a:r>
          </a:p>
        </p:txBody>
      </p:sp>
      <p:sp>
        <p:nvSpPr>
          <p:cNvPr id="3" name="Content Placeholder 2"/>
          <p:cNvSpPr>
            <a:spLocks noGrp="1"/>
          </p:cNvSpPr>
          <p:nvPr>
            <p:ph idx="1"/>
          </p:nvPr>
        </p:nvSpPr>
        <p:spPr>
          <a:xfrm>
            <a:off x="457200" y="1600200"/>
            <a:ext cx="8229600" cy="3931920"/>
          </a:xfrm>
        </p:spPr>
        <p:txBody>
          <a:bodyPr>
            <a:noAutofit/>
          </a:bodyPr>
          <a:lstStyle/>
          <a:p>
            <a:pPr lvl="0" algn="just"/>
            <a:r>
              <a:rPr lang="en-US" sz="2800" b="1" dirty="0">
                <a:latin typeface="Times New Roman" panose="02020603050405020304" pitchFamily="18" charset="0"/>
                <a:cs typeface="Times New Roman" panose="02020603050405020304" pitchFamily="18" charset="0"/>
              </a:rPr>
              <a:t>Modeling Techniques:</a:t>
            </a:r>
          </a:p>
          <a:p>
            <a:pPr lvl="1" algn="just">
              <a:buFont typeface="Wingdings" panose="05000000000000000000" charset="0"/>
              <a:buChar char=""/>
            </a:pPr>
            <a:r>
              <a:rPr lang="en-US" dirty="0">
                <a:latin typeface="Times New Roman" panose="02020603050405020304" pitchFamily="18" charset="0"/>
                <a:cs typeface="Times New Roman" panose="02020603050405020304" pitchFamily="18" charset="0"/>
              </a:rPr>
              <a:t>Data Flow Diagrams (DFD):</a:t>
            </a:r>
          </a:p>
          <a:p>
            <a:pPr lvl="2" algn="just">
              <a:buFont typeface="Wingdings" panose="05000000000000000000" charset="0"/>
              <a:buChar char=""/>
            </a:pPr>
            <a:r>
              <a:rPr sz="2800" dirty="0">
                <a:latin typeface="Times New Roman" panose="02020603050405020304" pitchFamily="18" charset="0"/>
                <a:cs typeface="Times New Roman" panose="02020603050405020304" pitchFamily="18" charset="0"/>
              </a:rPr>
              <a:t>Show how data moves through a system.</a:t>
            </a:r>
          </a:p>
          <a:p>
            <a:pPr lvl="2" algn="just">
              <a:buFont typeface="Wingdings" panose="05000000000000000000" charset="0"/>
              <a:buChar char=""/>
            </a:pPr>
            <a:r>
              <a:rPr sz="2800" dirty="0">
                <a:latin typeface="Times New Roman" panose="02020603050405020304" pitchFamily="18" charset="0"/>
                <a:cs typeface="Times New Roman" panose="02020603050405020304" pitchFamily="18" charset="0"/>
              </a:rPr>
              <a:t>Illustrate the system's processes, data stores, and data flows.</a:t>
            </a:r>
          </a:p>
          <a:p>
            <a:pPr lvl="2" algn="just">
              <a:buFont typeface="Wingdings" panose="05000000000000000000" charset="0"/>
              <a:buChar char=""/>
            </a:pPr>
            <a:r>
              <a:rPr sz="2800" dirty="0">
                <a:latin typeface="Times New Roman" panose="02020603050405020304" pitchFamily="18" charset="0"/>
                <a:cs typeface="Times New Roman" panose="02020603050405020304" pitchFamily="18" charset="0"/>
              </a:rPr>
              <a:t>Useful for understanding and documenting the system’s data handling</a:t>
            </a:r>
            <a:r>
              <a:rPr lang="en-US" sz="2800" dirty="0">
                <a:latin typeface="Times New Roman" panose="02020603050405020304" pitchFamily="18" charset="0"/>
                <a:cs typeface="Times New Roman" panose="02020603050405020304"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B7B8B-6D18-D0E8-9A4C-A09CCDE8E5C2}"/>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ABAB487A-C15B-FDE0-EDA6-457D0516F439}"/>
              </a:ext>
            </a:extLst>
          </p:cNvPr>
          <p:cNvPicPr>
            <a:picLocks noGrp="1" noChangeAspect="1"/>
          </p:cNvPicPr>
          <p:nvPr>
            <p:ph idx="1"/>
          </p:nvPr>
        </p:nvPicPr>
        <p:blipFill>
          <a:blip r:embed="rId2"/>
          <a:stretch>
            <a:fillRect/>
          </a:stretch>
        </p:blipFill>
        <p:spPr>
          <a:xfrm>
            <a:off x="73934" y="110626"/>
            <a:ext cx="8996131" cy="6747657"/>
          </a:xfrm>
          <a:prstGeom prst="rect">
            <a:avLst/>
          </a:prstGeom>
        </p:spPr>
      </p:pic>
    </p:spTree>
    <p:extLst>
      <p:ext uri="{BB962C8B-B14F-4D97-AF65-F5344CB8AC3E}">
        <p14:creationId xmlns:p14="http://schemas.microsoft.com/office/powerpoint/2010/main" val="161475051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0D843-F178-D5F3-02F4-44946C2AE7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76C777-4F81-4332-E4B5-CFFE1A20EF89}"/>
              </a:ext>
            </a:extLst>
          </p:cNvPr>
          <p:cNvSpPr>
            <a:spLocks noGrp="1"/>
          </p:cNvSpPr>
          <p:nvPr>
            <p:ph type="title"/>
          </p:nvPr>
        </p:nvSpPr>
        <p:spPr>
          <a:solidFill>
            <a:schemeClr val="tx1"/>
          </a:solidFill>
        </p:spPr>
        <p:txBody>
          <a:bodyPr>
            <a:normAutofit/>
          </a:bodyPr>
          <a:lstStyle/>
          <a:p>
            <a:r>
              <a:rPr lang="en-US">
                <a:solidFill>
                  <a:srgbClr val="FFFF00"/>
                </a:solidFill>
                <a:latin typeface="Times New Roman Regular" panose="02020603050405020304" charset="0"/>
                <a:cs typeface="Times New Roman Regular" panose="02020603050405020304" charset="0"/>
              </a:rPr>
              <a:t>4. Requirement Modeling</a:t>
            </a:r>
          </a:p>
        </p:txBody>
      </p:sp>
      <p:sp>
        <p:nvSpPr>
          <p:cNvPr id="3" name="Content Placeholder 2">
            <a:extLst>
              <a:ext uri="{FF2B5EF4-FFF2-40B4-BE49-F238E27FC236}">
                <a16:creationId xmlns:a16="http://schemas.microsoft.com/office/drawing/2014/main" id="{44CBA218-CFBE-7498-9949-6ECC200479B3}"/>
              </a:ext>
            </a:extLst>
          </p:cNvPr>
          <p:cNvSpPr>
            <a:spLocks noGrp="1"/>
          </p:cNvSpPr>
          <p:nvPr>
            <p:ph idx="1"/>
          </p:nvPr>
        </p:nvSpPr>
        <p:spPr>
          <a:xfrm>
            <a:off x="457200" y="1600200"/>
            <a:ext cx="8229600" cy="3566160"/>
          </a:xfrm>
        </p:spPr>
        <p:txBody>
          <a:bodyPr>
            <a:noAutofit/>
          </a:bodyPr>
          <a:lstStyle/>
          <a:p>
            <a:pPr lvl="1" algn="just">
              <a:buFont typeface="Wingdings" panose="05000000000000000000" charset="0"/>
              <a:buChar char=""/>
            </a:pPr>
            <a:r>
              <a:rPr dirty="0">
                <a:latin typeface="Times New Roman" panose="02020603050405020304" pitchFamily="18" charset="0"/>
                <a:cs typeface="Times New Roman" panose="02020603050405020304" pitchFamily="18" charset="0"/>
              </a:rPr>
              <a:t>Use Case Diagrams:</a:t>
            </a:r>
          </a:p>
          <a:p>
            <a:pPr lvl="2" algn="just">
              <a:buFont typeface="Wingdings" panose="05000000000000000000" charset="0"/>
              <a:buChar char=""/>
            </a:pPr>
            <a:r>
              <a:rPr sz="2795" dirty="0">
                <a:latin typeface="Times New Roman" panose="02020603050405020304" pitchFamily="18" charset="0"/>
                <a:cs typeface="Times New Roman" panose="02020603050405020304" pitchFamily="18" charset="0"/>
              </a:rPr>
              <a:t>Depict the interactions between users (actors) and the system.</a:t>
            </a:r>
          </a:p>
          <a:p>
            <a:pPr lvl="2" algn="just">
              <a:buFont typeface="Wingdings" panose="05000000000000000000" charset="0"/>
              <a:buChar char=""/>
            </a:pPr>
            <a:r>
              <a:rPr sz="2795" dirty="0">
                <a:latin typeface="Times New Roman" panose="02020603050405020304" pitchFamily="18" charset="0"/>
                <a:cs typeface="Times New Roman" panose="02020603050405020304" pitchFamily="18" charset="0"/>
              </a:rPr>
              <a:t>Help identify all possible ways the system will be used.</a:t>
            </a:r>
            <a:endParaRPr lang="en-US" sz="2795" dirty="0">
              <a:latin typeface="Times New Roman" panose="02020603050405020304" pitchFamily="18" charset="0"/>
              <a:cs typeface="Times New Roman" panose="02020603050405020304" pitchFamily="18" charset="0"/>
            </a:endParaRPr>
          </a:p>
          <a:p>
            <a:pPr lvl="2" algn="just">
              <a:buFont typeface="Wingdings" panose="05000000000000000000" charset="0"/>
              <a:buChar char=""/>
            </a:pPr>
            <a:r>
              <a:rPr lang="en-US" sz="2795" dirty="0">
                <a:latin typeface="Times New Roman" panose="02020603050405020304" pitchFamily="18" charset="0"/>
                <a:cs typeface="Times New Roman" panose="02020603050405020304" pitchFamily="18" charset="0"/>
              </a:rPr>
              <a:t>Provide a high-level overview of the functional requirements.</a:t>
            </a:r>
          </a:p>
        </p:txBody>
      </p:sp>
    </p:spTree>
    <p:extLst>
      <p:ext uri="{BB962C8B-B14F-4D97-AF65-F5344CB8AC3E}">
        <p14:creationId xmlns:p14="http://schemas.microsoft.com/office/powerpoint/2010/main" val="78808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C7D308-E144-D331-871D-9E7EE8F2245D}"/>
            </a:ext>
          </a:extLst>
        </p:cNvPr>
        <p:cNvGrpSpPr/>
        <p:nvPr/>
      </p:nvGrpSpPr>
      <p:grpSpPr>
        <a:xfrm>
          <a:off x="0" y="0"/>
          <a:ext cx="0" cy="0"/>
          <a:chOff x="0" y="0"/>
          <a:chExt cx="0" cy="0"/>
        </a:xfrm>
      </p:grpSpPr>
      <p:pic>
        <p:nvPicPr>
          <p:cNvPr id="9" name="Content Placeholder 8" descr="6116384d Dce9 40a2 A392 40b30f343137.png">
            <a:extLst>
              <a:ext uri="{FF2B5EF4-FFF2-40B4-BE49-F238E27FC236}">
                <a16:creationId xmlns:a16="http://schemas.microsoft.com/office/drawing/2014/main" id="{A2E14053-DD20-8C1E-44CA-D1CE81328B1B}"/>
              </a:ext>
            </a:extLst>
          </p:cNvPr>
          <p:cNvPicPr>
            <a:picLocks noGrp="1" noChangeAspect="1"/>
          </p:cNvPicPr>
          <p:nvPr>
            <p:ph idx="1"/>
          </p:nvPr>
        </p:nvPicPr>
        <p:blipFill>
          <a:blip r:embed="rId2"/>
          <a:stretch>
            <a:fillRect/>
          </a:stretch>
        </p:blipFill>
        <p:spPr>
          <a:xfrm>
            <a:off x="1354238" y="-70296"/>
            <a:ext cx="6551271" cy="6925184"/>
          </a:xfrm>
          <a:prstGeom prst="rect">
            <a:avLst/>
          </a:prstGeom>
        </p:spPr>
      </p:pic>
    </p:spTree>
    <p:extLst>
      <p:ext uri="{BB962C8B-B14F-4D97-AF65-F5344CB8AC3E}">
        <p14:creationId xmlns:p14="http://schemas.microsoft.com/office/powerpoint/2010/main" val="340693210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1"/>
          </a:solidFill>
        </p:spPr>
        <p:txBody>
          <a:bodyPr>
            <a:normAutofit/>
          </a:bodyPr>
          <a:lstStyle/>
          <a:p>
            <a:r>
              <a:rPr lang="en-US">
                <a:solidFill>
                  <a:srgbClr val="FFFF00"/>
                </a:solidFill>
                <a:latin typeface="Times New Roman Regular" panose="02020603050405020304" charset="0"/>
                <a:cs typeface="Times New Roman Regular" panose="02020603050405020304" charset="0"/>
              </a:rPr>
              <a:t>4. Requirement Modeling</a:t>
            </a:r>
          </a:p>
        </p:txBody>
      </p:sp>
      <p:sp>
        <p:nvSpPr>
          <p:cNvPr id="3" name="Content Placeholder 2"/>
          <p:cNvSpPr>
            <a:spLocks noGrp="1"/>
          </p:cNvSpPr>
          <p:nvPr>
            <p:ph idx="1"/>
          </p:nvPr>
        </p:nvSpPr>
        <p:spPr>
          <a:xfrm>
            <a:off x="457200" y="1600200"/>
            <a:ext cx="8229600" cy="5257800"/>
          </a:xfrm>
        </p:spPr>
        <p:txBody>
          <a:bodyPr>
            <a:noAutofit/>
          </a:bodyPr>
          <a:lstStyle/>
          <a:p>
            <a:pPr lvl="1" algn="just">
              <a:buFont typeface="Wingdings" panose="05000000000000000000" charset="0"/>
              <a:buChar char=""/>
            </a:pPr>
            <a:r>
              <a:rPr sz="3260" dirty="0">
                <a:latin typeface="Times New Roman" panose="02020603050405020304" pitchFamily="18" charset="0"/>
                <a:cs typeface="Times New Roman" panose="02020603050405020304" pitchFamily="18" charset="0"/>
              </a:rPr>
              <a:t>Entity-Relationship Diagrams (ERD):</a:t>
            </a:r>
          </a:p>
          <a:p>
            <a:pPr lvl="2" algn="just">
              <a:buFont typeface="Wingdings" panose="05000000000000000000" charset="0"/>
              <a:buChar char=""/>
            </a:pPr>
            <a:r>
              <a:rPr sz="2790" dirty="0">
                <a:latin typeface="Times New Roman" panose="02020603050405020304" pitchFamily="18" charset="0"/>
                <a:cs typeface="Times New Roman" panose="02020603050405020304" pitchFamily="18" charset="0"/>
              </a:rPr>
              <a:t>Represent data entities, their attributes, and relationships.</a:t>
            </a:r>
          </a:p>
          <a:p>
            <a:pPr lvl="2" algn="just">
              <a:buFont typeface="Wingdings" panose="05000000000000000000" charset="0"/>
              <a:buChar char=""/>
            </a:pPr>
            <a:r>
              <a:rPr sz="2790" dirty="0">
                <a:latin typeface="Times New Roman" panose="02020603050405020304" pitchFamily="18" charset="0"/>
                <a:cs typeface="Times New Roman" panose="02020603050405020304" pitchFamily="18" charset="0"/>
              </a:rPr>
              <a:t>Useful for database design and understanding data requirements.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1EE1B-CAA9-F1E2-AADE-707C112EE4BC}"/>
            </a:ext>
          </a:extLst>
        </p:cNvPr>
        <p:cNvGrpSpPr/>
        <p:nvPr/>
      </p:nvGrpSpPr>
      <p:grpSpPr>
        <a:xfrm>
          <a:off x="0" y="0"/>
          <a:ext cx="0" cy="0"/>
          <a:chOff x="0" y="0"/>
          <a:chExt cx="0" cy="0"/>
        </a:xfrm>
      </p:grpSpPr>
      <p:pic>
        <p:nvPicPr>
          <p:cNvPr id="6" name="Content Placeholder 5" descr="Entity-Relationship-Diagrams – Learn by Marketing">
            <a:extLst>
              <a:ext uri="{FF2B5EF4-FFF2-40B4-BE49-F238E27FC236}">
                <a16:creationId xmlns:a16="http://schemas.microsoft.com/office/drawing/2014/main" id="{A8DAA9B0-1B1C-8D9F-6B4B-4542343258CA}"/>
              </a:ext>
            </a:extLst>
          </p:cNvPr>
          <p:cNvPicPr>
            <a:picLocks noGrp="1" noChangeAspect="1"/>
          </p:cNvPicPr>
          <p:nvPr>
            <p:ph idx="1"/>
          </p:nvPr>
        </p:nvPicPr>
        <p:blipFill>
          <a:blip r:embed="rId2"/>
          <a:stretch>
            <a:fillRect/>
          </a:stretch>
        </p:blipFill>
        <p:spPr>
          <a:xfrm>
            <a:off x="1280160" y="231110"/>
            <a:ext cx="6665976" cy="6395780"/>
          </a:xfrm>
          <a:prstGeom prst="rect">
            <a:avLst/>
          </a:prstGeom>
        </p:spPr>
      </p:pic>
    </p:spTree>
    <p:extLst>
      <p:ext uri="{BB962C8B-B14F-4D97-AF65-F5344CB8AC3E}">
        <p14:creationId xmlns:p14="http://schemas.microsoft.com/office/powerpoint/2010/main" val="192169588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1"/>
          </a:solidFill>
        </p:spPr>
        <p:txBody>
          <a:bodyPr>
            <a:normAutofit/>
          </a:bodyPr>
          <a:lstStyle/>
          <a:p>
            <a:r>
              <a:rPr lang="en-US">
                <a:solidFill>
                  <a:srgbClr val="FFFF00"/>
                </a:solidFill>
                <a:latin typeface="Times New Roman Regular" panose="02020603050405020304" charset="0"/>
                <a:cs typeface="Times New Roman Regular" panose="02020603050405020304" charset="0"/>
              </a:rPr>
              <a:t>4. Requirement Modeling</a:t>
            </a:r>
          </a:p>
        </p:txBody>
      </p:sp>
      <p:sp>
        <p:nvSpPr>
          <p:cNvPr id="3" name="Content Placeholder 2"/>
          <p:cNvSpPr>
            <a:spLocks noGrp="1"/>
          </p:cNvSpPr>
          <p:nvPr>
            <p:ph idx="1"/>
          </p:nvPr>
        </p:nvSpPr>
        <p:spPr>
          <a:xfrm>
            <a:off x="457200" y="1600200"/>
            <a:ext cx="8229600" cy="5257800"/>
          </a:xfrm>
        </p:spPr>
        <p:txBody>
          <a:bodyPr>
            <a:noAutofit/>
          </a:bodyPr>
          <a:lstStyle/>
          <a:p>
            <a:pPr lvl="1" algn="just">
              <a:buFont typeface="Wingdings" panose="05000000000000000000" charset="0"/>
              <a:buChar char=""/>
            </a:pPr>
            <a:r>
              <a:rPr sz="3260" dirty="0">
                <a:latin typeface="Times New Roman" panose="02020603050405020304" pitchFamily="18" charset="0"/>
                <a:cs typeface="Times New Roman" panose="02020603050405020304" pitchFamily="18" charset="0"/>
              </a:rPr>
              <a:t>State Diagrams:</a:t>
            </a:r>
          </a:p>
          <a:p>
            <a:pPr lvl="2" algn="just">
              <a:buFont typeface="Wingdings" panose="05000000000000000000" charset="0"/>
              <a:buChar char=""/>
            </a:pPr>
            <a:r>
              <a:rPr sz="2790" dirty="0">
                <a:latin typeface="Times New Roman" panose="02020603050405020304" pitchFamily="18" charset="0"/>
                <a:cs typeface="Times New Roman" panose="02020603050405020304" pitchFamily="18" charset="0"/>
              </a:rPr>
              <a:t>Describe the states of an object and the transitions between these states.</a:t>
            </a:r>
          </a:p>
          <a:p>
            <a:pPr lvl="2" algn="just">
              <a:buFont typeface="Wingdings" panose="05000000000000000000" charset="0"/>
              <a:buChar char=""/>
            </a:pPr>
            <a:r>
              <a:rPr sz="2790" dirty="0">
                <a:latin typeface="Times New Roman" panose="02020603050405020304" pitchFamily="18" charset="0"/>
                <a:cs typeface="Times New Roman" panose="02020603050405020304" pitchFamily="18" charset="0"/>
              </a:rPr>
              <a:t>Useful for systems with complex state-based behavior, such as user authentication.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4D49C-6FE2-7047-0AB8-7BD09B0C558B}"/>
            </a:ext>
          </a:extLst>
        </p:cNvPr>
        <p:cNvGrpSpPr/>
        <p:nvPr/>
      </p:nvGrpSpPr>
      <p:grpSpPr>
        <a:xfrm>
          <a:off x="0" y="0"/>
          <a:ext cx="0" cy="0"/>
          <a:chOff x="0" y="0"/>
          <a:chExt cx="0" cy="0"/>
        </a:xfrm>
      </p:grpSpPr>
      <p:pic>
        <p:nvPicPr>
          <p:cNvPr id="6" name="Content Placeholder 5" descr="State Transition Diagram for an ATM System - GeeksforGeeks">
            <a:extLst>
              <a:ext uri="{FF2B5EF4-FFF2-40B4-BE49-F238E27FC236}">
                <a16:creationId xmlns:a16="http://schemas.microsoft.com/office/drawing/2014/main" id="{5314862A-7AD6-2B62-214E-EC863F157907}"/>
              </a:ext>
            </a:extLst>
          </p:cNvPr>
          <p:cNvPicPr>
            <a:picLocks noGrp="1" noChangeAspect="1"/>
          </p:cNvPicPr>
          <p:nvPr>
            <p:ph idx="1"/>
          </p:nvPr>
        </p:nvPicPr>
        <p:blipFill>
          <a:blip r:embed="rId2"/>
          <a:stretch>
            <a:fillRect/>
          </a:stretch>
        </p:blipFill>
        <p:spPr>
          <a:xfrm>
            <a:off x="217369" y="265176"/>
            <a:ext cx="8709261" cy="6281928"/>
          </a:xfrm>
          <a:prstGeom prst="rect">
            <a:avLst/>
          </a:prstGeom>
        </p:spPr>
      </p:pic>
    </p:spTree>
    <p:extLst>
      <p:ext uri="{BB962C8B-B14F-4D97-AF65-F5344CB8AC3E}">
        <p14:creationId xmlns:p14="http://schemas.microsoft.com/office/powerpoint/2010/main" val="235178845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1"/>
          </a:solidFill>
        </p:spPr>
        <p:txBody>
          <a:bodyPr>
            <a:normAutofit fontScale="90000"/>
          </a:bodyPr>
          <a:lstStyle/>
          <a:p>
            <a:r>
              <a:rPr lang="en-US" dirty="0">
                <a:solidFill>
                  <a:srgbClr val="FFFF00"/>
                </a:solidFill>
                <a:latin typeface="Times New Roman Regular" panose="02020603050405020304" charset="0"/>
                <a:cs typeface="Times New Roman Regular" panose="02020603050405020304" charset="0"/>
              </a:rPr>
              <a:t>Quality Attributes of Good Requirements</a:t>
            </a:r>
          </a:p>
        </p:txBody>
      </p:sp>
      <p:sp>
        <p:nvSpPr>
          <p:cNvPr id="3" name="Content Placeholder 2"/>
          <p:cNvSpPr>
            <a:spLocks noGrp="1"/>
          </p:cNvSpPr>
          <p:nvPr>
            <p:ph idx="1"/>
          </p:nvPr>
        </p:nvSpPr>
        <p:spPr>
          <a:xfrm>
            <a:off x="457200" y="1600200"/>
            <a:ext cx="8229600" cy="5257800"/>
          </a:xfrm>
        </p:spPr>
        <p:txBody>
          <a:bodyPr>
            <a:noAutofit/>
          </a:bodyPr>
          <a:lstStyle/>
          <a:p>
            <a:pPr lvl="0" algn="just"/>
            <a:r>
              <a:rPr sz="2800" b="1" dirty="0">
                <a:latin typeface="Times New Roman" panose="02020603050405020304" pitchFamily="18" charset="0"/>
                <a:cs typeface="Times New Roman" panose="02020603050405020304" pitchFamily="18" charset="0"/>
              </a:rPr>
              <a:t>Definition: </a:t>
            </a:r>
            <a:r>
              <a:rPr sz="2800" dirty="0">
                <a:latin typeface="Times New Roman" panose="02020603050405020304" pitchFamily="18" charset="0"/>
                <a:cs typeface="Times New Roman" panose="02020603050405020304" pitchFamily="18" charset="0"/>
              </a:rPr>
              <a:t>Quality attributes ensure that requirements are clear, feasible, and verifiable. High-quality requirements are essential for the success of any project as they serve as the basis for design, development, and testing.</a:t>
            </a:r>
          </a:p>
          <a:p>
            <a:pPr lvl="0" algn="just"/>
            <a:r>
              <a:rPr sz="2800" b="1" dirty="0">
                <a:latin typeface="Times New Roman" panose="02020603050405020304" pitchFamily="18" charset="0"/>
                <a:cs typeface="Times New Roman" panose="02020603050405020304" pitchFamily="18" charset="0"/>
              </a:rPr>
              <a:t>Key Attributes:</a:t>
            </a:r>
          </a:p>
          <a:p>
            <a:pPr lvl="1" algn="just">
              <a:buFont typeface="Wingdings" panose="05000000000000000000" charset="0"/>
              <a:buChar char=""/>
            </a:pPr>
            <a:r>
              <a:rPr b="1" dirty="0">
                <a:latin typeface="Times New Roman" panose="02020603050405020304" pitchFamily="18" charset="0"/>
                <a:cs typeface="Times New Roman" panose="02020603050405020304" pitchFamily="18" charset="0"/>
              </a:rPr>
              <a:t>Clarity:</a:t>
            </a:r>
            <a:r>
              <a:rPr dirty="0">
                <a:latin typeface="Times New Roman" panose="02020603050405020304" pitchFamily="18" charset="0"/>
                <a:cs typeface="Times New Roman" panose="02020603050405020304" pitchFamily="18" charset="0"/>
              </a:rPr>
              <a:t> Requirements should be free from ambiguity and easily understandable by all stakeholders.</a:t>
            </a:r>
          </a:p>
          <a:p>
            <a:pPr lvl="1" algn="just">
              <a:buFont typeface="Wingdings" panose="05000000000000000000" charset="0"/>
              <a:buChar char=""/>
            </a:pPr>
            <a:r>
              <a:rPr b="1" dirty="0">
                <a:latin typeface="Times New Roman" panose="02020603050405020304" pitchFamily="18" charset="0"/>
                <a:cs typeface="Times New Roman" panose="02020603050405020304" pitchFamily="18" charset="0"/>
              </a:rPr>
              <a:t>Completeness:</a:t>
            </a:r>
            <a:r>
              <a:rPr dirty="0">
                <a:latin typeface="Times New Roman" panose="02020603050405020304" pitchFamily="18" charset="0"/>
                <a:cs typeface="Times New Roman" panose="02020603050405020304" pitchFamily="18" charset="0"/>
              </a:rPr>
              <a:t> All necessary information should be included to avoid any gaps.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1"/>
          </a:solidFill>
        </p:spPr>
        <p:txBody>
          <a:bodyPr>
            <a:normAutofit fontScale="90000"/>
          </a:bodyPr>
          <a:lstStyle/>
          <a:p>
            <a:r>
              <a:rPr lang="en-US">
                <a:solidFill>
                  <a:srgbClr val="FFFF00"/>
                </a:solidFill>
                <a:latin typeface="Times New Roman Regular" panose="02020603050405020304" charset="0"/>
                <a:cs typeface="Times New Roman Regular" panose="02020603050405020304" charset="0"/>
              </a:rPr>
              <a:t>5. Quality Attributes of Good Requirements</a:t>
            </a:r>
          </a:p>
        </p:txBody>
      </p:sp>
      <p:sp>
        <p:nvSpPr>
          <p:cNvPr id="3" name="Content Placeholder 2"/>
          <p:cNvSpPr>
            <a:spLocks noGrp="1"/>
          </p:cNvSpPr>
          <p:nvPr>
            <p:ph idx="1"/>
          </p:nvPr>
        </p:nvSpPr>
        <p:spPr>
          <a:xfrm>
            <a:off x="457200" y="1600200"/>
            <a:ext cx="8229600" cy="3291840"/>
          </a:xfrm>
        </p:spPr>
        <p:txBody>
          <a:bodyPr>
            <a:noAutofit/>
          </a:bodyPr>
          <a:lstStyle/>
          <a:p>
            <a:pPr lvl="1" algn="just">
              <a:buFont typeface="Wingdings" panose="05000000000000000000" charset="0"/>
              <a:buChar char=""/>
            </a:pPr>
            <a:r>
              <a:rPr b="1" dirty="0">
                <a:latin typeface="Times New Roman" panose="02020603050405020304" pitchFamily="18" charset="0"/>
                <a:cs typeface="Times New Roman" panose="02020603050405020304" pitchFamily="18" charset="0"/>
              </a:rPr>
              <a:t>Consistency:</a:t>
            </a:r>
            <a:r>
              <a:rPr dirty="0">
                <a:latin typeface="Times New Roman" panose="02020603050405020304" pitchFamily="18" charset="0"/>
                <a:cs typeface="Times New Roman" panose="02020603050405020304" pitchFamily="18" charset="0"/>
              </a:rPr>
              <a:t> Requirements should not conflict with each other.</a:t>
            </a:r>
          </a:p>
          <a:p>
            <a:pPr lvl="1" algn="just">
              <a:buFont typeface="Wingdings" panose="05000000000000000000" charset="0"/>
              <a:buChar char=""/>
            </a:pPr>
            <a:r>
              <a:rPr b="1" dirty="0">
                <a:latin typeface="Times New Roman" panose="02020603050405020304" pitchFamily="18" charset="0"/>
                <a:cs typeface="Times New Roman" panose="02020603050405020304" pitchFamily="18" charset="0"/>
              </a:rPr>
              <a:t>Feasibility:</a:t>
            </a:r>
            <a:r>
              <a:rPr dirty="0">
                <a:latin typeface="Times New Roman" panose="02020603050405020304" pitchFamily="18" charset="0"/>
                <a:cs typeface="Times New Roman" panose="02020603050405020304" pitchFamily="18" charset="0"/>
              </a:rPr>
              <a:t> Requirements should be realistic and achievable within the project constraints.</a:t>
            </a:r>
          </a:p>
          <a:p>
            <a:pPr lvl="1" algn="just">
              <a:buFont typeface="Wingdings" panose="05000000000000000000" charset="0"/>
              <a:buChar char=""/>
            </a:pPr>
            <a:r>
              <a:rPr b="1" dirty="0">
                <a:latin typeface="Times New Roman" panose="02020603050405020304" pitchFamily="18" charset="0"/>
                <a:cs typeface="Times New Roman" panose="02020603050405020304" pitchFamily="18" charset="0"/>
              </a:rPr>
              <a:t>Testability:</a:t>
            </a:r>
            <a:r>
              <a:rPr dirty="0">
                <a:latin typeface="Times New Roman" panose="02020603050405020304" pitchFamily="18" charset="0"/>
                <a:cs typeface="Times New Roman" panose="02020603050405020304" pitchFamily="18" charset="0"/>
              </a:rPr>
              <a:t> Requirements should be stated in a manner that allows for verification and validation.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1"/>
          </a:solidFill>
        </p:spPr>
        <p:txBody>
          <a:bodyPr>
            <a:normAutofit fontScale="90000"/>
          </a:bodyPr>
          <a:lstStyle/>
          <a:p>
            <a:r>
              <a:rPr lang="en-US" dirty="0">
                <a:solidFill>
                  <a:srgbClr val="FFFF00"/>
                </a:solidFill>
                <a:latin typeface="Times New Roman Regular" panose="02020603050405020304" charset="0"/>
                <a:cs typeface="Times New Roman Regular" panose="02020603050405020304" charset="0"/>
              </a:rPr>
              <a:t>PIECES Framework for Requirement Analysis</a:t>
            </a:r>
          </a:p>
        </p:txBody>
      </p:sp>
      <p:sp>
        <p:nvSpPr>
          <p:cNvPr id="3" name="Content Placeholder 2"/>
          <p:cNvSpPr>
            <a:spLocks noGrp="1"/>
          </p:cNvSpPr>
          <p:nvPr>
            <p:ph idx="1"/>
          </p:nvPr>
        </p:nvSpPr>
        <p:spPr>
          <a:xfrm>
            <a:off x="457200" y="1600200"/>
            <a:ext cx="8229600" cy="5257800"/>
          </a:xfrm>
        </p:spPr>
        <p:txBody>
          <a:bodyPr>
            <a:noAutofit/>
          </a:bodyPr>
          <a:lstStyle/>
          <a:p>
            <a:pPr lvl="0" algn="just"/>
            <a:r>
              <a:rPr sz="2800" b="1" dirty="0">
                <a:latin typeface="Times New Roman" panose="02020603050405020304" pitchFamily="18" charset="0"/>
                <a:cs typeface="Times New Roman" panose="02020603050405020304" pitchFamily="18" charset="0"/>
              </a:rPr>
              <a:t>Overview: </a:t>
            </a:r>
            <a:r>
              <a:rPr sz="2800" dirty="0">
                <a:latin typeface="Times New Roman" panose="02020603050405020304" pitchFamily="18" charset="0"/>
                <a:cs typeface="Times New Roman" panose="02020603050405020304" pitchFamily="18" charset="0"/>
              </a:rPr>
              <a:t>The PIECES framework is a tool for analyzing existing systems and identifying potential areas for improvement. It evaluates six key areas: Performance, Information, Economy, Control, Efficiency, and Service.</a:t>
            </a:r>
          </a:p>
          <a:p>
            <a:pPr lvl="0" algn="just"/>
            <a:r>
              <a:rPr sz="2800" b="1" dirty="0">
                <a:latin typeface="Times New Roman" panose="02020603050405020304" pitchFamily="18" charset="0"/>
                <a:cs typeface="Times New Roman" panose="02020603050405020304" pitchFamily="18" charset="0"/>
              </a:rPr>
              <a:t>Application:</a:t>
            </a:r>
          </a:p>
          <a:p>
            <a:pPr lvl="1" algn="just">
              <a:buFont typeface="Wingdings" panose="05000000000000000000" charset="0"/>
              <a:buChar char=""/>
            </a:pPr>
            <a:r>
              <a:rPr sz="2800" b="1" dirty="0">
                <a:latin typeface="Times New Roman" panose="02020603050405020304" pitchFamily="18" charset="0"/>
                <a:cs typeface="Times New Roman" panose="02020603050405020304" pitchFamily="18" charset="0"/>
              </a:rPr>
              <a:t>Performance:</a:t>
            </a:r>
            <a:r>
              <a:rPr sz="2800" dirty="0">
                <a:latin typeface="Times New Roman" panose="02020603050405020304" pitchFamily="18" charset="0"/>
                <a:cs typeface="Times New Roman" panose="02020603050405020304" pitchFamily="18" charset="0"/>
              </a:rPr>
              <a:t> Analyzing system response time, throughput, and workload capacity.</a:t>
            </a:r>
          </a:p>
          <a:p>
            <a:pPr lvl="1" algn="just">
              <a:buFont typeface="Wingdings" panose="05000000000000000000" charset="0"/>
              <a:buChar char=""/>
            </a:pPr>
            <a:r>
              <a:rPr sz="2800" b="1" dirty="0">
                <a:latin typeface="Times New Roman" panose="02020603050405020304" pitchFamily="18" charset="0"/>
                <a:cs typeface="Times New Roman" panose="02020603050405020304" pitchFamily="18" charset="0"/>
              </a:rPr>
              <a:t>Information:</a:t>
            </a:r>
            <a:r>
              <a:rPr sz="2800" dirty="0">
                <a:latin typeface="Times New Roman" panose="02020603050405020304" pitchFamily="18" charset="0"/>
                <a:cs typeface="Times New Roman" panose="02020603050405020304" pitchFamily="18" charset="0"/>
              </a:rPr>
              <a:t> Assessing the accuracy, availability, and timeliness of the information provided by the system.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1"/>
          </a:solidFill>
        </p:spPr>
        <p:txBody>
          <a:bodyPr>
            <a:normAutofit fontScale="90000"/>
          </a:bodyPr>
          <a:lstStyle/>
          <a:p>
            <a:r>
              <a:rPr lang="en-US" dirty="0">
                <a:solidFill>
                  <a:srgbClr val="FFFF00"/>
                </a:solidFill>
                <a:latin typeface="Times New Roman Regular" panose="02020603050405020304" charset="0"/>
                <a:cs typeface="Times New Roman Regular" panose="02020603050405020304" charset="0"/>
              </a:rPr>
              <a:t>PIECES Framework for Requirement Analysis</a:t>
            </a:r>
          </a:p>
        </p:txBody>
      </p:sp>
      <p:sp>
        <p:nvSpPr>
          <p:cNvPr id="3" name="Content Placeholder 2"/>
          <p:cNvSpPr>
            <a:spLocks noGrp="1"/>
          </p:cNvSpPr>
          <p:nvPr>
            <p:ph idx="1"/>
          </p:nvPr>
        </p:nvSpPr>
        <p:spPr>
          <a:xfrm>
            <a:off x="457200" y="1600200"/>
            <a:ext cx="8229600" cy="5257800"/>
          </a:xfrm>
        </p:spPr>
        <p:txBody>
          <a:bodyPr>
            <a:noAutofit/>
          </a:bodyPr>
          <a:lstStyle/>
          <a:p>
            <a:pPr lvl="1" algn="just">
              <a:buFont typeface="Wingdings" panose="05000000000000000000" charset="0"/>
              <a:buChar char=""/>
            </a:pPr>
            <a:r>
              <a:rPr sz="2800" b="1" dirty="0">
                <a:latin typeface="Times New Roman" panose="02020603050405020304" pitchFamily="18" charset="0"/>
                <a:cs typeface="Times New Roman" panose="02020603050405020304" pitchFamily="18" charset="0"/>
              </a:rPr>
              <a:t>Economy:</a:t>
            </a:r>
            <a:r>
              <a:rPr sz="2800" dirty="0">
                <a:latin typeface="Times New Roman" panose="02020603050405020304" pitchFamily="18" charset="0"/>
                <a:cs typeface="Times New Roman" panose="02020603050405020304" pitchFamily="18" charset="0"/>
              </a:rPr>
              <a:t> Evaluating the cost-effectiveness of the system and identifying potential cost-saving measures.</a:t>
            </a:r>
          </a:p>
          <a:p>
            <a:pPr lvl="1" algn="just">
              <a:buFont typeface="Wingdings" panose="05000000000000000000" charset="0"/>
              <a:buChar char=""/>
            </a:pPr>
            <a:r>
              <a:rPr sz="2800" b="1" dirty="0">
                <a:latin typeface="Times New Roman" panose="02020603050405020304" pitchFamily="18" charset="0"/>
                <a:cs typeface="Times New Roman" panose="02020603050405020304" pitchFamily="18" charset="0"/>
              </a:rPr>
              <a:t>Control:</a:t>
            </a:r>
            <a:r>
              <a:rPr sz="2800" dirty="0">
                <a:latin typeface="Times New Roman" panose="02020603050405020304" pitchFamily="18" charset="0"/>
                <a:cs typeface="Times New Roman" panose="02020603050405020304" pitchFamily="18" charset="0"/>
              </a:rPr>
              <a:t> Reviewing security, access control, and compliance with regulations.</a:t>
            </a:r>
          </a:p>
          <a:p>
            <a:pPr lvl="1" algn="just">
              <a:buFont typeface="Wingdings" panose="05000000000000000000" charset="0"/>
              <a:buChar char=""/>
            </a:pPr>
            <a:r>
              <a:rPr b="1" dirty="0">
                <a:latin typeface="Times New Roman" panose="02020603050405020304" pitchFamily="18" charset="0"/>
                <a:cs typeface="Times New Roman" panose="02020603050405020304" pitchFamily="18" charset="0"/>
                <a:sym typeface="+mn-ea"/>
              </a:rPr>
              <a:t>Efficiency: </a:t>
            </a:r>
            <a:r>
              <a:rPr dirty="0">
                <a:latin typeface="Times New Roman" panose="02020603050405020304" pitchFamily="18" charset="0"/>
                <a:cs typeface="Times New Roman" panose="02020603050405020304" pitchFamily="18" charset="0"/>
                <a:sym typeface="+mn-ea"/>
              </a:rPr>
              <a:t>Checking how well the system utilizes resources, including hardware, software, and personnel.</a:t>
            </a:r>
          </a:p>
          <a:p>
            <a:pPr lvl="1" algn="just">
              <a:buFont typeface="Wingdings" panose="05000000000000000000" charset="0"/>
              <a:buChar char=""/>
            </a:pPr>
            <a:r>
              <a:rPr b="1" dirty="0">
                <a:latin typeface="Times New Roman" panose="02020603050405020304" pitchFamily="18" charset="0"/>
                <a:cs typeface="Times New Roman" panose="02020603050405020304" pitchFamily="18" charset="0"/>
                <a:sym typeface="+mn-ea"/>
              </a:rPr>
              <a:t>Service: </a:t>
            </a:r>
            <a:r>
              <a:rPr dirty="0">
                <a:latin typeface="Times New Roman" panose="02020603050405020304" pitchFamily="18" charset="0"/>
                <a:cs typeface="Times New Roman" panose="02020603050405020304" pitchFamily="18" charset="0"/>
                <a:sym typeface="+mn-ea"/>
              </a:rPr>
              <a:t>Measuring user satisfaction and identifying areas for service improvement.</a:t>
            </a:r>
          </a:p>
          <a:p>
            <a:pPr lvl="1" algn="just">
              <a:buFont typeface="Wingdings" panose="05000000000000000000" charset="0"/>
              <a:buChar char=""/>
            </a:pPr>
            <a:endParaRPr sz="28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1"/>
          </a:solidFill>
        </p:spPr>
        <p:txBody>
          <a:bodyPr>
            <a:normAutofit/>
          </a:bodyPr>
          <a:lstStyle/>
          <a:p>
            <a:r>
              <a:rPr lang="en-US" dirty="0">
                <a:solidFill>
                  <a:srgbClr val="FFFF00"/>
                </a:solidFill>
                <a:latin typeface="Times New Roman Regular" panose="02020603050405020304" charset="0"/>
                <a:cs typeface="Times New Roman Regular" panose="02020603050405020304" charset="0"/>
              </a:rPr>
              <a:t>Tools for Requirement Analysis</a:t>
            </a:r>
          </a:p>
        </p:txBody>
      </p:sp>
      <p:sp>
        <p:nvSpPr>
          <p:cNvPr id="3" name="Content Placeholder 2"/>
          <p:cNvSpPr>
            <a:spLocks noGrp="1"/>
          </p:cNvSpPr>
          <p:nvPr>
            <p:ph idx="1"/>
          </p:nvPr>
        </p:nvSpPr>
        <p:spPr>
          <a:xfrm>
            <a:off x="457200" y="1600200"/>
            <a:ext cx="8229600" cy="5257800"/>
          </a:xfrm>
        </p:spPr>
        <p:txBody>
          <a:bodyPr>
            <a:noAutofit/>
          </a:bodyPr>
          <a:lstStyle/>
          <a:p>
            <a:pPr lvl="0" algn="just"/>
            <a:r>
              <a:rPr sz="2800" b="1" dirty="0">
                <a:latin typeface="Times New Roman" panose="02020603050405020304" pitchFamily="18" charset="0"/>
                <a:cs typeface="Times New Roman" panose="02020603050405020304" pitchFamily="18" charset="0"/>
              </a:rPr>
              <a:t>Software Tools:</a:t>
            </a:r>
          </a:p>
          <a:p>
            <a:pPr lvl="1" algn="just">
              <a:buFont typeface="Wingdings" panose="05000000000000000000" charset="0"/>
              <a:buChar char=""/>
            </a:pPr>
            <a:r>
              <a:rPr sz="2800" b="1" dirty="0">
                <a:latin typeface="Times New Roman" panose="02020603050405020304" pitchFamily="18" charset="0"/>
                <a:cs typeface="Times New Roman" panose="02020603050405020304" pitchFamily="18" charset="0"/>
              </a:rPr>
              <a:t>IBM DOORS:</a:t>
            </a:r>
            <a:r>
              <a:rPr sz="2800" dirty="0">
                <a:latin typeface="Times New Roman" panose="02020603050405020304" pitchFamily="18" charset="0"/>
                <a:cs typeface="Times New Roman" panose="02020603050405020304" pitchFamily="18" charset="0"/>
              </a:rPr>
              <a:t> A comprehensive requirements management tool for capturing, tracking, and analyzing requirements.</a:t>
            </a:r>
          </a:p>
          <a:p>
            <a:pPr lvl="1" algn="just">
              <a:buFont typeface="Wingdings" panose="05000000000000000000" charset="0"/>
              <a:buChar char=""/>
            </a:pPr>
            <a:r>
              <a:rPr sz="2800" b="1" dirty="0">
                <a:latin typeface="Times New Roman" panose="02020603050405020304" pitchFamily="18" charset="0"/>
                <a:cs typeface="Times New Roman" panose="02020603050405020304" pitchFamily="18" charset="0"/>
              </a:rPr>
              <a:t>Rational </a:t>
            </a:r>
            <a:r>
              <a:rPr sz="2800" b="1" dirty="0" err="1">
                <a:latin typeface="Times New Roman" panose="02020603050405020304" pitchFamily="18" charset="0"/>
                <a:cs typeface="Times New Roman" panose="02020603050405020304" pitchFamily="18" charset="0"/>
              </a:rPr>
              <a:t>RequisitePro</a:t>
            </a:r>
            <a:r>
              <a:rPr sz="2800" b="1" dirty="0">
                <a:latin typeface="Times New Roman" panose="02020603050405020304" pitchFamily="18" charset="0"/>
                <a:cs typeface="Times New Roman" panose="02020603050405020304" pitchFamily="18" charset="0"/>
              </a:rPr>
              <a:t>:</a:t>
            </a:r>
            <a:r>
              <a:rPr sz="2800" dirty="0">
                <a:latin typeface="Times New Roman" panose="02020603050405020304" pitchFamily="18" charset="0"/>
                <a:cs typeface="Times New Roman" panose="02020603050405020304" pitchFamily="18" charset="0"/>
              </a:rPr>
              <a:t> Offers integrated requirements management with traceability and change control features.</a:t>
            </a:r>
          </a:p>
          <a:p>
            <a:pPr lvl="1" algn="just">
              <a:buFont typeface="Wingdings" panose="05000000000000000000" charset="0"/>
              <a:buChar char=""/>
            </a:pPr>
            <a:r>
              <a:rPr sz="2800" b="1" dirty="0">
                <a:latin typeface="Times New Roman" panose="02020603050405020304" pitchFamily="18" charset="0"/>
                <a:cs typeface="Times New Roman" panose="02020603050405020304" pitchFamily="18" charset="0"/>
              </a:rPr>
              <a:t>JIRA:</a:t>
            </a:r>
            <a:r>
              <a:rPr sz="2800" dirty="0">
                <a:latin typeface="Times New Roman" panose="02020603050405020304" pitchFamily="18" charset="0"/>
                <a:cs typeface="Times New Roman" panose="02020603050405020304" pitchFamily="18" charset="0"/>
              </a:rPr>
              <a:t> An agile project management tool with features for tracking requirements, issues, and changes.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1"/>
          </a:solidFill>
        </p:spPr>
        <p:txBody>
          <a:bodyPr>
            <a:normAutofit/>
          </a:bodyPr>
          <a:lstStyle/>
          <a:p>
            <a:r>
              <a:rPr lang="en-US" dirty="0">
                <a:solidFill>
                  <a:srgbClr val="FFFF00"/>
                </a:solidFill>
                <a:latin typeface="Times New Roman Regular" panose="02020603050405020304" charset="0"/>
                <a:cs typeface="Times New Roman Regular" panose="02020603050405020304" charset="0"/>
              </a:rPr>
              <a:t>Tools for Requirement Analysis</a:t>
            </a:r>
          </a:p>
        </p:txBody>
      </p:sp>
      <p:sp>
        <p:nvSpPr>
          <p:cNvPr id="3" name="Content Placeholder 2"/>
          <p:cNvSpPr>
            <a:spLocks noGrp="1"/>
          </p:cNvSpPr>
          <p:nvPr>
            <p:ph idx="1"/>
          </p:nvPr>
        </p:nvSpPr>
        <p:spPr>
          <a:xfrm>
            <a:off x="457200" y="1600200"/>
            <a:ext cx="8229600" cy="5257800"/>
          </a:xfrm>
        </p:spPr>
        <p:txBody>
          <a:bodyPr>
            <a:noAutofit/>
          </a:bodyPr>
          <a:lstStyle/>
          <a:p>
            <a:pPr lvl="0" algn="just"/>
            <a:r>
              <a:rPr sz="2800" b="1" dirty="0">
                <a:latin typeface="Times New Roman" panose="02020603050405020304" pitchFamily="18" charset="0"/>
                <a:cs typeface="Times New Roman" panose="02020603050405020304" pitchFamily="18" charset="0"/>
              </a:rPr>
              <a:t>Modeling Tools:</a:t>
            </a:r>
          </a:p>
          <a:p>
            <a:pPr lvl="1" algn="just">
              <a:buFont typeface="Wingdings" panose="05000000000000000000" charset="0"/>
              <a:buChar char=""/>
            </a:pPr>
            <a:r>
              <a:rPr sz="2800" b="1" dirty="0" err="1">
                <a:latin typeface="Times New Roman" panose="02020603050405020304" pitchFamily="18" charset="0"/>
                <a:cs typeface="Times New Roman" panose="02020603050405020304" pitchFamily="18" charset="0"/>
              </a:rPr>
              <a:t>Lucidchart</a:t>
            </a:r>
            <a:r>
              <a:rPr sz="2800" b="1"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An online diagramming tool for creating DFDs, ERDs, and more.</a:t>
            </a:r>
          </a:p>
          <a:p>
            <a:pPr lvl="1" algn="just">
              <a:buFont typeface="Wingdings" panose="05000000000000000000" charset="0"/>
              <a:buChar char=""/>
            </a:pPr>
            <a:r>
              <a:rPr sz="2800" b="1" dirty="0">
                <a:latin typeface="Times New Roman" panose="02020603050405020304" pitchFamily="18" charset="0"/>
                <a:cs typeface="Times New Roman" panose="02020603050405020304" pitchFamily="18" charset="0"/>
              </a:rPr>
              <a:t>Microsoft Visio:</a:t>
            </a:r>
            <a:r>
              <a:rPr sz="2800" dirty="0">
                <a:latin typeface="Times New Roman" panose="02020603050405020304" pitchFamily="18" charset="0"/>
                <a:cs typeface="Times New Roman" panose="02020603050405020304" pitchFamily="18" charset="0"/>
              </a:rPr>
              <a:t> A versatile tool for creating professional diagrams and flowcharts.</a:t>
            </a:r>
          </a:p>
          <a:p>
            <a:pPr lvl="1" algn="just">
              <a:buFont typeface="Wingdings" panose="05000000000000000000" charset="0"/>
              <a:buChar char=""/>
            </a:pPr>
            <a:r>
              <a:rPr sz="2800" b="1" dirty="0">
                <a:latin typeface="Times New Roman" panose="02020603050405020304" pitchFamily="18" charset="0"/>
                <a:cs typeface="Times New Roman" panose="02020603050405020304" pitchFamily="18" charset="0"/>
              </a:rPr>
              <a:t>UML Tools:</a:t>
            </a:r>
            <a:r>
              <a:rPr sz="2800" dirty="0">
                <a:latin typeface="Times New Roman" panose="02020603050405020304" pitchFamily="18" charset="0"/>
                <a:cs typeface="Times New Roman" panose="02020603050405020304" pitchFamily="18" charset="0"/>
              </a:rPr>
              <a:t> For creating detailed UML diagrams that represent system interactions and structure.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1"/>
          </a:solidFill>
        </p:spPr>
        <p:txBody>
          <a:bodyPr>
            <a:normAutofit/>
          </a:bodyPr>
          <a:lstStyle/>
          <a:p>
            <a:r>
              <a:rPr lang="en-US" dirty="0">
                <a:solidFill>
                  <a:srgbClr val="FFFF00"/>
                </a:solidFill>
                <a:latin typeface="Times New Roman Regular" panose="02020603050405020304" charset="0"/>
                <a:cs typeface="Times New Roman Regular" panose="02020603050405020304" charset="0"/>
              </a:rPr>
              <a:t>Tools for Requirement Analysis</a:t>
            </a:r>
          </a:p>
        </p:txBody>
      </p:sp>
      <p:sp>
        <p:nvSpPr>
          <p:cNvPr id="3" name="Content Placeholder 2"/>
          <p:cNvSpPr>
            <a:spLocks noGrp="1"/>
          </p:cNvSpPr>
          <p:nvPr>
            <p:ph idx="1"/>
          </p:nvPr>
        </p:nvSpPr>
        <p:spPr>
          <a:xfrm>
            <a:off x="457200" y="1600200"/>
            <a:ext cx="8229600" cy="5257800"/>
          </a:xfrm>
        </p:spPr>
        <p:txBody>
          <a:bodyPr>
            <a:noAutofit/>
          </a:bodyPr>
          <a:lstStyle/>
          <a:p>
            <a:pPr lvl="0" algn="just"/>
            <a:r>
              <a:rPr sz="2800" b="1" dirty="0">
                <a:latin typeface="Times New Roman" panose="02020603050405020304" pitchFamily="18" charset="0"/>
                <a:cs typeface="Times New Roman" panose="02020603050405020304" pitchFamily="18" charset="0"/>
              </a:rPr>
              <a:t>Traceability Tools:</a:t>
            </a:r>
          </a:p>
          <a:p>
            <a:pPr lvl="1" algn="just">
              <a:buFont typeface="Wingdings" panose="05000000000000000000" charset="0"/>
              <a:buChar char=""/>
            </a:pPr>
            <a:r>
              <a:rPr sz="2800" b="1" dirty="0" err="1">
                <a:latin typeface="Times New Roman" panose="02020603050405020304" pitchFamily="18" charset="0"/>
                <a:cs typeface="Times New Roman" panose="02020603050405020304" pitchFamily="18" charset="0"/>
              </a:rPr>
              <a:t>ReQtest</a:t>
            </a:r>
            <a:r>
              <a:rPr sz="2800" b="1"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Provides tools for managing requirements, test cases, and bugs.</a:t>
            </a:r>
          </a:p>
          <a:p>
            <a:pPr lvl="1" algn="just">
              <a:buFont typeface="Wingdings" panose="05000000000000000000" charset="0"/>
              <a:buChar char=""/>
            </a:pPr>
            <a:r>
              <a:rPr sz="2800" b="1" dirty="0">
                <a:latin typeface="Times New Roman" panose="02020603050405020304" pitchFamily="18" charset="0"/>
                <a:cs typeface="Times New Roman" panose="02020603050405020304" pitchFamily="18" charset="0"/>
              </a:rPr>
              <a:t>Helix RM: </a:t>
            </a:r>
            <a:r>
              <a:rPr sz="2800" dirty="0">
                <a:latin typeface="Times New Roman" panose="02020603050405020304" pitchFamily="18" charset="0"/>
                <a:cs typeface="Times New Roman" panose="02020603050405020304" pitchFamily="18" charset="0"/>
              </a:rPr>
              <a:t>Offers end-to-end requirements management with traceability and impact analysis.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7F576-27DA-73A4-A60B-0DD5EFC26D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609E09-3FC9-B717-6F67-05D3BA759E92}"/>
              </a:ext>
            </a:extLst>
          </p:cNvPr>
          <p:cNvSpPr>
            <a:spLocks noGrp="1"/>
          </p:cNvSpPr>
          <p:nvPr>
            <p:ph type="title"/>
          </p:nvPr>
        </p:nvSpPr>
        <p:spPr>
          <a:solidFill>
            <a:schemeClr val="tx1"/>
          </a:solidFill>
        </p:spPr>
        <p:txBody>
          <a:bodyPr>
            <a:normAutofit/>
          </a:bodyPr>
          <a:lstStyle/>
          <a:p>
            <a:r>
              <a:rPr lang="en-US" dirty="0">
                <a:solidFill>
                  <a:srgbClr val="FFFF00"/>
                </a:solidFill>
                <a:latin typeface="Times New Roman Regular" panose="02020603050405020304" charset="0"/>
                <a:cs typeface="Times New Roman Regular" panose="02020603050405020304" charset="0"/>
              </a:rPr>
              <a:t>References</a:t>
            </a:r>
          </a:p>
        </p:txBody>
      </p:sp>
      <p:sp>
        <p:nvSpPr>
          <p:cNvPr id="3" name="Content Placeholder 2">
            <a:extLst>
              <a:ext uri="{FF2B5EF4-FFF2-40B4-BE49-F238E27FC236}">
                <a16:creationId xmlns:a16="http://schemas.microsoft.com/office/drawing/2014/main" id="{634D6992-8DF4-1E81-75AD-C5095975B2E8}"/>
              </a:ext>
            </a:extLst>
          </p:cNvPr>
          <p:cNvSpPr>
            <a:spLocks noGrp="1"/>
          </p:cNvSpPr>
          <p:nvPr>
            <p:ph idx="1"/>
          </p:nvPr>
        </p:nvSpPr>
        <p:spPr>
          <a:xfrm>
            <a:off x="457200" y="1600200"/>
            <a:ext cx="8229600" cy="4398264"/>
          </a:xfrm>
        </p:spPr>
        <p:txBody>
          <a:bodyPr>
            <a:noAutofit/>
          </a:bodyPr>
          <a:lstStyle/>
          <a:p>
            <a:r>
              <a:rPr lang="en-US" sz="2200" dirty="0">
                <a:latin typeface="Times New Roman" panose="02020603050405020304" pitchFamily="18" charset="0"/>
                <a:cs typeface="Times New Roman" panose="02020603050405020304" pitchFamily="18" charset="0"/>
              </a:rPr>
              <a:t>“OWASP Product Security Guide | OWASP Foundation.” </a:t>
            </a:r>
            <a:r>
              <a:rPr lang="en-US" sz="2200" dirty="0">
                <a:latin typeface="Times New Roman" panose="02020603050405020304" pitchFamily="18" charset="0"/>
                <a:cs typeface="Times New Roman" panose="02020603050405020304" pitchFamily="18" charset="0"/>
                <a:hlinkClick r:id="rId2"/>
              </a:rPr>
              <a:t>https://owasp.org/www-project-product-security-guide/</a:t>
            </a:r>
            <a:endParaRPr lang="en-US" sz="2200" dirty="0">
              <a:latin typeface="Times New Roman" panose="02020603050405020304" pitchFamily="18" charset="0"/>
              <a:cs typeface="Times New Roman" panose="02020603050405020304" pitchFamily="18" charset="0"/>
            </a:endParaRPr>
          </a:p>
          <a:p>
            <a:r>
              <a:rPr lang="en-US" sz="2200" dirty="0" err="1">
                <a:latin typeface="Times New Roman" panose="02020603050405020304" pitchFamily="18" charset="0"/>
                <a:cs typeface="Times New Roman" panose="02020603050405020304" pitchFamily="18" charset="0"/>
              </a:rPr>
              <a:t>GeeksforGeeks</a:t>
            </a:r>
            <a:r>
              <a:rPr lang="en-US" sz="2200" dirty="0">
                <a:latin typeface="Times New Roman" panose="02020603050405020304" pitchFamily="18" charset="0"/>
                <a:cs typeface="Times New Roman" panose="02020603050405020304" pitchFamily="18" charset="0"/>
              </a:rPr>
              <a:t>, “Use Case Diagram Unified Modeling Language (UML),” </a:t>
            </a:r>
            <a:r>
              <a:rPr lang="en-US" sz="2200" i="1" dirty="0" err="1">
                <a:latin typeface="Times New Roman" panose="02020603050405020304" pitchFamily="18" charset="0"/>
                <a:cs typeface="Times New Roman" panose="02020603050405020304" pitchFamily="18" charset="0"/>
              </a:rPr>
              <a:t>GeeksforGeeks</a:t>
            </a:r>
            <a:r>
              <a:rPr lang="en-US" sz="2200" dirty="0">
                <a:latin typeface="Times New Roman" panose="02020603050405020304" pitchFamily="18" charset="0"/>
                <a:cs typeface="Times New Roman" panose="02020603050405020304" pitchFamily="18" charset="0"/>
              </a:rPr>
              <a:t>, Jun. 24, 2026. </a:t>
            </a:r>
            <a:r>
              <a:rPr lang="en-US" sz="2200" dirty="0">
                <a:latin typeface="Times New Roman" panose="02020603050405020304" pitchFamily="18" charset="0"/>
                <a:cs typeface="Times New Roman" panose="02020603050405020304" pitchFamily="18" charset="0"/>
                <a:hlinkClick r:id="rId3"/>
              </a:rPr>
              <a:t>https://www.geeksforgeeks.org/system-design/use-case-diagram/</a:t>
            </a:r>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Atlassian, “User stories with examples and a template | Atlassian,” Mar. 10, 2026. </a:t>
            </a:r>
            <a:r>
              <a:rPr lang="en-US" sz="2200" dirty="0">
                <a:latin typeface="Times New Roman" panose="02020603050405020304" pitchFamily="18" charset="0"/>
                <a:cs typeface="Times New Roman" panose="02020603050405020304" pitchFamily="18" charset="0"/>
                <a:hlinkClick r:id="rId4"/>
              </a:rPr>
              <a:t>https://www.atlassian.com/agile/project-management/user-stories</a:t>
            </a:r>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A. B. Salem, “Creating the perfect user story with INVEST criteria - </a:t>
            </a:r>
            <a:r>
              <a:rPr lang="en-US" sz="2200" dirty="0" err="1">
                <a:latin typeface="Times New Roman" panose="02020603050405020304" pitchFamily="18" charset="0"/>
                <a:cs typeface="Times New Roman" panose="02020603050405020304" pitchFamily="18" charset="0"/>
              </a:rPr>
              <a:t>Scrum-Master·Org</a:t>
            </a:r>
            <a:r>
              <a:rPr lang="en-US" sz="2200" dirty="0">
                <a:latin typeface="Times New Roman" panose="02020603050405020304" pitchFamily="18" charset="0"/>
                <a:cs typeface="Times New Roman" panose="02020603050405020304" pitchFamily="18" charset="0"/>
              </a:rPr>
              <a:t>,” </a:t>
            </a:r>
            <a:r>
              <a:rPr lang="en-US" sz="2200" i="1" dirty="0">
                <a:latin typeface="Times New Roman" panose="02020603050405020304" pitchFamily="18" charset="0"/>
                <a:cs typeface="Times New Roman" panose="02020603050405020304" pitchFamily="18" charset="0"/>
              </a:rPr>
              <a:t>Scrum Master #1</a:t>
            </a:r>
            <a:r>
              <a:rPr lang="en-US" sz="2200" dirty="0">
                <a:latin typeface="Times New Roman" panose="02020603050405020304" pitchFamily="18" charset="0"/>
                <a:cs typeface="Times New Roman" panose="02020603050405020304" pitchFamily="18" charset="0"/>
              </a:rPr>
              <a:t>, Jun. 20, 2024. </a:t>
            </a:r>
            <a:r>
              <a:rPr lang="en-US" sz="2200" dirty="0">
                <a:latin typeface="Times New Roman" panose="02020603050405020304" pitchFamily="18" charset="0"/>
                <a:cs typeface="Times New Roman" panose="02020603050405020304" pitchFamily="18" charset="0"/>
                <a:hlinkClick r:id="rId5"/>
              </a:rPr>
              <a:t>https://scrum-master.org/en/creating-the-perfect-user-story-with-invest-criteria/</a:t>
            </a:r>
            <a:endParaRPr lang="en-US" sz="2200" dirty="0">
              <a:latin typeface="Times New Roman" panose="02020603050405020304" pitchFamily="18" charset="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0375269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CB94D-A622-31A5-14CC-324EBF9E84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8CF3A1-85FE-6EF3-94A8-03F9FED1FA97}"/>
              </a:ext>
            </a:extLst>
          </p:cNvPr>
          <p:cNvSpPr>
            <a:spLocks noGrp="1"/>
          </p:cNvSpPr>
          <p:nvPr>
            <p:ph type="title"/>
          </p:nvPr>
        </p:nvSpPr>
        <p:spPr>
          <a:solidFill>
            <a:schemeClr val="tx1"/>
          </a:solidFill>
        </p:spPr>
        <p:txBody>
          <a:bodyPr>
            <a:normAutofit/>
          </a:bodyPr>
          <a:lstStyle/>
          <a:p>
            <a:r>
              <a:rPr lang="en-US" dirty="0">
                <a:solidFill>
                  <a:srgbClr val="FFFF00"/>
                </a:solidFill>
                <a:latin typeface="Times New Roman Regular" panose="02020603050405020304" charset="0"/>
                <a:cs typeface="Times New Roman Regular" panose="02020603050405020304" charset="0"/>
              </a:rPr>
              <a:t>References</a:t>
            </a:r>
          </a:p>
        </p:txBody>
      </p:sp>
      <p:sp>
        <p:nvSpPr>
          <p:cNvPr id="3" name="Content Placeholder 2">
            <a:extLst>
              <a:ext uri="{FF2B5EF4-FFF2-40B4-BE49-F238E27FC236}">
                <a16:creationId xmlns:a16="http://schemas.microsoft.com/office/drawing/2014/main" id="{D457E27F-B66F-B633-513E-B266CC8E8645}"/>
              </a:ext>
            </a:extLst>
          </p:cNvPr>
          <p:cNvSpPr>
            <a:spLocks noGrp="1"/>
          </p:cNvSpPr>
          <p:nvPr>
            <p:ph idx="1"/>
          </p:nvPr>
        </p:nvSpPr>
        <p:spPr>
          <a:xfrm>
            <a:off x="457200" y="1600200"/>
            <a:ext cx="8229600" cy="4398264"/>
          </a:xfrm>
        </p:spPr>
        <p:txBody>
          <a:bodyPr>
            <a:noAutofit/>
          </a:bodyPr>
          <a:lstStyle/>
          <a:p>
            <a:r>
              <a:rPr lang="en-US" sz="2200" dirty="0">
                <a:latin typeface="Times New Roman" panose="02020603050405020304" pitchFamily="18" charset="0"/>
                <a:cs typeface="Times New Roman" panose="02020603050405020304" pitchFamily="18" charset="0"/>
              </a:rPr>
              <a:t>“Give / when / then acceptance criteria for user stories in agile development,” </a:t>
            </a:r>
            <a:r>
              <a:rPr lang="en-US" sz="2200" i="1" dirty="0">
                <a:latin typeface="Times New Roman" panose="02020603050405020304" pitchFamily="18" charset="0"/>
                <a:cs typeface="Times New Roman" panose="02020603050405020304" pitchFamily="18" charset="0"/>
              </a:rPr>
              <a:t>Visual Paradigm Guides</a:t>
            </a:r>
            <a:r>
              <a:rPr lang="en-US" sz="2200" dirty="0">
                <a:latin typeface="Times New Roman" panose="02020603050405020304" pitchFamily="18" charset="0"/>
                <a:cs typeface="Times New Roman" panose="02020603050405020304" pitchFamily="18" charset="0"/>
              </a:rPr>
              <a:t>, Sep. 18, 2023. </a:t>
            </a:r>
            <a:r>
              <a:rPr lang="en-US" sz="2200" dirty="0">
                <a:latin typeface="Times New Roman" panose="02020603050405020304" pitchFamily="18" charset="0"/>
                <a:cs typeface="Times New Roman" panose="02020603050405020304" pitchFamily="18" charset="0"/>
                <a:hlinkClick r:id="rId2"/>
              </a:rPr>
              <a:t>https://guides.visual-paradigm.com/give-when-then-acceptance-criteria-for-user-stories-in-agile-development/</a:t>
            </a:r>
            <a:endParaRPr lang="en-US" sz="2200" dirty="0">
              <a:latin typeface="Times New Roman" panose="02020603050405020304" pitchFamily="18" charset="0"/>
              <a:cs typeface="Times New Roman" panose="02020603050405020304" pitchFamily="18" charset="0"/>
            </a:endParaRPr>
          </a:p>
          <a:p>
            <a:r>
              <a:rPr lang="en-US" sz="2200" dirty="0" err="1">
                <a:latin typeface="Times New Roman" panose="02020603050405020304" pitchFamily="18" charset="0"/>
                <a:cs typeface="Times New Roman" panose="02020603050405020304" pitchFamily="18" charset="0"/>
              </a:rPr>
              <a:t>ProductPlan</a:t>
            </a:r>
            <a:r>
              <a:rPr lang="en-US" sz="2200" dirty="0">
                <a:latin typeface="Times New Roman" panose="02020603050405020304" pitchFamily="18" charset="0"/>
                <a:cs typeface="Times New Roman" panose="02020603050405020304" pitchFamily="18" charset="0"/>
              </a:rPr>
              <a:t>, “Kano Model | Glossary | </a:t>
            </a:r>
            <a:r>
              <a:rPr lang="en-US" sz="2200" dirty="0" err="1">
                <a:latin typeface="Times New Roman" panose="02020603050405020304" pitchFamily="18" charset="0"/>
                <a:cs typeface="Times New Roman" panose="02020603050405020304" pitchFamily="18" charset="0"/>
              </a:rPr>
              <a:t>ProductPlan</a:t>
            </a:r>
            <a:r>
              <a:rPr lang="en-US" sz="2200" dirty="0">
                <a:latin typeface="Times New Roman" panose="02020603050405020304" pitchFamily="18" charset="0"/>
                <a:cs typeface="Times New Roman" panose="02020603050405020304" pitchFamily="18" charset="0"/>
              </a:rPr>
              <a:t>,” </a:t>
            </a:r>
            <a:r>
              <a:rPr lang="en-US" sz="2200" i="1" dirty="0" err="1">
                <a:latin typeface="Times New Roman" panose="02020603050405020304" pitchFamily="18" charset="0"/>
                <a:cs typeface="Times New Roman" panose="02020603050405020304" pitchFamily="18" charset="0"/>
              </a:rPr>
              <a:t>ProductPlan</a:t>
            </a:r>
            <a:r>
              <a:rPr lang="en-US" sz="2200" dirty="0">
                <a:latin typeface="Times New Roman" panose="02020603050405020304" pitchFamily="18" charset="0"/>
                <a:cs typeface="Times New Roman" panose="02020603050405020304" pitchFamily="18" charset="0"/>
              </a:rPr>
              <a:t>, Apr. 21, 2026. </a:t>
            </a:r>
            <a:r>
              <a:rPr lang="en-US" sz="2200" dirty="0">
                <a:latin typeface="Times New Roman" panose="02020603050405020304" pitchFamily="18" charset="0"/>
                <a:cs typeface="Times New Roman" panose="02020603050405020304" pitchFamily="18" charset="0"/>
                <a:hlinkClick r:id="rId3"/>
              </a:rPr>
              <a:t>https://www.productplan.com/glossary/kano-model</a:t>
            </a:r>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C. Team, “What is a Data Flow Diagram (DFD)? Examples &amp; Tips | Canva,” </a:t>
            </a:r>
            <a:r>
              <a:rPr lang="en-US" sz="2200" i="1" dirty="0">
                <a:latin typeface="Times New Roman" panose="02020603050405020304" pitchFamily="18" charset="0"/>
                <a:cs typeface="Times New Roman" panose="02020603050405020304" pitchFamily="18" charset="0"/>
              </a:rPr>
              <a:t>Canva</a:t>
            </a:r>
            <a:r>
              <a:rPr lang="en-US" sz="2200" dirty="0">
                <a:latin typeface="Times New Roman" panose="02020603050405020304" pitchFamily="18" charset="0"/>
                <a:cs typeface="Times New Roman" panose="02020603050405020304" pitchFamily="18" charset="0"/>
              </a:rPr>
              <a:t>, Jun. 09, 2026. </a:t>
            </a:r>
            <a:r>
              <a:rPr lang="en-US" sz="2200" dirty="0">
                <a:latin typeface="Times New Roman" panose="02020603050405020304" pitchFamily="18" charset="0"/>
                <a:cs typeface="Times New Roman" panose="02020603050405020304" pitchFamily="18" charset="0"/>
                <a:hlinkClick r:id="rId4"/>
              </a:rPr>
              <a:t>https://www.canva.com/online-whiteboard/data-flow-diagrams/</a:t>
            </a: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832357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12796</TotalTime>
  <Words>4012</Words>
  <Application>Microsoft Office PowerPoint</Application>
  <PresentationFormat>On-screen Show (4:3)</PresentationFormat>
  <Paragraphs>337</Paragraphs>
  <Slides>63</Slides>
  <Notes>23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63</vt:i4>
      </vt:variant>
    </vt:vector>
  </HeadingPairs>
  <TitlesOfParts>
    <vt:vector size="71" baseType="lpstr">
      <vt:lpstr>Aptos</vt:lpstr>
      <vt:lpstr>Arial</vt:lpstr>
      <vt:lpstr>Calibri</vt:lpstr>
      <vt:lpstr>Times New Roman</vt:lpstr>
      <vt:lpstr>Times New Roman Bold</vt:lpstr>
      <vt:lpstr>Times New Roman Regular</vt:lpstr>
      <vt:lpstr>Wingdings</vt:lpstr>
      <vt:lpstr>Office Theme</vt:lpstr>
      <vt:lpstr>REQUIREMENT ENGINEERING </vt:lpstr>
      <vt:lpstr>Lesson 5: Requirement Analysis</vt:lpstr>
      <vt:lpstr>Previously…</vt:lpstr>
      <vt:lpstr>Chapter Outlines </vt:lpstr>
      <vt:lpstr>Where We Are Now</vt:lpstr>
      <vt:lpstr>What’s Wrong with Raw Requirements?</vt:lpstr>
      <vt:lpstr>What is Requirements Analysis?</vt:lpstr>
      <vt:lpstr>What is Requirements Analysis</vt:lpstr>
      <vt:lpstr>Why Requirements Analysis</vt:lpstr>
      <vt:lpstr>Structuring Requirements (Use Cases vs User Stories)</vt:lpstr>
      <vt:lpstr>Use Cases</vt:lpstr>
      <vt:lpstr>Use Cases</vt:lpstr>
      <vt:lpstr>Use Cases</vt:lpstr>
      <vt:lpstr>Use Cases</vt:lpstr>
      <vt:lpstr>Use Cases</vt:lpstr>
      <vt:lpstr>Use Cases</vt:lpstr>
      <vt:lpstr>Use Cases</vt:lpstr>
      <vt:lpstr>Use Cases</vt:lpstr>
      <vt:lpstr>User Stories</vt:lpstr>
      <vt:lpstr>User Stories</vt:lpstr>
      <vt:lpstr>User Stories</vt:lpstr>
      <vt:lpstr>User Stories</vt:lpstr>
      <vt:lpstr>Writing User Stories: INVEST</vt:lpstr>
      <vt:lpstr>Writing User Stories: INVEST</vt:lpstr>
      <vt:lpstr>Writing User Stories: INVEST</vt:lpstr>
      <vt:lpstr>Writing User Stories: INVEST</vt:lpstr>
      <vt:lpstr>Writing User Stories: INVEST</vt:lpstr>
      <vt:lpstr>Writing User Stories: INVEST</vt:lpstr>
      <vt:lpstr>User Stories: Acceptance Criteria</vt:lpstr>
      <vt:lpstr>User Stories: Acceptance Criteria</vt:lpstr>
      <vt:lpstr>User Stories: Acceptance Criteria</vt:lpstr>
      <vt:lpstr>User Stories: Acceptance Criteria</vt:lpstr>
      <vt:lpstr>User Stories: Acceptance Criteria</vt:lpstr>
      <vt:lpstr>Yesterday…</vt:lpstr>
      <vt:lpstr>Today…</vt:lpstr>
      <vt:lpstr>Requirement Prioritization</vt:lpstr>
      <vt:lpstr>Requirement Prioritization</vt:lpstr>
      <vt:lpstr>Requirement Prioritization Techniques</vt:lpstr>
      <vt:lpstr>Requirement Prioritization Techniques</vt:lpstr>
      <vt:lpstr>Requirement Prioritization Techniques</vt:lpstr>
      <vt:lpstr>Requirement Prioritization Techniques</vt:lpstr>
      <vt:lpstr>2. Requirement Prioritization</vt:lpstr>
      <vt:lpstr>2. Requirement Prioritization</vt:lpstr>
      <vt:lpstr>Conflict Resolution in Requirements</vt:lpstr>
      <vt:lpstr>3. Conflict Resolution in Requirements</vt:lpstr>
      <vt:lpstr>4. Requirement Modeling</vt:lpstr>
      <vt:lpstr>4. Requirement Modeling</vt:lpstr>
      <vt:lpstr>PowerPoint Presentation</vt:lpstr>
      <vt:lpstr>4. Requirement Modeling</vt:lpstr>
      <vt:lpstr>PowerPoint Presentation</vt:lpstr>
      <vt:lpstr>4. Requirement Modeling</vt:lpstr>
      <vt:lpstr>PowerPoint Presentation</vt:lpstr>
      <vt:lpstr>4. Requirement Modeling</vt:lpstr>
      <vt:lpstr>PowerPoint Presentation</vt:lpstr>
      <vt:lpstr>Quality Attributes of Good Requirements</vt:lpstr>
      <vt:lpstr>5. Quality Attributes of Good Requirements</vt:lpstr>
      <vt:lpstr>PIECES Framework for Requirement Analysis</vt:lpstr>
      <vt:lpstr>PIECES Framework for Requirement Analysis</vt:lpstr>
      <vt:lpstr>Tools for Requirement Analysis</vt:lpstr>
      <vt:lpstr>Tools for Requirement Analysis</vt:lpstr>
      <vt:lpstr>Tools for Requirement Analysis</vt:lpstr>
      <vt:lpstr>References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STUDENT</dc:creator>
  <dc:description>generated using python-pptx</dc:description>
  <cp:lastModifiedBy>Kabera Clapton Gahenda</cp:lastModifiedBy>
  <cp:revision>33</cp:revision>
  <dcterms:created xsi:type="dcterms:W3CDTF">2026-02-12T12:59:59Z</dcterms:created>
  <dcterms:modified xsi:type="dcterms:W3CDTF">2026-07-08T13:55:14Z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1033-12.1.23155.23155</vt:lpwstr>
  </property>
  <property fmtid="{D5CDD505-2E9C-101B-9397-08002B2CF9AE}" pid="3" name="ICV">
    <vt:lpwstr>83F5A14D51F2EB5EDF1EEC661AE8FD04_43</vt:lpwstr>
  </property>
</Properties>
</file>