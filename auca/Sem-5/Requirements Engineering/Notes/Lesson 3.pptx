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77" r:id="rId3"/>
    <p:sldId id="264" r:id="rId4"/>
    <p:sldId id="339" r:id="rId5"/>
    <p:sldId id="306" r:id="rId6"/>
    <p:sldId id="307" r:id="rId7"/>
    <p:sldId id="345" r:id="rId8"/>
    <p:sldId id="340" r:id="rId9"/>
    <p:sldId id="327" r:id="rId10"/>
    <p:sldId id="323" r:id="rId11"/>
    <p:sldId id="342" r:id="rId12"/>
    <p:sldId id="324" r:id="rId13"/>
    <p:sldId id="325" r:id="rId14"/>
    <p:sldId id="326" r:id="rId15"/>
    <p:sldId id="328" r:id="rId16"/>
    <p:sldId id="329" r:id="rId17"/>
    <p:sldId id="330" r:id="rId18"/>
    <p:sldId id="331" r:id="rId19"/>
    <p:sldId id="343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4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4" d="100"/>
          <a:sy n="84" d="100"/>
        </p:scale>
        <p:origin x="869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5395A-A819-4374-8FC0-4181BCDC973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CE936-612D-4993-9938-A3AD3C4BA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will miss non-functional requirements here but at least you know what the user needs and this helps not to create unnecessary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1CE936-612D-4993-9938-A3AD3C4BA6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5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rriam-webster.com/dictionary/elicit?pronunciation&amp;lang=en_us&amp;dir=e&amp;file=elicit0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merriam-webster.com/dictionary/elicit?pronunciation&amp;lang=en_us&amp;dir=e&amp;file=elicit01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pOivneE9Hxo579QQBebaNmfUw2PbVRgyhNQaJ3eHR8U/edit?usp=sharing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rriam-webster.com/dictionary/elic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635" cy="1470025"/>
          </a:xfrm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29205"/>
            <a:ext cx="9144635" cy="1137285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Lesson 3: </a:t>
            </a:r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Requirement Elicitation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Previously…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9870"/>
          </a:xfrm>
        </p:spPr>
        <p:txBody>
          <a:bodyPr>
            <a:normAutofit fontScale="97500"/>
          </a:bodyPr>
          <a:lstStyle/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Requirements Engineering Process</a:t>
            </a:r>
          </a:p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The 5 requirements engineering phases</a:t>
            </a:r>
          </a:p>
          <a:p>
            <a:pPr lvl="0"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Challenges faced during the requirements engineering process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7482F-D4B4-4D64-BC9B-EEA5F3CD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2F54-1B6A-D04B-819D-42C6C48B5BB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Chapter Outlines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F4979-B2E0-33C3-ACA0-CC19F9800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39870"/>
          </a:xfrm>
        </p:spPr>
        <p:txBody>
          <a:bodyPr>
            <a:normAutofit fontScale="90000"/>
          </a:bodyPr>
          <a:lstStyle/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Introduction to Requirement Elicitation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Importance of Requirement Elicitation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Stakeholders and Sources of Requirements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Techniques for Requirement Elicitation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Challenges in Requirement Elicitation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Best Practices for Effective Requirement Elicitation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7620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Learning 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 fontScale="97500" lnSpcReduction="10000"/>
          </a:bodyPr>
          <a:lstStyle/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Understand the concept and significance of requirement elicitation in software development.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Identify key stakeholders involved in the elicitation process.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Apply various requirement elicitation techniques effectively.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Recognize and address common challenges in requirement elicitation.</a:t>
            </a:r>
          </a:p>
          <a:p>
            <a:pPr algn="just"/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Implement best practices to improve requirement elicitation outcomes.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algn="just"/>
            <a:r>
              <a:rPr lang="en-US" i="1" dirty="0" err="1"/>
              <a:t>elic</a:t>
            </a:r>
            <a:r>
              <a:rPr lang="en-US" i="1" dirty="0"/>
              <a:t>·​it (</a:t>
            </a:r>
            <a:r>
              <a:rPr lang="en-US" i="1" dirty="0" err="1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i="1" dirty="0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-ˈli-</a:t>
            </a:r>
            <a:r>
              <a:rPr lang="en-US" i="1" dirty="0" err="1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sət</a:t>
            </a:r>
            <a:r>
              <a:rPr lang="en-US" i="1" dirty="0"/>
              <a:t>) verb: </a:t>
            </a:r>
            <a:r>
              <a:rPr lang="en-US" dirty="0"/>
              <a:t>to draw out a response or a reaction from someone with skill. For example: “The video elicited strong emotional reactions”. </a:t>
            </a:r>
          </a:p>
          <a:p>
            <a:pPr algn="just"/>
            <a:r>
              <a:rPr lang="en-US" i="1" dirty="0"/>
              <a:t>Not to be confused with illicit which means illegal.</a:t>
            </a:r>
            <a:endParaRPr lang="en-US" dirty="0"/>
          </a:p>
          <a:p>
            <a:pPr algn="just"/>
            <a:endParaRPr lang="en-US" altLang="en-US" sz="3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B87E-FF9F-C13D-D117-CA3BD76A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F6E7F-6200-8037-75C6-1639742D5D2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9914-79B6-4CA3-C434-4DAC3BAEA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algn="just"/>
            <a:r>
              <a:rPr lang="en-US" i="1" dirty="0" err="1"/>
              <a:t>elic</a:t>
            </a:r>
            <a:r>
              <a:rPr lang="en-US" i="1" dirty="0"/>
              <a:t>·​it (</a:t>
            </a:r>
            <a:r>
              <a:rPr lang="en-US" i="1" dirty="0" err="1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i="1" dirty="0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-ˈli-</a:t>
            </a:r>
            <a:r>
              <a:rPr lang="en-US" i="1" dirty="0" err="1">
                <a:hlinkClick r:id="rId2" tooltip="How to pronounce elicit (audi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sət</a:t>
            </a:r>
            <a:r>
              <a:rPr lang="en-US" i="1" dirty="0"/>
              <a:t>) verb: </a:t>
            </a:r>
            <a:r>
              <a:rPr lang="en-US" dirty="0"/>
              <a:t>to draw out a response or a reaction from someone with skill. For example: “The video elicited strong emotional reactions”. </a:t>
            </a:r>
          </a:p>
          <a:p>
            <a:pPr algn="just"/>
            <a:r>
              <a:rPr lang="en-US" i="1" dirty="0"/>
              <a:t>Not to be confused with illicit which means illegal.</a:t>
            </a:r>
            <a:endParaRPr lang="en-US" dirty="0"/>
          </a:p>
          <a:p>
            <a:pPr algn="just"/>
            <a:endParaRPr lang="en-US" altLang="en-US" sz="32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FBD8B-12AA-790D-5A6D-8E16EB225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7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EF5C-16F2-8F58-802F-ED9E6A64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9820-F4A7-9D4C-886E-578119EDA86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C7A3B-F089-156F-E3A5-F502FE143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7615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>
                <a:latin typeface="Times New Roman Regular" panose="02020603050405020304" charset="0"/>
                <a:cs typeface="Times New Roman Regular" panose="02020603050405020304" charset="0"/>
              </a:rPr>
              <a:t>Requirement elicitation is the process of gathering, identifying, and understanding the needs and expectations of stakeholders for a system or software project. </a:t>
            </a:r>
          </a:p>
          <a:p>
            <a:pPr algn="just"/>
            <a:r>
              <a:rPr lang="en-US" altLang="en-US" sz="3200" dirty="0">
                <a:latin typeface="Times New Roman Regular" panose="02020603050405020304" charset="0"/>
                <a:cs typeface="Times New Roman Regular" panose="02020603050405020304" charset="0"/>
              </a:rPr>
              <a:t>It is a crucial step in Requirement Engineering, as poorly elicited requirements can lead to project failures, increased costs, and stakeholder dissatisfaction.</a:t>
            </a:r>
          </a:p>
        </p:txBody>
      </p:sp>
    </p:spTree>
    <p:extLst>
      <p:ext uri="{BB962C8B-B14F-4D97-AF65-F5344CB8AC3E}">
        <p14:creationId xmlns:p14="http://schemas.microsoft.com/office/powerpoint/2010/main" val="231618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2. Importance of Requirement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Ensures the system meets stakeholder expectations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Helps in defining clear and achievable project goals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Reduces project risks and costly rework</a:t>
            </a:r>
          </a:p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Improves communication among stakeholders and development teams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Stakeholders and Sources of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Autofit/>
          </a:bodyPr>
          <a:lstStyle/>
          <a:p>
            <a:pPr algn="just"/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Customers and End-Users:</a:t>
            </a:r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 Individuals interacting with the final product</a:t>
            </a:r>
          </a:p>
          <a:p>
            <a:pPr algn="just"/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Project Managers:</a:t>
            </a:r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 Oversee project planning and execution</a:t>
            </a:r>
          </a:p>
          <a:p>
            <a:pPr algn="just"/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Software Developers: </a:t>
            </a:r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Design and implement the system</a:t>
            </a:r>
          </a:p>
          <a:p>
            <a:pPr algn="just"/>
            <a:r>
              <a:rPr lang="en-US" altLang="en-US" sz="2700" b="1" dirty="0">
                <a:latin typeface="Times New Roman Bold" panose="02020603050405020304" charset="0"/>
                <a:cs typeface="Times New Roman Bold" panose="02020603050405020304" charset="0"/>
              </a:rPr>
              <a:t>Regulators &amp; Compliance Officers:</a:t>
            </a:r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 Ensure adherence to industry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1B56-A2C7-6443-25D8-C5B862596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9232-7342-5C4E-99ED-0A8271CCD24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3. Stakeholders and Sources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BA8E7-26C8-B259-E9D2-4C27130F0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Autofit/>
          </a:bodyPr>
          <a:lstStyle/>
          <a:p>
            <a:pPr algn="just"/>
            <a:r>
              <a:rPr lang="en-US" sz="2800" strike="sngStrike" dirty="0"/>
              <a:t>User representatives and many other stakeholders</a:t>
            </a:r>
          </a:p>
          <a:p>
            <a:pPr algn="just"/>
            <a:r>
              <a:rPr lang="en-US" sz="2800" dirty="0"/>
              <a:t>Documentation about business processes, current systems, and competing products </a:t>
            </a:r>
          </a:p>
          <a:p>
            <a:pPr algn="just"/>
            <a:r>
              <a:rPr lang="en-US" sz="2800" dirty="0"/>
              <a:t>Laws, regulations, and business policies </a:t>
            </a:r>
          </a:p>
          <a:p>
            <a:pPr algn="just"/>
            <a:r>
              <a:rPr lang="en-US" sz="2800" dirty="0"/>
              <a:t>Existing systems, which may or may not be documented </a:t>
            </a:r>
          </a:p>
          <a:p>
            <a:pPr algn="just"/>
            <a:r>
              <a:rPr lang="en-US" sz="2800" dirty="0"/>
              <a:t>User problem reports, help desk records, and support staff</a:t>
            </a:r>
            <a:endParaRPr lang="en-US" altLang="en-US" sz="27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2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500"/>
            <a:ext cx="9144000" cy="1143000"/>
          </a:xfrm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 Techniques for Requirement Elicitation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4.1.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Autofit/>
          </a:bodyPr>
          <a:lstStyle/>
          <a:p>
            <a:pPr algn="just"/>
            <a:r>
              <a:rPr lang="en-US" altLang="en-US" sz="2700" dirty="0">
                <a:latin typeface="Times New Roman Regular" panose="02020603050405020304" charset="0"/>
                <a:cs typeface="Times New Roman Regular" panose="02020603050405020304" charset="0"/>
              </a:rPr>
              <a:t>Interviews involve direct discussions with stakeholders to gather insights into their needs, expectations, and constraints. Interviews can be:</a:t>
            </a:r>
          </a:p>
          <a:p>
            <a:pPr lvl="1" algn="just"/>
            <a:r>
              <a:rPr lang="en-US" altLang="en-US" sz="2360" b="1" dirty="0">
                <a:latin typeface="Times New Roman Bold" panose="02020603050405020304" charset="0"/>
                <a:cs typeface="Times New Roman Bold" panose="02020603050405020304" charset="0"/>
              </a:rPr>
              <a:t>Structured: </a:t>
            </a:r>
            <a:r>
              <a:rPr lang="en-US" altLang="en-US" sz="2360" dirty="0">
                <a:latin typeface="Times New Roman Regular" panose="02020603050405020304" charset="0"/>
                <a:cs typeface="Times New Roman Regular" panose="02020603050405020304" charset="0"/>
              </a:rPr>
              <a:t>Predefined set of questions</a:t>
            </a:r>
          </a:p>
          <a:p>
            <a:pPr lvl="1" algn="just"/>
            <a:r>
              <a:rPr lang="en-US" altLang="en-US" sz="2360" b="1" dirty="0">
                <a:latin typeface="Times New Roman Bold" panose="02020603050405020304" charset="0"/>
                <a:cs typeface="Times New Roman Bold" panose="02020603050405020304" charset="0"/>
              </a:rPr>
              <a:t>Unstructured:</a:t>
            </a:r>
            <a:r>
              <a:rPr lang="en-US" altLang="en-US" sz="2360" dirty="0">
                <a:latin typeface="Times New Roman Regular" panose="02020603050405020304" charset="0"/>
                <a:cs typeface="Times New Roman Regular" panose="02020603050405020304" charset="0"/>
              </a:rPr>
              <a:t> Open-ended discussions</a:t>
            </a:r>
          </a:p>
          <a:p>
            <a:pPr lvl="1" algn="just"/>
            <a:r>
              <a:rPr lang="en-US" altLang="en-US" sz="2360" b="1" dirty="0">
                <a:latin typeface="Times New Roman Bold" panose="02020603050405020304" charset="0"/>
                <a:cs typeface="Times New Roman Bold" panose="02020603050405020304" charset="0"/>
              </a:rPr>
              <a:t>Semi-Structured:</a:t>
            </a:r>
            <a:r>
              <a:rPr lang="en-US" altLang="en-US" sz="2360" dirty="0">
                <a:latin typeface="Times New Roman Regular" panose="02020603050405020304" charset="0"/>
                <a:cs typeface="Times New Roman Regular" panose="02020603050405020304" charset="0"/>
              </a:rPr>
              <a:t> A mix of structured and open-ended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4.2. Surveys &amp; Questionnaires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Surveys help in collecting data from a large number of stakeholders using predefined questions. Useful for: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Gathering opinions and feedback</a:t>
            </a:r>
          </a:p>
          <a:p>
            <a:pPr lvl="1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Identifying common trends and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4.3 Workshops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068445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Workshops bring together multiple stakeholders to discuss and refine requirements collaboratively. It includes:</a:t>
            </a:r>
          </a:p>
          <a:p>
            <a:pPr lvl="1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Brainstorming sessions</a:t>
            </a:r>
          </a:p>
          <a:p>
            <a:pPr lvl="1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Joint Application Development (JAD) meetings</a:t>
            </a:r>
          </a:p>
          <a:p>
            <a:pPr lvl="1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Prototyping demonstrations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4.4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74920"/>
          </a:xfrm>
        </p:spPr>
        <p:txBody>
          <a:bodyPr>
            <a:noAutofit/>
          </a:bodyPr>
          <a:lstStyle/>
          <a:p>
            <a:pPr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This involves directly watching users interact with existing systems to understand their workflow, pain points, and improvements needed.</a:t>
            </a:r>
          </a:p>
          <a:p>
            <a:pPr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Reasons for using this technique: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Direct User Interaction: 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Observing real-time user behavior to identify usability issues.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Workflow Analysis: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 Understanding how tasks are performed and identifying inefficiencies.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Unbiased Data Collection: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 Capturing actual user interactions without relying on self-reported feedback.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4.4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165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b="1">
                <a:latin typeface="Times New Roman Bold" panose="02020603050405020304" charset="0"/>
                <a:cs typeface="Times New Roman Bold" panose="02020603050405020304" charset="0"/>
              </a:rPr>
              <a:t>Identifying Hidden Requirements: </a:t>
            </a:r>
            <a:r>
              <a:rPr lang="en-US" altLang="en-US">
                <a:latin typeface="Times New Roman Regular" panose="02020603050405020304" charset="0"/>
                <a:cs typeface="Times New Roman Regular" panose="02020603050405020304" charset="0"/>
              </a:rPr>
              <a:t>Discovering implicit needs that users may not articulate.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4.5 Document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1419"/>
            <a:ext cx="8229600" cy="4699381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Reviewing existing documentation such as business reports, previous project records, and user manuals to extract relevant requirements.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Reasons for using this technique: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Historical Data Review: 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Analyzing past project documents to identify previously defined requirements and lessons learned.</a:t>
            </a:r>
          </a:p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Standard Compliance: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 Ensuring that requirements align with industry regulations and standards.</a:t>
            </a:r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F57BC-9C26-023D-86BF-4198FDE87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AFA9-F324-087B-A5B8-D5C56716FAC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4.5 Document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A1996-8E8E-6465-4C58-A1E9E8FCE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2861437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b="1" dirty="0">
                <a:latin typeface="Times New Roman Bold" panose="02020603050405020304" charset="0"/>
                <a:cs typeface="Times New Roman Bold" panose="02020603050405020304" charset="0"/>
              </a:rPr>
              <a:t>Gap Identification:</a:t>
            </a:r>
            <a:r>
              <a:rPr lang="en-US" altLang="en-US" dirty="0">
                <a:latin typeface="Times New Roman Regular" panose="02020603050405020304" charset="0"/>
                <a:cs typeface="Times New Roman Regular" panose="02020603050405020304" charset="0"/>
              </a:rPr>
              <a:t> Detecting missing or inconsistent information that needs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1318719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4.6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4259"/>
            <a:ext cx="8229600" cy="5165407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Creating a working model of the system to gather feedback from stakeholders and refine requirements based on their input.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Main activities: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Designing Initial Mockups: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Creating wireframes or sketches to visualize system components.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Developing a Functional Prototype: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Building an interactive model with core functionalities.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Gathering Stakeholder Feedback: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Testing the prototype with users to collect insights and suggestions.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4.6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39410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>
                <a:latin typeface="Times New Roman Bold" panose="02020603050405020304" charset="0"/>
                <a:cs typeface="Times New Roman Bold" panose="02020603050405020304" charset="0"/>
              </a:rPr>
              <a:t>Iterative Refinement:</a:t>
            </a:r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 Modifying the prototype based on feedback to improve usability and functionality.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4.7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0024"/>
            <a:ext cx="8229600" cy="4845685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Defining various scenarios in which the system will be used, outlining actor interactions and expected outcomes.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Main activities: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Identifying Actors: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Determining the primary users and external systems interacting with the system.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Defining Use Cases: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Documenting different interactions and functionalities the system must support.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4.7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9707"/>
            <a:ext cx="8229600" cy="4617085"/>
          </a:xfrm>
        </p:spPr>
        <p:txBody>
          <a:bodyPr>
            <a:noAutofit/>
          </a:bodyPr>
          <a:lstStyle/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Creating Use Case Diagrams: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Visually representing actor-system interactions for clarity.</a:t>
            </a:r>
          </a:p>
          <a:p>
            <a:pPr lvl="1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Validating Use Cases: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Reviewing with stakeholders to ensure completeness and accuracy of system requirements.</a:t>
            </a:r>
            <a:endParaRPr lang="en-US" altLang="en-US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7150" indent="0" algn="just">
              <a:buNone/>
            </a:pPr>
            <a:r>
              <a:rPr lang="en-US" altLang="en-US" b="1" dirty="0">
                <a:latin typeface="Times New Roman Regular" panose="02020603050405020304" charset="0"/>
                <a:cs typeface="Times New Roman Regular" panose="02020603050405020304" charset="0"/>
              </a:rPr>
              <a:t>Sample Use Case: </a:t>
            </a:r>
            <a:r>
              <a:rPr lang="en-US" altLang="en-US" b="1" dirty="0">
                <a:latin typeface="Times New Roman Regular" panose="02020603050405020304" charset="0"/>
                <a:cs typeface="Times New Roman Regular" panose="02020603050405020304" charset="0"/>
                <a:hlinkClick r:id="rId2"/>
              </a:rPr>
              <a:t>Use Case Template</a:t>
            </a:r>
            <a:endParaRPr lang="en-US" altLang="en-US" b="1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45720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I want to </a:t>
            </a:r>
            <a:r>
              <a:rPr lang="en-US" altLang="en-US" sz="2800" i="1" dirty="0">
                <a:latin typeface="Times New Roman Regular" panose="02020603050405020304" charset="0"/>
                <a:cs typeface="Times New Roman Regular" panose="02020603050405020304" charset="0"/>
              </a:rPr>
              <a:t>&lt;do something&gt;</a:t>
            </a:r>
            <a:endParaRPr lang="en-US" altLang="en-US" sz="2800" dirty="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marL="514350" indent="-45720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As a </a:t>
            </a:r>
            <a:r>
              <a:rPr lang="en-US" altLang="en-US" sz="2800" i="1" dirty="0">
                <a:latin typeface="Times New Roman Regular" panose="02020603050405020304" charset="0"/>
                <a:cs typeface="Times New Roman Regular" panose="02020603050405020304" charset="0"/>
              </a:rPr>
              <a:t>&lt;type of user&gt;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, I want to </a:t>
            </a:r>
            <a:r>
              <a:rPr lang="en-US" altLang="en-US" sz="2800" i="1" dirty="0">
                <a:latin typeface="Times New Roman Regular" panose="02020603050405020304" charset="0"/>
                <a:cs typeface="Times New Roman Regular" panose="02020603050405020304" charset="0"/>
              </a:rPr>
              <a:t>&lt;perform some task&gt;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so that I can </a:t>
            </a:r>
            <a:r>
              <a:rPr lang="en-US" altLang="en-US" sz="2800" i="1" dirty="0">
                <a:latin typeface="Times New Roman Regular" panose="02020603050405020304" charset="0"/>
                <a:cs typeface="Times New Roman Regular" panose="02020603050405020304" charset="0"/>
              </a:rPr>
              <a:t>&lt;achieve some goal&gt;. 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(User Stories)</a:t>
            </a:r>
            <a:endParaRPr lang="en-US" altLang="en-US" sz="2800" i="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5. Challenges in Requirement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38579"/>
            <a:ext cx="8229600" cy="3885565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Ambiguous Requirements: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Stakeholders may provide vague or conflicting requirements.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Changing Requirements: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Business needs evolve, leading to requirement modifications.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Stakeholder Conflicts: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Different stakeholders may have opposing expectations.</a:t>
            </a:r>
          </a:p>
          <a:p>
            <a:pPr lvl="0" algn="just"/>
            <a:r>
              <a:rPr lang="en-US" altLang="en-US" sz="2800" b="1" dirty="0">
                <a:latin typeface="Times New Roman Bold" panose="02020603050405020304" charset="0"/>
                <a:cs typeface="Times New Roman Bold" panose="02020603050405020304" charset="0"/>
              </a:rPr>
              <a:t>Limited User Involvement:</a:t>
            </a:r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 Poor engagement from end-users may result in incomplete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 fontScale="90000"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6. Best Practices for Effective Requirement Elicitation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62EA1F-A9DF-B4E7-F55F-E079068A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3403"/>
            <a:ext cx="8229600" cy="4763389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Engage all relevant stakeholders early and consistently.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Use multiple elicitation techniques for comprehensive data collection.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Clearly define scope and objectives before elicitation begins.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Validate and verify requirements with stakeholders regularly.</a:t>
            </a:r>
          </a:p>
          <a:p>
            <a:pPr lvl="0" algn="just"/>
            <a:r>
              <a:rPr lang="en-US" altLang="en-US" sz="2800" dirty="0">
                <a:latin typeface="Times New Roman Regular" panose="02020603050405020304" charset="0"/>
                <a:cs typeface="Times New Roman Regular" panose="02020603050405020304" charset="0"/>
              </a:rPr>
              <a:t>Document requirements systematically to avoid misinterpretations.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39410"/>
          </a:xfrm>
        </p:spPr>
        <p:txBody>
          <a:bodyPr>
            <a:noAutofit/>
          </a:bodyPr>
          <a:lstStyle/>
          <a:p>
            <a:pPr lvl="0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Requirement elicitation is a foundational phase of software development and requirement engineering.</a:t>
            </a:r>
          </a:p>
          <a:p>
            <a:pPr lvl="0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Employing the right techniques and engaging stakeholders effectively ensures a high-quality system that aligns with user needs and business goals.</a:t>
            </a:r>
          </a:p>
          <a:p>
            <a:pPr lvl="0" algn="just"/>
            <a:r>
              <a:rPr lang="en-US" altLang="en-US" sz="2800">
                <a:latin typeface="Times New Roman Regular" panose="02020603050405020304" charset="0"/>
                <a:cs typeface="Times New Roman Regular" panose="02020603050405020304" charset="0"/>
              </a:rPr>
              <a:t> By overcoming challenges through best practices, organizations can reduce project risks and improve software success rates.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6941-00D0-DE15-8E09-D49C531B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DDDA-179A-16BB-184B-83B38FFAA99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FF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76CCA-F386-AE6A-DF6B-42B9DA30D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5439410"/>
          </a:xfrm>
        </p:spPr>
        <p:txBody>
          <a:bodyPr>
            <a:noAutofit/>
          </a:bodyPr>
          <a:lstStyle/>
          <a:p>
            <a:r>
              <a:rPr lang="en-US" sz="2000" dirty="0"/>
              <a:t>“elicit,” </a:t>
            </a:r>
            <a:r>
              <a:rPr lang="en-US" sz="2000" i="1" dirty="0"/>
              <a:t>Merriam-Webster Dictionary</a:t>
            </a:r>
            <a:r>
              <a:rPr lang="en-US" sz="2000" dirty="0"/>
              <a:t>. Jun. 15, 2026. [Online]. Available: </a:t>
            </a:r>
            <a:r>
              <a:rPr lang="en-US" sz="2000" dirty="0">
                <a:hlinkClick r:id="rId2"/>
              </a:rPr>
              <a:t>https://www.merriam-webster.com/dictionary/elicit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572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2483</TotalTime>
  <Words>1069</Words>
  <Application>Microsoft Office PowerPoint</Application>
  <PresentationFormat>On-screen Show (4:3)</PresentationFormat>
  <Paragraphs>113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Times New Roman Bold</vt:lpstr>
      <vt:lpstr>Times New Roman Regular</vt:lpstr>
      <vt:lpstr>Office Theme</vt:lpstr>
      <vt:lpstr>REQUIREMENT ENGINEERING </vt:lpstr>
      <vt:lpstr>Lesson 3: Requirement Elicitation</vt:lpstr>
      <vt:lpstr>Previously…</vt:lpstr>
      <vt:lpstr>Chapter Outlines </vt:lpstr>
      <vt:lpstr>Learning Objectives:</vt:lpstr>
      <vt:lpstr>1. Introduction</vt:lpstr>
      <vt:lpstr>1. Introduction</vt:lpstr>
      <vt:lpstr>1. Introduction</vt:lpstr>
      <vt:lpstr>2. Importance of Requirement Elicitation</vt:lpstr>
      <vt:lpstr>3. Stakeholders and Sources of Requirements</vt:lpstr>
      <vt:lpstr>3. Stakeholders and Sources of Requirements</vt:lpstr>
      <vt:lpstr>4. Techniques for Requirement Elicitation</vt:lpstr>
      <vt:lpstr>4.1. Interviews</vt:lpstr>
      <vt:lpstr>4.2. Surveys &amp; Questionnaires</vt:lpstr>
      <vt:lpstr>4.3 Workshops</vt:lpstr>
      <vt:lpstr>4.4 Observations</vt:lpstr>
      <vt:lpstr>4.4 Observations</vt:lpstr>
      <vt:lpstr>4.5 Document Analysis</vt:lpstr>
      <vt:lpstr>4.5 Document Analysis</vt:lpstr>
      <vt:lpstr>4.6 Prototyping</vt:lpstr>
      <vt:lpstr>4.6 Prototyping</vt:lpstr>
      <vt:lpstr>4.7 Use Cases</vt:lpstr>
      <vt:lpstr>4.7 Use Cases</vt:lpstr>
      <vt:lpstr>5. Challenges in Requirement Elicitation</vt:lpstr>
      <vt:lpstr>6. Best Practices for Effective Requirement Elicitation</vt:lpstr>
      <vt:lpstr>7.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Kabera Clapton Gahenda</cp:lastModifiedBy>
  <cp:revision>27</cp:revision>
  <dcterms:created xsi:type="dcterms:W3CDTF">2026-02-12T12:59:31Z</dcterms:created>
  <dcterms:modified xsi:type="dcterms:W3CDTF">2026-06-23T11:05:48Z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345F2849B65435DDC751B86700622272_43</vt:lpwstr>
  </property>
</Properties>
</file>