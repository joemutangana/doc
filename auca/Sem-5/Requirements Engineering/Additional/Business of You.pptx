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36" r:id="rId1"/>
  </p:sldMasterIdLst>
  <p:notesMasterIdLst>
    <p:notesMasterId r:id="rId25"/>
  </p:notesMasterIdLst>
  <p:handoutMasterIdLst>
    <p:handoutMasterId r:id="rId26"/>
  </p:handoutMasterIdLst>
  <p:sldIdLst>
    <p:sldId id="258" r:id="rId2"/>
    <p:sldId id="358" r:id="rId3"/>
    <p:sldId id="379" r:id="rId4"/>
    <p:sldId id="381" r:id="rId5"/>
    <p:sldId id="378" r:id="rId6"/>
    <p:sldId id="389" r:id="rId7"/>
    <p:sldId id="390" r:id="rId8"/>
    <p:sldId id="380" r:id="rId9"/>
    <p:sldId id="394" r:id="rId10"/>
    <p:sldId id="396" r:id="rId11"/>
    <p:sldId id="384" r:id="rId12"/>
    <p:sldId id="385" r:id="rId13"/>
    <p:sldId id="382" r:id="rId14"/>
    <p:sldId id="399" r:id="rId15"/>
    <p:sldId id="386" r:id="rId16"/>
    <p:sldId id="383" r:id="rId17"/>
    <p:sldId id="391" r:id="rId18"/>
    <p:sldId id="392" r:id="rId19"/>
    <p:sldId id="393" r:id="rId20"/>
    <p:sldId id="1848" r:id="rId21"/>
    <p:sldId id="395" r:id="rId22"/>
    <p:sldId id="398" r:id="rId23"/>
    <p:sldId id="39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C1A6"/>
    <a:srgbClr val="EBE3CC"/>
    <a:srgbClr val="CDB8DE"/>
    <a:srgbClr val="CFC0A5"/>
    <a:srgbClr val="E8C65F"/>
    <a:srgbClr val="EEF5FF"/>
    <a:srgbClr val="EBE9E3"/>
    <a:srgbClr val="A28A42"/>
    <a:srgbClr val="0C1EBE"/>
    <a:srgbClr val="DFF1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56"/>
    <p:restoredTop sz="82524" autoAdjust="0"/>
  </p:normalViewPr>
  <p:slideViewPr>
    <p:cSldViewPr>
      <p:cViewPr varScale="1">
        <p:scale>
          <a:sx n="73" d="100"/>
          <a:sy n="73" d="100"/>
        </p:scale>
        <p:origin x="1123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>
      <p:cViewPr>
        <p:scale>
          <a:sx n="77" d="100"/>
          <a:sy n="77" d="100"/>
        </p:scale>
        <p:origin x="4752" y="7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en San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en Sans" charset="0"/>
              </a:defRPr>
            </a:lvl1pPr>
          </a:lstStyle>
          <a:p>
            <a:pPr>
              <a:defRPr/>
            </a:pPr>
            <a:fld id="{59AAF3D2-EDFA-BA42-9460-032E57456FC5}" type="datetimeFigureOut">
              <a:rPr lang="en-US"/>
              <a:pPr>
                <a:defRPr/>
              </a:pPr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en San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en Sans" charset="0"/>
              </a:defRPr>
            </a:lvl1pPr>
          </a:lstStyle>
          <a:p>
            <a:pPr>
              <a:defRPr/>
            </a:pPr>
            <a:fld id="{53E6B18D-BC97-A741-A494-5A40B396D8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aseline="0">
                <a:latin typeface="Open Sans" charset="0"/>
                <a:ea typeface="ＭＳ Ｐゴシック" charset="0"/>
                <a:cs typeface="Genev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aseline="0">
                <a:latin typeface="Open Sans" charset="0"/>
                <a:ea typeface="ＭＳ Ｐゴシック" charset="0"/>
                <a:cs typeface="Genev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aseline="0">
                <a:latin typeface="Open Sans" charset="0"/>
                <a:ea typeface="ＭＳ Ｐゴシック" charset="0"/>
                <a:cs typeface="Genev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aseline="0">
                <a:latin typeface="Open Sans" charset="0"/>
              </a:defRPr>
            </a:lvl1pPr>
          </a:lstStyle>
          <a:p>
            <a:pPr>
              <a:defRPr/>
            </a:pPr>
            <a:fld id="{2B24F439-14CB-B64A-A38E-43868DBA8F9B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Open Sans" charset="0"/>
        <a:ea typeface="ＭＳ Ｐゴシック" charset="0"/>
        <a:cs typeface="Geneva" pitchFamily="-110" charset="-128"/>
      </a:defRPr>
    </a:lvl1pPr>
    <a:lvl2pPr marL="609585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Open Sans" charset="0"/>
        <a:ea typeface="Geneva" pitchFamily="-110" charset="-128"/>
        <a:cs typeface="Geneva" charset="0"/>
      </a:defRPr>
    </a:lvl2pPr>
    <a:lvl3pPr marL="121917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Open Sans" charset="0"/>
        <a:ea typeface="Geneva" pitchFamily="-110" charset="-128"/>
        <a:cs typeface="Geneva" charset="0"/>
      </a:defRPr>
    </a:lvl3pPr>
    <a:lvl4pPr marL="1828754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Open Sans" charset="0"/>
        <a:ea typeface="Geneva" pitchFamily="-110" charset="-128"/>
        <a:cs typeface="Geneva" charset="0"/>
      </a:defRPr>
    </a:lvl4pPr>
    <a:lvl5pPr marL="2438339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Open Sans" charset="0"/>
        <a:ea typeface="Geneva" pitchFamily="-110" charset="-128"/>
        <a:cs typeface="Geneva" charset="0"/>
      </a:defRPr>
    </a:lvl5pPr>
    <a:lvl6pPr marL="3047924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9pPr>
          </a:lstStyle>
          <a:p>
            <a:fld id="{A4676FBE-E17B-9F40-B294-2A0EC4B80004}" type="slidenum">
              <a:rPr lang="en-US" altLang="x-none" sz="1200">
                <a:latin typeface="Open Sans" charset="0"/>
              </a:rPr>
              <a:pPr/>
              <a:t>1</a:t>
            </a:fld>
            <a:endParaRPr lang="en-US" altLang="x-none" sz="1200">
              <a:latin typeface="Open Sans" charset="0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x-none" dirty="0">
                <a:ea typeface="ＭＳ Ｐゴシック" charset="-128"/>
                <a:cs typeface="Geneva" charset="0"/>
              </a:rPr>
              <a:t>Main title: 40 pt. Arial</a:t>
            </a:r>
          </a:p>
          <a:p>
            <a:pPr eaLnBrk="1" hangingPunct="1"/>
            <a:br>
              <a:rPr lang="en-US" altLang="x-none" dirty="0">
                <a:ea typeface="ＭＳ Ｐゴシック" charset="-128"/>
                <a:cs typeface="Geneva" charset="0"/>
              </a:rPr>
            </a:br>
            <a:r>
              <a:rPr lang="en-US" altLang="x-none" dirty="0">
                <a:ea typeface="ＭＳ Ｐゴシック" charset="-128"/>
                <a:cs typeface="Geneva" charset="0"/>
              </a:rPr>
              <a:t>Presenter Name: 16 pt. Arial</a:t>
            </a:r>
          </a:p>
          <a:p>
            <a:pPr eaLnBrk="1" hangingPunct="1"/>
            <a:r>
              <a:rPr lang="en-US" altLang="x-none" dirty="0">
                <a:ea typeface="ＭＳ Ｐゴシック" charset="-128"/>
                <a:cs typeface="Geneva" charset="0"/>
              </a:rPr>
              <a:t>Presenters Title: 16 pt. Arial Italic</a:t>
            </a:r>
          </a:p>
          <a:p>
            <a:pPr eaLnBrk="1" hangingPunct="1"/>
            <a:endParaRPr lang="en-US" altLang="x-none" dirty="0">
              <a:ea typeface="ＭＳ Ｐゴシック" charset="-128"/>
              <a:cs typeface="Genev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75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Calvin uses philosophy to excuse a behavior that endangers his future.</a:t>
            </a:r>
          </a:p>
          <a:p>
            <a:r>
              <a:rPr lang="en-US" dirty="0"/>
              <a:t>School is not always fun, building portfolio project is not always fun</a:t>
            </a:r>
          </a:p>
          <a:p>
            <a:r>
              <a:rPr lang="en-US" dirty="0"/>
              <a:t>But it is the necessary painful work needed to be put in in order to get mind blowing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B24F439-14CB-B64A-A38E-43868DBA8F9B}" type="slidenum">
              <a:rPr lang="en-US" altLang="x-none" smtClean="0"/>
              <a:pPr>
                <a:defRPr/>
              </a:pPr>
              <a:t>2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863574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A8279A-8FF0-BB40-A4A0-289AFE3B249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1368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Laundry value proposition -- clean shirts</a:t>
            </a:r>
          </a:p>
          <a:p>
            <a:r>
              <a:rPr lang="en-US" dirty="0"/>
              <a:t>Tesla value proposition – more than just transportation</a:t>
            </a:r>
          </a:p>
          <a:p>
            <a:endParaRPr lang="en-US" dirty="0"/>
          </a:p>
          <a:p>
            <a:r>
              <a:rPr lang="en-US" dirty="0"/>
              <a:t>Transactions don’t take place unless both sides benefit – buyer wants the product more than the $$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B24F439-14CB-B64A-A38E-43868DBA8F9B}" type="slidenum">
              <a:rPr lang="en-US" altLang="x-none" smtClean="0"/>
              <a:pPr>
                <a:defRPr/>
              </a:pPr>
              <a:t>5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9366503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graph</a:t>
            </a:r>
          </a:p>
          <a:p>
            <a:r>
              <a:rPr lang="en-US" dirty="0"/>
              <a:t>The good news: Coming out of this program you’ll be in the upper left</a:t>
            </a:r>
          </a:p>
          <a:p>
            <a:r>
              <a:rPr lang="en-US" dirty="0"/>
              <a:t>But you will need to learn new skills across your career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A8279A-8FF0-BB40-A4A0-289AFE3B249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44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A8279A-8FF0-BB40-A4A0-289AFE3B249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6044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Calvin’s “skills” are not of any interest to his Dad. But the Dad offers another way Calvin could still make the dollar. Find a sweet spot of what you like to do and what the market is willing to pay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B24F439-14CB-B64A-A38E-43868DBA8F9B}" type="slidenum">
              <a:rPr lang="en-US" altLang="x-none" smtClean="0"/>
              <a:pPr>
                <a:defRPr/>
              </a:pPr>
              <a:t>23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059461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992241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4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888644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90283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90280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287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974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47001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4376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42662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92861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8263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B5EB0-0B12-5C4A-AB16-0213D8503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1719263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4043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B76311-6302-B5F8-0CFD-024B1359F99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00800" y="304800"/>
            <a:ext cx="5562600" cy="6400800"/>
          </a:xfr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noAutofit/>
          </a:bodyPr>
          <a:lstStyle>
            <a:lvl1pPr marL="0" indent="0">
              <a:buFontTx/>
              <a:buNone/>
              <a:defRPr lang="en-US" sz="1200" kern="1200" dirty="0" smtClean="0">
                <a:latin typeface="Courier New" panose="02070309020205020404" pitchFamily="49" charset="0"/>
                <a:ea typeface="ＭＳ Ｐゴシック" charset="-128"/>
                <a:cs typeface="Courier New" panose="02070309020205020404" pitchFamily="49" charset="0"/>
              </a:defRPr>
            </a:lvl1pPr>
            <a:lvl2pPr marL="228595" indent="0">
              <a:buFontTx/>
              <a:buNone/>
              <a:defRPr lang="en-US" sz="1200" kern="1200" dirty="0" smtClean="0">
                <a:latin typeface="45 Helvetica Light" charset="0"/>
                <a:ea typeface="ＭＳ Ｐゴシック" charset="-128"/>
                <a:cs typeface="+mn-cs"/>
              </a:defRPr>
            </a:lvl2pPr>
            <a:lvl3pPr marL="838180" indent="0">
              <a:buFontTx/>
              <a:buNone/>
              <a:defRPr lang="en-US" sz="1200" kern="1200" dirty="0" smtClean="0">
                <a:latin typeface="45 Helvetica Light" charset="0"/>
                <a:ea typeface="ＭＳ Ｐゴシック" charset="-128"/>
                <a:cs typeface="+mn-cs"/>
              </a:defRPr>
            </a:lvl3pPr>
            <a:lvl4pPr marL="1447764" indent="0">
              <a:buFontTx/>
              <a:buNone/>
              <a:defRPr lang="en-US" sz="1200" kern="1200" dirty="0" smtClean="0">
                <a:latin typeface="45 Helvetica Light" charset="0"/>
                <a:ea typeface="ＭＳ Ｐゴシック" charset="-128"/>
                <a:cs typeface="+mn-cs"/>
              </a:defRPr>
            </a:lvl4pPr>
            <a:lvl5pPr marL="2133547" indent="0">
              <a:buFontTx/>
              <a:buNone/>
              <a:defRPr lang="en-US" sz="1200" kern="1200" dirty="0">
                <a:latin typeface="45 Helvetica Light" charset="0"/>
                <a:ea typeface="ＭＳ Ｐゴシック" charset="-128"/>
                <a:cs typeface="+mn-cs"/>
              </a:defRPr>
            </a:lvl5pPr>
          </a:lstStyle>
          <a:p>
            <a:pPr lvl="0" eaLnBrk="0" hangingPunct="0">
              <a:spcBef>
                <a:spcPct val="0"/>
              </a:spcBef>
            </a:pPr>
            <a:r>
              <a:rPr lang="en-US" dirty="0"/>
              <a:t>Click to edit Master text styles</a:t>
            </a:r>
          </a:p>
          <a:p>
            <a:pPr lvl="0" eaLnBrk="0" hangingPunct="0">
              <a:spcBef>
                <a:spcPct val="0"/>
              </a:spcBef>
            </a:pPr>
            <a:r>
              <a:rPr lang="en-US" dirty="0" err="1"/>
              <a:t>Uyrtr</a:t>
            </a:r>
            <a:endParaRPr lang="en-US" dirty="0"/>
          </a:p>
          <a:p>
            <a:pPr lvl="0" eaLnBrk="0" hangingPunct="0">
              <a:spcBef>
                <a:spcPct val="0"/>
              </a:spcBef>
            </a:pPr>
            <a:r>
              <a:rPr lang="en-US" dirty="0" err="1"/>
              <a:t>htt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CE8B6A-4F07-892E-BEE6-EF47F524B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82600"/>
            <a:ext cx="5638800" cy="812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3E1033-0E59-CB20-AA74-9679AECFF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1A76D39-48A8-3836-B8D8-C2DBF7C30F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1447800"/>
            <a:ext cx="5535976" cy="492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8257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B76311-6302-B5F8-0CFD-024B1359F99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8600" y="304800"/>
            <a:ext cx="5562600" cy="6400800"/>
          </a:xfr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noAutofit/>
          </a:bodyPr>
          <a:lstStyle>
            <a:lvl1pPr marL="0" indent="0">
              <a:buFontTx/>
              <a:buNone/>
              <a:defRPr lang="en-US" sz="1200" kern="1200" dirty="0" smtClean="0">
                <a:latin typeface="Courier New" panose="02070309020205020404" pitchFamily="49" charset="0"/>
                <a:ea typeface="ＭＳ Ｐゴシック" charset="-128"/>
                <a:cs typeface="Courier New" panose="02070309020205020404" pitchFamily="49" charset="0"/>
              </a:defRPr>
            </a:lvl1pPr>
            <a:lvl2pPr marL="228595" indent="0">
              <a:buFontTx/>
              <a:buNone/>
              <a:defRPr lang="en-US" sz="1200" kern="1200" dirty="0" smtClean="0">
                <a:latin typeface="45 Helvetica Light" charset="0"/>
                <a:ea typeface="ＭＳ Ｐゴシック" charset="-128"/>
                <a:cs typeface="+mn-cs"/>
              </a:defRPr>
            </a:lvl2pPr>
            <a:lvl3pPr marL="838180" indent="0">
              <a:buFontTx/>
              <a:buNone/>
              <a:defRPr lang="en-US" sz="1200" kern="1200" dirty="0" smtClean="0">
                <a:latin typeface="45 Helvetica Light" charset="0"/>
                <a:ea typeface="ＭＳ Ｐゴシック" charset="-128"/>
                <a:cs typeface="+mn-cs"/>
              </a:defRPr>
            </a:lvl3pPr>
            <a:lvl4pPr marL="1447764" indent="0">
              <a:buFontTx/>
              <a:buNone/>
              <a:defRPr lang="en-US" sz="1200" kern="1200" dirty="0" smtClean="0">
                <a:latin typeface="45 Helvetica Light" charset="0"/>
                <a:ea typeface="ＭＳ Ｐゴシック" charset="-128"/>
                <a:cs typeface="+mn-cs"/>
              </a:defRPr>
            </a:lvl4pPr>
            <a:lvl5pPr marL="2133547" indent="0">
              <a:buFontTx/>
              <a:buNone/>
              <a:defRPr lang="en-US" sz="1200" kern="1200" dirty="0">
                <a:latin typeface="45 Helvetica Light" charset="0"/>
                <a:ea typeface="ＭＳ Ｐゴシック" charset="-128"/>
                <a:cs typeface="+mn-cs"/>
              </a:defRPr>
            </a:lvl5pPr>
          </a:lstStyle>
          <a:p>
            <a:pPr lvl="0" eaLnBrk="0" hangingPunct="0">
              <a:spcBef>
                <a:spcPct val="0"/>
              </a:spcBef>
            </a:pPr>
            <a:r>
              <a:rPr lang="en-US" dirty="0"/>
              <a:t>Click to edit Master text styles</a:t>
            </a:r>
          </a:p>
          <a:p>
            <a:pPr lvl="0" eaLnBrk="0" hangingPunct="0">
              <a:spcBef>
                <a:spcPct val="0"/>
              </a:spcBef>
            </a:pPr>
            <a:r>
              <a:rPr lang="en-US" dirty="0" err="1"/>
              <a:t>Uyrtr</a:t>
            </a:r>
            <a:endParaRPr lang="en-US" dirty="0"/>
          </a:p>
          <a:p>
            <a:pPr lvl="0" eaLnBrk="0" hangingPunct="0">
              <a:spcBef>
                <a:spcPct val="0"/>
              </a:spcBef>
            </a:pPr>
            <a:r>
              <a:rPr lang="en-US" dirty="0" err="1"/>
              <a:t>htt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CE8B6A-4F07-892E-BEE6-EF47F524B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0" y="482600"/>
            <a:ext cx="5638800" cy="812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3E1033-0E59-CB20-AA74-9679AECFF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1A76D39-48A8-3836-B8D8-C2DBF7C30F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0" y="1447800"/>
            <a:ext cx="5638800" cy="4927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6320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957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  <p:sldLayoutId id="2147483848" r:id="rId12"/>
    <p:sldLayoutId id="2147483849" r:id="rId13"/>
    <p:sldLayoutId id="2147483832" r:id="rId14"/>
    <p:sldLayoutId id="2147483833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21" name="Straight Connector 11"/>
          <p:cNvCxnSpPr>
            <a:cxnSpLocks noChangeShapeType="1"/>
          </p:cNvCxnSpPr>
          <p:nvPr/>
        </p:nvCxnSpPr>
        <p:spPr bwMode="auto">
          <a:xfrm>
            <a:off x="2946400" y="4648200"/>
            <a:ext cx="7315200" cy="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7BFCE6C9-BA39-F728-378B-4178BF1D6FF7}"/>
              </a:ext>
            </a:extLst>
          </p:cNvPr>
          <p:cNvSpPr txBox="1">
            <a:spLocks/>
          </p:cNvSpPr>
          <p:nvPr/>
        </p:nvSpPr>
        <p:spPr bwMode="auto">
          <a:xfrm>
            <a:off x="533400" y="685801"/>
            <a:ext cx="91186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 anchorCtr="0"/>
          <a:lstStyle>
            <a:lvl1pPr marL="3175" indent="-3175">
              <a:spcBef>
                <a:spcPts val="600"/>
              </a:spcBef>
              <a:defRPr sz="140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 marL="742950" indent="-285750">
              <a:spcBef>
                <a:spcPts val="600"/>
              </a:spcBef>
              <a:buSzPct val="110000"/>
              <a:buFont typeface="Arial" charset="0"/>
              <a:buChar char="•"/>
              <a:defRPr sz="140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143000" indent="-228600">
              <a:spcBef>
                <a:spcPts val="600"/>
              </a:spcBef>
              <a:buSzPct val="110000"/>
              <a:buFont typeface=".AppleSystemUIFont" charset="-120"/>
              <a:buChar char="–"/>
              <a:defRPr sz="1400" i="1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 marL="1600200" indent="-228600">
              <a:spcBef>
                <a:spcPts val="600"/>
              </a:spcBef>
              <a:buSzPct val="110000"/>
              <a:buFont typeface="Arial" charset="0"/>
              <a:buChar char="•"/>
              <a:defRPr sz="140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057400" indent="-228600">
              <a:spcBef>
                <a:spcPts val="600"/>
              </a:spcBef>
              <a:buSzPct val="110000"/>
              <a:buFont typeface=".AppleSystemUIFont" charset="-120"/>
              <a:buChar char="–"/>
              <a:defRPr sz="1400" i="1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5pPr>
            <a:lvl6pPr marL="2514600" indent="-228600" fontAlgn="base">
              <a:spcBef>
                <a:spcPts val="600"/>
              </a:spcBef>
              <a:spcAft>
                <a:spcPct val="0"/>
              </a:spcAft>
              <a:buSzPct val="110000"/>
              <a:buFont typeface=".AppleSystemUIFont" charset="-120"/>
              <a:buChar char="–"/>
              <a:defRPr sz="1400" i="1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6pPr>
            <a:lvl7pPr marL="2971800" indent="-228600" fontAlgn="base">
              <a:spcBef>
                <a:spcPts val="600"/>
              </a:spcBef>
              <a:spcAft>
                <a:spcPct val="0"/>
              </a:spcAft>
              <a:buSzPct val="110000"/>
              <a:buFont typeface=".AppleSystemUIFont" charset="-120"/>
              <a:buChar char="–"/>
              <a:defRPr sz="1400" i="1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7pPr>
            <a:lvl8pPr marL="3429000" indent="-228600" fontAlgn="base">
              <a:spcBef>
                <a:spcPts val="600"/>
              </a:spcBef>
              <a:spcAft>
                <a:spcPct val="0"/>
              </a:spcAft>
              <a:buSzPct val="110000"/>
              <a:buFont typeface=".AppleSystemUIFont" charset="-120"/>
              <a:buChar char="–"/>
              <a:defRPr sz="1400" i="1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8pPr>
            <a:lvl9pPr marL="3886200" indent="-228600" fontAlgn="base">
              <a:spcBef>
                <a:spcPts val="600"/>
              </a:spcBef>
              <a:spcAft>
                <a:spcPct val="0"/>
              </a:spcAft>
              <a:buSzPct val="110000"/>
              <a:buFont typeface=".AppleSystemUIFont" charset="-120"/>
              <a:buChar char="–"/>
              <a:defRPr sz="1400" i="1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en-US" altLang="x-none" sz="5333" dirty="0">
                <a:ea typeface="ＭＳ Ｐゴシック" charset="-128"/>
              </a:rPr>
              <a:t>The Business of You 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3921CFC6-83E9-B3E6-ED62-F1C3B3CE06C8}"/>
              </a:ext>
            </a:extLst>
          </p:cNvPr>
          <p:cNvSpPr txBox="1">
            <a:spLocks/>
          </p:cNvSpPr>
          <p:nvPr/>
        </p:nvSpPr>
        <p:spPr bwMode="auto">
          <a:xfrm>
            <a:off x="533400" y="2819401"/>
            <a:ext cx="7010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175" indent="-3175">
              <a:spcBef>
                <a:spcPts val="600"/>
              </a:spcBef>
              <a:defRPr sz="140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 marL="742950" indent="-285750">
              <a:spcBef>
                <a:spcPts val="600"/>
              </a:spcBef>
              <a:buSzPct val="110000"/>
              <a:buFont typeface="Arial" charset="0"/>
              <a:buChar char="•"/>
              <a:defRPr sz="140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143000" indent="-228600">
              <a:spcBef>
                <a:spcPts val="600"/>
              </a:spcBef>
              <a:buSzPct val="110000"/>
              <a:buFont typeface=".AppleSystemUIFont" charset="-120"/>
              <a:buChar char="–"/>
              <a:defRPr sz="1400" i="1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 marL="1600200" indent="-228600">
              <a:spcBef>
                <a:spcPts val="600"/>
              </a:spcBef>
              <a:buSzPct val="110000"/>
              <a:buFont typeface="Arial" charset="0"/>
              <a:buChar char="•"/>
              <a:defRPr sz="140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057400" indent="-228600">
              <a:spcBef>
                <a:spcPts val="600"/>
              </a:spcBef>
              <a:buSzPct val="110000"/>
              <a:buFont typeface=".AppleSystemUIFont" charset="-120"/>
              <a:buChar char="–"/>
              <a:defRPr sz="1400" i="1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5pPr>
            <a:lvl6pPr marL="2514600" indent="-228600" fontAlgn="base">
              <a:spcBef>
                <a:spcPts val="600"/>
              </a:spcBef>
              <a:spcAft>
                <a:spcPct val="0"/>
              </a:spcAft>
              <a:buSzPct val="110000"/>
              <a:buFont typeface=".AppleSystemUIFont" charset="-120"/>
              <a:buChar char="–"/>
              <a:defRPr sz="1400" i="1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6pPr>
            <a:lvl7pPr marL="2971800" indent="-228600" fontAlgn="base">
              <a:spcBef>
                <a:spcPts val="600"/>
              </a:spcBef>
              <a:spcAft>
                <a:spcPct val="0"/>
              </a:spcAft>
              <a:buSzPct val="110000"/>
              <a:buFont typeface=".AppleSystemUIFont" charset="-120"/>
              <a:buChar char="–"/>
              <a:defRPr sz="1400" i="1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7pPr>
            <a:lvl8pPr marL="3429000" indent="-228600" fontAlgn="base">
              <a:spcBef>
                <a:spcPts val="600"/>
              </a:spcBef>
              <a:spcAft>
                <a:spcPct val="0"/>
              </a:spcAft>
              <a:buSzPct val="110000"/>
              <a:buFont typeface=".AppleSystemUIFont" charset="-120"/>
              <a:buChar char="–"/>
              <a:defRPr sz="1400" i="1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8pPr>
            <a:lvl9pPr marL="3886200" indent="-228600" fontAlgn="base">
              <a:spcBef>
                <a:spcPts val="600"/>
              </a:spcBef>
              <a:spcAft>
                <a:spcPct val="0"/>
              </a:spcAft>
              <a:buSzPct val="110000"/>
              <a:buFont typeface=".AppleSystemUIFont" charset="-120"/>
              <a:buChar char="–"/>
              <a:defRPr sz="1400" i="1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x-none" sz="2133" dirty="0">
                <a:ea typeface="ＭＳ Ｐゴシック" charset="-128"/>
              </a:rPr>
              <a:t>As Presented by:</a:t>
            </a:r>
          </a:p>
          <a:p>
            <a:pPr>
              <a:spcBef>
                <a:spcPct val="20000"/>
              </a:spcBef>
            </a:pPr>
            <a:r>
              <a:rPr lang="en-US" altLang="x-none" sz="2133" dirty="0">
                <a:ea typeface="ＭＳ Ｐゴシック" charset="-128"/>
              </a:rPr>
              <a:t>Howdy Pierce</a:t>
            </a:r>
            <a:endParaRPr lang="en-US" altLang="x-none" sz="2133" i="1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8644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77DA64-4CBE-9944-8827-0AEAF5036AF3}"/>
              </a:ext>
            </a:extLst>
          </p:cNvPr>
          <p:cNvSpPr/>
          <p:nvPr/>
        </p:nvSpPr>
        <p:spPr>
          <a:xfrm>
            <a:off x="0" y="0"/>
            <a:ext cx="12192000" cy="609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C11F31-5ED8-A946-9831-C62A35765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146" y="1556357"/>
            <a:ext cx="11051711" cy="362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3549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1AAD2-77A6-964F-AF20-F052FB82C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premise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E4070-B4A2-534F-8516-883915352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All professionals are entrepreneurs and CEOs</a:t>
            </a:r>
          </a:p>
          <a:p>
            <a:pPr lvl="1"/>
            <a:r>
              <a:rPr lang="en-US" sz="2200" dirty="0"/>
              <a:t>Our “company” has one product: Our time</a:t>
            </a:r>
          </a:p>
          <a:p>
            <a:pPr lvl="1"/>
            <a:r>
              <a:rPr lang="en-US" sz="2200" dirty="0"/>
              <a:t>And we have limited inventory!</a:t>
            </a:r>
          </a:p>
          <a:p>
            <a:pPr>
              <a:spcBef>
                <a:spcPts val="2400"/>
              </a:spcBef>
            </a:pPr>
            <a:r>
              <a:rPr lang="en-US" sz="2400" dirty="0"/>
              <a:t>Let’s discuss a business model for this company, focusing on</a:t>
            </a:r>
          </a:p>
          <a:p>
            <a:pPr lvl="1"/>
            <a:r>
              <a:rPr lang="en-US" sz="2200" dirty="0"/>
              <a:t>Value Proposition</a:t>
            </a:r>
          </a:p>
          <a:p>
            <a:pPr lvl="1"/>
            <a:r>
              <a:rPr lang="en-US" sz="2200" dirty="0"/>
              <a:t>Market Positioning</a:t>
            </a:r>
          </a:p>
          <a:p>
            <a:pPr lvl="1"/>
            <a:r>
              <a:rPr lang="en-US" sz="2200" dirty="0"/>
              <a:t>Finance</a:t>
            </a:r>
          </a:p>
          <a:p>
            <a:pPr lvl="1"/>
            <a:r>
              <a:rPr lang="en-US" sz="2200" dirty="0"/>
              <a:t>Sales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799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9457D-039E-434D-9127-CD77E8146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Proposition</a:t>
            </a:r>
          </a:p>
        </p:txBody>
      </p:sp>
    </p:spTree>
    <p:extLst>
      <p:ext uri="{BB962C8B-B14F-4D97-AF65-F5344CB8AC3E}">
        <p14:creationId xmlns:p14="http://schemas.microsoft.com/office/powerpoint/2010/main" val="242205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9A3E6-EF28-3841-9259-F22798BFF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Proposition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DD01D-63B7-CF45-8537-9ACE5C9CB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“Value proposition” </a:t>
            </a:r>
          </a:p>
          <a:p>
            <a:pPr lvl="1"/>
            <a:r>
              <a:rPr lang="en-US" sz="2200" dirty="0"/>
              <a:t>Why does your customer value your product? What problem are you solving for him/her?</a:t>
            </a:r>
          </a:p>
          <a:p>
            <a:pPr>
              <a:spcBef>
                <a:spcPts val="2400"/>
              </a:spcBef>
            </a:pPr>
            <a:r>
              <a:rPr lang="en-US" sz="2400" dirty="0"/>
              <a:t>No company captures the entire amount of value it produces</a:t>
            </a:r>
          </a:p>
          <a:p>
            <a:pPr lvl="1"/>
            <a:r>
              <a:rPr lang="en-US" sz="2200" dirty="0"/>
              <a:t>So we need to come up with a compelling value proposition for our customer</a:t>
            </a:r>
          </a:p>
          <a:p>
            <a:pPr lvl="1"/>
            <a:r>
              <a:rPr lang="en-US" sz="2200" dirty="0"/>
              <a:t>Hiring us should be a GREAT DEAL</a:t>
            </a:r>
          </a:p>
        </p:txBody>
      </p:sp>
    </p:spTree>
    <p:extLst>
      <p:ext uri="{BB962C8B-B14F-4D97-AF65-F5344CB8AC3E}">
        <p14:creationId xmlns:p14="http://schemas.microsoft.com/office/powerpoint/2010/main" val="940289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42435-820A-C64E-A8DB-EE3205E4B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Creation: Rules of Thumb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46BAF-B718-AB4C-A182-44C2A2C1D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You probably cost your employer ~2x what you make</a:t>
            </a:r>
          </a:p>
          <a:p>
            <a:pPr lvl="1"/>
            <a:r>
              <a:rPr lang="en-US" sz="2200" dirty="0"/>
              <a:t>benefits, taxes, rent &amp; HVAC, IT infrastructure, travel, other expenses, …</a:t>
            </a:r>
          </a:p>
          <a:p>
            <a:pPr>
              <a:spcBef>
                <a:spcPts val="2400"/>
              </a:spcBef>
            </a:pPr>
            <a:r>
              <a:rPr lang="en-US" sz="2400" dirty="0"/>
              <a:t>Early in your career you should generate 2x value vs your cost</a:t>
            </a:r>
          </a:p>
          <a:p>
            <a:pPr lvl="1"/>
            <a:r>
              <a:rPr lang="en-US" sz="2200" dirty="0"/>
              <a:t>This multiple rises as you become more senior: 10x, 100x, …</a:t>
            </a:r>
          </a:p>
          <a:p>
            <a:pPr>
              <a:spcBef>
                <a:spcPts val="2400"/>
              </a:spcBef>
            </a:pPr>
            <a:r>
              <a:rPr lang="en-US" sz="2400" dirty="0"/>
              <a:t>How can you ↑ revenue, or ↓ expenses, or ↑ product quality? </a:t>
            </a:r>
          </a:p>
          <a:p>
            <a:pPr>
              <a:spcBef>
                <a:spcPts val="2400"/>
              </a:spcBef>
            </a:pPr>
            <a:r>
              <a:rPr lang="en-US" sz="2400" dirty="0"/>
              <a:t>Always think like an owner</a:t>
            </a:r>
          </a:p>
          <a:p>
            <a:pPr lvl="1"/>
            <a:r>
              <a:rPr lang="en-US" sz="2200" dirty="0"/>
              <a:t>Make the business case for hiring / promoting you EASY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761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4F22BE-62B2-FC41-9178-8087C825B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000"/>
            <a:ext cx="11277600" cy="352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973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B99D9-D4C8-8B45-AC61-85C3AE073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Positioning</a:t>
            </a:r>
          </a:p>
        </p:txBody>
      </p:sp>
    </p:spTree>
    <p:extLst>
      <p:ext uri="{BB962C8B-B14F-4D97-AF65-F5344CB8AC3E}">
        <p14:creationId xmlns:p14="http://schemas.microsoft.com/office/powerpoint/2010/main" val="3276650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F919BC-3162-4142-B102-F3006061D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Business Models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AAE2C26-ADB3-904A-B29B-998775AC4148}"/>
              </a:ext>
            </a:extLst>
          </p:cNvPr>
          <p:cNvGrpSpPr/>
          <p:nvPr/>
        </p:nvGrpSpPr>
        <p:grpSpPr>
          <a:xfrm>
            <a:off x="1768430" y="1320330"/>
            <a:ext cx="4165600" cy="4876800"/>
            <a:chOff x="1524000" y="1227564"/>
            <a:chExt cx="4165600" cy="48768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D5581B5-D257-7345-B2D7-7FDE31104DB9}"/>
                </a:ext>
              </a:extLst>
            </p:cNvPr>
            <p:cNvSpPr/>
            <p:nvPr/>
          </p:nvSpPr>
          <p:spPr bwMode="auto">
            <a:xfrm>
              <a:off x="1524000" y="1532364"/>
              <a:ext cx="4165600" cy="4572000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 dirty="0">
                <a:latin typeface="45 Helvetica Light" pitchFamily="-110" charset="0"/>
                <a:ea typeface="Geneva" pitchFamily="-110" charset="-128"/>
                <a:cs typeface="Geneva" pitchFamily="-110" charset="-128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CBFDE9-150F-4942-98EC-44E4FCB23997}"/>
                </a:ext>
              </a:extLst>
            </p:cNvPr>
            <p:cNvSpPr/>
            <p:nvPr/>
          </p:nvSpPr>
          <p:spPr>
            <a:xfrm>
              <a:off x="2552344" y="1227564"/>
              <a:ext cx="2108911" cy="4144661"/>
            </a:xfrm>
            <a:prstGeom prst="rect">
              <a:avLst/>
            </a:prstGeom>
            <a:noFill/>
          </p:spPr>
          <p:txBody>
            <a:bodyPr wrap="none" lIns="121920" tIns="60960" rIns="121920" bIns="60960">
              <a:spAutoFit/>
              <a:scene3d>
                <a:camera prst="orthographicFront"/>
                <a:lightRig rig="soft" dir="t">
                  <a:rot lat="0" lon="0" rev="15600000"/>
                </a:lightRig>
              </a:scene3d>
              <a:sp3d extrusionH="57150" prstMaterial="softEdge">
                <a:bevelT w="25400" h="38100" prst="angle"/>
              </a:sp3d>
            </a:bodyPr>
            <a:lstStyle/>
            <a:p>
              <a:pPr algn="ctr"/>
              <a:r>
                <a:rPr lang="en-US" sz="26133" b="1" dirty="0">
                  <a:ln/>
                  <a:solidFill>
                    <a:schemeClr val="accent2"/>
                  </a:solidFill>
                </a:rPr>
                <a:t>$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2393FEB-E894-8643-AB31-948715DE9C5D}"/>
                </a:ext>
              </a:extLst>
            </p:cNvPr>
            <p:cNvSpPr txBox="1"/>
            <p:nvPr/>
          </p:nvSpPr>
          <p:spPr>
            <a:xfrm>
              <a:off x="2032000" y="4988315"/>
              <a:ext cx="31496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sell at the lowest possible price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5460E2B-C5BC-9F4B-B133-689707596427}"/>
              </a:ext>
            </a:extLst>
          </p:cNvPr>
          <p:cNvGrpSpPr/>
          <p:nvPr/>
        </p:nvGrpSpPr>
        <p:grpSpPr>
          <a:xfrm>
            <a:off x="6257970" y="1617075"/>
            <a:ext cx="4165600" cy="4572000"/>
            <a:chOff x="6013540" y="1524309"/>
            <a:chExt cx="4165600" cy="4572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F9BD953-292F-C94F-9E6B-6CF935F10252}"/>
                </a:ext>
              </a:extLst>
            </p:cNvPr>
            <p:cNvSpPr/>
            <p:nvPr/>
          </p:nvSpPr>
          <p:spPr bwMode="auto">
            <a:xfrm>
              <a:off x="6013540" y="1524309"/>
              <a:ext cx="4165600" cy="4572000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 dirty="0">
                <a:latin typeface="45 Helvetica Light" pitchFamily="-110" charset="0"/>
                <a:ea typeface="Geneva" pitchFamily="-110" charset="-128"/>
                <a:cs typeface="Geneva" pitchFamily="-110" charset="-128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A7C3D9D-A35F-CC42-8276-5FA17493FB57}"/>
                </a:ext>
              </a:extLst>
            </p:cNvPr>
            <p:cNvSpPr txBox="1"/>
            <p:nvPr/>
          </p:nvSpPr>
          <p:spPr>
            <a:xfrm>
              <a:off x="6152619" y="4988312"/>
              <a:ext cx="38874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make a compelling value proposition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30DD531-651C-D94E-B626-78EE74280880}"/>
                </a:ext>
              </a:extLst>
            </p:cNvPr>
            <p:cNvGrpSpPr/>
            <p:nvPr/>
          </p:nvGrpSpPr>
          <p:grpSpPr>
            <a:xfrm>
              <a:off x="6899279" y="2221558"/>
              <a:ext cx="2394124" cy="2470007"/>
              <a:chOff x="95465" y="2098675"/>
              <a:chExt cx="1338393" cy="1547705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747BA10-C628-1348-8976-08C17614790E}"/>
                  </a:ext>
                </a:extLst>
              </p:cNvPr>
              <p:cNvSpPr/>
              <p:nvPr/>
            </p:nvSpPr>
            <p:spPr bwMode="auto">
              <a:xfrm>
                <a:off x="318424" y="2098675"/>
                <a:ext cx="893743" cy="381000"/>
              </a:xfrm>
              <a:prstGeom prst="rect">
                <a:avLst/>
              </a:prstGeom>
              <a:gradFill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800000" scaled="0"/>
              </a:gra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2400">
                  <a:latin typeface="45 Helvetica Light" pitchFamily="-110" charset="0"/>
                  <a:ea typeface="Geneva" pitchFamily="-110" charset="-128"/>
                </a:endParaRPr>
              </a:p>
            </p:txBody>
          </p:sp>
          <p:sp>
            <p:nvSpPr>
              <p:cNvPr id="14" name="Triangle 13">
                <a:extLst>
                  <a:ext uri="{FF2B5EF4-FFF2-40B4-BE49-F238E27FC236}">
                    <a16:creationId xmlns:a16="http://schemas.microsoft.com/office/drawing/2014/main" id="{8824471A-756C-3C4A-98E3-C9044E659749}"/>
                  </a:ext>
                </a:extLst>
              </p:cNvPr>
              <p:cNvSpPr/>
              <p:nvPr/>
            </p:nvSpPr>
            <p:spPr bwMode="auto">
              <a:xfrm>
                <a:off x="96175" y="2098675"/>
                <a:ext cx="441960" cy="381000"/>
              </a:xfrm>
              <a:prstGeom prst="triangle">
                <a:avLst/>
              </a:prstGeom>
              <a:gradFill>
                <a:gsLst>
                  <a:gs pos="0">
                    <a:schemeClr val="accent5">
                      <a:lumMod val="20000"/>
                      <a:lumOff val="8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</a:gra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21920" tIns="60960" rIns="121920" bIns="6096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3200">
                  <a:latin typeface="45 Helvetica Light" pitchFamily="-110" charset="0"/>
                  <a:ea typeface="Geneva" pitchFamily="-110" charset="-128"/>
                  <a:cs typeface="Geneva" pitchFamily="-110" charset="-128"/>
                </a:endParaRPr>
              </a:p>
            </p:txBody>
          </p:sp>
          <p:sp>
            <p:nvSpPr>
              <p:cNvPr id="15" name="Triangle 14">
                <a:extLst>
                  <a:ext uri="{FF2B5EF4-FFF2-40B4-BE49-F238E27FC236}">
                    <a16:creationId xmlns:a16="http://schemas.microsoft.com/office/drawing/2014/main" id="{723CC835-4971-5B42-80A7-F3B9E84C2C41}"/>
                  </a:ext>
                </a:extLst>
              </p:cNvPr>
              <p:cNvSpPr/>
              <p:nvPr/>
            </p:nvSpPr>
            <p:spPr bwMode="auto">
              <a:xfrm>
                <a:off x="543682" y="2098675"/>
                <a:ext cx="441960" cy="381000"/>
              </a:xfrm>
              <a:prstGeom prst="triangle">
                <a:avLst/>
              </a:prstGeom>
              <a:solidFill>
                <a:schemeClr val="bg2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21920" tIns="60960" rIns="121920" bIns="6096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3200">
                  <a:latin typeface="45 Helvetica Light" pitchFamily="-110" charset="0"/>
                  <a:ea typeface="Geneva" pitchFamily="-110" charset="-128"/>
                  <a:cs typeface="Geneva" pitchFamily="-110" charset="-128"/>
                </a:endParaRPr>
              </a:p>
            </p:txBody>
          </p:sp>
          <p:sp>
            <p:nvSpPr>
              <p:cNvPr id="16" name="Triangle 15">
                <a:extLst>
                  <a:ext uri="{FF2B5EF4-FFF2-40B4-BE49-F238E27FC236}">
                    <a16:creationId xmlns:a16="http://schemas.microsoft.com/office/drawing/2014/main" id="{DD863ED3-4AEB-7546-B451-98B1D42B7D47}"/>
                  </a:ext>
                </a:extLst>
              </p:cNvPr>
              <p:cNvSpPr/>
              <p:nvPr/>
            </p:nvSpPr>
            <p:spPr bwMode="auto">
              <a:xfrm>
                <a:off x="991188" y="2098675"/>
                <a:ext cx="441960" cy="381000"/>
              </a:xfrm>
              <a:prstGeom prst="triangle">
                <a:avLst/>
              </a:prstGeom>
              <a:solidFill>
                <a:schemeClr val="accent2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21920" tIns="60960" rIns="121920" bIns="6096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3200">
                  <a:latin typeface="45 Helvetica Light" pitchFamily="-110" charset="0"/>
                  <a:ea typeface="Geneva" pitchFamily="-110" charset="-128"/>
                  <a:cs typeface="Geneva" pitchFamily="-110" charset="-128"/>
                </a:endParaRPr>
              </a:p>
            </p:txBody>
          </p:sp>
          <p:sp>
            <p:nvSpPr>
              <p:cNvPr id="21" name="Triangle 20">
                <a:extLst>
                  <a:ext uri="{FF2B5EF4-FFF2-40B4-BE49-F238E27FC236}">
                    <a16:creationId xmlns:a16="http://schemas.microsoft.com/office/drawing/2014/main" id="{EB83AC6F-5759-904D-B247-9A964D8729B6}"/>
                  </a:ext>
                </a:extLst>
              </p:cNvPr>
              <p:cNvSpPr/>
              <p:nvPr/>
            </p:nvSpPr>
            <p:spPr bwMode="auto">
              <a:xfrm flipV="1">
                <a:off x="95465" y="2495550"/>
                <a:ext cx="1338393" cy="1150829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5">
                      <a:lumMod val="20000"/>
                      <a:lumOff val="80000"/>
                    </a:schemeClr>
                  </a:gs>
                  <a:gs pos="74000">
                    <a:schemeClr val="accent2"/>
                  </a:gs>
                  <a:gs pos="8300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9525" cap="rnd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21920" tIns="60960" rIns="121920" bIns="6096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3200">
                  <a:latin typeface="45 Helvetica Light" pitchFamily="-110" charset="0"/>
                  <a:ea typeface="Geneva" pitchFamily="-110" charset="-128"/>
                  <a:cs typeface="Geneva" pitchFamily="-110" charset="-128"/>
                </a:endParaRPr>
              </a:p>
            </p:txBody>
          </p:sp>
          <p:sp>
            <p:nvSpPr>
              <p:cNvPr id="19" name="Triangle 18">
                <a:extLst>
                  <a:ext uri="{FF2B5EF4-FFF2-40B4-BE49-F238E27FC236}">
                    <a16:creationId xmlns:a16="http://schemas.microsoft.com/office/drawing/2014/main" id="{83565070-7FE1-C345-A9F9-41E9E9C634F8}"/>
                  </a:ext>
                </a:extLst>
              </p:cNvPr>
              <p:cNvSpPr/>
              <p:nvPr/>
            </p:nvSpPr>
            <p:spPr bwMode="auto">
              <a:xfrm flipV="1">
                <a:off x="550666" y="2495551"/>
                <a:ext cx="427990" cy="1150829"/>
              </a:xfrm>
              <a:prstGeom prst="triangle">
                <a:avLst/>
              </a:prstGeom>
              <a:solidFill>
                <a:schemeClr val="bg2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21920" tIns="60960" rIns="121920" bIns="6096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3200">
                  <a:latin typeface="45 Helvetica Light" pitchFamily="-110" charset="0"/>
                  <a:ea typeface="Geneva" pitchFamily="-110" charset="-128"/>
                  <a:cs typeface="Geneva" pitchFamily="-110" charset="-128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2588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AC145-E22B-7C4E-A6E8-57696E713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of technical skills drops over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C14ED-600A-FD41-961F-26D2F8ADB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1617" y="1447805"/>
            <a:ext cx="4876800" cy="4661442"/>
          </a:xfrm>
        </p:spPr>
        <p:txBody>
          <a:bodyPr/>
          <a:lstStyle/>
          <a:p>
            <a:pPr marL="0" indent="0" algn="ctr">
              <a:buNone/>
            </a:pPr>
            <a:r>
              <a:rPr lang="en-US" b="1" u="sng" dirty="0"/>
              <a:t>Why?</a:t>
            </a:r>
          </a:p>
          <a:p>
            <a:pPr>
              <a:spcBef>
                <a:spcPts val="1600"/>
              </a:spcBef>
            </a:pPr>
            <a:r>
              <a:rPr lang="en-US" dirty="0"/>
              <a:t>Everyone rushes to learn the hot new thing</a:t>
            </a:r>
          </a:p>
          <a:p>
            <a:pPr>
              <a:spcBef>
                <a:spcPts val="1600"/>
              </a:spcBef>
            </a:pPr>
            <a:r>
              <a:rPr lang="en-US" dirty="0"/>
              <a:t>Tools and libraries incorporate the hard parts</a:t>
            </a:r>
            <a:endParaRPr lang="en-US" sz="2400" dirty="0"/>
          </a:p>
          <a:p>
            <a:pPr>
              <a:spcBef>
                <a:spcPts val="1600"/>
              </a:spcBef>
            </a:pPr>
            <a:r>
              <a:rPr lang="en-US" dirty="0"/>
              <a:t>It’s in vendors’ interests to flood the market with these skills</a:t>
            </a:r>
          </a:p>
          <a:p>
            <a:pPr>
              <a:spcBef>
                <a:spcPts val="1600"/>
              </a:spcBef>
            </a:pPr>
            <a:r>
              <a:rPr lang="en-US" dirty="0"/>
              <a:t>Artificial Intelligence!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EB19E38-D794-E74E-A5C5-5E1B8B8DB95F}"/>
              </a:ext>
            </a:extLst>
          </p:cNvPr>
          <p:cNvCxnSpPr/>
          <p:nvPr/>
        </p:nvCxnSpPr>
        <p:spPr bwMode="auto">
          <a:xfrm flipV="1">
            <a:off x="914400" y="2006600"/>
            <a:ext cx="0" cy="34544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DC2B41F-7F08-F84F-9007-A83D568C922A}"/>
              </a:ext>
            </a:extLst>
          </p:cNvPr>
          <p:cNvSpPr txBox="1"/>
          <p:nvPr/>
        </p:nvSpPr>
        <p:spPr>
          <a:xfrm>
            <a:off x="447827" y="2951278"/>
            <a:ext cx="471989" cy="149335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867" dirty="0">
                <a:solidFill>
                  <a:schemeClr val="accent2"/>
                </a:solidFill>
              </a:rPr>
              <a:t>Market Value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03CBB57-79CA-154E-9E7B-F246641DB133}"/>
              </a:ext>
            </a:extLst>
          </p:cNvPr>
          <p:cNvCxnSpPr/>
          <p:nvPr/>
        </p:nvCxnSpPr>
        <p:spPr bwMode="auto">
          <a:xfrm>
            <a:off x="914400" y="5461000"/>
            <a:ext cx="5181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B3A71D3-6D29-E841-8EDE-8FAA33044B21}"/>
              </a:ext>
            </a:extLst>
          </p:cNvPr>
          <p:cNvSpPr txBox="1"/>
          <p:nvPr/>
        </p:nvSpPr>
        <p:spPr>
          <a:xfrm>
            <a:off x="3151579" y="5498427"/>
            <a:ext cx="707245" cy="379656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1867" dirty="0">
                <a:solidFill>
                  <a:schemeClr val="accent2"/>
                </a:solidFill>
              </a:rPr>
              <a:t>Time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78F5B1C-A42B-F84F-91AC-FF4B4EF622A7}"/>
              </a:ext>
            </a:extLst>
          </p:cNvPr>
          <p:cNvSpPr/>
          <p:nvPr/>
        </p:nvSpPr>
        <p:spPr bwMode="auto">
          <a:xfrm>
            <a:off x="1263806" y="2334322"/>
            <a:ext cx="4386145" cy="2661425"/>
          </a:xfrm>
          <a:custGeom>
            <a:avLst/>
            <a:gdLst>
              <a:gd name="connsiteX0" fmla="*/ 0 w 3289609"/>
              <a:gd name="connsiteY0" fmla="*/ 0 h 1996069"/>
              <a:gd name="connsiteX1" fmla="*/ 3289609 w 3289609"/>
              <a:gd name="connsiteY1" fmla="*/ 1996069 h 1996069"/>
              <a:gd name="connsiteX0" fmla="*/ 0 w 3289609"/>
              <a:gd name="connsiteY0" fmla="*/ 0 h 1996069"/>
              <a:gd name="connsiteX1" fmla="*/ 3289609 w 3289609"/>
              <a:gd name="connsiteY1" fmla="*/ 1996069 h 1996069"/>
              <a:gd name="connsiteX0" fmla="*/ 0 w 3289609"/>
              <a:gd name="connsiteY0" fmla="*/ 0 h 1996069"/>
              <a:gd name="connsiteX1" fmla="*/ 3289609 w 3289609"/>
              <a:gd name="connsiteY1" fmla="*/ 1996069 h 1996069"/>
              <a:gd name="connsiteX0" fmla="*/ 0 w 3289609"/>
              <a:gd name="connsiteY0" fmla="*/ 0 h 1996069"/>
              <a:gd name="connsiteX1" fmla="*/ 3289609 w 3289609"/>
              <a:gd name="connsiteY1" fmla="*/ 1996069 h 1996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289609" h="1996069">
                <a:moveTo>
                  <a:pt x="0" y="0"/>
                </a:moveTo>
                <a:cubicBezTo>
                  <a:pt x="1832517" y="197005"/>
                  <a:pt x="1791629" y="1988635"/>
                  <a:pt x="3289609" y="1996069"/>
                </a:cubicBezTo>
              </a:path>
            </a:pathLst>
          </a:cu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45 Helvetica Light" pitchFamily="-110" charset="0"/>
              <a:ea typeface="Geneva" pitchFamily="-110" charset="-128"/>
              <a:cs typeface="Geneva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69577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10" grpId="0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509BE-AB79-BD40-9A54-8E35CFBBC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some stuff is always in demand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EC06D-1232-544D-90C8-A0C51A269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Hard skills</a:t>
            </a:r>
          </a:p>
          <a:p>
            <a:pPr lvl="1"/>
            <a:r>
              <a:rPr lang="en-US" sz="2200" dirty="0"/>
              <a:t>Math, complex technical stuff, deep system level understanding</a:t>
            </a:r>
          </a:p>
          <a:p>
            <a:pPr>
              <a:spcBef>
                <a:spcPts val="2400"/>
              </a:spcBef>
            </a:pPr>
            <a:r>
              <a:rPr lang="en-US" sz="2400" dirty="0"/>
              <a:t>Niche skills</a:t>
            </a:r>
          </a:p>
          <a:p>
            <a:pPr lvl="1"/>
            <a:r>
              <a:rPr lang="en-US" sz="2200" dirty="0"/>
              <a:t>DSP, antenna design, video encoding, compiler design</a:t>
            </a:r>
          </a:p>
          <a:p>
            <a:pPr>
              <a:spcBef>
                <a:spcPts val="2400"/>
              </a:spcBef>
            </a:pPr>
            <a:r>
              <a:rPr lang="en-US" sz="2400" dirty="0"/>
              <a:t>Interesting and unusual combinations of skills</a:t>
            </a:r>
          </a:p>
          <a:p>
            <a:pPr>
              <a:spcBef>
                <a:spcPts val="2400"/>
              </a:spcBef>
            </a:pPr>
            <a:r>
              <a:rPr lang="en-US" sz="2400" dirty="0"/>
              <a:t>Communications skills</a:t>
            </a:r>
          </a:p>
        </p:txBody>
      </p:sp>
    </p:spTree>
    <p:extLst>
      <p:ext uri="{BB962C8B-B14F-4D97-AF65-F5344CB8AC3E}">
        <p14:creationId xmlns:p14="http://schemas.microsoft.com/office/powerpoint/2010/main" val="990395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D46B9-8B8A-F441-96A4-8A05B1A10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value on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1AC22-AC6F-2942-9D2D-E0AC43A5D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There is exceptionally high value in being the person who gets stuff done</a:t>
            </a:r>
          </a:p>
          <a:p>
            <a:pPr lvl="1"/>
            <a:r>
              <a:rPr lang="en-US" sz="2200" dirty="0"/>
              <a:t>Especially if it’s audacious</a:t>
            </a:r>
          </a:p>
          <a:p>
            <a:pPr lvl="1"/>
            <a:r>
              <a:rPr lang="en-US" sz="2200" dirty="0"/>
              <a:t>Sadly, most people explain why it can’t be done ⇽ don’t be that guy!</a:t>
            </a:r>
          </a:p>
          <a:p>
            <a:pPr>
              <a:spcBef>
                <a:spcPts val="2400"/>
              </a:spcBef>
            </a:pPr>
            <a:r>
              <a:rPr lang="en-US" sz="2400" dirty="0"/>
              <a:t>Your “customer” will love you if you consistently exceed expectations</a:t>
            </a:r>
          </a:p>
          <a:p>
            <a:pPr lvl="1"/>
            <a:r>
              <a:rPr lang="en-US" sz="2200" dirty="0"/>
              <a:t>So set expectations a little modestly</a:t>
            </a:r>
          </a:p>
          <a:p>
            <a:pPr lvl="1"/>
            <a:r>
              <a:rPr lang="en-US" sz="2200" dirty="0"/>
              <a:t>And then </a:t>
            </a:r>
            <a:r>
              <a:rPr lang="en-US" sz="2200" b="1" u="sng" dirty="0"/>
              <a:t>always</a:t>
            </a:r>
            <a:r>
              <a:rPr lang="en-US" sz="2200" dirty="0"/>
              <a:t> beat them</a:t>
            </a:r>
          </a:p>
        </p:txBody>
      </p:sp>
    </p:spTree>
    <p:extLst>
      <p:ext uri="{BB962C8B-B14F-4D97-AF65-F5344CB8AC3E}">
        <p14:creationId xmlns:p14="http://schemas.microsoft.com/office/powerpoint/2010/main" val="2878003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F18F4-E2AA-324F-977B-6665DD558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Finance</a:t>
            </a:r>
          </a:p>
        </p:txBody>
      </p:sp>
    </p:spTree>
    <p:extLst>
      <p:ext uri="{BB962C8B-B14F-4D97-AF65-F5344CB8AC3E}">
        <p14:creationId xmlns:p14="http://schemas.microsoft.com/office/powerpoint/2010/main" val="1604335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B64B42-1E9E-0C48-9A76-2F5B8869007C}"/>
              </a:ext>
            </a:extLst>
          </p:cNvPr>
          <p:cNvSpPr txBox="1"/>
          <p:nvPr/>
        </p:nvSpPr>
        <p:spPr>
          <a:xfrm>
            <a:off x="1524000" y="1295400"/>
            <a:ext cx="9144000" cy="4545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It seems to be a law of nature, inflexible and inexorable, that those </a:t>
            </a:r>
            <a:r>
              <a:rPr lang="en-US" sz="5867" dirty="0"/>
              <a:t>who will not risk cannot win.</a:t>
            </a:r>
          </a:p>
          <a:p>
            <a:pPr algn="r">
              <a:spcBef>
                <a:spcPts val="800"/>
              </a:spcBef>
            </a:pPr>
            <a:r>
              <a:rPr lang="en-US" sz="4267" dirty="0"/>
              <a:t>—John Paul Jones</a:t>
            </a:r>
            <a:endParaRPr lang="en-US" sz="4800" dirty="0"/>
          </a:p>
          <a:p>
            <a:pPr algn="r"/>
            <a:r>
              <a:rPr lang="en-US" sz="2667" dirty="0"/>
              <a:t>(“father of the American Navy”)</a:t>
            </a:r>
          </a:p>
        </p:txBody>
      </p:sp>
    </p:spTree>
    <p:extLst>
      <p:ext uri="{BB962C8B-B14F-4D97-AF65-F5344CB8AC3E}">
        <p14:creationId xmlns:p14="http://schemas.microsoft.com/office/powerpoint/2010/main" val="65206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C88B9-7661-2B47-A4CE-C43FDC56E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“Finance” department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D4967-85F0-9D40-BAB1-03568E708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Nobody ever became a stellar success by playing it safe</a:t>
            </a:r>
          </a:p>
          <a:p>
            <a:pPr lvl="1"/>
            <a:r>
              <a:rPr lang="en-US" sz="2200" dirty="0"/>
              <a:t>It’s good to take (smart) risks as an entrepreneur</a:t>
            </a:r>
          </a:p>
          <a:p>
            <a:pPr lvl="1"/>
            <a:r>
              <a:rPr lang="en-US" sz="2200" dirty="0"/>
              <a:t>But it’s also good to take (smart) risks as an employee</a:t>
            </a:r>
          </a:p>
          <a:p>
            <a:pPr>
              <a:spcBef>
                <a:spcPts val="1600"/>
              </a:spcBef>
            </a:pPr>
            <a:r>
              <a:rPr lang="en-US" sz="2400" dirty="0"/>
              <a:t>You will take more risks if you’re not afraid of losing your job</a:t>
            </a:r>
          </a:p>
          <a:p>
            <a:pPr lvl="1"/>
            <a:r>
              <a:rPr lang="en-US" sz="2200" dirty="0"/>
              <a:t>Build up a financial cushion of 3+ months</a:t>
            </a:r>
          </a:p>
          <a:p>
            <a:pPr lvl="1"/>
            <a:r>
              <a:rPr lang="en-US" sz="2200" dirty="0"/>
              <a:t>Never let your expenses get out of hand</a:t>
            </a:r>
          </a:p>
          <a:p>
            <a:pPr>
              <a:spcBef>
                <a:spcPts val="1600"/>
              </a:spcBef>
            </a:pPr>
            <a:r>
              <a:rPr lang="en-US" sz="2400" dirty="0"/>
              <a:t>Cash in the bank = freedom</a:t>
            </a:r>
          </a:p>
          <a:p>
            <a:pPr lvl="1"/>
            <a:r>
              <a:rPr lang="en-US" sz="2200" dirty="0"/>
              <a:t>= power to take risks</a:t>
            </a:r>
          </a:p>
          <a:p>
            <a:pPr lvl="1"/>
            <a:r>
              <a:rPr lang="en-US" sz="2200" dirty="0"/>
              <a:t>= power not to do something you don’t want to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073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14806-88F4-814F-9936-68EA2E125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</a:t>
            </a:r>
          </a:p>
        </p:txBody>
      </p:sp>
    </p:spTree>
    <p:extLst>
      <p:ext uri="{BB962C8B-B14F-4D97-AF65-F5344CB8AC3E}">
        <p14:creationId xmlns:p14="http://schemas.microsoft.com/office/powerpoint/2010/main" val="1658767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14806-88F4-814F-9936-68EA2E125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Networking</a:t>
            </a:r>
          </a:p>
        </p:txBody>
      </p:sp>
    </p:spTree>
    <p:extLst>
      <p:ext uri="{BB962C8B-B14F-4D97-AF65-F5344CB8AC3E}">
        <p14:creationId xmlns:p14="http://schemas.microsoft.com/office/powerpoint/2010/main" val="1488505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270FE-D09C-6A44-AD3A-3469102C1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NOT to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483F6-F74F-6B4B-9295-2EFA362E7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Don’t ask for favors</a:t>
            </a:r>
          </a:p>
          <a:p>
            <a:r>
              <a:rPr lang="en-US" sz="2400" dirty="0"/>
              <a:t>Don’t contact people only when you need something</a:t>
            </a:r>
          </a:p>
        </p:txBody>
      </p:sp>
    </p:spTree>
    <p:extLst>
      <p:ext uri="{BB962C8B-B14F-4D97-AF65-F5344CB8AC3E}">
        <p14:creationId xmlns:p14="http://schemas.microsoft.com/office/powerpoint/2010/main" val="1639523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EFA20-17FD-3247-875E-3C48CD53B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Instead: Give First!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0AF49-44A8-1847-BD8E-CDEAE4223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227" y="1981200"/>
            <a:ext cx="9720073" cy="402336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The basic idea: You’re trying to make a friend</a:t>
            </a:r>
          </a:p>
          <a:p>
            <a:r>
              <a:rPr lang="en-US" sz="2400" dirty="0"/>
              <a:t>Meet people and help them how you can</a:t>
            </a:r>
          </a:p>
          <a:p>
            <a:pPr lvl="1"/>
            <a:r>
              <a:rPr lang="en-US" sz="2200" dirty="0"/>
              <a:t>Do your research ahead of the meeting</a:t>
            </a:r>
          </a:p>
          <a:p>
            <a:pPr lvl="1"/>
            <a:r>
              <a:rPr lang="en-US" sz="2200" dirty="0"/>
              <a:t>Understand their (or their organization’s) goals</a:t>
            </a:r>
          </a:p>
          <a:p>
            <a:pPr lvl="1"/>
            <a:r>
              <a:rPr lang="en-US" sz="2200" dirty="0"/>
              <a:t>If possible, have something in mind to talk about</a:t>
            </a:r>
          </a:p>
          <a:p>
            <a:r>
              <a:rPr lang="en-US" sz="2400" dirty="0"/>
              <a:t>Should be </a:t>
            </a:r>
            <a:r>
              <a:rPr lang="en-US" sz="2400" b="1" u="sng" dirty="0"/>
              <a:t>completely</a:t>
            </a:r>
            <a:r>
              <a:rPr lang="en-US" sz="2400" dirty="0"/>
              <a:t> non-transactional</a:t>
            </a:r>
          </a:p>
          <a:p>
            <a:pPr lvl="1"/>
            <a:r>
              <a:rPr lang="en-US" sz="2200" dirty="0"/>
              <a:t>This doesn’t work if you ask “what can I do for you” … figure it out and do it!</a:t>
            </a:r>
          </a:p>
          <a:p>
            <a:r>
              <a:rPr lang="en-US" sz="2400" dirty="0"/>
              <a:t>You can also:</a:t>
            </a:r>
          </a:p>
          <a:p>
            <a:pPr lvl="1"/>
            <a:r>
              <a:rPr lang="en-US" sz="2200" dirty="0"/>
              <a:t>Ask for advice</a:t>
            </a:r>
          </a:p>
          <a:p>
            <a:pPr lvl="1"/>
            <a:r>
              <a:rPr lang="en-US" sz="2200" dirty="0"/>
              <a:t>Ask for their thoughts about some tech trend or industry news</a:t>
            </a:r>
          </a:p>
        </p:txBody>
      </p:sp>
    </p:spTree>
    <p:extLst>
      <p:ext uri="{BB962C8B-B14F-4D97-AF65-F5344CB8AC3E}">
        <p14:creationId xmlns:p14="http://schemas.microsoft.com/office/powerpoint/2010/main" val="2404661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5926C-3D19-B847-86D3-07B4A7B64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to network with?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B7087-1A45-3C48-9D73-6E1AE7965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You don’t have to start at the top</a:t>
            </a:r>
          </a:p>
          <a:p>
            <a:pPr lvl="1"/>
            <a:r>
              <a:rPr lang="en-US" sz="2200" dirty="0"/>
              <a:t>Instead, figure out who you know who might be connected in some way to a company</a:t>
            </a:r>
          </a:p>
          <a:p>
            <a:pPr lvl="1"/>
            <a:endParaRPr lang="en-US" dirty="0"/>
          </a:p>
          <a:p>
            <a:r>
              <a:rPr lang="en-US" sz="2400" dirty="0"/>
              <a:t>LinkedIn is quite valuable – if you use it correctly</a:t>
            </a:r>
          </a:p>
          <a:p>
            <a:pPr lvl="1"/>
            <a:r>
              <a:rPr lang="en-US" sz="2200" dirty="0"/>
              <a:t>Your profile should be professional and kept up-to-date</a:t>
            </a:r>
          </a:p>
          <a:p>
            <a:pPr lvl="1"/>
            <a:r>
              <a:rPr lang="en-US" sz="2200" dirty="0"/>
              <a:t>You should “friend” people you meet</a:t>
            </a:r>
          </a:p>
        </p:txBody>
      </p:sp>
    </p:spTree>
    <p:extLst>
      <p:ext uri="{BB962C8B-B14F-4D97-AF65-F5344CB8AC3E}">
        <p14:creationId xmlns:p14="http://schemas.microsoft.com/office/powerpoint/2010/main" val="1210410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0A53E-8033-BB4E-A52F-DEE460BFA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Demonstrate your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A8383-1069-F547-A851-26C6A4536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University projects</a:t>
            </a:r>
          </a:p>
          <a:p>
            <a:pPr>
              <a:spcBef>
                <a:spcPts val="2400"/>
              </a:spcBef>
            </a:pPr>
            <a:r>
              <a:rPr lang="en-US" dirty="0" err="1"/>
              <a:t>Github</a:t>
            </a:r>
            <a:r>
              <a:rPr lang="en-US" dirty="0"/>
              <a:t> repo</a:t>
            </a:r>
          </a:p>
          <a:p>
            <a:pPr>
              <a:spcBef>
                <a:spcPts val="2400"/>
              </a:spcBef>
            </a:pPr>
            <a:r>
              <a:rPr lang="en-US" dirty="0"/>
              <a:t>Open-source contributions</a:t>
            </a:r>
          </a:p>
          <a:p>
            <a:pPr>
              <a:spcBef>
                <a:spcPts val="2400"/>
              </a:spcBef>
            </a:pPr>
            <a:r>
              <a:rPr lang="en-US" dirty="0"/>
              <a:t>Stack Overflow answers</a:t>
            </a:r>
          </a:p>
          <a:p>
            <a:pPr>
              <a:spcBef>
                <a:spcPts val="2400"/>
              </a:spcBef>
            </a:pPr>
            <a:r>
              <a:rPr lang="en-US" dirty="0"/>
              <a:t>Apps in the app store</a:t>
            </a:r>
          </a:p>
          <a:p>
            <a:pPr>
              <a:spcBef>
                <a:spcPts val="2400"/>
              </a:spcBef>
            </a:pPr>
            <a:r>
              <a:rPr lang="en-US" dirty="0"/>
              <a:t>Blog about technical / industry topics</a:t>
            </a:r>
          </a:p>
          <a:p>
            <a:pPr>
              <a:spcBef>
                <a:spcPts val="2400"/>
              </a:spcBef>
            </a:pPr>
            <a:r>
              <a:rPr lang="en-US" dirty="0"/>
              <a:t>Maker projects</a:t>
            </a:r>
          </a:p>
          <a:p>
            <a:pPr marL="0" indent="0">
              <a:spcBef>
                <a:spcPts val="240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915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8B6A1-D158-AF40-B8CA-3937CA1A7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Summing up…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66443-07C8-D84F-BB8D-405346258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Value Proposition</a:t>
            </a:r>
          </a:p>
          <a:p>
            <a:pPr lvl="1"/>
            <a:r>
              <a:rPr lang="en-US" sz="2200" dirty="0"/>
              <a:t>Create value that’s many multiples of your pay – think like an owner</a:t>
            </a:r>
          </a:p>
          <a:p>
            <a:r>
              <a:rPr lang="en-US" sz="2400" dirty="0"/>
              <a:t>Market Positioning</a:t>
            </a:r>
          </a:p>
          <a:p>
            <a:pPr lvl="1"/>
            <a:r>
              <a:rPr lang="en-US" sz="2200" dirty="0"/>
              <a:t>The value of technical skills drops over time</a:t>
            </a:r>
          </a:p>
          <a:p>
            <a:pPr lvl="1"/>
            <a:r>
              <a:rPr lang="en-US" sz="2200" dirty="0"/>
              <a:t>Hard skills, communication skills, ability to execute always in demand</a:t>
            </a:r>
          </a:p>
          <a:p>
            <a:r>
              <a:rPr lang="en-US" sz="2400" dirty="0"/>
              <a:t>Finance</a:t>
            </a:r>
          </a:p>
          <a:p>
            <a:pPr lvl="1"/>
            <a:r>
              <a:rPr lang="en-US" sz="2200" dirty="0"/>
              <a:t>Build a cushion and be willing to take risks</a:t>
            </a:r>
          </a:p>
          <a:p>
            <a:r>
              <a:rPr lang="en-US" sz="2400" dirty="0"/>
              <a:t>Networking</a:t>
            </a:r>
          </a:p>
          <a:p>
            <a:pPr lvl="1"/>
            <a:r>
              <a:rPr lang="en-US" sz="2200" dirty="0"/>
              <a:t>Make friends and look to give first</a:t>
            </a:r>
          </a:p>
        </p:txBody>
      </p:sp>
    </p:spTree>
    <p:extLst>
      <p:ext uri="{BB962C8B-B14F-4D97-AF65-F5344CB8AC3E}">
        <p14:creationId xmlns:p14="http://schemas.microsoft.com/office/powerpoint/2010/main" val="3404869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7ED4C8-19C2-8D45-9E75-60B79E717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95400"/>
            <a:ext cx="11176000" cy="360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783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25265</TotalTime>
  <Words>908</Words>
  <Application>Microsoft Office PowerPoint</Application>
  <PresentationFormat>Widescreen</PresentationFormat>
  <Paragraphs>130</Paragraphs>
  <Slides>23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ＭＳ Ｐゴシック</vt:lpstr>
      <vt:lpstr>45 Helvetica Light</vt:lpstr>
      <vt:lpstr>Courier New</vt:lpstr>
      <vt:lpstr>Open Sans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My premise</vt:lpstr>
      <vt:lpstr>Value Proposition</vt:lpstr>
      <vt:lpstr>Value Proposition</vt:lpstr>
      <vt:lpstr>Value Creation: Rules of Thumb</vt:lpstr>
      <vt:lpstr>PowerPoint Presentation</vt:lpstr>
      <vt:lpstr>Market Positioning</vt:lpstr>
      <vt:lpstr>Two Business Models</vt:lpstr>
      <vt:lpstr>Value of technical skills drops over time</vt:lpstr>
      <vt:lpstr>But some stuff is always in demand</vt:lpstr>
      <vt:lpstr>High value on execution</vt:lpstr>
      <vt:lpstr>Finance</vt:lpstr>
      <vt:lpstr>PowerPoint Presentation</vt:lpstr>
      <vt:lpstr>Your “Finance” department</vt:lpstr>
      <vt:lpstr>Sales</vt:lpstr>
      <vt:lpstr>Networking</vt:lpstr>
      <vt:lpstr>How NOT to Network</vt:lpstr>
      <vt:lpstr>Instead: Give First!</vt:lpstr>
      <vt:lpstr>Who to network with?</vt:lpstr>
      <vt:lpstr>Demonstrate your value</vt:lpstr>
      <vt:lpstr>Summing up…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Howdy Pierce</dc:creator>
  <cp:lastModifiedBy>Kabera Clapton Gahenda</cp:lastModifiedBy>
  <cp:revision>333</cp:revision>
  <cp:lastPrinted>2016-12-06T18:52:42Z</cp:lastPrinted>
  <dcterms:created xsi:type="dcterms:W3CDTF">2022-07-18T20:23:28Z</dcterms:created>
  <dcterms:modified xsi:type="dcterms:W3CDTF">2026-07-22T14:53:22Z</dcterms:modified>
</cp:coreProperties>
</file>