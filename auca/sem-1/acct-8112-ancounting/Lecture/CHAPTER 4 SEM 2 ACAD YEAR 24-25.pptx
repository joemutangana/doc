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1"/>
  </p:sldMasterIdLst>
  <p:notesMasterIdLst>
    <p:notesMasterId r:id="rId111"/>
  </p:notesMasterIdLst>
  <p:sldIdLst>
    <p:sldId id="256" r:id="rId2"/>
    <p:sldId id="569" r:id="rId3"/>
    <p:sldId id="570" r:id="rId4"/>
    <p:sldId id="571" r:id="rId5"/>
    <p:sldId id="572" r:id="rId6"/>
    <p:sldId id="573" r:id="rId7"/>
    <p:sldId id="574" r:id="rId8"/>
    <p:sldId id="575" r:id="rId9"/>
    <p:sldId id="576" r:id="rId10"/>
    <p:sldId id="577" r:id="rId11"/>
    <p:sldId id="578" r:id="rId12"/>
    <p:sldId id="580" r:id="rId13"/>
    <p:sldId id="581" r:id="rId14"/>
    <p:sldId id="582" r:id="rId15"/>
    <p:sldId id="583" r:id="rId16"/>
    <p:sldId id="584" r:id="rId17"/>
    <p:sldId id="585" r:id="rId18"/>
    <p:sldId id="586" r:id="rId19"/>
    <p:sldId id="587" r:id="rId20"/>
    <p:sldId id="588" r:id="rId21"/>
    <p:sldId id="589" r:id="rId22"/>
    <p:sldId id="590" r:id="rId23"/>
    <p:sldId id="591" r:id="rId24"/>
    <p:sldId id="592" r:id="rId25"/>
    <p:sldId id="593" r:id="rId26"/>
    <p:sldId id="594" r:id="rId27"/>
    <p:sldId id="595" r:id="rId28"/>
    <p:sldId id="596" r:id="rId29"/>
    <p:sldId id="597" r:id="rId30"/>
    <p:sldId id="598" r:id="rId31"/>
    <p:sldId id="599" r:id="rId32"/>
    <p:sldId id="600" r:id="rId33"/>
    <p:sldId id="601" r:id="rId34"/>
    <p:sldId id="603" r:id="rId35"/>
    <p:sldId id="604" r:id="rId36"/>
    <p:sldId id="605" r:id="rId37"/>
    <p:sldId id="606" r:id="rId38"/>
    <p:sldId id="607" r:id="rId39"/>
    <p:sldId id="608" r:id="rId40"/>
    <p:sldId id="609" r:id="rId41"/>
    <p:sldId id="610" r:id="rId42"/>
    <p:sldId id="611" r:id="rId43"/>
    <p:sldId id="612" r:id="rId44"/>
    <p:sldId id="613" r:id="rId45"/>
    <p:sldId id="614" r:id="rId46"/>
    <p:sldId id="615" r:id="rId47"/>
    <p:sldId id="616" r:id="rId48"/>
    <p:sldId id="617" r:id="rId49"/>
    <p:sldId id="618" r:id="rId50"/>
    <p:sldId id="619" r:id="rId51"/>
    <p:sldId id="620" r:id="rId52"/>
    <p:sldId id="622" r:id="rId53"/>
    <p:sldId id="623" r:id="rId54"/>
    <p:sldId id="624" r:id="rId55"/>
    <p:sldId id="625" r:id="rId56"/>
    <p:sldId id="626" r:id="rId57"/>
    <p:sldId id="627" r:id="rId58"/>
    <p:sldId id="628" r:id="rId59"/>
    <p:sldId id="629" r:id="rId60"/>
    <p:sldId id="630" r:id="rId61"/>
    <p:sldId id="631" r:id="rId62"/>
    <p:sldId id="632" r:id="rId63"/>
    <p:sldId id="633" r:id="rId64"/>
    <p:sldId id="634" r:id="rId65"/>
    <p:sldId id="635" r:id="rId66"/>
    <p:sldId id="636" r:id="rId67"/>
    <p:sldId id="637" r:id="rId68"/>
    <p:sldId id="638" r:id="rId69"/>
    <p:sldId id="639" r:id="rId70"/>
    <p:sldId id="640" r:id="rId71"/>
    <p:sldId id="641" r:id="rId72"/>
    <p:sldId id="642" r:id="rId73"/>
    <p:sldId id="643" r:id="rId74"/>
    <p:sldId id="644" r:id="rId75"/>
    <p:sldId id="646" r:id="rId76"/>
    <p:sldId id="647" r:id="rId77"/>
    <p:sldId id="648" r:id="rId78"/>
    <p:sldId id="649" r:id="rId79"/>
    <p:sldId id="650" r:id="rId80"/>
    <p:sldId id="651" r:id="rId81"/>
    <p:sldId id="652" r:id="rId82"/>
    <p:sldId id="653" r:id="rId83"/>
    <p:sldId id="654" r:id="rId84"/>
    <p:sldId id="326" r:id="rId85"/>
    <p:sldId id="327" r:id="rId86"/>
    <p:sldId id="328" r:id="rId87"/>
    <p:sldId id="329" r:id="rId88"/>
    <p:sldId id="331" r:id="rId89"/>
    <p:sldId id="330" r:id="rId90"/>
    <p:sldId id="332" r:id="rId91"/>
    <p:sldId id="354" r:id="rId92"/>
    <p:sldId id="336" r:id="rId93"/>
    <p:sldId id="333" r:id="rId94"/>
    <p:sldId id="334" r:id="rId95"/>
    <p:sldId id="337" r:id="rId96"/>
    <p:sldId id="338" r:id="rId97"/>
    <p:sldId id="339" r:id="rId98"/>
    <p:sldId id="340" r:id="rId99"/>
    <p:sldId id="341" r:id="rId100"/>
    <p:sldId id="342" r:id="rId101"/>
    <p:sldId id="353" r:id="rId102"/>
    <p:sldId id="343" r:id="rId103"/>
    <p:sldId id="344" r:id="rId104"/>
    <p:sldId id="346" r:id="rId105"/>
    <p:sldId id="345" r:id="rId106"/>
    <p:sldId id="347" r:id="rId107"/>
    <p:sldId id="348" r:id="rId108"/>
    <p:sldId id="349" r:id="rId109"/>
    <p:sldId id="351" r:id="rId1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1" d="100"/>
          <a:sy n="71" d="100"/>
        </p:scale>
        <p:origin x="48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C2628F-0862-4A2C-BDEB-CBED60B26396}"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E012DB-7AFB-4636-ACDC-F84FD3F37B31}" type="slidenum">
              <a:rPr lang="en-US" smtClean="0"/>
              <a:t>‹#›</a:t>
            </a:fld>
            <a:endParaRPr lang="en-US"/>
          </a:p>
        </p:txBody>
      </p:sp>
    </p:spTree>
    <p:extLst>
      <p:ext uri="{BB962C8B-B14F-4D97-AF65-F5344CB8AC3E}">
        <p14:creationId xmlns:p14="http://schemas.microsoft.com/office/powerpoint/2010/main" val="1596684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p:sp>
      <p:sp>
        <p:nvSpPr>
          <p:cNvPr id="5632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2708685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p:sp>
      <p:sp>
        <p:nvSpPr>
          <p:cNvPr id="8499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59379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p:sp>
      <p:sp>
        <p:nvSpPr>
          <p:cNvPr id="8601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731182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p:sp>
      <p:sp>
        <p:nvSpPr>
          <p:cNvPr id="8704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508224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p:sp>
      <p:sp>
        <p:nvSpPr>
          <p:cNvPr id="880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618182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p:sp>
      <p:sp>
        <p:nvSpPr>
          <p:cNvPr id="8909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48080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p:sp>
      <p:sp>
        <p:nvSpPr>
          <p:cNvPr id="9011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424103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p:sp>
      <p:sp>
        <p:nvSpPr>
          <p:cNvPr id="9011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606977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p:sp>
      <p:sp>
        <p:nvSpPr>
          <p:cNvPr id="9216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0575060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p:sp>
      <p:sp>
        <p:nvSpPr>
          <p:cNvPr id="931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1491367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p:sp>
      <p:sp>
        <p:nvSpPr>
          <p:cNvPr id="9625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627135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p:sp>
      <p:sp>
        <p:nvSpPr>
          <p:cNvPr id="9728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3091625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p:sp>
      <p:sp>
        <p:nvSpPr>
          <p:cNvPr id="9830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276474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p:sp>
      <p:sp>
        <p:nvSpPr>
          <p:cNvPr id="9933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686509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471488" y="727075"/>
            <a:ext cx="6375400" cy="3586163"/>
          </a:xfrm>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697568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p:sp>
      <p:sp>
        <p:nvSpPr>
          <p:cNvPr id="10035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7002861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p:sp>
      <p:sp>
        <p:nvSpPr>
          <p:cNvPr id="10137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344025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p:sp>
      <p:sp>
        <p:nvSpPr>
          <p:cNvPr id="10240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7090335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p:sp>
      <p:sp>
        <p:nvSpPr>
          <p:cNvPr id="10342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1432817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p:sp>
      <p:sp>
        <p:nvSpPr>
          <p:cNvPr id="10445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011120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p:sp>
      <p:sp>
        <p:nvSpPr>
          <p:cNvPr id="10547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3802403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p:sp>
      <p:sp>
        <p:nvSpPr>
          <p:cNvPr id="10649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3192964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p:sp>
      <p:sp>
        <p:nvSpPr>
          <p:cNvPr id="10752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8770598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p:sp>
      <p:sp>
        <p:nvSpPr>
          <p:cNvPr id="10854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94652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p:sp>
      <p:sp>
        <p:nvSpPr>
          <p:cNvPr id="10957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5355176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p:sp>
      <p:sp>
        <p:nvSpPr>
          <p:cNvPr id="11059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128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p:sp>
      <p:sp>
        <p:nvSpPr>
          <p:cNvPr id="11161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4524841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p:sp>
      <p:sp>
        <p:nvSpPr>
          <p:cNvPr id="11264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9239637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p:sp>
      <p:sp>
        <p:nvSpPr>
          <p:cNvPr id="1136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1015935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p:sp>
      <p:sp>
        <p:nvSpPr>
          <p:cNvPr id="11469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7271720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p:sp>
      <p:sp>
        <p:nvSpPr>
          <p:cNvPr id="11571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1682251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3136356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471488" y="727075"/>
            <a:ext cx="6375400" cy="3586163"/>
          </a:xfrm>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3099475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471488" y="727075"/>
            <a:ext cx="6375400" cy="3586163"/>
          </a:xfrm>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5725382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471488" y="727075"/>
            <a:ext cx="6375400" cy="3586163"/>
          </a:xfrm>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7682637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471488" y="727075"/>
            <a:ext cx="6375400" cy="3586163"/>
          </a:xfrm>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9887923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471488" y="727075"/>
            <a:ext cx="6375400" cy="3586163"/>
          </a:xfrm>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4054734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p:sp>
      <p:sp>
        <p:nvSpPr>
          <p:cNvPr id="1187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4115813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p:sp>
      <p:sp>
        <p:nvSpPr>
          <p:cNvPr id="1198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707968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p:sp>
      <p:sp>
        <p:nvSpPr>
          <p:cNvPr id="12185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7740649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p:sp>
      <p:sp>
        <p:nvSpPr>
          <p:cNvPr id="1208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9042273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p:sp>
      <p:sp>
        <p:nvSpPr>
          <p:cNvPr id="12288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9268971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p:sp>
      <p:sp>
        <p:nvSpPr>
          <p:cNvPr id="12390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9141617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p:sp>
      <p:sp>
        <p:nvSpPr>
          <p:cNvPr id="12493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1542164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p:sp>
      <p:sp>
        <p:nvSpPr>
          <p:cNvPr id="12595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9784123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p:sp>
      <p:sp>
        <p:nvSpPr>
          <p:cNvPr id="12697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5513203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p:sp>
      <p:sp>
        <p:nvSpPr>
          <p:cNvPr id="12800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595247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p:sp>
      <p:sp>
        <p:nvSpPr>
          <p:cNvPr id="13005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4589505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p:sp>
      <p:sp>
        <p:nvSpPr>
          <p:cNvPr id="13107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2804507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p:sp>
      <p:sp>
        <p:nvSpPr>
          <p:cNvPr id="13209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7515662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p:sp>
      <p:sp>
        <p:nvSpPr>
          <p:cNvPr id="13414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681631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471488" y="727075"/>
            <a:ext cx="6375400" cy="3586163"/>
          </a:xfrm>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23929828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471488" y="727075"/>
            <a:ext cx="6375400" cy="3586163"/>
          </a:xfrm>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6770978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p:sp>
      <p:sp>
        <p:nvSpPr>
          <p:cNvPr id="13517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103727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p:sp>
      <p:sp>
        <p:nvSpPr>
          <p:cNvPr id="13619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70157163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p:sp>
      <p:sp>
        <p:nvSpPr>
          <p:cNvPr id="13721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5082677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p:sp>
      <p:sp>
        <p:nvSpPr>
          <p:cNvPr id="13824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5603591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p:sp>
      <p:sp>
        <p:nvSpPr>
          <p:cNvPr id="1392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50897933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p:sp>
      <p:sp>
        <p:nvSpPr>
          <p:cNvPr id="14029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6772311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471488" y="727075"/>
            <a:ext cx="6375400" cy="3586163"/>
          </a:xfrm>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75809339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471488" y="727075"/>
            <a:ext cx="6375400" cy="3586163"/>
          </a:xfrm>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1051546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471488" y="727075"/>
            <a:ext cx="6375400" cy="3586163"/>
          </a:xfrm>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83326220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471488" y="727075"/>
            <a:ext cx="6375400" cy="3586163"/>
          </a:xfrm>
        </p:spPr>
      </p:sp>
      <p:sp>
        <p:nvSpPr>
          <p:cNvPr id="952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59127295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p:sp>
      <p:sp>
        <p:nvSpPr>
          <p:cNvPr id="14131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33281930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p:sp>
      <p:sp>
        <p:nvSpPr>
          <p:cNvPr id="14233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6282074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p:sp>
      <p:sp>
        <p:nvSpPr>
          <p:cNvPr id="14336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445125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Rot="1" noChangeAspect="1" noChangeArrowheads="1" noTextEdit="1"/>
          </p:cNvSpPr>
          <p:nvPr>
            <p:ph type="sldImg"/>
          </p:nvPr>
        </p:nvSpPr>
        <p:spPr/>
      </p:sp>
      <p:sp>
        <p:nvSpPr>
          <p:cNvPr id="1443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12685911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spect="1" noChangeArrowheads="1" noTextEdit="1"/>
          </p:cNvSpPr>
          <p:nvPr>
            <p:ph type="sldImg"/>
          </p:nvPr>
        </p:nvSpPr>
        <p:spPr/>
      </p:sp>
      <p:sp>
        <p:nvSpPr>
          <p:cNvPr id="1454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21577266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spect="1" noChangeArrowheads="1" noTextEdit="1"/>
          </p:cNvSpPr>
          <p:nvPr>
            <p:ph type="sldImg"/>
          </p:nvPr>
        </p:nvSpPr>
        <p:spPr/>
      </p:sp>
      <p:sp>
        <p:nvSpPr>
          <p:cNvPr id="1454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1295296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p:sp>
      <p:sp>
        <p:nvSpPr>
          <p:cNvPr id="14745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166489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Rot="1" noChangeAspect="1" noChangeArrowheads="1" noTextEdit="1"/>
          </p:cNvSpPr>
          <p:nvPr>
            <p:ph type="sldImg"/>
          </p:nvPr>
        </p:nvSpPr>
        <p:spPr/>
      </p:sp>
      <p:sp>
        <p:nvSpPr>
          <p:cNvPr id="14848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47216942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p:sp>
      <p:sp>
        <p:nvSpPr>
          <p:cNvPr id="14950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84138325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p:sp>
      <p:sp>
        <p:nvSpPr>
          <p:cNvPr id="15053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57101223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p:sp>
      <p:sp>
        <p:nvSpPr>
          <p:cNvPr id="15257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66477836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Rot="1" noChangeAspect="1" noChangeArrowheads="1" noTextEdit="1"/>
          </p:cNvSpPr>
          <p:nvPr>
            <p:ph type="sldImg"/>
          </p:nvPr>
        </p:nvSpPr>
        <p:spPr/>
      </p:sp>
      <p:sp>
        <p:nvSpPr>
          <p:cNvPr id="15360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9514237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p:sp>
      <p:sp>
        <p:nvSpPr>
          <p:cNvPr id="15462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40153957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p:sp>
      <p:sp>
        <p:nvSpPr>
          <p:cNvPr id="15565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09825398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p:sp>
      <p:sp>
        <p:nvSpPr>
          <p:cNvPr id="15565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05688295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Rot="1" noChangeAspect="1" noChangeArrowheads="1" noTextEdit="1"/>
          </p:cNvSpPr>
          <p:nvPr>
            <p:ph type="sldImg"/>
          </p:nvPr>
        </p:nvSpPr>
        <p:spPr/>
      </p:sp>
      <p:sp>
        <p:nvSpPr>
          <p:cNvPr id="15667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14092723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spect="1" noChangeArrowheads="1" noTextEdit="1"/>
          </p:cNvSpPr>
          <p:nvPr>
            <p:ph type="sldImg"/>
          </p:nvPr>
        </p:nvSpPr>
        <p:spPr/>
      </p:sp>
      <p:sp>
        <p:nvSpPr>
          <p:cNvPr id="15769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20189817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Rot="1" noChangeAspect="1" noChangeArrowheads="1" noTextEdit="1"/>
          </p:cNvSpPr>
          <p:nvPr>
            <p:ph type="sldImg"/>
          </p:nvPr>
        </p:nvSpPr>
        <p:spPr/>
      </p:sp>
      <p:sp>
        <p:nvSpPr>
          <p:cNvPr id="15872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19215280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p:sp>
      <p:sp>
        <p:nvSpPr>
          <p:cNvPr id="15974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652283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dirty="0"/>
              <a:t>3/29/2025</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t>‹#›</a:t>
            </a:fld>
            <a:endParaRPr lang="en-US"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3/29/2025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3/29/2025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3/29/2025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3/29/2025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3/29/2025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3/29/2025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3/29/2025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2467" y="354014"/>
            <a:ext cx="10143067" cy="560387"/>
          </a:xfrm>
        </p:spPr>
        <p:txBody>
          <a:bodyPr/>
          <a:lstStyle/>
          <a:p>
            <a:r>
              <a:rPr lang="en-US"/>
              <a:t>Click to edit Master title style</a:t>
            </a:r>
          </a:p>
        </p:txBody>
      </p:sp>
      <p:sp>
        <p:nvSpPr>
          <p:cNvPr id="3" name="Text Placeholder 2"/>
          <p:cNvSpPr>
            <a:spLocks noGrp="1"/>
          </p:cNvSpPr>
          <p:nvPr>
            <p:ph type="body" sz="half" idx="1"/>
          </p:nvPr>
        </p:nvSpPr>
        <p:spPr>
          <a:xfrm>
            <a:off x="508000" y="1143000"/>
            <a:ext cx="54864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43000"/>
            <a:ext cx="54864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31876566"/>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3/29/2025</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3.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0.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1.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2.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41.png"/></Relationships>
</file>

<file path=ppt/slides/_rels/slide6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3.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42.png"/><Relationship Id="rId4" Type="http://schemas.openxmlformats.org/officeDocument/2006/relationships/image" Target="../media/image7.png"/><Relationship Id="rId9" Type="http://schemas.openxmlformats.org/officeDocument/2006/relationships/image" Target="../media/image41.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53.gi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4.gi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6.gif"/><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8.gif"/><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9.gif"/><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60.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DABE1A-8735-4E57-0D25-6A21BBCA0FFE}"/>
              </a:ext>
            </a:extLst>
          </p:cNvPr>
          <p:cNvSpPr>
            <a:spLocks noGrp="1"/>
          </p:cNvSpPr>
          <p:nvPr>
            <p:ph type="ctrTitle"/>
          </p:nvPr>
        </p:nvSpPr>
        <p:spPr>
          <a:xfrm>
            <a:off x="206130" y="896444"/>
            <a:ext cx="11774659" cy="2926080"/>
          </a:xfrm>
        </p:spPr>
        <p:txBody>
          <a:bodyPr>
            <a:normAutofit fontScale="90000"/>
          </a:bodyPr>
          <a:lstStyle/>
          <a:p>
            <a:r>
              <a:rPr lang="en-US" dirty="0"/>
              <a:t>CHAPTER IV: ADJUSTMENTS OR ADJUSTING PROCESS AND COMPLETING ACCOUNTING CYCLE</a:t>
            </a:r>
          </a:p>
        </p:txBody>
      </p:sp>
      <p:sp>
        <p:nvSpPr>
          <p:cNvPr id="3" name="Subtitle 2">
            <a:extLst>
              <a:ext uri="{FF2B5EF4-FFF2-40B4-BE49-F238E27FC236}">
                <a16:creationId xmlns:a16="http://schemas.microsoft.com/office/drawing/2014/main" xmlns="" id="{E46DAE78-C3F6-F3E6-30DB-834CA319D28C}"/>
              </a:ext>
            </a:extLst>
          </p:cNvPr>
          <p:cNvSpPr>
            <a:spLocks noGrp="1"/>
          </p:cNvSpPr>
          <p:nvPr>
            <p:ph type="subTitle" idx="1"/>
          </p:nvPr>
        </p:nvSpPr>
        <p:spPr>
          <a:xfrm>
            <a:off x="1709530" y="5281541"/>
            <a:ext cx="8767860" cy="1388165"/>
          </a:xfrm>
        </p:spPr>
        <p:txBody>
          <a:bodyPr/>
          <a:lstStyle/>
          <a:p>
            <a:r>
              <a:rPr lang="en-US" dirty="0"/>
              <a:t>PRINCIPLES OF ACCOUNTING I</a:t>
            </a:r>
          </a:p>
        </p:txBody>
      </p:sp>
    </p:spTree>
    <p:extLst>
      <p:ext uri="{BB962C8B-B14F-4D97-AF65-F5344CB8AC3E}">
        <p14:creationId xmlns:p14="http://schemas.microsoft.com/office/powerpoint/2010/main" val="3229884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ChangeArrowheads="1"/>
          </p:cNvSpPr>
          <p:nvPr/>
        </p:nvSpPr>
        <p:spPr bwMode="auto">
          <a:xfrm>
            <a:off x="1524000" y="228600"/>
            <a:ext cx="9144000" cy="1752600"/>
          </a:xfrm>
          <a:prstGeom prst="rect">
            <a:avLst/>
          </a:prstGeom>
          <a:solidFill>
            <a:srgbClr val="C5C5FF"/>
          </a:solidFill>
          <a:ln>
            <a:noFill/>
          </a:ln>
          <a:effectLst/>
        </p:spPr>
        <p:txBody>
          <a:bodyPr wrap="none" anchor="ctr"/>
          <a:lstStyle/>
          <a:p>
            <a:endParaRPr lang="en-US" dirty="0">
              <a:latin typeface="Liberation Sans" panose="020B0604020202020204" pitchFamily="34" charset="0"/>
            </a:endParaRPr>
          </a:p>
        </p:txBody>
      </p:sp>
      <p:sp>
        <p:nvSpPr>
          <p:cNvPr id="8" name="Rectangle 6"/>
          <p:cNvSpPr>
            <a:spLocks noChangeArrowheads="1"/>
          </p:cNvSpPr>
          <p:nvPr/>
        </p:nvSpPr>
        <p:spPr bwMode="auto">
          <a:xfrm>
            <a:off x="1524000" y="685800"/>
            <a:ext cx="2514600" cy="914400"/>
          </a:xfrm>
          <a:prstGeom prst="rect">
            <a:avLst/>
          </a:prstGeom>
          <a:solidFill>
            <a:schemeClr val="bg1">
              <a:lumMod val="6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9" name="Rectangle 8"/>
          <p:cNvSpPr txBox="1">
            <a:spLocks noChangeArrowheads="1"/>
          </p:cNvSpPr>
          <p:nvPr/>
        </p:nvSpPr>
        <p:spPr>
          <a:xfrm>
            <a:off x="4038600" y="533401"/>
            <a:ext cx="5943600" cy="1200329"/>
          </a:xfrm>
          <a:prstGeom prst="rect">
            <a:avLst/>
          </a:prstGeom>
          <a:solidFill>
            <a:schemeClr val="bg1"/>
          </a:solidFill>
          <a:ln w="28575" cap="flat" cmpd="sng" algn="ctr">
            <a:solidFill>
              <a:schemeClr val="bg1">
                <a:lumMod val="65000"/>
              </a:schemeClr>
            </a:solidFill>
            <a:prstDash val="solid"/>
            <a:miter lim="800000"/>
          </a:ln>
        </p:spPr>
        <p:txBody>
          <a:bodyPr wrap="square" lIns="91440" tIns="45720" rIns="91440" bIns="45720" anchor="ctr" anchorCtr="0">
            <a:noAutofit/>
          </a:bodyPr>
          <a:lstStyle>
            <a:lvl1pPr marL="342900" indent="-342900" algn="l" rtl="0" eaLnBrk="0" fontAlgn="base" hangingPunct="0">
              <a:spcBef>
                <a:spcPct val="20000"/>
              </a:spcBef>
              <a:spcAft>
                <a:spcPct val="0"/>
              </a:spcAft>
              <a:buClr>
                <a:schemeClr val="accent2"/>
              </a:buClr>
              <a:buSzPct val="75000"/>
              <a:buFont typeface="Wingdings" panose="05000000000000000000" pitchFamily="2" charset="2"/>
              <a:buChar char="l"/>
              <a:defRPr sz="2800" b="1">
                <a:solidFill>
                  <a:schemeClr val="bg2"/>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l"/>
              <a:defRPr sz="2400" b="1">
                <a:solidFill>
                  <a:schemeClr val="bg2"/>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5pPr>
            <a:lvl6pPr marL="25146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6pPr>
            <a:lvl7pPr marL="29718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7pPr>
            <a:lvl8pPr marL="34290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8pPr>
            <a:lvl9pPr marL="3886200" indent="-228600" algn="l" rtl="0" eaLnBrk="0" fontAlgn="base" hangingPunct="0">
              <a:spcBef>
                <a:spcPct val="20000"/>
              </a:spcBef>
              <a:spcAft>
                <a:spcPct val="0"/>
              </a:spcAft>
              <a:buClr>
                <a:schemeClr val="accent2"/>
              </a:buClr>
              <a:buSzPct val="75000"/>
              <a:buFont typeface="Wingdings" panose="05000000000000000000" pitchFamily="2" charset="2"/>
              <a:buChar char="l"/>
              <a:defRPr sz="2000" b="1">
                <a:solidFill>
                  <a:schemeClr val="bg2"/>
                </a:solidFill>
                <a:effectLst>
                  <a:outerShdw blurRad="38100" dist="38100" dir="2700000" algn="tl">
                    <a:srgbClr val="C0C0C0"/>
                  </a:outerShdw>
                </a:effectLst>
                <a:latin typeface="+mn-lt"/>
              </a:defRPr>
            </a:lvl9pPr>
          </a:lstStyle>
          <a:p>
            <a:pPr marL="59055" indent="0">
              <a:spcBef>
                <a:spcPct val="50000"/>
              </a:spcBef>
              <a:buSzTx/>
              <a:buNone/>
            </a:pPr>
            <a:r>
              <a:rPr lang="en-US" altLang="en-US" sz="3600" kern="0" dirty="0">
                <a:solidFill>
                  <a:srgbClr val="CC0000"/>
                </a:solidFill>
                <a:effectLst/>
                <a:latin typeface="Liberation Sans" panose="020B0604020202020204" pitchFamily="34" charset="0"/>
              </a:rPr>
              <a:t>Adjusting The Accounts</a:t>
            </a:r>
          </a:p>
        </p:txBody>
      </p:sp>
      <p:sp>
        <p:nvSpPr>
          <p:cNvPr id="10" name="Oval 9"/>
          <p:cNvSpPr/>
          <p:nvPr/>
        </p:nvSpPr>
        <p:spPr bwMode="auto">
          <a:xfrm>
            <a:off x="2286000" y="381000"/>
            <a:ext cx="1447800" cy="1447800"/>
          </a:xfrm>
          <a:prstGeom prst="ellipse">
            <a:avLst/>
          </a:prstGeom>
          <a:solidFill>
            <a:srgbClr val="0027A4"/>
          </a:solidFill>
          <a:ln w="12700" cap="flat" cmpd="sng" algn="ctr">
            <a:noFill/>
            <a:prstDash val="solid"/>
            <a:round/>
            <a:headEnd type="none" w="med" len="med"/>
            <a:tailEnd type="none" w="med" len="med"/>
          </a:ln>
          <a:effectLst/>
        </p:spPr>
        <p:txBody>
          <a:bodyPr vert="horz" wrap="square" lIns="91440" tIns="0" rIns="91440" bIns="45720" numCol="1" rtlCol="0" anchor="ctr" anchorCtr="0" compatLnSpc="1"/>
          <a:lstStyle/>
          <a:p>
            <a:pPr algn="ctr"/>
            <a:r>
              <a:rPr lang="en-US" sz="10000" dirty="0">
                <a:solidFill>
                  <a:schemeClr val="bg1"/>
                </a:solidFill>
                <a:latin typeface="Liberation Sans" panose="020B0604020202020204" pitchFamily="34" charset="0"/>
              </a:rPr>
              <a:t>6</a:t>
            </a:r>
          </a:p>
        </p:txBody>
      </p:sp>
      <p:sp>
        <p:nvSpPr>
          <p:cNvPr id="11" name="Rectangle 6"/>
          <p:cNvSpPr>
            <a:spLocks noChangeArrowheads="1"/>
          </p:cNvSpPr>
          <p:nvPr/>
        </p:nvSpPr>
        <p:spPr bwMode="auto">
          <a:xfrm>
            <a:off x="1524000" y="3773424"/>
            <a:ext cx="1447800" cy="722376"/>
          </a:xfrm>
          <a:prstGeom prst="rect">
            <a:avLst/>
          </a:prstGeom>
          <a:solidFill>
            <a:schemeClr val="bg1">
              <a:lumMod val="7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12" name="Rectangle 6"/>
          <p:cNvSpPr>
            <a:spLocks noChangeArrowheads="1"/>
          </p:cNvSpPr>
          <p:nvPr/>
        </p:nvSpPr>
        <p:spPr bwMode="auto">
          <a:xfrm>
            <a:off x="1524000" y="2846832"/>
            <a:ext cx="1447800" cy="722376"/>
          </a:xfrm>
          <a:prstGeom prst="rect">
            <a:avLst/>
          </a:prstGeom>
          <a:solidFill>
            <a:schemeClr val="bg1">
              <a:lumMod val="7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13" name="Rectangle 10"/>
          <p:cNvSpPr>
            <a:spLocks noChangeArrowheads="1"/>
          </p:cNvSpPr>
          <p:nvPr/>
        </p:nvSpPr>
        <p:spPr bwMode="auto">
          <a:xfrm>
            <a:off x="1981200" y="2133600"/>
            <a:ext cx="4419600" cy="523220"/>
          </a:xfrm>
          <a:prstGeom prst="rect">
            <a:avLst/>
          </a:prstGeom>
          <a:noFill/>
          <a:ln>
            <a:noFill/>
          </a:ln>
          <a:effectLst/>
        </p:spPr>
        <p:txBody>
          <a:bodyPr wrap="square">
            <a:spAutoFit/>
          </a:bodyPr>
          <a:lstStyle/>
          <a:p>
            <a:pPr algn="l" eaLnBrk="1" hangingPunct="1">
              <a:spcBef>
                <a:spcPct val="30000"/>
              </a:spcBef>
            </a:pPr>
            <a:r>
              <a:rPr lang="en-US" altLang="en-US" sz="2800" b="1" dirty="0">
                <a:latin typeface="Liberation Sans" panose="020B0604020202020204" pitchFamily="34" charset="0"/>
              </a:rPr>
              <a:t>Learning Objectives</a:t>
            </a:r>
          </a:p>
        </p:txBody>
      </p:sp>
      <p:sp>
        <p:nvSpPr>
          <p:cNvPr id="14" name="Rectangle 5"/>
          <p:cNvSpPr>
            <a:spLocks noChangeArrowheads="1"/>
          </p:cNvSpPr>
          <p:nvPr/>
        </p:nvSpPr>
        <p:spPr bwMode="auto">
          <a:xfrm>
            <a:off x="2971800" y="2782824"/>
            <a:ext cx="7696200" cy="850392"/>
          </a:xfrm>
          <a:prstGeom prst="rect">
            <a:avLst/>
          </a:prstGeom>
          <a:solidFill>
            <a:srgbClr val="0027A4"/>
          </a:solidFill>
          <a:ln>
            <a:noFill/>
          </a:ln>
          <a:effectLst/>
        </p:spPr>
        <p:txBody>
          <a:bodyPr wrap="square" tIns="27432" anchor="ctr"/>
          <a:lstStyle/>
          <a:p>
            <a:pPr marL="117475"/>
            <a:r>
              <a:rPr lang="en-US" sz="2000" dirty="0">
                <a:solidFill>
                  <a:srgbClr val="FFFF00"/>
                </a:solidFill>
                <a:latin typeface="Liberation Sans" panose="020B0604020202020204" pitchFamily="34" charset="0"/>
              </a:rPr>
              <a:t>Explain the accrual basis of accounting and the </a:t>
            </a:r>
          </a:p>
          <a:p>
            <a:pPr marL="117475"/>
            <a:r>
              <a:rPr lang="en-US" sz="2000" dirty="0">
                <a:solidFill>
                  <a:srgbClr val="FFFF00"/>
                </a:solidFill>
                <a:latin typeface="Liberation Sans" panose="020B0604020202020204" pitchFamily="34" charset="0"/>
              </a:rPr>
              <a:t>reasons for adjusting entries.</a:t>
            </a:r>
          </a:p>
        </p:txBody>
      </p:sp>
      <p:sp>
        <p:nvSpPr>
          <p:cNvPr id="15" name="Rectangle 5"/>
          <p:cNvSpPr>
            <a:spLocks noChangeArrowheads="1"/>
          </p:cNvSpPr>
          <p:nvPr/>
        </p:nvSpPr>
        <p:spPr bwMode="auto">
          <a:xfrm>
            <a:off x="2971800" y="3773424"/>
            <a:ext cx="7696200" cy="722376"/>
          </a:xfrm>
          <a:prstGeom prst="rect">
            <a:avLst/>
          </a:prstGeom>
          <a:solidFill>
            <a:srgbClr val="0027A4"/>
          </a:solidFill>
          <a:ln>
            <a:noFill/>
          </a:ln>
          <a:effectLst/>
        </p:spPr>
        <p:txBody>
          <a:bodyPr wrap="square" tIns="27432" anchor="ctr"/>
          <a:lstStyle/>
          <a:p>
            <a:pPr marL="117475"/>
            <a:r>
              <a:rPr lang="en-US" sz="2000" dirty="0">
                <a:solidFill>
                  <a:srgbClr val="FFFF00"/>
                </a:solidFill>
              </a:rPr>
              <a:t>Prepare adjusting entries for deferrals</a:t>
            </a:r>
            <a:r>
              <a:rPr lang="en-US" sz="2000" dirty="0"/>
              <a:t>.</a:t>
            </a:r>
            <a:endParaRPr lang="en-US" sz="2000" b="1" dirty="0">
              <a:solidFill>
                <a:schemeClr val="bg1"/>
              </a:solidFill>
              <a:latin typeface="Liberation Sans" panose="020B0604020202020204" pitchFamily="34" charset="0"/>
            </a:endParaRPr>
          </a:p>
        </p:txBody>
      </p:sp>
      <p:sp>
        <p:nvSpPr>
          <p:cNvPr id="16" name="Rectangle 6"/>
          <p:cNvSpPr>
            <a:spLocks noChangeArrowheads="1"/>
          </p:cNvSpPr>
          <p:nvPr/>
        </p:nvSpPr>
        <p:spPr bwMode="auto">
          <a:xfrm>
            <a:off x="1524000" y="4648200"/>
            <a:ext cx="1447800" cy="722376"/>
          </a:xfrm>
          <a:prstGeom prst="rect">
            <a:avLst/>
          </a:prstGeom>
          <a:solidFill>
            <a:schemeClr val="bg1">
              <a:lumMod val="7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17" name="Rectangle 5"/>
          <p:cNvSpPr>
            <a:spLocks noChangeArrowheads="1"/>
          </p:cNvSpPr>
          <p:nvPr/>
        </p:nvSpPr>
        <p:spPr bwMode="auto">
          <a:xfrm>
            <a:off x="2971800" y="4648200"/>
            <a:ext cx="7696200" cy="722376"/>
          </a:xfrm>
          <a:prstGeom prst="rect">
            <a:avLst/>
          </a:prstGeom>
          <a:solidFill>
            <a:srgbClr val="0027A4"/>
          </a:solidFill>
          <a:ln>
            <a:noFill/>
          </a:ln>
          <a:effectLst/>
        </p:spPr>
        <p:txBody>
          <a:bodyPr wrap="square" tIns="27432" anchor="ctr"/>
          <a:lstStyle/>
          <a:p>
            <a:pPr marL="117475"/>
            <a:r>
              <a:rPr lang="en-US" sz="2000" dirty="0">
                <a:solidFill>
                  <a:srgbClr val="FFFF00"/>
                </a:solidFill>
              </a:rPr>
              <a:t>Prepare adjusting entries for accruals.</a:t>
            </a:r>
          </a:p>
        </p:txBody>
      </p:sp>
      <p:sp>
        <p:nvSpPr>
          <p:cNvPr id="18" name="Oval 17"/>
          <p:cNvSpPr/>
          <p:nvPr/>
        </p:nvSpPr>
        <p:spPr bwMode="auto">
          <a:xfrm>
            <a:off x="2209800" y="4733544"/>
            <a:ext cx="548640" cy="54864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3</a:t>
            </a:r>
          </a:p>
        </p:txBody>
      </p:sp>
      <p:sp>
        <p:nvSpPr>
          <p:cNvPr id="19" name="Rectangle 5"/>
          <p:cNvSpPr>
            <a:spLocks noChangeArrowheads="1"/>
          </p:cNvSpPr>
          <p:nvPr/>
        </p:nvSpPr>
        <p:spPr bwMode="auto">
          <a:xfrm>
            <a:off x="2971800" y="5526024"/>
            <a:ext cx="7696200" cy="874776"/>
          </a:xfrm>
          <a:prstGeom prst="rect">
            <a:avLst/>
          </a:prstGeom>
          <a:solidFill>
            <a:srgbClr val="0027A4"/>
          </a:solidFill>
          <a:ln>
            <a:noFill/>
          </a:ln>
          <a:effectLst/>
        </p:spPr>
        <p:txBody>
          <a:bodyPr wrap="square" tIns="27432" anchor="ctr"/>
          <a:lstStyle/>
          <a:p>
            <a:pPr marL="117475"/>
            <a:r>
              <a:rPr lang="en-US" sz="2000" dirty="0">
                <a:solidFill>
                  <a:srgbClr val="FFFF00"/>
                </a:solidFill>
              </a:rPr>
              <a:t>Describe the nature and purpose of an adjusted </a:t>
            </a:r>
          </a:p>
          <a:p>
            <a:pPr marL="117475"/>
            <a:r>
              <a:rPr lang="en-US" sz="2000" dirty="0">
                <a:solidFill>
                  <a:srgbClr val="FFFF00"/>
                </a:solidFill>
              </a:rPr>
              <a:t>trial balance.</a:t>
            </a:r>
          </a:p>
        </p:txBody>
      </p:sp>
      <p:sp>
        <p:nvSpPr>
          <p:cNvPr id="20" name="Oval 19"/>
          <p:cNvSpPr/>
          <p:nvPr/>
        </p:nvSpPr>
        <p:spPr bwMode="auto">
          <a:xfrm>
            <a:off x="2209800" y="3870960"/>
            <a:ext cx="548640" cy="54864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2</a:t>
            </a:r>
          </a:p>
        </p:txBody>
      </p:sp>
      <p:sp>
        <p:nvSpPr>
          <p:cNvPr id="21" name="Oval 20"/>
          <p:cNvSpPr/>
          <p:nvPr/>
        </p:nvSpPr>
        <p:spPr bwMode="auto">
          <a:xfrm>
            <a:off x="2209800" y="2932176"/>
            <a:ext cx="548640" cy="54864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pPr algn="ctr"/>
            <a:r>
              <a:rPr lang="en-US" sz="2500" b="1" dirty="0">
                <a:solidFill>
                  <a:schemeClr val="bg1"/>
                </a:solidFill>
                <a:latin typeface="Liberation Sans" panose="020B0604020202020204" pitchFamily="34" charset="0"/>
              </a:rPr>
              <a:t>1</a:t>
            </a:r>
          </a:p>
        </p:txBody>
      </p:sp>
      <p:sp>
        <p:nvSpPr>
          <p:cNvPr id="22" name="Rectangle 6"/>
          <p:cNvSpPr>
            <a:spLocks noChangeArrowheads="1"/>
          </p:cNvSpPr>
          <p:nvPr/>
        </p:nvSpPr>
        <p:spPr bwMode="auto">
          <a:xfrm>
            <a:off x="1524000" y="5602224"/>
            <a:ext cx="1447800" cy="722376"/>
          </a:xfrm>
          <a:prstGeom prst="rect">
            <a:avLst/>
          </a:prstGeom>
          <a:solidFill>
            <a:schemeClr val="bg1">
              <a:lumMod val="75000"/>
            </a:schemeClr>
          </a:solidFill>
          <a:ln>
            <a:noFill/>
          </a:ln>
          <a:effectLst/>
        </p:spPr>
        <p:txBody>
          <a:bodyPr wrap="none" anchor="ctr"/>
          <a:lstStyle/>
          <a:p>
            <a:pPr algn="ctr"/>
            <a:endParaRPr lang="en-US" altLang="en-US" dirty="0">
              <a:latin typeface="Liberation Sans" panose="020B0604020202020204" pitchFamily="34" charset="0"/>
            </a:endParaRPr>
          </a:p>
        </p:txBody>
      </p:sp>
      <p:sp>
        <p:nvSpPr>
          <p:cNvPr id="23" name="Oval 22"/>
          <p:cNvSpPr/>
          <p:nvPr/>
        </p:nvSpPr>
        <p:spPr bwMode="auto">
          <a:xfrm>
            <a:off x="2209800" y="5699760"/>
            <a:ext cx="548640" cy="54864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91440" tIns="0" rIns="91440" bIns="45720" numCol="1" spcCol="0" rtlCol="0" fromWordArt="0" anchor="ctr" anchorCtr="0" forceAA="0" compatLnSpc="1">
            <a:noAutofit/>
          </a:bodyPr>
          <a:lstStyle/>
          <a:p>
            <a:r>
              <a:rPr lang="en-US" sz="2500" b="1" dirty="0">
                <a:solidFill>
                  <a:schemeClr val="bg1"/>
                </a:solidFill>
                <a:latin typeface="Liberation Sans" panose="020B0604020202020204" pitchFamily="34" charset="0"/>
              </a:rPr>
              <a:t>4</a:t>
            </a:r>
          </a:p>
        </p:txBody>
      </p:sp>
    </p:spTree>
    <p:extLst>
      <p:ext uri="{BB962C8B-B14F-4D97-AF65-F5344CB8AC3E}">
        <p14:creationId xmlns:p14="http://schemas.microsoft.com/office/powerpoint/2010/main" val="2815707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5"/>
          <p:cNvSpPr txBox="1">
            <a:spLocks noChangeArrowheads="1"/>
          </p:cNvSpPr>
          <p:nvPr/>
        </p:nvSpPr>
        <p:spPr bwMode="auto">
          <a:xfrm>
            <a:off x="2438400" y="4191000"/>
            <a:ext cx="3733800" cy="202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spcBef>
                <a:spcPct val="30000"/>
              </a:spcBef>
              <a:buClr>
                <a:srgbClr val="800000"/>
              </a:buClr>
              <a:buSzPct val="80000"/>
              <a:buFont typeface="Wingdings" panose="05000000000000000000" pitchFamily="2" charset="2"/>
              <a:buNone/>
            </a:pPr>
            <a:r>
              <a:rPr lang="en-US" altLang="en-US" sz="2200" b="0" dirty="0">
                <a:solidFill>
                  <a:schemeClr val="tx1"/>
                </a:solidFill>
                <a:latin typeface="Liberation Sans" panose="020B0604020202020204" pitchFamily="34" charset="0"/>
              </a:rPr>
              <a:t>Generally a </a:t>
            </a:r>
          </a:p>
          <a:p>
            <a:pPr lvl="1">
              <a:lnSpc>
                <a:spcPct val="120000"/>
              </a:lnSpc>
              <a:spcBef>
                <a:spcPct val="30000"/>
              </a:spcBef>
              <a:buClr>
                <a:srgbClr val="800000"/>
              </a:buClr>
              <a:buSzPct val="80000"/>
              <a:buFont typeface="Wingdings" panose="05000000000000000000" pitchFamily="2" charset="2"/>
              <a:buChar char="u"/>
            </a:pPr>
            <a:r>
              <a:rPr lang="en-US" altLang="en-US" sz="2200" dirty="0">
                <a:solidFill>
                  <a:schemeClr val="tx1"/>
                </a:solidFill>
                <a:latin typeface="Liberation Sans" panose="020B0604020202020204" pitchFamily="34" charset="0"/>
              </a:rPr>
              <a:t>month</a:t>
            </a:r>
            <a:r>
              <a:rPr lang="en-US" altLang="en-US" sz="2200" b="0" dirty="0">
                <a:solidFill>
                  <a:schemeClr val="tx1"/>
                </a:solidFill>
                <a:latin typeface="Liberation Sans" panose="020B0604020202020204" pitchFamily="34" charset="0"/>
              </a:rPr>
              <a:t>, </a:t>
            </a:r>
          </a:p>
          <a:p>
            <a:pPr lvl="1">
              <a:lnSpc>
                <a:spcPct val="120000"/>
              </a:lnSpc>
              <a:spcBef>
                <a:spcPct val="30000"/>
              </a:spcBef>
              <a:buClr>
                <a:srgbClr val="800000"/>
              </a:buClr>
              <a:buSzPct val="80000"/>
              <a:buFont typeface="Wingdings" panose="05000000000000000000" pitchFamily="2" charset="2"/>
              <a:buChar char="u"/>
            </a:pPr>
            <a:r>
              <a:rPr lang="en-US" altLang="en-US" sz="2200" dirty="0">
                <a:solidFill>
                  <a:schemeClr val="tx1"/>
                </a:solidFill>
                <a:latin typeface="Liberation Sans" panose="020B0604020202020204" pitchFamily="34" charset="0"/>
              </a:rPr>
              <a:t>quarter</a:t>
            </a:r>
            <a:r>
              <a:rPr lang="en-US" altLang="en-US" sz="2200" b="0" dirty="0">
                <a:solidFill>
                  <a:schemeClr val="tx1"/>
                </a:solidFill>
                <a:latin typeface="Liberation Sans" panose="020B0604020202020204" pitchFamily="34" charset="0"/>
              </a:rPr>
              <a:t>, or </a:t>
            </a:r>
          </a:p>
          <a:p>
            <a:pPr lvl="1">
              <a:lnSpc>
                <a:spcPct val="120000"/>
              </a:lnSpc>
              <a:spcBef>
                <a:spcPct val="30000"/>
              </a:spcBef>
              <a:buClr>
                <a:srgbClr val="800000"/>
              </a:buClr>
              <a:buSzPct val="80000"/>
              <a:buFont typeface="Wingdings" panose="05000000000000000000" pitchFamily="2" charset="2"/>
              <a:buChar char="u"/>
            </a:pPr>
            <a:r>
              <a:rPr lang="en-US" altLang="en-US" sz="2200" dirty="0">
                <a:solidFill>
                  <a:schemeClr val="tx1"/>
                </a:solidFill>
                <a:latin typeface="Liberation Sans" panose="020B0604020202020204" pitchFamily="34" charset="0"/>
              </a:rPr>
              <a:t>year</a:t>
            </a:r>
            <a:r>
              <a:rPr lang="en-US" altLang="en-US" sz="2200" b="0" dirty="0">
                <a:solidFill>
                  <a:schemeClr val="tx1"/>
                </a:solidFill>
                <a:latin typeface="Liberation Sans" panose="020B0604020202020204" pitchFamily="34" charset="0"/>
              </a:rPr>
              <a:t>.</a:t>
            </a:r>
          </a:p>
        </p:txBody>
      </p:sp>
      <p:sp>
        <p:nvSpPr>
          <p:cNvPr id="5123" name="Text Box 8"/>
          <p:cNvSpPr txBox="1">
            <a:spLocks noChangeArrowheads="1"/>
          </p:cNvSpPr>
          <p:nvPr/>
        </p:nvSpPr>
        <p:spPr bwMode="auto">
          <a:xfrm>
            <a:off x="2133600" y="1465218"/>
            <a:ext cx="777240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spcBef>
                <a:spcPct val="30000"/>
              </a:spcBef>
              <a:buSzPct val="80000"/>
            </a:pPr>
            <a:r>
              <a:rPr lang="en-US" altLang="en-US" sz="2200" b="0" dirty="0">
                <a:solidFill>
                  <a:schemeClr val="tx1"/>
                </a:solidFill>
                <a:latin typeface="Liberation Sans" panose="020B0604020202020204" pitchFamily="34" charset="0"/>
              </a:rPr>
              <a:t>Accountants divide the economic life of a business into artificial time periods (</a:t>
            </a:r>
            <a:r>
              <a:rPr lang="en-US" altLang="en-US" sz="2200" dirty="0">
                <a:solidFill>
                  <a:schemeClr val="tx2">
                    <a:lumMod val="75000"/>
                  </a:schemeClr>
                </a:solidFill>
                <a:latin typeface="Liberation Sans" panose="020B0604020202020204" pitchFamily="34" charset="0"/>
              </a:rPr>
              <a:t>Time Period Assumption</a:t>
            </a:r>
            <a:r>
              <a:rPr lang="en-US" altLang="en-US" sz="2200" b="0" dirty="0">
                <a:solidFill>
                  <a:schemeClr val="tx1"/>
                </a:solidFill>
                <a:latin typeface="Liberation Sans" panose="020B0604020202020204" pitchFamily="34" charset="0"/>
              </a:rPr>
              <a:t>).</a:t>
            </a:r>
          </a:p>
        </p:txBody>
      </p:sp>
      <p:sp>
        <p:nvSpPr>
          <p:cNvPr id="154630" name="Freeform 11"/>
          <p:cNvSpPr/>
          <p:nvPr/>
        </p:nvSpPr>
        <p:spPr bwMode="auto">
          <a:xfrm>
            <a:off x="2316164" y="2794001"/>
            <a:ext cx="7285037" cy="4763"/>
          </a:xfrm>
          <a:custGeom>
            <a:avLst/>
            <a:gdLst>
              <a:gd name="T0" fmla="*/ 0 w 4589"/>
              <a:gd name="T1" fmla="*/ 0 h 3"/>
              <a:gd name="T2" fmla="*/ 2147483647 w 4589"/>
              <a:gd name="T3" fmla="*/ 7562057 h 3"/>
              <a:gd name="T4" fmla="*/ 0 60000 65536"/>
              <a:gd name="T5" fmla="*/ 0 60000 65536"/>
              <a:gd name="T6" fmla="*/ 0 w 4589"/>
              <a:gd name="T7" fmla="*/ 0 h 3"/>
              <a:gd name="T8" fmla="*/ 4589 w 4589"/>
              <a:gd name="T9" fmla="*/ 3 h 3"/>
            </a:gdLst>
            <a:ahLst/>
            <a:cxnLst>
              <a:cxn ang="T4">
                <a:pos x="T0" y="T1"/>
              </a:cxn>
              <a:cxn ang="T5">
                <a:pos x="T2" y="T3"/>
              </a:cxn>
            </a:cxnLst>
            <a:rect l="T6" t="T7" r="T8" b="T9"/>
            <a:pathLst>
              <a:path w="4589" h="3">
                <a:moveTo>
                  <a:pt x="0" y="0"/>
                </a:moveTo>
                <a:lnTo>
                  <a:pt x="4589" y="3"/>
                </a:lnTo>
              </a:path>
            </a:pathLst>
          </a:custGeom>
          <a:noFill/>
          <a:ln w="508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54631" name="Line 12"/>
          <p:cNvSpPr>
            <a:spLocks noChangeShapeType="1"/>
          </p:cNvSpPr>
          <p:nvPr/>
        </p:nvSpPr>
        <p:spPr bwMode="auto">
          <a:xfrm>
            <a:off x="2290763" y="2667000"/>
            <a:ext cx="0" cy="25400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wrap="none" anchor="ctr"/>
          <a:lstStyle/>
          <a:p>
            <a:pPr>
              <a:defRPr/>
            </a:pPr>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54632" name="Line 13"/>
          <p:cNvSpPr>
            <a:spLocks noChangeShapeType="1"/>
          </p:cNvSpPr>
          <p:nvPr/>
        </p:nvSpPr>
        <p:spPr bwMode="auto">
          <a:xfrm>
            <a:off x="3429000" y="2667000"/>
            <a:ext cx="0" cy="25400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wrap="none" anchor="ctr"/>
          <a:lstStyle/>
          <a:p>
            <a:pPr>
              <a:defRPr/>
            </a:pPr>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5128" name="Rectangle 14"/>
          <p:cNvSpPr>
            <a:spLocks noChangeArrowheads="1"/>
          </p:cNvSpPr>
          <p:nvPr/>
        </p:nvSpPr>
        <p:spPr bwMode="auto">
          <a:xfrm>
            <a:off x="2352676" y="2806700"/>
            <a:ext cx="9239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spcBef>
                <a:spcPct val="50000"/>
              </a:spcBef>
            </a:pPr>
            <a:r>
              <a:rPr lang="en-US" altLang="en-US" sz="2000" dirty="0">
                <a:solidFill>
                  <a:schemeClr val="tx1"/>
                </a:solidFill>
                <a:latin typeface="Liberation Sans" panose="020B0604020202020204" pitchFamily="34" charset="0"/>
              </a:rPr>
              <a:t>Jan.</a:t>
            </a:r>
          </a:p>
        </p:txBody>
      </p:sp>
      <p:sp>
        <p:nvSpPr>
          <p:cNvPr id="5129" name="Rectangle 15"/>
          <p:cNvSpPr>
            <a:spLocks noChangeArrowheads="1"/>
          </p:cNvSpPr>
          <p:nvPr/>
        </p:nvSpPr>
        <p:spPr bwMode="auto">
          <a:xfrm>
            <a:off x="3571876" y="2806700"/>
            <a:ext cx="7715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spcBef>
                <a:spcPct val="50000"/>
              </a:spcBef>
            </a:pPr>
            <a:r>
              <a:rPr lang="en-US" altLang="en-US" sz="2000" dirty="0">
                <a:solidFill>
                  <a:schemeClr val="tx1"/>
                </a:solidFill>
                <a:latin typeface="Liberation Sans" panose="020B0604020202020204" pitchFamily="34" charset="0"/>
              </a:rPr>
              <a:t>Feb.</a:t>
            </a:r>
          </a:p>
        </p:txBody>
      </p:sp>
      <p:sp>
        <p:nvSpPr>
          <p:cNvPr id="5130" name="Rectangle 16"/>
          <p:cNvSpPr>
            <a:spLocks noChangeArrowheads="1"/>
          </p:cNvSpPr>
          <p:nvPr/>
        </p:nvSpPr>
        <p:spPr bwMode="auto">
          <a:xfrm>
            <a:off x="4714876" y="2806700"/>
            <a:ext cx="7715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spcBef>
                <a:spcPct val="50000"/>
              </a:spcBef>
            </a:pPr>
            <a:r>
              <a:rPr lang="en-US" altLang="en-US" sz="2000" dirty="0">
                <a:solidFill>
                  <a:schemeClr val="tx1"/>
                </a:solidFill>
                <a:latin typeface="Liberation Sans" panose="020B0604020202020204" pitchFamily="34" charset="0"/>
              </a:rPr>
              <a:t>Mar.</a:t>
            </a:r>
          </a:p>
        </p:txBody>
      </p:sp>
      <p:sp>
        <p:nvSpPr>
          <p:cNvPr id="5131" name="Rectangle 17"/>
          <p:cNvSpPr>
            <a:spLocks noChangeArrowheads="1"/>
          </p:cNvSpPr>
          <p:nvPr/>
        </p:nvSpPr>
        <p:spPr bwMode="auto">
          <a:xfrm>
            <a:off x="5857876" y="2806700"/>
            <a:ext cx="7715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spcBef>
                <a:spcPct val="50000"/>
              </a:spcBef>
            </a:pPr>
            <a:r>
              <a:rPr lang="en-US" altLang="en-US" sz="2000" dirty="0">
                <a:solidFill>
                  <a:schemeClr val="tx1"/>
                </a:solidFill>
                <a:latin typeface="Liberation Sans" panose="020B0604020202020204" pitchFamily="34" charset="0"/>
              </a:rPr>
              <a:t>Apr.</a:t>
            </a:r>
          </a:p>
        </p:txBody>
      </p:sp>
      <p:sp>
        <p:nvSpPr>
          <p:cNvPr id="154637" name="Line 19"/>
          <p:cNvSpPr>
            <a:spLocks noChangeShapeType="1"/>
          </p:cNvSpPr>
          <p:nvPr/>
        </p:nvSpPr>
        <p:spPr bwMode="auto">
          <a:xfrm>
            <a:off x="6848475" y="2667000"/>
            <a:ext cx="0" cy="25400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wrap="none" anchor="ctr"/>
          <a:lstStyle/>
          <a:p>
            <a:pPr>
              <a:defRPr/>
            </a:pPr>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5133" name="Rectangle 20"/>
          <p:cNvSpPr>
            <a:spLocks noChangeArrowheads="1"/>
          </p:cNvSpPr>
          <p:nvPr/>
        </p:nvSpPr>
        <p:spPr bwMode="auto">
          <a:xfrm>
            <a:off x="8677276" y="2806700"/>
            <a:ext cx="7715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spcBef>
                <a:spcPct val="50000"/>
              </a:spcBef>
            </a:pPr>
            <a:r>
              <a:rPr lang="en-US" altLang="en-US" sz="2000" dirty="0">
                <a:solidFill>
                  <a:schemeClr val="tx1"/>
                </a:solidFill>
                <a:latin typeface="Liberation Sans" panose="020B0604020202020204" pitchFamily="34" charset="0"/>
              </a:rPr>
              <a:t>Dec.</a:t>
            </a:r>
          </a:p>
        </p:txBody>
      </p:sp>
      <p:sp>
        <p:nvSpPr>
          <p:cNvPr id="154639" name="Line 21"/>
          <p:cNvSpPr>
            <a:spLocks noChangeShapeType="1"/>
          </p:cNvSpPr>
          <p:nvPr/>
        </p:nvSpPr>
        <p:spPr bwMode="auto">
          <a:xfrm>
            <a:off x="9591675" y="2667000"/>
            <a:ext cx="0" cy="25400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wrap="none" anchor="ctr"/>
          <a:lstStyle/>
          <a:p>
            <a:pPr>
              <a:defRPr/>
            </a:pPr>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5135" name="Rectangle 23"/>
          <p:cNvSpPr>
            <a:spLocks noChangeArrowheads="1"/>
          </p:cNvSpPr>
          <p:nvPr/>
        </p:nvSpPr>
        <p:spPr bwMode="auto">
          <a:xfrm>
            <a:off x="7086600" y="2667000"/>
            <a:ext cx="1143000" cy="3048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lnSpc>
                <a:spcPct val="15000"/>
              </a:lnSpc>
            </a:pPr>
            <a:r>
              <a:rPr lang="en-US" altLang="en-US" dirty="0">
                <a:solidFill>
                  <a:schemeClr val="tx1"/>
                </a:solidFill>
                <a:latin typeface="Liberation Sans" panose="020B0604020202020204" pitchFamily="34" charset="0"/>
              </a:rPr>
              <a:t>. . . . .</a:t>
            </a:r>
          </a:p>
        </p:txBody>
      </p:sp>
      <p:sp>
        <p:nvSpPr>
          <p:cNvPr id="154641" name="Line 24"/>
          <p:cNvSpPr>
            <a:spLocks noChangeShapeType="1"/>
          </p:cNvSpPr>
          <p:nvPr/>
        </p:nvSpPr>
        <p:spPr bwMode="auto">
          <a:xfrm>
            <a:off x="4572000" y="2667000"/>
            <a:ext cx="0" cy="25400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wrap="none" anchor="ctr"/>
          <a:lstStyle/>
          <a:p>
            <a:pPr>
              <a:defRPr/>
            </a:pPr>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54642" name="Line 25"/>
          <p:cNvSpPr>
            <a:spLocks noChangeShapeType="1"/>
          </p:cNvSpPr>
          <p:nvPr/>
        </p:nvSpPr>
        <p:spPr bwMode="auto">
          <a:xfrm>
            <a:off x="5715000" y="2667000"/>
            <a:ext cx="0" cy="25400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wrap="none" anchor="ctr"/>
          <a:lstStyle/>
          <a:p>
            <a:pPr>
              <a:defRPr/>
            </a:pPr>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54643" name="Line 26"/>
          <p:cNvSpPr>
            <a:spLocks noChangeShapeType="1"/>
          </p:cNvSpPr>
          <p:nvPr/>
        </p:nvSpPr>
        <p:spPr bwMode="auto">
          <a:xfrm>
            <a:off x="8458200" y="2667000"/>
            <a:ext cx="0" cy="254000"/>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wrap="none" anchor="ctr"/>
          <a:lstStyle/>
          <a:p>
            <a:pPr>
              <a:defRPr/>
            </a:pPr>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5139" name="AutoShape 27"/>
          <p:cNvSpPr/>
          <p:nvPr/>
        </p:nvSpPr>
        <p:spPr bwMode="auto">
          <a:xfrm rot="-5400000">
            <a:off x="2667000" y="2743200"/>
            <a:ext cx="381000" cy="1143000"/>
          </a:xfrm>
          <a:prstGeom prst="leftBrace">
            <a:avLst>
              <a:gd name="adj1" fmla="val 25000"/>
              <a:gd name="adj2" fmla="val 50000"/>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vert="eaVert"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endParaRPr lang="en-US" altLang="en-US" sz="2400" b="0" dirty="0">
              <a:solidFill>
                <a:schemeClr val="tx1"/>
              </a:solidFill>
              <a:latin typeface="Liberation Sans" panose="020B0604020202020204" pitchFamily="34" charset="0"/>
            </a:endParaRPr>
          </a:p>
        </p:txBody>
      </p:sp>
      <p:sp>
        <p:nvSpPr>
          <p:cNvPr id="5140" name="AutoShape 28"/>
          <p:cNvSpPr/>
          <p:nvPr/>
        </p:nvSpPr>
        <p:spPr bwMode="auto">
          <a:xfrm rot="-5400000">
            <a:off x="3810000" y="1905000"/>
            <a:ext cx="381000" cy="3429000"/>
          </a:xfrm>
          <a:prstGeom prst="leftBrace">
            <a:avLst>
              <a:gd name="adj1" fmla="val 75000"/>
              <a:gd name="adj2" fmla="val 50000"/>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vert="eaVert"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endParaRPr lang="en-US" altLang="en-US" sz="2400" b="0" dirty="0">
              <a:solidFill>
                <a:schemeClr val="tx1"/>
              </a:solidFill>
              <a:latin typeface="Liberation Sans" panose="020B0604020202020204" pitchFamily="34" charset="0"/>
            </a:endParaRPr>
          </a:p>
        </p:txBody>
      </p:sp>
      <p:sp>
        <p:nvSpPr>
          <p:cNvPr id="5141" name="AutoShape 29"/>
          <p:cNvSpPr/>
          <p:nvPr/>
        </p:nvSpPr>
        <p:spPr bwMode="auto">
          <a:xfrm rot="-5400000">
            <a:off x="5753100" y="266700"/>
            <a:ext cx="381000" cy="7315200"/>
          </a:xfrm>
          <a:prstGeom prst="leftBrace">
            <a:avLst>
              <a:gd name="adj1" fmla="val 160000"/>
              <a:gd name="adj2" fmla="val 50000"/>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vert="eaVert"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endParaRPr lang="en-US" altLang="en-US" sz="2400" b="0" dirty="0">
              <a:solidFill>
                <a:schemeClr val="tx1"/>
              </a:solidFill>
              <a:latin typeface="Liberation Sans" panose="020B0604020202020204" pitchFamily="34" charset="0"/>
            </a:endParaRPr>
          </a:p>
        </p:txBody>
      </p:sp>
      <p:sp>
        <p:nvSpPr>
          <p:cNvPr id="5142" name="Rectangle 24"/>
          <p:cNvSpPr>
            <a:spLocks noChangeArrowheads="1"/>
          </p:cNvSpPr>
          <p:nvPr/>
        </p:nvSpPr>
        <p:spPr bwMode="auto">
          <a:xfrm>
            <a:off x="6400800" y="4495800"/>
            <a:ext cx="3124200" cy="1149350"/>
          </a:xfrm>
          <a:prstGeom prst="rect">
            <a:avLst/>
          </a:prstGeom>
          <a:solidFill>
            <a:srgbClr val="FFFFCC"/>
          </a:solidFill>
          <a:ln w="19050" algn="ctr">
            <a:solidFill>
              <a:schemeClr val="tx1"/>
            </a:solidFill>
            <a:miter lim="800000"/>
          </a:ln>
          <a:effectLst>
            <a:innerShdw blurRad="114300">
              <a:prstClr val="black"/>
            </a:innerShdw>
          </a:effectLst>
        </p:spPr>
        <p:txBody>
          <a:bodyPr lIns="90488" tIns="73152" rIns="90488" bIns="91440">
            <a:spAutoFit/>
          </a:bodyPr>
          <a:lstStyle>
            <a:lvl1pPr marL="5715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r>
              <a:rPr lang="en-US" altLang="en-US" sz="1600" dirty="0">
                <a:solidFill>
                  <a:schemeClr val="tx2">
                    <a:lumMod val="75000"/>
                  </a:schemeClr>
                </a:solidFill>
                <a:latin typeface="Liberation Sans" panose="020B0604020202020204" pitchFamily="34" charset="0"/>
              </a:rPr>
              <a:t>Alternative Terminology</a:t>
            </a:r>
          </a:p>
          <a:p>
            <a:r>
              <a:rPr lang="en-US" altLang="en-US" sz="1600" b="0" dirty="0">
                <a:solidFill>
                  <a:schemeClr val="tx1"/>
                </a:solidFill>
                <a:latin typeface="Liberation Sans" panose="020B0604020202020204" pitchFamily="34" charset="0"/>
              </a:rPr>
              <a:t>The time period assumption is also called the </a:t>
            </a:r>
            <a:r>
              <a:rPr lang="en-US" altLang="en-US" sz="1600" b="0" i="1" dirty="0">
                <a:solidFill>
                  <a:schemeClr val="tx1"/>
                </a:solidFill>
                <a:latin typeface="Liberation Sans" panose="020B0604020202020204" pitchFamily="34" charset="0"/>
              </a:rPr>
              <a:t>periodicity assumption</a:t>
            </a:r>
            <a:r>
              <a:rPr lang="en-US" altLang="en-US" sz="1600" b="0" dirty="0">
                <a:solidFill>
                  <a:schemeClr val="tx1"/>
                </a:solidFill>
                <a:latin typeface="Liberation Sans" panose="020B0604020202020204" pitchFamily="34" charset="0"/>
              </a:rPr>
              <a:t>.</a:t>
            </a:r>
          </a:p>
        </p:txBody>
      </p:sp>
      <p:sp>
        <p:nvSpPr>
          <p:cNvPr id="25" name="Rectangle 6"/>
          <p:cNvSpPr>
            <a:spLocks noChangeArrowheads="1"/>
          </p:cNvSpPr>
          <p:nvPr/>
        </p:nvSpPr>
        <p:spPr bwMode="auto">
          <a:xfrm>
            <a:off x="1814286" y="405765"/>
            <a:ext cx="2249714" cy="677228"/>
          </a:xfrm>
          <a:prstGeom prst="rect">
            <a:avLst/>
          </a:prstGeom>
          <a:solidFill>
            <a:schemeClr val="bg1">
              <a:lumMod val="85000"/>
            </a:schemeClr>
          </a:solidFill>
          <a:ln>
            <a:noFill/>
          </a:ln>
          <a:effectLst/>
        </p:spPr>
        <p:txBody>
          <a:bodyPr wrap="none" lIns="86493" tIns="43247" rIns="86493" bIns="43247" anchor="ctr"/>
          <a:lstStyle/>
          <a:p>
            <a:r>
              <a:rPr lang="en-US" altLang="en-US" sz="1700" dirty="0">
                <a:latin typeface="Liberation Sans" panose="020B0604020202020204" pitchFamily="34" charset="0"/>
              </a:rPr>
              <a:t>LEARNING</a:t>
            </a:r>
          </a:p>
          <a:p>
            <a:r>
              <a:rPr lang="en-US" altLang="en-US" sz="1700" dirty="0">
                <a:latin typeface="Liberation Sans" panose="020B0604020202020204" pitchFamily="34" charset="0"/>
              </a:rPr>
              <a:t>OBJECTIVE</a:t>
            </a:r>
          </a:p>
        </p:txBody>
      </p:sp>
      <p:sp>
        <p:nvSpPr>
          <p:cNvPr id="26" name="Rectangle 5"/>
          <p:cNvSpPr>
            <a:spLocks noChangeArrowheads="1"/>
          </p:cNvSpPr>
          <p:nvPr/>
        </p:nvSpPr>
        <p:spPr bwMode="auto">
          <a:xfrm>
            <a:off x="4064001" y="274320"/>
            <a:ext cx="6241143" cy="928688"/>
          </a:xfrm>
          <a:prstGeom prst="rect">
            <a:avLst/>
          </a:prstGeom>
          <a:solidFill>
            <a:srgbClr val="0027A4"/>
          </a:solidFill>
          <a:ln>
            <a:noFill/>
          </a:ln>
          <a:effectLst/>
        </p:spPr>
        <p:txBody>
          <a:bodyPr wrap="square" tIns="27432" anchor="ctr"/>
          <a:lstStyle/>
          <a:p>
            <a:pPr marL="117475"/>
            <a:r>
              <a:rPr lang="en-US" sz="2100" dirty="0">
                <a:solidFill>
                  <a:srgbClr val="FFFF00"/>
                </a:solidFill>
                <a:latin typeface="Liberation Sans" panose="020B0604020202020204" pitchFamily="34" charset="0"/>
              </a:rPr>
              <a:t>Explain the accrual basis of accounting</a:t>
            </a:r>
          </a:p>
          <a:p>
            <a:pPr marL="117475"/>
            <a:r>
              <a:rPr lang="en-US" sz="2100" dirty="0">
                <a:solidFill>
                  <a:srgbClr val="FFFF00"/>
                </a:solidFill>
                <a:latin typeface="Liberation Sans" panose="020B0604020202020204" pitchFamily="34" charset="0"/>
              </a:rPr>
              <a:t>and the reasons for adjusting entries.</a:t>
            </a:r>
          </a:p>
        </p:txBody>
      </p:sp>
      <p:sp>
        <p:nvSpPr>
          <p:cNvPr id="27" name="Oval 26"/>
          <p:cNvSpPr/>
          <p:nvPr/>
        </p:nvSpPr>
        <p:spPr bwMode="auto">
          <a:xfrm>
            <a:off x="3396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86493" tIns="0" rIns="86493" bIns="43247" numCol="1" spcCol="0" rtlCol="0" fromWordArt="0" anchor="ctr" anchorCtr="0" forceAA="0" compatLnSpc="1">
            <a:noAutofit/>
          </a:bodyPr>
          <a:lstStyle/>
          <a:p>
            <a:pPr algn="ctr"/>
            <a:r>
              <a:rPr lang="en-US" sz="2400" dirty="0">
                <a:latin typeface="Liberation Sans" panose="020B0604020202020204" pitchFamily="34" charset="0"/>
              </a:rPr>
              <a:t>1</a:t>
            </a:r>
          </a:p>
        </p:txBody>
      </p:sp>
      <p:sp>
        <p:nvSpPr>
          <p:cNvPr id="28"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Tree>
    <p:extLst>
      <p:ext uri="{BB962C8B-B14F-4D97-AF65-F5344CB8AC3E}">
        <p14:creationId xmlns:p14="http://schemas.microsoft.com/office/powerpoint/2010/main" val="3719025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5"/>
          <p:cNvSpPr txBox="1">
            <a:spLocks noChangeArrowheads="1"/>
          </p:cNvSpPr>
          <p:nvPr/>
        </p:nvSpPr>
        <p:spPr bwMode="auto">
          <a:xfrm>
            <a:off x="2133600" y="1295400"/>
            <a:ext cx="7772400" cy="35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marL="457200" indent="-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694055">
              <a:lnSpc>
                <a:spcPct val="125000"/>
              </a:lnSpc>
              <a:spcBef>
                <a:spcPts val="1200"/>
              </a:spcBef>
              <a:buClr>
                <a:srgbClr val="800000"/>
              </a:buClr>
              <a:buSzPct val="80000"/>
              <a:buFont typeface="Wingdings" panose="05000000000000000000" pitchFamily="2" charset="2"/>
              <a:buChar char="u"/>
            </a:pPr>
            <a:r>
              <a:rPr lang="en-US" altLang="en-US" sz="2200" b="0" dirty="0">
                <a:solidFill>
                  <a:schemeClr val="tx1"/>
                </a:solidFill>
                <a:latin typeface="Liberation Sans" panose="020B0604020202020204" pitchFamily="34" charset="0"/>
              </a:rPr>
              <a:t>Monthly and quarterly time periods are called </a:t>
            </a:r>
            <a:r>
              <a:rPr lang="en-US" altLang="en-US" sz="2200" dirty="0">
                <a:solidFill>
                  <a:schemeClr val="hlink"/>
                </a:solidFill>
                <a:latin typeface="Liberation Sans" panose="020B0604020202020204" pitchFamily="34" charset="0"/>
              </a:rPr>
              <a:t>interim periods</a:t>
            </a:r>
            <a:r>
              <a:rPr lang="en-US" altLang="en-US" sz="2200" b="0" dirty="0">
                <a:solidFill>
                  <a:schemeClr val="tx1"/>
                </a:solidFill>
                <a:latin typeface="Liberation Sans" panose="020B0604020202020204" pitchFamily="34" charset="0"/>
              </a:rPr>
              <a:t>. </a:t>
            </a:r>
          </a:p>
          <a:p>
            <a:pPr marL="694055">
              <a:lnSpc>
                <a:spcPct val="125000"/>
              </a:lnSpc>
              <a:spcBef>
                <a:spcPts val="1200"/>
              </a:spcBef>
              <a:buClr>
                <a:srgbClr val="800000"/>
              </a:buClr>
              <a:buSzPct val="80000"/>
              <a:buFont typeface="Wingdings" panose="05000000000000000000" pitchFamily="2" charset="2"/>
              <a:buChar char="u"/>
            </a:pPr>
            <a:r>
              <a:rPr lang="en-US" altLang="en-US" sz="2200" b="0" dirty="0">
                <a:solidFill>
                  <a:schemeClr val="tx1"/>
                </a:solidFill>
                <a:latin typeface="Liberation Sans" panose="020B0604020202020204" pitchFamily="34" charset="0"/>
              </a:rPr>
              <a:t>Most large companies must prepare both </a:t>
            </a:r>
            <a:r>
              <a:rPr lang="en-US" altLang="en-US" sz="2200" dirty="0">
                <a:solidFill>
                  <a:schemeClr val="tx1"/>
                </a:solidFill>
                <a:latin typeface="Liberation Sans" panose="020B0604020202020204" pitchFamily="34" charset="0"/>
              </a:rPr>
              <a:t>quarterly </a:t>
            </a:r>
            <a:r>
              <a:rPr lang="en-US" altLang="en-US" sz="2200" b="0" dirty="0">
                <a:solidFill>
                  <a:schemeClr val="tx1"/>
                </a:solidFill>
                <a:latin typeface="Liberation Sans" panose="020B0604020202020204" pitchFamily="34" charset="0"/>
              </a:rPr>
              <a:t>and</a:t>
            </a:r>
            <a:r>
              <a:rPr lang="en-US" altLang="en-US" sz="2200" dirty="0">
                <a:solidFill>
                  <a:schemeClr val="tx1"/>
                </a:solidFill>
                <a:latin typeface="Liberation Sans" panose="020B0604020202020204" pitchFamily="34" charset="0"/>
              </a:rPr>
              <a:t> annual</a:t>
            </a:r>
            <a:r>
              <a:rPr lang="en-US" altLang="en-US" sz="2200" b="0" dirty="0">
                <a:solidFill>
                  <a:schemeClr val="tx1"/>
                </a:solidFill>
                <a:latin typeface="Liberation Sans" panose="020B0604020202020204" pitchFamily="34" charset="0"/>
              </a:rPr>
              <a:t> financial statements.</a:t>
            </a:r>
          </a:p>
          <a:p>
            <a:pPr marL="694055">
              <a:lnSpc>
                <a:spcPct val="125000"/>
              </a:lnSpc>
              <a:spcBef>
                <a:spcPts val="1200"/>
              </a:spcBef>
              <a:buClr>
                <a:srgbClr val="800000"/>
              </a:buClr>
              <a:buSzPct val="80000"/>
              <a:buFont typeface="Wingdings" panose="05000000000000000000" pitchFamily="2" charset="2"/>
              <a:buChar char="u"/>
            </a:pPr>
            <a:r>
              <a:rPr lang="en-US" altLang="en-US" sz="2200" dirty="0">
                <a:solidFill>
                  <a:schemeClr val="hlink"/>
                </a:solidFill>
                <a:latin typeface="Liberation Sans" panose="020B0604020202020204" pitchFamily="34" charset="0"/>
              </a:rPr>
              <a:t>Fiscal Year</a:t>
            </a:r>
            <a:r>
              <a:rPr lang="en-US" altLang="en-US" sz="2200" b="0" dirty="0">
                <a:solidFill>
                  <a:schemeClr val="tx1"/>
                </a:solidFill>
                <a:latin typeface="Liberation Sans" panose="020B0604020202020204" pitchFamily="34" charset="0"/>
              </a:rPr>
              <a:t> = Accounting time period that is </a:t>
            </a:r>
            <a:r>
              <a:rPr lang="en-US" altLang="en-US" sz="2200" dirty="0">
                <a:solidFill>
                  <a:schemeClr val="tx1"/>
                </a:solidFill>
                <a:latin typeface="Liberation Sans" panose="020B0604020202020204" pitchFamily="34" charset="0"/>
              </a:rPr>
              <a:t>one year</a:t>
            </a:r>
            <a:r>
              <a:rPr lang="en-US" altLang="en-US" sz="2200" b="0" dirty="0">
                <a:solidFill>
                  <a:schemeClr val="tx1"/>
                </a:solidFill>
                <a:latin typeface="Liberation Sans" panose="020B0604020202020204" pitchFamily="34" charset="0"/>
              </a:rPr>
              <a:t> in length.</a:t>
            </a:r>
          </a:p>
          <a:p>
            <a:pPr marL="694055">
              <a:lnSpc>
                <a:spcPct val="125000"/>
              </a:lnSpc>
              <a:spcBef>
                <a:spcPts val="1200"/>
              </a:spcBef>
              <a:buClr>
                <a:srgbClr val="800000"/>
              </a:buClr>
              <a:buSzPct val="80000"/>
              <a:buFont typeface="Wingdings" panose="05000000000000000000" pitchFamily="2" charset="2"/>
              <a:buChar char="u"/>
            </a:pPr>
            <a:r>
              <a:rPr lang="en-US" altLang="en-US" sz="2200" dirty="0">
                <a:solidFill>
                  <a:schemeClr val="hlink"/>
                </a:solidFill>
                <a:latin typeface="Liberation Sans" panose="020B0604020202020204" pitchFamily="34" charset="0"/>
              </a:rPr>
              <a:t>Calendar Year</a:t>
            </a:r>
            <a:r>
              <a:rPr lang="en-US" altLang="en-US" sz="2200" b="0" dirty="0">
                <a:solidFill>
                  <a:schemeClr val="tx1"/>
                </a:solidFill>
                <a:latin typeface="Liberation Sans" panose="020B0604020202020204" pitchFamily="34" charset="0"/>
              </a:rPr>
              <a:t> = January 1 to December 31.</a:t>
            </a:r>
          </a:p>
        </p:txBody>
      </p:sp>
      <p:sp>
        <p:nvSpPr>
          <p:cNvPr id="6158" name="Line 1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a:defRPr/>
            </a:pPr>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7" name="Rectangle 7"/>
          <p:cNvSpPr>
            <a:spLocks noChangeArrowheads="1"/>
          </p:cNvSpPr>
          <p:nvPr/>
        </p:nvSpPr>
        <p:spPr bwMode="auto">
          <a:xfrm>
            <a:off x="2133600" y="304800"/>
            <a:ext cx="7620000" cy="560388"/>
          </a:xfrm>
          <a:prstGeom prst="rect">
            <a:avLst/>
          </a:prstGeom>
          <a:noFill/>
          <a:ln w="63500">
            <a:noFill/>
            <a:miter lim="800000"/>
          </a:ln>
          <a:effectLst/>
        </p:spPr>
        <p:txBody>
          <a:bodyPr vert="horz" wrap="square" lIns="90488" tIns="44450" rIns="90488" bIns="44450" numCol="1" anchor="ctr" anchorCtr="0" compatLnSpc="1"/>
          <a:lstStyle/>
          <a:p>
            <a:pPr algn="l"/>
            <a:r>
              <a:rPr lang="en-US" altLang="en-US" sz="3200" b="1" dirty="0">
                <a:solidFill>
                  <a:schemeClr val="tx2">
                    <a:lumMod val="75000"/>
                  </a:schemeClr>
                </a:solidFill>
                <a:latin typeface="Liberation Sans" panose="020B0604020202020204" pitchFamily="34" charset="0"/>
              </a:rPr>
              <a:t>Fiscal and Calendar Years</a:t>
            </a:r>
          </a:p>
        </p:txBody>
      </p:sp>
      <p:sp>
        <p:nvSpPr>
          <p:cNvPr id="5"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Tree>
    <p:extLst>
      <p:ext uri="{BB962C8B-B14F-4D97-AF65-F5344CB8AC3E}">
        <p14:creationId xmlns:p14="http://schemas.microsoft.com/office/powerpoint/2010/main" val="238327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4"/>
          <p:cNvSpPr>
            <a:spLocks noChangeArrowheads="1"/>
          </p:cNvSpPr>
          <p:nvPr/>
        </p:nvSpPr>
        <p:spPr bwMode="auto">
          <a:xfrm>
            <a:off x="2133600" y="1905001"/>
            <a:ext cx="7696200" cy="411797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1440" tIns="46038" rIns="182562" bIns="46038">
            <a:spAutoFit/>
          </a:bodyPr>
          <a:lstStyle>
            <a:lvl1pPr marL="517525" indent="-517525">
              <a:defRPr sz="2800" b="1">
                <a:solidFill>
                  <a:schemeClr val="bg1"/>
                </a:solidFill>
                <a:latin typeface="Arial" panose="020B0604020202020204" pitchFamily="34" charset="0"/>
              </a:defRPr>
            </a:lvl1pPr>
            <a:lvl2pPr marL="9144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5000"/>
              </a:lnSpc>
              <a:spcBef>
                <a:spcPct val="50000"/>
              </a:spcBef>
              <a:buClr>
                <a:schemeClr val="accent2"/>
              </a:buClr>
              <a:buSzPct val="75000"/>
              <a:buFont typeface="Wingdings" panose="05000000000000000000" pitchFamily="2" charset="2"/>
              <a:buNone/>
            </a:pPr>
            <a:r>
              <a:rPr lang="en-US" altLang="en-US" sz="2200" b="0" dirty="0">
                <a:solidFill>
                  <a:schemeClr val="bg2"/>
                </a:solidFill>
                <a:latin typeface="Liberation Sans" panose="020B0604020202020204" pitchFamily="34" charset="0"/>
              </a:rPr>
              <a:t>The time period assumption states that:</a:t>
            </a:r>
          </a:p>
          <a:p>
            <a:pPr lvl="1">
              <a:lnSpc>
                <a:spcPct val="125000"/>
              </a:lnSpc>
              <a:spcBef>
                <a:spcPct val="50000"/>
              </a:spcBef>
              <a:buClr>
                <a:schemeClr val="tx1"/>
              </a:buClr>
              <a:buFont typeface="Wingdings" panose="05000000000000000000" pitchFamily="2" charset="2"/>
              <a:buAutoNum type="alphaLcPeriod"/>
            </a:pPr>
            <a:r>
              <a:rPr lang="en-US" altLang="en-US" sz="2200" b="0" dirty="0">
                <a:solidFill>
                  <a:schemeClr val="tx1"/>
                </a:solidFill>
                <a:latin typeface="Liberation Sans" panose="020B0604020202020204" pitchFamily="34" charset="0"/>
              </a:rPr>
              <a:t>revenue should be recognized in the accounting period in which it is earned.</a:t>
            </a:r>
          </a:p>
          <a:p>
            <a:pPr lvl="1">
              <a:lnSpc>
                <a:spcPct val="125000"/>
              </a:lnSpc>
              <a:spcBef>
                <a:spcPct val="50000"/>
              </a:spcBef>
              <a:buClr>
                <a:schemeClr val="tx1"/>
              </a:buClr>
              <a:buFont typeface="Wingdings" panose="05000000000000000000" pitchFamily="2" charset="2"/>
              <a:buAutoNum type="alphaLcPeriod"/>
            </a:pPr>
            <a:r>
              <a:rPr lang="en-US" altLang="en-US" sz="2200" b="0" dirty="0">
                <a:solidFill>
                  <a:schemeClr val="tx1"/>
                </a:solidFill>
                <a:latin typeface="Liberation Sans" panose="020B0604020202020204" pitchFamily="34" charset="0"/>
              </a:rPr>
              <a:t>expenses should be matched with revenues.</a:t>
            </a:r>
          </a:p>
          <a:p>
            <a:pPr lvl="1">
              <a:lnSpc>
                <a:spcPct val="125000"/>
              </a:lnSpc>
              <a:spcBef>
                <a:spcPct val="50000"/>
              </a:spcBef>
              <a:buClr>
                <a:schemeClr val="tx1"/>
              </a:buClr>
              <a:buFont typeface="Wingdings" panose="05000000000000000000" pitchFamily="2" charset="2"/>
              <a:buAutoNum type="alphaLcPeriod"/>
            </a:pPr>
            <a:r>
              <a:rPr lang="en-US" altLang="en-US" sz="2200" b="0" dirty="0">
                <a:solidFill>
                  <a:schemeClr val="tx1"/>
                </a:solidFill>
                <a:latin typeface="Liberation Sans" panose="020B0604020202020204" pitchFamily="34" charset="0"/>
              </a:rPr>
              <a:t>the economic life of a business can be divided into artificial time periods.</a:t>
            </a:r>
          </a:p>
          <a:p>
            <a:pPr lvl="1">
              <a:lnSpc>
                <a:spcPct val="125000"/>
              </a:lnSpc>
              <a:spcBef>
                <a:spcPct val="50000"/>
              </a:spcBef>
              <a:buClr>
                <a:schemeClr val="tx1"/>
              </a:buClr>
              <a:buFont typeface="Wingdings" panose="05000000000000000000" pitchFamily="2" charset="2"/>
              <a:buAutoNum type="alphaLcPeriod"/>
            </a:pPr>
            <a:r>
              <a:rPr lang="en-US" altLang="en-US" sz="2200" b="0" dirty="0">
                <a:solidFill>
                  <a:schemeClr val="tx1"/>
                </a:solidFill>
                <a:latin typeface="Liberation Sans" panose="020B0604020202020204" pitchFamily="34" charset="0"/>
              </a:rPr>
              <a:t>the fiscal year should correspond with the calendar year.</a:t>
            </a:r>
          </a:p>
        </p:txBody>
      </p:sp>
      <p:sp>
        <p:nvSpPr>
          <p:cNvPr id="7183" name="Line 1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8" name="Rectangle 4"/>
          <p:cNvSpPr>
            <a:spLocks noChangeArrowheads="1"/>
          </p:cNvSpPr>
          <p:nvPr/>
        </p:nvSpPr>
        <p:spPr bwMode="auto">
          <a:xfrm>
            <a:off x="2133600" y="1295400"/>
            <a:ext cx="5334000"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Comic Sans MS" panose="030F0702030302020204" pitchFamily="66" charset="0"/>
              </a:defRPr>
            </a:lvl1pPr>
            <a:lvl2pPr marL="742950" indent="-285750">
              <a:defRPr sz="2400">
                <a:solidFill>
                  <a:schemeClr val="tx1"/>
                </a:solidFill>
                <a:latin typeface="Comic Sans MS" panose="030F0702030302020204" pitchFamily="66" charset="0"/>
              </a:defRPr>
            </a:lvl2pPr>
            <a:lvl3pPr marL="1143000" indent="-228600">
              <a:defRPr sz="2400">
                <a:solidFill>
                  <a:schemeClr val="tx1"/>
                </a:solidFill>
                <a:latin typeface="Comic Sans MS" panose="030F0702030302020204" pitchFamily="66" charset="0"/>
              </a:defRPr>
            </a:lvl3pPr>
            <a:lvl4pPr marL="1600200" indent="-228600">
              <a:defRPr sz="2400">
                <a:solidFill>
                  <a:schemeClr val="tx1"/>
                </a:solidFill>
                <a:latin typeface="Comic Sans MS" panose="030F0702030302020204" pitchFamily="66" charset="0"/>
              </a:defRPr>
            </a:lvl4pPr>
            <a:lvl5pPr marL="2057400" indent="-228600">
              <a:defRPr sz="2400">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sz="2400">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sz="2400">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sz="2400">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sz="2400">
                <a:solidFill>
                  <a:schemeClr val="tx1"/>
                </a:solidFill>
                <a:latin typeface="Comic Sans MS" panose="030F0702030302020204" pitchFamily="66" charset="0"/>
              </a:defRPr>
            </a:lvl9pPr>
          </a:lstStyle>
          <a:p>
            <a:pPr algn="l">
              <a:buSzPct val="80000"/>
            </a:pPr>
            <a:r>
              <a:rPr lang="en-US" altLang="en-US" sz="3000" b="1" dirty="0">
                <a:solidFill>
                  <a:srgbClr val="800000"/>
                </a:solidFill>
                <a:latin typeface="Liberation Sans" panose="020B0604020202020204" pitchFamily="34" charset="0"/>
              </a:rPr>
              <a:t>Question</a:t>
            </a:r>
          </a:p>
        </p:txBody>
      </p:sp>
      <p:sp>
        <p:nvSpPr>
          <p:cNvPr id="9" name="Rectangle 7"/>
          <p:cNvSpPr>
            <a:spLocks noChangeArrowheads="1"/>
          </p:cNvSpPr>
          <p:nvPr/>
        </p:nvSpPr>
        <p:spPr bwMode="auto">
          <a:xfrm>
            <a:off x="2133600" y="304800"/>
            <a:ext cx="7620000" cy="560388"/>
          </a:xfrm>
          <a:prstGeom prst="rect">
            <a:avLst/>
          </a:prstGeom>
          <a:noFill/>
          <a:ln w="63500">
            <a:noFill/>
            <a:miter lim="800000"/>
          </a:ln>
          <a:effectLst/>
        </p:spPr>
        <p:txBody>
          <a:bodyPr vert="horz" wrap="square" lIns="90488" tIns="44450" rIns="90488" bIns="44450" numCol="1" anchor="ctr" anchorCtr="0" compatLnSpc="1"/>
          <a:lstStyle/>
          <a:p>
            <a:pPr algn="l"/>
            <a:r>
              <a:rPr lang="en-US" altLang="en-US" sz="3200" b="1" dirty="0">
                <a:solidFill>
                  <a:schemeClr val="tx2">
                    <a:lumMod val="75000"/>
                  </a:schemeClr>
                </a:solidFill>
                <a:latin typeface="Liberation Sans" panose="020B0604020202020204" pitchFamily="34" charset="0"/>
              </a:rPr>
              <a:t>Fiscal and Calendar Years</a:t>
            </a:r>
          </a:p>
        </p:txBody>
      </p:sp>
      <p:sp>
        <p:nvSpPr>
          <p:cNvPr id="7"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
        <p:nvSpPr>
          <p:cNvPr id="11" name="Notched Right Arrow 10"/>
          <p:cNvSpPr/>
          <p:nvPr/>
        </p:nvSpPr>
        <p:spPr bwMode="auto">
          <a:xfrm>
            <a:off x="1981200" y="4114800"/>
            <a:ext cx="609600" cy="457200"/>
          </a:xfrm>
          <a:prstGeom prst="notchedRightArrow">
            <a:avLst/>
          </a:prstGeom>
          <a:solidFill>
            <a:srgbClr val="A50021"/>
          </a:solidFill>
          <a:ln w="12700" cap="sq" cmpd="sng" algn="ctr">
            <a:solidFill>
              <a:schemeClr val="tx1"/>
            </a:solidFill>
            <a:prstDash val="solid"/>
            <a:round/>
            <a:headEnd type="none" w="sm" len="sm"/>
            <a:tailEnd type="none" w="sm" len="sm"/>
          </a:ln>
          <a:effec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5pPr>
            <a:lvl6pPr marL="2286000" algn="l" defTabSz="914400" rtl="0" eaLnBrk="1" latinLnBrk="0" hangingPunct="1">
              <a:defRPr sz="2400" kern="1200">
                <a:solidFill>
                  <a:schemeClr val="tx1"/>
                </a:solidFill>
                <a:latin typeface="Comic Sans MS" panose="030F0702030302020204" pitchFamily="66" charset="0"/>
                <a:ea typeface="+mn-ea"/>
                <a:cs typeface="+mn-cs"/>
              </a:defRPr>
            </a:lvl6pPr>
            <a:lvl7pPr marL="2743200" algn="l" defTabSz="914400" rtl="0" eaLnBrk="1" latinLnBrk="0" hangingPunct="1">
              <a:defRPr sz="2400" kern="1200">
                <a:solidFill>
                  <a:schemeClr val="tx1"/>
                </a:solidFill>
                <a:latin typeface="Comic Sans MS" panose="030F0702030302020204" pitchFamily="66" charset="0"/>
                <a:ea typeface="+mn-ea"/>
                <a:cs typeface="+mn-cs"/>
              </a:defRPr>
            </a:lvl7pPr>
            <a:lvl8pPr marL="3200400" algn="l" defTabSz="914400" rtl="0" eaLnBrk="1" latinLnBrk="0" hangingPunct="1">
              <a:defRPr sz="2400" kern="1200">
                <a:solidFill>
                  <a:schemeClr val="tx1"/>
                </a:solidFill>
                <a:latin typeface="Comic Sans MS" panose="030F0702030302020204" pitchFamily="66" charset="0"/>
                <a:ea typeface="+mn-ea"/>
                <a:cs typeface="+mn-cs"/>
              </a:defRPr>
            </a:lvl8pPr>
            <a:lvl9pPr marL="3657600" algn="l" defTabSz="914400" rtl="0" eaLnBrk="1" latinLnBrk="0" hangingPunct="1">
              <a:defRPr sz="2400" kern="1200">
                <a:solidFill>
                  <a:schemeClr val="tx1"/>
                </a:solidFill>
                <a:latin typeface="Comic Sans MS" panose="030F0702030302020204" pitchFamily="66" charset="0"/>
                <a:ea typeface="+mn-ea"/>
                <a:cs typeface="+mn-cs"/>
              </a:defRPr>
            </a:lvl9pPr>
          </a:lstStyle>
          <a:p>
            <a:endParaRPr lang="en-US" altLang="en-US">
              <a:solidFill>
                <a:schemeClr val="accent6">
                  <a:lumMod val="50000"/>
                </a:schemeClr>
              </a:solidFill>
            </a:endParaRPr>
          </a:p>
        </p:txBody>
      </p:sp>
    </p:spTree>
    <p:extLst>
      <p:ext uri="{BB962C8B-B14F-4D97-AF65-F5344CB8AC3E}">
        <p14:creationId xmlns:p14="http://schemas.microsoft.com/office/powerpoint/2010/main" val="374482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339634" y="990600"/>
            <a:ext cx="11512732" cy="5824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square">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5000"/>
              </a:lnSpc>
              <a:spcBef>
                <a:spcPts val="1200"/>
              </a:spcBef>
              <a:buClr>
                <a:srgbClr val="800000"/>
              </a:buClr>
              <a:buSzPct val="80000"/>
            </a:pPr>
            <a:r>
              <a:rPr lang="en-US" altLang="en-US" sz="2600" dirty="0">
                <a:solidFill>
                  <a:schemeClr val="tx2">
                    <a:lumMod val="75000"/>
                  </a:schemeClr>
                </a:solidFill>
                <a:latin typeface="Liberation Sans" panose="020B0604020202020204" pitchFamily="34" charset="0"/>
              </a:rPr>
              <a:t>Accrual-Basis Accounting</a:t>
            </a:r>
          </a:p>
          <a:p>
            <a:pPr lvl="1">
              <a:lnSpc>
                <a:spcPct val="125000"/>
              </a:lnSpc>
              <a:spcBef>
                <a:spcPts val="1200"/>
              </a:spcBef>
              <a:buClr>
                <a:srgbClr val="800000"/>
              </a:buClr>
              <a:buSzPct val="80000"/>
              <a:buFont typeface="Wingdings" panose="05000000000000000000" pitchFamily="2" charset="2"/>
              <a:buChar char="u"/>
            </a:pPr>
            <a:r>
              <a:rPr lang="en-US" altLang="en-US" sz="3000" b="0" dirty="0">
                <a:solidFill>
                  <a:schemeClr val="tx1"/>
                </a:solidFill>
                <a:latin typeface="Liberation Sans" panose="020B0604020202020204" pitchFamily="34" charset="0"/>
              </a:rPr>
              <a:t>Transactions recorded in the </a:t>
            </a:r>
            <a:r>
              <a:rPr lang="en-US" altLang="en-US" sz="3000" dirty="0">
                <a:solidFill>
                  <a:schemeClr val="tx1"/>
                </a:solidFill>
                <a:latin typeface="Liberation Sans" panose="020B0604020202020204" pitchFamily="34" charset="0"/>
              </a:rPr>
              <a:t>periods in which the events occur</a:t>
            </a:r>
            <a:r>
              <a:rPr lang="en-US" altLang="en-US" sz="3000" b="0" dirty="0">
                <a:solidFill>
                  <a:schemeClr val="tx1"/>
                </a:solidFill>
                <a:latin typeface="Liberation Sans" panose="020B0604020202020204" pitchFamily="34" charset="0"/>
              </a:rPr>
              <a:t>.</a:t>
            </a:r>
          </a:p>
          <a:p>
            <a:pPr lvl="1">
              <a:lnSpc>
                <a:spcPct val="125000"/>
              </a:lnSpc>
              <a:spcBef>
                <a:spcPts val="1200"/>
              </a:spcBef>
              <a:buClr>
                <a:srgbClr val="800000"/>
              </a:buClr>
              <a:buSzPct val="80000"/>
              <a:buFont typeface="Wingdings" panose="05000000000000000000" pitchFamily="2" charset="2"/>
              <a:buChar char="u"/>
            </a:pPr>
            <a:r>
              <a:rPr lang="en-US" altLang="en-US" sz="3000" b="0" dirty="0">
                <a:solidFill>
                  <a:schemeClr val="tx1"/>
                </a:solidFill>
                <a:latin typeface="Liberation Sans" panose="020B0604020202020204" pitchFamily="34" charset="0"/>
              </a:rPr>
              <a:t>Companies </a:t>
            </a:r>
            <a:r>
              <a:rPr lang="en-US" altLang="en-US" sz="3000" dirty="0">
                <a:solidFill>
                  <a:schemeClr val="tx1"/>
                </a:solidFill>
                <a:latin typeface="Liberation Sans" panose="020B0604020202020204" pitchFamily="34" charset="0"/>
              </a:rPr>
              <a:t>recognize</a:t>
            </a:r>
            <a:r>
              <a:rPr lang="en-US" altLang="en-US" sz="3000" b="0" dirty="0">
                <a:solidFill>
                  <a:schemeClr val="tx1"/>
                </a:solidFill>
                <a:latin typeface="Liberation Sans" panose="020B0604020202020204" pitchFamily="34" charset="0"/>
              </a:rPr>
              <a:t> </a:t>
            </a:r>
            <a:r>
              <a:rPr lang="en-US" altLang="en-US" sz="3000" dirty="0">
                <a:solidFill>
                  <a:schemeClr val="tx1"/>
                </a:solidFill>
                <a:latin typeface="Liberation Sans" panose="020B0604020202020204" pitchFamily="34" charset="0"/>
              </a:rPr>
              <a:t>revenues when they</a:t>
            </a:r>
            <a:r>
              <a:rPr lang="en-US" altLang="en-US" sz="3000" b="0" dirty="0">
                <a:solidFill>
                  <a:schemeClr val="tx1"/>
                </a:solidFill>
                <a:latin typeface="Liberation Sans" panose="020B0604020202020204" pitchFamily="34" charset="0"/>
              </a:rPr>
              <a:t> </a:t>
            </a:r>
            <a:r>
              <a:rPr lang="en-US" altLang="en-US" sz="3000" dirty="0">
                <a:solidFill>
                  <a:schemeClr val="tx1"/>
                </a:solidFill>
                <a:latin typeface="Liberation Sans" panose="020B0604020202020204" pitchFamily="34" charset="0"/>
              </a:rPr>
              <a:t>perform services</a:t>
            </a:r>
            <a:r>
              <a:rPr lang="en-US" altLang="en-US" sz="3000" b="0" dirty="0">
                <a:solidFill>
                  <a:schemeClr val="tx1"/>
                </a:solidFill>
                <a:latin typeface="Liberation Sans" panose="020B0604020202020204" pitchFamily="34" charset="0"/>
              </a:rPr>
              <a:t> (rather than when they receive cash). </a:t>
            </a:r>
          </a:p>
          <a:p>
            <a:pPr lvl="1">
              <a:lnSpc>
                <a:spcPct val="125000"/>
              </a:lnSpc>
              <a:spcBef>
                <a:spcPts val="1200"/>
              </a:spcBef>
              <a:buClr>
                <a:srgbClr val="800000"/>
              </a:buClr>
              <a:buSzPct val="80000"/>
              <a:buFont typeface="Wingdings" panose="05000000000000000000" pitchFamily="2" charset="2"/>
              <a:buChar char="u"/>
            </a:pPr>
            <a:r>
              <a:rPr lang="en-US" altLang="en-US" sz="3000" dirty="0">
                <a:solidFill>
                  <a:schemeClr val="tx1"/>
                </a:solidFill>
                <a:latin typeface="Liberation Sans" panose="020B0604020202020204" pitchFamily="34" charset="0"/>
              </a:rPr>
              <a:t>Expenses</a:t>
            </a:r>
            <a:r>
              <a:rPr lang="en-US" altLang="en-US" sz="3000" b="0" dirty="0">
                <a:solidFill>
                  <a:schemeClr val="tx1"/>
                </a:solidFill>
                <a:latin typeface="Liberation Sans" panose="020B0604020202020204" pitchFamily="34" charset="0"/>
              </a:rPr>
              <a:t> are recognized when </a:t>
            </a:r>
            <a:r>
              <a:rPr lang="en-US" altLang="en-US" sz="3000" dirty="0">
                <a:solidFill>
                  <a:schemeClr val="tx1"/>
                </a:solidFill>
                <a:latin typeface="Liberation Sans" panose="020B0604020202020204" pitchFamily="34" charset="0"/>
              </a:rPr>
              <a:t>incurred </a:t>
            </a:r>
            <a:r>
              <a:rPr lang="en-US" altLang="en-US" sz="3000" b="0" dirty="0">
                <a:solidFill>
                  <a:schemeClr val="tx1"/>
                </a:solidFill>
                <a:latin typeface="Liberation Sans" panose="020B0604020202020204" pitchFamily="34" charset="0"/>
              </a:rPr>
              <a:t>(rather than when paid).</a:t>
            </a:r>
          </a:p>
          <a:p>
            <a:pPr lvl="1">
              <a:lnSpc>
                <a:spcPct val="125000"/>
              </a:lnSpc>
              <a:spcBef>
                <a:spcPts val="1200"/>
              </a:spcBef>
              <a:buClr>
                <a:srgbClr val="800000"/>
              </a:buClr>
              <a:buSzPct val="80000"/>
              <a:buFont typeface="Wingdings" panose="05000000000000000000" pitchFamily="2" charset="2"/>
              <a:buChar char="u"/>
            </a:pPr>
            <a:r>
              <a:rPr lang="en-US" sz="3000" b="0" dirty="0">
                <a:solidFill>
                  <a:schemeClr val="tx1"/>
                </a:solidFill>
                <a:latin typeface="Liberation Sans" panose="020B0604020202020204" pitchFamily="34" charset="0"/>
              </a:rPr>
              <a:t>In accordance with </a:t>
            </a:r>
            <a:r>
              <a:rPr lang="en-US" sz="3000" dirty="0">
                <a:solidFill>
                  <a:schemeClr val="tx1"/>
                </a:solidFill>
                <a:latin typeface="Liberation Sans" panose="020B0604020202020204" pitchFamily="34" charset="0"/>
              </a:rPr>
              <a:t>generally accepted accounting principles (GAAP)</a:t>
            </a:r>
            <a:r>
              <a:rPr lang="en-US" sz="3000" b="0" dirty="0">
                <a:solidFill>
                  <a:schemeClr val="tx1"/>
                </a:solidFill>
                <a:latin typeface="Liberation Sans" panose="020B0604020202020204" pitchFamily="34" charset="0"/>
              </a:rPr>
              <a:t>.</a:t>
            </a:r>
            <a:endParaRPr lang="en-US" altLang="en-US" sz="3000" b="0" dirty="0">
              <a:solidFill>
                <a:schemeClr val="tx1"/>
              </a:solidFill>
              <a:latin typeface="Liberation Sans" panose="020B0604020202020204" pitchFamily="34" charset="0"/>
            </a:endParaRPr>
          </a:p>
        </p:txBody>
      </p:sp>
      <p:sp>
        <p:nvSpPr>
          <p:cNvPr id="8197"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Accrual- versus Cash-Basis Accounting</a:t>
            </a:r>
          </a:p>
        </p:txBody>
      </p:sp>
      <p:sp>
        <p:nvSpPr>
          <p:cNvPr id="8203" name="Line 1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5"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Tree>
    <p:extLst>
      <p:ext uri="{BB962C8B-B14F-4D97-AF65-F5344CB8AC3E}">
        <p14:creationId xmlns:p14="http://schemas.microsoft.com/office/powerpoint/2010/main" val="1547110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2133600" y="1295400"/>
            <a:ext cx="7620000" cy="274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defPPr>
              <a:defRPr lang="en-US"/>
            </a:defPPr>
            <a:lvl1pPr>
              <a:lnSpc>
                <a:spcPct val="125000"/>
              </a:lnSpc>
              <a:spcBef>
                <a:spcPts val="1200"/>
              </a:spcBef>
              <a:buClr>
                <a:srgbClr val="800000"/>
              </a:buClr>
              <a:buSzPct val="80000"/>
              <a:buFont typeface="Wingdings" panose="05000000000000000000" pitchFamily="2" charset="2"/>
              <a:buNone/>
              <a:defRPr sz="2600">
                <a:solidFill>
                  <a:schemeClr val="tx2">
                    <a:lumMod val="75000"/>
                  </a:schemeClr>
                </a:solidFill>
                <a:latin typeface="Liberation Sans" panose="020B0604020202020204" pitchFamily="34" charset="0"/>
              </a:defRPr>
            </a:lvl1pPr>
            <a:lvl2pPr marL="685800" lvl="1" indent="-457200">
              <a:lnSpc>
                <a:spcPct val="125000"/>
              </a:lnSpc>
              <a:spcBef>
                <a:spcPts val="1200"/>
              </a:spcBef>
              <a:buClr>
                <a:srgbClr val="800000"/>
              </a:buClr>
              <a:buSzPct val="80000"/>
              <a:buFont typeface="Wingdings" panose="05000000000000000000" pitchFamily="2" charset="2"/>
              <a:buChar char="u"/>
              <a:defRPr sz="2200" b="0">
                <a:solidFill>
                  <a:schemeClr val="tx1"/>
                </a:solidFill>
                <a:latin typeface="Liberation Sans" panose="020B0604020202020204" pitchFamily="34" charset="0"/>
              </a:defRPr>
            </a:lvl2pPr>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en-US" dirty="0"/>
              <a:t>Cash-Basis Accounting</a:t>
            </a:r>
          </a:p>
          <a:p>
            <a:pPr lvl="1"/>
            <a:r>
              <a:rPr lang="en-US" altLang="en-US" b="1" dirty="0"/>
              <a:t>Revenues</a:t>
            </a:r>
            <a:r>
              <a:rPr lang="en-US" altLang="en-US" dirty="0"/>
              <a:t> recognized when </a:t>
            </a:r>
            <a:r>
              <a:rPr lang="en-US" altLang="en-US" b="1" dirty="0"/>
              <a:t>cash is received</a:t>
            </a:r>
            <a:r>
              <a:rPr lang="en-US" altLang="en-US" dirty="0"/>
              <a:t>.</a:t>
            </a:r>
          </a:p>
          <a:p>
            <a:pPr lvl="1"/>
            <a:r>
              <a:rPr lang="en-US" altLang="en-US" b="1" dirty="0"/>
              <a:t>Expenses</a:t>
            </a:r>
            <a:r>
              <a:rPr lang="en-US" altLang="en-US" dirty="0"/>
              <a:t> recognized when </a:t>
            </a:r>
            <a:r>
              <a:rPr lang="en-US" altLang="en-US" b="1" dirty="0"/>
              <a:t>cash is paid</a:t>
            </a:r>
            <a:r>
              <a:rPr lang="en-US" altLang="en-US" dirty="0"/>
              <a:t>.  </a:t>
            </a:r>
          </a:p>
          <a:p>
            <a:pPr lvl="1"/>
            <a:r>
              <a:rPr lang="en-US" altLang="en-US" dirty="0"/>
              <a:t>Cash-basis accounting is </a:t>
            </a:r>
            <a:r>
              <a:rPr lang="en-US" altLang="en-US" b="1" dirty="0"/>
              <a:t>not in accordance with generally accepted accounting principles (GAAP)</a:t>
            </a:r>
            <a:r>
              <a:rPr lang="en-US" altLang="en-US" dirty="0"/>
              <a:t>.</a:t>
            </a:r>
          </a:p>
        </p:txBody>
      </p:sp>
      <p:sp>
        <p:nvSpPr>
          <p:cNvPr id="9228" name="Line 1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7"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Accrual- versus Cash-Basis Accounting</a:t>
            </a:r>
          </a:p>
        </p:txBody>
      </p:sp>
      <p:sp>
        <p:nvSpPr>
          <p:cNvPr id="5"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Tree>
    <p:extLst>
      <p:ext uri="{BB962C8B-B14F-4D97-AF65-F5344CB8AC3E}">
        <p14:creationId xmlns:p14="http://schemas.microsoft.com/office/powerpoint/2010/main" val="389638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2029956"/>
            <a:ext cx="3114618" cy="4218445"/>
          </a:xfrm>
          <a:prstGeom prst="rect">
            <a:avLst/>
          </a:prstGeom>
          <a:noFill/>
          <a:ln w="19050" algn="ctr">
            <a:solidFill>
              <a:schemeClr val="tx1"/>
            </a:solidFill>
            <a:miter lim="800000"/>
            <a:headEnd/>
            <a:tailEnd/>
          </a:ln>
          <a:effectLst/>
          <a:extLst>
            <a:ext uri="{909E8E84-426E-40DD-AFC4-6F175D3DCCD1}">
              <a14:hiddenFill xmlns:a14="http://schemas.microsoft.com/office/drawing/2010/main">
                <a:solidFill>
                  <a:srgbClr val="CC000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10243" name="Text Box 1026"/>
          <p:cNvSpPr txBox="1">
            <a:spLocks noChangeArrowheads="1"/>
          </p:cNvSpPr>
          <p:nvPr/>
        </p:nvSpPr>
        <p:spPr bwMode="auto">
          <a:xfrm>
            <a:off x="2133600" y="1295401"/>
            <a:ext cx="7086600" cy="4924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buClr>
                <a:srgbClr val="800000"/>
              </a:buClr>
              <a:buSzPct val="80000"/>
              <a:buFont typeface="Wingdings" panose="05000000000000000000" pitchFamily="2" charset="2"/>
              <a:buNone/>
            </a:pPr>
            <a:r>
              <a:rPr lang="en-US" altLang="en-US" sz="2600" dirty="0">
                <a:solidFill>
                  <a:schemeClr val="tx1"/>
                </a:solidFill>
                <a:latin typeface="Liberation Sans" panose="020B0604020202020204" pitchFamily="34" charset="0"/>
              </a:rPr>
              <a:t>REVENUE RECOGNITION PRINCIPLE</a:t>
            </a:r>
          </a:p>
        </p:txBody>
      </p:sp>
      <p:sp>
        <p:nvSpPr>
          <p:cNvPr id="10246" name="Text Box 1031"/>
          <p:cNvSpPr txBox="1">
            <a:spLocks noChangeArrowheads="1"/>
          </p:cNvSpPr>
          <p:nvPr/>
        </p:nvSpPr>
        <p:spPr bwMode="auto">
          <a:xfrm>
            <a:off x="2133600" y="1882776"/>
            <a:ext cx="4724400" cy="136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squar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5000"/>
              </a:lnSpc>
              <a:spcBef>
                <a:spcPts val="1200"/>
              </a:spcBef>
              <a:buSzPct val="80000"/>
            </a:pPr>
            <a:r>
              <a:rPr lang="en-US" altLang="en-US" sz="2200" dirty="0">
                <a:solidFill>
                  <a:schemeClr val="tx1"/>
                </a:solidFill>
                <a:latin typeface="Liberation Sans" panose="020B0604020202020204" pitchFamily="34" charset="0"/>
              </a:rPr>
              <a:t>Recognize</a:t>
            </a:r>
            <a:r>
              <a:rPr lang="en-US" altLang="en-US" sz="2200" b="0" dirty="0">
                <a:solidFill>
                  <a:schemeClr val="tx1"/>
                </a:solidFill>
                <a:latin typeface="Liberation Sans" panose="020B0604020202020204" pitchFamily="34" charset="0"/>
              </a:rPr>
              <a:t> revenue in the accounting period in which the </a:t>
            </a:r>
            <a:r>
              <a:rPr lang="en-US" altLang="en-US" sz="2200" dirty="0">
                <a:solidFill>
                  <a:schemeClr val="tx1"/>
                </a:solidFill>
                <a:latin typeface="Liberation Sans" panose="020B0604020202020204" pitchFamily="34" charset="0"/>
              </a:rPr>
              <a:t>performance obligation</a:t>
            </a:r>
            <a:r>
              <a:rPr lang="en-US" altLang="en-US" sz="2200" b="0" dirty="0">
                <a:solidFill>
                  <a:schemeClr val="tx1"/>
                </a:solidFill>
                <a:latin typeface="Liberation Sans" panose="020B0604020202020204" pitchFamily="34" charset="0"/>
              </a:rPr>
              <a:t> is satisfied.</a:t>
            </a:r>
          </a:p>
        </p:txBody>
      </p:sp>
      <p:sp>
        <p:nvSpPr>
          <p:cNvPr id="10247"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Recognizing Revenues and Expenses</a:t>
            </a:r>
          </a:p>
        </p:txBody>
      </p:sp>
      <p:sp>
        <p:nvSpPr>
          <p:cNvPr id="211976" name="Line 1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7"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Tree>
    <p:extLst>
      <p:ext uri="{BB962C8B-B14F-4D97-AF65-F5344CB8AC3E}">
        <p14:creationId xmlns:p14="http://schemas.microsoft.com/office/powerpoint/2010/main" val="463868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1026"/>
          <p:cNvSpPr txBox="1">
            <a:spLocks noChangeArrowheads="1"/>
          </p:cNvSpPr>
          <p:nvPr/>
        </p:nvSpPr>
        <p:spPr bwMode="auto">
          <a:xfrm>
            <a:off x="2133600" y="1295401"/>
            <a:ext cx="7086600" cy="4924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buClr>
                <a:srgbClr val="800000"/>
              </a:buClr>
              <a:buSzPct val="80000"/>
              <a:buFont typeface="Wingdings" panose="05000000000000000000" pitchFamily="2" charset="2"/>
              <a:buNone/>
            </a:pPr>
            <a:r>
              <a:rPr lang="en-US" altLang="en-US" sz="2600" dirty="0">
                <a:solidFill>
                  <a:schemeClr val="tx1"/>
                </a:solidFill>
                <a:latin typeface="Liberation Sans" panose="020B0604020202020204" pitchFamily="34" charset="0"/>
              </a:rPr>
              <a:t>EXPENSE RECOGNITION PRINCIPLE</a:t>
            </a:r>
          </a:p>
        </p:txBody>
      </p:sp>
      <p:sp>
        <p:nvSpPr>
          <p:cNvPr id="10246" name="Text Box 1031"/>
          <p:cNvSpPr txBox="1">
            <a:spLocks noChangeArrowheads="1"/>
          </p:cNvSpPr>
          <p:nvPr/>
        </p:nvSpPr>
        <p:spPr bwMode="auto">
          <a:xfrm>
            <a:off x="2133600" y="1882775"/>
            <a:ext cx="43434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squar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5000"/>
              </a:lnSpc>
            </a:pPr>
            <a:r>
              <a:rPr lang="en-US" altLang="en-US" sz="2200" dirty="0">
                <a:solidFill>
                  <a:schemeClr val="tx1"/>
                </a:solidFill>
                <a:latin typeface="Liberation Sans" panose="020B0604020202020204" pitchFamily="34" charset="0"/>
              </a:rPr>
              <a:t>Match expenses with revenues</a:t>
            </a:r>
            <a:r>
              <a:rPr lang="en-US" altLang="en-US" sz="2200" b="0" dirty="0">
                <a:solidFill>
                  <a:schemeClr val="tx1"/>
                </a:solidFill>
                <a:latin typeface="Liberation Sans" panose="020B0604020202020204" pitchFamily="34" charset="0"/>
              </a:rPr>
              <a:t> in the period </a:t>
            </a:r>
            <a:r>
              <a:rPr lang="en-US" sz="2200" b="0" dirty="0">
                <a:solidFill>
                  <a:schemeClr val="tx1"/>
                </a:solidFill>
                <a:latin typeface="Liberation Sans" panose="020B0604020202020204" pitchFamily="34" charset="0"/>
              </a:rPr>
              <a:t>when the company makes efforts that generate those revenues</a:t>
            </a:r>
            <a:r>
              <a:rPr lang="en-US" altLang="en-US" sz="2200" b="0" dirty="0">
                <a:solidFill>
                  <a:schemeClr val="tx1"/>
                </a:solidFill>
                <a:latin typeface="Liberation Sans" panose="020B0604020202020204" pitchFamily="34" charset="0"/>
              </a:rPr>
              <a:t>.</a:t>
            </a:r>
            <a:endParaRPr lang="en-US" altLang="en-US" sz="2200" dirty="0">
              <a:solidFill>
                <a:schemeClr val="tx1"/>
              </a:solidFill>
              <a:latin typeface="Liberation Sans" panose="020B0604020202020204" pitchFamily="34" charset="0"/>
            </a:endParaRPr>
          </a:p>
        </p:txBody>
      </p:sp>
      <p:sp>
        <p:nvSpPr>
          <p:cNvPr id="10247"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Recognizing Revenues and Expenses</a:t>
            </a:r>
          </a:p>
        </p:txBody>
      </p:sp>
      <p:sp>
        <p:nvSpPr>
          <p:cNvPr id="211976" name="Line 1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pic>
        <p:nvPicPr>
          <p:cNvPr id="7"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2029956"/>
            <a:ext cx="3124200" cy="4218445"/>
          </a:xfrm>
          <a:prstGeom prst="rect">
            <a:avLst/>
          </a:prstGeom>
          <a:noFill/>
          <a:ln w="19050" algn="ctr">
            <a:solidFill>
              <a:schemeClr val="tx1"/>
            </a:solidFill>
            <a:miter lim="800000"/>
            <a:headEnd/>
            <a:tailEnd/>
          </a:ln>
          <a:effectLst/>
          <a:extLst>
            <a:ext uri="{909E8E84-426E-40DD-AFC4-6F175D3DCCD1}">
              <a14:hiddenFill xmlns:a14="http://schemas.microsoft.com/office/drawing/2010/main">
                <a:solidFill>
                  <a:srgbClr val="CC000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8"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
        <p:nvSpPr>
          <p:cNvPr id="9" name="Text Box 1031"/>
          <p:cNvSpPr txBox="1">
            <a:spLocks noChangeArrowheads="1"/>
          </p:cNvSpPr>
          <p:nvPr/>
        </p:nvSpPr>
        <p:spPr bwMode="auto">
          <a:xfrm>
            <a:off x="2590800" y="4090482"/>
            <a:ext cx="3429000" cy="938719"/>
          </a:xfrm>
          <a:prstGeom prst="rect">
            <a:avLst/>
          </a:prstGeom>
          <a:solidFill>
            <a:schemeClr val="bg1"/>
          </a:solidFill>
          <a:ln w="28575" cap="sq">
            <a:solidFill>
              <a:srgbClr val="000000"/>
            </a:solidFill>
            <a:miter lim="800000"/>
            <a:headEnd type="none" w="sm" len="sm"/>
            <a:tailEnd type="none" w="sm" len="sm"/>
          </a:ln>
          <a:effectLst>
            <a:innerShdw blurRad="114300">
              <a:prstClr val="black"/>
            </a:innerShdw>
          </a:effectLst>
        </p:spPr>
        <p:txBody>
          <a:bodyPr wrap="squar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lnSpc>
                <a:spcPct val="125000"/>
              </a:lnSpc>
              <a:spcBef>
                <a:spcPct val="50000"/>
              </a:spcBef>
              <a:buSzPct val="80000"/>
            </a:pPr>
            <a:r>
              <a:rPr lang="en-US" altLang="en-US" sz="2200" dirty="0">
                <a:solidFill>
                  <a:schemeClr val="tx1"/>
                </a:solidFill>
                <a:latin typeface="Liberation Sans" panose="020B0604020202020204" pitchFamily="34" charset="0"/>
              </a:rPr>
              <a:t>“Let the expenses follow the revenues.”</a:t>
            </a:r>
          </a:p>
        </p:txBody>
      </p:sp>
    </p:spTree>
    <p:extLst>
      <p:ext uri="{BB962C8B-B14F-4D97-AF65-F5344CB8AC3E}">
        <p14:creationId xmlns:p14="http://schemas.microsoft.com/office/powerpoint/2010/main" val="2954275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1" y="635000"/>
            <a:ext cx="7734107" cy="546100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12292" name="Rectangle 9"/>
          <p:cNvSpPr>
            <a:spLocks noChangeArrowheads="1"/>
          </p:cNvSpPr>
          <p:nvPr/>
        </p:nvSpPr>
        <p:spPr bwMode="auto">
          <a:xfrm>
            <a:off x="8382000" y="381000"/>
            <a:ext cx="1981200"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r>
              <a:rPr lang="en-US" altLang="en-US" sz="1200" dirty="0">
                <a:solidFill>
                  <a:schemeClr val="tx1"/>
                </a:solidFill>
                <a:latin typeface="Liberation Sans" panose="020B0604020202020204" pitchFamily="34" charset="0"/>
              </a:rPr>
              <a:t>Illustration 3-1 </a:t>
            </a:r>
          </a:p>
          <a:p>
            <a:r>
              <a:rPr lang="en-US" altLang="en-US" sz="1200" b="0" dirty="0">
                <a:solidFill>
                  <a:schemeClr val="tx1"/>
                </a:solidFill>
                <a:latin typeface="Liberation Sans" panose="020B0604020202020204" pitchFamily="34" charset="0"/>
              </a:rPr>
              <a:t>GAAP relationships in revenue and expense recognition</a:t>
            </a:r>
          </a:p>
        </p:txBody>
      </p:sp>
      <p:sp>
        <p:nvSpPr>
          <p:cNvPr id="4"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Tree>
    <p:extLst>
      <p:ext uri="{BB962C8B-B14F-4D97-AF65-F5344CB8AC3E}">
        <p14:creationId xmlns:p14="http://schemas.microsoft.com/office/powerpoint/2010/main" val="3319123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ChangeArrowheads="1"/>
          </p:cNvSpPr>
          <p:nvPr/>
        </p:nvSpPr>
        <p:spPr bwMode="auto">
          <a:xfrm>
            <a:off x="2057400" y="1860550"/>
            <a:ext cx="8382000" cy="44196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82562" tIns="46038" rIns="182562" bIns="46038"/>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spcBef>
                <a:spcPct val="40000"/>
              </a:spcBef>
              <a:buClr>
                <a:schemeClr val="tx1"/>
              </a:buClr>
              <a:buFont typeface="Wingdings" panose="05000000000000000000" pitchFamily="2" charset="2"/>
              <a:buNone/>
            </a:pPr>
            <a:r>
              <a:rPr lang="en-US" altLang="en-US" sz="2100" b="0" dirty="0">
                <a:solidFill>
                  <a:schemeClr val="tx1"/>
                </a:solidFill>
                <a:latin typeface="Liberation Sans" panose="020B0604020202020204" pitchFamily="34" charset="0"/>
              </a:rPr>
              <a:t>One of the following statements about the accrual basis of accounting is </a:t>
            </a:r>
            <a:r>
              <a:rPr lang="en-US" altLang="en-US" sz="2100" b="0" i="1" dirty="0">
                <a:solidFill>
                  <a:schemeClr val="tx1"/>
                </a:solidFill>
                <a:latin typeface="Liberation Sans" panose="020B0604020202020204" pitchFamily="34" charset="0"/>
              </a:rPr>
              <a:t>false?</a:t>
            </a:r>
            <a:r>
              <a:rPr lang="en-US" altLang="en-US" sz="2100" b="0" dirty="0">
                <a:solidFill>
                  <a:schemeClr val="tx1"/>
                </a:solidFill>
                <a:latin typeface="Liberation Sans" panose="020B0604020202020204" pitchFamily="34" charset="0"/>
              </a:rPr>
              <a:t>  That statement is:	</a:t>
            </a:r>
          </a:p>
          <a:p>
            <a:pPr lvl="1">
              <a:lnSpc>
                <a:spcPct val="120000"/>
              </a:lnSpc>
              <a:spcBef>
                <a:spcPct val="40000"/>
              </a:spcBef>
              <a:buClr>
                <a:schemeClr val="tx1"/>
              </a:buClr>
              <a:buFont typeface="Wingdings" panose="05000000000000000000" pitchFamily="2" charset="2"/>
              <a:buAutoNum type="alphaLcPeriod"/>
            </a:pPr>
            <a:r>
              <a:rPr lang="en-US" altLang="en-US" sz="2100" b="0" dirty="0">
                <a:solidFill>
                  <a:schemeClr val="tx1"/>
                </a:solidFill>
                <a:latin typeface="Liberation Sans" panose="020B0604020202020204" pitchFamily="34" charset="0"/>
              </a:rPr>
              <a:t>Events that change a company’s financial statements are recorded in the periods in which the events occur.</a:t>
            </a:r>
          </a:p>
          <a:p>
            <a:pPr lvl="1">
              <a:lnSpc>
                <a:spcPct val="120000"/>
              </a:lnSpc>
              <a:spcBef>
                <a:spcPct val="40000"/>
              </a:spcBef>
              <a:buClr>
                <a:schemeClr val="tx1"/>
              </a:buClr>
              <a:buFont typeface="Wingdings" panose="05000000000000000000" pitchFamily="2" charset="2"/>
              <a:buAutoNum type="alphaLcPeriod"/>
            </a:pPr>
            <a:r>
              <a:rPr lang="en-US" altLang="en-US" sz="2100" b="0" dirty="0">
                <a:solidFill>
                  <a:schemeClr val="tx1"/>
                </a:solidFill>
                <a:latin typeface="Liberation Sans" panose="020B0604020202020204" pitchFamily="34" charset="0"/>
              </a:rPr>
              <a:t>Revenue is recognized in the period in which the performance obligation is satisfied.</a:t>
            </a:r>
          </a:p>
          <a:p>
            <a:pPr lvl="1">
              <a:lnSpc>
                <a:spcPct val="120000"/>
              </a:lnSpc>
              <a:spcBef>
                <a:spcPct val="40000"/>
              </a:spcBef>
              <a:buClr>
                <a:schemeClr val="tx1"/>
              </a:buClr>
              <a:buFont typeface="Wingdings" panose="05000000000000000000" pitchFamily="2" charset="2"/>
              <a:buAutoNum type="alphaLcPeriod"/>
            </a:pPr>
            <a:r>
              <a:rPr lang="en-US" altLang="en-US" sz="2100" b="0" dirty="0">
                <a:solidFill>
                  <a:schemeClr val="tx1"/>
                </a:solidFill>
                <a:latin typeface="Liberation Sans" panose="020B0604020202020204" pitchFamily="34" charset="0"/>
              </a:rPr>
              <a:t>The accrual basis of accounting is in accord with generally accepted accounting principles.</a:t>
            </a:r>
          </a:p>
          <a:p>
            <a:pPr lvl="1">
              <a:lnSpc>
                <a:spcPct val="120000"/>
              </a:lnSpc>
              <a:spcBef>
                <a:spcPct val="40000"/>
              </a:spcBef>
              <a:buClr>
                <a:schemeClr val="tx1"/>
              </a:buClr>
              <a:buFont typeface="Wingdings" panose="05000000000000000000" pitchFamily="2" charset="2"/>
              <a:buAutoNum type="alphaLcPeriod"/>
            </a:pPr>
            <a:r>
              <a:rPr lang="en-US" altLang="en-US" sz="2100" b="0" dirty="0">
                <a:solidFill>
                  <a:schemeClr val="tx1"/>
                </a:solidFill>
                <a:latin typeface="Liberation Sans" panose="020B0604020202020204" pitchFamily="34" charset="0"/>
              </a:rPr>
              <a:t>Revenue is recorded only when cash is received, and expenses are recorded only when cash is paid.</a:t>
            </a:r>
          </a:p>
        </p:txBody>
      </p:sp>
      <p:sp>
        <p:nvSpPr>
          <p:cNvPr id="14349" name="Line 1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8" name="Rectangle 4"/>
          <p:cNvSpPr>
            <a:spLocks noChangeArrowheads="1"/>
          </p:cNvSpPr>
          <p:nvPr/>
        </p:nvSpPr>
        <p:spPr bwMode="auto">
          <a:xfrm>
            <a:off x="2133600" y="1295400"/>
            <a:ext cx="5334000"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buSzPct val="80000"/>
            </a:pPr>
            <a:r>
              <a:rPr lang="en-US" altLang="en-US" sz="3000" dirty="0">
                <a:solidFill>
                  <a:srgbClr val="800000"/>
                </a:solidFill>
                <a:latin typeface="Liberation Sans" panose="020B0604020202020204" pitchFamily="34" charset="0"/>
              </a:rPr>
              <a:t>Question</a:t>
            </a:r>
          </a:p>
        </p:txBody>
      </p:sp>
      <p:sp>
        <p:nvSpPr>
          <p:cNvPr id="9"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Recognizing Revenues and Expenses</a:t>
            </a:r>
          </a:p>
        </p:txBody>
      </p:sp>
      <p:sp>
        <p:nvSpPr>
          <p:cNvPr id="7"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
        <p:nvSpPr>
          <p:cNvPr id="11" name="Notched Right Arrow 10"/>
          <p:cNvSpPr/>
          <p:nvPr/>
        </p:nvSpPr>
        <p:spPr bwMode="auto">
          <a:xfrm>
            <a:off x="1752600" y="5486400"/>
            <a:ext cx="609600" cy="457200"/>
          </a:xfrm>
          <a:prstGeom prst="notchedRightArrow">
            <a:avLst/>
          </a:prstGeom>
          <a:solidFill>
            <a:srgbClr val="A50021"/>
          </a:solidFill>
          <a:ln w="12700" cap="sq" cmpd="sng" algn="ctr">
            <a:solidFill>
              <a:schemeClr val="tx1"/>
            </a:solidFill>
            <a:prstDash val="solid"/>
            <a:round/>
            <a:headEnd type="none" w="sm" len="sm"/>
            <a:tailEnd type="none" w="sm" len="sm"/>
          </a:ln>
          <a:effec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5pPr>
            <a:lvl6pPr marL="2286000" algn="l" defTabSz="914400" rtl="0" eaLnBrk="1" latinLnBrk="0" hangingPunct="1">
              <a:defRPr sz="2400" kern="1200">
                <a:solidFill>
                  <a:schemeClr val="tx1"/>
                </a:solidFill>
                <a:latin typeface="Comic Sans MS" panose="030F0702030302020204" pitchFamily="66" charset="0"/>
                <a:ea typeface="+mn-ea"/>
                <a:cs typeface="+mn-cs"/>
              </a:defRPr>
            </a:lvl6pPr>
            <a:lvl7pPr marL="2743200" algn="l" defTabSz="914400" rtl="0" eaLnBrk="1" latinLnBrk="0" hangingPunct="1">
              <a:defRPr sz="2400" kern="1200">
                <a:solidFill>
                  <a:schemeClr val="tx1"/>
                </a:solidFill>
                <a:latin typeface="Comic Sans MS" panose="030F0702030302020204" pitchFamily="66" charset="0"/>
                <a:ea typeface="+mn-ea"/>
                <a:cs typeface="+mn-cs"/>
              </a:defRPr>
            </a:lvl7pPr>
            <a:lvl8pPr marL="3200400" algn="l" defTabSz="914400" rtl="0" eaLnBrk="1" latinLnBrk="0" hangingPunct="1">
              <a:defRPr sz="2400" kern="1200">
                <a:solidFill>
                  <a:schemeClr val="tx1"/>
                </a:solidFill>
                <a:latin typeface="Comic Sans MS" panose="030F0702030302020204" pitchFamily="66" charset="0"/>
                <a:ea typeface="+mn-ea"/>
                <a:cs typeface="+mn-cs"/>
              </a:defRPr>
            </a:lvl8pPr>
            <a:lvl9pPr marL="3657600" algn="l" defTabSz="914400" rtl="0" eaLnBrk="1" latinLnBrk="0" hangingPunct="1">
              <a:defRPr sz="2400" kern="1200">
                <a:solidFill>
                  <a:schemeClr val="tx1"/>
                </a:solidFill>
                <a:latin typeface="Comic Sans MS" panose="030F0702030302020204" pitchFamily="66" charset="0"/>
                <a:ea typeface="+mn-ea"/>
                <a:cs typeface="+mn-cs"/>
              </a:defRPr>
            </a:lvl9pPr>
          </a:lstStyle>
          <a:p>
            <a:endParaRPr lang="en-US" altLang="en-US">
              <a:solidFill>
                <a:schemeClr val="accent6">
                  <a:lumMod val="50000"/>
                </a:schemeClr>
              </a:solidFill>
            </a:endParaRPr>
          </a:p>
        </p:txBody>
      </p:sp>
    </p:spTree>
    <p:extLst>
      <p:ext uri="{BB962C8B-B14F-4D97-AF65-F5344CB8AC3E}">
        <p14:creationId xmlns:p14="http://schemas.microsoft.com/office/powerpoint/2010/main" val="2243546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335280" y="1083751"/>
            <a:ext cx="11521440" cy="5043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spcBef>
                <a:spcPct val="50000"/>
              </a:spcBef>
              <a:buClr>
                <a:srgbClr val="800000"/>
              </a:buClr>
              <a:buSzPct val="80000"/>
              <a:buFont typeface="Wingdings" panose="05000000000000000000" pitchFamily="2" charset="2"/>
              <a:buNone/>
            </a:pPr>
            <a:r>
              <a:rPr lang="en-US" altLang="en-US" dirty="0">
                <a:solidFill>
                  <a:schemeClr val="tx2">
                    <a:lumMod val="75000"/>
                  </a:schemeClr>
                </a:solidFill>
                <a:latin typeface="Liberation Sans" panose="020B0604020202020204" pitchFamily="34" charset="0"/>
              </a:rPr>
              <a:t>Adjusting Entries</a:t>
            </a:r>
          </a:p>
          <a:p>
            <a:pPr lvl="1">
              <a:lnSpc>
                <a:spcPct val="120000"/>
              </a:lnSpc>
              <a:spcBef>
                <a:spcPct val="50000"/>
              </a:spcBef>
              <a:buClr>
                <a:srgbClr val="800000"/>
              </a:buClr>
              <a:buSzPct val="80000"/>
              <a:buFont typeface="Wingdings" panose="05000000000000000000" pitchFamily="2" charset="2"/>
              <a:buChar char="u"/>
            </a:pPr>
            <a:r>
              <a:rPr lang="en-US" altLang="en-US" b="0" dirty="0">
                <a:solidFill>
                  <a:schemeClr val="tx1"/>
                </a:solidFill>
                <a:latin typeface="Liberation Sans" panose="020B0604020202020204" pitchFamily="34" charset="0"/>
              </a:rPr>
              <a:t>Ensure that the </a:t>
            </a:r>
            <a:r>
              <a:rPr lang="en-US" altLang="en-US" dirty="0">
                <a:solidFill>
                  <a:schemeClr val="tx1"/>
                </a:solidFill>
                <a:latin typeface="Liberation Sans" panose="020B0604020202020204" pitchFamily="34" charset="0"/>
              </a:rPr>
              <a:t>revenue recognition</a:t>
            </a:r>
            <a:r>
              <a:rPr lang="en-US" altLang="en-US" b="0" dirty="0">
                <a:solidFill>
                  <a:schemeClr val="tx1"/>
                </a:solidFill>
                <a:latin typeface="Liberation Sans" panose="020B0604020202020204" pitchFamily="34" charset="0"/>
              </a:rPr>
              <a:t> and </a:t>
            </a:r>
            <a:r>
              <a:rPr lang="en-US" altLang="en-US" dirty="0">
                <a:solidFill>
                  <a:schemeClr val="tx1"/>
                </a:solidFill>
                <a:latin typeface="Liberation Sans" panose="020B0604020202020204" pitchFamily="34" charset="0"/>
              </a:rPr>
              <a:t>expense recognition</a:t>
            </a:r>
            <a:r>
              <a:rPr lang="en-US" altLang="en-US" b="0" dirty="0">
                <a:solidFill>
                  <a:schemeClr val="tx1"/>
                </a:solidFill>
                <a:latin typeface="Liberation Sans" panose="020B0604020202020204" pitchFamily="34" charset="0"/>
              </a:rPr>
              <a:t> principles are followed.</a:t>
            </a:r>
          </a:p>
          <a:p>
            <a:pPr lvl="1">
              <a:lnSpc>
                <a:spcPct val="120000"/>
              </a:lnSpc>
              <a:spcBef>
                <a:spcPct val="50000"/>
              </a:spcBef>
              <a:buClr>
                <a:srgbClr val="800000"/>
              </a:buClr>
              <a:buSzPct val="80000"/>
              <a:buFont typeface="Wingdings" panose="05000000000000000000" pitchFamily="2" charset="2"/>
              <a:buChar char="u"/>
            </a:pPr>
            <a:r>
              <a:rPr lang="en-US" altLang="en-US" b="0" dirty="0">
                <a:solidFill>
                  <a:schemeClr val="tx1"/>
                </a:solidFill>
                <a:latin typeface="Liberation Sans" panose="020B0604020202020204" pitchFamily="34" charset="0"/>
              </a:rPr>
              <a:t>Necessary because the </a:t>
            </a:r>
            <a:r>
              <a:rPr lang="en-US" altLang="en-US" dirty="0">
                <a:solidFill>
                  <a:schemeClr val="tx1"/>
                </a:solidFill>
                <a:latin typeface="Liberation Sans" panose="020B0604020202020204" pitchFamily="34" charset="0"/>
              </a:rPr>
              <a:t>trial balance may not contain up-to-date</a:t>
            </a:r>
            <a:r>
              <a:rPr lang="en-US" altLang="en-US" b="0" dirty="0">
                <a:solidFill>
                  <a:schemeClr val="tx1"/>
                </a:solidFill>
                <a:latin typeface="Liberation Sans" panose="020B0604020202020204" pitchFamily="34" charset="0"/>
              </a:rPr>
              <a:t> and complete data.</a:t>
            </a:r>
          </a:p>
          <a:p>
            <a:pPr lvl="1">
              <a:lnSpc>
                <a:spcPct val="120000"/>
              </a:lnSpc>
              <a:spcBef>
                <a:spcPct val="50000"/>
              </a:spcBef>
              <a:buClr>
                <a:srgbClr val="800000"/>
              </a:buClr>
              <a:buSzPct val="80000"/>
              <a:buFont typeface="Wingdings" panose="05000000000000000000" pitchFamily="2" charset="2"/>
              <a:buChar char="u"/>
            </a:pPr>
            <a:r>
              <a:rPr lang="en-US" altLang="en-US" dirty="0">
                <a:solidFill>
                  <a:schemeClr val="tx1"/>
                </a:solidFill>
                <a:latin typeface="Liberation Sans" panose="020B0604020202020204" pitchFamily="34" charset="0"/>
              </a:rPr>
              <a:t>Required</a:t>
            </a:r>
            <a:r>
              <a:rPr lang="en-US" altLang="en-US" b="0" dirty="0">
                <a:solidFill>
                  <a:schemeClr val="tx1"/>
                </a:solidFill>
                <a:latin typeface="Liberation Sans" panose="020B0604020202020204" pitchFamily="34" charset="0"/>
              </a:rPr>
              <a:t> every time a company prepares financial statements.</a:t>
            </a:r>
          </a:p>
          <a:p>
            <a:pPr lvl="1">
              <a:lnSpc>
                <a:spcPct val="120000"/>
              </a:lnSpc>
              <a:spcBef>
                <a:spcPct val="50000"/>
              </a:spcBef>
              <a:buClr>
                <a:srgbClr val="800000"/>
              </a:buClr>
              <a:buSzPct val="80000"/>
              <a:buFont typeface="Wingdings" panose="05000000000000000000" pitchFamily="2" charset="2"/>
              <a:buChar char="u"/>
            </a:pPr>
            <a:r>
              <a:rPr lang="en-US" altLang="en-US" b="0" dirty="0">
                <a:solidFill>
                  <a:schemeClr val="tx1"/>
                </a:solidFill>
                <a:latin typeface="Liberation Sans" panose="020B0604020202020204" pitchFamily="34" charset="0"/>
              </a:rPr>
              <a:t>Will include </a:t>
            </a:r>
            <a:r>
              <a:rPr lang="en-US" altLang="en-US" dirty="0">
                <a:solidFill>
                  <a:schemeClr val="tx1"/>
                </a:solidFill>
                <a:latin typeface="Liberation Sans" panose="020B0604020202020204" pitchFamily="34" charset="0"/>
              </a:rPr>
              <a:t>one income statement account</a:t>
            </a:r>
            <a:r>
              <a:rPr lang="en-US" altLang="en-US" b="0" dirty="0">
                <a:solidFill>
                  <a:schemeClr val="tx1"/>
                </a:solidFill>
                <a:latin typeface="Liberation Sans" panose="020B0604020202020204" pitchFamily="34" charset="0"/>
              </a:rPr>
              <a:t> and </a:t>
            </a:r>
            <a:r>
              <a:rPr lang="en-US" altLang="en-US" dirty="0">
                <a:solidFill>
                  <a:schemeClr val="tx1"/>
                </a:solidFill>
                <a:latin typeface="Liberation Sans" panose="020B0604020202020204" pitchFamily="34" charset="0"/>
              </a:rPr>
              <a:t>one balance sheet account</a:t>
            </a:r>
            <a:r>
              <a:rPr lang="en-US" altLang="en-US" b="0" dirty="0">
                <a:solidFill>
                  <a:schemeClr val="tx1"/>
                </a:solidFill>
                <a:latin typeface="Liberation Sans" panose="020B0604020202020204" pitchFamily="34" charset="0"/>
              </a:rPr>
              <a:t>.</a:t>
            </a:r>
          </a:p>
        </p:txBody>
      </p:sp>
      <p:sp>
        <p:nvSpPr>
          <p:cNvPr id="15372" name="Line 9"/>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6"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b="1" dirty="0">
                <a:latin typeface="Liberation Sans" panose="020B0604020202020204" pitchFamily="34" charset="0"/>
              </a:rPr>
              <a:t>The Need for Adjusting Entries</a:t>
            </a:r>
          </a:p>
        </p:txBody>
      </p:sp>
      <p:sp>
        <p:nvSpPr>
          <p:cNvPr id="5"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Tree>
    <p:extLst>
      <p:ext uri="{BB962C8B-B14F-4D97-AF65-F5344CB8AC3E}">
        <p14:creationId xmlns:p14="http://schemas.microsoft.com/office/powerpoint/2010/main" val="727827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ChangeArrowheads="1"/>
          </p:cNvSpPr>
          <p:nvPr/>
        </p:nvSpPr>
        <p:spPr bwMode="auto">
          <a:xfrm>
            <a:off x="2057400" y="1905000"/>
            <a:ext cx="7696200" cy="40386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82562" tIns="46038" rIns="182562" bIns="46038"/>
          <a:lstStyle>
            <a:lvl1pPr marL="457200" indent="-457200">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10000"/>
              </a:lnSpc>
              <a:spcBef>
                <a:spcPct val="40000"/>
              </a:spcBef>
              <a:buClr>
                <a:schemeClr val="accent2"/>
              </a:buClr>
              <a:buSzPct val="75000"/>
              <a:buFont typeface="Wingdings" panose="05000000000000000000" pitchFamily="2" charset="2"/>
              <a:buNone/>
            </a:pPr>
            <a:r>
              <a:rPr lang="en-US" altLang="en-US" sz="2300" b="0" dirty="0">
                <a:solidFill>
                  <a:schemeClr val="tx1"/>
                </a:solidFill>
                <a:latin typeface="Liberation Sans" panose="020B0604020202020204" pitchFamily="34" charset="0"/>
              </a:rPr>
              <a:t>Adjusting entries are made to ensure that:</a:t>
            </a:r>
          </a:p>
          <a:p>
            <a:pPr lvl="1">
              <a:lnSpc>
                <a:spcPct val="110000"/>
              </a:lnSpc>
              <a:spcBef>
                <a:spcPct val="40000"/>
              </a:spcBef>
              <a:buClr>
                <a:schemeClr val="tx1"/>
              </a:buClr>
              <a:buFont typeface="Wingdings" panose="05000000000000000000" pitchFamily="2" charset="2"/>
              <a:buAutoNum type="alphaLcPeriod"/>
            </a:pPr>
            <a:r>
              <a:rPr lang="en-US" altLang="en-US" sz="2300" b="0" dirty="0">
                <a:solidFill>
                  <a:schemeClr val="tx1"/>
                </a:solidFill>
                <a:latin typeface="Liberation Sans" panose="020B0604020202020204" pitchFamily="34" charset="0"/>
              </a:rPr>
              <a:t>expenses are recognized in the period in which they are incurred.</a:t>
            </a:r>
          </a:p>
          <a:p>
            <a:pPr lvl="1">
              <a:lnSpc>
                <a:spcPct val="110000"/>
              </a:lnSpc>
              <a:spcBef>
                <a:spcPct val="40000"/>
              </a:spcBef>
              <a:buClr>
                <a:schemeClr val="tx1"/>
              </a:buClr>
              <a:buFont typeface="Wingdings" panose="05000000000000000000" pitchFamily="2" charset="2"/>
              <a:buAutoNum type="alphaLcPeriod"/>
            </a:pPr>
            <a:r>
              <a:rPr lang="en-US" altLang="en-US" sz="2300" b="0" dirty="0">
                <a:solidFill>
                  <a:schemeClr val="tx1"/>
                </a:solidFill>
                <a:latin typeface="Liberation Sans" panose="020B0604020202020204" pitchFamily="34" charset="0"/>
              </a:rPr>
              <a:t>revenues are recorded in the period in which services are performed.</a:t>
            </a:r>
          </a:p>
          <a:p>
            <a:pPr lvl="1">
              <a:lnSpc>
                <a:spcPct val="110000"/>
              </a:lnSpc>
              <a:spcBef>
                <a:spcPct val="40000"/>
              </a:spcBef>
              <a:buClr>
                <a:schemeClr val="tx1"/>
              </a:buClr>
              <a:buFont typeface="Wingdings" panose="05000000000000000000" pitchFamily="2" charset="2"/>
              <a:buAutoNum type="alphaLcPeriod"/>
            </a:pPr>
            <a:r>
              <a:rPr lang="en-US" altLang="en-US" sz="2300" b="0" dirty="0">
                <a:solidFill>
                  <a:schemeClr val="tx1"/>
                </a:solidFill>
                <a:latin typeface="Liberation Sans" panose="020B0604020202020204" pitchFamily="34" charset="0"/>
              </a:rPr>
              <a:t>balance sheet and income statement accounts have correct balances at the end of an accounting period.</a:t>
            </a:r>
          </a:p>
          <a:p>
            <a:pPr lvl="1">
              <a:lnSpc>
                <a:spcPct val="110000"/>
              </a:lnSpc>
              <a:spcBef>
                <a:spcPct val="40000"/>
              </a:spcBef>
              <a:buClr>
                <a:schemeClr val="tx1"/>
              </a:buClr>
              <a:buFont typeface="Wingdings" panose="05000000000000000000" pitchFamily="2" charset="2"/>
              <a:buAutoNum type="alphaLcPeriod"/>
            </a:pPr>
            <a:r>
              <a:rPr lang="en-US" altLang="en-US" sz="2300" b="0" dirty="0">
                <a:solidFill>
                  <a:schemeClr val="tx1"/>
                </a:solidFill>
                <a:latin typeface="Liberation Sans" panose="020B0604020202020204" pitchFamily="34" charset="0"/>
              </a:rPr>
              <a:t>all of the above.</a:t>
            </a:r>
          </a:p>
        </p:txBody>
      </p:sp>
      <p:sp>
        <p:nvSpPr>
          <p:cNvPr id="16391" name="Line 9"/>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9" name="Rectangle 4"/>
          <p:cNvSpPr>
            <a:spLocks noChangeArrowheads="1"/>
          </p:cNvSpPr>
          <p:nvPr/>
        </p:nvSpPr>
        <p:spPr bwMode="auto">
          <a:xfrm>
            <a:off x="2133600" y="1295400"/>
            <a:ext cx="5334000"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buSzPct val="80000"/>
            </a:pPr>
            <a:r>
              <a:rPr lang="en-US" altLang="en-US" sz="3000" dirty="0">
                <a:solidFill>
                  <a:srgbClr val="800000"/>
                </a:solidFill>
                <a:latin typeface="Liberation Sans" panose="020B0604020202020204" pitchFamily="34" charset="0"/>
              </a:rPr>
              <a:t>Question</a:t>
            </a:r>
          </a:p>
        </p:txBody>
      </p:sp>
      <p:sp>
        <p:nvSpPr>
          <p:cNvPr id="11"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The Need for Adjusting Entries</a:t>
            </a:r>
          </a:p>
        </p:txBody>
      </p:sp>
      <p:sp>
        <p:nvSpPr>
          <p:cNvPr id="7"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
        <p:nvSpPr>
          <p:cNvPr id="8" name="Notched Right Arrow 7"/>
          <p:cNvSpPr/>
          <p:nvPr/>
        </p:nvSpPr>
        <p:spPr bwMode="auto">
          <a:xfrm>
            <a:off x="1752600" y="5562600"/>
            <a:ext cx="609600" cy="457200"/>
          </a:xfrm>
          <a:prstGeom prst="notchedRightArrow">
            <a:avLst/>
          </a:prstGeom>
          <a:solidFill>
            <a:srgbClr val="A50021"/>
          </a:solidFill>
          <a:ln w="12700" cap="sq" cmpd="sng" algn="ctr">
            <a:solidFill>
              <a:schemeClr val="tx1"/>
            </a:solidFill>
            <a:prstDash val="solid"/>
            <a:round/>
            <a:headEnd type="none" w="sm" len="sm"/>
            <a:tailEnd type="none" w="sm" len="sm"/>
          </a:ln>
          <a:effec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5pPr>
            <a:lvl6pPr marL="2286000" algn="l" defTabSz="914400" rtl="0" eaLnBrk="1" latinLnBrk="0" hangingPunct="1">
              <a:defRPr sz="2400" kern="1200">
                <a:solidFill>
                  <a:schemeClr val="tx1"/>
                </a:solidFill>
                <a:latin typeface="Comic Sans MS" panose="030F0702030302020204" pitchFamily="66" charset="0"/>
                <a:ea typeface="+mn-ea"/>
                <a:cs typeface="+mn-cs"/>
              </a:defRPr>
            </a:lvl6pPr>
            <a:lvl7pPr marL="2743200" algn="l" defTabSz="914400" rtl="0" eaLnBrk="1" latinLnBrk="0" hangingPunct="1">
              <a:defRPr sz="2400" kern="1200">
                <a:solidFill>
                  <a:schemeClr val="tx1"/>
                </a:solidFill>
                <a:latin typeface="Comic Sans MS" panose="030F0702030302020204" pitchFamily="66" charset="0"/>
                <a:ea typeface="+mn-ea"/>
                <a:cs typeface="+mn-cs"/>
              </a:defRPr>
            </a:lvl7pPr>
            <a:lvl8pPr marL="3200400" algn="l" defTabSz="914400" rtl="0" eaLnBrk="1" latinLnBrk="0" hangingPunct="1">
              <a:defRPr sz="2400" kern="1200">
                <a:solidFill>
                  <a:schemeClr val="tx1"/>
                </a:solidFill>
                <a:latin typeface="Comic Sans MS" panose="030F0702030302020204" pitchFamily="66" charset="0"/>
                <a:ea typeface="+mn-ea"/>
                <a:cs typeface="+mn-cs"/>
              </a:defRPr>
            </a:lvl8pPr>
            <a:lvl9pPr marL="3657600" algn="l" defTabSz="914400" rtl="0" eaLnBrk="1" latinLnBrk="0" hangingPunct="1">
              <a:defRPr sz="2400" kern="1200">
                <a:solidFill>
                  <a:schemeClr val="tx1"/>
                </a:solidFill>
                <a:latin typeface="Comic Sans MS" panose="030F0702030302020204" pitchFamily="66" charset="0"/>
                <a:ea typeface="+mn-ea"/>
                <a:cs typeface="+mn-cs"/>
              </a:defRPr>
            </a:lvl9pPr>
          </a:lstStyle>
          <a:p>
            <a:endParaRPr lang="en-US" altLang="en-US">
              <a:solidFill>
                <a:schemeClr val="accent6">
                  <a:lumMod val="50000"/>
                </a:schemeClr>
              </a:solidFill>
            </a:endParaRPr>
          </a:p>
        </p:txBody>
      </p:sp>
    </p:spTree>
    <p:extLst>
      <p:ext uri="{BB962C8B-B14F-4D97-AF65-F5344CB8AC3E}">
        <p14:creationId xmlns:p14="http://schemas.microsoft.com/office/powerpoint/2010/main" val="3413195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a:spLocks noChangeArrowheads="1"/>
          </p:cNvSpPr>
          <p:nvPr/>
        </p:nvSpPr>
        <p:spPr bwMode="auto">
          <a:xfrm>
            <a:off x="7924800" y="1143000"/>
            <a:ext cx="2514600"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r>
              <a:rPr lang="en-US" altLang="en-US" sz="1200" dirty="0">
                <a:solidFill>
                  <a:schemeClr val="tx1"/>
                </a:solidFill>
                <a:latin typeface="Liberation Sans" panose="020B0604020202020204" pitchFamily="34" charset="0"/>
              </a:rPr>
              <a:t>Illustration 3-2</a:t>
            </a:r>
          </a:p>
          <a:p>
            <a:r>
              <a:rPr lang="en-US" altLang="en-US" sz="1200" dirty="0">
                <a:solidFill>
                  <a:schemeClr val="tx1"/>
                </a:solidFill>
                <a:latin typeface="Liberation Sans" panose="020B0604020202020204" pitchFamily="34" charset="0"/>
              </a:rPr>
              <a:t>Categories of adjusting entries</a:t>
            </a:r>
            <a:endParaRPr lang="en-US" altLang="en-US" sz="1200" dirty="0">
              <a:solidFill>
                <a:srgbClr val="B00000"/>
              </a:solidFill>
              <a:latin typeface="Liberation Sans" panose="020B0604020202020204" pitchFamily="34" charset="0"/>
            </a:endParaRPr>
          </a:p>
        </p:txBody>
      </p:sp>
      <p:sp>
        <p:nvSpPr>
          <p:cNvPr id="17420" name="Line 1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8438" name="Rectangle 15"/>
          <p:cNvSpPr>
            <a:spLocks noChangeArrowheads="1"/>
          </p:cNvSpPr>
          <p:nvPr/>
        </p:nvSpPr>
        <p:spPr bwMode="auto">
          <a:xfrm>
            <a:off x="113211" y="990600"/>
            <a:ext cx="11930743" cy="5802086"/>
          </a:xfrm>
          <a:prstGeom prst="rect">
            <a:avLst/>
          </a:prstGeom>
          <a:solidFill>
            <a:srgbClr val="F9EFA9"/>
          </a:solidFill>
          <a:ln w="28575" cap="sq">
            <a:solidFill>
              <a:schemeClr val="tx1"/>
            </a:solidFill>
            <a:miter lim="800000"/>
            <a:headEnd type="none" w="sm" len="sm"/>
            <a:tailEnd type="none" w="sm" len="sm"/>
          </a:ln>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endParaRPr lang="en-US" altLang="en-US" sz="2400" b="0" dirty="0">
              <a:solidFill>
                <a:schemeClr val="tx1"/>
              </a:solidFill>
              <a:latin typeface="Liberation Sans" panose="020B0604020202020204" pitchFamily="34" charset="0"/>
            </a:endParaRPr>
          </a:p>
        </p:txBody>
      </p:sp>
      <p:sp>
        <p:nvSpPr>
          <p:cNvPr id="311301" name="Rectangle 5"/>
          <p:cNvSpPr>
            <a:spLocks noChangeArrowheads="1"/>
          </p:cNvSpPr>
          <p:nvPr/>
        </p:nvSpPr>
        <p:spPr bwMode="auto">
          <a:xfrm>
            <a:off x="2133600" y="2362200"/>
            <a:ext cx="3810000" cy="1600200"/>
          </a:xfrm>
          <a:prstGeom prst="rect">
            <a:avLst/>
          </a:prstGeom>
          <a:noFill/>
          <a:ln w="28575" cap="sq">
            <a:noFill/>
            <a:miter lim="800000"/>
            <a:headEnd type="none" w="sm" len="sm"/>
            <a:tailEnd type="none" w="sm" len="sm"/>
          </a:ln>
          <a:effectLst/>
        </p:spPr>
        <p:txBody>
          <a:bodyPr tIns="137160"/>
          <a:lstStyle/>
          <a:p>
            <a:pPr marL="346075" indent="-346075">
              <a:lnSpc>
                <a:spcPct val="115000"/>
              </a:lnSpc>
              <a:defRPr/>
            </a:pPr>
            <a:r>
              <a:rPr lang="en-US" sz="2000" dirty="0">
                <a:latin typeface="Liberation Sans" panose="020B0604020202020204" pitchFamily="34" charset="0"/>
              </a:rPr>
              <a:t>1.</a:t>
            </a:r>
            <a:r>
              <a:rPr lang="en-US" sz="2000" dirty="0">
                <a:solidFill>
                  <a:schemeClr val="accent2"/>
                </a:solidFill>
                <a:effectLst>
                  <a:outerShdw blurRad="38100" dist="38100" dir="2700000" algn="tl">
                    <a:srgbClr val="C0C0C0"/>
                  </a:outerShdw>
                </a:effectLst>
                <a:latin typeface="Liberation Sans" panose="020B0604020202020204" pitchFamily="34" charset="0"/>
              </a:rPr>
              <a:t>	</a:t>
            </a:r>
            <a:r>
              <a:rPr lang="en-US" sz="2000" dirty="0">
                <a:solidFill>
                  <a:srgbClr val="990000"/>
                </a:solidFill>
                <a:latin typeface="Liberation Sans" panose="020B0604020202020204" pitchFamily="34" charset="0"/>
              </a:rPr>
              <a:t>Prepaid Expenses.</a:t>
            </a:r>
            <a:r>
              <a:rPr lang="en-US" sz="2000" dirty="0">
                <a:solidFill>
                  <a:schemeClr val="accent2"/>
                </a:solidFill>
                <a:effectLst>
                  <a:outerShdw blurRad="38100" dist="38100" dir="2700000" algn="tl">
                    <a:srgbClr val="C0C0C0"/>
                  </a:outerShdw>
                </a:effectLst>
                <a:latin typeface="Liberation Sans" panose="020B0604020202020204" pitchFamily="34" charset="0"/>
              </a:rPr>
              <a:t> </a:t>
            </a:r>
            <a:r>
              <a:rPr lang="en-US" sz="1900" dirty="0">
                <a:latin typeface="Liberation Sans" panose="020B0604020202020204" pitchFamily="34" charset="0"/>
              </a:rPr>
              <a:t>Expenses paid in cash before they are used or consumed.</a:t>
            </a:r>
          </a:p>
        </p:txBody>
      </p:sp>
      <p:sp>
        <p:nvSpPr>
          <p:cNvPr id="18440" name="Rectangle 7"/>
          <p:cNvSpPr>
            <a:spLocks noChangeArrowheads="1"/>
          </p:cNvSpPr>
          <p:nvPr/>
        </p:nvSpPr>
        <p:spPr bwMode="auto">
          <a:xfrm>
            <a:off x="2133600" y="17526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r>
              <a:rPr lang="en-US" altLang="en-US" sz="2400" dirty="0">
                <a:solidFill>
                  <a:schemeClr val="tx1"/>
                </a:solidFill>
                <a:latin typeface="Liberation Sans" panose="020B0604020202020204" pitchFamily="34" charset="0"/>
              </a:rPr>
              <a:t>Deferrals</a:t>
            </a:r>
          </a:p>
        </p:txBody>
      </p:sp>
      <p:sp>
        <p:nvSpPr>
          <p:cNvPr id="18441" name="Rectangle 8"/>
          <p:cNvSpPr>
            <a:spLocks noChangeArrowheads="1"/>
          </p:cNvSpPr>
          <p:nvPr/>
        </p:nvSpPr>
        <p:spPr bwMode="auto">
          <a:xfrm>
            <a:off x="6324600" y="2362200"/>
            <a:ext cx="3810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tIns="137160"/>
          <a:lstStyle>
            <a:lvl1pPr marL="346075" indent="-346075">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15000"/>
              </a:lnSpc>
            </a:pPr>
            <a:r>
              <a:rPr lang="en-US" altLang="en-US" sz="2000" b="0" dirty="0">
                <a:solidFill>
                  <a:schemeClr val="tx1"/>
                </a:solidFill>
                <a:latin typeface="Liberation Sans" panose="020B0604020202020204" pitchFamily="34" charset="0"/>
              </a:rPr>
              <a:t>1. 	</a:t>
            </a:r>
            <a:r>
              <a:rPr lang="en-US" altLang="en-US" sz="2000" dirty="0">
                <a:solidFill>
                  <a:srgbClr val="990000"/>
                </a:solidFill>
                <a:latin typeface="Liberation Sans" panose="020B0604020202020204" pitchFamily="34" charset="0"/>
              </a:rPr>
              <a:t>Accrued Revenues.</a:t>
            </a:r>
            <a:r>
              <a:rPr lang="en-US" altLang="en-US" sz="2000" b="0" dirty="0">
                <a:solidFill>
                  <a:schemeClr val="tx1"/>
                </a:solidFill>
                <a:latin typeface="Liberation Sans" panose="020B0604020202020204" pitchFamily="34" charset="0"/>
              </a:rPr>
              <a:t> </a:t>
            </a:r>
            <a:r>
              <a:rPr lang="en-US" altLang="en-US" sz="1900" b="0" dirty="0">
                <a:solidFill>
                  <a:schemeClr val="tx1"/>
                </a:solidFill>
                <a:latin typeface="Liberation Sans" panose="020B0604020202020204" pitchFamily="34" charset="0"/>
              </a:rPr>
              <a:t>Revenues for services performed but not yet received in cash or recorded.</a:t>
            </a:r>
            <a:r>
              <a:rPr lang="en-US" altLang="en-US" sz="2000" b="0" dirty="0">
                <a:solidFill>
                  <a:schemeClr val="tx1"/>
                </a:solidFill>
                <a:latin typeface="Liberation Sans" panose="020B0604020202020204" pitchFamily="34" charset="0"/>
              </a:rPr>
              <a:t> </a:t>
            </a:r>
          </a:p>
        </p:txBody>
      </p:sp>
      <p:sp>
        <p:nvSpPr>
          <p:cNvPr id="18442" name="Rectangle 10"/>
          <p:cNvSpPr>
            <a:spLocks noChangeArrowheads="1"/>
          </p:cNvSpPr>
          <p:nvPr/>
        </p:nvSpPr>
        <p:spPr bwMode="auto">
          <a:xfrm>
            <a:off x="6324600" y="3886200"/>
            <a:ext cx="3810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tIns="137160"/>
          <a:lstStyle>
            <a:lvl1pPr marL="346075" indent="-346075">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15000"/>
              </a:lnSpc>
            </a:pPr>
            <a:r>
              <a:rPr lang="en-US" altLang="en-US" sz="2000" b="0" dirty="0">
                <a:solidFill>
                  <a:schemeClr val="tx1"/>
                </a:solidFill>
                <a:latin typeface="Liberation Sans" panose="020B0604020202020204" pitchFamily="34" charset="0"/>
              </a:rPr>
              <a:t>2. 	</a:t>
            </a:r>
            <a:r>
              <a:rPr lang="en-US" altLang="en-US" sz="2000" dirty="0">
                <a:solidFill>
                  <a:srgbClr val="990000"/>
                </a:solidFill>
                <a:latin typeface="Liberation Sans" panose="020B0604020202020204" pitchFamily="34" charset="0"/>
              </a:rPr>
              <a:t>Accrued Expenses.</a:t>
            </a:r>
            <a:r>
              <a:rPr lang="en-US" altLang="en-US" sz="2000" b="0" dirty="0">
                <a:solidFill>
                  <a:schemeClr val="tx1"/>
                </a:solidFill>
                <a:latin typeface="Liberation Sans" panose="020B0604020202020204" pitchFamily="34" charset="0"/>
              </a:rPr>
              <a:t>  </a:t>
            </a:r>
            <a:r>
              <a:rPr lang="en-US" altLang="en-US" sz="1900" b="0" dirty="0">
                <a:solidFill>
                  <a:schemeClr val="tx1"/>
                </a:solidFill>
                <a:latin typeface="Liberation Sans" panose="020B0604020202020204" pitchFamily="34" charset="0"/>
              </a:rPr>
              <a:t>Expenses incurred but not yet paid in cash or recorded.</a:t>
            </a:r>
          </a:p>
        </p:txBody>
      </p:sp>
      <p:sp>
        <p:nvSpPr>
          <p:cNvPr id="18443" name="Rectangle 11"/>
          <p:cNvSpPr>
            <a:spLocks noChangeArrowheads="1"/>
          </p:cNvSpPr>
          <p:nvPr/>
        </p:nvSpPr>
        <p:spPr bwMode="auto">
          <a:xfrm>
            <a:off x="2133600" y="3886200"/>
            <a:ext cx="3810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tIns="137160"/>
          <a:lstStyle>
            <a:lvl1pPr marL="342900" indent="-3429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15000"/>
              </a:lnSpc>
            </a:pPr>
            <a:r>
              <a:rPr lang="en-US" altLang="en-US" sz="2000" b="0" dirty="0">
                <a:solidFill>
                  <a:schemeClr val="tx1"/>
                </a:solidFill>
                <a:latin typeface="Liberation Sans" panose="020B0604020202020204" pitchFamily="34" charset="0"/>
              </a:rPr>
              <a:t>2.</a:t>
            </a:r>
            <a:r>
              <a:rPr lang="en-US" altLang="en-US" sz="2000" dirty="0">
                <a:solidFill>
                  <a:srgbClr val="990000"/>
                </a:solidFill>
                <a:latin typeface="Liberation Sans" panose="020B0604020202020204" pitchFamily="34" charset="0"/>
              </a:rPr>
              <a:t>  Unearned Revenues.</a:t>
            </a:r>
            <a:r>
              <a:rPr lang="en-US" altLang="en-US" sz="2000" b="0" dirty="0">
                <a:solidFill>
                  <a:schemeClr val="tx1"/>
                </a:solidFill>
                <a:latin typeface="Liberation Sans" panose="020B0604020202020204" pitchFamily="34" charset="0"/>
              </a:rPr>
              <a:t>  </a:t>
            </a:r>
          </a:p>
          <a:p>
            <a:pPr>
              <a:lnSpc>
                <a:spcPct val="115000"/>
              </a:lnSpc>
            </a:pPr>
            <a:r>
              <a:rPr lang="en-US" altLang="en-US" sz="2000" b="0" dirty="0">
                <a:solidFill>
                  <a:schemeClr val="tx1"/>
                </a:solidFill>
                <a:latin typeface="Liberation Sans" panose="020B0604020202020204" pitchFamily="34" charset="0"/>
              </a:rPr>
              <a:t>	</a:t>
            </a:r>
            <a:r>
              <a:rPr lang="en-US" altLang="en-US" sz="1900" b="0" dirty="0">
                <a:solidFill>
                  <a:schemeClr val="tx1"/>
                </a:solidFill>
                <a:latin typeface="Liberation Sans" panose="020B0604020202020204" pitchFamily="34" charset="0"/>
              </a:rPr>
              <a:t>Cash received before services are performed.</a:t>
            </a:r>
          </a:p>
        </p:txBody>
      </p:sp>
      <p:sp>
        <p:nvSpPr>
          <p:cNvPr id="18444" name="Rectangle 12"/>
          <p:cNvSpPr>
            <a:spLocks noChangeArrowheads="1"/>
          </p:cNvSpPr>
          <p:nvPr/>
        </p:nvSpPr>
        <p:spPr bwMode="auto">
          <a:xfrm>
            <a:off x="6324600" y="17526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r>
              <a:rPr lang="en-US" altLang="en-US" sz="2400" dirty="0">
                <a:solidFill>
                  <a:schemeClr val="tx1"/>
                </a:solidFill>
                <a:latin typeface="Liberation Sans" panose="020B0604020202020204" pitchFamily="34" charset="0"/>
              </a:rPr>
              <a:t>Accruals</a:t>
            </a:r>
          </a:p>
        </p:txBody>
      </p:sp>
      <p:sp>
        <p:nvSpPr>
          <p:cNvPr id="17431" name="Line 14"/>
          <p:cNvSpPr>
            <a:spLocks noChangeShapeType="1"/>
          </p:cNvSpPr>
          <p:nvPr/>
        </p:nvSpPr>
        <p:spPr bwMode="auto">
          <a:xfrm>
            <a:off x="2209800" y="2286000"/>
            <a:ext cx="7848600" cy="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a:defRPr/>
            </a:pPr>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5"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Types of Adjusting Entries</a:t>
            </a:r>
          </a:p>
        </p:txBody>
      </p:sp>
      <p:sp>
        <p:nvSpPr>
          <p:cNvPr id="13"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Tree>
    <p:extLst>
      <p:ext uri="{BB962C8B-B14F-4D97-AF65-F5344CB8AC3E}">
        <p14:creationId xmlns:p14="http://schemas.microsoft.com/office/powerpoint/2010/main" val="2232204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7"/>
          <p:cNvSpPr txBox="1">
            <a:spLocks noChangeArrowheads="1"/>
          </p:cNvSpPr>
          <p:nvPr/>
        </p:nvSpPr>
        <p:spPr bwMode="auto">
          <a:xfrm>
            <a:off x="2133600" y="1219201"/>
            <a:ext cx="8001000"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5000"/>
              </a:lnSpc>
              <a:spcBef>
                <a:spcPct val="50000"/>
              </a:spcBef>
            </a:pPr>
            <a:r>
              <a:rPr lang="en-US" altLang="en-US" sz="2200" dirty="0">
                <a:solidFill>
                  <a:schemeClr val="tx1"/>
                </a:solidFill>
                <a:latin typeface="Liberation Sans" panose="020B0604020202020204" pitchFamily="34" charset="0"/>
                <a:cs typeface="Arial" panose="020B0604020202020204" pitchFamily="34" charset="0"/>
              </a:rPr>
              <a:t>Trial Balance</a:t>
            </a:r>
            <a:r>
              <a:rPr lang="en-US" altLang="en-US" sz="2200" b="0" dirty="0">
                <a:solidFill>
                  <a:schemeClr val="tx1"/>
                </a:solidFill>
                <a:latin typeface="Liberation Sans" panose="020B0604020202020204" pitchFamily="34" charset="0"/>
                <a:cs typeface="Arial" panose="020B0604020202020204" pitchFamily="34" charset="0"/>
              </a:rPr>
              <a:t> – </a:t>
            </a:r>
            <a:r>
              <a:rPr lang="en-US" altLang="en-US" sz="2200" b="0" dirty="0">
                <a:solidFill>
                  <a:schemeClr val="tx1"/>
                </a:solidFill>
                <a:latin typeface="Liberation Sans" panose="020B0604020202020204" pitchFamily="34" charset="0"/>
              </a:rPr>
              <a:t>Each account is analyzed to determine whether it is complete and up-to-date.</a:t>
            </a:r>
            <a:endParaRPr lang="en-US" altLang="en-US" sz="2200" b="0" dirty="0">
              <a:solidFill>
                <a:schemeClr val="tx1"/>
              </a:solidFill>
              <a:latin typeface="Liberation Sans" panose="020B0604020202020204" pitchFamily="34" charset="0"/>
              <a:cs typeface="Arial" panose="020B0604020202020204" pitchFamily="34" charset="0"/>
            </a:endParaRPr>
          </a:p>
        </p:txBody>
      </p:sp>
      <p:sp>
        <p:nvSpPr>
          <p:cNvPr id="19459" name="Rectangle 7"/>
          <p:cNvSpPr>
            <a:spLocks noChangeArrowheads="1"/>
          </p:cNvSpPr>
          <p:nvPr/>
        </p:nvSpPr>
        <p:spPr bwMode="auto">
          <a:xfrm>
            <a:off x="7696200" y="2011362"/>
            <a:ext cx="1524000" cy="274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tx1"/>
                </a:solidFill>
                <a:latin typeface="Liberation Sans" panose="020B0604020202020204" pitchFamily="34" charset="0"/>
              </a:rPr>
              <a:t>Illustration 3-3</a:t>
            </a:r>
          </a:p>
        </p:txBody>
      </p:sp>
      <p:sp>
        <p:nvSpPr>
          <p:cNvPr id="18438" name="Line 13"/>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0"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Types of Adjusting Entries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755" y="2157921"/>
            <a:ext cx="9053154" cy="4700080"/>
          </a:xfrm>
          <a:prstGeom prst="rect">
            <a:avLst/>
          </a:prstGeom>
          <a:noFill/>
          <a:ln w="19050" cap="sq"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3304" y="2404872"/>
            <a:ext cx="438150" cy="7010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Tree>
    <p:extLst>
      <p:ext uri="{BB962C8B-B14F-4D97-AF65-F5344CB8AC3E}">
        <p14:creationId xmlns:p14="http://schemas.microsoft.com/office/powerpoint/2010/main" val="3656987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Oval 2"/>
          <p:cNvSpPr>
            <a:spLocks noChangeArrowheads="1"/>
          </p:cNvSpPr>
          <p:nvPr/>
        </p:nvSpPr>
        <p:spPr bwMode="auto">
          <a:xfrm>
            <a:off x="5715000" y="5164138"/>
            <a:ext cx="76200" cy="76200"/>
          </a:xfrm>
          <a:prstGeom prst="ellipse">
            <a:avLst/>
          </a:prstGeom>
          <a:solidFill>
            <a:srgbClr val="CC0000"/>
          </a:solidFill>
          <a:ln w="9525" algn="ctr">
            <a:solidFill>
              <a:schemeClr val="tx1"/>
            </a:solidFill>
            <a:rou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488" tIns="44450" rIns="90488" bIns="4445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15363" name="Rectangle 3"/>
          <p:cNvSpPr>
            <a:spLocks noChangeArrowheads="1"/>
          </p:cNvSpPr>
          <p:nvPr/>
        </p:nvSpPr>
        <p:spPr bwMode="auto">
          <a:xfrm>
            <a:off x="5638800" y="2524126"/>
            <a:ext cx="4495800" cy="39528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nSpc>
                <a:spcPct val="120000"/>
              </a:lnSpc>
              <a:spcBef>
                <a:spcPct val="10000"/>
              </a:spcBef>
              <a:buFontTx/>
              <a:buAutoNum type="alphaLcParenBoth"/>
            </a:pPr>
            <a:r>
              <a:rPr lang="en-US" altLang="en-US" sz="1700" b="0" dirty="0">
                <a:solidFill>
                  <a:schemeClr val="tx1"/>
                </a:solidFill>
                <a:latin typeface="Liberation Sans" panose="020B0604020202020204" pitchFamily="34" charset="0"/>
              </a:rPr>
              <a:t>Monthly and quarterly time periods.</a:t>
            </a:r>
          </a:p>
          <a:p>
            <a:pPr>
              <a:lnSpc>
                <a:spcPct val="120000"/>
              </a:lnSpc>
              <a:spcBef>
                <a:spcPct val="10000"/>
              </a:spcBef>
              <a:buFontTx/>
              <a:buAutoNum type="alphaLcParenBoth"/>
            </a:pPr>
            <a:r>
              <a:rPr lang="en-US" altLang="en-US" sz="1700" b="0" dirty="0">
                <a:solidFill>
                  <a:schemeClr val="tx1"/>
                </a:solidFill>
                <a:latin typeface="Liberation Sans" panose="020B0604020202020204" pitchFamily="34" charset="0"/>
              </a:rPr>
              <a:t>Efforts (expenses) should be matched with results (revenues).</a:t>
            </a:r>
          </a:p>
          <a:p>
            <a:pPr>
              <a:lnSpc>
                <a:spcPct val="120000"/>
              </a:lnSpc>
              <a:spcBef>
                <a:spcPct val="10000"/>
              </a:spcBef>
              <a:buFontTx/>
              <a:buAutoNum type="alphaLcParenBoth"/>
            </a:pPr>
            <a:r>
              <a:rPr lang="en-US" altLang="en-US" sz="1700" b="0" dirty="0">
                <a:solidFill>
                  <a:schemeClr val="tx1"/>
                </a:solidFill>
                <a:latin typeface="Liberation Sans" panose="020B0604020202020204" pitchFamily="34" charset="0"/>
              </a:rPr>
              <a:t>Accountants divide the economic life of a business into artificial time periods.</a:t>
            </a:r>
          </a:p>
          <a:p>
            <a:pPr>
              <a:lnSpc>
                <a:spcPct val="120000"/>
              </a:lnSpc>
              <a:spcBef>
                <a:spcPct val="10000"/>
              </a:spcBef>
              <a:buFontTx/>
              <a:buAutoNum type="alphaLcParenBoth"/>
            </a:pPr>
            <a:r>
              <a:rPr lang="en-US" altLang="en-US" sz="1700" b="0" dirty="0">
                <a:solidFill>
                  <a:schemeClr val="tx1"/>
                </a:solidFill>
                <a:latin typeface="Liberation Sans" panose="020B0604020202020204" pitchFamily="34" charset="0"/>
              </a:rPr>
              <a:t>Companies record revenues when they receive cash and record expenses when they pay out cash.</a:t>
            </a:r>
          </a:p>
          <a:p>
            <a:pPr>
              <a:lnSpc>
                <a:spcPct val="120000"/>
              </a:lnSpc>
              <a:spcBef>
                <a:spcPct val="10000"/>
              </a:spcBef>
              <a:buFontTx/>
              <a:buAutoNum type="alphaLcParenBoth"/>
            </a:pPr>
            <a:r>
              <a:rPr lang="en-US" altLang="en-US" sz="1700" b="0" dirty="0">
                <a:solidFill>
                  <a:schemeClr val="tx1"/>
                </a:solidFill>
                <a:latin typeface="Liberation Sans" panose="020B0604020202020204" pitchFamily="34" charset="0"/>
              </a:rPr>
              <a:t>An accounting time period that starts on January 1 and ends on December 31.</a:t>
            </a:r>
          </a:p>
          <a:p>
            <a:pPr>
              <a:lnSpc>
                <a:spcPct val="120000"/>
              </a:lnSpc>
              <a:spcBef>
                <a:spcPct val="10000"/>
              </a:spcBef>
              <a:buFontTx/>
              <a:buAutoNum type="alphaLcParenBoth"/>
            </a:pPr>
            <a:r>
              <a:rPr lang="en-US" altLang="en-US" sz="1700" b="0" dirty="0">
                <a:solidFill>
                  <a:schemeClr val="tx1"/>
                </a:solidFill>
                <a:latin typeface="Liberation Sans" panose="020B0604020202020204" pitchFamily="34" charset="0"/>
              </a:rPr>
              <a:t>Companies record transactions in the period in which the events occur.</a:t>
            </a:r>
          </a:p>
        </p:txBody>
      </p:sp>
      <p:sp>
        <p:nvSpPr>
          <p:cNvPr id="15364" name="Rectangle 4"/>
          <p:cNvSpPr>
            <a:spLocks noChangeArrowheads="1"/>
          </p:cNvSpPr>
          <p:nvPr/>
        </p:nvSpPr>
        <p:spPr bwMode="auto">
          <a:xfrm>
            <a:off x="2133600" y="1381126"/>
            <a:ext cx="8001000" cy="10255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nSpc>
                <a:spcPct val="120000"/>
              </a:lnSpc>
            </a:pPr>
            <a:r>
              <a:rPr lang="en-US" altLang="en-US" sz="1700" b="0" dirty="0">
                <a:solidFill>
                  <a:schemeClr val="tx1"/>
                </a:solidFill>
                <a:latin typeface="Liberation Sans" panose="020B0604020202020204" pitchFamily="34" charset="0"/>
              </a:rPr>
              <a:t>A list of concepts is provided in the left column below, with a description of the concept in the right column below. There are more descriptions provided than concepts. Match the description of the concept to the concept.</a:t>
            </a:r>
          </a:p>
        </p:txBody>
      </p:sp>
      <p:sp>
        <p:nvSpPr>
          <p:cNvPr id="158729" name="Oval 9"/>
          <p:cNvSpPr>
            <a:spLocks noChangeArrowheads="1"/>
          </p:cNvSpPr>
          <p:nvPr/>
        </p:nvSpPr>
        <p:spPr bwMode="auto">
          <a:xfrm>
            <a:off x="3962400" y="2971800"/>
            <a:ext cx="76200" cy="76200"/>
          </a:xfrm>
          <a:prstGeom prst="ellipse">
            <a:avLst/>
          </a:prstGeom>
          <a:solidFill>
            <a:srgbClr val="CC0000"/>
          </a:solidFill>
          <a:ln w="9525" algn="ctr">
            <a:solidFill>
              <a:schemeClr val="tx1"/>
            </a:solidFill>
            <a:round/>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488" tIns="44450" rIns="90488" bIns="4445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15370" name="Rectangle 10"/>
          <p:cNvSpPr>
            <a:spLocks noChangeArrowheads="1"/>
          </p:cNvSpPr>
          <p:nvPr/>
        </p:nvSpPr>
        <p:spPr bwMode="auto">
          <a:xfrm>
            <a:off x="2133600" y="2524125"/>
            <a:ext cx="3352800" cy="21018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85800" indent="-685800">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nSpc>
                <a:spcPct val="125000"/>
              </a:lnSpc>
              <a:spcBef>
                <a:spcPct val="50000"/>
              </a:spcBef>
            </a:pPr>
            <a:r>
              <a:rPr lang="en-US" altLang="en-US" sz="1700" b="0" dirty="0">
                <a:solidFill>
                  <a:schemeClr val="tx1"/>
                </a:solidFill>
                <a:latin typeface="Liberation Sans" panose="020B0604020202020204" pitchFamily="34" charset="0"/>
              </a:rPr>
              <a:t>1. ___ Accrual-basis accounting.</a:t>
            </a:r>
          </a:p>
          <a:p>
            <a:pPr>
              <a:lnSpc>
                <a:spcPct val="125000"/>
              </a:lnSpc>
              <a:spcBef>
                <a:spcPct val="50000"/>
              </a:spcBef>
            </a:pPr>
            <a:r>
              <a:rPr lang="en-US" altLang="en-US" sz="1700" b="0" dirty="0">
                <a:solidFill>
                  <a:schemeClr val="tx1"/>
                </a:solidFill>
                <a:latin typeface="Liberation Sans" panose="020B0604020202020204" pitchFamily="34" charset="0"/>
              </a:rPr>
              <a:t>2. ___	Calendar year.</a:t>
            </a:r>
          </a:p>
          <a:p>
            <a:pPr>
              <a:lnSpc>
                <a:spcPct val="125000"/>
              </a:lnSpc>
              <a:spcBef>
                <a:spcPct val="50000"/>
              </a:spcBef>
            </a:pPr>
            <a:r>
              <a:rPr lang="en-US" altLang="en-US" sz="1700" b="0" dirty="0">
                <a:solidFill>
                  <a:schemeClr val="tx1"/>
                </a:solidFill>
                <a:latin typeface="Liberation Sans" panose="020B0604020202020204" pitchFamily="34" charset="0"/>
              </a:rPr>
              <a:t>3. ___	Time period assumption.</a:t>
            </a:r>
          </a:p>
          <a:p>
            <a:pPr>
              <a:lnSpc>
                <a:spcPct val="125000"/>
              </a:lnSpc>
              <a:spcBef>
                <a:spcPct val="50000"/>
              </a:spcBef>
            </a:pPr>
            <a:r>
              <a:rPr lang="en-US" altLang="en-US" sz="1700" b="0" dirty="0">
                <a:solidFill>
                  <a:schemeClr val="tx1"/>
                </a:solidFill>
                <a:latin typeface="Liberation Sans" panose="020B0604020202020204" pitchFamily="34" charset="0"/>
              </a:rPr>
              <a:t>4. ___	Expense recognition principle.</a:t>
            </a:r>
          </a:p>
        </p:txBody>
      </p:sp>
      <p:sp>
        <p:nvSpPr>
          <p:cNvPr id="158738" name="Text Box 18"/>
          <p:cNvSpPr txBox="1">
            <a:spLocks noChangeArrowheads="1"/>
          </p:cNvSpPr>
          <p:nvPr/>
        </p:nvSpPr>
        <p:spPr bwMode="auto">
          <a:xfrm>
            <a:off x="2438400" y="2524125"/>
            <a:ext cx="381000" cy="381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85800" indent="-685800">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gn="ctr"/>
            <a:r>
              <a:rPr lang="en-US" altLang="en-US" sz="1900" dirty="0">
                <a:solidFill>
                  <a:srgbClr val="800000"/>
                </a:solidFill>
                <a:latin typeface="Liberation Sans" panose="020B0604020202020204" pitchFamily="34" charset="0"/>
              </a:rPr>
              <a:t>f</a:t>
            </a:r>
          </a:p>
        </p:txBody>
      </p:sp>
      <p:sp>
        <p:nvSpPr>
          <p:cNvPr id="158739" name="Text Box 19"/>
          <p:cNvSpPr txBox="1">
            <a:spLocks noChangeArrowheads="1"/>
          </p:cNvSpPr>
          <p:nvPr/>
        </p:nvSpPr>
        <p:spPr bwMode="auto">
          <a:xfrm>
            <a:off x="2438400" y="2981325"/>
            <a:ext cx="381000" cy="381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85800" indent="-685800">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gn="ctr"/>
            <a:r>
              <a:rPr lang="en-US" altLang="en-US" sz="1900" dirty="0">
                <a:solidFill>
                  <a:srgbClr val="800000"/>
                </a:solidFill>
                <a:latin typeface="Liberation Sans" panose="020B0604020202020204" pitchFamily="34" charset="0"/>
              </a:rPr>
              <a:t>e</a:t>
            </a:r>
          </a:p>
        </p:txBody>
      </p:sp>
      <p:sp>
        <p:nvSpPr>
          <p:cNvPr id="158740" name="Text Box 20"/>
          <p:cNvSpPr txBox="1">
            <a:spLocks noChangeArrowheads="1"/>
          </p:cNvSpPr>
          <p:nvPr/>
        </p:nvSpPr>
        <p:spPr bwMode="auto">
          <a:xfrm>
            <a:off x="2438400" y="3438525"/>
            <a:ext cx="381000" cy="381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85800" indent="-685800">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gn="ctr"/>
            <a:r>
              <a:rPr lang="en-US" altLang="en-US" sz="1900" dirty="0">
                <a:solidFill>
                  <a:srgbClr val="800000"/>
                </a:solidFill>
                <a:latin typeface="Liberation Sans" panose="020B0604020202020204" pitchFamily="34" charset="0"/>
              </a:rPr>
              <a:t>c</a:t>
            </a:r>
          </a:p>
        </p:txBody>
      </p:sp>
      <p:sp>
        <p:nvSpPr>
          <p:cNvPr id="158741" name="Text Box 21"/>
          <p:cNvSpPr txBox="1">
            <a:spLocks noChangeArrowheads="1"/>
          </p:cNvSpPr>
          <p:nvPr/>
        </p:nvSpPr>
        <p:spPr bwMode="auto">
          <a:xfrm>
            <a:off x="2438400" y="3895725"/>
            <a:ext cx="381000" cy="381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85800" indent="-685800">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gn="ctr"/>
            <a:r>
              <a:rPr lang="en-US" altLang="en-US" sz="1900" dirty="0">
                <a:solidFill>
                  <a:srgbClr val="800000"/>
                </a:solidFill>
                <a:latin typeface="Liberation Sans" panose="020B0604020202020204" pitchFamily="34" charset="0"/>
              </a:rPr>
              <a:t>b</a:t>
            </a:r>
          </a:p>
        </p:txBody>
      </p:sp>
      <p:sp>
        <p:nvSpPr>
          <p:cNvPr id="15" name="Line 29"/>
          <p:cNvSpPr>
            <a:spLocks noChangeShapeType="1"/>
          </p:cNvSpPr>
          <p:nvPr/>
        </p:nvSpPr>
        <p:spPr bwMode="auto">
          <a:xfrm>
            <a:off x="1814286" y="784325"/>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572"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17"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286" y="357189"/>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8"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4858"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9"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7473" y="571502"/>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0" name="TextBox 19"/>
          <p:cNvSpPr txBox="1"/>
          <p:nvPr/>
        </p:nvSpPr>
        <p:spPr>
          <a:xfrm>
            <a:off x="3991429" y="428625"/>
            <a:ext cx="435429" cy="641336"/>
          </a:xfrm>
          <a:prstGeom prst="rect">
            <a:avLst/>
          </a:prstGeom>
          <a:noFill/>
        </p:spPr>
        <p:txBody>
          <a:bodyPr wrap="square" lIns="86493" tIns="43247" rIns="86493" bIns="43247" rtlCol="0">
            <a:spAutoFit/>
          </a:bodyPr>
          <a:lstStyle/>
          <a:p>
            <a:r>
              <a:rPr lang="en-US" sz="3600" b="1" dirty="0">
                <a:solidFill>
                  <a:srgbClr val="FF9900"/>
                </a:solidFill>
                <a:latin typeface="Liberation Sans" panose="020B0604020202020204" pitchFamily="34" charset="0"/>
              </a:rPr>
              <a:t>1</a:t>
            </a:r>
          </a:p>
        </p:txBody>
      </p:sp>
      <p:sp>
        <p:nvSpPr>
          <p:cNvPr id="21" name="TextBox 20"/>
          <p:cNvSpPr txBox="1"/>
          <p:nvPr/>
        </p:nvSpPr>
        <p:spPr>
          <a:xfrm>
            <a:off x="4862287" y="508910"/>
            <a:ext cx="5515429" cy="519373"/>
          </a:xfrm>
          <a:prstGeom prst="rect">
            <a:avLst/>
          </a:prstGeom>
          <a:noFill/>
        </p:spPr>
        <p:txBody>
          <a:bodyPr wrap="square" lIns="86493" tIns="43247" rIns="86493" bIns="43247" rtlCol="0">
            <a:spAutoFit/>
          </a:bodyPr>
          <a:lstStyle/>
          <a:p>
            <a:pPr marL="111125"/>
            <a:r>
              <a:rPr lang="en-US" sz="2800" b="1" dirty="0">
                <a:solidFill>
                  <a:schemeClr val="bg1"/>
                </a:solidFill>
                <a:latin typeface="Liberation Sans" panose="020B0604020202020204" pitchFamily="34" charset="0"/>
              </a:rPr>
              <a:t>Timing Concepts</a:t>
            </a:r>
          </a:p>
        </p:txBody>
      </p:sp>
      <p:pic>
        <p:nvPicPr>
          <p:cNvPr id="2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1981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5" name="TextBox 24"/>
          <p:cNvSpPr txBox="1"/>
          <p:nvPr/>
        </p:nvSpPr>
        <p:spPr>
          <a:xfrm>
            <a:off x="1828800" y="381000"/>
            <a:ext cx="2209800" cy="738664"/>
          </a:xfrm>
          <a:prstGeom prst="rect">
            <a:avLst/>
          </a:prstGeom>
          <a:noFill/>
        </p:spPr>
        <p:txBody>
          <a:bodyPr wrap="square" rtlCol="0">
            <a:spAutoFit/>
          </a:bodyPr>
          <a:lstStyle/>
          <a:p>
            <a:r>
              <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rPr>
              <a:t>DO IT!</a:t>
            </a:r>
          </a:p>
        </p:txBody>
      </p:sp>
      <p:sp>
        <p:nvSpPr>
          <p:cNvPr id="22"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1</a:t>
            </a:r>
          </a:p>
        </p:txBody>
      </p:sp>
    </p:spTree>
    <p:extLst>
      <p:ext uri="{BB962C8B-B14F-4D97-AF65-F5344CB8AC3E}">
        <p14:creationId xmlns:p14="http://schemas.microsoft.com/office/powerpoint/2010/main" val="6787614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8738"/>
                                        </p:tgtEl>
                                        <p:attrNameLst>
                                          <p:attrName>style.visibility</p:attrName>
                                        </p:attrNameLst>
                                      </p:cBhvr>
                                      <p:to>
                                        <p:strVal val="visible"/>
                                      </p:to>
                                    </p:set>
                                    <p:animEffect transition="in" filter="wipe(left)">
                                      <p:cBhvr>
                                        <p:cTn id="7" dur="500"/>
                                        <p:tgtEl>
                                          <p:spTgt spid="1587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8739"/>
                                        </p:tgtEl>
                                        <p:attrNameLst>
                                          <p:attrName>style.visibility</p:attrName>
                                        </p:attrNameLst>
                                      </p:cBhvr>
                                      <p:to>
                                        <p:strVal val="visible"/>
                                      </p:to>
                                    </p:set>
                                    <p:animEffect transition="in" filter="wipe(left)">
                                      <p:cBhvr>
                                        <p:cTn id="12" dur="500"/>
                                        <p:tgtEl>
                                          <p:spTgt spid="1587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8740"/>
                                        </p:tgtEl>
                                        <p:attrNameLst>
                                          <p:attrName>style.visibility</p:attrName>
                                        </p:attrNameLst>
                                      </p:cBhvr>
                                      <p:to>
                                        <p:strVal val="visible"/>
                                      </p:to>
                                    </p:set>
                                    <p:animEffect transition="in" filter="wipe(left)">
                                      <p:cBhvr>
                                        <p:cTn id="17" dur="500"/>
                                        <p:tgtEl>
                                          <p:spTgt spid="1587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8741"/>
                                        </p:tgtEl>
                                        <p:attrNameLst>
                                          <p:attrName>style.visibility</p:attrName>
                                        </p:attrNameLst>
                                      </p:cBhvr>
                                      <p:to>
                                        <p:strVal val="visible"/>
                                      </p:to>
                                    </p:set>
                                    <p:animEffect transition="in" filter="wipe(left)">
                                      <p:cBhvr>
                                        <p:cTn id="22" dur="500"/>
                                        <p:tgtEl>
                                          <p:spTgt spid="158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38" grpId="0"/>
      <p:bldP spid="158739" grpId="0"/>
      <p:bldP spid="158740" grpId="0"/>
      <p:bldP spid="15874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2133600" y="1524001"/>
            <a:ext cx="8171543" cy="2766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square">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spcBef>
                <a:spcPct val="70000"/>
              </a:spcBef>
              <a:buSzPct val="80000"/>
            </a:pPr>
            <a:r>
              <a:rPr lang="en-US" altLang="en-US" sz="2400" dirty="0">
                <a:solidFill>
                  <a:schemeClr val="tx1"/>
                </a:solidFill>
                <a:latin typeface="Liberation Sans" panose="020B0604020202020204" pitchFamily="34" charset="0"/>
              </a:rPr>
              <a:t>Deferrals </a:t>
            </a:r>
            <a:r>
              <a:rPr lang="en-US" altLang="en-US" sz="2400" b="0" dirty="0">
                <a:solidFill>
                  <a:schemeClr val="tx1"/>
                </a:solidFill>
                <a:latin typeface="Liberation Sans" panose="020B0604020202020204" pitchFamily="34" charset="0"/>
              </a:rPr>
              <a:t>are </a:t>
            </a:r>
            <a:r>
              <a:rPr lang="en-US" altLang="en-US" sz="2400" dirty="0">
                <a:solidFill>
                  <a:schemeClr val="tx1"/>
                </a:solidFill>
                <a:latin typeface="Liberation Sans" panose="020B0604020202020204" pitchFamily="34" charset="0"/>
              </a:rPr>
              <a:t>expenses or revenues</a:t>
            </a:r>
            <a:r>
              <a:rPr lang="en-US" altLang="en-US" sz="2400" b="0" dirty="0">
                <a:solidFill>
                  <a:schemeClr val="tx1"/>
                </a:solidFill>
                <a:latin typeface="Liberation Sans" panose="020B0604020202020204" pitchFamily="34" charset="0"/>
              </a:rPr>
              <a:t> that are recognized at a date later than the point when cash was originally exchanged.  There are </a:t>
            </a:r>
            <a:r>
              <a:rPr lang="en-US" altLang="en-US" sz="2400" dirty="0">
                <a:solidFill>
                  <a:schemeClr val="tx1"/>
                </a:solidFill>
                <a:latin typeface="Liberation Sans" panose="020B0604020202020204" pitchFamily="34" charset="0"/>
              </a:rPr>
              <a:t>two types</a:t>
            </a:r>
            <a:r>
              <a:rPr lang="en-US" altLang="en-US" sz="2400" b="0" dirty="0">
                <a:solidFill>
                  <a:schemeClr val="tx1"/>
                </a:solidFill>
                <a:latin typeface="Liberation Sans" panose="020B0604020202020204" pitchFamily="34" charset="0"/>
              </a:rPr>
              <a:t>:</a:t>
            </a:r>
          </a:p>
          <a:p>
            <a:pPr lvl="1">
              <a:lnSpc>
                <a:spcPct val="120000"/>
              </a:lnSpc>
              <a:spcBef>
                <a:spcPct val="70000"/>
              </a:spcBef>
              <a:buClr>
                <a:srgbClr val="800000"/>
              </a:buClr>
              <a:buSzPct val="80000"/>
              <a:buFont typeface="Wingdings" panose="05000000000000000000" pitchFamily="2" charset="2"/>
              <a:buChar char="u"/>
            </a:pPr>
            <a:r>
              <a:rPr lang="en-US" altLang="en-US" sz="2300" dirty="0">
                <a:solidFill>
                  <a:schemeClr val="tx1"/>
                </a:solidFill>
                <a:latin typeface="Liberation Sans" panose="020B0604020202020204" pitchFamily="34" charset="0"/>
              </a:rPr>
              <a:t>Prepaid expenses</a:t>
            </a:r>
            <a:endParaRPr lang="en-US" altLang="en-US" sz="2300" i="1" dirty="0">
              <a:solidFill>
                <a:srgbClr val="CC0000"/>
              </a:solidFill>
              <a:latin typeface="Liberation Sans" panose="020B0604020202020204" pitchFamily="34" charset="0"/>
            </a:endParaRPr>
          </a:p>
          <a:p>
            <a:pPr lvl="1">
              <a:lnSpc>
                <a:spcPct val="120000"/>
              </a:lnSpc>
              <a:spcBef>
                <a:spcPct val="70000"/>
              </a:spcBef>
              <a:buClr>
                <a:srgbClr val="800000"/>
              </a:buClr>
              <a:buSzPct val="80000"/>
              <a:buFont typeface="Wingdings" panose="05000000000000000000" pitchFamily="2" charset="2"/>
              <a:buChar char="u"/>
            </a:pPr>
            <a:r>
              <a:rPr lang="en-US" altLang="en-US" sz="2300" dirty="0">
                <a:solidFill>
                  <a:schemeClr val="tx1"/>
                </a:solidFill>
                <a:latin typeface="Liberation Sans" panose="020B0604020202020204" pitchFamily="34" charset="0"/>
              </a:rPr>
              <a:t>Unearned revenues</a:t>
            </a:r>
            <a:endParaRPr lang="en-US" altLang="en-US" sz="2300" b="0" dirty="0">
              <a:solidFill>
                <a:schemeClr val="tx1"/>
              </a:solidFill>
              <a:latin typeface="Liberation Sans" panose="020B0604020202020204" pitchFamily="34" charset="0"/>
            </a:endParaRPr>
          </a:p>
        </p:txBody>
      </p:sp>
      <p:sp>
        <p:nvSpPr>
          <p:cNvPr id="7" name="Rectangle 6"/>
          <p:cNvSpPr>
            <a:spLocks noChangeArrowheads="1"/>
          </p:cNvSpPr>
          <p:nvPr/>
        </p:nvSpPr>
        <p:spPr bwMode="auto">
          <a:xfrm>
            <a:off x="1814286" y="405765"/>
            <a:ext cx="2249714" cy="677228"/>
          </a:xfrm>
          <a:prstGeom prst="rect">
            <a:avLst/>
          </a:prstGeom>
          <a:solidFill>
            <a:schemeClr val="bg1">
              <a:lumMod val="85000"/>
            </a:schemeClr>
          </a:solidFill>
          <a:ln>
            <a:noFill/>
          </a:ln>
          <a:effectLst/>
        </p:spPr>
        <p:txBody>
          <a:bodyPr wrap="none" lIns="86493" tIns="43247" rIns="86493" bIns="43247" anchor="ctr"/>
          <a:lstStyle/>
          <a:p>
            <a:r>
              <a:rPr lang="en-US" altLang="en-US" sz="1700" dirty="0">
                <a:latin typeface="Liberation Sans" panose="020B0604020202020204" pitchFamily="34" charset="0"/>
              </a:rPr>
              <a:t>LEARNING</a:t>
            </a:r>
          </a:p>
          <a:p>
            <a:r>
              <a:rPr lang="en-US" altLang="en-US" sz="1700" dirty="0">
                <a:latin typeface="Liberation Sans" panose="020B0604020202020204" pitchFamily="34" charset="0"/>
              </a:rPr>
              <a:t>OBJECTIVE</a:t>
            </a:r>
          </a:p>
        </p:txBody>
      </p:sp>
      <p:sp>
        <p:nvSpPr>
          <p:cNvPr id="8" name="Rectangle 5"/>
          <p:cNvSpPr>
            <a:spLocks noChangeArrowheads="1"/>
          </p:cNvSpPr>
          <p:nvPr/>
        </p:nvSpPr>
        <p:spPr bwMode="auto">
          <a:xfrm>
            <a:off x="4064001" y="274320"/>
            <a:ext cx="6241143" cy="928688"/>
          </a:xfrm>
          <a:prstGeom prst="rect">
            <a:avLst/>
          </a:prstGeom>
          <a:solidFill>
            <a:srgbClr val="0027A4"/>
          </a:solidFill>
          <a:ln>
            <a:noFill/>
          </a:ln>
          <a:effectLst/>
        </p:spPr>
        <p:txBody>
          <a:bodyPr wrap="square" tIns="27432" anchor="ctr"/>
          <a:lstStyle/>
          <a:p>
            <a:pPr marL="117475"/>
            <a:r>
              <a:rPr lang="en-US" sz="2500" dirty="0">
                <a:solidFill>
                  <a:srgbClr val="FFFF00"/>
                </a:solidFill>
                <a:latin typeface="Liberation Sans" panose="020B0604020202020204" pitchFamily="34" charset="0"/>
              </a:rPr>
              <a:t>Prepare adjusting entries for deferrals.</a:t>
            </a:r>
          </a:p>
        </p:txBody>
      </p:sp>
      <p:sp>
        <p:nvSpPr>
          <p:cNvPr id="9" name="Oval 8"/>
          <p:cNvSpPr/>
          <p:nvPr/>
        </p:nvSpPr>
        <p:spPr bwMode="auto">
          <a:xfrm>
            <a:off x="3396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86493" tIns="0" rIns="86493" bIns="43247" numCol="1" spcCol="0" rtlCol="0" fromWordArt="0" anchor="ctr" anchorCtr="0" forceAA="0" compatLnSpc="1">
            <a:noAutofit/>
          </a:bodyPr>
          <a:lstStyle/>
          <a:p>
            <a:pPr algn="ctr"/>
            <a:r>
              <a:rPr lang="en-US" sz="2400" dirty="0">
                <a:latin typeface="Liberation Sans" panose="020B0604020202020204" pitchFamily="34" charset="0"/>
              </a:rPr>
              <a:t>2</a:t>
            </a:r>
          </a:p>
        </p:txBody>
      </p:sp>
      <p:sp>
        <p:nvSpPr>
          <p:cNvPr id="6"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3469411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4294967295"/>
          </p:nvPr>
        </p:nvSpPr>
        <p:spPr>
          <a:xfrm>
            <a:off x="2057400" y="1295400"/>
            <a:ext cx="8077200" cy="9144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marL="0" indent="0">
              <a:lnSpc>
                <a:spcPct val="110000"/>
              </a:lnSpc>
              <a:buClr>
                <a:srgbClr val="006666"/>
              </a:buClr>
              <a:buNone/>
            </a:pPr>
            <a:r>
              <a:rPr lang="en-US" altLang="en-US" sz="2300" dirty="0">
                <a:latin typeface="Liberation Sans" panose="020B0604020202020204" pitchFamily="34" charset="0"/>
              </a:rPr>
              <a:t>Payment of cash, that is recorded as an asset to show   the service or benefit the company will receive in the future.</a:t>
            </a:r>
          </a:p>
        </p:txBody>
      </p:sp>
      <p:sp>
        <p:nvSpPr>
          <p:cNvPr id="21507" name="Rectangle 6"/>
          <p:cNvSpPr>
            <a:spLocks noChangeArrowheads="1"/>
          </p:cNvSpPr>
          <p:nvPr/>
        </p:nvSpPr>
        <p:spPr bwMode="auto">
          <a:xfrm>
            <a:off x="2286000" y="4223028"/>
            <a:ext cx="2438400" cy="141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342900" indent="-342900">
              <a:defRPr sz="2800" b="1">
                <a:solidFill>
                  <a:schemeClr val="bg1"/>
                </a:solidFill>
                <a:latin typeface="Arial" panose="020B0604020202020204" pitchFamily="34" charset="0"/>
              </a:defRPr>
            </a:lvl1pPr>
            <a:lvl2pPr marL="5715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1">
              <a:spcBef>
                <a:spcPts val="1200"/>
              </a:spcBef>
              <a:buClr>
                <a:srgbClr val="800000"/>
              </a:buClr>
              <a:buSzPct val="80000"/>
              <a:buFont typeface="Wingdings" panose="05000000000000000000" pitchFamily="2" charset="2"/>
              <a:buChar char="u"/>
            </a:pPr>
            <a:r>
              <a:rPr lang="en-US" altLang="en-US" sz="2200" b="0" dirty="0">
                <a:solidFill>
                  <a:srgbClr val="00B050"/>
                </a:solidFill>
                <a:latin typeface="Liberation Sans" panose="020B0604020202020204" pitchFamily="34" charset="0"/>
              </a:rPr>
              <a:t>insurance</a:t>
            </a:r>
          </a:p>
          <a:p>
            <a:pPr lvl="1">
              <a:spcBef>
                <a:spcPts val="1200"/>
              </a:spcBef>
              <a:buClr>
                <a:srgbClr val="800000"/>
              </a:buClr>
              <a:buSzPct val="80000"/>
              <a:buFont typeface="Wingdings" panose="05000000000000000000" pitchFamily="2" charset="2"/>
              <a:buChar char="u"/>
            </a:pPr>
            <a:r>
              <a:rPr lang="en-US" altLang="en-US" sz="2200" b="0" dirty="0">
                <a:solidFill>
                  <a:srgbClr val="00B050"/>
                </a:solidFill>
                <a:latin typeface="Liberation Sans" panose="020B0604020202020204" pitchFamily="34" charset="0"/>
              </a:rPr>
              <a:t>supplies</a:t>
            </a:r>
          </a:p>
          <a:p>
            <a:pPr lvl="1">
              <a:spcBef>
                <a:spcPts val="1200"/>
              </a:spcBef>
              <a:buClr>
                <a:srgbClr val="800000"/>
              </a:buClr>
              <a:buSzPct val="80000"/>
              <a:buFont typeface="Wingdings" panose="05000000000000000000" pitchFamily="2" charset="2"/>
              <a:buChar char="u"/>
            </a:pPr>
            <a:r>
              <a:rPr lang="en-US" altLang="en-US" sz="2200" b="0" dirty="0">
                <a:solidFill>
                  <a:srgbClr val="00B050"/>
                </a:solidFill>
                <a:latin typeface="Liberation Sans" panose="020B0604020202020204" pitchFamily="34" charset="0"/>
              </a:rPr>
              <a:t>advertising</a:t>
            </a:r>
          </a:p>
        </p:txBody>
      </p:sp>
      <p:sp>
        <p:nvSpPr>
          <p:cNvPr id="21508" name="Text Box 8"/>
          <p:cNvSpPr txBox="1">
            <a:spLocks noChangeArrowheads="1"/>
          </p:cNvSpPr>
          <p:nvPr/>
        </p:nvSpPr>
        <p:spPr bwMode="auto">
          <a:xfrm>
            <a:off x="2590800" y="2862541"/>
            <a:ext cx="2438400" cy="492443"/>
          </a:xfrm>
          <a:prstGeom prst="rect">
            <a:avLst/>
          </a:prstGeom>
          <a:solidFill>
            <a:srgbClr val="FFFF99"/>
          </a:solidFill>
          <a:ln w="28575">
            <a:solidFill>
              <a:schemeClr val="tx1"/>
            </a:solidFill>
            <a:miter lim="800000"/>
          </a:ln>
          <a:effectLst>
            <a:innerShdw blurRad="114300">
              <a:prstClr val="black"/>
            </a:innerShdw>
          </a:effectLst>
        </p:spPr>
        <p:txBody>
          <a:bodyPr bIns="91440">
            <a:spAutoFit/>
          </a:bodyPr>
          <a:lstStyle>
            <a:defPPr>
              <a:defRPr lang="en-US"/>
            </a:defPPr>
            <a:lvl1pPr marL="457200" indent="-457200" algn="ctr">
              <a:defRPr sz="2300">
                <a:solidFill>
                  <a:schemeClr val="tx1"/>
                </a:solidFill>
                <a:latin typeface="Liberation Sans" panose="020B0604020202020204" pitchFamily="34" charset="0"/>
                <a:cs typeface="Arial" panose="020B060402020202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en-US" dirty="0"/>
              <a:t>Cash Payment</a:t>
            </a:r>
          </a:p>
        </p:txBody>
      </p:sp>
      <p:sp>
        <p:nvSpPr>
          <p:cNvPr id="21509" name="Text Box 9"/>
          <p:cNvSpPr txBox="1">
            <a:spLocks noChangeArrowheads="1"/>
          </p:cNvSpPr>
          <p:nvPr/>
        </p:nvSpPr>
        <p:spPr bwMode="auto">
          <a:xfrm>
            <a:off x="6694488" y="2862541"/>
            <a:ext cx="3135312" cy="492443"/>
          </a:xfrm>
          <a:prstGeom prst="rect">
            <a:avLst/>
          </a:prstGeom>
          <a:solidFill>
            <a:srgbClr val="FFFF99"/>
          </a:solidFill>
          <a:ln w="28575">
            <a:solidFill>
              <a:schemeClr val="tx1"/>
            </a:solidFill>
            <a:miter lim="800000"/>
          </a:ln>
          <a:effectLst>
            <a:innerShdw blurRad="114300">
              <a:prstClr val="black"/>
            </a:innerShdw>
          </a:effectLst>
        </p:spPr>
        <p:txBody>
          <a:bodyPr bIns="91440">
            <a:spAutoFit/>
          </a:bodyPr>
          <a:lstStyle>
            <a:defPPr>
              <a:defRPr lang="en-US"/>
            </a:defPPr>
            <a:lvl1pPr marL="457200" indent="-457200" algn="ctr">
              <a:defRPr sz="2300">
                <a:solidFill>
                  <a:schemeClr val="tx1"/>
                </a:solidFill>
                <a:latin typeface="Liberation Sans" panose="020B0604020202020204" pitchFamily="34" charset="0"/>
                <a:cs typeface="Arial" panose="020B060402020202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en-US" dirty="0"/>
              <a:t>Expense Recorded</a:t>
            </a:r>
          </a:p>
        </p:txBody>
      </p:sp>
      <p:sp>
        <p:nvSpPr>
          <p:cNvPr id="21510" name="Text Box 10"/>
          <p:cNvSpPr txBox="1">
            <a:spLocks noChangeArrowheads="1"/>
          </p:cNvSpPr>
          <p:nvPr/>
        </p:nvSpPr>
        <p:spPr bwMode="auto">
          <a:xfrm>
            <a:off x="4800600" y="2862541"/>
            <a:ext cx="21336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indent="-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spcBef>
                <a:spcPct val="50000"/>
              </a:spcBef>
            </a:pPr>
            <a:r>
              <a:rPr lang="en-US" altLang="en-US" sz="2300" dirty="0">
                <a:solidFill>
                  <a:srgbClr val="800000"/>
                </a:solidFill>
                <a:latin typeface="Liberation Sans" panose="020B0604020202020204" pitchFamily="34" charset="0"/>
                <a:cs typeface="Arial" panose="020B0604020202020204" pitchFamily="34" charset="0"/>
              </a:rPr>
              <a:t>BEFORE</a:t>
            </a:r>
          </a:p>
        </p:txBody>
      </p:sp>
      <p:sp>
        <p:nvSpPr>
          <p:cNvPr id="21511" name="Rectangle 12"/>
          <p:cNvSpPr>
            <a:spLocks noChangeArrowheads="1"/>
          </p:cNvSpPr>
          <p:nvPr/>
        </p:nvSpPr>
        <p:spPr bwMode="auto">
          <a:xfrm>
            <a:off x="4876800" y="4202390"/>
            <a:ext cx="2438400" cy="14157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sz="2800" b="1">
                <a:solidFill>
                  <a:schemeClr val="bg1"/>
                </a:solidFill>
                <a:latin typeface="Arial" panose="020B0604020202020204" pitchFamily="34" charset="0"/>
              </a:defRPr>
            </a:lvl1pPr>
            <a:lvl2pPr marL="5715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1">
              <a:spcBef>
                <a:spcPts val="1200"/>
              </a:spcBef>
              <a:buClr>
                <a:srgbClr val="800000"/>
              </a:buClr>
              <a:buSzPct val="80000"/>
              <a:buFont typeface="Wingdings" panose="05000000000000000000" pitchFamily="2" charset="2"/>
              <a:buChar char="u"/>
            </a:pPr>
            <a:r>
              <a:rPr lang="en-US" altLang="en-US" sz="2200" b="0" dirty="0">
                <a:solidFill>
                  <a:srgbClr val="00B050"/>
                </a:solidFill>
                <a:latin typeface="Liberation Sans" panose="020B0604020202020204" pitchFamily="34" charset="0"/>
              </a:rPr>
              <a:t>rent</a:t>
            </a:r>
          </a:p>
          <a:p>
            <a:pPr lvl="1">
              <a:spcBef>
                <a:spcPts val="1200"/>
              </a:spcBef>
              <a:buClr>
                <a:srgbClr val="800000"/>
              </a:buClr>
              <a:buSzPct val="80000"/>
              <a:buFont typeface="Wingdings" panose="05000000000000000000" pitchFamily="2" charset="2"/>
              <a:buChar char="u"/>
            </a:pPr>
            <a:r>
              <a:rPr lang="en-US" altLang="en-US" sz="2200" b="0" dirty="0">
                <a:solidFill>
                  <a:srgbClr val="00B050"/>
                </a:solidFill>
                <a:latin typeface="Liberation Sans" panose="020B0604020202020204" pitchFamily="34" charset="0"/>
              </a:rPr>
              <a:t>equipment</a:t>
            </a:r>
          </a:p>
          <a:p>
            <a:pPr lvl="1">
              <a:spcBef>
                <a:spcPts val="1200"/>
              </a:spcBef>
              <a:buClr>
                <a:srgbClr val="800000"/>
              </a:buClr>
              <a:buSzPct val="80000"/>
              <a:buFont typeface="Wingdings" panose="05000000000000000000" pitchFamily="2" charset="2"/>
              <a:buChar char="u"/>
            </a:pPr>
            <a:r>
              <a:rPr lang="en-US" altLang="en-US" sz="2200" b="0" dirty="0">
                <a:solidFill>
                  <a:srgbClr val="00B050"/>
                </a:solidFill>
                <a:latin typeface="Liberation Sans" panose="020B0604020202020204" pitchFamily="34" charset="0"/>
              </a:rPr>
              <a:t>buildings</a:t>
            </a:r>
          </a:p>
        </p:txBody>
      </p:sp>
      <p:sp>
        <p:nvSpPr>
          <p:cNvPr id="21512" name="Rectangle 13"/>
          <p:cNvSpPr>
            <a:spLocks noChangeArrowheads="1"/>
          </p:cNvSpPr>
          <p:nvPr/>
        </p:nvSpPr>
        <p:spPr bwMode="auto">
          <a:xfrm>
            <a:off x="2133600" y="3700740"/>
            <a:ext cx="632460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indent="-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Aft>
                <a:spcPct val="20000"/>
              </a:spcAft>
              <a:buSzPct val="80000"/>
            </a:pPr>
            <a:r>
              <a:rPr lang="en-US" altLang="en-US" sz="2300" dirty="0">
                <a:solidFill>
                  <a:srgbClr val="00B050"/>
                </a:solidFill>
                <a:latin typeface="Liberation Sans" panose="020B0604020202020204" pitchFamily="34" charset="0"/>
              </a:rPr>
              <a:t>Prepayments</a:t>
            </a:r>
            <a:r>
              <a:rPr lang="en-US" altLang="en-US" sz="2300" b="0" dirty="0">
                <a:solidFill>
                  <a:srgbClr val="00B050"/>
                </a:solidFill>
                <a:latin typeface="Liberation Sans" panose="020B0604020202020204" pitchFamily="34" charset="0"/>
              </a:rPr>
              <a:t> often occur in regard to:</a:t>
            </a:r>
          </a:p>
        </p:txBody>
      </p:sp>
      <p:sp>
        <p:nvSpPr>
          <p:cNvPr id="20491" name="Line 12"/>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3"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Prepaid Expenses</a:t>
            </a:r>
          </a:p>
        </p:txBody>
      </p:sp>
      <p:sp>
        <p:nvSpPr>
          <p:cNvPr id="11"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1113996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050"/>
          <p:cNvSpPr txBox="1">
            <a:spLocks noChangeArrowheads="1"/>
          </p:cNvSpPr>
          <p:nvPr/>
        </p:nvSpPr>
        <p:spPr bwMode="auto">
          <a:xfrm>
            <a:off x="2133600" y="1295400"/>
            <a:ext cx="8001000" cy="2322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marL="685800" indent="-457200">
              <a:defRPr sz="2800" b="1">
                <a:solidFill>
                  <a:schemeClr val="bg1"/>
                </a:solidFill>
                <a:latin typeface="Arial" panose="020B0604020202020204" pitchFamily="34" charset="0"/>
              </a:defRPr>
            </a:lvl1pPr>
            <a:lvl2pPr marL="1314450" indent="-4000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spcBef>
                <a:spcPct val="50000"/>
              </a:spcBef>
              <a:buClr>
                <a:srgbClr val="800000"/>
              </a:buClr>
              <a:buSzPct val="80000"/>
              <a:buFont typeface="Wingdings" panose="05000000000000000000" pitchFamily="2" charset="2"/>
              <a:buChar char="u"/>
            </a:pPr>
            <a:r>
              <a:rPr lang="en-US" altLang="en-US" sz="2300" b="0" dirty="0">
                <a:solidFill>
                  <a:schemeClr val="tx1"/>
                </a:solidFill>
                <a:latin typeface="Liberation Sans" panose="020B0604020202020204" pitchFamily="34" charset="0"/>
              </a:rPr>
              <a:t>Expire either with the passage of time or through use.</a:t>
            </a:r>
          </a:p>
          <a:p>
            <a:pPr>
              <a:lnSpc>
                <a:spcPct val="120000"/>
              </a:lnSpc>
              <a:spcBef>
                <a:spcPct val="50000"/>
              </a:spcBef>
              <a:buClr>
                <a:srgbClr val="800000"/>
              </a:buClr>
              <a:buSzPct val="80000"/>
              <a:buFont typeface="Wingdings" panose="05000000000000000000" pitchFamily="2" charset="2"/>
              <a:buChar char="u"/>
            </a:pPr>
            <a:r>
              <a:rPr lang="en-US" altLang="en-US" sz="2300" b="0" dirty="0">
                <a:solidFill>
                  <a:schemeClr val="tx1"/>
                </a:solidFill>
                <a:latin typeface="Liberation Sans" panose="020B0604020202020204" pitchFamily="34" charset="0"/>
              </a:rPr>
              <a:t>Adjusting entry: </a:t>
            </a:r>
          </a:p>
          <a:p>
            <a:pPr lvl="1">
              <a:lnSpc>
                <a:spcPct val="120000"/>
              </a:lnSpc>
              <a:spcBef>
                <a:spcPct val="50000"/>
              </a:spcBef>
              <a:buClr>
                <a:srgbClr val="800000"/>
              </a:buClr>
              <a:buSzPct val="80000"/>
              <a:buFont typeface="Arial" panose="020B0604020202020204" pitchFamily="34" charset="0"/>
              <a:buChar char="►"/>
            </a:pPr>
            <a:r>
              <a:rPr lang="en-US" altLang="en-US" sz="2200" dirty="0">
                <a:solidFill>
                  <a:schemeClr val="tx1"/>
                </a:solidFill>
                <a:latin typeface="Liberation Sans" panose="020B0604020202020204" pitchFamily="34" charset="0"/>
              </a:rPr>
              <a:t>Increase</a:t>
            </a:r>
            <a:r>
              <a:rPr lang="en-US" altLang="en-US" sz="2200" b="0" dirty="0">
                <a:solidFill>
                  <a:schemeClr val="tx1"/>
                </a:solidFill>
                <a:latin typeface="Liberation Sans" panose="020B0604020202020204" pitchFamily="34" charset="0"/>
              </a:rPr>
              <a:t> (debit) to an </a:t>
            </a:r>
            <a:r>
              <a:rPr lang="en-US" altLang="en-US" sz="2200" dirty="0">
                <a:solidFill>
                  <a:schemeClr val="tx1"/>
                </a:solidFill>
                <a:latin typeface="Liberation Sans" panose="020B0604020202020204" pitchFamily="34" charset="0"/>
              </a:rPr>
              <a:t>expense account</a:t>
            </a:r>
            <a:r>
              <a:rPr lang="en-US" altLang="en-US" sz="2200" b="0" dirty="0">
                <a:solidFill>
                  <a:schemeClr val="tx1"/>
                </a:solidFill>
                <a:latin typeface="Liberation Sans" panose="020B0604020202020204" pitchFamily="34" charset="0"/>
              </a:rPr>
              <a:t> and </a:t>
            </a:r>
          </a:p>
          <a:p>
            <a:pPr lvl="1">
              <a:lnSpc>
                <a:spcPct val="120000"/>
              </a:lnSpc>
              <a:spcBef>
                <a:spcPct val="50000"/>
              </a:spcBef>
              <a:buClr>
                <a:srgbClr val="800000"/>
              </a:buClr>
              <a:buSzPct val="80000"/>
              <a:buFont typeface="Arial" panose="020B0604020202020204" pitchFamily="34" charset="0"/>
              <a:buChar char="►"/>
            </a:pPr>
            <a:r>
              <a:rPr lang="en-US" altLang="en-US" sz="2200" dirty="0">
                <a:solidFill>
                  <a:schemeClr val="tx1"/>
                </a:solidFill>
                <a:latin typeface="Liberation Sans" panose="020B0604020202020204" pitchFamily="34" charset="0"/>
              </a:rPr>
              <a:t>Decrease</a:t>
            </a:r>
            <a:r>
              <a:rPr lang="en-US" altLang="en-US" sz="2200" b="0" dirty="0">
                <a:solidFill>
                  <a:schemeClr val="tx1"/>
                </a:solidFill>
                <a:latin typeface="Liberation Sans" panose="020B0604020202020204" pitchFamily="34" charset="0"/>
              </a:rPr>
              <a:t> (credit) to an </a:t>
            </a:r>
            <a:r>
              <a:rPr lang="en-US" altLang="en-US" sz="2200" dirty="0">
                <a:solidFill>
                  <a:schemeClr val="tx1"/>
                </a:solidFill>
                <a:latin typeface="Liberation Sans" panose="020B0604020202020204" pitchFamily="34" charset="0"/>
              </a:rPr>
              <a:t>asset account</a:t>
            </a:r>
            <a:r>
              <a:rPr lang="en-US" altLang="en-US" sz="2200" b="0" dirty="0">
                <a:solidFill>
                  <a:schemeClr val="tx1"/>
                </a:solidFill>
                <a:latin typeface="Liberation Sans" panose="020B0604020202020204" pitchFamily="34" charset="0"/>
              </a:rPr>
              <a:t>.</a:t>
            </a:r>
          </a:p>
        </p:txBody>
      </p:sp>
      <p:sp>
        <p:nvSpPr>
          <p:cNvPr id="21509" name="Line 6"/>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pic>
        <p:nvPicPr>
          <p:cNvPr id="2253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4028" y="3906838"/>
            <a:ext cx="6764772" cy="211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22535" name="Rectangle 10"/>
          <p:cNvSpPr>
            <a:spLocks noChangeArrowheads="1"/>
          </p:cNvSpPr>
          <p:nvPr/>
        </p:nvSpPr>
        <p:spPr bwMode="auto">
          <a:xfrm>
            <a:off x="8610600" y="3840162"/>
            <a:ext cx="1524000" cy="274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tx1"/>
                </a:solidFill>
                <a:latin typeface="Liberation Sans" panose="020B0604020202020204" pitchFamily="34" charset="0"/>
              </a:rPr>
              <a:t>Illustration 3-4</a:t>
            </a:r>
          </a:p>
        </p:txBody>
      </p:sp>
      <p:sp>
        <p:nvSpPr>
          <p:cNvPr id="9"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Prepaid Expenses</a:t>
            </a:r>
          </a:p>
        </p:txBody>
      </p:sp>
      <p:sp>
        <p:nvSpPr>
          <p:cNvPr id="7"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3326539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0"/>
          <p:cNvSpPr txBox="1">
            <a:spLocks noChangeArrowheads="1"/>
          </p:cNvSpPr>
          <p:nvPr/>
        </p:nvSpPr>
        <p:spPr bwMode="auto">
          <a:xfrm>
            <a:off x="2133600" y="1250951"/>
            <a:ext cx="5105400"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just">
              <a:lnSpc>
                <a:spcPct val="125000"/>
              </a:lnSpc>
            </a:pPr>
            <a:r>
              <a:rPr lang="en-US" altLang="en-US" sz="2000" dirty="0">
                <a:solidFill>
                  <a:schemeClr val="tx1"/>
                </a:solidFill>
                <a:latin typeface="Liberation Sans" panose="020B0604020202020204" pitchFamily="34" charset="0"/>
              </a:rPr>
              <a:t>Illustration:</a:t>
            </a:r>
            <a:r>
              <a:rPr lang="en-US" altLang="en-US" sz="2000" b="0" dirty="0">
                <a:solidFill>
                  <a:schemeClr val="tx1"/>
                </a:solidFill>
                <a:latin typeface="Liberation Sans" panose="020B0604020202020204" pitchFamily="34" charset="0"/>
              </a:rPr>
              <a:t>  Pioneer Advertising purchased supplies costing $2,500 on October 5. Pioneer recorded the payment by increasing (debiting) the asset Supplies. This account shows a balance of $2,500 in the October 31 trial balance. An inventory count at the close of business on October 31 reveals that $1,000 of supplies are still on hand.</a:t>
            </a:r>
          </a:p>
        </p:txBody>
      </p:sp>
      <p:sp>
        <p:nvSpPr>
          <p:cNvPr id="315429" name="Text Box 37"/>
          <p:cNvSpPr txBox="1">
            <a:spLocks noChangeArrowheads="1"/>
          </p:cNvSpPr>
          <p:nvPr/>
        </p:nvSpPr>
        <p:spPr bwMode="auto">
          <a:xfrm>
            <a:off x="3505200" y="5607050"/>
            <a:ext cx="3505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Supplies</a:t>
            </a:r>
          </a:p>
        </p:txBody>
      </p:sp>
      <p:sp>
        <p:nvSpPr>
          <p:cNvPr id="315432" name="Text Box 40"/>
          <p:cNvSpPr txBox="1">
            <a:spLocks noChangeArrowheads="1"/>
          </p:cNvSpPr>
          <p:nvPr/>
        </p:nvSpPr>
        <p:spPr bwMode="auto">
          <a:xfrm>
            <a:off x="7391400" y="5607050"/>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1,500</a:t>
            </a:r>
          </a:p>
        </p:txBody>
      </p:sp>
      <p:sp>
        <p:nvSpPr>
          <p:cNvPr id="315433" name="Text Box 41"/>
          <p:cNvSpPr txBox="1">
            <a:spLocks noChangeArrowheads="1"/>
          </p:cNvSpPr>
          <p:nvPr/>
        </p:nvSpPr>
        <p:spPr bwMode="auto">
          <a:xfrm>
            <a:off x="3505200" y="5148263"/>
            <a:ext cx="38100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Supplies Expense</a:t>
            </a:r>
          </a:p>
        </p:txBody>
      </p:sp>
      <p:sp>
        <p:nvSpPr>
          <p:cNvPr id="315434" name="Text Box 42"/>
          <p:cNvSpPr txBox="1">
            <a:spLocks noChangeArrowheads="1"/>
          </p:cNvSpPr>
          <p:nvPr/>
        </p:nvSpPr>
        <p:spPr bwMode="auto">
          <a:xfrm>
            <a:off x="6400800" y="5148263"/>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1,500</a:t>
            </a:r>
          </a:p>
        </p:txBody>
      </p:sp>
      <p:sp>
        <p:nvSpPr>
          <p:cNvPr id="23559" name="Text Box 48"/>
          <p:cNvSpPr txBox="1">
            <a:spLocks noChangeArrowheads="1"/>
          </p:cNvSpPr>
          <p:nvPr/>
        </p:nvSpPr>
        <p:spPr bwMode="auto">
          <a:xfrm>
            <a:off x="2133600" y="5148263"/>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Oct. 31</a:t>
            </a:r>
          </a:p>
        </p:txBody>
      </p:sp>
      <p:sp>
        <p:nvSpPr>
          <p:cNvPr id="22538" name="Line 16"/>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pic>
        <p:nvPicPr>
          <p:cNvPr id="2356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5989" y="1250950"/>
            <a:ext cx="3394165" cy="5607049"/>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12"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Supplies</a:t>
            </a:r>
          </a:p>
        </p:txBody>
      </p:sp>
      <p:sp>
        <p:nvSpPr>
          <p:cNvPr id="11"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1512991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5433"/>
                                        </p:tgtEl>
                                        <p:attrNameLst>
                                          <p:attrName>style.visibility</p:attrName>
                                        </p:attrNameLst>
                                      </p:cBhvr>
                                      <p:to>
                                        <p:strVal val="visible"/>
                                      </p:to>
                                    </p:set>
                                    <p:animEffect transition="in" filter="wipe(left)">
                                      <p:cBhvr>
                                        <p:cTn id="7" dur="500"/>
                                        <p:tgtEl>
                                          <p:spTgt spid="31543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5434"/>
                                        </p:tgtEl>
                                        <p:attrNameLst>
                                          <p:attrName>style.visibility</p:attrName>
                                        </p:attrNameLst>
                                      </p:cBhvr>
                                      <p:to>
                                        <p:strVal val="visible"/>
                                      </p:to>
                                    </p:set>
                                    <p:animEffect transition="in" filter="wipe(left)">
                                      <p:cBhvr>
                                        <p:cTn id="11" dur="500"/>
                                        <p:tgtEl>
                                          <p:spTgt spid="31543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5429"/>
                                        </p:tgtEl>
                                        <p:attrNameLst>
                                          <p:attrName>style.visibility</p:attrName>
                                        </p:attrNameLst>
                                      </p:cBhvr>
                                      <p:to>
                                        <p:strVal val="visible"/>
                                      </p:to>
                                    </p:set>
                                    <p:animEffect transition="in" filter="wipe(left)">
                                      <p:cBhvr>
                                        <p:cTn id="16" dur="500"/>
                                        <p:tgtEl>
                                          <p:spTgt spid="315429"/>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15432"/>
                                        </p:tgtEl>
                                        <p:attrNameLst>
                                          <p:attrName>style.visibility</p:attrName>
                                        </p:attrNameLst>
                                      </p:cBhvr>
                                      <p:to>
                                        <p:strVal val="visible"/>
                                      </p:to>
                                    </p:set>
                                    <p:animEffect transition="in" filter="wipe(left)">
                                      <p:cBhvr>
                                        <p:cTn id="20" dur="500"/>
                                        <p:tgtEl>
                                          <p:spTgt spid="315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29" grpId="0" autoUpdateAnimBg="0"/>
      <p:bldP spid="315432" grpId="0" autoUpdateAnimBg="0"/>
      <p:bldP spid="315433" grpId="0" autoUpdateAnimBg="0"/>
      <p:bldP spid="315434"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423" y="1511255"/>
            <a:ext cx="11965577" cy="536416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23555" name="Line 4"/>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24581" name="Rectangle 6"/>
          <p:cNvSpPr>
            <a:spLocks noChangeArrowheads="1"/>
          </p:cNvSpPr>
          <p:nvPr/>
        </p:nvSpPr>
        <p:spPr bwMode="auto">
          <a:xfrm>
            <a:off x="8610600" y="1219200"/>
            <a:ext cx="1524000" cy="274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1200" dirty="0">
                <a:solidFill>
                  <a:schemeClr val="tx1"/>
                </a:solidFill>
                <a:latin typeface="Liberation Sans" panose="020B0604020202020204" pitchFamily="34" charset="0"/>
              </a:rPr>
              <a:t>Illustration 3-5</a:t>
            </a:r>
          </a:p>
        </p:txBody>
      </p:sp>
      <p:sp>
        <p:nvSpPr>
          <p:cNvPr id="7"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Supplies</a:t>
            </a:r>
          </a:p>
        </p:txBody>
      </p:sp>
      <p:sp>
        <p:nvSpPr>
          <p:cNvPr id="6" name="Text Box 5"/>
          <p:cNvSpPr txBox="1">
            <a:spLocks noChangeArrowheads="1"/>
          </p:cNvSpPr>
          <p:nvPr/>
        </p:nvSpPr>
        <p:spPr bwMode="auto">
          <a:xfrm>
            <a:off x="96012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10275409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0"/>
          <p:cNvSpPr txBox="1">
            <a:spLocks noChangeArrowheads="1"/>
          </p:cNvSpPr>
          <p:nvPr/>
        </p:nvSpPr>
        <p:spPr bwMode="auto">
          <a:xfrm>
            <a:off x="2133600" y="1250951"/>
            <a:ext cx="5638800" cy="31700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just">
              <a:lnSpc>
                <a:spcPct val="125000"/>
              </a:lnSpc>
            </a:pPr>
            <a:r>
              <a:rPr lang="en-US" altLang="en-US" sz="2000" dirty="0">
                <a:solidFill>
                  <a:schemeClr val="tx1"/>
                </a:solidFill>
                <a:latin typeface="Liberation Sans" panose="020B0604020202020204" pitchFamily="34" charset="0"/>
              </a:rPr>
              <a:t>Illustration:</a:t>
            </a:r>
            <a:r>
              <a:rPr lang="en-US" altLang="en-US" sz="2000" b="0" dirty="0">
                <a:solidFill>
                  <a:schemeClr val="tx1"/>
                </a:solidFill>
                <a:latin typeface="Liberation Sans" panose="020B0604020202020204" pitchFamily="34" charset="0"/>
              </a:rPr>
              <a:t>  On October 4, Pioneer Advertising paid $600 for a one-year fire insurance policy. Coverage began on October 1. Pioneer recorded the payment by increasing (debiting) Prepaid Insurance. This account shows a balance of $600 in the October 31 trial balance.  Insurance of $50 ($600 </a:t>
            </a:r>
            <a:r>
              <a:rPr lang="en-US" altLang="en-US" sz="2000" b="0" dirty="0">
                <a:solidFill>
                  <a:schemeClr val="tx1"/>
                </a:solidFill>
                <a:latin typeface="Liberation Sans" panose="020B0604020202020204" pitchFamily="34" charset="0"/>
                <a:cs typeface="Arial" panose="020B0604020202020204" pitchFamily="34" charset="0"/>
              </a:rPr>
              <a:t>÷</a:t>
            </a:r>
            <a:r>
              <a:rPr lang="en-US" altLang="en-US" sz="2000" b="0" dirty="0">
                <a:solidFill>
                  <a:schemeClr val="tx1"/>
                </a:solidFill>
                <a:latin typeface="Liberation Sans" panose="020B0604020202020204" pitchFamily="34" charset="0"/>
              </a:rPr>
              <a:t> 12) expires each month.</a:t>
            </a:r>
          </a:p>
        </p:txBody>
      </p:sp>
      <p:sp>
        <p:nvSpPr>
          <p:cNvPr id="315429" name="Text Box 37"/>
          <p:cNvSpPr txBox="1">
            <a:spLocks noChangeArrowheads="1"/>
          </p:cNvSpPr>
          <p:nvPr/>
        </p:nvSpPr>
        <p:spPr bwMode="auto">
          <a:xfrm>
            <a:off x="3505200" y="5607050"/>
            <a:ext cx="3505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Prepaid Insurance</a:t>
            </a:r>
          </a:p>
        </p:txBody>
      </p:sp>
      <p:sp>
        <p:nvSpPr>
          <p:cNvPr id="315432" name="Text Box 40"/>
          <p:cNvSpPr txBox="1">
            <a:spLocks noChangeArrowheads="1"/>
          </p:cNvSpPr>
          <p:nvPr/>
        </p:nvSpPr>
        <p:spPr bwMode="auto">
          <a:xfrm>
            <a:off x="7315200" y="5607050"/>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50</a:t>
            </a:r>
          </a:p>
        </p:txBody>
      </p:sp>
      <p:sp>
        <p:nvSpPr>
          <p:cNvPr id="315433" name="Text Box 41"/>
          <p:cNvSpPr txBox="1">
            <a:spLocks noChangeArrowheads="1"/>
          </p:cNvSpPr>
          <p:nvPr/>
        </p:nvSpPr>
        <p:spPr bwMode="auto">
          <a:xfrm>
            <a:off x="3505200" y="5148263"/>
            <a:ext cx="29718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Insurance Expense</a:t>
            </a:r>
          </a:p>
        </p:txBody>
      </p:sp>
      <p:sp>
        <p:nvSpPr>
          <p:cNvPr id="315434" name="Text Box 42"/>
          <p:cNvSpPr txBox="1">
            <a:spLocks noChangeArrowheads="1"/>
          </p:cNvSpPr>
          <p:nvPr/>
        </p:nvSpPr>
        <p:spPr bwMode="auto">
          <a:xfrm>
            <a:off x="6324600" y="5148263"/>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50</a:t>
            </a:r>
          </a:p>
        </p:txBody>
      </p:sp>
      <p:sp>
        <p:nvSpPr>
          <p:cNvPr id="25607" name="Text Box 48"/>
          <p:cNvSpPr txBox="1">
            <a:spLocks noChangeArrowheads="1"/>
          </p:cNvSpPr>
          <p:nvPr/>
        </p:nvSpPr>
        <p:spPr bwMode="auto">
          <a:xfrm>
            <a:off x="2133600" y="5148263"/>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Oct. 31</a:t>
            </a:r>
          </a:p>
        </p:txBody>
      </p:sp>
      <p:sp>
        <p:nvSpPr>
          <p:cNvPr id="24586" name="Line 10"/>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pic>
        <p:nvPicPr>
          <p:cNvPr id="25611"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8964" y="1066800"/>
            <a:ext cx="2001837" cy="419100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12"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Insurance</a:t>
            </a:r>
          </a:p>
        </p:txBody>
      </p:sp>
      <p:sp>
        <p:nvSpPr>
          <p:cNvPr id="11"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400448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5433"/>
                                        </p:tgtEl>
                                        <p:attrNameLst>
                                          <p:attrName>style.visibility</p:attrName>
                                        </p:attrNameLst>
                                      </p:cBhvr>
                                      <p:to>
                                        <p:strVal val="visible"/>
                                      </p:to>
                                    </p:set>
                                    <p:animEffect transition="in" filter="wipe(left)">
                                      <p:cBhvr>
                                        <p:cTn id="7" dur="500"/>
                                        <p:tgtEl>
                                          <p:spTgt spid="31543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5434"/>
                                        </p:tgtEl>
                                        <p:attrNameLst>
                                          <p:attrName>style.visibility</p:attrName>
                                        </p:attrNameLst>
                                      </p:cBhvr>
                                      <p:to>
                                        <p:strVal val="visible"/>
                                      </p:to>
                                    </p:set>
                                    <p:animEffect transition="in" filter="wipe(left)">
                                      <p:cBhvr>
                                        <p:cTn id="11" dur="500"/>
                                        <p:tgtEl>
                                          <p:spTgt spid="31543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5429"/>
                                        </p:tgtEl>
                                        <p:attrNameLst>
                                          <p:attrName>style.visibility</p:attrName>
                                        </p:attrNameLst>
                                      </p:cBhvr>
                                      <p:to>
                                        <p:strVal val="visible"/>
                                      </p:to>
                                    </p:set>
                                    <p:animEffect transition="in" filter="wipe(left)">
                                      <p:cBhvr>
                                        <p:cTn id="16" dur="500"/>
                                        <p:tgtEl>
                                          <p:spTgt spid="315429"/>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15432"/>
                                        </p:tgtEl>
                                        <p:attrNameLst>
                                          <p:attrName>style.visibility</p:attrName>
                                        </p:attrNameLst>
                                      </p:cBhvr>
                                      <p:to>
                                        <p:strVal val="visible"/>
                                      </p:to>
                                    </p:set>
                                    <p:animEffect transition="in" filter="wipe(left)">
                                      <p:cBhvr>
                                        <p:cTn id="20" dur="500"/>
                                        <p:tgtEl>
                                          <p:spTgt spid="315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29" grpId="0" autoUpdateAnimBg="0"/>
      <p:bldP spid="315432" grpId="0" autoUpdateAnimBg="0"/>
      <p:bldP spid="315433" grpId="0" autoUpdateAnimBg="0"/>
      <p:bldP spid="315434"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5"/>
          <p:cNvSpPr txBox="1">
            <a:spLocks noChangeArrowheads="1"/>
          </p:cNvSpPr>
          <p:nvPr/>
        </p:nvSpPr>
        <p:spPr bwMode="auto">
          <a:xfrm>
            <a:off x="96012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pic>
        <p:nvPicPr>
          <p:cNvPr id="26626"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304925"/>
            <a:ext cx="8686800" cy="5140325"/>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25604" name="Line 3"/>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26629" name="Rectangle 5"/>
          <p:cNvSpPr>
            <a:spLocks noChangeArrowheads="1"/>
          </p:cNvSpPr>
          <p:nvPr/>
        </p:nvSpPr>
        <p:spPr bwMode="auto">
          <a:xfrm>
            <a:off x="8610600" y="1219200"/>
            <a:ext cx="1524000" cy="274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1200" dirty="0">
                <a:solidFill>
                  <a:schemeClr val="tx1"/>
                </a:solidFill>
                <a:latin typeface="Liberation Sans" panose="020B0604020202020204" pitchFamily="34" charset="0"/>
              </a:rPr>
              <a:t>Illustration 3-6</a:t>
            </a:r>
          </a:p>
        </p:txBody>
      </p:sp>
      <p:sp>
        <p:nvSpPr>
          <p:cNvPr id="7"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Insurance</a:t>
            </a:r>
          </a:p>
        </p:txBody>
      </p:sp>
    </p:spTree>
    <p:extLst>
      <p:ext uri="{BB962C8B-B14F-4D97-AF65-F5344CB8AC3E}">
        <p14:creationId xmlns:p14="http://schemas.microsoft.com/office/powerpoint/2010/main" val="2470562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Line 6"/>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27653" name="Text Box 2"/>
          <p:cNvSpPr txBox="1">
            <a:spLocks noChangeArrowheads="1"/>
          </p:cNvSpPr>
          <p:nvPr/>
        </p:nvSpPr>
        <p:spPr bwMode="auto">
          <a:xfrm>
            <a:off x="2133600" y="1311142"/>
            <a:ext cx="7620000" cy="4658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1" algn="just">
              <a:lnSpc>
                <a:spcPct val="120000"/>
              </a:lnSpc>
              <a:spcBef>
                <a:spcPct val="70000"/>
              </a:spcBef>
              <a:buClr>
                <a:srgbClr val="800000"/>
              </a:buClr>
              <a:buSzPct val="80000"/>
              <a:buFont typeface="Wingdings" panose="05000000000000000000" pitchFamily="2" charset="2"/>
              <a:buChar char="u"/>
            </a:pPr>
            <a:r>
              <a:rPr lang="en-US" altLang="en-US" sz="2300" dirty="0">
                <a:solidFill>
                  <a:schemeClr val="tx1"/>
                </a:solidFill>
                <a:latin typeface="Liberation Sans" panose="020B0604020202020204" pitchFamily="34" charset="0"/>
              </a:rPr>
              <a:t>Buildings</a:t>
            </a:r>
            <a:r>
              <a:rPr lang="en-US" altLang="en-US" sz="2300" b="0" dirty="0">
                <a:solidFill>
                  <a:schemeClr val="tx1"/>
                </a:solidFill>
                <a:latin typeface="Liberation Sans" panose="020B0604020202020204" pitchFamily="34" charset="0"/>
              </a:rPr>
              <a:t>, </a:t>
            </a:r>
            <a:r>
              <a:rPr lang="en-US" altLang="en-US" sz="2300" dirty="0">
                <a:solidFill>
                  <a:schemeClr val="tx1"/>
                </a:solidFill>
                <a:latin typeface="Liberation Sans" panose="020B0604020202020204" pitchFamily="34" charset="0"/>
              </a:rPr>
              <a:t>equipment</a:t>
            </a:r>
            <a:r>
              <a:rPr lang="en-US" altLang="en-US" sz="2300" b="0" dirty="0">
                <a:solidFill>
                  <a:schemeClr val="tx1"/>
                </a:solidFill>
                <a:latin typeface="Liberation Sans" panose="020B0604020202020204" pitchFamily="34" charset="0"/>
              </a:rPr>
              <a:t>, and </a:t>
            </a:r>
            <a:r>
              <a:rPr lang="en-US" altLang="en-US" sz="2300" dirty="0">
                <a:solidFill>
                  <a:schemeClr val="tx1"/>
                </a:solidFill>
                <a:latin typeface="Liberation Sans" panose="020B0604020202020204" pitchFamily="34" charset="0"/>
              </a:rPr>
              <a:t>motor vehicles</a:t>
            </a:r>
            <a:r>
              <a:rPr lang="en-US" altLang="en-US" sz="2300" b="0" dirty="0">
                <a:solidFill>
                  <a:schemeClr val="tx1"/>
                </a:solidFill>
                <a:latin typeface="Liberation Sans" panose="020B0604020202020204" pitchFamily="34" charset="0"/>
              </a:rPr>
              <a:t> (assets that provide service for many years) are </a:t>
            </a:r>
            <a:r>
              <a:rPr lang="en-US" altLang="en-US" sz="2300" dirty="0">
                <a:solidFill>
                  <a:schemeClr val="tx1"/>
                </a:solidFill>
                <a:latin typeface="Liberation Sans" panose="020B0604020202020204" pitchFamily="34" charset="0"/>
              </a:rPr>
              <a:t>recorded as assets</a:t>
            </a:r>
            <a:r>
              <a:rPr lang="en-US" altLang="en-US" sz="2300" b="0" dirty="0">
                <a:solidFill>
                  <a:schemeClr val="tx1"/>
                </a:solidFill>
                <a:latin typeface="Liberation Sans" panose="020B0604020202020204" pitchFamily="34" charset="0"/>
              </a:rPr>
              <a:t>, rather than an expense, on the date acquired.</a:t>
            </a:r>
          </a:p>
          <a:p>
            <a:pPr lvl="1" algn="just">
              <a:lnSpc>
                <a:spcPct val="120000"/>
              </a:lnSpc>
              <a:spcBef>
                <a:spcPct val="70000"/>
              </a:spcBef>
              <a:buClr>
                <a:srgbClr val="800000"/>
              </a:buClr>
              <a:buSzPct val="80000"/>
              <a:buFont typeface="Wingdings" panose="05000000000000000000" pitchFamily="2" charset="2"/>
              <a:buChar char="u"/>
            </a:pPr>
            <a:r>
              <a:rPr lang="en-US" altLang="en-US" sz="2300" dirty="0">
                <a:solidFill>
                  <a:schemeClr val="hlink"/>
                </a:solidFill>
                <a:latin typeface="Liberation Sans" panose="020B0604020202020204" pitchFamily="34" charset="0"/>
              </a:rPr>
              <a:t>Depreciation</a:t>
            </a:r>
            <a:r>
              <a:rPr lang="en-US" altLang="en-US" sz="2300" b="0" dirty="0">
                <a:solidFill>
                  <a:schemeClr val="tx1"/>
                </a:solidFill>
                <a:latin typeface="Liberation Sans" panose="020B0604020202020204" pitchFamily="34" charset="0"/>
              </a:rPr>
              <a:t> is the process of </a:t>
            </a:r>
            <a:r>
              <a:rPr lang="en-US" altLang="en-US" sz="2300" dirty="0">
                <a:solidFill>
                  <a:schemeClr val="tx1"/>
                </a:solidFill>
                <a:latin typeface="Liberation Sans" panose="020B0604020202020204" pitchFamily="34" charset="0"/>
              </a:rPr>
              <a:t>allocating the cost of an asset to expense </a:t>
            </a:r>
            <a:r>
              <a:rPr lang="en-US" altLang="en-US" sz="2300" b="0" dirty="0">
                <a:solidFill>
                  <a:schemeClr val="tx1"/>
                </a:solidFill>
                <a:latin typeface="Liberation Sans" panose="020B0604020202020204" pitchFamily="34" charset="0"/>
              </a:rPr>
              <a:t>over its </a:t>
            </a:r>
            <a:r>
              <a:rPr lang="en-US" altLang="en-US" sz="2300" dirty="0">
                <a:solidFill>
                  <a:schemeClr val="hlink"/>
                </a:solidFill>
                <a:latin typeface="Liberation Sans" panose="020B0604020202020204" pitchFamily="34" charset="0"/>
              </a:rPr>
              <a:t>useful life</a:t>
            </a:r>
            <a:r>
              <a:rPr lang="en-US" altLang="en-US" sz="2300" b="0" dirty="0">
                <a:solidFill>
                  <a:schemeClr val="tx1"/>
                </a:solidFill>
                <a:latin typeface="Liberation Sans" panose="020B0604020202020204" pitchFamily="34" charset="0"/>
              </a:rPr>
              <a:t>.</a:t>
            </a:r>
          </a:p>
          <a:p>
            <a:pPr lvl="1" algn="just">
              <a:lnSpc>
                <a:spcPct val="120000"/>
              </a:lnSpc>
              <a:spcBef>
                <a:spcPct val="70000"/>
              </a:spcBef>
              <a:buClr>
                <a:srgbClr val="800000"/>
              </a:buClr>
              <a:buSzPct val="80000"/>
              <a:buFont typeface="Wingdings" panose="05000000000000000000" pitchFamily="2" charset="2"/>
              <a:buChar char="u"/>
            </a:pPr>
            <a:r>
              <a:rPr lang="en-US" altLang="en-US" sz="2300" b="0" dirty="0">
                <a:solidFill>
                  <a:schemeClr val="tx1"/>
                </a:solidFill>
                <a:latin typeface="Liberation Sans" panose="020B0604020202020204" pitchFamily="34" charset="0"/>
              </a:rPr>
              <a:t>Depreciation</a:t>
            </a:r>
            <a:r>
              <a:rPr lang="en-US" altLang="en-US" sz="2300" dirty="0">
                <a:solidFill>
                  <a:schemeClr val="tx1"/>
                </a:solidFill>
                <a:latin typeface="Liberation Sans" panose="020B0604020202020204" pitchFamily="34" charset="0"/>
              </a:rPr>
              <a:t> does not attempt</a:t>
            </a:r>
            <a:r>
              <a:rPr lang="en-US" altLang="en-US" sz="2300" b="0" dirty="0">
                <a:solidFill>
                  <a:schemeClr val="tx1"/>
                </a:solidFill>
                <a:latin typeface="Liberation Sans" panose="020B0604020202020204" pitchFamily="34" charset="0"/>
              </a:rPr>
              <a:t> to report the actual change in the </a:t>
            </a:r>
            <a:r>
              <a:rPr lang="en-US" altLang="en-US" sz="2300" dirty="0">
                <a:solidFill>
                  <a:schemeClr val="tx1"/>
                </a:solidFill>
                <a:latin typeface="Liberation Sans" panose="020B0604020202020204" pitchFamily="34" charset="0"/>
              </a:rPr>
              <a:t>value of the asset</a:t>
            </a:r>
            <a:r>
              <a:rPr lang="en-US" altLang="en-US" sz="2300" b="0" dirty="0">
                <a:solidFill>
                  <a:schemeClr val="tx1"/>
                </a:solidFill>
                <a:latin typeface="Liberation Sans" panose="020B0604020202020204" pitchFamily="34" charset="0"/>
              </a:rPr>
              <a:t>.</a:t>
            </a:r>
          </a:p>
          <a:p>
            <a:pPr marL="1371600" lvl="2" indent="-457200" algn="just">
              <a:lnSpc>
                <a:spcPct val="120000"/>
              </a:lnSpc>
              <a:spcBef>
                <a:spcPct val="70000"/>
              </a:spcBef>
              <a:buClr>
                <a:srgbClr val="800000"/>
              </a:buClr>
              <a:buSzPct val="80000"/>
              <a:buFont typeface="Arial" panose="020B0604020202020204" pitchFamily="34" charset="0"/>
              <a:buChar char="►"/>
            </a:pPr>
            <a:r>
              <a:rPr lang="en-US" sz="2200" dirty="0">
                <a:solidFill>
                  <a:schemeClr val="tx1"/>
                </a:solidFill>
                <a:latin typeface="Liberation Sans" panose="020B0604020202020204" pitchFamily="34" charset="0"/>
              </a:rPr>
              <a:t>Allocation</a:t>
            </a:r>
            <a:r>
              <a:rPr lang="en-US" sz="2300" dirty="0">
                <a:solidFill>
                  <a:schemeClr val="tx1"/>
                </a:solidFill>
                <a:latin typeface="Liberation Sans" panose="020B0604020202020204" pitchFamily="34" charset="0"/>
              </a:rPr>
              <a:t> concept</a:t>
            </a:r>
            <a:r>
              <a:rPr lang="en-US" sz="2300" b="0" dirty="0">
                <a:solidFill>
                  <a:schemeClr val="tx1"/>
                </a:solidFill>
                <a:latin typeface="Liberation Sans" panose="020B0604020202020204" pitchFamily="34" charset="0"/>
              </a:rPr>
              <a:t>, not a valuation concept.</a:t>
            </a:r>
            <a:endParaRPr lang="en-US" altLang="en-US" sz="2300" b="0" dirty="0">
              <a:solidFill>
                <a:schemeClr val="tx1"/>
              </a:solidFill>
              <a:latin typeface="Liberation Sans" panose="020B0604020202020204" pitchFamily="34" charset="0"/>
            </a:endParaRPr>
          </a:p>
        </p:txBody>
      </p:sp>
      <p:sp>
        <p:nvSpPr>
          <p:cNvPr id="6"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Depreciation</a:t>
            </a:r>
          </a:p>
        </p:txBody>
      </p:sp>
      <p:sp>
        <p:nvSpPr>
          <p:cNvPr id="5"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2965975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434" name="Text Box 42"/>
          <p:cNvSpPr txBox="1">
            <a:spLocks noChangeArrowheads="1"/>
          </p:cNvSpPr>
          <p:nvPr/>
        </p:nvSpPr>
        <p:spPr bwMode="auto">
          <a:xfrm>
            <a:off x="5334000" y="3429000"/>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40</a:t>
            </a:r>
          </a:p>
        </p:txBody>
      </p:sp>
      <p:sp>
        <p:nvSpPr>
          <p:cNvPr id="28675" name="Text Box 20"/>
          <p:cNvSpPr txBox="1">
            <a:spLocks noChangeArrowheads="1"/>
          </p:cNvSpPr>
          <p:nvPr/>
        </p:nvSpPr>
        <p:spPr bwMode="auto">
          <a:xfrm>
            <a:off x="2133600" y="1295401"/>
            <a:ext cx="5638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l">
              <a:lnSpc>
                <a:spcPct val="120000"/>
              </a:lnSpc>
            </a:pPr>
            <a:r>
              <a:rPr lang="en-US" altLang="en-US" sz="2000" dirty="0">
                <a:solidFill>
                  <a:schemeClr val="tx1"/>
                </a:solidFill>
                <a:latin typeface="Liberation Sans" panose="020B0604020202020204" pitchFamily="34" charset="0"/>
              </a:rPr>
              <a:t>Illustration:  </a:t>
            </a:r>
            <a:r>
              <a:rPr lang="en-US" altLang="en-US" sz="2000" b="0" dirty="0">
                <a:solidFill>
                  <a:schemeClr val="tx1"/>
                </a:solidFill>
                <a:latin typeface="Liberation Sans" panose="020B0604020202020204" pitchFamily="34" charset="0"/>
              </a:rPr>
              <a:t>For Pioneer Advertising, assume that depreciation on the equipment is $480 a year, or $40 per month.</a:t>
            </a:r>
          </a:p>
        </p:txBody>
      </p:sp>
      <p:sp>
        <p:nvSpPr>
          <p:cNvPr id="315429" name="Text Box 37"/>
          <p:cNvSpPr txBox="1">
            <a:spLocks noChangeArrowheads="1"/>
          </p:cNvSpPr>
          <p:nvPr/>
        </p:nvSpPr>
        <p:spPr bwMode="auto">
          <a:xfrm>
            <a:off x="2133600" y="3887788"/>
            <a:ext cx="48768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Accumulated depreciation</a:t>
            </a:r>
          </a:p>
        </p:txBody>
      </p:sp>
      <p:sp>
        <p:nvSpPr>
          <p:cNvPr id="315432" name="Text Box 40"/>
          <p:cNvSpPr txBox="1">
            <a:spLocks noChangeArrowheads="1"/>
          </p:cNvSpPr>
          <p:nvPr/>
        </p:nvSpPr>
        <p:spPr bwMode="auto">
          <a:xfrm>
            <a:off x="6324600" y="3887788"/>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40</a:t>
            </a:r>
          </a:p>
        </p:txBody>
      </p:sp>
      <p:sp>
        <p:nvSpPr>
          <p:cNvPr id="315433" name="Text Box 41"/>
          <p:cNvSpPr txBox="1">
            <a:spLocks noChangeArrowheads="1"/>
          </p:cNvSpPr>
          <p:nvPr/>
        </p:nvSpPr>
        <p:spPr bwMode="auto">
          <a:xfrm>
            <a:off x="2133600" y="3429000"/>
            <a:ext cx="38100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Depreciation expense</a:t>
            </a:r>
          </a:p>
        </p:txBody>
      </p:sp>
      <p:sp>
        <p:nvSpPr>
          <p:cNvPr id="28679" name="Text Box 48"/>
          <p:cNvSpPr txBox="1">
            <a:spLocks noChangeArrowheads="1"/>
          </p:cNvSpPr>
          <p:nvPr/>
        </p:nvSpPr>
        <p:spPr bwMode="auto">
          <a:xfrm>
            <a:off x="2133600" y="2895600"/>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Oct. 31</a:t>
            </a:r>
          </a:p>
        </p:txBody>
      </p:sp>
      <p:sp>
        <p:nvSpPr>
          <p:cNvPr id="27658" name="Line 10"/>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28683" name="Text Box 20"/>
          <p:cNvSpPr txBox="1">
            <a:spLocks noChangeArrowheads="1"/>
          </p:cNvSpPr>
          <p:nvPr/>
        </p:nvSpPr>
        <p:spPr bwMode="auto">
          <a:xfrm>
            <a:off x="2133600" y="4800601"/>
            <a:ext cx="47244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pPr>
            <a:r>
              <a:rPr lang="en-US" altLang="en-US" sz="2100" dirty="0">
                <a:solidFill>
                  <a:schemeClr val="tx1"/>
                </a:solidFill>
                <a:latin typeface="Liberation Sans" panose="020B0604020202020204" pitchFamily="34" charset="0"/>
              </a:rPr>
              <a:t>Accumulated Depreciation</a:t>
            </a:r>
            <a:r>
              <a:rPr lang="en-US" altLang="en-US" sz="2100" b="0" dirty="0">
                <a:solidFill>
                  <a:schemeClr val="tx1"/>
                </a:solidFill>
                <a:latin typeface="Liberation Sans" panose="020B0604020202020204" pitchFamily="34" charset="0"/>
              </a:rPr>
              <a:t> is called a </a:t>
            </a:r>
            <a:r>
              <a:rPr lang="en-US" altLang="en-US" sz="2100" dirty="0">
                <a:solidFill>
                  <a:schemeClr val="hlink"/>
                </a:solidFill>
                <a:latin typeface="Liberation Sans" panose="020B0604020202020204" pitchFamily="34" charset="0"/>
              </a:rPr>
              <a:t>contra asset account</a:t>
            </a:r>
            <a:r>
              <a:rPr lang="en-US" altLang="en-US" sz="2100" b="0" dirty="0">
                <a:solidFill>
                  <a:schemeClr val="tx1"/>
                </a:solidFill>
                <a:latin typeface="Liberation Sans" panose="020B0604020202020204" pitchFamily="34" charset="0"/>
              </a:rPr>
              <a:t>.</a:t>
            </a:r>
          </a:p>
        </p:txBody>
      </p:sp>
      <p:pic>
        <p:nvPicPr>
          <p:cNvPr id="28684"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201" y="1371600"/>
            <a:ext cx="2143125" cy="449580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13"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Depreciation</a:t>
            </a:r>
          </a:p>
        </p:txBody>
      </p:sp>
      <p:sp>
        <p:nvSpPr>
          <p:cNvPr id="12"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3292630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5433"/>
                                        </p:tgtEl>
                                        <p:attrNameLst>
                                          <p:attrName>style.visibility</p:attrName>
                                        </p:attrNameLst>
                                      </p:cBhvr>
                                      <p:to>
                                        <p:strVal val="visible"/>
                                      </p:to>
                                    </p:set>
                                    <p:animEffect transition="in" filter="wipe(left)">
                                      <p:cBhvr>
                                        <p:cTn id="7" dur="500"/>
                                        <p:tgtEl>
                                          <p:spTgt spid="31543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5434"/>
                                        </p:tgtEl>
                                        <p:attrNameLst>
                                          <p:attrName>style.visibility</p:attrName>
                                        </p:attrNameLst>
                                      </p:cBhvr>
                                      <p:to>
                                        <p:strVal val="visible"/>
                                      </p:to>
                                    </p:set>
                                    <p:animEffect transition="in" filter="wipe(left)">
                                      <p:cBhvr>
                                        <p:cTn id="11" dur="500"/>
                                        <p:tgtEl>
                                          <p:spTgt spid="31543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5429"/>
                                        </p:tgtEl>
                                        <p:attrNameLst>
                                          <p:attrName>style.visibility</p:attrName>
                                        </p:attrNameLst>
                                      </p:cBhvr>
                                      <p:to>
                                        <p:strVal val="visible"/>
                                      </p:to>
                                    </p:set>
                                    <p:animEffect transition="in" filter="wipe(left)">
                                      <p:cBhvr>
                                        <p:cTn id="16" dur="500"/>
                                        <p:tgtEl>
                                          <p:spTgt spid="315429"/>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15432"/>
                                        </p:tgtEl>
                                        <p:attrNameLst>
                                          <p:attrName>style.visibility</p:attrName>
                                        </p:attrNameLst>
                                      </p:cBhvr>
                                      <p:to>
                                        <p:strVal val="visible"/>
                                      </p:to>
                                    </p:set>
                                    <p:animEffect transition="in" filter="wipe(left)">
                                      <p:cBhvr>
                                        <p:cTn id="20" dur="500"/>
                                        <p:tgtEl>
                                          <p:spTgt spid="315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34" grpId="0" autoUpdateAnimBg="0"/>
      <p:bldP spid="315429" grpId="0" autoUpdateAnimBg="0"/>
      <p:bldP spid="315432" grpId="0" autoUpdateAnimBg="0"/>
      <p:bldP spid="315433"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
        <p:nvSpPr>
          <p:cNvPr id="28675" name="Line 4"/>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pic>
        <p:nvPicPr>
          <p:cNvPr id="2969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518698"/>
            <a:ext cx="7772400" cy="5882102"/>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29702" name="Rectangle 5"/>
          <p:cNvSpPr>
            <a:spLocks noChangeArrowheads="1"/>
          </p:cNvSpPr>
          <p:nvPr/>
        </p:nvSpPr>
        <p:spPr bwMode="auto">
          <a:xfrm>
            <a:off x="8305800" y="396462"/>
            <a:ext cx="1524000" cy="274637"/>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1200" dirty="0">
                <a:solidFill>
                  <a:schemeClr val="tx1"/>
                </a:solidFill>
                <a:latin typeface="Liberation Sans" panose="020B0604020202020204" pitchFamily="34" charset="0"/>
              </a:rPr>
              <a:t>Illustration 3-7</a:t>
            </a:r>
          </a:p>
        </p:txBody>
      </p:sp>
    </p:spTree>
    <p:extLst>
      <p:ext uri="{BB962C8B-B14F-4D97-AF65-F5344CB8AC3E}">
        <p14:creationId xmlns:p14="http://schemas.microsoft.com/office/powerpoint/2010/main" val="41667784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4733926"/>
            <a:ext cx="7696200" cy="1285875"/>
          </a:xfrm>
          <a:prstGeom prst="rect">
            <a:avLst/>
          </a:prstGeom>
          <a:noFill/>
          <a:ln w="19050" cap="sq"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701" name="Line 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30726" name="Text Box 9"/>
          <p:cNvSpPr txBox="1">
            <a:spLocks noChangeArrowheads="1"/>
          </p:cNvSpPr>
          <p:nvPr/>
        </p:nvSpPr>
        <p:spPr bwMode="auto">
          <a:xfrm>
            <a:off x="8763000" y="4373564"/>
            <a:ext cx="1371600" cy="274637"/>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1200" dirty="0">
                <a:solidFill>
                  <a:schemeClr val="tx1"/>
                </a:solidFill>
                <a:latin typeface="Liberation Sans" panose="020B0604020202020204" pitchFamily="34" charset="0"/>
              </a:rPr>
              <a:t>Illustration 3-8</a:t>
            </a:r>
          </a:p>
        </p:txBody>
      </p:sp>
      <p:sp>
        <p:nvSpPr>
          <p:cNvPr id="30727" name="Text Box 2"/>
          <p:cNvSpPr txBox="1">
            <a:spLocks noChangeArrowheads="1"/>
          </p:cNvSpPr>
          <p:nvPr/>
        </p:nvSpPr>
        <p:spPr bwMode="auto">
          <a:xfrm>
            <a:off x="2133600" y="1295400"/>
            <a:ext cx="7620000" cy="298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15000"/>
              </a:lnSpc>
              <a:spcBef>
                <a:spcPct val="50000"/>
              </a:spcBef>
              <a:buSzPct val="80000"/>
            </a:pPr>
            <a:r>
              <a:rPr lang="en-US" altLang="en-US" sz="2500" dirty="0">
                <a:solidFill>
                  <a:schemeClr val="tx1"/>
                </a:solidFill>
                <a:latin typeface="Liberation Sans" panose="020B0604020202020204" pitchFamily="34" charset="0"/>
              </a:rPr>
              <a:t>STATEMENT PRESENTATION</a:t>
            </a:r>
            <a:endParaRPr lang="en-US" altLang="en-US" sz="2500" b="0" dirty="0">
              <a:solidFill>
                <a:schemeClr val="tx1"/>
              </a:solidFill>
              <a:latin typeface="Liberation Sans" panose="020B0604020202020204" pitchFamily="34" charset="0"/>
            </a:endParaRPr>
          </a:p>
          <a:p>
            <a:pPr lvl="1">
              <a:lnSpc>
                <a:spcPct val="115000"/>
              </a:lnSpc>
              <a:spcBef>
                <a:spcPct val="50000"/>
              </a:spcBef>
              <a:buClr>
                <a:srgbClr val="800000"/>
              </a:buClr>
              <a:buSzPct val="80000"/>
              <a:buFont typeface="Wingdings" panose="05000000000000000000" pitchFamily="2" charset="2"/>
              <a:buChar char="u"/>
            </a:pPr>
            <a:r>
              <a:rPr lang="en-US" altLang="en-US" sz="2200" b="0" dirty="0">
                <a:solidFill>
                  <a:schemeClr val="tx1"/>
                </a:solidFill>
                <a:latin typeface="Liberation Sans" panose="020B0604020202020204" pitchFamily="34" charset="0"/>
              </a:rPr>
              <a:t>Accumulated Depreciation is a </a:t>
            </a:r>
            <a:r>
              <a:rPr lang="en-US" altLang="en-US" sz="2200" dirty="0">
                <a:solidFill>
                  <a:schemeClr val="tx1"/>
                </a:solidFill>
                <a:latin typeface="Liberation Sans" panose="020B0604020202020204" pitchFamily="34" charset="0"/>
              </a:rPr>
              <a:t>contra asset account </a:t>
            </a:r>
            <a:r>
              <a:rPr lang="en-US" altLang="en-US" sz="2200" b="0" dirty="0">
                <a:solidFill>
                  <a:schemeClr val="tx1"/>
                </a:solidFill>
                <a:latin typeface="Liberation Sans" panose="020B0604020202020204" pitchFamily="34" charset="0"/>
              </a:rPr>
              <a:t>(credit). </a:t>
            </a:r>
          </a:p>
          <a:p>
            <a:pPr lvl="1">
              <a:lnSpc>
                <a:spcPct val="115000"/>
              </a:lnSpc>
              <a:spcBef>
                <a:spcPct val="50000"/>
              </a:spcBef>
              <a:buClr>
                <a:srgbClr val="800000"/>
              </a:buClr>
              <a:buSzPct val="80000"/>
              <a:buFont typeface="Wingdings" panose="05000000000000000000" pitchFamily="2" charset="2"/>
              <a:buChar char="u"/>
            </a:pPr>
            <a:r>
              <a:rPr lang="en-US" altLang="en-US" sz="2200" dirty="0">
                <a:solidFill>
                  <a:schemeClr val="tx1"/>
                </a:solidFill>
                <a:latin typeface="Liberation Sans" panose="020B0604020202020204" pitchFamily="34" charset="0"/>
              </a:rPr>
              <a:t>Offsets related asset account </a:t>
            </a:r>
            <a:r>
              <a:rPr lang="en-US" altLang="en-US" sz="2200" b="0" dirty="0">
                <a:solidFill>
                  <a:schemeClr val="tx1"/>
                </a:solidFill>
                <a:latin typeface="Liberation Sans" panose="020B0604020202020204" pitchFamily="34" charset="0"/>
              </a:rPr>
              <a:t>on the balance sheet. </a:t>
            </a:r>
          </a:p>
          <a:p>
            <a:pPr lvl="1">
              <a:lnSpc>
                <a:spcPct val="115000"/>
              </a:lnSpc>
              <a:spcBef>
                <a:spcPct val="50000"/>
              </a:spcBef>
              <a:buClr>
                <a:srgbClr val="800000"/>
              </a:buClr>
              <a:buSzPct val="80000"/>
              <a:buFont typeface="Wingdings" panose="05000000000000000000" pitchFamily="2" charset="2"/>
              <a:buChar char="u"/>
            </a:pPr>
            <a:r>
              <a:rPr lang="en-US" altLang="en-US" sz="2200" dirty="0">
                <a:solidFill>
                  <a:schemeClr val="hlink"/>
                </a:solidFill>
                <a:latin typeface="Liberation Sans" panose="020B0604020202020204" pitchFamily="34" charset="0"/>
              </a:rPr>
              <a:t>Book value</a:t>
            </a:r>
            <a:r>
              <a:rPr lang="en-US" altLang="en-US" sz="2200" b="0" dirty="0">
                <a:solidFill>
                  <a:schemeClr val="tx1"/>
                </a:solidFill>
                <a:latin typeface="Liberation Sans" panose="020B0604020202020204" pitchFamily="34" charset="0"/>
              </a:rPr>
              <a:t> is the difference between the cost of any depreciable asset and its accumulated depreciation.</a:t>
            </a:r>
          </a:p>
        </p:txBody>
      </p:sp>
      <p:sp>
        <p:nvSpPr>
          <p:cNvPr id="9"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Depreciation</a:t>
            </a:r>
          </a:p>
        </p:txBody>
      </p:sp>
      <p:sp>
        <p:nvSpPr>
          <p:cNvPr id="7"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2750568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Line 11"/>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7"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Prepaid Expenses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981200"/>
            <a:ext cx="8534400" cy="2196406"/>
          </a:xfrm>
          <a:prstGeom prst="rect">
            <a:avLst/>
          </a:prstGeom>
          <a:noFill/>
          <a:ln w="19050" cap="sq"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2" name="Rectangle 1"/>
          <p:cNvSpPr/>
          <p:nvPr/>
        </p:nvSpPr>
        <p:spPr>
          <a:xfrm>
            <a:off x="1804219" y="4262736"/>
            <a:ext cx="2514600" cy="461665"/>
          </a:xfrm>
          <a:prstGeom prst="rect">
            <a:avLst/>
          </a:prstGeom>
        </p:spPr>
        <p:txBody>
          <a:bodyPr wrap="square">
            <a:spAutoFit/>
          </a:bodyPr>
          <a:lstStyle/>
          <a:p>
            <a:r>
              <a:rPr lang="en-US" sz="1200" dirty="0">
                <a:latin typeface="Liberation Sans" panose="020B0604020202020204" pitchFamily="34" charset="0"/>
              </a:rPr>
              <a:t>Illustration 3-9</a:t>
            </a:r>
          </a:p>
          <a:p>
            <a:r>
              <a:rPr lang="en-US" sz="1200" dirty="0">
                <a:latin typeface="Liberation Sans" panose="020B0604020202020204" pitchFamily="34" charset="0"/>
              </a:rPr>
              <a:t>Accounting for prepaid expenses</a:t>
            </a:r>
          </a:p>
        </p:txBody>
      </p:sp>
      <p:sp>
        <p:nvSpPr>
          <p:cNvPr id="10" name="Text Box 2"/>
          <p:cNvSpPr txBox="1">
            <a:spLocks noChangeArrowheads="1"/>
          </p:cNvSpPr>
          <p:nvPr/>
        </p:nvSpPr>
        <p:spPr bwMode="auto">
          <a:xfrm>
            <a:off x="2133600" y="1295401"/>
            <a:ext cx="7620000" cy="499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15000"/>
              </a:lnSpc>
              <a:spcBef>
                <a:spcPct val="50000"/>
              </a:spcBef>
              <a:buSzPct val="80000"/>
            </a:pPr>
            <a:r>
              <a:rPr lang="en-US" altLang="en-US" sz="2300" b="0" dirty="0">
                <a:solidFill>
                  <a:schemeClr val="tx1"/>
                </a:solidFill>
                <a:latin typeface="Liberation Sans" panose="020B0604020202020204" pitchFamily="34" charset="0"/>
              </a:rPr>
              <a:t>Summary of the accounting for prepaid expenses.</a:t>
            </a:r>
          </a:p>
        </p:txBody>
      </p:sp>
      <p:sp>
        <p:nvSpPr>
          <p:cNvPr id="8"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2241178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body" idx="4294967295"/>
          </p:nvPr>
        </p:nvSpPr>
        <p:spPr>
          <a:xfrm>
            <a:off x="2057400" y="1295400"/>
            <a:ext cx="8077200" cy="9144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0" indent="0">
              <a:lnSpc>
                <a:spcPct val="120000"/>
              </a:lnSpc>
              <a:buClr>
                <a:srgbClr val="006666"/>
              </a:buClr>
              <a:buNone/>
            </a:pPr>
            <a:r>
              <a:rPr lang="en-US" altLang="en-US" sz="2300" dirty="0">
                <a:latin typeface="Liberation Sans" panose="020B0604020202020204" pitchFamily="34" charset="0"/>
              </a:rPr>
              <a:t>Receipt of cash that is recorded as a liability because the service has not been performed.</a:t>
            </a:r>
          </a:p>
        </p:txBody>
      </p:sp>
      <p:sp>
        <p:nvSpPr>
          <p:cNvPr id="32771" name="Rectangle 6"/>
          <p:cNvSpPr>
            <a:spLocks noChangeArrowheads="1"/>
          </p:cNvSpPr>
          <p:nvPr/>
        </p:nvSpPr>
        <p:spPr bwMode="auto">
          <a:xfrm>
            <a:off x="2362200" y="4029670"/>
            <a:ext cx="27432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marL="571500" lvl="1" indent="-457200">
              <a:spcBef>
                <a:spcPts val="1200"/>
              </a:spcBef>
              <a:buClr>
                <a:srgbClr val="800000"/>
              </a:buClr>
              <a:buSzPct val="80000"/>
              <a:buFont typeface="Wingdings" panose="05000000000000000000" pitchFamily="2" charset="2"/>
              <a:buChar char="u"/>
            </a:pPr>
            <a:r>
              <a:rPr lang="en-US" altLang="en-US" sz="2200" dirty="0">
                <a:solidFill>
                  <a:schemeClr val="bg2"/>
                </a:solidFill>
                <a:latin typeface="Liberation Sans" panose="020B0604020202020204" pitchFamily="34" charset="0"/>
              </a:rPr>
              <a:t>Rent</a:t>
            </a:r>
          </a:p>
          <a:p>
            <a:pPr marL="571500" lvl="1" indent="-457200">
              <a:spcBef>
                <a:spcPts val="1200"/>
              </a:spcBef>
              <a:buClr>
                <a:srgbClr val="800000"/>
              </a:buClr>
              <a:buSzPct val="80000"/>
              <a:buFont typeface="Wingdings" panose="05000000000000000000" pitchFamily="2" charset="2"/>
              <a:buChar char="u"/>
            </a:pPr>
            <a:r>
              <a:rPr lang="en-US" altLang="en-US" sz="2200" dirty="0">
                <a:solidFill>
                  <a:schemeClr val="bg2"/>
                </a:solidFill>
                <a:latin typeface="Liberation Sans" panose="020B0604020202020204" pitchFamily="34" charset="0"/>
              </a:rPr>
              <a:t>Airline tickets</a:t>
            </a:r>
          </a:p>
        </p:txBody>
      </p:sp>
      <p:sp>
        <p:nvSpPr>
          <p:cNvPr id="32772" name="Text Box 8"/>
          <p:cNvSpPr txBox="1">
            <a:spLocks noChangeArrowheads="1"/>
          </p:cNvSpPr>
          <p:nvPr/>
        </p:nvSpPr>
        <p:spPr bwMode="auto">
          <a:xfrm>
            <a:off x="2514600" y="2544764"/>
            <a:ext cx="2438400" cy="492443"/>
          </a:xfrm>
          <a:prstGeom prst="rect">
            <a:avLst/>
          </a:prstGeom>
          <a:solidFill>
            <a:srgbClr val="FFFF99"/>
          </a:solidFill>
          <a:ln w="28575">
            <a:solidFill>
              <a:schemeClr val="tx1"/>
            </a:solidFill>
            <a:miter lim="800000"/>
          </a:ln>
          <a:effectLst>
            <a:innerShdw blurRad="114300">
              <a:prstClr val="black"/>
            </a:innerShdw>
          </a:effectLst>
        </p:spPr>
        <p:txBody>
          <a:bodyPr bIns="91440">
            <a:spAutoFit/>
          </a:bodyPr>
          <a:lstStyle>
            <a:defPPr>
              <a:defRPr lang="en-US"/>
            </a:defPPr>
            <a:lvl1pPr marL="457200" indent="-457200" algn="ctr">
              <a:defRPr sz="2300">
                <a:solidFill>
                  <a:schemeClr val="tx1"/>
                </a:solidFill>
                <a:latin typeface="Liberation Sans" panose="020B0604020202020204" pitchFamily="34" charset="0"/>
                <a:cs typeface="Arial" panose="020B060402020202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en-US" dirty="0"/>
              <a:t>Cash Receipt</a:t>
            </a:r>
          </a:p>
        </p:txBody>
      </p:sp>
      <p:sp>
        <p:nvSpPr>
          <p:cNvPr id="32773" name="Text Box 9"/>
          <p:cNvSpPr txBox="1">
            <a:spLocks noChangeArrowheads="1"/>
          </p:cNvSpPr>
          <p:nvPr/>
        </p:nvSpPr>
        <p:spPr bwMode="auto">
          <a:xfrm>
            <a:off x="6618288" y="2544764"/>
            <a:ext cx="3135312" cy="492443"/>
          </a:xfrm>
          <a:prstGeom prst="rect">
            <a:avLst/>
          </a:prstGeom>
          <a:solidFill>
            <a:srgbClr val="FFFF99"/>
          </a:solidFill>
          <a:ln w="28575">
            <a:solidFill>
              <a:schemeClr val="tx1"/>
            </a:solidFill>
            <a:miter lim="800000"/>
          </a:ln>
          <a:effectLst>
            <a:innerShdw blurRad="114300">
              <a:prstClr val="black"/>
            </a:innerShdw>
          </a:effectLst>
        </p:spPr>
        <p:txBody>
          <a:bodyPr bIns="91440">
            <a:spAutoFit/>
          </a:bodyPr>
          <a:lstStyle>
            <a:defPPr>
              <a:defRPr lang="en-US"/>
            </a:defPPr>
            <a:lvl1pPr marL="457200" indent="-457200" algn="ctr">
              <a:defRPr sz="2300">
                <a:solidFill>
                  <a:schemeClr val="tx1"/>
                </a:solidFill>
                <a:latin typeface="Liberation Sans" panose="020B0604020202020204" pitchFamily="34" charset="0"/>
                <a:cs typeface="Arial" panose="020B060402020202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en-US" dirty="0"/>
              <a:t>Revenue Recorded</a:t>
            </a:r>
          </a:p>
        </p:txBody>
      </p:sp>
      <p:sp>
        <p:nvSpPr>
          <p:cNvPr id="32774" name="Text Box 10"/>
          <p:cNvSpPr txBox="1">
            <a:spLocks noChangeArrowheads="1"/>
          </p:cNvSpPr>
          <p:nvPr/>
        </p:nvSpPr>
        <p:spPr bwMode="auto">
          <a:xfrm>
            <a:off x="4724400" y="2578608"/>
            <a:ext cx="21336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indent="-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spcBef>
                <a:spcPct val="50000"/>
              </a:spcBef>
            </a:pPr>
            <a:r>
              <a:rPr lang="en-US" altLang="en-US" sz="2300" dirty="0">
                <a:solidFill>
                  <a:srgbClr val="800000"/>
                </a:solidFill>
                <a:latin typeface="Liberation Sans" panose="020B0604020202020204" pitchFamily="34" charset="0"/>
                <a:cs typeface="Arial" panose="020B0604020202020204" pitchFamily="34" charset="0"/>
              </a:rPr>
              <a:t>BEFORE</a:t>
            </a:r>
          </a:p>
        </p:txBody>
      </p:sp>
      <p:sp>
        <p:nvSpPr>
          <p:cNvPr id="32775" name="Rectangle 12"/>
          <p:cNvSpPr>
            <a:spLocks noChangeArrowheads="1"/>
          </p:cNvSpPr>
          <p:nvPr/>
        </p:nvSpPr>
        <p:spPr bwMode="auto">
          <a:xfrm>
            <a:off x="5410200" y="4009032"/>
            <a:ext cx="48006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marL="571500" lvl="1" indent="-457200">
              <a:spcBef>
                <a:spcPts val="1200"/>
              </a:spcBef>
              <a:buClr>
                <a:srgbClr val="800000"/>
              </a:buClr>
              <a:buSzPct val="80000"/>
              <a:buFont typeface="Wingdings" panose="05000000000000000000" pitchFamily="2" charset="2"/>
              <a:buChar char="u"/>
            </a:pPr>
            <a:r>
              <a:rPr lang="en-US" altLang="en-US" sz="2200" dirty="0">
                <a:solidFill>
                  <a:schemeClr val="bg2"/>
                </a:solidFill>
                <a:latin typeface="Liberation Sans" panose="020B0604020202020204" pitchFamily="34" charset="0"/>
              </a:rPr>
              <a:t>Magazine subscriptions</a:t>
            </a:r>
          </a:p>
          <a:p>
            <a:pPr marL="571500" lvl="1" indent="-457200">
              <a:spcBef>
                <a:spcPts val="1200"/>
              </a:spcBef>
              <a:buClr>
                <a:srgbClr val="800000"/>
              </a:buClr>
              <a:buSzPct val="80000"/>
              <a:buFont typeface="Wingdings" panose="05000000000000000000" pitchFamily="2" charset="2"/>
              <a:buChar char="u"/>
            </a:pPr>
            <a:r>
              <a:rPr lang="en-US" altLang="en-US" sz="2200" dirty="0">
                <a:solidFill>
                  <a:schemeClr val="bg2"/>
                </a:solidFill>
                <a:latin typeface="Liberation Sans" panose="020B0604020202020204" pitchFamily="34" charset="0"/>
              </a:rPr>
              <a:t>Customer deposits</a:t>
            </a:r>
          </a:p>
        </p:txBody>
      </p:sp>
      <p:sp>
        <p:nvSpPr>
          <p:cNvPr id="32776" name="Rectangle 13"/>
          <p:cNvSpPr>
            <a:spLocks noChangeArrowheads="1"/>
          </p:cNvSpPr>
          <p:nvPr/>
        </p:nvSpPr>
        <p:spPr bwMode="auto">
          <a:xfrm>
            <a:off x="2133600" y="3429000"/>
            <a:ext cx="632460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indent="-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Aft>
                <a:spcPct val="20000"/>
              </a:spcAft>
              <a:buSzPct val="80000"/>
            </a:pPr>
            <a:r>
              <a:rPr lang="en-US" altLang="en-US" sz="2300" dirty="0">
                <a:solidFill>
                  <a:schemeClr val="bg2"/>
                </a:solidFill>
                <a:latin typeface="Liberation Sans" panose="020B0604020202020204" pitchFamily="34" charset="0"/>
              </a:rPr>
              <a:t>Unearned revenues </a:t>
            </a:r>
            <a:r>
              <a:rPr lang="en-US" altLang="en-US" sz="2300" b="0" dirty="0">
                <a:solidFill>
                  <a:schemeClr val="bg2"/>
                </a:solidFill>
                <a:latin typeface="Liberation Sans" panose="020B0604020202020204" pitchFamily="34" charset="0"/>
              </a:rPr>
              <a:t>often occur in regard to:</a:t>
            </a:r>
          </a:p>
        </p:txBody>
      </p:sp>
      <p:sp>
        <p:nvSpPr>
          <p:cNvPr id="31755" name="Line 11"/>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3"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Unearned Revenues</a:t>
            </a:r>
          </a:p>
        </p:txBody>
      </p:sp>
      <p:sp>
        <p:nvSpPr>
          <p:cNvPr id="11"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27897846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8"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7512" y="3962400"/>
            <a:ext cx="6288888"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2773" name="Line 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33797" name="Rectangle 8"/>
          <p:cNvSpPr>
            <a:spLocks noChangeArrowheads="1"/>
          </p:cNvSpPr>
          <p:nvPr/>
        </p:nvSpPr>
        <p:spPr bwMode="auto">
          <a:xfrm>
            <a:off x="8610600" y="3916362"/>
            <a:ext cx="1524000" cy="274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tx1"/>
                </a:solidFill>
                <a:latin typeface="Liberation Sans" panose="020B0604020202020204" pitchFamily="34" charset="0"/>
              </a:rPr>
              <a:t>Illustration 3-10</a:t>
            </a:r>
          </a:p>
        </p:txBody>
      </p:sp>
      <p:sp>
        <p:nvSpPr>
          <p:cNvPr id="33799" name="Text Box 2050"/>
          <p:cNvSpPr txBox="1">
            <a:spLocks noChangeArrowheads="1"/>
          </p:cNvSpPr>
          <p:nvPr/>
        </p:nvSpPr>
        <p:spPr bwMode="auto">
          <a:xfrm>
            <a:off x="2133600" y="1295400"/>
            <a:ext cx="7772400" cy="24468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1">
              <a:lnSpc>
                <a:spcPct val="120000"/>
              </a:lnSpc>
              <a:spcBef>
                <a:spcPts val="1800"/>
              </a:spcBef>
              <a:buClr>
                <a:srgbClr val="800000"/>
              </a:buClr>
              <a:buSzPct val="80000"/>
              <a:buFont typeface="Wingdings" panose="05000000000000000000" pitchFamily="2" charset="2"/>
              <a:buChar char="u"/>
            </a:pPr>
            <a:r>
              <a:rPr lang="en-US" altLang="en-US" sz="2300" b="0" dirty="0">
                <a:solidFill>
                  <a:schemeClr val="tx1"/>
                </a:solidFill>
                <a:latin typeface="Liberation Sans" panose="020B0604020202020204" pitchFamily="34" charset="0"/>
              </a:rPr>
              <a:t>Adjusting entry is made to </a:t>
            </a:r>
            <a:r>
              <a:rPr lang="en-US" altLang="en-US" sz="2300" dirty="0">
                <a:solidFill>
                  <a:schemeClr val="tx1"/>
                </a:solidFill>
                <a:latin typeface="Liberation Sans" panose="020B0604020202020204" pitchFamily="34" charset="0"/>
              </a:rPr>
              <a:t>record the revenue</a:t>
            </a:r>
            <a:r>
              <a:rPr lang="en-US" altLang="en-US" sz="2300" b="0" dirty="0">
                <a:solidFill>
                  <a:schemeClr val="tx1"/>
                </a:solidFill>
                <a:latin typeface="Liberation Sans" panose="020B0604020202020204" pitchFamily="34" charset="0"/>
              </a:rPr>
              <a:t> for services performed during the period and to show the liability that remains at the end of the period.</a:t>
            </a:r>
          </a:p>
          <a:p>
            <a:pPr lvl="1">
              <a:lnSpc>
                <a:spcPct val="120000"/>
              </a:lnSpc>
              <a:spcBef>
                <a:spcPts val="1800"/>
              </a:spcBef>
              <a:buClr>
                <a:srgbClr val="800000"/>
              </a:buClr>
              <a:buSzPct val="80000"/>
              <a:buFont typeface="Wingdings" panose="05000000000000000000" pitchFamily="2" charset="2"/>
              <a:buChar char="u"/>
            </a:pPr>
            <a:r>
              <a:rPr lang="en-US" altLang="en-US" sz="2300" b="0" dirty="0">
                <a:solidFill>
                  <a:schemeClr val="tx1"/>
                </a:solidFill>
                <a:latin typeface="Liberation Sans" panose="020B0604020202020204" pitchFamily="34" charset="0"/>
              </a:rPr>
              <a:t>Results in a </a:t>
            </a:r>
            <a:r>
              <a:rPr lang="en-US" altLang="en-US" sz="2300" dirty="0">
                <a:solidFill>
                  <a:schemeClr val="tx1"/>
                </a:solidFill>
                <a:latin typeface="Liberation Sans" panose="020B0604020202020204" pitchFamily="34" charset="0"/>
              </a:rPr>
              <a:t>decrease</a:t>
            </a:r>
            <a:r>
              <a:rPr lang="en-US" altLang="en-US" sz="2300" b="0" dirty="0">
                <a:solidFill>
                  <a:schemeClr val="tx1"/>
                </a:solidFill>
                <a:latin typeface="Liberation Sans" panose="020B0604020202020204" pitchFamily="34" charset="0"/>
              </a:rPr>
              <a:t> (debit) to a </a:t>
            </a:r>
            <a:r>
              <a:rPr lang="en-US" altLang="en-US" sz="2300" dirty="0">
                <a:solidFill>
                  <a:schemeClr val="tx1"/>
                </a:solidFill>
                <a:latin typeface="Liberation Sans" panose="020B0604020202020204" pitchFamily="34" charset="0"/>
              </a:rPr>
              <a:t>liability account</a:t>
            </a:r>
            <a:r>
              <a:rPr lang="en-US" altLang="en-US" sz="2300" b="0" dirty="0">
                <a:solidFill>
                  <a:schemeClr val="tx1"/>
                </a:solidFill>
                <a:latin typeface="Liberation Sans" panose="020B0604020202020204" pitchFamily="34" charset="0"/>
              </a:rPr>
              <a:t> and an </a:t>
            </a:r>
            <a:r>
              <a:rPr lang="en-US" altLang="en-US" sz="2300" dirty="0">
                <a:solidFill>
                  <a:schemeClr val="tx1"/>
                </a:solidFill>
                <a:latin typeface="Liberation Sans" panose="020B0604020202020204" pitchFamily="34" charset="0"/>
              </a:rPr>
              <a:t>increase</a:t>
            </a:r>
            <a:r>
              <a:rPr lang="en-US" altLang="en-US" sz="2300" b="0" dirty="0">
                <a:solidFill>
                  <a:schemeClr val="tx1"/>
                </a:solidFill>
                <a:latin typeface="Liberation Sans" panose="020B0604020202020204" pitchFamily="34" charset="0"/>
              </a:rPr>
              <a:t> (credit) to a </a:t>
            </a:r>
            <a:r>
              <a:rPr lang="en-US" altLang="en-US" sz="2300" dirty="0">
                <a:solidFill>
                  <a:schemeClr val="tx1"/>
                </a:solidFill>
                <a:latin typeface="Liberation Sans" panose="020B0604020202020204" pitchFamily="34" charset="0"/>
              </a:rPr>
              <a:t>revenue account</a:t>
            </a:r>
            <a:r>
              <a:rPr lang="en-US" altLang="en-US" sz="2300" b="0" dirty="0">
                <a:solidFill>
                  <a:schemeClr val="tx1"/>
                </a:solidFill>
                <a:latin typeface="Liberation Sans" panose="020B0604020202020204" pitchFamily="34" charset="0"/>
              </a:rPr>
              <a:t>.</a:t>
            </a:r>
          </a:p>
        </p:txBody>
      </p:sp>
      <p:sp>
        <p:nvSpPr>
          <p:cNvPr id="9"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Unearned Revenues</a:t>
            </a:r>
          </a:p>
        </p:txBody>
      </p:sp>
      <p:sp>
        <p:nvSpPr>
          <p:cNvPr id="7"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22048674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0"/>
          <p:cNvSpPr txBox="1">
            <a:spLocks noChangeArrowheads="1"/>
          </p:cNvSpPr>
          <p:nvPr/>
        </p:nvSpPr>
        <p:spPr bwMode="auto">
          <a:xfrm>
            <a:off x="2133600" y="1295401"/>
            <a:ext cx="5562600"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5000"/>
              </a:lnSpc>
            </a:pPr>
            <a:r>
              <a:rPr lang="en-US" altLang="en-US" sz="2100" dirty="0">
                <a:solidFill>
                  <a:schemeClr val="tx1"/>
                </a:solidFill>
                <a:latin typeface="Liberation Sans" panose="020B0604020202020204" pitchFamily="34" charset="0"/>
              </a:rPr>
              <a:t>Illustration:  </a:t>
            </a:r>
            <a:r>
              <a:rPr lang="en-US" altLang="en-US" sz="2100" b="0" dirty="0">
                <a:solidFill>
                  <a:schemeClr val="tx1"/>
                </a:solidFill>
                <a:latin typeface="Liberation Sans" panose="020B0604020202020204" pitchFamily="34" charset="0"/>
              </a:rPr>
              <a:t>Pioneer Advertising received $1,200 on October 2 from R. Knox for advertising services expected to be completed by December 31.  Unearned Service Revenue shows a balance of $1,200 in the October 31 trial balance. Analysis reveals that the company performed $400 of services in October.</a:t>
            </a:r>
          </a:p>
        </p:txBody>
      </p:sp>
      <p:sp>
        <p:nvSpPr>
          <p:cNvPr id="315429" name="Text Box 37"/>
          <p:cNvSpPr txBox="1">
            <a:spLocks noChangeArrowheads="1"/>
          </p:cNvSpPr>
          <p:nvPr/>
        </p:nvSpPr>
        <p:spPr bwMode="auto">
          <a:xfrm>
            <a:off x="3505200" y="5683250"/>
            <a:ext cx="3505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Service Revenue</a:t>
            </a:r>
          </a:p>
        </p:txBody>
      </p:sp>
      <p:sp>
        <p:nvSpPr>
          <p:cNvPr id="315432" name="Text Box 40"/>
          <p:cNvSpPr txBox="1">
            <a:spLocks noChangeArrowheads="1"/>
          </p:cNvSpPr>
          <p:nvPr/>
        </p:nvSpPr>
        <p:spPr bwMode="auto">
          <a:xfrm>
            <a:off x="8458200" y="5683250"/>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400</a:t>
            </a:r>
          </a:p>
        </p:txBody>
      </p:sp>
      <p:sp>
        <p:nvSpPr>
          <p:cNvPr id="315433" name="Text Box 41"/>
          <p:cNvSpPr txBox="1">
            <a:spLocks noChangeArrowheads="1"/>
          </p:cNvSpPr>
          <p:nvPr/>
        </p:nvSpPr>
        <p:spPr bwMode="auto">
          <a:xfrm>
            <a:off x="3505200" y="5224462"/>
            <a:ext cx="38100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Unearned Service Revenue</a:t>
            </a:r>
          </a:p>
        </p:txBody>
      </p:sp>
      <p:sp>
        <p:nvSpPr>
          <p:cNvPr id="315434" name="Text Box 42"/>
          <p:cNvSpPr txBox="1">
            <a:spLocks noChangeArrowheads="1"/>
          </p:cNvSpPr>
          <p:nvPr/>
        </p:nvSpPr>
        <p:spPr bwMode="auto">
          <a:xfrm>
            <a:off x="7467600" y="5224462"/>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400</a:t>
            </a:r>
          </a:p>
        </p:txBody>
      </p:sp>
      <p:sp>
        <p:nvSpPr>
          <p:cNvPr id="34823" name="Text Box 48"/>
          <p:cNvSpPr txBox="1">
            <a:spLocks noChangeArrowheads="1"/>
          </p:cNvSpPr>
          <p:nvPr/>
        </p:nvSpPr>
        <p:spPr bwMode="auto">
          <a:xfrm>
            <a:off x="2133600" y="5224462"/>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Oct. 31</a:t>
            </a:r>
          </a:p>
        </p:txBody>
      </p:sp>
      <p:sp>
        <p:nvSpPr>
          <p:cNvPr id="33802" name="Line 10"/>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1"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Unearned Revenues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9011" y="654500"/>
            <a:ext cx="2892989" cy="467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237420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5433"/>
                                        </p:tgtEl>
                                        <p:attrNameLst>
                                          <p:attrName>style.visibility</p:attrName>
                                        </p:attrNameLst>
                                      </p:cBhvr>
                                      <p:to>
                                        <p:strVal val="visible"/>
                                      </p:to>
                                    </p:set>
                                    <p:animEffect transition="in" filter="wipe(left)">
                                      <p:cBhvr>
                                        <p:cTn id="7" dur="500"/>
                                        <p:tgtEl>
                                          <p:spTgt spid="31543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5434"/>
                                        </p:tgtEl>
                                        <p:attrNameLst>
                                          <p:attrName>style.visibility</p:attrName>
                                        </p:attrNameLst>
                                      </p:cBhvr>
                                      <p:to>
                                        <p:strVal val="visible"/>
                                      </p:to>
                                    </p:set>
                                    <p:animEffect transition="in" filter="wipe(left)">
                                      <p:cBhvr>
                                        <p:cTn id="11" dur="500"/>
                                        <p:tgtEl>
                                          <p:spTgt spid="31543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5429"/>
                                        </p:tgtEl>
                                        <p:attrNameLst>
                                          <p:attrName>style.visibility</p:attrName>
                                        </p:attrNameLst>
                                      </p:cBhvr>
                                      <p:to>
                                        <p:strVal val="visible"/>
                                      </p:to>
                                    </p:set>
                                    <p:animEffect transition="in" filter="wipe(left)">
                                      <p:cBhvr>
                                        <p:cTn id="16" dur="500"/>
                                        <p:tgtEl>
                                          <p:spTgt spid="315429"/>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15432"/>
                                        </p:tgtEl>
                                        <p:attrNameLst>
                                          <p:attrName>style.visibility</p:attrName>
                                        </p:attrNameLst>
                                      </p:cBhvr>
                                      <p:to>
                                        <p:strVal val="visible"/>
                                      </p:to>
                                    </p:set>
                                    <p:animEffect transition="in" filter="wipe(left)">
                                      <p:cBhvr>
                                        <p:cTn id="20" dur="500"/>
                                        <p:tgtEl>
                                          <p:spTgt spid="315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29" grpId="0" autoUpdateAnimBg="0"/>
      <p:bldP spid="315432" grpId="0" autoUpdateAnimBg="0"/>
      <p:bldP spid="315433" grpId="0" autoUpdateAnimBg="0"/>
      <p:bldP spid="315434"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9601200" y="647700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pic>
        <p:nvPicPr>
          <p:cNvPr id="35842"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323975"/>
            <a:ext cx="8153400" cy="51625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34819" name="Line 3"/>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35846" name="Rectangle 5"/>
          <p:cNvSpPr>
            <a:spLocks noChangeArrowheads="1"/>
          </p:cNvSpPr>
          <p:nvPr/>
        </p:nvSpPr>
        <p:spPr bwMode="auto">
          <a:xfrm>
            <a:off x="8229600" y="1219200"/>
            <a:ext cx="1524000" cy="274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1200" dirty="0">
                <a:solidFill>
                  <a:schemeClr val="tx1"/>
                </a:solidFill>
                <a:latin typeface="Liberation Sans" panose="020B0604020202020204" pitchFamily="34" charset="0"/>
              </a:rPr>
              <a:t>Illustration 3-11</a:t>
            </a:r>
          </a:p>
        </p:txBody>
      </p:sp>
      <p:sp>
        <p:nvSpPr>
          <p:cNvPr id="7"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Unearned Revenues</a:t>
            </a:r>
          </a:p>
        </p:txBody>
      </p:sp>
    </p:spTree>
    <p:extLst>
      <p:ext uri="{BB962C8B-B14F-4D97-AF65-F5344CB8AC3E}">
        <p14:creationId xmlns:p14="http://schemas.microsoft.com/office/powerpoint/2010/main" val="1079887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9"/>
          <p:cNvSpPr txBox="1">
            <a:spLocks noChangeArrowheads="1"/>
          </p:cNvSpPr>
          <p:nvPr/>
        </p:nvSpPr>
        <p:spPr bwMode="auto">
          <a:xfrm>
            <a:off x="9067800" y="1782764"/>
            <a:ext cx="1371600" cy="274637"/>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tx1"/>
                </a:solidFill>
                <a:latin typeface="Liberation Sans" panose="020B0604020202020204" pitchFamily="34" charset="0"/>
              </a:rPr>
              <a:t>Illustration 3-12</a:t>
            </a:r>
          </a:p>
        </p:txBody>
      </p:sp>
      <p:sp>
        <p:nvSpPr>
          <p:cNvPr id="35845" name="Line 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7"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Unearned Revenues</a:t>
            </a:r>
          </a:p>
        </p:txBody>
      </p:sp>
      <p:sp>
        <p:nvSpPr>
          <p:cNvPr id="8" name="Text Box 2"/>
          <p:cNvSpPr txBox="1">
            <a:spLocks noChangeArrowheads="1"/>
          </p:cNvSpPr>
          <p:nvPr/>
        </p:nvSpPr>
        <p:spPr bwMode="auto">
          <a:xfrm>
            <a:off x="2133600" y="1295401"/>
            <a:ext cx="7620000" cy="445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15000"/>
              </a:lnSpc>
              <a:spcBef>
                <a:spcPct val="50000"/>
              </a:spcBef>
              <a:buSzPct val="80000"/>
            </a:pPr>
            <a:r>
              <a:rPr lang="en-US" altLang="en-US" sz="2000" b="0" dirty="0">
                <a:solidFill>
                  <a:schemeClr val="tx1"/>
                </a:solidFill>
                <a:latin typeface="Liberation Sans" panose="020B0604020202020204" pitchFamily="34" charset="0"/>
              </a:rPr>
              <a:t>Summary of the accounting for unearned revenues.</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2133600"/>
            <a:ext cx="8534400" cy="2704110"/>
          </a:xfrm>
          <a:prstGeom prst="rect">
            <a:avLst/>
          </a:prstGeom>
          <a:noFill/>
          <a:ln w="19050" cap="sq"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9"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3568635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ChangeArrowheads="1"/>
          </p:cNvSpPr>
          <p:nvPr/>
        </p:nvSpPr>
        <p:spPr bwMode="auto">
          <a:xfrm>
            <a:off x="2133600" y="1381125"/>
            <a:ext cx="8001000" cy="496443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nSpc>
                <a:spcPct val="120000"/>
              </a:lnSpc>
              <a:spcBef>
                <a:spcPts val="600"/>
              </a:spcBef>
            </a:pPr>
            <a:r>
              <a:rPr lang="en-US" sz="1800" dirty="0">
                <a:solidFill>
                  <a:schemeClr val="tx1"/>
                </a:solidFill>
                <a:latin typeface="Liberation Sans" panose="020B0604020202020204" pitchFamily="34" charset="0"/>
              </a:rPr>
              <a:t>The ledger of Hammond Company, on March 31, 2017, includes these selected accounts before adjusting entries are prepared.</a:t>
            </a:r>
          </a:p>
          <a:p>
            <a:pPr>
              <a:lnSpc>
                <a:spcPct val="120000"/>
              </a:lnSpc>
              <a:spcBef>
                <a:spcPts val="600"/>
              </a:spcBef>
              <a:tabLst>
                <a:tab pos="5544820" algn="ctr"/>
                <a:tab pos="6740525" algn="ctr"/>
              </a:tabLst>
            </a:pPr>
            <a:r>
              <a:rPr lang="en-US" sz="1800" dirty="0">
                <a:solidFill>
                  <a:schemeClr val="tx1"/>
                </a:solidFill>
                <a:latin typeface="Liberation Sans" panose="020B0604020202020204" pitchFamily="34" charset="0"/>
              </a:rPr>
              <a:t>	Debit 	Credit</a:t>
            </a:r>
          </a:p>
          <a:p>
            <a:pPr indent="457200">
              <a:spcBef>
                <a:spcPts val="600"/>
              </a:spcBef>
              <a:tabLst>
                <a:tab pos="2057400" algn="l"/>
                <a:tab pos="5943600" algn="r"/>
                <a:tab pos="7094220" algn="r"/>
              </a:tabLst>
            </a:pPr>
            <a:r>
              <a:rPr lang="en-US" sz="1800" dirty="0">
                <a:solidFill>
                  <a:schemeClr val="tx1"/>
                </a:solidFill>
                <a:latin typeface="Liberation Sans" panose="020B0604020202020204" pitchFamily="34" charset="0"/>
              </a:rPr>
              <a:t>Prepaid Insurance 	$ 3,600</a:t>
            </a:r>
          </a:p>
          <a:p>
            <a:pPr indent="457200">
              <a:tabLst>
                <a:tab pos="2057400" algn="l"/>
                <a:tab pos="5943600" algn="r"/>
                <a:tab pos="7094220" algn="r"/>
              </a:tabLst>
            </a:pPr>
            <a:r>
              <a:rPr lang="en-US" sz="1800" dirty="0">
                <a:solidFill>
                  <a:schemeClr val="tx1"/>
                </a:solidFill>
                <a:latin typeface="Liberation Sans" panose="020B0604020202020204" pitchFamily="34" charset="0"/>
              </a:rPr>
              <a:t>Supplies 		2,800</a:t>
            </a:r>
          </a:p>
          <a:p>
            <a:pPr indent="457200">
              <a:tabLst>
                <a:tab pos="2057400" algn="l"/>
                <a:tab pos="5943600" algn="r"/>
                <a:tab pos="7094220" algn="r"/>
              </a:tabLst>
            </a:pPr>
            <a:r>
              <a:rPr lang="en-US" sz="1800" dirty="0">
                <a:solidFill>
                  <a:schemeClr val="tx1"/>
                </a:solidFill>
                <a:latin typeface="Liberation Sans" panose="020B0604020202020204" pitchFamily="34" charset="0"/>
              </a:rPr>
              <a:t>Equipment 		25,000</a:t>
            </a:r>
          </a:p>
          <a:p>
            <a:pPr indent="457200">
              <a:tabLst>
                <a:tab pos="2057400" algn="l"/>
                <a:tab pos="5943600" algn="r"/>
                <a:tab pos="7094220" algn="r"/>
              </a:tabLst>
            </a:pPr>
            <a:r>
              <a:rPr lang="en-US" sz="1800" dirty="0">
                <a:solidFill>
                  <a:schemeClr val="tx1"/>
                </a:solidFill>
                <a:latin typeface="Liberation Sans" panose="020B0604020202020204" pitchFamily="34" charset="0"/>
              </a:rPr>
              <a:t>Accumulated Depreciation—Equipment 		$5,000</a:t>
            </a:r>
          </a:p>
          <a:p>
            <a:pPr indent="457200">
              <a:tabLst>
                <a:tab pos="2057400" algn="l"/>
                <a:tab pos="5943600" algn="r"/>
                <a:tab pos="7094220" algn="r"/>
              </a:tabLst>
            </a:pPr>
            <a:r>
              <a:rPr lang="en-US" sz="1800" dirty="0">
                <a:solidFill>
                  <a:schemeClr val="tx1"/>
                </a:solidFill>
                <a:latin typeface="Liberation Sans" panose="020B0604020202020204" pitchFamily="34" charset="0"/>
              </a:rPr>
              <a:t>Unearned Service Revenue 		9,200</a:t>
            </a:r>
          </a:p>
          <a:p>
            <a:pPr>
              <a:lnSpc>
                <a:spcPct val="120000"/>
              </a:lnSpc>
              <a:spcBef>
                <a:spcPts val="600"/>
              </a:spcBef>
            </a:pPr>
            <a:r>
              <a:rPr lang="en-US" sz="1800" dirty="0">
                <a:solidFill>
                  <a:schemeClr val="tx1"/>
                </a:solidFill>
                <a:latin typeface="Liberation Sans" panose="020B0604020202020204" pitchFamily="34" charset="0"/>
              </a:rPr>
              <a:t>An analysis of the accounts shows the following.</a:t>
            </a:r>
          </a:p>
          <a:p>
            <a:pPr marL="342900" indent="-342900">
              <a:lnSpc>
                <a:spcPct val="120000"/>
              </a:lnSpc>
              <a:spcBef>
                <a:spcPts val="600"/>
              </a:spcBef>
              <a:buFont typeface="+mj-lt"/>
              <a:buAutoNum type="arabicPeriod"/>
            </a:pPr>
            <a:r>
              <a:rPr lang="en-US" sz="1800" dirty="0">
                <a:solidFill>
                  <a:schemeClr val="tx1"/>
                </a:solidFill>
                <a:latin typeface="Liberation Sans" panose="020B0604020202020204" pitchFamily="34" charset="0"/>
              </a:rPr>
              <a:t>Insurance expires at the rate of $100 per month.</a:t>
            </a:r>
          </a:p>
          <a:p>
            <a:pPr marL="342900" indent="-342900">
              <a:buFont typeface="+mj-lt"/>
              <a:buAutoNum type="arabicPeriod"/>
            </a:pPr>
            <a:r>
              <a:rPr lang="en-US" sz="1800" dirty="0">
                <a:solidFill>
                  <a:schemeClr val="tx1"/>
                </a:solidFill>
                <a:latin typeface="Liberation Sans" panose="020B0604020202020204" pitchFamily="34" charset="0"/>
              </a:rPr>
              <a:t>Supplies on hand total $800.</a:t>
            </a:r>
          </a:p>
          <a:p>
            <a:pPr marL="342900" indent="-342900">
              <a:buFont typeface="+mj-lt"/>
              <a:buAutoNum type="arabicPeriod"/>
            </a:pPr>
            <a:r>
              <a:rPr lang="en-US" sz="1800" dirty="0">
                <a:solidFill>
                  <a:schemeClr val="tx1"/>
                </a:solidFill>
                <a:latin typeface="Liberation Sans" panose="020B0604020202020204" pitchFamily="34" charset="0"/>
              </a:rPr>
              <a:t>The equipment depreciates $200 a month.</a:t>
            </a:r>
          </a:p>
          <a:p>
            <a:pPr marL="342900" indent="-342900">
              <a:buFont typeface="+mj-lt"/>
              <a:buAutoNum type="arabicPeriod"/>
            </a:pPr>
            <a:r>
              <a:rPr lang="en-US" sz="1800" dirty="0">
                <a:solidFill>
                  <a:schemeClr val="tx1"/>
                </a:solidFill>
                <a:latin typeface="Liberation Sans" panose="020B0604020202020204" pitchFamily="34" charset="0"/>
              </a:rPr>
              <a:t>During March, services were performed for one-half of the unearned service revenue.</a:t>
            </a:r>
          </a:p>
          <a:p>
            <a:pPr>
              <a:lnSpc>
                <a:spcPct val="120000"/>
              </a:lnSpc>
              <a:spcBef>
                <a:spcPts val="600"/>
              </a:spcBef>
            </a:pPr>
            <a:r>
              <a:rPr lang="en-US" sz="1800" dirty="0">
                <a:solidFill>
                  <a:schemeClr val="tx1"/>
                </a:solidFill>
                <a:latin typeface="Liberation Sans" panose="020B0604020202020204" pitchFamily="34" charset="0"/>
              </a:rPr>
              <a:t>Prepare the adjusting entries for the month of March.</a:t>
            </a:r>
            <a:endParaRPr lang="en-US" altLang="en-US" sz="1700" dirty="0">
              <a:solidFill>
                <a:schemeClr val="tx1"/>
              </a:solidFill>
              <a:latin typeface="Liberation Sans" panose="020B0604020202020204" pitchFamily="34" charset="0"/>
            </a:endParaRPr>
          </a:p>
        </p:txBody>
      </p:sp>
      <p:sp>
        <p:nvSpPr>
          <p:cNvPr id="15" name="Line 29"/>
          <p:cNvSpPr>
            <a:spLocks noChangeShapeType="1"/>
          </p:cNvSpPr>
          <p:nvPr/>
        </p:nvSpPr>
        <p:spPr bwMode="auto">
          <a:xfrm>
            <a:off x="1814286" y="784325"/>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572"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17"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286" y="357189"/>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8"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4858"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9"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7473" y="571502"/>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0" name="TextBox 19"/>
          <p:cNvSpPr txBox="1"/>
          <p:nvPr/>
        </p:nvSpPr>
        <p:spPr>
          <a:xfrm>
            <a:off x="3991429" y="428625"/>
            <a:ext cx="435429" cy="641336"/>
          </a:xfrm>
          <a:prstGeom prst="rect">
            <a:avLst/>
          </a:prstGeom>
          <a:noFill/>
        </p:spPr>
        <p:txBody>
          <a:bodyPr wrap="square" lIns="86493" tIns="43247" rIns="86493" bIns="43247" rtlCol="0">
            <a:spAutoFit/>
          </a:bodyPr>
          <a:lstStyle/>
          <a:p>
            <a:r>
              <a:rPr lang="en-US" sz="3600" b="1" dirty="0">
                <a:solidFill>
                  <a:srgbClr val="FF9900"/>
                </a:solidFill>
                <a:latin typeface="Liberation Sans" panose="020B0604020202020204" pitchFamily="34" charset="0"/>
              </a:rPr>
              <a:t>2</a:t>
            </a:r>
          </a:p>
        </p:txBody>
      </p:sp>
      <p:sp>
        <p:nvSpPr>
          <p:cNvPr id="21" name="TextBox 20"/>
          <p:cNvSpPr txBox="1"/>
          <p:nvPr/>
        </p:nvSpPr>
        <p:spPr>
          <a:xfrm>
            <a:off x="4862287" y="508910"/>
            <a:ext cx="5515429" cy="519373"/>
          </a:xfrm>
          <a:prstGeom prst="rect">
            <a:avLst/>
          </a:prstGeom>
          <a:noFill/>
        </p:spPr>
        <p:txBody>
          <a:bodyPr wrap="square" lIns="86493" tIns="43247" rIns="86493" bIns="43247" rtlCol="0">
            <a:spAutoFit/>
          </a:bodyPr>
          <a:lstStyle/>
          <a:p>
            <a:pPr marL="111125"/>
            <a:r>
              <a:rPr lang="en-US" sz="2800" b="1" dirty="0">
                <a:solidFill>
                  <a:schemeClr val="bg1"/>
                </a:solidFill>
                <a:latin typeface="Liberation Sans" panose="020B0604020202020204" pitchFamily="34" charset="0"/>
              </a:rPr>
              <a:t>Adjusting Entries for Deferrals</a:t>
            </a:r>
          </a:p>
        </p:txBody>
      </p:sp>
      <p:pic>
        <p:nvPicPr>
          <p:cNvPr id="2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1981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5" name="TextBox 24"/>
          <p:cNvSpPr txBox="1"/>
          <p:nvPr/>
        </p:nvSpPr>
        <p:spPr>
          <a:xfrm>
            <a:off x="1828800" y="381000"/>
            <a:ext cx="2209800" cy="738664"/>
          </a:xfrm>
          <a:prstGeom prst="rect">
            <a:avLst/>
          </a:prstGeom>
          <a:noFill/>
        </p:spPr>
        <p:txBody>
          <a:bodyPr wrap="square" rtlCol="0">
            <a:spAutoFit/>
          </a:bodyPr>
          <a:lstStyle/>
          <a:p>
            <a:r>
              <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rPr>
              <a:t>DO IT!</a:t>
            </a:r>
          </a:p>
        </p:txBody>
      </p:sp>
      <p:cxnSp>
        <p:nvCxnSpPr>
          <p:cNvPr id="3" name="Straight Connector 2"/>
          <p:cNvCxnSpPr/>
          <p:nvPr/>
        </p:nvCxnSpPr>
        <p:spPr bwMode="auto">
          <a:xfrm>
            <a:off x="8534400" y="2496312"/>
            <a:ext cx="838200" cy="0"/>
          </a:xfrm>
          <a:prstGeom prst="line">
            <a:avLst/>
          </a:prstGeom>
          <a:solidFill>
            <a:schemeClr val="accent1"/>
          </a:solidFill>
          <a:ln w="28575" cap="sq" cmpd="sng" algn="ctr">
            <a:solidFill>
              <a:schemeClr val="tx1"/>
            </a:solidFill>
            <a:prstDash val="solid"/>
            <a:round/>
            <a:headEnd type="none" w="sm" len="sm"/>
            <a:tailEnd type="none" w="sm" len="sm"/>
          </a:ln>
          <a:effectLst/>
        </p:spPr>
      </p:cxnSp>
      <p:cxnSp>
        <p:nvCxnSpPr>
          <p:cNvPr id="22" name="Straight Connector 21"/>
          <p:cNvCxnSpPr/>
          <p:nvPr/>
        </p:nvCxnSpPr>
        <p:spPr bwMode="auto">
          <a:xfrm>
            <a:off x="7391400" y="2496312"/>
            <a:ext cx="838200" cy="0"/>
          </a:xfrm>
          <a:prstGeom prst="line">
            <a:avLst/>
          </a:prstGeom>
          <a:solidFill>
            <a:schemeClr val="accent1"/>
          </a:solidFill>
          <a:ln w="28575" cap="sq" cmpd="sng" algn="ctr">
            <a:solidFill>
              <a:schemeClr val="tx1"/>
            </a:solidFill>
            <a:prstDash val="solid"/>
            <a:round/>
            <a:headEnd type="none" w="sm" len="sm"/>
            <a:tailEnd type="none" w="sm" len="sm"/>
          </a:ln>
          <a:effectLst/>
        </p:spPr>
      </p:cxnSp>
      <p:sp>
        <p:nvSpPr>
          <p:cNvPr id="14"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3331173499"/>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ChangeArrowheads="1"/>
          </p:cNvSpPr>
          <p:nvPr/>
        </p:nvSpPr>
        <p:spPr bwMode="auto">
          <a:xfrm>
            <a:off x="2133600" y="1381125"/>
            <a:ext cx="8001000" cy="352404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nSpc>
                <a:spcPct val="120000"/>
              </a:lnSpc>
              <a:spcBef>
                <a:spcPts val="600"/>
              </a:spcBef>
            </a:pPr>
            <a:r>
              <a:rPr lang="en-US" sz="1800" dirty="0">
                <a:solidFill>
                  <a:schemeClr val="tx1"/>
                </a:solidFill>
                <a:latin typeface="Liberation Sans" panose="020B0604020202020204" pitchFamily="34" charset="0"/>
              </a:rPr>
              <a:t>The ledger of Hammond Company, on March 31, 2017, includes these selected accounts before adjusting entries are prepared.</a:t>
            </a:r>
          </a:p>
          <a:p>
            <a:pPr>
              <a:lnSpc>
                <a:spcPct val="120000"/>
              </a:lnSpc>
              <a:spcBef>
                <a:spcPts val="600"/>
              </a:spcBef>
              <a:tabLst>
                <a:tab pos="5544820" algn="ctr"/>
                <a:tab pos="6740525" algn="ctr"/>
              </a:tabLst>
            </a:pPr>
            <a:r>
              <a:rPr lang="en-US" sz="1800" dirty="0">
                <a:solidFill>
                  <a:schemeClr val="tx1"/>
                </a:solidFill>
                <a:latin typeface="Liberation Sans" panose="020B0604020202020204" pitchFamily="34" charset="0"/>
              </a:rPr>
              <a:t>	Debit 	Credit</a:t>
            </a:r>
          </a:p>
          <a:p>
            <a:pPr indent="457200">
              <a:spcBef>
                <a:spcPts val="600"/>
              </a:spcBef>
              <a:tabLst>
                <a:tab pos="2057400" algn="l"/>
                <a:tab pos="5943600" algn="r"/>
                <a:tab pos="7094220" algn="r"/>
              </a:tabLst>
            </a:pPr>
            <a:r>
              <a:rPr lang="en-US" sz="1800" dirty="0">
                <a:solidFill>
                  <a:schemeClr val="tx1"/>
                </a:solidFill>
                <a:latin typeface="Liberation Sans" panose="020B0604020202020204" pitchFamily="34" charset="0"/>
              </a:rPr>
              <a:t>Prepaid Insurance 	$ 3,600</a:t>
            </a:r>
          </a:p>
          <a:p>
            <a:pPr indent="457200">
              <a:tabLst>
                <a:tab pos="2057400" algn="l"/>
                <a:tab pos="5943600" algn="r"/>
                <a:tab pos="7094220" algn="r"/>
              </a:tabLst>
            </a:pPr>
            <a:r>
              <a:rPr lang="en-US" sz="1800" dirty="0">
                <a:solidFill>
                  <a:schemeClr val="tx1"/>
                </a:solidFill>
                <a:latin typeface="Liberation Sans" panose="020B0604020202020204" pitchFamily="34" charset="0"/>
              </a:rPr>
              <a:t>Supplies 		2,800</a:t>
            </a:r>
          </a:p>
          <a:p>
            <a:pPr indent="457200">
              <a:tabLst>
                <a:tab pos="2057400" algn="l"/>
                <a:tab pos="5943600" algn="r"/>
                <a:tab pos="7094220" algn="r"/>
              </a:tabLst>
            </a:pPr>
            <a:r>
              <a:rPr lang="en-US" sz="1800" dirty="0">
                <a:solidFill>
                  <a:schemeClr val="tx1"/>
                </a:solidFill>
                <a:latin typeface="Liberation Sans" panose="020B0604020202020204" pitchFamily="34" charset="0"/>
              </a:rPr>
              <a:t>Equipment 		25,000</a:t>
            </a:r>
          </a:p>
          <a:p>
            <a:pPr indent="457200">
              <a:tabLst>
                <a:tab pos="2057400" algn="l"/>
                <a:tab pos="5943600" algn="r"/>
                <a:tab pos="7094220" algn="r"/>
              </a:tabLst>
            </a:pPr>
            <a:r>
              <a:rPr lang="en-US" sz="1800" dirty="0">
                <a:solidFill>
                  <a:schemeClr val="tx1"/>
                </a:solidFill>
                <a:latin typeface="Liberation Sans" panose="020B0604020202020204" pitchFamily="34" charset="0"/>
              </a:rPr>
              <a:t>Accumulated Depreciation—Equipment 		$5,000</a:t>
            </a:r>
          </a:p>
          <a:p>
            <a:pPr indent="457200">
              <a:tabLst>
                <a:tab pos="2057400" algn="l"/>
                <a:tab pos="5943600" algn="r"/>
                <a:tab pos="7094220" algn="r"/>
              </a:tabLst>
            </a:pPr>
            <a:r>
              <a:rPr lang="en-US" sz="1800" dirty="0">
                <a:solidFill>
                  <a:schemeClr val="tx1"/>
                </a:solidFill>
                <a:latin typeface="Liberation Sans" panose="020B0604020202020204" pitchFamily="34" charset="0"/>
              </a:rPr>
              <a:t>Unearned Service Revenue 		9,200</a:t>
            </a:r>
          </a:p>
          <a:p>
            <a:pPr>
              <a:lnSpc>
                <a:spcPct val="120000"/>
              </a:lnSpc>
              <a:spcBef>
                <a:spcPts val="600"/>
              </a:spcBef>
            </a:pPr>
            <a:r>
              <a:rPr lang="en-US" sz="1800" dirty="0">
                <a:solidFill>
                  <a:schemeClr val="tx1"/>
                </a:solidFill>
                <a:latin typeface="Liberation Sans" panose="020B0604020202020204" pitchFamily="34" charset="0"/>
              </a:rPr>
              <a:t>Prepare the adjusting entries for the month of March.</a:t>
            </a:r>
            <a:endParaRPr lang="en-US" altLang="en-US" sz="1700" dirty="0">
              <a:solidFill>
                <a:schemeClr val="tx1"/>
              </a:solidFill>
              <a:latin typeface="Liberation Sans" panose="020B0604020202020204" pitchFamily="34" charset="0"/>
            </a:endParaRPr>
          </a:p>
          <a:p>
            <a:pPr marL="342900" indent="-342900">
              <a:lnSpc>
                <a:spcPct val="120000"/>
              </a:lnSpc>
              <a:spcBef>
                <a:spcPts val="1200"/>
              </a:spcBef>
              <a:buFont typeface="+mj-lt"/>
              <a:buAutoNum type="arabicPeriod"/>
            </a:pPr>
            <a:r>
              <a:rPr lang="en-US" sz="1800" dirty="0">
                <a:solidFill>
                  <a:schemeClr val="tx1"/>
                </a:solidFill>
                <a:latin typeface="Liberation Sans" panose="020B0604020202020204" pitchFamily="34" charset="0"/>
              </a:rPr>
              <a:t>Insurance expires at the rate of $100 per month.</a:t>
            </a:r>
          </a:p>
        </p:txBody>
      </p:sp>
      <p:sp>
        <p:nvSpPr>
          <p:cNvPr id="15" name="Line 29"/>
          <p:cNvSpPr>
            <a:spLocks noChangeShapeType="1"/>
          </p:cNvSpPr>
          <p:nvPr/>
        </p:nvSpPr>
        <p:spPr bwMode="auto">
          <a:xfrm>
            <a:off x="1814286" y="784325"/>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572"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17"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286" y="357189"/>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8"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4858"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9"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7473" y="571502"/>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0" name="TextBox 19"/>
          <p:cNvSpPr txBox="1"/>
          <p:nvPr/>
        </p:nvSpPr>
        <p:spPr>
          <a:xfrm>
            <a:off x="3991429" y="428625"/>
            <a:ext cx="435429" cy="641336"/>
          </a:xfrm>
          <a:prstGeom prst="rect">
            <a:avLst/>
          </a:prstGeom>
          <a:noFill/>
        </p:spPr>
        <p:txBody>
          <a:bodyPr wrap="square" lIns="86493" tIns="43247" rIns="86493" bIns="43247" rtlCol="0">
            <a:spAutoFit/>
          </a:bodyPr>
          <a:lstStyle/>
          <a:p>
            <a:r>
              <a:rPr lang="en-US" sz="3600" b="1" dirty="0">
                <a:solidFill>
                  <a:srgbClr val="FF9900"/>
                </a:solidFill>
                <a:latin typeface="Liberation Sans" panose="020B0604020202020204" pitchFamily="34" charset="0"/>
              </a:rPr>
              <a:t>2</a:t>
            </a:r>
          </a:p>
        </p:txBody>
      </p:sp>
      <p:sp>
        <p:nvSpPr>
          <p:cNvPr id="21" name="TextBox 20"/>
          <p:cNvSpPr txBox="1"/>
          <p:nvPr/>
        </p:nvSpPr>
        <p:spPr>
          <a:xfrm>
            <a:off x="4862287" y="508910"/>
            <a:ext cx="5515429" cy="519373"/>
          </a:xfrm>
          <a:prstGeom prst="rect">
            <a:avLst/>
          </a:prstGeom>
          <a:noFill/>
        </p:spPr>
        <p:txBody>
          <a:bodyPr wrap="square" lIns="86493" tIns="43247" rIns="86493" bIns="43247" rtlCol="0">
            <a:spAutoFit/>
          </a:bodyPr>
          <a:lstStyle/>
          <a:p>
            <a:pPr marL="111125"/>
            <a:r>
              <a:rPr lang="en-US" sz="2800" b="1" dirty="0">
                <a:solidFill>
                  <a:schemeClr val="bg1"/>
                </a:solidFill>
                <a:latin typeface="Liberation Sans" panose="020B0604020202020204" pitchFamily="34" charset="0"/>
              </a:rPr>
              <a:t>Adjusting Entries for Deferrals</a:t>
            </a:r>
          </a:p>
        </p:txBody>
      </p:sp>
      <p:pic>
        <p:nvPicPr>
          <p:cNvPr id="2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1981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5" name="TextBox 24"/>
          <p:cNvSpPr txBox="1"/>
          <p:nvPr/>
        </p:nvSpPr>
        <p:spPr>
          <a:xfrm>
            <a:off x="1828800" y="381000"/>
            <a:ext cx="2209800" cy="738664"/>
          </a:xfrm>
          <a:prstGeom prst="rect">
            <a:avLst/>
          </a:prstGeom>
          <a:noFill/>
        </p:spPr>
        <p:txBody>
          <a:bodyPr wrap="square" rtlCol="0">
            <a:spAutoFit/>
          </a:bodyPr>
          <a:lstStyle/>
          <a:p>
            <a:r>
              <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rPr>
              <a:t>DO IT!</a:t>
            </a:r>
          </a:p>
        </p:txBody>
      </p:sp>
      <p:cxnSp>
        <p:nvCxnSpPr>
          <p:cNvPr id="3" name="Straight Connector 2"/>
          <p:cNvCxnSpPr/>
          <p:nvPr/>
        </p:nvCxnSpPr>
        <p:spPr bwMode="auto">
          <a:xfrm>
            <a:off x="8534400" y="2496312"/>
            <a:ext cx="838200" cy="0"/>
          </a:xfrm>
          <a:prstGeom prst="line">
            <a:avLst/>
          </a:prstGeom>
          <a:solidFill>
            <a:schemeClr val="accent1"/>
          </a:solidFill>
          <a:ln w="28575" cap="sq" cmpd="sng" algn="ctr">
            <a:solidFill>
              <a:schemeClr val="tx1"/>
            </a:solidFill>
            <a:prstDash val="solid"/>
            <a:round/>
            <a:headEnd type="none" w="sm" len="sm"/>
            <a:tailEnd type="none" w="sm" len="sm"/>
          </a:ln>
          <a:effectLst/>
        </p:spPr>
      </p:cxnSp>
      <p:cxnSp>
        <p:nvCxnSpPr>
          <p:cNvPr id="22" name="Straight Connector 21"/>
          <p:cNvCxnSpPr/>
          <p:nvPr/>
        </p:nvCxnSpPr>
        <p:spPr bwMode="auto">
          <a:xfrm>
            <a:off x="7391400" y="2496312"/>
            <a:ext cx="838200" cy="0"/>
          </a:xfrm>
          <a:prstGeom prst="line">
            <a:avLst/>
          </a:prstGeom>
          <a:solidFill>
            <a:schemeClr val="accent1"/>
          </a:solidFill>
          <a:ln w="28575" cap="sq" cmpd="sng" algn="ctr">
            <a:solidFill>
              <a:schemeClr val="tx1"/>
            </a:solidFill>
            <a:prstDash val="solid"/>
            <a:round/>
            <a:headEnd type="none" w="sm" len="sm"/>
            <a:tailEnd type="none" w="sm" len="sm"/>
          </a:ln>
          <a:effectLst/>
        </p:spPr>
      </p:cxnSp>
      <p:sp>
        <p:nvSpPr>
          <p:cNvPr id="2" name="Rectangle 1"/>
          <p:cNvSpPr/>
          <p:nvPr/>
        </p:nvSpPr>
        <p:spPr>
          <a:xfrm>
            <a:off x="2743200" y="5033326"/>
            <a:ext cx="7239000" cy="83407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20000"/>
              </a:lnSpc>
              <a:spcBef>
                <a:spcPts val="600"/>
              </a:spcBef>
              <a:tabLst>
                <a:tab pos="5309870" algn="r"/>
                <a:tab pos="6518275" algn="r"/>
              </a:tabLst>
            </a:pPr>
            <a:r>
              <a:rPr lang="en-US" dirty="0">
                <a:latin typeface="Liberation Sans" panose="020B0604020202020204" pitchFamily="34" charset="0"/>
              </a:rPr>
              <a:t>Insurance Expense 	100</a:t>
            </a:r>
          </a:p>
          <a:p>
            <a:pPr marL="457200" indent="-457200">
              <a:lnSpc>
                <a:spcPct val="120000"/>
              </a:lnSpc>
              <a:spcBef>
                <a:spcPts val="600"/>
              </a:spcBef>
              <a:tabLst>
                <a:tab pos="5146675" algn="r"/>
                <a:tab pos="6459220" algn="r"/>
              </a:tabLst>
            </a:pPr>
            <a:r>
              <a:rPr lang="en-US" dirty="0">
                <a:latin typeface="Liberation Sans" panose="020B0604020202020204" pitchFamily="34" charset="0"/>
              </a:rPr>
              <a:t>	Prepaid Insurance 		100</a:t>
            </a:r>
          </a:p>
        </p:txBody>
      </p:sp>
      <p:sp>
        <p:nvSpPr>
          <p:cNvPr id="23"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404417904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ChangeArrowheads="1"/>
          </p:cNvSpPr>
          <p:nvPr/>
        </p:nvSpPr>
        <p:spPr bwMode="auto">
          <a:xfrm>
            <a:off x="2133600" y="1381125"/>
            <a:ext cx="8001000" cy="393338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nSpc>
                <a:spcPct val="120000"/>
              </a:lnSpc>
              <a:spcBef>
                <a:spcPts val="600"/>
              </a:spcBef>
            </a:pPr>
            <a:r>
              <a:rPr lang="en-US" sz="1800" dirty="0">
                <a:solidFill>
                  <a:schemeClr val="tx1"/>
                </a:solidFill>
                <a:latin typeface="Liberation Sans" panose="020B0604020202020204" pitchFamily="34" charset="0"/>
              </a:rPr>
              <a:t>The ledger of Hammond Company, on March 31, 2017, includes these selected accounts before adjusting entries are prepared.</a:t>
            </a:r>
          </a:p>
          <a:p>
            <a:pPr>
              <a:lnSpc>
                <a:spcPct val="120000"/>
              </a:lnSpc>
              <a:spcBef>
                <a:spcPts val="600"/>
              </a:spcBef>
              <a:tabLst>
                <a:tab pos="5544820" algn="ctr"/>
                <a:tab pos="6740525" algn="ctr"/>
              </a:tabLst>
            </a:pPr>
            <a:r>
              <a:rPr lang="en-US" sz="1800" dirty="0">
                <a:solidFill>
                  <a:schemeClr val="tx1"/>
                </a:solidFill>
                <a:latin typeface="Liberation Sans" panose="020B0604020202020204" pitchFamily="34" charset="0"/>
              </a:rPr>
              <a:t>	Debit 	Credit</a:t>
            </a:r>
          </a:p>
          <a:p>
            <a:pPr indent="457200">
              <a:spcBef>
                <a:spcPts val="600"/>
              </a:spcBef>
              <a:tabLst>
                <a:tab pos="2057400" algn="l"/>
                <a:tab pos="5943600" algn="r"/>
                <a:tab pos="7094220" algn="r"/>
              </a:tabLst>
            </a:pPr>
            <a:r>
              <a:rPr lang="en-US" sz="1800" dirty="0">
                <a:solidFill>
                  <a:schemeClr val="tx1"/>
                </a:solidFill>
                <a:latin typeface="Liberation Sans" panose="020B0604020202020204" pitchFamily="34" charset="0"/>
              </a:rPr>
              <a:t>Prepaid Insurance 	$ 3,600</a:t>
            </a:r>
          </a:p>
          <a:p>
            <a:pPr indent="457200">
              <a:tabLst>
                <a:tab pos="2057400" algn="l"/>
                <a:tab pos="5943600" algn="r"/>
                <a:tab pos="7094220" algn="r"/>
              </a:tabLst>
            </a:pPr>
            <a:r>
              <a:rPr lang="en-US" sz="1800" dirty="0">
                <a:solidFill>
                  <a:schemeClr val="tx1"/>
                </a:solidFill>
                <a:latin typeface="Liberation Sans" panose="020B0604020202020204" pitchFamily="34" charset="0"/>
              </a:rPr>
              <a:t>Supplies 		2,800</a:t>
            </a:r>
          </a:p>
          <a:p>
            <a:pPr indent="457200">
              <a:tabLst>
                <a:tab pos="2057400" algn="l"/>
                <a:tab pos="5943600" algn="r"/>
                <a:tab pos="7094220" algn="r"/>
              </a:tabLst>
            </a:pPr>
            <a:r>
              <a:rPr lang="en-US" sz="1800" dirty="0">
                <a:solidFill>
                  <a:schemeClr val="tx1"/>
                </a:solidFill>
                <a:latin typeface="Liberation Sans" panose="020B0604020202020204" pitchFamily="34" charset="0"/>
              </a:rPr>
              <a:t>Equipment 		25,000</a:t>
            </a:r>
          </a:p>
          <a:p>
            <a:pPr indent="457200">
              <a:tabLst>
                <a:tab pos="2057400" algn="l"/>
                <a:tab pos="5943600" algn="r"/>
                <a:tab pos="7094220" algn="r"/>
              </a:tabLst>
            </a:pPr>
            <a:r>
              <a:rPr lang="en-US" sz="1800" dirty="0">
                <a:solidFill>
                  <a:schemeClr val="tx1"/>
                </a:solidFill>
                <a:latin typeface="Liberation Sans" panose="020B0604020202020204" pitchFamily="34" charset="0"/>
              </a:rPr>
              <a:t>Accumulated Depreciation—Equipment 		$5,000</a:t>
            </a:r>
          </a:p>
          <a:p>
            <a:pPr indent="457200">
              <a:tabLst>
                <a:tab pos="2057400" algn="l"/>
                <a:tab pos="5943600" algn="r"/>
                <a:tab pos="7094220" algn="r"/>
              </a:tabLst>
            </a:pPr>
            <a:r>
              <a:rPr lang="en-US" sz="1800" dirty="0">
                <a:solidFill>
                  <a:schemeClr val="tx1"/>
                </a:solidFill>
                <a:latin typeface="Liberation Sans" panose="020B0604020202020204" pitchFamily="34" charset="0"/>
              </a:rPr>
              <a:t>Unearned Service Revenue 		9,200</a:t>
            </a:r>
          </a:p>
          <a:p>
            <a:pPr>
              <a:lnSpc>
                <a:spcPct val="120000"/>
              </a:lnSpc>
              <a:spcBef>
                <a:spcPts val="600"/>
              </a:spcBef>
            </a:pPr>
            <a:r>
              <a:rPr lang="en-US" sz="1800" dirty="0">
                <a:solidFill>
                  <a:schemeClr val="tx1"/>
                </a:solidFill>
                <a:latin typeface="Liberation Sans" panose="020B0604020202020204" pitchFamily="34" charset="0"/>
              </a:rPr>
              <a:t>Prepare the adjusting entries for the month of March.</a:t>
            </a:r>
            <a:endParaRPr lang="en-US" altLang="en-US" sz="1700" dirty="0">
              <a:solidFill>
                <a:schemeClr val="tx1"/>
              </a:solidFill>
              <a:latin typeface="Liberation Sans" panose="020B0604020202020204" pitchFamily="34" charset="0"/>
            </a:endParaRPr>
          </a:p>
          <a:p>
            <a:pPr marL="342900" indent="-342900">
              <a:lnSpc>
                <a:spcPct val="120000"/>
              </a:lnSpc>
              <a:spcBef>
                <a:spcPts val="1200"/>
              </a:spcBef>
              <a:buFont typeface="+mj-lt"/>
              <a:buAutoNum type="arabicPeriod" startAt="2"/>
            </a:pPr>
            <a:r>
              <a:rPr lang="en-US" sz="1800" dirty="0">
                <a:solidFill>
                  <a:schemeClr val="tx1"/>
                </a:solidFill>
                <a:latin typeface="Liberation Sans" panose="020B0604020202020204" pitchFamily="34" charset="0"/>
              </a:rPr>
              <a:t>Supplies on hand total $800.</a:t>
            </a:r>
          </a:p>
          <a:p>
            <a:pPr marL="342900" indent="-342900">
              <a:lnSpc>
                <a:spcPct val="120000"/>
              </a:lnSpc>
              <a:spcBef>
                <a:spcPts val="600"/>
              </a:spcBef>
              <a:buFont typeface="+mj-lt"/>
              <a:buAutoNum type="arabicPeriod" startAt="2"/>
            </a:pPr>
            <a:endParaRPr lang="en-US" sz="1800" dirty="0">
              <a:solidFill>
                <a:schemeClr val="tx1"/>
              </a:solidFill>
              <a:latin typeface="Liberation Sans" panose="020B0604020202020204" pitchFamily="34" charset="0"/>
            </a:endParaRPr>
          </a:p>
        </p:txBody>
      </p:sp>
      <p:sp>
        <p:nvSpPr>
          <p:cNvPr id="15" name="Line 29"/>
          <p:cNvSpPr>
            <a:spLocks noChangeShapeType="1"/>
          </p:cNvSpPr>
          <p:nvPr/>
        </p:nvSpPr>
        <p:spPr bwMode="auto">
          <a:xfrm>
            <a:off x="1814286" y="784325"/>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572"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17"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286" y="357189"/>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8"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4858"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9"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7473" y="571502"/>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0" name="TextBox 19"/>
          <p:cNvSpPr txBox="1"/>
          <p:nvPr/>
        </p:nvSpPr>
        <p:spPr>
          <a:xfrm>
            <a:off x="3991429" y="428625"/>
            <a:ext cx="435429" cy="641336"/>
          </a:xfrm>
          <a:prstGeom prst="rect">
            <a:avLst/>
          </a:prstGeom>
          <a:noFill/>
        </p:spPr>
        <p:txBody>
          <a:bodyPr wrap="square" lIns="86493" tIns="43247" rIns="86493" bIns="43247" rtlCol="0">
            <a:spAutoFit/>
          </a:bodyPr>
          <a:lstStyle/>
          <a:p>
            <a:r>
              <a:rPr lang="en-US" sz="3600" b="1" dirty="0">
                <a:solidFill>
                  <a:srgbClr val="FF9900"/>
                </a:solidFill>
                <a:latin typeface="Liberation Sans" panose="020B0604020202020204" pitchFamily="34" charset="0"/>
              </a:rPr>
              <a:t>2</a:t>
            </a:r>
          </a:p>
        </p:txBody>
      </p:sp>
      <p:sp>
        <p:nvSpPr>
          <p:cNvPr id="21" name="TextBox 20"/>
          <p:cNvSpPr txBox="1"/>
          <p:nvPr/>
        </p:nvSpPr>
        <p:spPr>
          <a:xfrm>
            <a:off x="4862287" y="508910"/>
            <a:ext cx="5515429" cy="519373"/>
          </a:xfrm>
          <a:prstGeom prst="rect">
            <a:avLst/>
          </a:prstGeom>
          <a:noFill/>
        </p:spPr>
        <p:txBody>
          <a:bodyPr wrap="square" lIns="86493" tIns="43247" rIns="86493" bIns="43247" rtlCol="0">
            <a:spAutoFit/>
          </a:bodyPr>
          <a:lstStyle/>
          <a:p>
            <a:pPr marL="111125"/>
            <a:r>
              <a:rPr lang="en-US" sz="2800" b="1" dirty="0">
                <a:solidFill>
                  <a:schemeClr val="bg1"/>
                </a:solidFill>
                <a:latin typeface="Liberation Sans" panose="020B0604020202020204" pitchFamily="34" charset="0"/>
              </a:rPr>
              <a:t>Adjusting Entries for Deferrals</a:t>
            </a:r>
          </a:p>
        </p:txBody>
      </p:sp>
      <p:pic>
        <p:nvPicPr>
          <p:cNvPr id="2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1981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5" name="TextBox 24"/>
          <p:cNvSpPr txBox="1"/>
          <p:nvPr/>
        </p:nvSpPr>
        <p:spPr>
          <a:xfrm>
            <a:off x="1828800" y="381000"/>
            <a:ext cx="2209800" cy="738664"/>
          </a:xfrm>
          <a:prstGeom prst="rect">
            <a:avLst/>
          </a:prstGeom>
          <a:noFill/>
        </p:spPr>
        <p:txBody>
          <a:bodyPr wrap="square" rtlCol="0">
            <a:spAutoFit/>
          </a:bodyPr>
          <a:lstStyle/>
          <a:p>
            <a:r>
              <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rPr>
              <a:t>DO IT!</a:t>
            </a:r>
          </a:p>
        </p:txBody>
      </p:sp>
      <p:cxnSp>
        <p:nvCxnSpPr>
          <p:cNvPr id="3" name="Straight Connector 2"/>
          <p:cNvCxnSpPr/>
          <p:nvPr/>
        </p:nvCxnSpPr>
        <p:spPr bwMode="auto">
          <a:xfrm>
            <a:off x="8534400" y="2496312"/>
            <a:ext cx="838200" cy="0"/>
          </a:xfrm>
          <a:prstGeom prst="line">
            <a:avLst/>
          </a:prstGeom>
          <a:solidFill>
            <a:schemeClr val="accent1"/>
          </a:solidFill>
          <a:ln w="28575" cap="sq" cmpd="sng" algn="ctr">
            <a:solidFill>
              <a:schemeClr val="tx1"/>
            </a:solidFill>
            <a:prstDash val="solid"/>
            <a:round/>
            <a:headEnd type="none" w="sm" len="sm"/>
            <a:tailEnd type="none" w="sm" len="sm"/>
          </a:ln>
          <a:effectLst/>
        </p:spPr>
      </p:cxnSp>
      <p:cxnSp>
        <p:nvCxnSpPr>
          <p:cNvPr id="22" name="Straight Connector 21"/>
          <p:cNvCxnSpPr/>
          <p:nvPr/>
        </p:nvCxnSpPr>
        <p:spPr bwMode="auto">
          <a:xfrm>
            <a:off x="7391400" y="2496312"/>
            <a:ext cx="838200" cy="0"/>
          </a:xfrm>
          <a:prstGeom prst="line">
            <a:avLst/>
          </a:prstGeom>
          <a:solidFill>
            <a:schemeClr val="accent1"/>
          </a:solidFill>
          <a:ln w="28575" cap="sq" cmpd="sng" algn="ctr">
            <a:solidFill>
              <a:schemeClr val="tx1"/>
            </a:solidFill>
            <a:prstDash val="solid"/>
            <a:round/>
            <a:headEnd type="none" w="sm" len="sm"/>
            <a:tailEnd type="none" w="sm" len="sm"/>
          </a:ln>
          <a:effectLst/>
        </p:spPr>
      </p:cxnSp>
      <p:sp>
        <p:nvSpPr>
          <p:cNvPr id="2" name="Rectangle 1"/>
          <p:cNvSpPr/>
          <p:nvPr/>
        </p:nvSpPr>
        <p:spPr>
          <a:xfrm>
            <a:off x="2743200" y="5033326"/>
            <a:ext cx="7239000" cy="83407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20000"/>
              </a:lnSpc>
              <a:spcBef>
                <a:spcPts val="600"/>
              </a:spcBef>
              <a:tabLst>
                <a:tab pos="5309870" algn="r"/>
                <a:tab pos="6518275" algn="r"/>
              </a:tabLst>
            </a:pPr>
            <a:r>
              <a:rPr lang="en-US" dirty="0">
                <a:latin typeface="Liberation Sans" panose="020B0604020202020204" pitchFamily="34" charset="0"/>
              </a:rPr>
              <a:t>Supplies Expense 	2,000</a:t>
            </a:r>
          </a:p>
          <a:p>
            <a:pPr marL="457200" indent="-457200">
              <a:lnSpc>
                <a:spcPct val="120000"/>
              </a:lnSpc>
              <a:spcBef>
                <a:spcPts val="600"/>
              </a:spcBef>
              <a:tabLst>
                <a:tab pos="5146675" algn="r"/>
                <a:tab pos="6459220" algn="r"/>
              </a:tabLst>
            </a:pPr>
            <a:r>
              <a:rPr lang="en-US" dirty="0">
                <a:latin typeface="Liberation Sans" panose="020B0604020202020204" pitchFamily="34" charset="0"/>
              </a:rPr>
              <a:t>	Supplies 		2,000</a:t>
            </a:r>
          </a:p>
        </p:txBody>
      </p:sp>
      <p:sp>
        <p:nvSpPr>
          <p:cNvPr id="23"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279757326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ChangeArrowheads="1"/>
          </p:cNvSpPr>
          <p:nvPr/>
        </p:nvSpPr>
        <p:spPr bwMode="auto">
          <a:xfrm>
            <a:off x="2133600" y="1381125"/>
            <a:ext cx="8001000" cy="393338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nSpc>
                <a:spcPct val="120000"/>
              </a:lnSpc>
              <a:spcBef>
                <a:spcPts val="600"/>
              </a:spcBef>
            </a:pPr>
            <a:r>
              <a:rPr lang="en-US" sz="1800" dirty="0">
                <a:solidFill>
                  <a:schemeClr val="tx1"/>
                </a:solidFill>
                <a:latin typeface="Liberation Sans" panose="020B0604020202020204" pitchFamily="34" charset="0"/>
              </a:rPr>
              <a:t>The ledger of Hammond Company, on March 31, 2017, includes these selected accounts before adjusting entries are prepared.</a:t>
            </a:r>
          </a:p>
          <a:p>
            <a:pPr>
              <a:lnSpc>
                <a:spcPct val="120000"/>
              </a:lnSpc>
              <a:spcBef>
                <a:spcPts val="600"/>
              </a:spcBef>
              <a:tabLst>
                <a:tab pos="5544820" algn="ctr"/>
                <a:tab pos="6740525" algn="ctr"/>
              </a:tabLst>
            </a:pPr>
            <a:r>
              <a:rPr lang="en-US" sz="1800" dirty="0">
                <a:solidFill>
                  <a:schemeClr val="tx1"/>
                </a:solidFill>
                <a:latin typeface="Liberation Sans" panose="020B0604020202020204" pitchFamily="34" charset="0"/>
              </a:rPr>
              <a:t>	Debit 	Credit</a:t>
            </a:r>
          </a:p>
          <a:p>
            <a:pPr indent="457200">
              <a:spcBef>
                <a:spcPts val="600"/>
              </a:spcBef>
              <a:tabLst>
                <a:tab pos="2057400" algn="l"/>
                <a:tab pos="5943600" algn="r"/>
                <a:tab pos="7094220" algn="r"/>
              </a:tabLst>
            </a:pPr>
            <a:r>
              <a:rPr lang="en-US" sz="1800" dirty="0">
                <a:solidFill>
                  <a:schemeClr val="tx1"/>
                </a:solidFill>
                <a:latin typeface="Liberation Sans" panose="020B0604020202020204" pitchFamily="34" charset="0"/>
              </a:rPr>
              <a:t>Prepaid Insurance 	$ 3,600</a:t>
            </a:r>
          </a:p>
          <a:p>
            <a:pPr indent="457200">
              <a:tabLst>
                <a:tab pos="2057400" algn="l"/>
                <a:tab pos="5943600" algn="r"/>
                <a:tab pos="7094220" algn="r"/>
              </a:tabLst>
            </a:pPr>
            <a:r>
              <a:rPr lang="en-US" sz="1800" dirty="0">
                <a:solidFill>
                  <a:schemeClr val="tx1"/>
                </a:solidFill>
                <a:latin typeface="Liberation Sans" panose="020B0604020202020204" pitchFamily="34" charset="0"/>
              </a:rPr>
              <a:t>Supplies 		2,800</a:t>
            </a:r>
          </a:p>
          <a:p>
            <a:pPr indent="457200">
              <a:tabLst>
                <a:tab pos="2057400" algn="l"/>
                <a:tab pos="5943600" algn="r"/>
                <a:tab pos="7094220" algn="r"/>
              </a:tabLst>
            </a:pPr>
            <a:r>
              <a:rPr lang="en-US" sz="1800" dirty="0">
                <a:solidFill>
                  <a:schemeClr val="tx1"/>
                </a:solidFill>
                <a:latin typeface="Liberation Sans" panose="020B0604020202020204" pitchFamily="34" charset="0"/>
              </a:rPr>
              <a:t>Equipment 		25,000</a:t>
            </a:r>
          </a:p>
          <a:p>
            <a:pPr indent="457200">
              <a:tabLst>
                <a:tab pos="2057400" algn="l"/>
                <a:tab pos="5943600" algn="r"/>
                <a:tab pos="7094220" algn="r"/>
              </a:tabLst>
            </a:pPr>
            <a:r>
              <a:rPr lang="en-US" sz="1800" dirty="0">
                <a:solidFill>
                  <a:schemeClr val="tx1"/>
                </a:solidFill>
                <a:latin typeface="Liberation Sans" panose="020B0604020202020204" pitchFamily="34" charset="0"/>
              </a:rPr>
              <a:t>Accumulated Depreciation—Equipment 		$5,000</a:t>
            </a:r>
          </a:p>
          <a:p>
            <a:pPr indent="457200">
              <a:tabLst>
                <a:tab pos="2057400" algn="l"/>
                <a:tab pos="5943600" algn="r"/>
                <a:tab pos="7094220" algn="r"/>
              </a:tabLst>
            </a:pPr>
            <a:r>
              <a:rPr lang="en-US" sz="1800" dirty="0">
                <a:solidFill>
                  <a:schemeClr val="tx1"/>
                </a:solidFill>
                <a:latin typeface="Liberation Sans" panose="020B0604020202020204" pitchFamily="34" charset="0"/>
              </a:rPr>
              <a:t>Unearned Service Revenue 		9,200</a:t>
            </a:r>
          </a:p>
          <a:p>
            <a:pPr>
              <a:lnSpc>
                <a:spcPct val="120000"/>
              </a:lnSpc>
              <a:spcBef>
                <a:spcPts val="600"/>
              </a:spcBef>
            </a:pPr>
            <a:r>
              <a:rPr lang="en-US" sz="1800" dirty="0">
                <a:solidFill>
                  <a:schemeClr val="tx1"/>
                </a:solidFill>
                <a:latin typeface="Liberation Sans" panose="020B0604020202020204" pitchFamily="34" charset="0"/>
              </a:rPr>
              <a:t>Prepare the adjusting entries for the month of March.</a:t>
            </a:r>
            <a:endParaRPr lang="en-US" altLang="en-US" sz="1700" dirty="0">
              <a:solidFill>
                <a:schemeClr val="tx1"/>
              </a:solidFill>
              <a:latin typeface="Liberation Sans" panose="020B0604020202020204" pitchFamily="34" charset="0"/>
            </a:endParaRPr>
          </a:p>
          <a:p>
            <a:pPr marL="342900" indent="-342900">
              <a:lnSpc>
                <a:spcPct val="120000"/>
              </a:lnSpc>
              <a:spcBef>
                <a:spcPts val="1200"/>
              </a:spcBef>
              <a:buFont typeface="+mj-lt"/>
              <a:buAutoNum type="arabicPeriod" startAt="3"/>
            </a:pPr>
            <a:r>
              <a:rPr lang="en-US" sz="1800" dirty="0">
                <a:solidFill>
                  <a:schemeClr val="tx1"/>
                </a:solidFill>
                <a:latin typeface="Liberation Sans" panose="020B0604020202020204" pitchFamily="34" charset="0"/>
              </a:rPr>
              <a:t>The equipment depreciates $200 a month.</a:t>
            </a:r>
          </a:p>
          <a:p>
            <a:pPr marL="342900" indent="-342900">
              <a:lnSpc>
                <a:spcPct val="120000"/>
              </a:lnSpc>
              <a:spcBef>
                <a:spcPts val="600"/>
              </a:spcBef>
              <a:buFont typeface="+mj-lt"/>
              <a:buAutoNum type="arabicPeriod" startAt="3"/>
            </a:pPr>
            <a:endParaRPr lang="en-US" sz="1800" dirty="0">
              <a:solidFill>
                <a:schemeClr val="tx1"/>
              </a:solidFill>
              <a:latin typeface="Liberation Sans" panose="020B0604020202020204" pitchFamily="34" charset="0"/>
            </a:endParaRPr>
          </a:p>
        </p:txBody>
      </p:sp>
      <p:sp>
        <p:nvSpPr>
          <p:cNvPr id="15" name="Line 29"/>
          <p:cNvSpPr>
            <a:spLocks noChangeShapeType="1"/>
          </p:cNvSpPr>
          <p:nvPr/>
        </p:nvSpPr>
        <p:spPr bwMode="auto">
          <a:xfrm>
            <a:off x="1814286" y="784325"/>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572"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17"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286" y="357189"/>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8"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4858"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9"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7473" y="571502"/>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0" name="TextBox 19"/>
          <p:cNvSpPr txBox="1"/>
          <p:nvPr/>
        </p:nvSpPr>
        <p:spPr>
          <a:xfrm>
            <a:off x="3991429" y="428625"/>
            <a:ext cx="435429" cy="641336"/>
          </a:xfrm>
          <a:prstGeom prst="rect">
            <a:avLst/>
          </a:prstGeom>
          <a:noFill/>
        </p:spPr>
        <p:txBody>
          <a:bodyPr wrap="square" lIns="86493" tIns="43247" rIns="86493" bIns="43247" rtlCol="0">
            <a:spAutoFit/>
          </a:bodyPr>
          <a:lstStyle/>
          <a:p>
            <a:r>
              <a:rPr lang="en-US" sz="3600" b="1" dirty="0">
                <a:solidFill>
                  <a:srgbClr val="FF9900"/>
                </a:solidFill>
                <a:latin typeface="Liberation Sans" panose="020B0604020202020204" pitchFamily="34" charset="0"/>
              </a:rPr>
              <a:t>2</a:t>
            </a:r>
          </a:p>
        </p:txBody>
      </p:sp>
      <p:sp>
        <p:nvSpPr>
          <p:cNvPr id="21" name="TextBox 20"/>
          <p:cNvSpPr txBox="1"/>
          <p:nvPr/>
        </p:nvSpPr>
        <p:spPr>
          <a:xfrm>
            <a:off x="4862287" y="508910"/>
            <a:ext cx="5515429" cy="519373"/>
          </a:xfrm>
          <a:prstGeom prst="rect">
            <a:avLst/>
          </a:prstGeom>
          <a:noFill/>
        </p:spPr>
        <p:txBody>
          <a:bodyPr wrap="square" lIns="86493" tIns="43247" rIns="86493" bIns="43247" rtlCol="0">
            <a:spAutoFit/>
          </a:bodyPr>
          <a:lstStyle/>
          <a:p>
            <a:pPr marL="111125"/>
            <a:r>
              <a:rPr lang="en-US" sz="2800" b="1" dirty="0">
                <a:solidFill>
                  <a:schemeClr val="bg1"/>
                </a:solidFill>
                <a:latin typeface="Liberation Sans" panose="020B0604020202020204" pitchFamily="34" charset="0"/>
              </a:rPr>
              <a:t>Adjusting Entries for Deferrals</a:t>
            </a:r>
          </a:p>
        </p:txBody>
      </p:sp>
      <p:pic>
        <p:nvPicPr>
          <p:cNvPr id="2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1981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5" name="TextBox 24"/>
          <p:cNvSpPr txBox="1"/>
          <p:nvPr/>
        </p:nvSpPr>
        <p:spPr>
          <a:xfrm>
            <a:off x="1828800" y="381000"/>
            <a:ext cx="2209800" cy="738664"/>
          </a:xfrm>
          <a:prstGeom prst="rect">
            <a:avLst/>
          </a:prstGeom>
          <a:noFill/>
        </p:spPr>
        <p:txBody>
          <a:bodyPr wrap="square" rtlCol="0">
            <a:spAutoFit/>
          </a:bodyPr>
          <a:lstStyle/>
          <a:p>
            <a:r>
              <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rPr>
              <a:t>DO IT!</a:t>
            </a:r>
          </a:p>
        </p:txBody>
      </p:sp>
      <p:cxnSp>
        <p:nvCxnSpPr>
          <p:cNvPr id="3" name="Straight Connector 2"/>
          <p:cNvCxnSpPr/>
          <p:nvPr/>
        </p:nvCxnSpPr>
        <p:spPr bwMode="auto">
          <a:xfrm>
            <a:off x="8534400" y="2496312"/>
            <a:ext cx="838200" cy="0"/>
          </a:xfrm>
          <a:prstGeom prst="line">
            <a:avLst/>
          </a:prstGeom>
          <a:solidFill>
            <a:schemeClr val="accent1"/>
          </a:solidFill>
          <a:ln w="28575" cap="sq" cmpd="sng" algn="ctr">
            <a:solidFill>
              <a:schemeClr val="tx1"/>
            </a:solidFill>
            <a:prstDash val="solid"/>
            <a:round/>
            <a:headEnd type="none" w="sm" len="sm"/>
            <a:tailEnd type="none" w="sm" len="sm"/>
          </a:ln>
          <a:effectLst/>
        </p:spPr>
      </p:cxnSp>
      <p:cxnSp>
        <p:nvCxnSpPr>
          <p:cNvPr id="22" name="Straight Connector 21"/>
          <p:cNvCxnSpPr/>
          <p:nvPr/>
        </p:nvCxnSpPr>
        <p:spPr bwMode="auto">
          <a:xfrm>
            <a:off x="7391400" y="2496312"/>
            <a:ext cx="838200" cy="0"/>
          </a:xfrm>
          <a:prstGeom prst="line">
            <a:avLst/>
          </a:prstGeom>
          <a:solidFill>
            <a:schemeClr val="accent1"/>
          </a:solidFill>
          <a:ln w="28575" cap="sq" cmpd="sng" algn="ctr">
            <a:solidFill>
              <a:schemeClr val="tx1"/>
            </a:solidFill>
            <a:prstDash val="solid"/>
            <a:round/>
            <a:headEnd type="none" w="sm" len="sm"/>
            <a:tailEnd type="none" w="sm" len="sm"/>
          </a:ln>
          <a:effectLst/>
        </p:spPr>
      </p:cxnSp>
      <p:sp>
        <p:nvSpPr>
          <p:cNvPr id="2" name="Rectangle 1"/>
          <p:cNvSpPr/>
          <p:nvPr/>
        </p:nvSpPr>
        <p:spPr>
          <a:xfrm>
            <a:off x="2743200" y="5033326"/>
            <a:ext cx="7239000" cy="83407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20000"/>
              </a:lnSpc>
              <a:spcBef>
                <a:spcPts val="600"/>
              </a:spcBef>
              <a:tabLst>
                <a:tab pos="5309870" algn="r"/>
                <a:tab pos="6518275" algn="r"/>
              </a:tabLst>
            </a:pPr>
            <a:r>
              <a:rPr lang="en-US" dirty="0">
                <a:latin typeface="Liberation Sans" panose="020B0604020202020204" pitchFamily="34" charset="0"/>
              </a:rPr>
              <a:t>Depreciation Expense 	200</a:t>
            </a:r>
          </a:p>
          <a:p>
            <a:pPr marL="457200" indent="-457200">
              <a:lnSpc>
                <a:spcPct val="120000"/>
              </a:lnSpc>
              <a:spcBef>
                <a:spcPts val="600"/>
              </a:spcBef>
              <a:tabLst>
                <a:tab pos="5146675" algn="r"/>
                <a:tab pos="6459220" algn="r"/>
              </a:tabLst>
            </a:pPr>
            <a:r>
              <a:rPr lang="en-US" dirty="0">
                <a:latin typeface="Liberation Sans" panose="020B0604020202020204" pitchFamily="34" charset="0"/>
              </a:rPr>
              <a:t>	Accumulated Depreciation—Equipment 		200</a:t>
            </a:r>
          </a:p>
        </p:txBody>
      </p:sp>
      <p:sp>
        <p:nvSpPr>
          <p:cNvPr id="23"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232455703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ChangeArrowheads="1"/>
          </p:cNvSpPr>
          <p:nvPr/>
        </p:nvSpPr>
        <p:spPr bwMode="auto">
          <a:xfrm>
            <a:off x="2133600" y="1381125"/>
            <a:ext cx="8001000" cy="385644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nSpc>
                <a:spcPct val="120000"/>
              </a:lnSpc>
              <a:spcBef>
                <a:spcPts val="600"/>
              </a:spcBef>
            </a:pPr>
            <a:r>
              <a:rPr lang="en-US" sz="1800" dirty="0">
                <a:solidFill>
                  <a:schemeClr val="tx1"/>
                </a:solidFill>
                <a:latin typeface="Liberation Sans" panose="020B0604020202020204" pitchFamily="34" charset="0"/>
              </a:rPr>
              <a:t>The ledger of Hammond Company, on March 31, 2017, includes these selected accounts before adjusting entries are prepared.</a:t>
            </a:r>
          </a:p>
          <a:p>
            <a:pPr>
              <a:lnSpc>
                <a:spcPct val="120000"/>
              </a:lnSpc>
              <a:spcBef>
                <a:spcPts val="600"/>
              </a:spcBef>
              <a:tabLst>
                <a:tab pos="5544820" algn="ctr"/>
                <a:tab pos="6740525" algn="ctr"/>
              </a:tabLst>
            </a:pPr>
            <a:r>
              <a:rPr lang="en-US" sz="1800" dirty="0">
                <a:solidFill>
                  <a:schemeClr val="tx1"/>
                </a:solidFill>
                <a:latin typeface="Liberation Sans" panose="020B0604020202020204" pitchFamily="34" charset="0"/>
              </a:rPr>
              <a:t>	Debit 	Credit</a:t>
            </a:r>
          </a:p>
          <a:p>
            <a:pPr indent="457200">
              <a:spcBef>
                <a:spcPts val="600"/>
              </a:spcBef>
              <a:tabLst>
                <a:tab pos="2057400" algn="l"/>
                <a:tab pos="5943600" algn="r"/>
                <a:tab pos="7094220" algn="r"/>
              </a:tabLst>
            </a:pPr>
            <a:r>
              <a:rPr lang="en-US" sz="1800" dirty="0">
                <a:solidFill>
                  <a:schemeClr val="tx1"/>
                </a:solidFill>
                <a:latin typeface="Liberation Sans" panose="020B0604020202020204" pitchFamily="34" charset="0"/>
              </a:rPr>
              <a:t>Prepaid Insurance 	$ 3,600</a:t>
            </a:r>
          </a:p>
          <a:p>
            <a:pPr indent="457200">
              <a:tabLst>
                <a:tab pos="2057400" algn="l"/>
                <a:tab pos="5943600" algn="r"/>
                <a:tab pos="7094220" algn="r"/>
              </a:tabLst>
            </a:pPr>
            <a:r>
              <a:rPr lang="en-US" sz="1800" dirty="0">
                <a:solidFill>
                  <a:schemeClr val="tx1"/>
                </a:solidFill>
                <a:latin typeface="Liberation Sans" panose="020B0604020202020204" pitchFamily="34" charset="0"/>
              </a:rPr>
              <a:t>Supplies 		2,800</a:t>
            </a:r>
          </a:p>
          <a:p>
            <a:pPr indent="457200">
              <a:tabLst>
                <a:tab pos="2057400" algn="l"/>
                <a:tab pos="5943600" algn="r"/>
                <a:tab pos="7094220" algn="r"/>
              </a:tabLst>
            </a:pPr>
            <a:r>
              <a:rPr lang="en-US" sz="1800" dirty="0">
                <a:solidFill>
                  <a:schemeClr val="tx1"/>
                </a:solidFill>
                <a:latin typeface="Liberation Sans" panose="020B0604020202020204" pitchFamily="34" charset="0"/>
              </a:rPr>
              <a:t>Equipment 		25,000</a:t>
            </a:r>
          </a:p>
          <a:p>
            <a:pPr indent="457200">
              <a:tabLst>
                <a:tab pos="2057400" algn="l"/>
                <a:tab pos="5943600" algn="r"/>
                <a:tab pos="7094220" algn="r"/>
              </a:tabLst>
            </a:pPr>
            <a:r>
              <a:rPr lang="en-US" sz="1800" dirty="0">
                <a:solidFill>
                  <a:schemeClr val="tx1"/>
                </a:solidFill>
                <a:latin typeface="Liberation Sans" panose="020B0604020202020204" pitchFamily="34" charset="0"/>
              </a:rPr>
              <a:t>Accumulated Depreciation—Equipment 		$5,000</a:t>
            </a:r>
          </a:p>
          <a:p>
            <a:pPr indent="457200">
              <a:tabLst>
                <a:tab pos="2057400" algn="l"/>
                <a:tab pos="5943600" algn="r"/>
                <a:tab pos="7094220" algn="r"/>
              </a:tabLst>
            </a:pPr>
            <a:r>
              <a:rPr lang="en-US" sz="1800" dirty="0">
                <a:solidFill>
                  <a:schemeClr val="tx1"/>
                </a:solidFill>
                <a:latin typeface="Liberation Sans" panose="020B0604020202020204" pitchFamily="34" charset="0"/>
              </a:rPr>
              <a:t>Unearned Service Revenue 		9,200</a:t>
            </a:r>
          </a:p>
          <a:p>
            <a:pPr>
              <a:lnSpc>
                <a:spcPct val="120000"/>
              </a:lnSpc>
              <a:spcBef>
                <a:spcPts val="600"/>
              </a:spcBef>
            </a:pPr>
            <a:r>
              <a:rPr lang="en-US" sz="1800" dirty="0">
                <a:solidFill>
                  <a:schemeClr val="tx1"/>
                </a:solidFill>
                <a:latin typeface="Liberation Sans" panose="020B0604020202020204" pitchFamily="34" charset="0"/>
              </a:rPr>
              <a:t>Prepare the adjusting entries for the month of March.</a:t>
            </a:r>
            <a:endParaRPr lang="en-US" altLang="en-US" sz="1700" dirty="0">
              <a:solidFill>
                <a:schemeClr val="tx1"/>
              </a:solidFill>
              <a:latin typeface="Liberation Sans" panose="020B0604020202020204" pitchFamily="34" charset="0"/>
            </a:endParaRPr>
          </a:p>
          <a:p>
            <a:pPr marL="342900" indent="-342900">
              <a:lnSpc>
                <a:spcPct val="120000"/>
              </a:lnSpc>
              <a:spcBef>
                <a:spcPts val="1200"/>
              </a:spcBef>
              <a:buFont typeface="+mj-lt"/>
              <a:buAutoNum type="arabicPeriod" startAt="4"/>
            </a:pPr>
            <a:r>
              <a:rPr lang="en-US" sz="1800" dirty="0">
                <a:solidFill>
                  <a:schemeClr val="tx1"/>
                </a:solidFill>
                <a:latin typeface="Liberation Sans" panose="020B0604020202020204" pitchFamily="34" charset="0"/>
              </a:rPr>
              <a:t>During March, services were performed for one-half of the unearned service revenue.</a:t>
            </a:r>
          </a:p>
        </p:txBody>
      </p:sp>
      <p:sp>
        <p:nvSpPr>
          <p:cNvPr id="15" name="Line 29"/>
          <p:cNvSpPr>
            <a:spLocks noChangeShapeType="1"/>
          </p:cNvSpPr>
          <p:nvPr/>
        </p:nvSpPr>
        <p:spPr bwMode="auto">
          <a:xfrm>
            <a:off x="1814286" y="784325"/>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572"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17"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286" y="357189"/>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8"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4858"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9"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7473" y="571502"/>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0" name="TextBox 19"/>
          <p:cNvSpPr txBox="1"/>
          <p:nvPr/>
        </p:nvSpPr>
        <p:spPr>
          <a:xfrm>
            <a:off x="3991429" y="428625"/>
            <a:ext cx="435429" cy="641336"/>
          </a:xfrm>
          <a:prstGeom prst="rect">
            <a:avLst/>
          </a:prstGeom>
          <a:noFill/>
        </p:spPr>
        <p:txBody>
          <a:bodyPr wrap="square" lIns="86493" tIns="43247" rIns="86493" bIns="43247" rtlCol="0">
            <a:spAutoFit/>
          </a:bodyPr>
          <a:lstStyle/>
          <a:p>
            <a:r>
              <a:rPr lang="en-US" sz="3600" b="1" dirty="0">
                <a:solidFill>
                  <a:srgbClr val="FF9900"/>
                </a:solidFill>
                <a:latin typeface="Liberation Sans" panose="020B0604020202020204" pitchFamily="34" charset="0"/>
              </a:rPr>
              <a:t>2</a:t>
            </a:r>
          </a:p>
        </p:txBody>
      </p:sp>
      <p:sp>
        <p:nvSpPr>
          <p:cNvPr id="21" name="TextBox 20"/>
          <p:cNvSpPr txBox="1"/>
          <p:nvPr/>
        </p:nvSpPr>
        <p:spPr>
          <a:xfrm>
            <a:off x="4862287" y="508910"/>
            <a:ext cx="5515429" cy="519373"/>
          </a:xfrm>
          <a:prstGeom prst="rect">
            <a:avLst/>
          </a:prstGeom>
          <a:noFill/>
        </p:spPr>
        <p:txBody>
          <a:bodyPr wrap="square" lIns="86493" tIns="43247" rIns="86493" bIns="43247" rtlCol="0">
            <a:spAutoFit/>
          </a:bodyPr>
          <a:lstStyle/>
          <a:p>
            <a:pPr marL="111125"/>
            <a:r>
              <a:rPr lang="en-US" sz="2800" b="1" dirty="0">
                <a:solidFill>
                  <a:schemeClr val="bg1"/>
                </a:solidFill>
                <a:latin typeface="Liberation Sans" panose="020B0604020202020204" pitchFamily="34" charset="0"/>
              </a:rPr>
              <a:t>Adjusting Entries for Deferrals</a:t>
            </a:r>
          </a:p>
        </p:txBody>
      </p:sp>
      <p:pic>
        <p:nvPicPr>
          <p:cNvPr id="2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1981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5" name="TextBox 24"/>
          <p:cNvSpPr txBox="1"/>
          <p:nvPr/>
        </p:nvSpPr>
        <p:spPr>
          <a:xfrm>
            <a:off x="1828800" y="381000"/>
            <a:ext cx="2209800" cy="738664"/>
          </a:xfrm>
          <a:prstGeom prst="rect">
            <a:avLst/>
          </a:prstGeom>
          <a:noFill/>
        </p:spPr>
        <p:txBody>
          <a:bodyPr wrap="square" rtlCol="0">
            <a:spAutoFit/>
          </a:bodyPr>
          <a:lstStyle/>
          <a:p>
            <a:r>
              <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rPr>
              <a:t>DO IT!</a:t>
            </a:r>
          </a:p>
        </p:txBody>
      </p:sp>
      <p:cxnSp>
        <p:nvCxnSpPr>
          <p:cNvPr id="3" name="Straight Connector 2"/>
          <p:cNvCxnSpPr/>
          <p:nvPr/>
        </p:nvCxnSpPr>
        <p:spPr bwMode="auto">
          <a:xfrm>
            <a:off x="8534400" y="2496312"/>
            <a:ext cx="838200" cy="0"/>
          </a:xfrm>
          <a:prstGeom prst="line">
            <a:avLst/>
          </a:prstGeom>
          <a:solidFill>
            <a:schemeClr val="accent1"/>
          </a:solidFill>
          <a:ln w="28575" cap="sq" cmpd="sng" algn="ctr">
            <a:solidFill>
              <a:schemeClr val="tx1"/>
            </a:solidFill>
            <a:prstDash val="solid"/>
            <a:round/>
            <a:headEnd type="none" w="sm" len="sm"/>
            <a:tailEnd type="none" w="sm" len="sm"/>
          </a:ln>
          <a:effectLst/>
        </p:spPr>
      </p:cxnSp>
      <p:cxnSp>
        <p:nvCxnSpPr>
          <p:cNvPr id="22" name="Straight Connector 21"/>
          <p:cNvCxnSpPr/>
          <p:nvPr/>
        </p:nvCxnSpPr>
        <p:spPr bwMode="auto">
          <a:xfrm>
            <a:off x="7391400" y="2496312"/>
            <a:ext cx="838200" cy="0"/>
          </a:xfrm>
          <a:prstGeom prst="line">
            <a:avLst/>
          </a:prstGeom>
          <a:solidFill>
            <a:schemeClr val="accent1"/>
          </a:solidFill>
          <a:ln w="28575" cap="sq" cmpd="sng" algn="ctr">
            <a:solidFill>
              <a:schemeClr val="tx1"/>
            </a:solidFill>
            <a:prstDash val="solid"/>
            <a:round/>
            <a:headEnd type="none" w="sm" len="sm"/>
            <a:tailEnd type="none" w="sm" len="sm"/>
          </a:ln>
          <a:effectLst/>
        </p:spPr>
      </p:cxnSp>
      <p:sp>
        <p:nvSpPr>
          <p:cNvPr id="2" name="Rectangle 1"/>
          <p:cNvSpPr/>
          <p:nvPr/>
        </p:nvSpPr>
        <p:spPr>
          <a:xfrm>
            <a:off x="2743200" y="5338126"/>
            <a:ext cx="7239000" cy="83407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20000"/>
              </a:lnSpc>
              <a:spcBef>
                <a:spcPts val="600"/>
              </a:spcBef>
              <a:tabLst>
                <a:tab pos="5309870" algn="r"/>
                <a:tab pos="6518275" algn="r"/>
              </a:tabLst>
            </a:pPr>
            <a:r>
              <a:rPr lang="en-US" dirty="0">
                <a:latin typeface="Liberation Sans" panose="020B0604020202020204" pitchFamily="34" charset="0"/>
              </a:rPr>
              <a:t>Unearned Service Revenue	4,600</a:t>
            </a:r>
          </a:p>
          <a:p>
            <a:pPr marL="457200" indent="-457200">
              <a:lnSpc>
                <a:spcPct val="120000"/>
              </a:lnSpc>
              <a:spcBef>
                <a:spcPts val="600"/>
              </a:spcBef>
              <a:tabLst>
                <a:tab pos="5146675" algn="r"/>
                <a:tab pos="6459220" algn="r"/>
              </a:tabLst>
            </a:pPr>
            <a:r>
              <a:rPr lang="en-US" dirty="0">
                <a:latin typeface="Liberation Sans" panose="020B0604020202020204" pitchFamily="34" charset="0"/>
              </a:rPr>
              <a:t>	Service Revenue		4,600</a:t>
            </a:r>
          </a:p>
        </p:txBody>
      </p:sp>
      <p:sp>
        <p:nvSpPr>
          <p:cNvPr id="23"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2</a:t>
            </a:r>
          </a:p>
        </p:txBody>
      </p:sp>
    </p:spTree>
    <p:extLst>
      <p:ext uri="{BB962C8B-B14F-4D97-AF65-F5344CB8AC3E}">
        <p14:creationId xmlns:p14="http://schemas.microsoft.com/office/powerpoint/2010/main" val="367335540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2286000" y="1520825"/>
            <a:ext cx="7772400" cy="2569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square">
            <a:spAutoFit/>
          </a:bodyPr>
          <a:lstStyle>
            <a:lvl1pPr>
              <a:tabLst>
                <a:tab pos="1371600" algn="l"/>
              </a:tabLst>
              <a:defRPr sz="2800" b="1">
                <a:solidFill>
                  <a:schemeClr val="bg1"/>
                </a:solidFill>
                <a:latin typeface="Arial" panose="020B0604020202020204" pitchFamily="34" charset="0"/>
              </a:defRPr>
            </a:lvl1pPr>
            <a:lvl2pPr marL="685800" indent="-457200">
              <a:tabLst>
                <a:tab pos="1371600" algn="l"/>
              </a:tabLst>
              <a:defRPr sz="2800" b="1">
                <a:solidFill>
                  <a:schemeClr val="bg1"/>
                </a:solidFill>
                <a:latin typeface="Arial" panose="020B0604020202020204" pitchFamily="34" charset="0"/>
              </a:defRPr>
            </a:lvl2pPr>
            <a:lvl3pPr marL="1143000" indent="-228600">
              <a:tabLst>
                <a:tab pos="1371600" algn="l"/>
              </a:tabLst>
              <a:defRPr sz="2800" b="1">
                <a:solidFill>
                  <a:schemeClr val="bg1"/>
                </a:solidFill>
                <a:latin typeface="Arial" panose="020B0604020202020204" pitchFamily="34" charset="0"/>
              </a:defRPr>
            </a:lvl3pPr>
            <a:lvl4pPr marL="1600200" indent="-228600">
              <a:tabLst>
                <a:tab pos="1371600" algn="l"/>
              </a:tabLst>
              <a:defRPr sz="2800" b="1">
                <a:solidFill>
                  <a:schemeClr val="bg1"/>
                </a:solidFill>
                <a:latin typeface="Arial" panose="020B0604020202020204" pitchFamily="34" charset="0"/>
              </a:defRPr>
            </a:lvl4pPr>
            <a:lvl5pPr marL="2057400" indent="-228600">
              <a:tabLst>
                <a:tab pos="13716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13716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13716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13716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1371600" algn="l"/>
              </a:tabLst>
              <a:defRPr sz="2800" b="1">
                <a:solidFill>
                  <a:schemeClr val="bg1"/>
                </a:solidFill>
                <a:latin typeface="Arial" panose="020B0604020202020204" pitchFamily="34" charset="0"/>
              </a:defRPr>
            </a:lvl9pPr>
          </a:lstStyle>
          <a:p>
            <a:pPr>
              <a:lnSpc>
                <a:spcPct val="115000"/>
              </a:lnSpc>
              <a:spcBef>
                <a:spcPct val="40000"/>
              </a:spcBef>
              <a:buSzPct val="80000"/>
            </a:pPr>
            <a:r>
              <a:rPr lang="en-US" altLang="en-US" sz="2400" dirty="0">
                <a:solidFill>
                  <a:schemeClr val="tx1"/>
                </a:solidFill>
                <a:latin typeface="Liberation Sans" panose="020B0604020202020204" pitchFamily="34" charset="0"/>
              </a:rPr>
              <a:t>Accruals </a:t>
            </a:r>
            <a:r>
              <a:rPr lang="en-US" altLang="en-US" sz="2400" b="0" dirty="0">
                <a:solidFill>
                  <a:schemeClr val="tx1"/>
                </a:solidFill>
                <a:latin typeface="Liberation Sans" panose="020B0604020202020204" pitchFamily="34" charset="0"/>
              </a:rPr>
              <a:t>are made to record </a:t>
            </a:r>
          </a:p>
          <a:p>
            <a:pPr lvl="1">
              <a:lnSpc>
                <a:spcPct val="115000"/>
              </a:lnSpc>
              <a:spcBef>
                <a:spcPct val="60000"/>
              </a:spcBef>
              <a:buClr>
                <a:srgbClr val="800000"/>
              </a:buClr>
              <a:buSzPct val="80000"/>
              <a:buFont typeface="Wingdings" panose="05000000000000000000" pitchFamily="2" charset="2"/>
              <a:buChar char="u"/>
            </a:pPr>
            <a:r>
              <a:rPr lang="en-US" altLang="en-US" sz="2300" dirty="0">
                <a:solidFill>
                  <a:schemeClr val="tx1"/>
                </a:solidFill>
                <a:latin typeface="Liberation Sans" panose="020B0604020202020204" pitchFamily="34" charset="0"/>
              </a:rPr>
              <a:t>Revenues</a:t>
            </a:r>
            <a:r>
              <a:rPr lang="en-US" altLang="en-US" sz="2300" b="0" dirty="0">
                <a:solidFill>
                  <a:schemeClr val="tx1"/>
                </a:solidFill>
                <a:latin typeface="Liberation Sans" panose="020B0604020202020204" pitchFamily="34" charset="0"/>
              </a:rPr>
              <a:t> </a:t>
            </a:r>
            <a:r>
              <a:rPr lang="en-US" sz="2300" b="0" dirty="0">
                <a:solidFill>
                  <a:schemeClr val="tx1"/>
                </a:solidFill>
                <a:latin typeface="Liberation Sans" panose="020B0604020202020204" pitchFamily="34" charset="0"/>
              </a:rPr>
              <a:t>for services performed but not yet recorded at the statement date.</a:t>
            </a:r>
            <a:r>
              <a:rPr lang="en-US" altLang="en-US" sz="2300" i="1" dirty="0">
                <a:solidFill>
                  <a:srgbClr val="800000"/>
                </a:solidFill>
                <a:latin typeface="Liberation Sans" panose="020B0604020202020204" pitchFamily="34" charset="0"/>
              </a:rPr>
              <a:t> </a:t>
            </a:r>
          </a:p>
          <a:p>
            <a:pPr lvl="1">
              <a:lnSpc>
                <a:spcPct val="115000"/>
              </a:lnSpc>
              <a:spcBef>
                <a:spcPct val="60000"/>
              </a:spcBef>
              <a:buClr>
                <a:srgbClr val="800000"/>
              </a:buClr>
              <a:buSzPct val="80000"/>
              <a:buFont typeface="Wingdings" panose="05000000000000000000" pitchFamily="2" charset="2"/>
              <a:buChar char="u"/>
            </a:pPr>
            <a:r>
              <a:rPr lang="en-US" sz="2300" dirty="0">
                <a:solidFill>
                  <a:schemeClr val="tx1"/>
                </a:solidFill>
                <a:latin typeface="Liberation Sans" panose="020B0604020202020204" pitchFamily="34" charset="0"/>
              </a:rPr>
              <a:t>Expenses</a:t>
            </a:r>
            <a:r>
              <a:rPr lang="en-US" sz="2300" b="0" dirty="0">
                <a:solidFill>
                  <a:schemeClr val="tx1"/>
                </a:solidFill>
                <a:latin typeface="Liberation Sans" panose="020B0604020202020204" pitchFamily="34" charset="0"/>
              </a:rPr>
              <a:t> incurred but not yet paid or recorded at the statement date.</a:t>
            </a:r>
            <a:endParaRPr lang="en-US" altLang="en-US" sz="2300" b="0" dirty="0">
              <a:solidFill>
                <a:schemeClr val="tx1"/>
              </a:solidFill>
              <a:latin typeface="Liberation Sans" panose="020B0604020202020204" pitchFamily="34" charset="0"/>
            </a:endParaRPr>
          </a:p>
        </p:txBody>
      </p:sp>
      <p:sp>
        <p:nvSpPr>
          <p:cNvPr id="7" name="Rectangle 6"/>
          <p:cNvSpPr>
            <a:spLocks noChangeArrowheads="1"/>
          </p:cNvSpPr>
          <p:nvPr/>
        </p:nvSpPr>
        <p:spPr bwMode="auto">
          <a:xfrm>
            <a:off x="1814286" y="405765"/>
            <a:ext cx="2249714" cy="677228"/>
          </a:xfrm>
          <a:prstGeom prst="rect">
            <a:avLst/>
          </a:prstGeom>
          <a:solidFill>
            <a:schemeClr val="bg1">
              <a:lumMod val="85000"/>
            </a:schemeClr>
          </a:solidFill>
          <a:ln>
            <a:noFill/>
          </a:ln>
          <a:effectLst/>
        </p:spPr>
        <p:txBody>
          <a:bodyPr wrap="none" lIns="86493" tIns="43247" rIns="86493" bIns="43247" anchor="ctr"/>
          <a:lstStyle/>
          <a:p>
            <a:r>
              <a:rPr lang="en-US" altLang="en-US" sz="1700" dirty="0">
                <a:latin typeface="Liberation Sans" panose="020B0604020202020204" pitchFamily="34" charset="0"/>
              </a:rPr>
              <a:t>LEARNING</a:t>
            </a:r>
          </a:p>
          <a:p>
            <a:r>
              <a:rPr lang="en-US" altLang="en-US" sz="1700" dirty="0">
                <a:latin typeface="Liberation Sans" panose="020B0604020202020204" pitchFamily="34" charset="0"/>
              </a:rPr>
              <a:t>OBJECTIVE</a:t>
            </a:r>
          </a:p>
        </p:txBody>
      </p:sp>
      <p:sp>
        <p:nvSpPr>
          <p:cNvPr id="8" name="Rectangle 5"/>
          <p:cNvSpPr>
            <a:spLocks noChangeArrowheads="1"/>
          </p:cNvSpPr>
          <p:nvPr/>
        </p:nvSpPr>
        <p:spPr bwMode="auto">
          <a:xfrm>
            <a:off x="4064001" y="274320"/>
            <a:ext cx="6241143" cy="928688"/>
          </a:xfrm>
          <a:prstGeom prst="rect">
            <a:avLst/>
          </a:prstGeom>
          <a:solidFill>
            <a:srgbClr val="0027A4"/>
          </a:solidFill>
          <a:ln>
            <a:noFill/>
          </a:ln>
          <a:effectLst/>
        </p:spPr>
        <p:txBody>
          <a:bodyPr wrap="square" tIns="27432" anchor="ctr"/>
          <a:lstStyle/>
          <a:p>
            <a:pPr marL="117475"/>
            <a:r>
              <a:rPr lang="en-US" sz="2500" dirty="0">
                <a:solidFill>
                  <a:srgbClr val="FF0000"/>
                </a:solidFill>
                <a:latin typeface="Liberation Sans" panose="020B0604020202020204" pitchFamily="34" charset="0"/>
              </a:rPr>
              <a:t>Prepare adjusting entries for accruals.</a:t>
            </a:r>
          </a:p>
        </p:txBody>
      </p:sp>
      <p:sp>
        <p:nvSpPr>
          <p:cNvPr id="9" name="Oval 8"/>
          <p:cNvSpPr/>
          <p:nvPr/>
        </p:nvSpPr>
        <p:spPr bwMode="auto">
          <a:xfrm>
            <a:off x="3396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86493" tIns="0" rIns="86493" bIns="43247" numCol="1" spcCol="0" rtlCol="0" fromWordArt="0" anchor="ctr" anchorCtr="0" forceAA="0" compatLnSpc="1">
            <a:noAutofit/>
          </a:bodyPr>
          <a:lstStyle/>
          <a:p>
            <a:pPr algn="ctr"/>
            <a:r>
              <a:rPr lang="en-US" sz="2400" dirty="0">
                <a:latin typeface="Liberation Sans" panose="020B0604020202020204" pitchFamily="34" charset="0"/>
              </a:rPr>
              <a:t>3</a:t>
            </a:r>
          </a:p>
        </p:txBody>
      </p:sp>
      <p:sp>
        <p:nvSpPr>
          <p:cNvPr id="6"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spTree>
    <p:extLst>
      <p:ext uri="{BB962C8B-B14F-4D97-AF65-F5344CB8AC3E}">
        <p14:creationId xmlns:p14="http://schemas.microsoft.com/office/powerpoint/2010/main" val="7224618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type="body" idx="4294967295"/>
          </p:nvPr>
        </p:nvSpPr>
        <p:spPr>
          <a:xfrm>
            <a:off x="1981200" y="1295400"/>
            <a:ext cx="8077200" cy="9144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marL="0" indent="0">
              <a:lnSpc>
                <a:spcPct val="110000"/>
              </a:lnSpc>
              <a:buClr>
                <a:srgbClr val="006666"/>
              </a:buClr>
              <a:buNone/>
            </a:pPr>
            <a:r>
              <a:rPr lang="en-US" altLang="en-US" sz="2300" dirty="0">
                <a:latin typeface="Liberation Sans" panose="020B0604020202020204" pitchFamily="34" charset="0"/>
              </a:rPr>
              <a:t>Revenues for services performed but not yet received in cash or recorded.</a:t>
            </a:r>
          </a:p>
        </p:txBody>
      </p:sp>
      <p:sp>
        <p:nvSpPr>
          <p:cNvPr id="39939" name="Rectangle 6"/>
          <p:cNvSpPr>
            <a:spLocks noChangeArrowheads="1"/>
          </p:cNvSpPr>
          <p:nvPr/>
        </p:nvSpPr>
        <p:spPr bwMode="auto">
          <a:xfrm>
            <a:off x="2209800" y="3951288"/>
            <a:ext cx="3048000" cy="141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marL="571500" lvl="1" indent="-457200">
              <a:spcBef>
                <a:spcPts val="1200"/>
              </a:spcBef>
              <a:buClr>
                <a:srgbClr val="800000"/>
              </a:buClr>
              <a:buSzPct val="80000"/>
              <a:buFont typeface="Wingdings" panose="05000000000000000000" pitchFamily="2" charset="2"/>
              <a:buChar char="u"/>
            </a:pPr>
            <a:r>
              <a:rPr lang="en-US" altLang="en-US" sz="2200" dirty="0">
                <a:solidFill>
                  <a:schemeClr val="bg2"/>
                </a:solidFill>
                <a:latin typeface="Liberation Sans" panose="020B0604020202020204" pitchFamily="34" charset="0"/>
              </a:rPr>
              <a:t>Rent</a:t>
            </a:r>
          </a:p>
          <a:p>
            <a:pPr marL="571500" lvl="1" indent="-457200">
              <a:spcBef>
                <a:spcPts val="1200"/>
              </a:spcBef>
              <a:buClr>
                <a:srgbClr val="800000"/>
              </a:buClr>
              <a:buSzPct val="80000"/>
              <a:buFont typeface="Wingdings" panose="05000000000000000000" pitchFamily="2" charset="2"/>
              <a:buChar char="u"/>
            </a:pPr>
            <a:r>
              <a:rPr lang="en-US" altLang="en-US" sz="2200" dirty="0">
                <a:solidFill>
                  <a:schemeClr val="bg2"/>
                </a:solidFill>
                <a:latin typeface="Liberation Sans" panose="020B0604020202020204" pitchFamily="34" charset="0"/>
              </a:rPr>
              <a:t>Interest</a:t>
            </a:r>
          </a:p>
          <a:p>
            <a:pPr marL="571500" lvl="1" indent="-457200">
              <a:spcBef>
                <a:spcPts val="1200"/>
              </a:spcBef>
              <a:buClr>
                <a:srgbClr val="800000"/>
              </a:buClr>
              <a:buSzPct val="80000"/>
              <a:buFont typeface="Wingdings" panose="05000000000000000000" pitchFamily="2" charset="2"/>
              <a:buChar char="u"/>
            </a:pPr>
            <a:r>
              <a:rPr lang="en-US" altLang="en-US" sz="2200" dirty="0">
                <a:solidFill>
                  <a:schemeClr val="bg2"/>
                </a:solidFill>
                <a:latin typeface="Liberation Sans" panose="020B0604020202020204" pitchFamily="34" charset="0"/>
              </a:rPr>
              <a:t>Services</a:t>
            </a:r>
          </a:p>
        </p:txBody>
      </p:sp>
      <p:sp>
        <p:nvSpPr>
          <p:cNvPr id="39941" name="Rectangle 13"/>
          <p:cNvSpPr>
            <a:spLocks noChangeArrowheads="1"/>
          </p:cNvSpPr>
          <p:nvPr/>
        </p:nvSpPr>
        <p:spPr bwMode="auto">
          <a:xfrm>
            <a:off x="2057400" y="3429000"/>
            <a:ext cx="632460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indent="-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Aft>
                <a:spcPct val="20000"/>
              </a:spcAft>
              <a:buSzPct val="80000"/>
            </a:pPr>
            <a:r>
              <a:rPr lang="en-US" altLang="en-US" sz="2300" dirty="0">
                <a:solidFill>
                  <a:schemeClr val="bg2"/>
                </a:solidFill>
                <a:latin typeface="Liberation Sans" panose="020B0604020202020204" pitchFamily="34" charset="0"/>
              </a:rPr>
              <a:t>Accrued revenues </a:t>
            </a:r>
            <a:r>
              <a:rPr lang="en-US" altLang="en-US" sz="2300" b="0" dirty="0">
                <a:solidFill>
                  <a:schemeClr val="bg2"/>
                </a:solidFill>
                <a:latin typeface="Liberation Sans" panose="020B0604020202020204" pitchFamily="34" charset="0"/>
              </a:rPr>
              <a:t>often occur in regard to:</a:t>
            </a:r>
          </a:p>
        </p:txBody>
      </p:sp>
      <p:sp>
        <p:nvSpPr>
          <p:cNvPr id="38919" name="Line 11"/>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39946" name="Text Box 7"/>
          <p:cNvSpPr txBox="1">
            <a:spLocks noChangeArrowheads="1"/>
          </p:cNvSpPr>
          <p:nvPr/>
        </p:nvSpPr>
        <p:spPr bwMode="auto">
          <a:xfrm>
            <a:off x="5562600" y="2505456"/>
            <a:ext cx="144780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defPPr>
              <a:defRPr lang="en-US"/>
            </a:defPPr>
            <a:lvl1pPr marL="457200" indent="-457200" algn="ctr">
              <a:spcBef>
                <a:spcPct val="50000"/>
              </a:spcBef>
              <a:defRPr sz="2300">
                <a:solidFill>
                  <a:srgbClr val="800000"/>
                </a:solidFill>
                <a:latin typeface="Liberation Sans" panose="020B0604020202020204" pitchFamily="34" charset="0"/>
                <a:cs typeface="Arial" panose="020B060402020202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en-US" dirty="0"/>
              <a:t>BEFORE</a:t>
            </a:r>
          </a:p>
        </p:txBody>
      </p:sp>
      <p:sp>
        <p:nvSpPr>
          <p:cNvPr id="39947" name="Text Box 11"/>
          <p:cNvSpPr txBox="1">
            <a:spLocks noChangeArrowheads="1"/>
          </p:cNvSpPr>
          <p:nvPr/>
        </p:nvSpPr>
        <p:spPr bwMode="auto">
          <a:xfrm>
            <a:off x="7086600" y="2486026"/>
            <a:ext cx="2438400" cy="492443"/>
          </a:xfrm>
          <a:prstGeom prst="rect">
            <a:avLst/>
          </a:prstGeom>
          <a:solidFill>
            <a:srgbClr val="FFFF99"/>
          </a:solidFill>
          <a:ln w="28575">
            <a:solidFill>
              <a:schemeClr val="tx1"/>
            </a:solidFill>
            <a:miter lim="800000"/>
          </a:ln>
          <a:effectLst>
            <a:innerShdw blurRad="114300">
              <a:prstClr val="black"/>
            </a:innerShdw>
          </a:effectLst>
        </p:spPr>
        <p:txBody>
          <a:bodyPr bIns="91440">
            <a:spAutoFit/>
          </a:bodyPr>
          <a:lstStyle>
            <a:defPPr>
              <a:defRPr lang="en-US"/>
            </a:defPPr>
            <a:lvl1pPr marL="457200" indent="-457200" algn="ctr">
              <a:defRPr sz="2300">
                <a:solidFill>
                  <a:schemeClr val="tx1"/>
                </a:solidFill>
                <a:latin typeface="Liberation Sans" panose="020B0604020202020204" pitchFamily="34" charset="0"/>
                <a:cs typeface="Arial" panose="020B060402020202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en-US" dirty="0"/>
              <a:t>Cash Receipt</a:t>
            </a:r>
          </a:p>
        </p:txBody>
      </p:sp>
      <p:sp>
        <p:nvSpPr>
          <p:cNvPr id="39948" name="Text Box 12"/>
          <p:cNvSpPr txBox="1">
            <a:spLocks noChangeArrowheads="1"/>
          </p:cNvSpPr>
          <p:nvPr/>
        </p:nvSpPr>
        <p:spPr bwMode="auto">
          <a:xfrm>
            <a:off x="2362201" y="2486026"/>
            <a:ext cx="3135313" cy="492443"/>
          </a:xfrm>
          <a:prstGeom prst="rect">
            <a:avLst/>
          </a:prstGeom>
          <a:solidFill>
            <a:srgbClr val="FFFF99"/>
          </a:solidFill>
          <a:ln w="28575">
            <a:solidFill>
              <a:schemeClr val="tx1"/>
            </a:solidFill>
            <a:miter lim="800000"/>
          </a:ln>
          <a:effectLst>
            <a:innerShdw blurRad="114300">
              <a:prstClr val="black"/>
            </a:innerShdw>
          </a:effectLst>
        </p:spPr>
        <p:txBody>
          <a:bodyPr bIns="91440">
            <a:spAutoFit/>
          </a:bodyPr>
          <a:lstStyle>
            <a:defPPr>
              <a:defRPr lang="en-US"/>
            </a:defPPr>
            <a:lvl1pPr marL="457200" indent="-457200" algn="ctr">
              <a:defRPr sz="2300">
                <a:solidFill>
                  <a:schemeClr val="tx1"/>
                </a:solidFill>
                <a:latin typeface="Liberation Sans" panose="020B0604020202020204" pitchFamily="34" charset="0"/>
                <a:cs typeface="Arial" panose="020B060402020202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en-US" dirty="0"/>
              <a:t>Revenue Recorded</a:t>
            </a:r>
          </a:p>
        </p:txBody>
      </p:sp>
      <p:sp>
        <p:nvSpPr>
          <p:cNvPr id="13"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Accrued Revenues</a:t>
            </a:r>
          </a:p>
        </p:txBody>
      </p:sp>
      <p:sp>
        <p:nvSpPr>
          <p:cNvPr id="10"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spTree>
    <p:extLst>
      <p:ext uri="{BB962C8B-B14F-4D97-AF65-F5344CB8AC3E}">
        <p14:creationId xmlns:p14="http://schemas.microsoft.com/office/powerpoint/2010/main" val="1929584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0"/>
          <p:cNvSpPr txBox="1">
            <a:spLocks noChangeArrowheads="1"/>
          </p:cNvSpPr>
          <p:nvPr/>
        </p:nvSpPr>
        <p:spPr bwMode="auto">
          <a:xfrm>
            <a:off x="2133600" y="1295400"/>
            <a:ext cx="5715000" cy="1255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pPr>
            <a:r>
              <a:rPr lang="en-US" altLang="en-US" sz="2100" dirty="0">
                <a:solidFill>
                  <a:schemeClr val="tx1"/>
                </a:solidFill>
                <a:latin typeface="Liberation Sans" panose="020B0604020202020204" pitchFamily="34" charset="0"/>
              </a:rPr>
              <a:t>Illustration:  </a:t>
            </a:r>
            <a:r>
              <a:rPr lang="en-US" altLang="en-US" sz="2100" b="0" dirty="0">
                <a:solidFill>
                  <a:schemeClr val="tx1"/>
                </a:solidFill>
                <a:latin typeface="Liberation Sans" panose="020B0604020202020204" pitchFamily="34" charset="0"/>
              </a:rPr>
              <a:t>In October Pioneer Advertising performed services worth $200 that were not billed to clients on or before October 31. </a:t>
            </a:r>
          </a:p>
        </p:txBody>
      </p:sp>
      <p:sp>
        <p:nvSpPr>
          <p:cNvPr id="315429" name="Text Box 37"/>
          <p:cNvSpPr txBox="1">
            <a:spLocks noChangeArrowheads="1"/>
          </p:cNvSpPr>
          <p:nvPr/>
        </p:nvSpPr>
        <p:spPr bwMode="auto">
          <a:xfrm>
            <a:off x="3505200" y="5835650"/>
            <a:ext cx="3505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Accounts Receivable</a:t>
            </a:r>
          </a:p>
        </p:txBody>
      </p:sp>
      <p:sp>
        <p:nvSpPr>
          <p:cNvPr id="315432" name="Text Box 40"/>
          <p:cNvSpPr txBox="1">
            <a:spLocks noChangeArrowheads="1"/>
          </p:cNvSpPr>
          <p:nvPr/>
        </p:nvSpPr>
        <p:spPr bwMode="auto">
          <a:xfrm>
            <a:off x="7620000" y="5835650"/>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200</a:t>
            </a:r>
          </a:p>
        </p:txBody>
      </p:sp>
      <p:sp>
        <p:nvSpPr>
          <p:cNvPr id="315433" name="Text Box 41"/>
          <p:cNvSpPr txBox="1">
            <a:spLocks noChangeArrowheads="1"/>
          </p:cNvSpPr>
          <p:nvPr/>
        </p:nvSpPr>
        <p:spPr bwMode="auto">
          <a:xfrm>
            <a:off x="3505200" y="5376863"/>
            <a:ext cx="38100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Cash</a:t>
            </a:r>
          </a:p>
        </p:txBody>
      </p:sp>
      <p:sp>
        <p:nvSpPr>
          <p:cNvPr id="315434" name="Text Box 42"/>
          <p:cNvSpPr txBox="1">
            <a:spLocks noChangeArrowheads="1"/>
          </p:cNvSpPr>
          <p:nvPr/>
        </p:nvSpPr>
        <p:spPr bwMode="auto">
          <a:xfrm>
            <a:off x="6629400" y="5376863"/>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200</a:t>
            </a:r>
          </a:p>
        </p:txBody>
      </p:sp>
      <p:sp>
        <p:nvSpPr>
          <p:cNvPr id="41991" name="Text Box 48"/>
          <p:cNvSpPr txBox="1">
            <a:spLocks noChangeArrowheads="1"/>
          </p:cNvSpPr>
          <p:nvPr/>
        </p:nvSpPr>
        <p:spPr bwMode="auto">
          <a:xfrm>
            <a:off x="2133600" y="5376863"/>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Nov. 10</a:t>
            </a:r>
          </a:p>
        </p:txBody>
      </p:sp>
      <p:sp>
        <p:nvSpPr>
          <p:cNvPr id="40969" name="Line 10"/>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2" name="Text Box 42"/>
          <p:cNvSpPr txBox="1">
            <a:spLocks noChangeArrowheads="1"/>
          </p:cNvSpPr>
          <p:nvPr/>
        </p:nvSpPr>
        <p:spPr bwMode="auto">
          <a:xfrm>
            <a:off x="5334000" y="3276600"/>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200</a:t>
            </a:r>
          </a:p>
        </p:txBody>
      </p:sp>
      <p:sp>
        <p:nvSpPr>
          <p:cNvPr id="3" name="Text Box 37"/>
          <p:cNvSpPr txBox="1">
            <a:spLocks noChangeArrowheads="1"/>
          </p:cNvSpPr>
          <p:nvPr/>
        </p:nvSpPr>
        <p:spPr bwMode="auto">
          <a:xfrm>
            <a:off x="2133600" y="3735388"/>
            <a:ext cx="48768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Service Revenue</a:t>
            </a:r>
          </a:p>
        </p:txBody>
      </p:sp>
      <p:sp>
        <p:nvSpPr>
          <p:cNvPr id="4" name="Text Box 40"/>
          <p:cNvSpPr txBox="1">
            <a:spLocks noChangeArrowheads="1"/>
          </p:cNvSpPr>
          <p:nvPr/>
        </p:nvSpPr>
        <p:spPr bwMode="auto">
          <a:xfrm>
            <a:off x="6324600" y="3735388"/>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200</a:t>
            </a:r>
          </a:p>
        </p:txBody>
      </p:sp>
      <p:sp>
        <p:nvSpPr>
          <p:cNvPr id="5" name="Text Box 41"/>
          <p:cNvSpPr txBox="1">
            <a:spLocks noChangeArrowheads="1"/>
          </p:cNvSpPr>
          <p:nvPr/>
        </p:nvSpPr>
        <p:spPr bwMode="auto">
          <a:xfrm>
            <a:off x="2133600" y="3276600"/>
            <a:ext cx="38100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Accounts Receivable</a:t>
            </a:r>
          </a:p>
        </p:txBody>
      </p:sp>
      <p:sp>
        <p:nvSpPr>
          <p:cNvPr id="41999" name="Text Box 48"/>
          <p:cNvSpPr txBox="1">
            <a:spLocks noChangeArrowheads="1"/>
          </p:cNvSpPr>
          <p:nvPr/>
        </p:nvSpPr>
        <p:spPr bwMode="auto">
          <a:xfrm>
            <a:off x="2133600" y="2743200"/>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Oct. 31</a:t>
            </a:r>
          </a:p>
        </p:txBody>
      </p:sp>
      <p:sp>
        <p:nvSpPr>
          <p:cNvPr id="42000" name="Text Box 20"/>
          <p:cNvSpPr txBox="1">
            <a:spLocks noChangeArrowheads="1"/>
          </p:cNvSpPr>
          <p:nvPr/>
        </p:nvSpPr>
        <p:spPr bwMode="auto">
          <a:xfrm>
            <a:off x="2133600" y="4318001"/>
            <a:ext cx="79248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pPr>
            <a:r>
              <a:rPr lang="en-US" altLang="en-US" sz="2100" b="0" dirty="0">
                <a:solidFill>
                  <a:schemeClr val="tx1"/>
                </a:solidFill>
                <a:latin typeface="Liberation Sans" panose="020B0604020202020204" pitchFamily="34" charset="0"/>
              </a:rPr>
              <a:t>On November 10, Pioneer receives cash of $200 for the services performed.</a:t>
            </a:r>
          </a:p>
        </p:txBody>
      </p:sp>
      <p:pic>
        <p:nvPicPr>
          <p:cNvPr id="42001" name="Picture 2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53401" y="1447800"/>
            <a:ext cx="2106613" cy="2490788"/>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18"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Accrued Revenues</a:t>
            </a:r>
          </a:p>
        </p:txBody>
      </p:sp>
      <p:sp>
        <p:nvSpPr>
          <p:cNvPr id="17"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spTree>
    <p:extLst>
      <p:ext uri="{BB962C8B-B14F-4D97-AF65-F5344CB8AC3E}">
        <p14:creationId xmlns:p14="http://schemas.microsoft.com/office/powerpoint/2010/main" val="2928982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15433"/>
                                        </p:tgtEl>
                                        <p:attrNameLst>
                                          <p:attrName>style.visibility</p:attrName>
                                        </p:attrNameLst>
                                      </p:cBhvr>
                                      <p:to>
                                        <p:strVal val="visible"/>
                                      </p:to>
                                    </p:set>
                                    <p:animEffect transition="in" filter="wipe(left)">
                                      <p:cBhvr>
                                        <p:cTn id="25" dur="500"/>
                                        <p:tgtEl>
                                          <p:spTgt spid="315433"/>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315434"/>
                                        </p:tgtEl>
                                        <p:attrNameLst>
                                          <p:attrName>style.visibility</p:attrName>
                                        </p:attrNameLst>
                                      </p:cBhvr>
                                      <p:to>
                                        <p:strVal val="visible"/>
                                      </p:to>
                                    </p:set>
                                    <p:animEffect transition="in" filter="wipe(left)">
                                      <p:cBhvr>
                                        <p:cTn id="29" dur="500"/>
                                        <p:tgtEl>
                                          <p:spTgt spid="31543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15429"/>
                                        </p:tgtEl>
                                        <p:attrNameLst>
                                          <p:attrName>style.visibility</p:attrName>
                                        </p:attrNameLst>
                                      </p:cBhvr>
                                      <p:to>
                                        <p:strVal val="visible"/>
                                      </p:to>
                                    </p:set>
                                    <p:animEffect transition="in" filter="wipe(left)">
                                      <p:cBhvr>
                                        <p:cTn id="34" dur="500"/>
                                        <p:tgtEl>
                                          <p:spTgt spid="315429"/>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315432"/>
                                        </p:tgtEl>
                                        <p:attrNameLst>
                                          <p:attrName>style.visibility</p:attrName>
                                        </p:attrNameLst>
                                      </p:cBhvr>
                                      <p:to>
                                        <p:strVal val="visible"/>
                                      </p:to>
                                    </p:set>
                                    <p:animEffect transition="in" filter="wipe(left)">
                                      <p:cBhvr>
                                        <p:cTn id="38" dur="500"/>
                                        <p:tgtEl>
                                          <p:spTgt spid="315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29" grpId="0" autoUpdateAnimBg="0"/>
      <p:bldP spid="315432" grpId="0" autoUpdateAnimBg="0"/>
      <p:bldP spid="315433" grpId="0" autoUpdateAnimBg="0"/>
      <p:bldP spid="315434" grpId="0" autoUpdateAnimBg="0"/>
      <p:bldP spid="2" grpId="0" autoUpdateAnimBg="0"/>
      <p:bldP spid="3" grpId="0" autoUpdateAnimBg="0"/>
      <p:bldP spid="4" grpId="0" autoUpdateAnimBg="0"/>
      <p:bldP spid="5"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050"/>
          <p:cNvSpPr txBox="1">
            <a:spLocks noChangeArrowheads="1"/>
          </p:cNvSpPr>
          <p:nvPr/>
        </p:nvSpPr>
        <p:spPr bwMode="auto">
          <a:xfrm>
            <a:off x="2133600" y="1295400"/>
            <a:ext cx="8001000" cy="256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marL="457200" indent="-457200">
              <a:defRPr sz="2800" b="1">
                <a:solidFill>
                  <a:schemeClr val="bg1"/>
                </a:solidFill>
                <a:latin typeface="Arial" panose="020B0604020202020204" pitchFamily="34" charset="0"/>
              </a:defRPr>
            </a:lvl1pPr>
            <a:lvl2pPr marL="9144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694055">
              <a:lnSpc>
                <a:spcPct val="120000"/>
              </a:lnSpc>
              <a:spcBef>
                <a:spcPct val="50000"/>
              </a:spcBef>
              <a:buClr>
                <a:srgbClr val="800000"/>
              </a:buClr>
              <a:buSzPct val="80000"/>
              <a:buFont typeface="Wingdings" panose="05000000000000000000" pitchFamily="2" charset="2"/>
              <a:buChar char="u"/>
            </a:pPr>
            <a:r>
              <a:rPr lang="en-US" altLang="en-US" sz="2300" b="0" dirty="0">
                <a:solidFill>
                  <a:schemeClr val="tx1"/>
                </a:solidFill>
                <a:latin typeface="Liberation Sans" panose="020B0604020202020204" pitchFamily="34" charset="0"/>
              </a:rPr>
              <a:t>Adjusting entry shows the </a:t>
            </a:r>
            <a:r>
              <a:rPr lang="en-US" altLang="en-US" sz="2300" dirty="0">
                <a:solidFill>
                  <a:schemeClr val="tx1"/>
                </a:solidFill>
                <a:latin typeface="Liberation Sans" panose="020B0604020202020204" pitchFamily="34" charset="0"/>
              </a:rPr>
              <a:t>receivable</a:t>
            </a:r>
            <a:r>
              <a:rPr lang="en-US" altLang="en-US" sz="2300" b="0" dirty="0">
                <a:solidFill>
                  <a:schemeClr val="tx1"/>
                </a:solidFill>
                <a:latin typeface="Liberation Sans" panose="020B0604020202020204" pitchFamily="34" charset="0"/>
              </a:rPr>
              <a:t> that exists and records the </a:t>
            </a:r>
            <a:r>
              <a:rPr lang="en-US" altLang="en-US" sz="2300" dirty="0">
                <a:solidFill>
                  <a:schemeClr val="tx1"/>
                </a:solidFill>
                <a:latin typeface="Liberation Sans" panose="020B0604020202020204" pitchFamily="34" charset="0"/>
              </a:rPr>
              <a:t>revenues for services performed</a:t>
            </a:r>
            <a:r>
              <a:rPr lang="en-US" altLang="en-US" sz="2300" b="0" dirty="0">
                <a:solidFill>
                  <a:schemeClr val="tx1"/>
                </a:solidFill>
                <a:latin typeface="Liberation Sans" panose="020B0604020202020204" pitchFamily="34" charset="0"/>
              </a:rPr>
              <a:t>.</a:t>
            </a:r>
          </a:p>
          <a:p>
            <a:pPr marL="694055">
              <a:lnSpc>
                <a:spcPct val="120000"/>
              </a:lnSpc>
              <a:spcBef>
                <a:spcPct val="50000"/>
              </a:spcBef>
              <a:buClr>
                <a:srgbClr val="800000"/>
              </a:buClr>
              <a:buSzPct val="80000"/>
              <a:buFont typeface="Wingdings" panose="05000000000000000000" pitchFamily="2" charset="2"/>
              <a:buChar char="u"/>
            </a:pPr>
            <a:r>
              <a:rPr lang="en-US" altLang="en-US" sz="2300" b="0" dirty="0">
                <a:solidFill>
                  <a:schemeClr val="tx1"/>
                </a:solidFill>
                <a:latin typeface="Liberation Sans" panose="020B0604020202020204" pitchFamily="34" charset="0"/>
              </a:rPr>
              <a:t>Adjusting entry:</a:t>
            </a:r>
          </a:p>
          <a:p>
            <a:pPr marL="1430655" lvl="1">
              <a:lnSpc>
                <a:spcPct val="120000"/>
              </a:lnSpc>
              <a:spcBef>
                <a:spcPct val="30000"/>
              </a:spcBef>
              <a:buClr>
                <a:srgbClr val="800000"/>
              </a:buClr>
              <a:buSzPct val="80000"/>
              <a:buFont typeface="Arial" panose="020B0604020202020204" pitchFamily="34" charset="0"/>
              <a:buChar char="►"/>
            </a:pPr>
            <a:r>
              <a:rPr lang="en-US" altLang="en-US" sz="2200" dirty="0">
                <a:solidFill>
                  <a:schemeClr val="tx1"/>
                </a:solidFill>
                <a:latin typeface="Liberation Sans" panose="020B0604020202020204" pitchFamily="34" charset="0"/>
              </a:rPr>
              <a:t>Increases</a:t>
            </a:r>
            <a:r>
              <a:rPr lang="en-US" altLang="en-US" sz="2200" b="0" dirty="0">
                <a:solidFill>
                  <a:schemeClr val="tx1"/>
                </a:solidFill>
                <a:latin typeface="Liberation Sans" panose="020B0604020202020204" pitchFamily="34" charset="0"/>
              </a:rPr>
              <a:t> (debits) an </a:t>
            </a:r>
            <a:r>
              <a:rPr lang="en-US" altLang="en-US" sz="2200" dirty="0">
                <a:solidFill>
                  <a:schemeClr val="tx1"/>
                </a:solidFill>
                <a:latin typeface="Liberation Sans" panose="020B0604020202020204" pitchFamily="34" charset="0"/>
              </a:rPr>
              <a:t>asset account</a:t>
            </a:r>
            <a:r>
              <a:rPr lang="en-US" altLang="en-US" sz="2200" b="0" dirty="0">
                <a:solidFill>
                  <a:schemeClr val="tx1"/>
                </a:solidFill>
                <a:latin typeface="Liberation Sans" panose="020B0604020202020204" pitchFamily="34" charset="0"/>
              </a:rPr>
              <a:t> and </a:t>
            </a:r>
          </a:p>
          <a:p>
            <a:pPr marL="1430655" lvl="1">
              <a:lnSpc>
                <a:spcPct val="120000"/>
              </a:lnSpc>
              <a:spcBef>
                <a:spcPct val="30000"/>
              </a:spcBef>
              <a:buClr>
                <a:srgbClr val="800000"/>
              </a:buClr>
              <a:buSzPct val="80000"/>
              <a:buFont typeface="Arial" panose="020B0604020202020204" pitchFamily="34" charset="0"/>
              <a:buChar char="►"/>
            </a:pPr>
            <a:r>
              <a:rPr lang="en-US" altLang="en-US" sz="2200" dirty="0">
                <a:solidFill>
                  <a:schemeClr val="tx1"/>
                </a:solidFill>
                <a:latin typeface="Liberation Sans" panose="020B0604020202020204" pitchFamily="34" charset="0"/>
              </a:rPr>
              <a:t>Increases</a:t>
            </a:r>
            <a:r>
              <a:rPr lang="en-US" altLang="en-US" sz="2200" b="0" dirty="0">
                <a:solidFill>
                  <a:schemeClr val="tx1"/>
                </a:solidFill>
                <a:latin typeface="Liberation Sans" panose="020B0604020202020204" pitchFamily="34" charset="0"/>
              </a:rPr>
              <a:t> (credits) a </a:t>
            </a:r>
            <a:r>
              <a:rPr lang="en-US" altLang="en-US" sz="2200" dirty="0">
                <a:solidFill>
                  <a:schemeClr val="tx1"/>
                </a:solidFill>
                <a:latin typeface="Liberation Sans" panose="020B0604020202020204" pitchFamily="34" charset="0"/>
              </a:rPr>
              <a:t>revenue account</a:t>
            </a:r>
            <a:r>
              <a:rPr lang="en-US" altLang="en-US" sz="2200" b="0" dirty="0">
                <a:solidFill>
                  <a:schemeClr val="tx1"/>
                </a:solidFill>
                <a:latin typeface="Liberation Sans" panose="020B0604020202020204" pitchFamily="34" charset="0"/>
              </a:rPr>
              <a:t>.</a:t>
            </a:r>
          </a:p>
        </p:txBody>
      </p:sp>
      <p:sp>
        <p:nvSpPr>
          <p:cNvPr id="39940" name="Line 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pic>
        <p:nvPicPr>
          <p:cNvPr id="40967" name="Picture 10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0946" y="4014788"/>
            <a:ext cx="6641655" cy="261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9"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Accrued Revenues</a:t>
            </a:r>
          </a:p>
        </p:txBody>
      </p:sp>
      <p:sp>
        <p:nvSpPr>
          <p:cNvPr id="40965" name="Rectangle 8"/>
          <p:cNvSpPr>
            <a:spLocks noChangeArrowheads="1"/>
          </p:cNvSpPr>
          <p:nvPr/>
        </p:nvSpPr>
        <p:spPr bwMode="auto">
          <a:xfrm>
            <a:off x="8686800" y="4038601"/>
            <a:ext cx="1524000" cy="274637"/>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tx1"/>
                </a:solidFill>
                <a:latin typeface="Liberation Sans" panose="020B0604020202020204" pitchFamily="34" charset="0"/>
              </a:rPr>
              <a:t>Illustration 3-13</a:t>
            </a:r>
          </a:p>
        </p:txBody>
      </p:sp>
      <p:sp>
        <p:nvSpPr>
          <p:cNvPr id="7"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spTree>
    <p:extLst>
      <p:ext uri="{BB962C8B-B14F-4D97-AF65-F5344CB8AC3E}">
        <p14:creationId xmlns:p14="http://schemas.microsoft.com/office/powerpoint/2010/main" val="33971599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96012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pic>
        <p:nvPicPr>
          <p:cNvPr id="43010"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95400"/>
            <a:ext cx="7772400" cy="5164138"/>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41988" name="Line 3"/>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43013" name="Rectangle 5"/>
          <p:cNvSpPr>
            <a:spLocks noChangeArrowheads="1"/>
          </p:cNvSpPr>
          <p:nvPr/>
        </p:nvSpPr>
        <p:spPr bwMode="auto">
          <a:xfrm>
            <a:off x="8077200" y="1173164"/>
            <a:ext cx="1524000" cy="274637"/>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1200" dirty="0">
                <a:solidFill>
                  <a:schemeClr val="tx1"/>
                </a:solidFill>
                <a:latin typeface="Liberation Sans" panose="020B0604020202020204" pitchFamily="34" charset="0"/>
              </a:rPr>
              <a:t>Illustration 3-14</a:t>
            </a:r>
          </a:p>
        </p:txBody>
      </p:sp>
      <p:sp>
        <p:nvSpPr>
          <p:cNvPr id="7"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Accrued Revenues</a:t>
            </a:r>
          </a:p>
        </p:txBody>
      </p:sp>
    </p:spTree>
    <p:extLst>
      <p:ext uri="{BB962C8B-B14F-4D97-AF65-F5344CB8AC3E}">
        <p14:creationId xmlns:p14="http://schemas.microsoft.com/office/powerpoint/2010/main" val="11189404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9"/>
          <p:cNvSpPr txBox="1">
            <a:spLocks noChangeArrowheads="1"/>
          </p:cNvSpPr>
          <p:nvPr/>
        </p:nvSpPr>
        <p:spPr bwMode="auto">
          <a:xfrm>
            <a:off x="9067800" y="1727200"/>
            <a:ext cx="1371600" cy="274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tx1"/>
                </a:solidFill>
                <a:latin typeface="Liberation Sans" panose="020B0604020202020204" pitchFamily="34" charset="0"/>
              </a:rPr>
              <a:t>Illustration 3-15</a:t>
            </a:r>
          </a:p>
        </p:txBody>
      </p:sp>
      <p:sp>
        <p:nvSpPr>
          <p:cNvPr id="43012" name="Line 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8"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Accrued Revenues</a:t>
            </a:r>
          </a:p>
        </p:txBody>
      </p:sp>
      <p:sp>
        <p:nvSpPr>
          <p:cNvPr id="9" name="Text Box 2"/>
          <p:cNvSpPr txBox="1">
            <a:spLocks noChangeArrowheads="1"/>
          </p:cNvSpPr>
          <p:nvPr/>
        </p:nvSpPr>
        <p:spPr bwMode="auto">
          <a:xfrm>
            <a:off x="2133600" y="1295401"/>
            <a:ext cx="7620000" cy="499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15000"/>
              </a:lnSpc>
              <a:spcBef>
                <a:spcPct val="50000"/>
              </a:spcBef>
              <a:buSzPct val="80000"/>
            </a:pPr>
            <a:r>
              <a:rPr lang="en-US" altLang="en-US" sz="2300" b="0" dirty="0">
                <a:solidFill>
                  <a:schemeClr val="tx1"/>
                </a:solidFill>
                <a:latin typeface="Liberation Sans" panose="020B0604020202020204" pitchFamily="34" charset="0"/>
              </a:rPr>
              <a:t>Summary of the accounting for accrued revenues.</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057401"/>
            <a:ext cx="8534400" cy="2212357"/>
          </a:xfrm>
          <a:prstGeom prst="rect">
            <a:avLst/>
          </a:prstGeom>
          <a:noFill/>
          <a:ln w="19050" cap="sq"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7"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spTree>
    <p:extLst>
      <p:ext uri="{BB962C8B-B14F-4D97-AF65-F5344CB8AC3E}">
        <p14:creationId xmlns:p14="http://schemas.microsoft.com/office/powerpoint/2010/main" val="36607188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type="body" idx="4294967295"/>
          </p:nvPr>
        </p:nvSpPr>
        <p:spPr>
          <a:xfrm>
            <a:off x="2057400" y="1295400"/>
            <a:ext cx="8305800" cy="5334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marL="0" indent="0">
              <a:lnSpc>
                <a:spcPct val="110000"/>
              </a:lnSpc>
              <a:buClr>
                <a:srgbClr val="006666"/>
              </a:buClr>
              <a:buNone/>
            </a:pPr>
            <a:r>
              <a:rPr lang="en-US" altLang="en-US" sz="2300" dirty="0">
                <a:latin typeface="Liberation Sans" panose="020B0604020202020204" pitchFamily="34" charset="0"/>
              </a:rPr>
              <a:t>Expenses incurred but not yet paid in cash or recorded.</a:t>
            </a:r>
          </a:p>
        </p:txBody>
      </p:sp>
      <p:sp>
        <p:nvSpPr>
          <p:cNvPr id="45059" name="Rectangle 6"/>
          <p:cNvSpPr>
            <a:spLocks noChangeArrowheads="1"/>
          </p:cNvSpPr>
          <p:nvPr/>
        </p:nvSpPr>
        <p:spPr bwMode="auto">
          <a:xfrm>
            <a:off x="2133600" y="3711575"/>
            <a:ext cx="30480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marL="694055" lvl="1" indent="-457200">
              <a:spcBef>
                <a:spcPts val="1200"/>
              </a:spcBef>
              <a:buClr>
                <a:srgbClr val="800000"/>
              </a:buClr>
              <a:buSzPct val="80000"/>
              <a:buFont typeface="Wingdings" panose="05000000000000000000" pitchFamily="2" charset="2"/>
              <a:buChar char="u"/>
            </a:pPr>
            <a:r>
              <a:rPr lang="en-US" altLang="en-US" sz="2200" dirty="0">
                <a:solidFill>
                  <a:schemeClr val="bg2"/>
                </a:solidFill>
                <a:latin typeface="Liberation Sans" panose="020B0604020202020204" pitchFamily="34" charset="0"/>
              </a:rPr>
              <a:t>Rent</a:t>
            </a:r>
          </a:p>
          <a:p>
            <a:pPr marL="694055" lvl="1" indent="-457200">
              <a:spcBef>
                <a:spcPts val="1200"/>
              </a:spcBef>
              <a:buClr>
                <a:srgbClr val="800000"/>
              </a:buClr>
              <a:buSzPct val="80000"/>
              <a:buFont typeface="Wingdings" panose="05000000000000000000" pitchFamily="2" charset="2"/>
              <a:buChar char="u"/>
            </a:pPr>
            <a:r>
              <a:rPr lang="en-US" altLang="en-US" sz="2200" dirty="0">
                <a:solidFill>
                  <a:schemeClr val="bg2"/>
                </a:solidFill>
                <a:latin typeface="Liberation Sans" panose="020B0604020202020204" pitchFamily="34" charset="0"/>
              </a:rPr>
              <a:t>Interest</a:t>
            </a:r>
          </a:p>
        </p:txBody>
      </p:sp>
      <p:sp>
        <p:nvSpPr>
          <p:cNvPr id="45060" name="Rectangle 12"/>
          <p:cNvSpPr>
            <a:spLocks noChangeArrowheads="1"/>
          </p:cNvSpPr>
          <p:nvPr/>
        </p:nvSpPr>
        <p:spPr bwMode="auto">
          <a:xfrm>
            <a:off x="4800600" y="3690938"/>
            <a:ext cx="48006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p>
            <a:pPr marL="694055" lvl="1" indent="-457200">
              <a:spcBef>
                <a:spcPts val="1200"/>
              </a:spcBef>
              <a:buClr>
                <a:srgbClr val="800000"/>
              </a:buClr>
              <a:buSzPct val="80000"/>
              <a:buFont typeface="Wingdings" panose="05000000000000000000" pitchFamily="2" charset="2"/>
              <a:buChar char="u"/>
            </a:pPr>
            <a:r>
              <a:rPr lang="en-US" altLang="en-US" sz="2200" dirty="0">
                <a:solidFill>
                  <a:schemeClr val="bg2"/>
                </a:solidFill>
                <a:latin typeface="Liberation Sans" panose="020B0604020202020204" pitchFamily="34" charset="0"/>
              </a:rPr>
              <a:t>Taxes</a:t>
            </a:r>
          </a:p>
          <a:p>
            <a:pPr marL="694055" lvl="1" indent="-457200">
              <a:spcBef>
                <a:spcPts val="1200"/>
              </a:spcBef>
              <a:buClr>
                <a:srgbClr val="800000"/>
              </a:buClr>
              <a:buSzPct val="80000"/>
              <a:buFont typeface="Wingdings" panose="05000000000000000000" pitchFamily="2" charset="2"/>
              <a:buChar char="u"/>
            </a:pPr>
            <a:r>
              <a:rPr lang="en-US" altLang="en-US" sz="2200" dirty="0">
                <a:solidFill>
                  <a:schemeClr val="bg2"/>
                </a:solidFill>
                <a:latin typeface="Liberation Sans" panose="020B0604020202020204" pitchFamily="34" charset="0"/>
              </a:rPr>
              <a:t>Salaries</a:t>
            </a:r>
          </a:p>
        </p:txBody>
      </p:sp>
      <p:sp>
        <p:nvSpPr>
          <p:cNvPr id="45061" name="Rectangle 13"/>
          <p:cNvSpPr>
            <a:spLocks noChangeArrowheads="1"/>
          </p:cNvSpPr>
          <p:nvPr/>
        </p:nvSpPr>
        <p:spPr bwMode="auto">
          <a:xfrm>
            <a:off x="2133600" y="3124200"/>
            <a:ext cx="632460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indent="-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Aft>
                <a:spcPct val="20000"/>
              </a:spcAft>
              <a:buSzPct val="80000"/>
            </a:pPr>
            <a:r>
              <a:rPr lang="en-US" altLang="en-US" sz="2300" dirty="0">
                <a:solidFill>
                  <a:schemeClr val="bg2"/>
                </a:solidFill>
                <a:latin typeface="Liberation Sans" panose="020B0604020202020204" pitchFamily="34" charset="0"/>
              </a:rPr>
              <a:t>Accrued expenses </a:t>
            </a:r>
            <a:r>
              <a:rPr lang="en-US" altLang="en-US" sz="2300" b="0" dirty="0">
                <a:solidFill>
                  <a:schemeClr val="bg2"/>
                </a:solidFill>
                <a:latin typeface="Liberation Sans" panose="020B0604020202020204" pitchFamily="34" charset="0"/>
              </a:rPr>
              <a:t>often occur in regard to:</a:t>
            </a:r>
          </a:p>
        </p:txBody>
      </p:sp>
      <p:sp>
        <p:nvSpPr>
          <p:cNvPr id="44039" name="Line 11"/>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45064" name="Text Box 5"/>
          <p:cNvSpPr txBox="1">
            <a:spLocks noChangeArrowheads="1"/>
          </p:cNvSpPr>
          <p:nvPr/>
        </p:nvSpPr>
        <p:spPr bwMode="auto">
          <a:xfrm>
            <a:off x="5562600" y="2209801"/>
            <a:ext cx="14478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indent="-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spcBef>
                <a:spcPct val="50000"/>
              </a:spcBef>
            </a:pPr>
            <a:r>
              <a:rPr lang="en-US" altLang="en-US" sz="2300" dirty="0">
                <a:solidFill>
                  <a:srgbClr val="800000"/>
                </a:solidFill>
                <a:latin typeface="Liberation Sans" panose="020B0604020202020204" pitchFamily="34" charset="0"/>
                <a:cs typeface="Arial" panose="020B0604020202020204" pitchFamily="34" charset="0"/>
              </a:rPr>
              <a:t>BEFORE</a:t>
            </a:r>
          </a:p>
        </p:txBody>
      </p:sp>
      <p:sp>
        <p:nvSpPr>
          <p:cNvPr id="45065" name="Text Box 8"/>
          <p:cNvSpPr txBox="1">
            <a:spLocks noChangeArrowheads="1"/>
          </p:cNvSpPr>
          <p:nvPr/>
        </p:nvSpPr>
        <p:spPr bwMode="auto">
          <a:xfrm>
            <a:off x="7162800" y="2209801"/>
            <a:ext cx="2667000" cy="492443"/>
          </a:xfrm>
          <a:prstGeom prst="rect">
            <a:avLst/>
          </a:prstGeom>
          <a:solidFill>
            <a:srgbClr val="FFFF99"/>
          </a:solidFill>
          <a:ln w="28575">
            <a:solidFill>
              <a:schemeClr val="tx1"/>
            </a:solidFill>
            <a:miter lim="800000"/>
          </a:ln>
          <a:effectLst>
            <a:innerShdw blurRad="114300">
              <a:prstClr val="black"/>
            </a:innerShdw>
          </a:effectLst>
        </p:spPr>
        <p:txBody>
          <a:bodyPr bIns="91440">
            <a:spAutoFit/>
          </a:bodyPr>
          <a:lstStyle>
            <a:defPPr>
              <a:defRPr lang="en-US"/>
            </a:defPPr>
            <a:lvl1pPr marL="457200" indent="-457200" algn="ctr">
              <a:defRPr sz="2300">
                <a:solidFill>
                  <a:schemeClr val="tx1"/>
                </a:solidFill>
                <a:latin typeface="Liberation Sans" panose="020B0604020202020204" pitchFamily="34" charset="0"/>
                <a:cs typeface="Arial" panose="020B060402020202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en-US" dirty="0"/>
              <a:t>Cash Payment</a:t>
            </a:r>
          </a:p>
        </p:txBody>
      </p:sp>
      <p:sp>
        <p:nvSpPr>
          <p:cNvPr id="45066" name="Text Box 9"/>
          <p:cNvSpPr txBox="1">
            <a:spLocks noChangeArrowheads="1"/>
          </p:cNvSpPr>
          <p:nvPr/>
        </p:nvSpPr>
        <p:spPr bwMode="auto">
          <a:xfrm>
            <a:off x="2286001" y="2209801"/>
            <a:ext cx="3135313" cy="492443"/>
          </a:xfrm>
          <a:prstGeom prst="rect">
            <a:avLst/>
          </a:prstGeom>
          <a:solidFill>
            <a:srgbClr val="FFFF99"/>
          </a:solidFill>
          <a:ln w="28575">
            <a:solidFill>
              <a:schemeClr val="tx1"/>
            </a:solidFill>
            <a:miter lim="800000"/>
          </a:ln>
          <a:effectLst>
            <a:innerShdw blurRad="114300">
              <a:prstClr val="black"/>
            </a:innerShdw>
          </a:effectLst>
        </p:spPr>
        <p:txBody>
          <a:bodyPr bIns="91440">
            <a:spAutoFit/>
          </a:bodyPr>
          <a:lstStyle>
            <a:defPPr>
              <a:defRPr lang="en-US"/>
            </a:defPPr>
            <a:lvl1pPr marL="457200" indent="-457200" algn="ctr">
              <a:defRPr sz="2300">
                <a:solidFill>
                  <a:schemeClr val="tx1"/>
                </a:solidFill>
                <a:latin typeface="Liberation Sans" panose="020B0604020202020204" pitchFamily="34" charset="0"/>
                <a:cs typeface="Arial" panose="020B060402020202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en-US" dirty="0"/>
              <a:t>Expense Recorded</a:t>
            </a:r>
          </a:p>
        </p:txBody>
      </p:sp>
      <p:sp>
        <p:nvSpPr>
          <p:cNvPr id="12" name="Rectangle 11"/>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Accrued Expenses</a:t>
            </a:r>
          </a:p>
        </p:txBody>
      </p:sp>
      <p:sp>
        <p:nvSpPr>
          <p:cNvPr id="11"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spTree>
    <p:extLst>
      <p:ext uri="{BB962C8B-B14F-4D97-AF65-F5344CB8AC3E}">
        <p14:creationId xmlns:p14="http://schemas.microsoft.com/office/powerpoint/2010/main" val="27539021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050"/>
          <p:cNvSpPr txBox="1">
            <a:spLocks noChangeArrowheads="1"/>
          </p:cNvSpPr>
          <p:nvPr/>
        </p:nvSpPr>
        <p:spPr bwMode="auto">
          <a:xfrm>
            <a:off x="2133600" y="1295400"/>
            <a:ext cx="8001000" cy="256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marL="457200" indent="-457200">
              <a:defRPr sz="2800" b="1">
                <a:solidFill>
                  <a:schemeClr val="bg1"/>
                </a:solidFill>
                <a:latin typeface="Arial" panose="020B0604020202020204" pitchFamily="34" charset="0"/>
              </a:defRPr>
            </a:lvl1pPr>
            <a:lvl2pPr marL="9144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694055">
              <a:lnSpc>
                <a:spcPct val="120000"/>
              </a:lnSpc>
              <a:spcBef>
                <a:spcPct val="50000"/>
              </a:spcBef>
              <a:buClr>
                <a:srgbClr val="800000"/>
              </a:buClr>
              <a:buSzPct val="80000"/>
              <a:buFont typeface="Wingdings" panose="05000000000000000000" pitchFamily="2" charset="2"/>
              <a:buChar char="u"/>
            </a:pPr>
            <a:r>
              <a:rPr lang="en-US" altLang="en-US" sz="2300" b="0" dirty="0">
                <a:solidFill>
                  <a:schemeClr val="tx1"/>
                </a:solidFill>
                <a:latin typeface="Liberation Sans" panose="020B0604020202020204" pitchFamily="34" charset="0"/>
              </a:rPr>
              <a:t>Adjusting entry records the obligation and recognizes the expense.</a:t>
            </a:r>
          </a:p>
          <a:p>
            <a:pPr marL="694055">
              <a:lnSpc>
                <a:spcPct val="120000"/>
              </a:lnSpc>
              <a:spcBef>
                <a:spcPct val="50000"/>
              </a:spcBef>
              <a:buClr>
                <a:srgbClr val="800000"/>
              </a:buClr>
              <a:buSzPct val="80000"/>
              <a:buFont typeface="Wingdings" panose="05000000000000000000" pitchFamily="2" charset="2"/>
              <a:buChar char="u"/>
            </a:pPr>
            <a:r>
              <a:rPr lang="en-US" altLang="en-US" sz="2300" b="0" dirty="0">
                <a:solidFill>
                  <a:schemeClr val="tx1"/>
                </a:solidFill>
                <a:latin typeface="Liberation Sans" panose="020B0604020202020204" pitchFamily="34" charset="0"/>
              </a:rPr>
              <a:t>Adjusting entry: </a:t>
            </a:r>
          </a:p>
          <a:p>
            <a:pPr marL="1371600" lvl="1">
              <a:lnSpc>
                <a:spcPct val="120000"/>
              </a:lnSpc>
              <a:spcBef>
                <a:spcPct val="30000"/>
              </a:spcBef>
              <a:buClr>
                <a:srgbClr val="800000"/>
              </a:buClr>
              <a:buSzPct val="80000"/>
              <a:buFont typeface="Arial" panose="020B0604020202020204" pitchFamily="34" charset="0"/>
              <a:buChar char="►"/>
            </a:pPr>
            <a:r>
              <a:rPr lang="en-US" altLang="en-US" sz="2200" dirty="0">
                <a:solidFill>
                  <a:schemeClr val="tx1"/>
                </a:solidFill>
                <a:latin typeface="Liberation Sans" panose="020B0604020202020204" pitchFamily="34" charset="0"/>
              </a:rPr>
              <a:t>Increase</a:t>
            </a:r>
            <a:r>
              <a:rPr lang="en-US" altLang="en-US" sz="2200" b="0" dirty="0">
                <a:solidFill>
                  <a:schemeClr val="tx1"/>
                </a:solidFill>
                <a:latin typeface="Liberation Sans" panose="020B0604020202020204" pitchFamily="34" charset="0"/>
              </a:rPr>
              <a:t> (debit) an </a:t>
            </a:r>
            <a:r>
              <a:rPr lang="en-US" altLang="en-US" sz="2200" dirty="0">
                <a:solidFill>
                  <a:schemeClr val="tx1"/>
                </a:solidFill>
                <a:latin typeface="Liberation Sans" panose="020B0604020202020204" pitchFamily="34" charset="0"/>
              </a:rPr>
              <a:t>expense account</a:t>
            </a:r>
            <a:r>
              <a:rPr lang="en-US" altLang="en-US" sz="2200" b="0" dirty="0">
                <a:solidFill>
                  <a:schemeClr val="tx1"/>
                </a:solidFill>
                <a:latin typeface="Liberation Sans" panose="020B0604020202020204" pitchFamily="34" charset="0"/>
              </a:rPr>
              <a:t> and </a:t>
            </a:r>
          </a:p>
          <a:p>
            <a:pPr marL="1371600" lvl="1">
              <a:lnSpc>
                <a:spcPct val="120000"/>
              </a:lnSpc>
              <a:spcBef>
                <a:spcPct val="30000"/>
              </a:spcBef>
              <a:buClr>
                <a:srgbClr val="800000"/>
              </a:buClr>
              <a:buSzPct val="80000"/>
              <a:buFont typeface="Arial" panose="020B0604020202020204" pitchFamily="34" charset="0"/>
              <a:buChar char="►"/>
            </a:pPr>
            <a:r>
              <a:rPr lang="en-US" altLang="en-US" sz="2200" dirty="0">
                <a:solidFill>
                  <a:schemeClr val="tx1"/>
                </a:solidFill>
                <a:latin typeface="Liberation Sans" panose="020B0604020202020204" pitchFamily="34" charset="0"/>
              </a:rPr>
              <a:t>Increase</a:t>
            </a:r>
            <a:r>
              <a:rPr lang="en-US" altLang="en-US" sz="2200" b="0" dirty="0">
                <a:solidFill>
                  <a:schemeClr val="tx1"/>
                </a:solidFill>
                <a:latin typeface="Liberation Sans" panose="020B0604020202020204" pitchFamily="34" charset="0"/>
              </a:rPr>
              <a:t> (credit) a </a:t>
            </a:r>
            <a:r>
              <a:rPr lang="en-US" altLang="en-US" sz="2200" dirty="0">
                <a:solidFill>
                  <a:schemeClr val="tx1"/>
                </a:solidFill>
                <a:latin typeface="Liberation Sans" panose="020B0604020202020204" pitchFamily="34" charset="0"/>
              </a:rPr>
              <a:t>liability account</a:t>
            </a:r>
            <a:r>
              <a:rPr lang="en-US" altLang="en-US" sz="2200" b="0" dirty="0">
                <a:solidFill>
                  <a:schemeClr val="tx1"/>
                </a:solidFill>
                <a:latin typeface="Liberation Sans" panose="020B0604020202020204" pitchFamily="34" charset="0"/>
              </a:rPr>
              <a:t>.</a:t>
            </a:r>
          </a:p>
        </p:txBody>
      </p:sp>
      <p:sp>
        <p:nvSpPr>
          <p:cNvPr id="45061" name="Line 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pic>
        <p:nvPicPr>
          <p:cNvPr id="4608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4038600"/>
            <a:ext cx="6198802"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9" name="Rectangle 8"/>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Accrued Expenses</a:t>
            </a:r>
          </a:p>
        </p:txBody>
      </p:sp>
      <p:sp>
        <p:nvSpPr>
          <p:cNvPr id="46086" name="Rectangle 8"/>
          <p:cNvSpPr>
            <a:spLocks noChangeArrowheads="1"/>
          </p:cNvSpPr>
          <p:nvPr/>
        </p:nvSpPr>
        <p:spPr bwMode="auto">
          <a:xfrm>
            <a:off x="8458200" y="4038601"/>
            <a:ext cx="1524000" cy="274637"/>
          </a:xfrm>
          <a:prstGeom prst="rect">
            <a:avLst/>
          </a:prstGeom>
          <a:noFill/>
          <a:ln>
            <a:noFill/>
          </a:ln>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tx1"/>
                </a:solidFill>
                <a:latin typeface="Liberation Sans" panose="020B0604020202020204" pitchFamily="34" charset="0"/>
              </a:rPr>
              <a:t>Illustration 3-16</a:t>
            </a:r>
          </a:p>
        </p:txBody>
      </p:sp>
      <p:sp>
        <p:nvSpPr>
          <p:cNvPr id="7"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spTree>
    <p:extLst>
      <p:ext uri="{BB962C8B-B14F-4D97-AF65-F5344CB8AC3E}">
        <p14:creationId xmlns:p14="http://schemas.microsoft.com/office/powerpoint/2010/main" val="40167221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581400"/>
            <a:ext cx="7924800" cy="1316038"/>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47107" name="Text Box 20"/>
          <p:cNvSpPr txBox="1">
            <a:spLocks noChangeArrowheads="1"/>
          </p:cNvSpPr>
          <p:nvPr/>
        </p:nvSpPr>
        <p:spPr bwMode="auto">
          <a:xfrm>
            <a:off x="2133600" y="1905000"/>
            <a:ext cx="80772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pPr>
            <a:r>
              <a:rPr lang="en-US" altLang="en-US" sz="2100" dirty="0">
                <a:solidFill>
                  <a:schemeClr val="tx1"/>
                </a:solidFill>
                <a:latin typeface="Liberation Sans" panose="020B0604020202020204" pitchFamily="34" charset="0"/>
              </a:rPr>
              <a:t>Illustration:  </a:t>
            </a:r>
            <a:r>
              <a:rPr lang="en-US" altLang="en-US" sz="2100" b="0" dirty="0">
                <a:solidFill>
                  <a:schemeClr val="tx1"/>
                </a:solidFill>
                <a:latin typeface="Liberation Sans" panose="020B0604020202020204" pitchFamily="34" charset="0"/>
              </a:rPr>
              <a:t>Pioneer Advertising signed a three-month note payable in the amount of $5,000 on October 1. The note requires Pioneer to pay interest at an annual rate of 12%.</a:t>
            </a:r>
          </a:p>
        </p:txBody>
      </p:sp>
      <p:sp>
        <p:nvSpPr>
          <p:cNvPr id="315429" name="Text Box 37"/>
          <p:cNvSpPr txBox="1">
            <a:spLocks noChangeArrowheads="1"/>
          </p:cNvSpPr>
          <p:nvPr/>
        </p:nvSpPr>
        <p:spPr bwMode="auto">
          <a:xfrm>
            <a:off x="3505200" y="5716588"/>
            <a:ext cx="3505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marL="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Interest payable</a:t>
            </a:r>
          </a:p>
        </p:txBody>
      </p:sp>
      <p:sp>
        <p:nvSpPr>
          <p:cNvPr id="315432" name="Text Box 40"/>
          <p:cNvSpPr txBox="1">
            <a:spLocks noChangeArrowheads="1"/>
          </p:cNvSpPr>
          <p:nvPr/>
        </p:nvSpPr>
        <p:spPr bwMode="auto">
          <a:xfrm>
            <a:off x="7848600" y="5716588"/>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50</a:t>
            </a:r>
          </a:p>
        </p:txBody>
      </p:sp>
      <p:sp>
        <p:nvSpPr>
          <p:cNvPr id="315433" name="Text Box 41"/>
          <p:cNvSpPr txBox="1">
            <a:spLocks noChangeArrowheads="1"/>
          </p:cNvSpPr>
          <p:nvPr/>
        </p:nvSpPr>
        <p:spPr bwMode="auto">
          <a:xfrm>
            <a:off x="3505200" y="5257800"/>
            <a:ext cx="38100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Interest expense</a:t>
            </a:r>
          </a:p>
        </p:txBody>
      </p:sp>
      <p:sp>
        <p:nvSpPr>
          <p:cNvPr id="315434" name="Text Box 42"/>
          <p:cNvSpPr txBox="1">
            <a:spLocks noChangeArrowheads="1"/>
          </p:cNvSpPr>
          <p:nvPr/>
        </p:nvSpPr>
        <p:spPr bwMode="auto">
          <a:xfrm>
            <a:off x="6858000" y="5257800"/>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274320"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50</a:t>
            </a:r>
          </a:p>
        </p:txBody>
      </p:sp>
      <p:sp>
        <p:nvSpPr>
          <p:cNvPr id="47112" name="Text Box 48"/>
          <p:cNvSpPr txBox="1">
            <a:spLocks noChangeArrowheads="1"/>
          </p:cNvSpPr>
          <p:nvPr/>
        </p:nvSpPr>
        <p:spPr bwMode="auto">
          <a:xfrm>
            <a:off x="2133600" y="5257800"/>
            <a:ext cx="1219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rIns="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2100" b="0" dirty="0">
                <a:solidFill>
                  <a:schemeClr val="tx1"/>
                </a:solidFill>
                <a:latin typeface="Liberation Sans" panose="020B0604020202020204" pitchFamily="34" charset="0"/>
                <a:cs typeface="Arial" panose="020B0604020202020204" pitchFamily="34" charset="0"/>
              </a:rPr>
              <a:t>Oct. 31</a:t>
            </a:r>
          </a:p>
        </p:txBody>
      </p:sp>
      <p:sp>
        <p:nvSpPr>
          <p:cNvPr id="46089" name="Line 10"/>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47116" name="Rectangle 8"/>
          <p:cNvSpPr>
            <a:spLocks noChangeArrowheads="1"/>
          </p:cNvSpPr>
          <p:nvPr/>
        </p:nvSpPr>
        <p:spPr bwMode="auto">
          <a:xfrm>
            <a:off x="8763000" y="3276600"/>
            <a:ext cx="1524000" cy="274638"/>
          </a:xfrm>
          <a:prstGeom prst="rect">
            <a:avLst/>
          </a:prstGeom>
          <a:noFill/>
          <a:ln>
            <a:noFill/>
          </a:ln>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1200" dirty="0">
                <a:solidFill>
                  <a:schemeClr val="tx1"/>
                </a:solidFill>
                <a:latin typeface="Liberation Sans" panose="020B0604020202020204" pitchFamily="34" charset="0"/>
              </a:rPr>
              <a:t>Illustration 3-17</a:t>
            </a:r>
          </a:p>
        </p:txBody>
      </p:sp>
      <p:sp>
        <p:nvSpPr>
          <p:cNvPr id="13" name="Rectangle 12"/>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Accrued Expenses</a:t>
            </a:r>
          </a:p>
        </p:txBody>
      </p:sp>
      <p:sp>
        <p:nvSpPr>
          <p:cNvPr id="14" name="Text Box 2"/>
          <p:cNvSpPr txBox="1">
            <a:spLocks noChangeArrowheads="1"/>
          </p:cNvSpPr>
          <p:nvPr/>
        </p:nvSpPr>
        <p:spPr bwMode="auto">
          <a:xfrm>
            <a:off x="2133600" y="1295400"/>
            <a:ext cx="7620000" cy="53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15000"/>
              </a:lnSpc>
              <a:spcBef>
                <a:spcPct val="50000"/>
              </a:spcBef>
              <a:buSzPct val="80000"/>
            </a:pPr>
            <a:r>
              <a:rPr lang="en-US" altLang="en-US" sz="2500" dirty="0">
                <a:solidFill>
                  <a:schemeClr val="tx1"/>
                </a:solidFill>
                <a:latin typeface="Liberation Sans" panose="020B0604020202020204" pitchFamily="34" charset="0"/>
              </a:rPr>
              <a:t>ACCRUED INTEREST</a:t>
            </a:r>
          </a:p>
        </p:txBody>
      </p:sp>
      <p:sp>
        <p:nvSpPr>
          <p:cNvPr id="15"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spTree>
    <p:extLst>
      <p:ext uri="{BB962C8B-B14F-4D97-AF65-F5344CB8AC3E}">
        <p14:creationId xmlns:p14="http://schemas.microsoft.com/office/powerpoint/2010/main" val="570826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5433"/>
                                        </p:tgtEl>
                                        <p:attrNameLst>
                                          <p:attrName>style.visibility</p:attrName>
                                        </p:attrNameLst>
                                      </p:cBhvr>
                                      <p:to>
                                        <p:strVal val="visible"/>
                                      </p:to>
                                    </p:set>
                                    <p:animEffect transition="in" filter="wipe(left)">
                                      <p:cBhvr>
                                        <p:cTn id="7" dur="500"/>
                                        <p:tgtEl>
                                          <p:spTgt spid="31543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5434"/>
                                        </p:tgtEl>
                                        <p:attrNameLst>
                                          <p:attrName>style.visibility</p:attrName>
                                        </p:attrNameLst>
                                      </p:cBhvr>
                                      <p:to>
                                        <p:strVal val="visible"/>
                                      </p:to>
                                    </p:set>
                                    <p:animEffect transition="in" filter="wipe(left)">
                                      <p:cBhvr>
                                        <p:cTn id="11" dur="500"/>
                                        <p:tgtEl>
                                          <p:spTgt spid="31543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5429"/>
                                        </p:tgtEl>
                                        <p:attrNameLst>
                                          <p:attrName>style.visibility</p:attrName>
                                        </p:attrNameLst>
                                      </p:cBhvr>
                                      <p:to>
                                        <p:strVal val="visible"/>
                                      </p:to>
                                    </p:set>
                                    <p:animEffect transition="in" filter="wipe(left)">
                                      <p:cBhvr>
                                        <p:cTn id="16" dur="500"/>
                                        <p:tgtEl>
                                          <p:spTgt spid="315429"/>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15432"/>
                                        </p:tgtEl>
                                        <p:attrNameLst>
                                          <p:attrName>style.visibility</p:attrName>
                                        </p:attrNameLst>
                                      </p:cBhvr>
                                      <p:to>
                                        <p:strVal val="visible"/>
                                      </p:to>
                                    </p:set>
                                    <p:animEffect transition="in" filter="wipe(left)">
                                      <p:cBhvr>
                                        <p:cTn id="20" dur="500"/>
                                        <p:tgtEl>
                                          <p:spTgt spid="315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29" grpId="0" autoUpdateAnimBg="0"/>
      <p:bldP spid="315432" grpId="0" autoUpdateAnimBg="0"/>
      <p:bldP spid="315433" grpId="0" autoUpdateAnimBg="0"/>
      <p:bldP spid="315434"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96012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pic>
        <p:nvPicPr>
          <p:cNvPr id="4813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323976"/>
            <a:ext cx="8382000" cy="5103813"/>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47108" name="Line 3"/>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48133" name="Rectangle 5"/>
          <p:cNvSpPr>
            <a:spLocks noChangeArrowheads="1"/>
          </p:cNvSpPr>
          <p:nvPr/>
        </p:nvSpPr>
        <p:spPr bwMode="auto">
          <a:xfrm>
            <a:off x="8382000" y="1219200"/>
            <a:ext cx="1524000" cy="274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1200" dirty="0">
                <a:solidFill>
                  <a:schemeClr val="tx1"/>
                </a:solidFill>
                <a:latin typeface="Liberation Sans" panose="020B0604020202020204" pitchFamily="34" charset="0"/>
              </a:rPr>
              <a:t>Illustration 3-18</a:t>
            </a:r>
          </a:p>
        </p:txBody>
      </p:sp>
      <p:sp>
        <p:nvSpPr>
          <p:cNvPr id="7" name="Rectangle 6"/>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Accrued Expenses</a:t>
            </a:r>
          </a:p>
        </p:txBody>
      </p:sp>
    </p:spTree>
    <p:extLst>
      <p:ext uri="{BB962C8B-B14F-4D97-AF65-F5344CB8AC3E}">
        <p14:creationId xmlns:p14="http://schemas.microsoft.com/office/powerpoint/2010/main" val="41562101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3786188"/>
            <a:ext cx="6096000" cy="261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50179" name="Text Box 20"/>
          <p:cNvSpPr txBox="1">
            <a:spLocks noChangeArrowheads="1"/>
          </p:cNvSpPr>
          <p:nvPr/>
        </p:nvSpPr>
        <p:spPr bwMode="auto">
          <a:xfrm>
            <a:off x="2133600" y="1905001"/>
            <a:ext cx="8077200"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pPr>
            <a:r>
              <a:rPr lang="en-US" altLang="en-US" sz="2100" dirty="0">
                <a:solidFill>
                  <a:schemeClr val="tx1"/>
                </a:solidFill>
                <a:latin typeface="Liberation Sans" panose="020B0604020202020204" pitchFamily="34" charset="0"/>
              </a:rPr>
              <a:t>Illustration:  </a:t>
            </a:r>
            <a:r>
              <a:rPr lang="en-US" altLang="en-US" sz="2100" b="0" dirty="0">
                <a:solidFill>
                  <a:schemeClr val="tx1"/>
                </a:solidFill>
                <a:latin typeface="Liberation Sans" panose="020B0604020202020204" pitchFamily="34" charset="0"/>
              </a:rPr>
              <a:t>Pioneer Advertising paid salaries and wages on October 26; the next payment of salaries will not occur until November 9. The employees receive total salaries of $2,000 for a five-day work week, or $400 per day. </a:t>
            </a:r>
          </a:p>
        </p:txBody>
      </p:sp>
      <p:sp>
        <p:nvSpPr>
          <p:cNvPr id="49157" name="Line 9"/>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50183" name="Rectangle 14"/>
          <p:cNvSpPr>
            <a:spLocks noChangeArrowheads="1"/>
          </p:cNvSpPr>
          <p:nvPr/>
        </p:nvSpPr>
        <p:spPr bwMode="auto">
          <a:xfrm>
            <a:off x="7772400" y="3481387"/>
            <a:ext cx="1524000" cy="274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1200" dirty="0">
                <a:solidFill>
                  <a:schemeClr val="tx1"/>
                </a:solidFill>
                <a:latin typeface="Liberation Sans" panose="020B0604020202020204" pitchFamily="34" charset="0"/>
              </a:rPr>
              <a:t>Illustration 3-19</a:t>
            </a:r>
          </a:p>
        </p:txBody>
      </p:sp>
      <p:sp>
        <p:nvSpPr>
          <p:cNvPr id="8"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Accrued Expenses</a:t>
            </a:r>
          </a:p>
        </p:txBody>
      </p:sp>
      <p:sp>
        <p:nvSpPr>
          <p:cNvPr id="9" name="Text Box 2"/>
          <p:cNvSpPr txBox="1">
            <a:spLocks noChangeArrowheads="1"/>
          </p:cNvSpPr>
          <p:nvPr/>
        </p:nvSpPr>
        <p:spPr bwMode="auto">
          <a:xfrm>
            <a:off x="2133600" y="1295400"/>
            <a:ext cx="7620000" cy="53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15000"/>
              </a:lnSpc>
              <a:spcBef>
                <a:spcPct val="50000"/>
              </a:spcBef>
              <a:buSzPct val="80000"/>
            </a:pPr>
            <a:r>
              <a:rPr lang="en-US" altLang="en-US" sz="2500" dirty="0">
                <a:solidFill>
                  <a:schemeClr val="tx1"/>
                </a:solidFill>
                <a:latin typeface="Liberation Sans" panose="020B0604020202020204" pitchFamily="34" charset="0"/>
              </a:rPr>
              <a:t>ACCRUED INTEREST</a:t>
            </a:r>
          </a:p>
        </p:txBody>
      </p:sp>
      <p:sp>
        <p:nvSpPr>
          <p:cNvPr id="10"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spTree>
    <p:extLst>
      <p:ext uri="{BB962C8B-B14F-4D97-AF65-F5344CB8AC3E}">
        <p14:creationId xmlns:p14="http://schemas.microsoft.com/office/powerpoint/2010/main" val="435611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9601200" y="64452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pic>
        <p:nvPicPr>
          <p:cNvPr id="51202"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316039"/>
            <a:ext cx="8229600" cy="5132387"/>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50180" name="Line 4"/>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51205" name="Rectangle 5"/>
          <p:cNvSpPr>
            <a:spLocks noChangeArrowheads="1"/>
          </p:cNvSpPr>
          <p:nvPr/>
        </p:nvSpPr>
        <p:spPr bwMode="auto">
          <a:xfrm>
            <a:off x="8305800" y="1219200"/>
            <a:ext cx="1524000" cy="274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1200" dirty="0">
                <a:solidFill>
                  <a:schemeClr val="tx1"/>
                </a:solidFill>
                <a:latin typeface="Liberation Sans" panose="020B0604020202020204" pitchFamily="34" charset="0"/>
              </a:rPr>
              <a:t>Illustration 3-20</a:t>
            </a:r>
          </a:p>
        </p:txBody>
      </p:sp>
      <p:sp>
        <p:nvSpPr>
          <p:cNvPr id="7" name="Rectangle 6"/>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Accrued Expenses</a:t>
            </a:r>
          </a:p>
        </p:txBody>
      </p:sp>
    </p:spTree>
    <p:extLst>
      <p:ext uri="{BB962C8B-B14F-4D97-AF65-F5344CB8AC3E}">
        <p14:creationId xmlns:p14="http://schemas.microsoft.com/office/powerpoint/2010/main" val="26179503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9"/>
          <p:cNvSpPr txBox="1">
            <a:spLocks noChangeArrowheads="1"/>
          </p:cNvSpPr>
          <p:nvPr/>
        </p:nvSpPr>
        <p:spPr bwMode="auto">
          <a:xfrm>
            <a:off x="9067800" y="1863866"/>
            <a:ext cx="1371600" cy="274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tx1"/>
                </a:solidFill>
              </a:rPr>
              <a:t>Illustration 3-21</a:t>
            </a:r>
          </a:p>
        </p:txBody>
      </p:sp>
      <p:sp>
        <p:nvSpPr>
          <p:cNvPr id="51204" name="Line 4"/>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7" name="Rectangle 6"/>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Accrued Expenses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2244866"/>
            <a:ext cx="8534400" cy="2174734"/>
          </a:xfrm>
          <a:prstGeom prst="rect">
            <a:avLst/>
          </a:prstGeom>
          <a:noFill/>
          <a:ln w="19050" cap="sq"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9" name="Text Box 2"/>
          <p:cNvSpPr txBox="1">
            <a:spLocks noChangeArrowheads="1"/>
          </p:cNvSpPr>
          <p:nvPr/>
        </p:nvSpPr>
        <p:spPr bwMode="auto">
          <a:xfrm>
            <a:off x="2133600" y="1295401"/>
            <a:ext cx="7620000" cy="499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15000"/>
              </a:lnSpc>
              <a:spcBef>
                <a:spcPct val="50000"/>
              </a:spcBef>
              <a:buSzPct val="80000"/>
            </a:pPr>
            <a:r>
              <a:rPr lang="en-US" altLang="en-US" sz="2300" b="0" dirty="0">
                <a:solidFill>
                  <a:schemeClr val="tx1"/>
                </a:solidFill>
                <a:latin typeface="Liberation Sans" panose="020B0604020202020204" pitchFamily="34" charset="0"/>
              </a:rPr>
              <a:t>Summary of the accounting for accrued expenses.</a:t>
            </a:r>
          </a:p>
        </p:txBody>
      </p:sp>
      <p:sp>
        <p:nvSpPr>
          <p:cNvPr id="8"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spTree>
    <p:extLst>
      <p:ext uri="{BB962C8B-B14F-4D97-AF65-F5344CB8AC3E}">
        <p14:creationId xmlns:p14="http://schemas.microsoft.com/office/powerpoint/2010/main" val="31944294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endParaRPr lang="en-US" altLang="en-US" sz="2400" b="0" dirty="0">
              <a:solidFill>
                <a:schemeClr val="tx1"/>
              </a:solidFill>
              <a:latin typeface="Liberation Sans" panose="020B0604020202020204" pitchFamily="34" charset="0"/>
            </a:endParaRPr>
          </a:p>
        </p:txBody>
      </p:sp>
      <p:sp>
        <p:nvSpPr>
          <p:cNvPr id="54275" name="Rectangle 3"/>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endParaRPr lang="en-US" altLang="en-US" sz="2400" b="0" dirty="0">
              <a:solidFill>
                <a:schemeClr val="tx1"/>
              </a:solidFill>
              <a:latin typeface="Liberation Sans" panose="020B0604020202020204" pitchFamily="34" charset="0"/>
            </a:endParaRPr>
          </a:p>
        </p:txBody>
      </p:sp>
      <p:sp>
        <p:nvSpPr>
          <p:cNvPr id="52229" name="Line 9"/>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54280" name="Text Box 9"/>
          <p:cNvSpPr txBox="1">
            <a:spLocks noChangeArrowheads="1"/>
          </p:cNvSpPr>
          <p:nvPr/>
        </p:nvSpPr>
        <p:spPr bwMode="auto">
          <a:xfrm>
            <a:off x="9067800" y="1295400"/>
            <a:ext cx="1371600" cy="274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tx1"/>
                </a:solidFill>
                <a:latin typeface="Liberation Sans" panose="020B0604020202020204" pitchFamily="34" charset="0"/>
              </a:rPr>
              <a:t>Illustration 3-22</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638301"/>
            <a:ext cx="8534400" cy="3010471"/>
          </a:xfrm>
          <a:prstGeom prst="rect">
            <a:avLst/>
          </a:prstGeom>
          <a:noFill/>
          <a:ln w="19050" cap="sq"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11" name="Rectangle 10"/>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Summary of Basic Relationships</a:t>
            </a:r>
          </a:p>
        </p:txBody>
      </p:sp>
      <p:sp>
        <p:nvSpPr>
          <p:cNvPr id="8"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spTree>
    <p:extLst>
      <p:ext uri="{BB962C8B-B14F-4D97-AF65-F5344CB8AC3E}">
        <p14:creationId xmlns:p14="http://schemas.microsoft.com/office/powerpoint/2010/main" val="15131961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ChangeArrowheads="1"/>
          </p:cNvSpPr>
          <p:nvPr/>
        </p:nvSpPr>
        <p:spPr bwMode="auto">
          <a:xfrm>
            <a:off x="2133600" y="1381125"/>
            <a:ext cx="8001000" cy="378565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nSpc>
                <a:spcPct val="110000"/>
              </a:lnSpc>
              <a:spcBef>
                <a:spcPts val="600"/>
              </a:spcBef>
            </a:pPr>
            <a:r>
              <a:rPr lang="en-US" sz="2000" b="0" dirty="0">
                <a:solidFill>
                  <a:schemeClr val="tx1"/>
                </a:solidFill>
                <a:latin typeface="Liberation Sans" panose="020B0604020202020204" pitchFamily="34" charset="0"/>
              </a:rPr>
              <a:t>Micro Computer Services began operations on August 1, 2017. At the end of August 2017, management prepares monthly financial statements. The following information relates to August.</a:t>
            </a:r>
          </a:p>
          <a:p>
            <a:pPr marL="694055" indent="-457200">
              <a:lnSpc>
                <a:spcPct val="110000"/>
              </a:lnSpc>
              <a:spcBef>
                <a:spcPts val="600"/>
              </a:spcBef>
              <a:buFont typeface="+mj-lt"/>
              <a:buAutoNum type="arabicPeriod"/>
            </a:pPr>
            <a:r>
              <a:rPr lang="en-US" sz="2000" b="0" dirty="0">
                <a:solidFill>
                  <a:schemeClr val="tx1"/>
                </a:solidFill>
                <a:latin typeface="Liberation Sans" panose="020B0604020202020204" pitchFamily="34" charset="0"/>
              </a:rPr>
              <a:t>At August 31, the company owed its employees $800 in salaries and wages that will be paid on September 1.</a:t>
            </a:r>
          </a:p>
          <a:p>
            <a:pPr marL="694055" indent="-457200">
              <a:lnSpc>
                <a:spcPct val="110000"/>
              </a:lnSpc>
              <a:spcBef>
                <a:spcPts val="600"/>
              </a:spcBef>
              <a:buFont typeface="+mj-lt"/>
              <a:buAutoNum type="arabicPeriod"/>
            </a:pPr>
            <a:r>
              <a:rPr lang="en-US" sz="2000" b="0" dirty="0">
                <a:solidFill>
                  <a:schemeClr val="tx1"/>
                </a:solidFill>
                <a:latin typeface="Liberation Sans" panose="020B0604020202020204" pitchFamily="34" charset="0"/>
              </a:rPr>
              <a:t>On August 1, the company borrowed $30,000 from a local bank on a 15-year mortgage. The annual interest rate is 10%.</a:t>
            </a:r>
          </a:p>
          <a:p>
            <a:pPr marL="694055" indent="-457200">
              <a:lnSpc>
                <a:spcPct val="110000"/>
              </a:lnSpc>
              <a:spcBef>
                <a:spcPts val="600"/>
              </a:spcBef>
              <a:buFont typeface="+mj-lt"/>
              <a:buAutoNum type="arabicPeriod"/>
            </a:pPr>
            <a:r>
              <a:rPr lang="en-US" sz="2000" b="0" dirty="0">
                <a:solidFill>
                  <a:schemeClr val="tx1"/>
                </a:solidFill>
                <a:latin typeface="Liberation Sans" panose="020B0604020202020204" pitchFamily="34" charset="0"/>
              </a:rPr>
              <a:t>Revenue for services performed but unrecorded for August totaled $1,100.</a:t>
            </a:r>
          </a:p>
          <a:p>
            <a:pPr>
              <a:lnSpc>
                <a:spcPct val="110000"/>
              </a:lnSpc>
              <a:spcBef>
                <a:spcPts val="600"/>
              </a:spcBef>
            </a:pPr>
            <a:r>
              <a:rPr lang="en-US" sz="2000" b="0" dirty="0">
                <a:solidFill>
                  <a:schemeClr val="tx1"/>
                </a:solidFill>
                <a:latin typeface="Liberation Sans" panose="020B0604020202020204" pitchFamily="34" charset="0"/>
              </a:rPr>
              <a:t>Prepare the adjusting entries needed at August 31, 2017.</a:t>
            </a:r>
          </a:p>
        </p:txBody>
      </p:sp>
      <p:sp>
        <p:nvSpPr>
          <p:cNvPr id="15" name="Line 29"/>
          <p:cNvSpPr>
            <a:spLocks noChangeShapeType="1"/>
          </p:cNvSpPr>
          <p:nvPr/>
        </p:nvSpPr>
        <p:spPr bwMode="auto">
          <a:xfrm>
            <a:off x="1814286" y="784325"/>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572"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17"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286" y="357189"/>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8"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4858"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9"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7473" y="571502"/>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0" name="TextBox 19"/>
          <p:cNvSpPr txBox="1"/>
          <p:nvPr/>
        </p:nvSpPr>
        <p:spPr>
          <a:xfrm>
            <a:off x="3991429" y="428625"/>
            <a:ext cx="435429" cy="641336"/>
          </a:xfrm>
          <a:prstGeom prst="rect">
            <a:avLst/>
          </a:prstGeom>
          <a:noFill/>
        </p:spPr>
        <p:txBody>
          <a:bodyPr wrap="square" lIns="86493" tIns="43247" rIns="86493" bIns="43247" rtlCol="0">
            <a:spAutoFit/>
          </a:bodyPr>
          <a:lstStyle/>
          <a:p>
            <a:r>
              <a:rPr lang="en-US" sz="3600" dirty="0">
                <a:solidFill>
                  <a:srgbClr val="FF9900"/>
                </a:solidFill>
                <a:latin typeface="Liberation Sans" panose="020B0604020202020204" pitchFamily="34" charset="0"/>
              </a:rPr>
              <a:t>3</a:t>
            </a:r>
            <a:endParaRPr lang="en-US" sz="3600" b="1" dirty="0">
              <a:solidFill>
                <a:srgbClr val="FF9900"/>
              </a:solidFill>
              <a:latin typeface="Liberation Sans" panose="020B0604020202020204" pitchFamily="34" charset="0"/>
            </a:endParaRPr>
          </a:p>
        </p:txBody>
      </p:sp>
      <p:sp>
        <p:nvSpPr>
          <p:cNvPr id="21" name="TextBox 20"/>
          <p:cNvSpPr txBox="1"/>
          <p:nvPr/>
        </p:nvSpPr>
        <p:spPr>
          <a:xfrm>
            <a:off x="4862287" y="508910"/>
            <a:ext cx="5515429" cy="519373"/>
          </a:xfrm>
          <a:prstGeom prst="rect">
            <a:avLst/>
          </a:prstGeom>
          <a:noFill/>
        </p:spPr>
        <p:txBody>
          <a:bodyPr wrap="square" lIns="86493" tIns="43247" rIns="86493" bIns="43247" rtlCol="0">
            <a:spAutoFit/>
          </a:bodyPr>
          <a:lstStyle/>
          <a:p>
            <a:pPr marL="111125"/>
            <a:r>
              <a:rPr lang="en-US" sz="2800" b="1" dirty="0">
                <a:solidFill>
                  <a:schemeClr val="bg1"/>
                </a:solidFill>
                <a:latin typeface="Liberation Sans" panose="020B0604020202020204" pitchFamily="34" charset="0"/>
              </a:rPr>
              <a:t>Adjusting Entries for Accruals</a:t>
            </a:r>
          </a:p>
        </p:txBody>
      </p:sp>
      <p:pic>
        <p:nvPicPr>
          <p:cNvPr id="2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1981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5" name="TextBox 24"/>
          <p:cNvSpPr txBox="1"/>
          <p:nvPr/>
        </p:nvSpPr>
        <p:spPr>
          <a:xfrm>
            <a:off x="1828800" y="381000"/>
            <a:ext cx="2209800" cy="738664"/>
          </a:xfrm>
          <a:prstGeom prst="rect">
            <a:avLst/>
          </a:prstGeom>
          <a:noFill/>
        </p:spPr>
        <p:txBody>
          <a:bodyPr wrap="square" rtlCol="0">
            <a:spAutoFit/>
          </a:bodyPr>
          <a:lstStyle/>
          <a:p>
            <a:r>
              <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rPr>
              <a:t>DO IT!</a:t>
            </a:r>
          </a:p>
        </p:txBody>
      </p:sp>
      <p:sp>
        <p:nvSpPr>
          <p:cNvPr id="12"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spTree>
    <p:extLst>
      <p:ext uri="{BB962C8B-B14F-4D97-AF65-F5344CB8AC3E}">
        <p14:creationId xmlns:p14="http://schemas.microsoft.com/office/powerpoint/2010/main" val="2859518991"/>
      </p:ext>
    </p:extLst>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ChangeArrowheads="1"/>
          </p:cNvSpPr>
          <p:nvPr/>
        </p:nvSpPr>
        <p:spPr bwMode="auto">
          <a:xfrm>
            <a:off x="2133600" y="1381125"/>
            <a:ext cx="8001000" cy="438581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2057400" algn="l"/>
              </a:tabLst>
              <a:defRPr sz="2800" b="1">
                <a:solidFill>
                  <a:schemeClr val="bg1"/>
                </a:solidFill>
                <a:latin typeface="Arial" panose="020B0604020202020204" pitchFamily="34" charset="0"/>
              </a:defRPr>
            </a:lvl1pPr>
            <a:lvl2pPr marL="742950" indent="-285750">
              <a:tabLst>
                <a:tab pos="2057400" algn="l"/>
              </a:tabLst>
              <a:defRPr sz="2800" b="1">
                <a:solidFill>
                  <a:schemeClr val="bg1"/>
                </a:solidFill>
                <a:latin typeface="Arial" panose="020B0604020202020204" pitchFamily="34" charset="0"/>
              </a:defRPr>
            </a:lvl2pPr>
            <a:lvl3pPr marL="1143000" indent="-228600">
              <a:tabLst>
                <a:tab pos="2057400" algn="l"/>
              </a:tabLst>
              <a:defRPr sz="2800" b="1">
                <a:solidFill>
                  <a:schemeClr val="bg1"/>
                </a:solidFill>
                <a:latin typeface="Arial" panose="020B0604020202020204" pitchFamily="34" charset="0"/>
              </a:defRPr>
            </a:lvl3pPr>
            <a:lvl4pPr marL="1600200" indent="-228600">
              <a:tabLst>
                <a:tab pos="2057400" algn="l"/>
              </a:tabLst>
              <a:defRPr sz="2800" b="1">
                <a:solidFill>
                  <a:schemeClr val="bg1"/>
                </a:solidFill>
                <a:latin typeface="Arial" panose="020B0604020202020204" pitchFamily="34" charset="0"/>
              </a:defRPr>
            </a:lvl4pPr>
            <a:lvl5pPr marL="2057400" indent="-228600">
              <a:tabLst>
                <a:tab pos="20574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2057400" algn="l"/>
              </a:tabLst>
              <a:defRPr sz="2800" b="1">
                <a:solidFill>
                  <a:schemeClr val="bg1"/>
                </a:solidFill>
                <a:latin typeface="Arial" panose="020B0604020202020204" pitchFamily="34" charset="0"/>
              </a:defRPr>
            </a:lvl9pPr>
          </a:lstStyle>
          <a:p>
            <a:pPr>
              <a:lnSpc>
                <a:spcPct val="110000"/>
              </a:lnSpc>
              <a:spcBef>
                <a:spcPts val="600"/>
              </a:spcBef>
            </a:pPr>
            <a:r>
              <a:rPr lang="en-US" sz="2000" dirty="0">
                <a:solidFill>
                  <a:schemeClr val="tx1"/>
                </a:solidFill>
                <a:latin typeface="Liberation Sans" panose="020B0604020202020204" pitchFamily="34" charset="0"/>
              </a:rPr>
              <a:t>Prepare the adjusting entries needed at August 31, 2017.</a:t>
            </a:r>
          </a:p>
          <a:p>
            <a:pPr marL="694055" indent="-457200">
              <a:lnSpc>
                <a:spcPct val="110000"/>
              </a:lnSpc>
              <a:spcBef>
                <a:spcPts val="600"/>
              </a:spcBef>
              <a:buFont typeface="+mj-lt"/>
              <a:buAutoNum type="arabicPeriod"/>
            </a:pPr>
            <a:r>
              <a:rPr lang="en-US" sz="2000" b="0" dirty="0">
                <a:solidFill>
                  <a:schemeClr val="tx1"/>
                </a:solidFill>
                <a:latin typeface="Liberation Sans" panose="020B0604020202020204" pitchFamily="34" charset="0"/>
              </a:rPr>
              <a:t>At August 31, the company owed its employees $800 in salaries and wages that will be paid on September 1.</a:t>
            </a:r>
          </a:p>
          <a:p>
            <a:pPr marL="694055" indent="-457200">
              <a:lnSpc>
                <a:spcPct val="110000"/>
              </a:lnSpc>
              <a:spcBef>
                <a:spcPts val="7200"/>
              </a:spcBef>
              <a:buFont typeface="+mj-lt"/>
              <a:buAutoNum type="arabicPeriod"/>
            </a:pPr>
            <a:r>
              <a:rPr lang="en-US" sz="2000" b="0" dirty="0">
                <a:solidFill>
                  <a:schemeClr val="tx1"/>
                </a:solidFill>
                <a:latin typeface="Liberation Sans" panose="020B0604020202020204" pitchFamily="34" charset="0"/>
              </a:rPr>
              <a:t>On August 1, the company borrowed $30,000 from a local bank on a 15-year mortgage. The annual interest rate is 10%.</a:t>
            </a:r>
          </a:p>
          <a:p>
            <a:pPr marL="694055" indent="-457200">
              <a:lnSpc>
                <a:spcPct val="110000"/>
              </a:lnSpc>
              <a:spcBef>
                <a:spcPts val="7200"/>
              </a:spcBef>
              <a:buFont typeface="+mj-lt"/>
              <a:buAutoNum type="arabicPeriod"/>
            </a:pPr>
            <a:r>
              <a:rPr lang="en-US" sz="2000" b="0" dirty="0">
                <a:solidFill>
                  <a:schemeClr val="tx1"/>
                </a:solidFill>
                <a:latin typeface="Liberation Sans" panose="020B0604020202020204" pitchFamily="34" charset="0"/>
              </a:rPr>
              <a:t>Revenue for services performed but unrecorded for August totaled $1,100.</a:t>
            </a:r>
          </a:p>
        </p:txBody>
      </p:sp>
      <p:sp>
        <p:nvSpPr>
          <p:cNvPr id="15" name="Line 29"/>
          <p:cNvSpPr>
            <a:spLocks noChangeShapeType="1"/>
          </p:cNvSpPr>
          <p:nvPr/>
        </p:nvSpPr>
        <p:spPr bwMode="auto">
          <a:xfrm>
            <a:off x="1814286" y="784325"/>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572"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17"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286" y="357189"/>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8"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4858"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9"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7473" y="571502"/>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0" name="TextBox 19"/>
          <p:cNvSpPr txBox="1"/>
          <p:nvPr/>
        </p:nvSpPr>
        <p:spPr>
          <a:xfrm>
            <a:off x="3991429" y="428625"/>
            <a:ext cx="435429" cy="641336"/>
          </a:xfrm>
          <a:prstGeom prst="rect">
            <a:avLst/>
          </a:prstGeom>
          <a:noFill/>
        </p:spPr>
        <p:txBody>
          <a:bodyPr wrap="square" lIns="86493" tIns="43247" rIns="86493" bIns="43247" rtlCol="0">
            <a:spAutoFit/>
          </a:bodyPr>
          <a:lstStyle/>
          <a:p>
            <a:r>
              <a:rPr lang="en-US" sz="3600" dirty="0">
                <a:solidFill>
                  <a:srgbClr val="FF9900"/>
                </a:solidFill>
                <a:latin typeface="Liberation Sans" panose="020B0604020202020204" pitchFamily="34" charset="0"/>
              </a:rPr>
              <a:t>3</a:t>
            </a:r>
            <a:endParaRPr lang="en-US" sz="3600" b="1" dirty="0">
              <a:solidFill>
                <a:srgbClr val="FF9900"/>
              </a:solidFill>
              <a:latin typeface="Liberation Sans" panose="020B0604020202020204" pitchFamily="34" charset="0"/>
            </a:endParaRPr>
          </a:p>
        </p:txBody>
      </p:sp>
      <p:sp>
        <p:nvSpPr>
          <p:cNvPr id="21" name="TextBox 20"/>
          <p:cNvSpPr txBox="1"/>
          <p:nvPr/>
        </p:nvSpPr>
        <p:spPr>
          <a:xfrm>
            <a:off x="4862287" y="508910"/>
            <a:ext cx="5515429" cy="519373"/>
          </a:xfrm>
          <a:prstGeom prst="rect">
            <a:avLst/>
          </a:prstGeom>
          <a:noFill/>
        </p:spPr>
        <p:txBody>
          <a:bodyPr wrap="square" lIns="86493" tIns="43247" rIns="86493" bIns="43247" rtlCol="0">
            <a:spAutoFit/>
          </a:bodyPr>
          <a:lstStyle/>
          <a:p>
            <a:pPr marL="111125"/>
            <a:r>
              <a:rPr lang="en-US" sz="2800" b="1" dirty="0">
                <a:solidFill>
                  <a:schemeClr val="bg1"/>
                </a:solidFill>
                <a:latin typeface="Liberation Sans" panose="020B0604020202020204" pitchFamily="34" charset="0"/>
              </a:rPr>
              <a:t>Adjusting Entries for Accruals</a:t>
            </a:r>
          </a:p>
        </p:txBody>
      </p:sp>
      <p:pic>
        <p:nvPicPr>
          <p:cNvPr id="2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1981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5" name="TextBox 24"/>
          <p:cNvSpPr txBox="1"/>
          <p:nvPr/>
        </p:nvSpPr>
        <p:spPr>
          <a:xfrm>
            <a:off x="1828800" y="381000"/>
            <a:ext cx="2209800" cy="738664"/>
          </a:xfrm>
          <a:prstGeom prst="rect">
            <a:avLst/>
          </a:prstGeom>
          <a:noFill/>
        </p:spPr>
        <p:txBody>
          <a:bodyPr wrap="square" rtlCol="0">
            <a:spAutoFit/>
          </a:bodyPr>
          <a:lstStyle/>
          <a:p>
            <a:r>
              <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rPr>
              <a:t>DO IT!</a:t>
            </a:r>
          </a:p>
        </p:txBody>
      </p:sp>
      <p:sp>
        <p:nvSpPr>
          <p:cNvPr id="2" name="Rectangle 1"/>
          <p:cNvSpPr/>
          <p:nvPr/>
        </p:nvSpPr>
        <p:spPr>
          <a:xfrm>
            <a:off x="3124200" y="2590801"/>
            <a:ext cx="7239000" cy="715581"/>
          </a:xfrm>
          <a:prstGeom prst="rect">
            <a:avLst/>
          </a:prstGeom>
          <a:noFill/>
          <a:ln>
            <a:noFill/>
          </a:ln>
          <a:effectLst/>
        </p:spPr>
        <p:txBody>
          <a:bodyPr wrap="square">
            <a:spAutoFit/>
          </a:bodyPr>
          <a:lstStyle/>
          <a:p>
            <a:pPr marL="457200" indent="-457200">
              <a:spcBef>
                <a:spcPts val="300"/>
              </a:spcBef>
              <a:tabLst>
                <a:tab pos="5309870" algn="r"/>
                <a:tab pos="6518275" algn="r"/>
              </a:tabLst>
            </a:pPr>
            <a:r>
              <a:rPr lang="en-US" sz="1900" dirty="0">
                <a:latin typeface="Liberation Sans" panose="020B0604020202020204" pitchFamily="34" charset="0"/>
              </a:rPr>
              <a:t>Salaries and Wages Expense	800</a:t>
            </a:r>
          </a:p>
          <a:p>
            <a:pPr marL="457200" indent="-457200">
              <a:spcBef>
                <a:spcPts val="300"/>
              </a:spcBef>
              <a:tabLst>
                <a:tab pos="5146675" algn="r"/>
                <a:tab pos="6459220" algn="r"/>
              </a:tabLst>
            </a:pPr>
            <a:r>
              <a:rPr lang="en-US" sz="1900" dirty="0">
                <a:latin typeface="Liberation Sans" panose="020B0604020202020204" pitchFamily="34" charset="0"/>
              </a:rPr>
              <a:t>	Salaries and Wages Payable		800</a:t>
            </a:r>
          </a:p>
        </p:txBody>
      </p:sp>
      <p:sp>
        <p:nvSpPr>
          <p:cNvPr id="13" name="Rectangle 12"/>
          <p:cNvSpPr/>
          <p:nvPr/>
        </p:nvSpPr>
        <p:spPr>
          <a:xfrm>
            <a:off x="3124200" y="4161220"/>
            <a:ext cx="7239000" cy="715581"/>
          </a:xfrm>
          <a:prstGeom prst="rect">
            <a:avLst/>
          </a:prstGeom>
          <a:noFill/>
          <a:ln>
            <a:noFill/>
          </a:ln>
          <a:effectLst/>
        </p:spPr>
        <p:txBody>
          <a:bodyPr wrap="square">
            <a:spAutoFit/>
          </a:bodyPr>
          <a:lstStyle/>
          <a:p>
            <a:pPr marL="457200" indent="-457200">
              <a:spcBef>
                <a:spcPts val="300"/>
              </a:spcBef>
              <a:tabLst>
                <a:tab pos="5309870" algn="r"/>
                <a:tab pos="6518275" algn="r"/>
              </a:tabLst>
            </a:pPr>
            <a:r>
              <a:rPr lang="en-US" sz="1900" dirty="0">
                <a:latin typeface="Liberation Sans" panose="020B0604020202020204" pitchFamily="34" charset="0"/>
              </a:rPr>
              <a:t>Interest Expense	250</a:t>
            </a:r>
          </a:p>
          <a:p>
            <a:pPr marL="457200" indent="-457200">
              <a:spcBef>
                <a:spcPts val="300"/>
              </a:spcBef>
              <a:tabLst>
                <a:tab pos="5146675" algn="r"/>
                <a:tab pos="6459220" algn="r"/>
              </a:tabLst>
            </a:pPr>
            <a:r>
              <a:rPr lang="en-US" sz="1900" dirty="0">
                <a:latin typeface="Liberation Sans" panose="020B0604020202020204" pitchFamily="34" charset="0"/>
              </a:rPr>
              <a:t>	Interest Payable		250</a:t>
            </a:r>
          </a:p>
        </p:txBody>
      </p:sp>
      <p:sp>
        <p:nvSpPr>
          <p:cNvPr id="14" name="Rectangle 13"/>
          <p:cNvSpPr/>
          <p:nvPr/>
        </p:nvSpPr>
        <p:spPr>
          <a:xfrm>
            <a:off x="3124200" y="5761420"/>
            <a:ext cx="7239000" cy="715581"/>
          </a:xfrm>
          <a:prstGeom prst="rect">
            <a:avLst/>
          </a:prstGeom>
          <a:noFill/>
          <a:ln>
            <a:noFill/>
          </a:ln>
          <a:effectLst/>
        </p:spPr>
        <p:txBody>
          <a:bodyPr wrap="square">
            <a:spAutoFit/>
          </a:bodyPr>
          <a:lstStyle/>
          <a:p>
            <a:pPr marL="457200" indent="-457200">
              <a:spcBef>
                <a:spcPts val="300"/>
              </a:spcBef>
              <a:tabLst>
                <a:tab pos="5309870" algn="r"/>
                <a:tab pos="6518275" algn="r"/>
              </a:tabLst>
            </a:pPr>
            <a:r>
              <a:rPr lang="en-US" sz="1900" dirty="0">
                <a:latin typeface="Liberation Sans" panose="020B0604020202020204" pitchFamily="34" charset="0"/>
              </a:rPr>
              <a:t>Accounts Receivable	1,100</a:t>
            </a:r>
          </a:p>
          <a:p>
            <a:pPr marL="457200" indent="-457200">
              <a:spcBef>
                <a:spcPts val="300"/>
              </a:spcBef>
              <a:tabLst>
                <a:tab pos="5146675" algn="r"/>
                <a:tab pos="6459220" algn="r"/>
              </a:tabLst>
            </a:pPr>
            <a:r>
              <a:rPr lang="en-US" sz="1900" dirty="0">
                <a:latin typeface="Liberation Sans" panose="020B0604020202020204" pitchFamily="34" charset="0"/>
              </a:rPr>
              <a:t>	Service Revenue		1,100</a:t>
            </a:r>
          </a:p>
        </p:txBody>
      </p:sp>
      <p:sp>
        <p:nvSpPr>
          <p:cNvPr id="22"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3</a:t>
            </a:r>
          </a:p>
        </p:txBody>
      </p:sp>
    </p:spTree>
    <p:extLst>
      <p:ext uri="{BB962C8B-B14F-4D97-AF65-F5344CB8AC3E}">
        <p14:creationId xmlns:p14="http://schemas.microsoft.com/office/powerpoint/2010/main" val="202092572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wipe(left)">
                                      <p:cBhvr>
                                        <p:cTn id="17" dur="5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1" end="1"/>
                                            </p:txEl>
                                          </p:spTgt>
                                        </p:tgtEl>
                                        <p:attrNameLst>
                                          <p:attrName>style.visibility</p:attrName>
                                        </p:attrNameLst>
                                      </p:cBhvr>
                                      <p:to>
                                        <p:strVal val="visible"/>
                                      </p:to>
                                    </p:set>
                                    <p:animEffect transition="in" filter="wipe(left)">
                                      <p:cBhvr>
                                        <p:cTn id="22" dur="500"/>
                                        <p:tgtEl>
                                          <p:spTgt spid="1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xEl>
                                              <p:pRg st="0" end="0"/>
                                            </p:txEl>
                                          </p:spTgt>
                                        </p:tgtEl>
                                        <p:attrNameLst>
                                          <p:attrName>style.visibility</p:attrName>
                                        </p:attrNameLst>
                                      </p:cBhvr>
                                      <p:to>
                                        <p:strVal val="visible"/>
                                      </p:to>
                                    </p:set>
                                    <p:animEffect transition="in" filter="wipe(left)">
                                      <p:cBhvr>
                                        <p:cTn id="27" dur="500"/>
                                        <p:tgtEl>
                                          <p:spTgt spid="1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
                                            <p:txEl>
                                              <p:pRg st="1" end="1"/>
                                            </p:txEl>
                                          </p:spTgt>
                                        </p:tgtEl>
                                        <p:attrNameLst>
                                          <p:attrName>style.visibility</p:attrName>
                                        </p:attrNameLst>
                                      </p:cBhvr>
                                      <p:to>
                                        <p:strVal val="visible"/>
                                      </p:to>
                                    </p:set>
                                    <p:animEffect transition="in" filter="wipe(left)">
                                      <p:cBhvr>
                                        <p:cTn id="32"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p:bldP spid="13" grpId="0" build="p" bldLvl="2"/>
      <p:bldP spid="14" grpId="0" build="p" bldLvl="2"/>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Text Box 7"/>
          <p:cNvSpPr txBox="1">
            <a:spLocks noChangeArrowheads="1"/>
          </p:cNvSpPr>
          <p:nvPr/>
        </p:nvSpPr>
        <p:spPr bwMode="auto">
          <a:xfrm>
            <a:off x="2133600" y="1504951"/>
            <a:ext cx="7924800" cy="4336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spcBef>
                <a:spcPct val="70000"/>
              </a:spcBef>
            </a:pPr>
            <a:r>
              <a:rPr lang="en-US" altLang="en-US" dirty="0">
                <a:solidFill>
                  <a:schemeClr val="tx1"/>
                </a:solidFill>
                <a:latin typeface="Liberation Sans" panose="020B0604020202020204" pitchFamily="34" charset="0"/>
                <a:cs typeface="Arial" panose="020B0604020202020204" pitchFamily="34" charset="0"/>
              </a:rPr>
              <a:t>Adjusted Trial Balance</a:t>
            </a:r>
            <a:endParaRPr lang="en-US" altLang="en-US" b="0" dirty="0">
              <a:solidFill>
                <a:schemeClr val="tx1"/>
              </a:solidFill>
              <a:latin typeface="Liberation Sans" panose="020B0604020202020204" pitchFamily="34" charset="0"/>
              <a:cs typeface="Arial" panose="020B0604020202020204" pitchFamily="34" charset="0"/>
            </a:endParaRPr>
          </a:p>
          <a:p>
            <a:pPr lvl="1">
              <a:lnSpc>
                <a:spcPct val="120000"/>
              </a:lnSpc>
              <a:spcBef>
                <a:spcPct val="70000"/>
              </a:spcBef>
              <a:buClr>
                <a:srgbClr val="800000"/>
              </a:buClr>
              <a:buSzPct val="80000"/>
              <a:buFont typeface="Wingdings" panose="05000000000000000000" pitchFamily="2" charset="2"/>
              <a:buChar char="u"/>
            </a:pPr>
            <a:r>
              <a:rPr lang="en-US" altLang="en-US" sz="2200" b="0" dirty="0">
                <a:solidFill>
                  <a:schemeClr val="tx1"/>
                </a:solidFill>
                <a:latin typeface="Liberation Sans" panose="020B0604020202020204" pitchFamily="34" charset="0"/>
                <a:cs typeface="Arial" panose="020B0604020202020204" pitchFamily="34" charset="0"/>
              </a:rPr>
              <a:t>Prepared </a:t>
            </a:r>
            <a:r>
              <a:rPr lang="en-US" altLang="en-US" sz="2200" dirty="0">
                <a:solidFill>
                  <a:schemeClr val="tx1"/>
                </a:solidFill>
                <a:latin typeface="Liberation Sans" panose="020B0604020202020204" pitchFamily="34" charset="0"/>
                <a:cs typeface="Arial" panose="020B0604020202020204" pitchFamily="34" charset="0"/>
              </a:rPr>
              <a:t>after all adjusting entries</a:t>
            </a:r>
            <a:r>
              <a:rPr lang="en-US" altLang="en-US" sz="2200" b="0" dirty="0">
                <a:solidFill>
                  <a:schemeClr val="tx1"/>
                </a:solidFill>
                <a:latin typeface="Liberation Sans" panose="020B0604020202020204" pitchFamily="34" charset="0"/>
                <a:cs typeface="Arial" panose="020B0604020202020204" pitchFamily="34" charset="0"/>
              </a:rPr>
              <a:t> are journalized and posted.</a:t>
            </a:r>
          </a:p>
          <a:p>
            <a:pPr lvl="1">
              <a:lnSpc>
                <a:spcPct val="120000"/>
              </a:lnSpc>
              <a:spcBef>
                <a:spcPct val="70000"/>
              </a:spcBef>
              <a:buClr>
                <a:srgbClr val="800000"/>
              </a:buClr>
              <a:buSzPct val="80000"/>
              <a:buFont typeface="Wingdings" panose="05000000000000000000" pitchFamily="2" charset="2"/>
              <a:buChar char="u"/>
            </a:pPr>
            <a:r>
              <a:rPr lang="en-US" altLang="en-US" sz="2200" b="0" dirty="0">
                <a:solidFill>
                  <a:schemeClr val="tx1"/>
                </a:solidFill>
                <a:latin typeface="Liberation Sans" panose="020B0604020202020204" pitchFamily="34" charset="0"/>
                <a:cs typeface="Arial" panose="020B0604020202020204" pitchFamily="34" charset="0"/>
              </a:rPr>
              <a:t>Purpose is to </a:t>
            </a:r>
            <a:r>
              <a:rPr lang="en-US" altLang="en-US" sz="2200" dirty="0">
                <a:solidFill>
                  <a:schemeClr val="tx1"/>
                </a:solidFill>
                <a:latin typeface="Liberation Sans" panose="020B0604020202020204" pitchFamily="34" charset="0"/>
                <a:cs typeface="Arial" panose="020B0604020202020204" pitchFamily="34" charset="0"/>
              </a:rPr>
              <a:t>prove the equality</a:t>
            </a:r>
            <a:r>
              <a:rPr lang="en-US" altLang="en-US" sz="2200" b="0" dirty="0">
                <a:solidFill>
                  <a:schemeClr val="tx1"/>
                </a:solidFill>
                <a:latin typeface="Liberation Sans" panose="020B0604020202020204" pitchFamily="34" charset="0"/>
                <a:cs typeface="Arial" panose="020B0604020202020204" pitchFamily="34" charset="0"/>
              </a:rPr>
              <a:t> of debit balances and credit balances in the ledger. </a:t>
            </a:r>
          </a:p>
          <a:p>
            <a:pPr lvl="1">
              <a:lnSpc>
                <a:spcPct val="120000"/>
              </a:lnSpc>
              <a:spcBef>
                <a:spcPct val="70000"/>
              </a:spcBef>
              <a:buClr>
                <a:srgbClr val="800000"/>
              </a:buClr>
              <a:buSzPct val="80000"/>
              <a:buFont typeface="Wingdings" panose="05000000000000000000" pitchFamily="2" charset="2"/>
              <a:buChar char="u"/>
            </a:pPr>
            <a:r>
              <a:rPr lang="en-US" altLang="en-US" sz="2200" b="0" dirty="0">
                <a:solidFill>
                  <a:schemeClr val="tx1"/>
                </a:solidFill>
                <a:latin typeface="Liberation Sans" panose="020B0604020202020204" pitchFamily="34" charset="0"/>
                <a:cs typeface="Arial" panose="020B0604020202020204" pitchFamily="34" charset="0"/>
              </a:rPr>
              <a:t>Is the </a:t>
            </a:r>
            <a:r>
              <a:rPr lang="en-US" altLang="en-US" sz="2200" dirty="0">
                <a:solidFill>
                  <a:schemeClr val="tx1"/>
                </a:solidFill>
                <a:latin typeface="Liberation Sans" panose="020B0604020202020204" pitchFamily="34" charset="0"/>
                <a:cs typeface="Arial" panose="020B0604020202020204" pitchFamily="34" charset="0"/>
              </a:rPr>
              <a:t>primary basis for the preparation of financial statements</a:t>
            </a:r>
            <a:r>
              <a:rPr lang="en-US" altLang="en-US" sz="2200" b="0" dirty="0">
                <a:solidFill>
                  <a:schemeClr val="tx1"/>
                </a:solidFill>
                <a:latin typeface="Liberation Sans" panose="020B0604020202020204" pitchFamily="34" charset="0"/>
                <a:cs typeface="Arial" panose="020B0604020202020204" pitchFamily="34" charset="0"/>
              </a:rPr>
              <a:t>.</a:t>
            </a:r>
          </a:p>
          <a:p>
            <a:pPr lvl="1">
              <a:lnSpc>
                <a:spcPct val="120000"/>
              </a:lnSpc>
              <a:spcBef>
                <a:spcPct val="70000"/>
              </a:spcBef>
              <a:buClr>
                <a:srgbClr val="800000"/>
              </a:buClr>
              <a:buSzPct val="80000"/>
              <a:buFont typeface="Wingdings" panose="05000000000000000000" pitchFamily="2" charset="2"/>
              <a:buChar char="u"/>
            </a:pPr>
            <a:endParaRPr lang="en-US" altLang="en-US" sz="2100" b="0" dirty="0">
              <a:solidFill>
                <a:schemeClr val="tx1"/>
              </a:solidFill>
              <a:latin typeface="Liberation Sans" panose="020B0604020202020204" pitchFamily="34" charset="0"/>
              <a:cs typeface="Arial" panose="020B0604020202020204" pitchFamily="34" charset="0"/>
            </a:endParaRPr>
          </a:p>
        </p:txBody>
      </p:sp>
      <p:sp>
        <p:nvSpPr>
          <p:cNvPr id="8" name="Rectangle 7"/>
          <p:cNvSpPr>
            <a:spLocks noChangeArrowheads="1"/>
          </p:cNvSpPr>
          <p:nvPr/>
        </p:nvSpPr>
        <p:spPr bwMode="auto">
          <a:xfrm>
            <a:off x="1814286" y="405765"/>
            <a:ext cx="2249714" cy="677228"/>
          </a:xfrm>
          <a:prstGeom prst="rect">
            <a:avLst/>
          </a:prstGeom>
          <a:solidFill>
            <a:schemeClr val="bg1">
              <a:lumMod val="85000"/>
            </a:schemeClr>
          </a:solidFill>
          <a:ln>
            <a:noFill/>
          </a:ln>
          <a:effectLst/>
        </p:spPr>
        <p:txBody>
          <a:bodyPr wrap="none" lIns="86493" tIns="43247" rIns="86493" bIns="43247" anchor="ctr"/>
          <a:lstStyle/>
          <a:p>
            <a:r>
              <a:rPr lang="en-US" altLang="en-US" sz="1700" dirty="0">
                <a:latin typeface="Liberation Sans" panose="020B0604020202020204" pitchFamily="34" charset="0"/>
              </a:rPr>
              <a:t>LEARNING</a:t>
            </a:r>
          </a:p>
          <a:p>
            <a:r>
              <a:rPr lang="en-US" altLang="en-US" sz="1700" dirty="0">
                <a:latin typeface="Liberation Sans" panose="020B0604020202020204" pitchFamily="34" charset="0"/>
              </a:rPr>
              <a:t>OBJECTIVE</a:t>
            </a:r>
          </a:p>
        </p:txBody>
      </p:sp>
      <p:sp>
        <p:nvSpPr>
          <p:cNvPr id="9" name="Rectangle 5"/>
          <p:cNvSpPr>
            <a:spLocks noChangeArrowheads="1"/>
          </p:cNvSpPr>
          <p:nvPr/>
        </p:nvSpPr>
        <p:spPr bwMode="auto">
          <a:xfrm>
            <a:off x="4064001" y="274320"/>
            <a:ext cx="6241143" cy="928688"/>
          </a:xfrm>
          <a:prstGeom prst="rect">
            <a:avLst/>
          </a:prstGeom>
          <a:solidFill>
            <a:srgbClr val="0027A4"/>
          </a:solidFill>
          <a:ln>
            <a:noFill/>
          </a:ln>
          <a:effectLst/>
        </p:spPr>
        <p:txBody>
          <a:bodyPr wrap="square" tIns="27432" anchor="ctr"/>
          <a:lstStyle/>
          <a:p>
            <a:pPr marL="117475"/>
            <a:r>
              <a:rPr lang="en-US" sz="2400" dirty="0">
                <a:latin typeface="Liberation Sans" panose="020B0604020202020204" pitchFamily="34" charset="0"/>
              </a:rPr>
              <a:t>Describe the nature and purpose of an adjusted trial balance</a:t>
            </a:r>
            <a:r>
              <a:rPr lang="en-US" sz="2500" dirty="0">
                <a:latin typeface="Liberation Sans" panose="020B0604020202020204" pitchFamily="34" charset="0"/>
              </a:rPr>
              <a:t>.</a:t>
            </a:r>
          </a:p>
        </p:txBody>
      </p:sp>
      <p:sp>
        <p:nvSpPr>
          <p:cNvPr id="10" name="Oval 9"/>
          <p:cNvSpPr/>
          <p:nvPr/>
        </p:nvSpPr>
        <p:spPr bwMode="auto">
          <a:xfrm>
            <a:off x="3396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86493" tIns="0" rIns="86493" bIns="43247" numCol="1" spcCol="0" rtlCol="0" fromWordArt="0" anchor="ctr" anchorCtr="0" forceAA="0" compatLnSpc="1">
            <a:noAutofit/>
          </a:bodyPr>
          <a:lstStyle/>
          <a:p>
            <a:pPr algn="ctr"/>
            <a:r>
              <a:rPr lang="en-US" sz="2400" dirty="0">
                <a:latin typeface="Liberation Sans" panose="020B0604020202020204" pitchFamily="34" charset="0"/>
              </a:rPr>
              <a:t>4</a:t>
            </a:r>
          </a:p>
        </p:txBody>
      </p:sp>
      <p:sp>
        <p:nvSpPr>
          <p:cNvPr id="6"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4</a:t>
            </a:r>
          </a:p>
        </p:txBody>
      </p:sp>
    </p:spTree>
    <p:extLst>
      <p:ext uri="{BB962C8B-B14F-4D97-AF65-F5344CB8AC3E}">
        <p14:creationId xmlns:p14="http://schemas.microsoft.com/office/powerpoint/2010/main" val="22364098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79400"/>
            <a:ext cx="6837994" cy="6350000"/>
          </a:xfrm>
          <a:prstGeom prst="rect">
            <a:avLst/>
          </a:prstGeom>
          <a:noFill/>
          <a:ln w="19050" cap="sq"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56324" name="Text Box 9"/>
          <p:cNvSpPr txBox="1">
            <a:spLocks noChangeArrowheads="1"/>
          </p:cNvSpPr>
          <p:nvPr/>
        </p:nvSpPr>
        <p:spPr bwMode="auto">
          <a:xfrm>
            <a:off x="8077200" y="322264"/>
            <a:ext cx="1371600" cy="287337"/>
          </a:xfrm>
          <a:prstGeom prst="rect">
            <a:avLst/>
          </a:prstGeom>
          <a:noFill/>
          <a:ln w="12700" cap="sq" algn="ctr">
            <a:noFill/>
            <a:miter lim="800000"/>
            <a:headEnd type="none" w="sm" len="sm"/>
            <a:tailEnd type="none" w="sm" len="sm"/>
          </a:ln>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latin typeface="Liberation Sans" panose="020B0604020202020204" pitchFamily="34" charset="0"/>
              </a:rPr>
              <a:t>Illustration 3-25</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304800"/>
            <a:ext cx="609600"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4</a:t>
            </a:r>
          </a:p>
        </p:txBody>
      </p:sp>
    </p:spTree>
    <p:extLst>
      <p:ext uri="{BB962C8B-B14F-4D97-AF65-F5344CB8AC3E}">
        <p14:creationId xmlns:p14="http://schemas.microsoft.com/office/powerpoint/2010/main" val="21575029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2057400" y="1905000"/>
            <a:ext cx="7924800" cy="4343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82562" tIns="46038" rIns="182562" bIns="46038"/>
          <a:lstStyle>
            <a:lvl1pPr>
              <a:defRPr sz="2800" b="1">
                <a:solidFill>
                  <a:schemeClr val="bg1"/>
                </a:solidFill>
                <a:latin typeface="Arial" panose="020B0604020202020204" pitchFamily="34" charset="0"/>
              </a:defRPr>
            </a:lvl1pPr>
            <a:lvl2pPr marL="624205" indent="-389255">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spcBef>
                <a:spcPct val="30000"/>
              </a:spcBef>
              <a:buClr>
                <a:schemeClr val="accent2"/>
              </a:buClr>
              <a:buSzPct val="75000"/>
              <a:buFont typeface="Wingdings" panose="05000000000000000000" pitchFamily="2" charset="2"/>
              <a:buNone/>
            </a:pPr>
            <a:r>
              <a:rPr lang="en-US" altLang="en-US" sz="1900" b="0" dirty="0">
                <a:solidFill>
                  <a:schemeClr val="tx1"/>
                </a:solidFill>
                <a:latin typeface="Liberation Sans" panose="020B0604020202020204" pitchFamily="34" charset="0"/>
              </a:rPr>
              <a:t>Which of the following statements is </a:t>
            </a:r>
            <a:r>
              <a:rPr lang="en-US" altLang="en-US" sz="1900" b="0" i="1" dirty="0">
                <a:solidFill>
                  <a:schemeClr val="tx1"/>
                </a:solidFill>
                <a:latin typeface="Liberation Sans" panose="020B0604020202020204" pitchFamily="34" charset="0"/>
              </a:rPr>
              <a:t>incorrect </a:t>
            </a:r>
            <a:r>
              <a:rPr lang="en-US" altLang="en-US" sz="1900" b="0" dirty="0">
                <a:solidFill>
                  <a:schemeClr val="tx1"/>
                </a:solidFill>
                <a:latin typeface="Liberation Sans" panose="020B0604020202020204" pitchFamily="34" charset="0"/>
              </a:rPr>
              <a:t>concerning the adjusted trial balance?</a:t>
            </a:r>
          </a:p>
          <a:p>
            <a:pPr lvl="1">
              <a:lnSpc>
                <a:spcPct val="120000"/>
              </a:lnSpc>
              <a:spcBef>
                <a:spcPct val="30000"/>
              </a:spcBef>
              <a:buClr>
                <a:schemeClr val="tx1"/>
              </a:buClr>
              <a:buFont typeface="Wingdings" panose="05000000000000000000" pitchFamily="2" charset="2"/>
              <a:buAutoNum type="alphaLcPeriod"/>
            </a:pPr>
            <a:r>
              <a:rPr lang="en-US" altLang="en-US" sz="1900" b="0" dirty="0">
                <a:solidFill>
                  <a:schemeClr val="tx1"/>
                </a:solidFill>
                <a:latin typeface="Liberation Sans" panose="020B0604020202020204" pitchFamily="34" charset="0"/>
              </a:rPr>
              <a:t>An adjusted trial balance proves the equality of the  total debit balances and the total credit balances in the ledger after all adjustments are made.</a:t>
            </a:r>
          </a:p>
          <a:p>
            <a:pPr lvl="1">
              <a:lnSpc>
                <a:spcPct val="120000"/>
              </a:lnSpc>
              <a:spcBef>
                <a:spcPct val="30000"/>
              </a:spcBef>
              <a:buClr>
                <a:schemeClr val="tx1"/>
              </a:buClr>
              <a:buFont typeface="Wingdings" panose="05000000000000000000" pitchFamily="2" charset="2"/>
              <a:buAutoNum type="alphaLcPeriod"/>
            </a:pPr>
            <a:r>
              <a:rPr lang="en-US" altLang="en-US" sz="1900" b="0" dirty="0">
                <a:solidFill>
                  <a:schemeClr val="tx1"/>
                </a:solidFill>
                <a:latin typeface="Liberation Sans" panose="020B0604020202020204" pitchFamily="34" charset="0"/>
              </a:rPr>
              <a:t>The adjusted trial balance provides the primary basis for the preparation of financial statements. </a:t>
            </a:r>
          </a:p>
          <a:p>
            <a:pPr lvl="1">
              <a:lnSpc>
                <a:spcPct val="120000"/>
              </a:lnSpc>
              <a:spcBef>
                <a:spcPct val="30000"/>
              </a:spcBef>
              <a:buClr>
                <a:schemeClr val="tx1"/>
              </a:buClr>
              <a:buFont typeface="Wingdings" panose="05000000000000000000" pitchFamily="2" charset="2"/>
              <a:buAutoNum type="alphaLcPeriod"/>
            </a:pPr>
            <a:r>
              <a:rPr lang="en-US" altLang="en-US" sz="1900" b="0" dirty="0">
                <a:solidFill>
                  <a:schemeClr val="tx1"/>
                </a:solidFill>
                <a:latin typeface="Liberation Sans" panose="020B0604020202020204" pitchFamily="34" charset="0"/>
              </a:rPr>
              <a:t>The adjusted trial balance lists the account balances segregated by assets and liabilities. </a:t>
            </a:r>
          </a:p>
          <a:p>
            <a:pPr lvl="1">
              <a:lnSpc>
                <a:spcPct val="120000"/>
              </a:lnSpc>
              <a:spcBef>
                <a:spcPct val="30000"/>
              </a:spcBef>
              <a:buClr>
                <a:schemeClr val="tx1"/>
              </a:buClr>
              <a:buFont typeface="Wingdings" panose="05000000000000000000" pitchFamily="2" charset="2"/>
              <a:buAutoNum type="alphaLcPeriod"/>
            </a:pPr>
            <a:r>
              <a:rPr lang="en-US" altLang="en-US" sz="1900" b="0" dirty="0">
                <a:solidFill>
                  <a:schemeClr val="tx1"/>
                </a:solidFill>
                <a:latin typeface="Liberation Sans" panose="020B0604020202020204" pitchFamily="34" charset="0"/>
              </a:rPr>
              <a:t>The adjusted trial balance is prepared after the adjusting entries have been journalized and posted.</a:t>
            </a:r>
          </a:p>
        </p:txBody>
      </p:sp>
      <p:sp>
        <p:nvSpPr>
          <p:cNvPr id="55303" name="Line 10"/>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8" name="Rectangle 4"/>
          <p:cNvSpPr>
            <a:spLocks noChangeArrowheads="1"/>
          </p:cNvSpPr>
          <p:nvPr/>
        </p:nvSpPr>
        <p:spPr bwMode="auto">
          <a:xfrm>
            <a:off x="2133600" y="1295400"/>
            <a:ext cx="5334000"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buSzPct val="80000"/>
            </a:pPr>
            <a:r>
              <a:rPr lang="en-US" altLang="en-US" sz="3000" dirty="0">
                <a:solidFill>
                  <a:srgbClr val="800000"/>
                </a:solidFill>
                <a:latin typeface="Liberation Sans" panose="020B0604020202020204" pitchFamily="34" charset="0"/>
              </a:rPr>
              <a:t>Question</a:t>
            </a:r>
          </a:p>
        </p:txBody>
      </p:sp>
      <p:sp>
        <p:nvSpPr>
          <p:cNvPr id="10" name="Rectangle 9"/>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Adjusted Trial Balance</a:t>
            </a:r>
          </a:p>
        </p:txBody>
      </p:sp>
      <p:sp>
        <p:nvSpPr>
          <p:cNvPr id="7"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4</a:t>
            </a:r>
          </a:p>
        </p:txBody>
      </p:sp>
      <p:sp>
        <p:nvSpPr>
          <p:cNvPr id="11" name="Notched Right Arrow 10"/>
          <p:cNvSpPr/>
          <p:nvPr/>
        </p:nvSpPr>
        <p:spPr bwMode="auto">
          <a:xfrm>
            <a:off x="1752600" y="4572000"/>
            <a:ext cx="609600" cy="457200"/>
          </a:xfrm>
          <a:prstGeom prst="notchedRightArrow">
            <a:avLst/>
          </a:prstGeom>
          <a:solidFill>
            <a:srgbClr val="A50021"/>
          </a:solidFill>
          <a:ln w="12700" cap="sq" cmpd="sng" algn="ctr">
            <a:solidFill>
              <a:schemeClr val="tx1"/>
            </a:solidFill>
            <a:prstDash val="solid"/>
            <a:round/>
            <a:headEnd type="none" w="sm" len="sm"/>
            <a:tailEnd type="none" w="sm" len="sm"/>
          </a:ln>
          <a:effectLst/>
        </p:spPr>
        <p:txBody>
          <a:bodyPr/>
          <a:lstStyle>
            <a:defPPr>
              <a:defRPr lang="en-US"/>
            </a:defPPr>
            <a:lvl1pPr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1pPr>
            <a:lvl2pPr marL="4572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2pPr>
            <a:lvl3pPr marL="9144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3pPr>
            <a:lvl4pPr marL="13716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4pPr>
            <a:lvl5pPr marL="1828800" algn="ctr" rtl="0" eaLnBrk="0" fontAlgn="base" hangingPunct="0">
              <a:spcBef>
                <a:spcPct val="0"/>
              </a:spcBef>
              <a:spcAft>
                <a:spcPct val="0"/>
              </a:spcAft>
              <a:defRPr sz="2400" kern="1200">
                <a:solidFill>
                  <a:schemeClr val="tx1"/>
                </a:solidFill>
                <a:latin typeface="Comic Sans MS" panose="030F0702030302020204" pitchFamily="66" charset="0"/>
                <a:ea typeface="+mn-ea"/>
                <a:cs typeface="+mn-cs"/>
              </a:defRPr>
            </a:lvl5pPr>
            <a:lvl6pPr marL="2286000" algn="l" defTabSz="914400" rtl="0" eaLnBrk="1" latinLnBrk="0" hangingPunct="1">
              <a:defRPr sz="2400" kern="1200">
                <a:solidFill>
                  <a:schemeClr val="tx1"/>
                </a:solidFill>
                <a:latin typeface="Comic Sans MS" panose="030F0702030302020204" pitchFamily="66" charset="0"/>
                <a:ea typeface="+mn-ea"/>
                <a:cs typeface="+mn-cs"/>
              </a:defRPr>
            </a:lvl6pPr>
            <a:lvl7pPr marL="2743200" algn="l" defTabSz="914400" rtl="0" eaLnBrk="1" latinLnBrk="0" hangingPunct="1">
              <a:defRPr sz="2400" kern="1200">
                <a:solidFill>
                  <a:schemeClr val="tx1"/>
                </a:solidFill>
                <a:latin typeface="Comic Sans MS" panose="030F0702030302020204" pitchFamily="66" charset="0"/>
                <a:ea typeface="+mn-ea"/>
                <a:cs typeface="+mn-cs"/>
              </a:defRPr>
            </a:lvl7pPr>
            <a:lvl8pPr marL="3200400" algn="l" defTabSz="914400" rtl="0" eaLnBrk="1" latinLnBrk="0" hangingPunct="1">
              <a:defRPr sz="2400" kern="1200">
                <a:solidFill>
                  <a:schemeClr val="tx1"/>
                </a:solidFill>
                <a:latin typeface="Comic Sans MS" panose="030F0702030302020204" pitchFamily="66" charset="0"/>
                <a:ea typeface="+mn-ea"/>
                <a:cs typeface="+mn-cs"/>
              </a:defRPr>
            </a:lvl8pPr>
            <a:lvl9pPr marL="3657600" algn="l" defTabSz="914400" rtl="0" eaLnBrk="1" latinLnBrk="0" hangingPunct="1">
              <a:defRPr sz="2400" kern="1200">
                <a:solidFill>
                  <a:schemeClr val="tx1"/>
                </a:solidFill>
                <a:latin typeface="Comic Sans MS" panose="030F0702030302020204" pitchFamily="66" charset="0"/>
                <a:ea typeface="+mn-ea"/>
                <a:cs typeface="+mn-cs"/>
              </a:defRPr>
            </a:lvl9pPr>
          </a:lstStyle>
          <a:p>
            <a:endParaRPr lang="en-US" altLang="en-US">
              <a:solidFill>
                <a:schemeClr val="accent6">
                  <a:lumMod val="50000"/>
                </a:schemeClr>
              </a:solidFill>
            </a:endParaRPr>
          </a:p>
        </p:txBody>
      </p:sp>
    </p:spTree>
    <p:extLst>
      <p:ext uri="{BB962C8B-B14F-4D97-AF65-F5344CB8AC3E}">
        <p14:creationId xmlns:p14="http://schemas.microsoft.com/office/powerpoint/2010/main" val="266401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AutoShape 11"/>
          <p:cNvSpPr>
            <a:spLocks noChangeArrowheads="1"/>
          </p:cNvSpPr>
          <p:nvPr/>
        </p:nvSpPr>
        <p:spPr bwMode="auto">
          <a:xfrm>
            <a:off x="5181600" y="3336925"/>
            <a:ext cx="1752600" cy="1905000"/>
          </a:xfrm>
          <a:prstGeom prst="foldedCorner">
            <a:avLst>
              <a:gd name="adj" fmla="val 12500"/>
            </a:avLst>
          </a:prstGeom>
          <a:solidFill>
            <a:srgbClr val="F9EFA5"/>
          </a:solidFill>
          <a:ln w="12700" cap="sq">
            <a:solidFill>
              <a:schemeClr val="tx1"/>
            </a:solidFill>
            <a:round/>
            <a:headEnd type="none" w="sm" len="sm"/>
            <a:tailEnd type="none" w="sm" len="sm"/>
          </a:ln>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2300" dirty="0">
                <a:solidFill>
                  <a:schemeClr val="tx1"/>
                </a:solidFill>
                <a:latin typeface="Liberation Sans" panose="020B0604020202020204" pitchFamily="34" charset="0"/>
              </a:rPr>
              <a:t>Owner’s Equity Statement </a:t>
            </a:r>
          </a:p>
        </p:txBody>
      </p:sp>
      <p:sp>
        <p:nvSpPr>
          <p:cNvPr id="58371" name="Text Box 6"/>
          <p:cNvSpPr txBox="1">
            <a:spLocks noChangeArrowheads="1"/>
          </p:cNvSpPr>
          <p:nvPr/>
        </p:nvSpPr>
        <p:spPr bwMode="auto">
          <a:xfrm>
            <a:off x="2209800" y="1524001"/>
            <a:ext cx="7772400" cy="822325"/>
          </a:xfrm>
          <a:prstGeom prst="rect">
            <a:avLst/>
          </a:prstGeom>
          <a:solidFill>
            <a:schemeClr val="bg1"/>
          </a:solidFill>
          <a:ln w="28575">
            <a:solidFill>
              <a:schemeClr val="tx1"/>
            </a:solidFill>
            <a:miter lim="800000"/>
          </a:ln>
          <a:effectLst>
            <a:outerShdw dist="107763" dir="2700000" algn="ctr" rotWithShape="0">
              <a:schemeClr val="bg2"/>
            </a:outerShdw>
          </a:effec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spcBef>
                <a:spcPct val="50000"/>
              </a:spcBef>
            </a:pPr>
            <a:r>
              <a:rPr lang="en-US" altLang="en-US" sz="2300" b="0" dirty="0">
                <a:solidFill>
                  <a:schemeClr val="tx1"/>
                </a:solidFill>
                <a:latin typeface="Liberation Sans" panose="020B0604020202020204" pitchFamily="34" charset="0"/>
                <a:cs typeface="Arial" panose="020B0604020202020204" pitchFamily="34" charset="0"/>
              </a:rPr>
              <a:t>Financial Statements are prepared directly from the </a:t>
            </a:r>
            <a:r>
              <a:rPr lang="en-US" altLang="en-US" sz="2300" dirty="0">
                <a:solidFill>
                  <a:schemeClr val="tx1"/>
                </a:solidFill>
                <a:latin typeface="Liberation Sans" panose="020B0604020202020204" pitchFamily="34" charset="0"/>
                <a:cs typeface="Arial" panose="020B0604020202020204" pitchFamily="34" charset="0"/>
              </a:rPr>
              <a:t>Adjusted Trial Balance</a:t>
            </a:r>
            <a:r>
              <a:rPr lang="en-US" altLang="en-US" sz="2300" b="0" dirty="0">
                <a:solidFill>
                  <a:schemeClr val="tx1"/>
                </a:solidFill>
                <a:latin typeface="Liberation Sans" panose="020B0604020202020204" pitchFamily="34" charset="0"/>
                <a:cs typeface="Arial" panose="020B0604020202020204" pitchFamily="34" charset="0"/>
              </a:rPr>
              <a:t>.  </a:t>
            </a:r>
            <a:endParaRPr lang="en-US" altLang="en-US" sz="2300" dirty="0">
              <a:solidFill>
                <a:schemeClr val="tx1"/>
              </a:solidFill>
              <a:latin typeface="Liberation Sans" panose="020B0604020202020204" pitchFamily="34" charset="0"/>
              <a:cs typeface="Arial" panose="020B0604020202020204" pitchFamily="34" charset="0"/>
            </a:endParaRPr>
          </a:p>
        </p:txBody>
      </p:sp>
      <p:sp>
        <p:nvSpPr>
          <p:cNvPr id="58372" name="AutoShape 8"/>
          <p:cNvSpPr>
            <a:spLocks noChangeArrowheads="1"/>
          </p:cNvSpPr>
          <p:nvPr/>
        </p:nvSpPr>
        <p:spPr bwMode="auto">
          <a:xfrm>
            <a:off x="2438400" y="3336925"/>
            <a:ext cx="1752600" cy="1905000"/>
          </a:xfrm>
          <a:prstGeom prst="foldedCorner">
            <a:avLst>
              <a:gd name="adj" fmla="val 12500"/>
            </a:avLst>
          </a:prstGeom>
          <a:solidFill>
            <a:srgbClr val="F9EFA5"/>
          </a:solidFill>
          <a:ln w="12700" cap="sq">
            <a:solidFill>
              <a:schemeClr val="tx1"/>
            </a:solidFill>
            <a:round/>
            <a:headEnd type="none" w="sm" len="sm"/>
            <a:tailEnd type="none" w="sm" len="sm"/>
          </a:ln>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2300" dirty="0">
                <a:solidFill>
                  <a:schemeClr val="tx1"/>
                </a:solidFill>
                <a:latin typeface="Liberation Sans" panose="020B0604020202020204" pitchFamily="34" charset="0"/>
              </a:rPr>
              <a:t>Income Statement</a:t>
            </a:r>
          </a:p>
        </p:txBody>
      </p:sp>
      <p:sp>
        <p:nvSpPr>
          <p:cNvPr id="58373" name="AutoShape 9"/>
          <p:cNvSpPr>
            <a:spLocks noChangeArrowheads="1"/>
          </p:cNvSpPr>
          <p:nvPr/>
        </p:nvSpPr>
        <p:spPr bwMode="auto">
          <a:xfrm>
            <a:off x="7924800" y="3336925"/>
            <a:ext cx="1752600" cy="1905000"/>
          </a:xfrm>
          <a:prstGeom prst="foldedCorner">
            <a:avLst>
              <a:gd name="adj" fmla="val 12500"/>
            </a:avLst>
          </a:prstGeom>
          <a:solidFill>
            <a:srgbClr val="F9EFA5"/>
          </a:solidFill>
          <a:ln w="12700" cap="sq">
            <a:solidFill>
              <a:schemeClr val="tx1"/>
            </a:solidFill>
            <a:round/>
            <a:headEnd type="none" w="sm" len="sm"/>
            <a:tailEnd type="none" w="sm" len="sm"/>
          </a:ln>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2300" dirty="0">
                <a:solidFill>
                  <a:schemeClr val="tx1"/>
                </a:solidFill>
                <a:latin typeface="Liberation Sans" panose="020B0604020202020204" pitchFamily="34" charset="0"/>
              </a:rPr>
              <a:t>Balance Sheet</a:t>
            </a:r>
          </a:p>
        </p:txBody>
      </p:sp>
      <p:sp>
        <p:nvSpPr>
          <p:cNvPr id="58374" name="AutoShape 13"/>
          <p:cNvSpPr>
            <a:spLocks noChangeArrowheads="1"/>
          </p:cNvSpPr>
          <p:nvPr/>
        </p:nvSpPr>
        <p:spPr bwMode="auto">
          <a:xfrm>
            <a:off x="5943600" y="2498725"/>
            <a:ext cx="228600" cy="762000"/>
          </a:xfrm>
          <a:prstGeom prst="downArrow">
            <a:avLst>
              <a:gd name="adj1" fmla="val 50000"/>
              <a:gd name="adj2" fmla="val 83333"/>
            </a:avLst>
          </a:prstGeom>
          <a:solidFill>
            <a:schemeClr val="hlink"/>
          </a:solidFill>
          <a:ln w="12700" cap="sq">
            <a:solidFill>
              <a:schemeClr val="tx1"/>
            </a:solidFill>
            <a:miter lim="800000"/>
            <a:headEnd type="none" w="sm" len="sm"/>
            <a:tailEnd type="none" w="sm" len="sm"/>
          </a:ln>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endParaRPr lang="en-US" altLang="en-US" sz="2400" b="0" dirty="0">
              <a:solidFill>
                <a:schemeClr val="tx1"/>
              </a:solidFill>
              <a:latin typeface="Liberation Sans" panose="020B0604020202020204" pitchFamily="34" charset="0"/>
            </a:endParaRPr>
          </a:p>
        </p:txBody>
      </p:sp>
      <p:sp>
        <p:nvSpPr>
          <p:cNvPr id="58375" name="AutoShape 15"/>
          <p:cNvSpPr>
            <a:spLocks noChangeArrowheads="1"/>
          </p:cNvSpPr>
          <p:nvPr/>
        </p:nvSpPr>
        <p:spPr bwMode="auto">
          <a:xfrm>
            <a:off x="3200400" y="2498725"/>
            <a:ext cx="228600" cy="762000"/>
          </a:xfrm>
          <a:prstGeom prst="downArrow">
            <a:avLst>
              <a:gd name="adj1" fmla="val 50000"/>
              <a:gd name="adj2" fmla="val 83333"/>
            </a:avLst>
          </a:prstGeom>
          <a:solidFill>
            <a:schemeClr val="hlink"/>
          </a:solidFill>
          <a:ln w="12700" cap="sq">
            <a:solidFill>
              <a:schemeClr val="tx1"/>
            </a:solidFill>
            <a:miter lim="800000"/>
            <a:headEnd type="none" w="sm" len="sm"/>
            <a:tailEnd type="none" w="sm" len="sm"/>
          </a:ln>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endParaRPr lang="en-US" altLang="en-US" sz="2400" b="0" dirty="0">
              <a:solidFill>
                <a:schemeClr val="tx1"/>
              </a:solidFill>
              <a:latin typeface="Liberation Sans" panose="020B0604020202020204" pitchFamily="34" charset="0"/>
            </a:endParaRPr>
          </a:p>
        </p:txBody>
      </p:sp>
      <p:sp>
        <p:nvSpPr>
          <p:cNvPr id="58376" name="AutoShape 16"/>
          <p:cNvSpPr>
            <a:spLocks noChangeArrowheads="1"/>
          </p:cNvSpPr>
          <p:nvPr/>
        </p:nvSpPr>
        <p:spPr bwMode="auto">
          <a:xfrm>
            <a:off x="8686800" y="2498725"/>
            <a:ext cx="228600" cy="762000"/>
          </a:xfrm>
          <a:prstGeom prst="downArrow">
            <a:avLst>
              <a:gd name="adj1" fmla="val 50000"/>
              <a:gd name="adj2" fmla="val 83333"/>
            </a:avLst>
          </a:prstGeom>
          <a:solidFill>
            <a:schemeClr val="hlink"/>
          </a:solidFill>
          <a:ln w="12700" cap="sq">
            <a:solidFill>
              <a:schemeClr val="tx1"/>
            </a:solidFill>
            <a:miter lim="800000"/>
            <a:headEnd type="none" w="sm" len="sm"/>
            <a:tailEnd type="none" w="sm" len="sm"/>
          </a:ln>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endParaRPr lang="en-US" altLang="en-US" sz="2400" b="0" dirty="0">
              <a:solidFill>
                <a:schemeClr val="tx1"/>
              </a:solidFill>
              <a:latin typeface="Liberation Sans" panose="020B0604020202020204" pitchFamily="34" charset="0"/>
            </a:endParaRPr>
          </a:p>
        </p:txBody>
      </p:sp>
      <p:sp>
        <p:nvSpPr>
          <p:cNvPr id="58378" name="Rectangle 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Preparing Financial Statements</a:t>
            </a:r>
          </a:p>
        </p:txBody>
      </p:sp>
      <p:sp>
        <p:nvSpPr>
          <p:cNvPr id="56331" name="Line 15"/>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1"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4</a:t>
            </a:r>
          </a:p>
        </p:txBody>
      </p:sp>
    </p:spTree>
    <p:extLst>
      <p:ext uri="{BB962C8B-B14F-4D97-AF65-F5344CB8AC3E}">
        <p14:creationId xmlns:p14="http://schemas.microsoft.com/office/powerpoint/2010/main" val="28636081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04800"/>
            <a:ext cx="7856538" cy="6361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9397" name="Rectangle 16"/>
          <p:cNvSpPr>
            <a:spLocks noChangeArrowheads="1"/>
          </p:cNvSpPr>
          <p:nvPr/>
        </p:nvSpPr>
        <p:spPr bwMode="auto">
          <a:xfrm>
            <a:off x="9906000" y="1905000"/>
            <a:ext cx="228600" cy="533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endParaRPr lang="en-US" altLang="en-US" sz="2400" b="0" dirty="0">
              <a:solidFill>
                <a:schemeClr val="tx1"/>
              </a:solidFill>
              <a:latin typeface="Liberation Sans" panose="020B0604020202020204" pitchFamily="34" charset="0"/>
            </a:endParaRPr>
          </a:p>
        </p:txBody>
      </p:sp>
      <p:sp>
        <p:nvSpPr>
          <p:cNvPr id="59398" name="Rectangle 12"/>
          <p:cNvSpPr>
            <a:spLocks noChangeArrowheads="1"/>
          </p:cNvSpPr>
          <p:nvPr/>
        </p:nvSpPr>
        <p:spPr bwMode="auto">
          <a:xfrm>
            <a:off x="2286000" y="5913438"/>
            <a:ext cx="3733800" cy="646331"/>
          </a:xfrm>
          <a:prstGeom prst="rect">
            <a:avLst/>
          </a:prstGeom>
          <a:solidFill>
            <a:schemeClr val="bg1"/>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r>
              <a:rPr lang="en-US" altLang="en-US" sz="1200" dirty="0">
                <a:solidFill>
                  <a:schemeClr val="tx1"/>
                </a:solidFill>
                <a:latin typeface="Liberation Sans" panose="020B0604020202020204" pitchFamily="34" charset="0"/>
              </a:rPr>
              <a:t>Illustration 3-26  </a:t>
            </a:r>
          </a:p>
          <a:p>
            <a:r>
              <a:rPr lang="en-US" altLang="en-US" sz="1200" b="0" dirty="0">
                <a:solidFill>
                  <a:schemeClr val="tx1"/>
                </a:solidFill>
                <a:latin typeface="Liberation Sans" panose="020B0604020202020204" pitchFamily="34" charset="0"/>
              </a:rPr>
              <a:t>Preparation of the income statement and owner’s equity statement from the adjusted trial balance</a:t>
            </a:r>
          </a:p>
        </p:txBody>
      </p:sp>
      <p:sp>
        <p:nvSpPr>
          <p:cNvPr id="2" name="Rectangle 1"/>
          <p:cNvSpPr/>
          <p:nvPr/>
        </p:nvSpPr>
        <p:spPr bwMode="auto">
          <a:xfrm>
            <a:off x="2514600" y="292608"/>
            <a:ext cx="609600" cy="609600"/>
          </a:xfrm>
          <a:prstGeom prst="rect">
            <a:avLst/>
          </a:prstGeom>
          <a:solidFill>
            <a:schemeClr val="bg1"/>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algn="ctr" defTabSz="914400" eaLnBrk="0" fontAlgn="base" hangingPunct="0">
              <a:spcBef>
                <a:spcPct val="0"/>
              </a:spcBef>
              <a:spcAft>
                <a:spcPct val="0"/>
              </a:spcAft>
            </a:pPr>
            <a:endParaRPr lang="en-US" sz="2400" dirty="0">
              <a:latin typeface="Liberation Sans" panose="020B0604020202020204" pitchFamily="34" charset="0"/>
            </a:endParaRPr>
          </a:p>
        </p:txBody>
      </p:sp>
    </p:spTree>
    <p:extLst>
      <p:ext uri="{BB962C8B-B14F-4D97-AF65-F5344CB8AC3E}">
        <p14:creationId xmlns:p14="http://schemas.microsoft.com/office/powerpoint/2010/main" val="19024573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57200"/>
            <a:ext cx="8229600" cy="56449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8376" name="Rectangle 8"/>
          <p:cNvSpPr>
            <a:spLocks noChangeArrowheads="1"/>
          </p:cNvSpPr>
          <p:nvPr/>
        </p:nvSpPr>
        <p:spPr bwMode="auto">
          <a:xfrm>
            <a:off x="1981200" y="539496"/>
            <a:ext cx="762000" cy="609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488" tIns="44450" rIns="90488" bIns="4445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C0C0C0"/>
                </a:outerShdw>
              </a:effectLst>
              <a:latin typeface="Liberation Sans" panose="020B0604020202020204" pitchFamily="34" charset="0"/>
            </a:endParaRPr>
          </a:p>
        </p:txBody>
      </p:sp>
      <p:sp>
        <p:nvSpPr>
          <p:cNvPr id="60422" name="Rectangle 11"/>
          <p:cNvSpPr>
            <a:spLocks noChangeArrowheads="1"/>
          </p:cNvSpPr>
          <p:nvPr/>
        </p:nvSpPr>
        <p:spPr bwMode="auto">
          <a:xfrm>
            <a:off x="2057401" y="5678170"/>
            <a:ext cx="4153535" cy="645160"/>
          </a:xfrm>
          <a:prstGeom prst="rect">
            <a:avLst/>
          </a:prstGeom>
          <a:solidFill>
            <a:schemeClr val="bg1"/>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just"/>
            <a:r>
              <a:rPr lang="en-US" altLang="en-US" sz="1200" dirty="0">
                <a:solidFill>
                  <a:schemeClr val="tx1"/>
                </a:solidFill>
                <a:latin typeface="Liberation Sans" panose="020B0604020202020204" pitchFamily="34" charset="0"/>
              </a:rPr>
              <a:t>Illustration 3-27  </a:t>
            </a:r>
          </a:p>
          <a:p>
            <a:pPr algn="just"/>
            <a:r>
              <a:rPr lang="en-US" altLang="en-US" sz="1200" b="0" dirty="0">
                <a:solidFill>
                  <a:schemeClr val="tx1"/>
                </a:solidFill>
                <a:latin typeface="Liberation Sans" panose="020B0604020202020204" pitchFamily="34" charset="0"/>
              </a:rPr>
              <a:t>Preparation of the balance sheet from the adjusted trial balance</a:t>
            </a:r>
          </a:p>
        </p:txBody>
      </p:sp>
      <p:sp>
        <p:nvSpPr>
          <p:cNvPr id="5"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4</a:t>
            </a:r>
          </a:p>
        </p:txBody>
      </p:sp>
    </p:spTree>
    <p:extLst>
      <p:ext uri="{BB962C8B-B14F-4D97-AF65-F5344CB8AC3E}">
        <p14:creationId xmlns:p14="http://schemas.microsoft.com/office/powerpoint/2010/main" val="42869301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Line 29"/>
          <p:cNvSpPr>
            <a:spLocks noChangeShapeType="1"/>
          </p:cNvSpPr>
          <p:nvPr/>
        </p:nvSpPr>
        <p:spPr bwMode="auto">
          <a:xfrm>
            <a:off x="1814286" y="784325"/>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572"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17"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286" y="357189"/>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8"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4858"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9"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7473" y="571502"/>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0" name="TextBox 19"/>
          <p:cNvSpPr txBox="1"/>
          <p:nvPr/>
        </p:nvSpPr>
        <p:spPr>
          <a:xfrm>
            <a:off x="3991429" y="428625"/>
            <a:ext cx="435429" cy="641336"/>
          </a:xfrm>
          <a:prstGeom prst="rect">
            <a:avLst/>
          </a:prstGeom>
          <a:noFill/>
        </p:spPr>
        <p:txBody>
          <a:bodyPr wrap="square" lIns="86493" tIns="43247" rIns="86493" bIns="43247" rtlCol="0">
            <a:spAutoFit/>
          </a:bodyPr>
          <a:lstStyle/>
          <a:p>
            <a:r>
              <a:rPr lang="en-US" sz="3600" b="1" dirty="0">
                <a:solidFill>
                  <a:srgbClr val="FF9900"/>
                </a:solidFill>
                <a:latin typeface="Liberation Sans" panose="020B0604020202020204" pitchFamily="34" charset="0"/>
              </a:rPr>
              <a:t>4</a:t>
            </a:r>
          </a:p>
        </p:txBody>
      </p:sp>
      <p:sp>
        <p:nvSpPr>
          <p:cNvPr id="21" name="TextBox 20"/>
          <p:cNvSpPr txBox="1"/>
          <p:nvPr/>
        </p:nvSpPr>
        <p:spPr>
          <a:xfrm>
            <a:off x="4862287" y="508910"/>
            <a:ext cx="5515429" cy="519373"/>
          </a:xfrm>
          <a:prstGeom prst="rect">
            <a:avLst/>
          </a:prstGeom>
          <a:noFill/>
        </p:spPr>
        <p:txBody>
          <a:bodyPr wrap="square" lIns="86493" tIns="43247" rIns="86493" bIns="43247" rtlCol="0">
            <a:spAutoFit/>
          </a:bodyPr>
          <a:lstStyle/>
          <a:p>
            <a:pPr marL="111125"/>
            <a:r>
              <a:rPr lang="en-US" sz="2800" b="1" dirty="0">
                <a:solidFill>
                  <a:schemeClr val="bg1"/>
                </a:solidFill>
                <a:latin typeface="Liberation Sans" panose="020B0604020202020204" pitchFamily="34" charset="0"/>
              </a:rPr>
              <a:t>Trial Balance</a:t>
            </a:r>
          </a:p>
        </p:txBody>
      </p:sp>
      <p:pic>
        <p:nvPicPr>
          <p:cNvPr id="2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1981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5" name="TextBox 24"/>
          <p:cNvSpPr txBox="1"/>
          <p:nvPr/>
        </p:nvSpPr>
        <p:spPr>
          <a:xfrm>
            <a:off x="1828800" y="381000"/>
            <a:ext cx="2209800" cy="738664"/>
          </a:xfrm>
          <a:prstGeom prst="rect">
            <a:avLst/>
          </a:prstGeom>
          <a:noFill/>
        </p:spPr>
        <p:txBody>
          <a:bodyPr wrap="square" rtlCol="0">
            <a:spAutoFit/>
          </a:bodyPr>
          <a:lstStyle/>
          <a:p>
            <a:r>
              <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rPr>
              <a:t>DO IT!</a:t>
            </a:r>
          </a:p>
        </p:txBody>
      </p:sp>
      <p:pic>
        <p:nvPicPr>
          <p:cNvPr id="2"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1" y="1259300"/>
            <a:ext cx="8621486" cy="4531900"/>
          </a:xfrm>
          <a:prstGeom prst="rect">
            <a:avLst/>
          </a:prstGeom>
          <a:noFill/>
          <a:ln w="9525">
            <a:noFill/>
            <a:miter lim="800000"/>
            <a:headEnd/>
            <a:tailEnd/>
          </a:ln>
          <a:extLst>
            <a:ext uri="{909E8E84-426E-40DD-AFC4-6F175D3DCCD1}">
              <a14:hiddenFill xmlns:a14="http://schemas.microsoft.com/office/drawing/2010/main">
                <a:solidFill>
                  <a:schemeClr val="accent1"/>
                </a:solidFill>
              </a14:hiddenFill>
            </a:ext>
          </a:extLst>
        </p:spPr>
      </p:pic>
      <p:sp>
        <p:nvSpPr>
          <p:cNvPr id="3" name="Rectangle 2"/>
          <p:cNvSpPr/>
          <p:nvPr/>
        </p:nvSpPr>
        <p:spPr>
          <a:xfrm>
            <a:off x="2362200" y="5791201"/>
            <a:ext cx="8015515" cy="904863"/>
          </a:xfrm>
          <a:prstGeom prst="rect">
            <a:avLst/>
          </a:prstGeom>
        </p:spPr>
        <p:txBody>
          <a:bodyPr wrap="square">
            <a:spAutoFit/>
          </a:bodyPr>
          <a:lstStyle/>
          <a:p>
            <a:pPr>
              <a:lnSpc>
                <a:spcPct val="110000"/>
              </a:lnSpc>
            </a:pPr>
            <a:r>
              <a:rPr lang="en-US" sz="1600" dirty="0">
                <a:latin typeface="Liberation Sans" panose="020B0604020202020204" pitchFamily="34" charset="0"/>
              </a:rPr>
              <a:t>(a) Determine the net income for the quarter April 1 to June 30.</a:t>
            </a:r>
          </a:p>
          <a:p>
            <a:pPr>
              <a:lnSpc>
                <a:spcPct val="110000"/>
              </a:lnSpc>
            </a:pPr>
            <a:r>
              <a:rPr lang="en-US" sz="1600" dirty="0">
                <a:latin typeface="Liberation Sans" panose="020B0604020202020204" pitchFamily="34" charset="0"/>
              </a:rPr>
              <a:t>(b) Determine the total assets and total liabilities at June 30, 2017, for Skolnick Co.</a:t>
            </a:r>
          </a:p>
          <a:p>
            <a:pPr>
              <a:lnSpc>
                <a:spcPct val="110000"/>
              </a:lnSpc>
            </a:pPr>
            <a:r>
              <a:rPr lang="en-US" sz="1600" dirty="0">
                <a:latin typeface="Liberation Sans" panose="020B0604020202020204" pitchFamily="34" charset="0"/>
              </a:rPr>
              <a:t>(c) Determine the amount of owner’s capital at June 30, 2017.</a:t>
            </a:r>
          </a:p>
        </p:txBody>
      </p:sp>
      <p:sp>
        <p:nvSpPr>
          <p:cNvPr id="14"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4</a:t>
            </a:r>
          </a:p>
        </p:txBody>
      </p:sp>
    </p:spTree>
    <p:extLst>
      <p:ext uri="{BB962C8B-B14F-4D97-AF65-F5344CB8AC3E}">
        <p14:creationId xmlns:p14="http://schemas.microsoft.com/office/powerpoint/2010/main" val="3520898649"/>
      </p:ext>
    </p:extLst>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Line 29"/>
          <p:cNvSpPr>
            <a:spLocks noChangeShapeType="1"/>
          </p:cNvSpPr>
          <p:nvPr/>
        </p:nvSpPr>
        <p:spPr bwMode="auto">
          <a:xfrm>
            <a:off x="1814286" y="784325"/>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572"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17"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286" y="357189"/>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8"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4858"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9"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7473" y="571502"/>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0" name="TextBox 19"/>
          <p:cNvSpPr txBox="1"/>
          <p:nvPr/>
        </p:nvSpPr>
        <p:spPr>
          <a:xfrm>
            <a:off x="3991429" y="428625"/>
            <a:ext cx="435429" cy="641336"/>
          </a:xfrm>
          <a:prstGeom prst="rect">
            <a:avLst/>
          </a:prstGeom>
          <a:noFill/>
        </p:spPr>
        <p:txBody>
          <a:bodyPr wrap="square" lIns="86493" tIns="43247" rIns="86493" bIns="43247" rtlCol="0">
            <a:spAutoFit/>
          </a:bodyPr>
          <a:lstStyle/>
          <a:p>
            <a:r>
              <a:rPr lang="en-US" sz="3600" b="1" dirty="0">
                <a:solidFill>
                  <a:srgbClr val="FF9900"/>
                </a:solidFill>
                <a:latin typeface="Liberation Sans" panose="020B0604020202020204" pitchFamily="34" charset="0"/>
              </a:rPr>
              <a:t>4</a:t>
            </a:r>
          </a:p>
        </p:txBody>
      </p:sp>
      <p:sp>
        <p:nvSpPr>
          <p:cNvPr id="21" name="TextBox 20"/>
          <p:cNvSpPr txBox="1"/>
          <p:nvPr/>
        </p:nvSpPr>
        <p:spPr>
          <a:xfrm>
            <a:off x="4862287" y="508910"/>
            <a:ext cx="5515429" cy="519373"/>
          </a:xfrm>
          <a:prstGeom prst="rect">
            <a:avLst/>
          </a:prstGeom>
          <a:noFill/>
        </p:spPr>
        <p:txBody>
          <a:bodyPr wrap="square" lIns="86493" tIns="43247" rIns="86493" bIns="43247" rtlCol="0">
            <a:spAutoFit/>
          </a:bodyPr>
          <a:lstStyle/>
          <a:p>
            <a:pPr marL="111125"/>
            <a:r>
              <a:rPr lang="en-US" sz="2800" b="1" dirty="0">
                <a:solidFill>
                  <a:schemeClr val="bg1"/>
                </a:solidFill>
                <a:latin typeface="Liberation Sans" panose="020B0604020202020204" pitchFamily="34" charset="0"/>
              </a:rPr>
              <a:t>Trial Balance</a:t>
            </a:r>
          </a:p>
        </p:txBody>
      </p:sp>
      <p:pic>
        <p:nvPicPr>
          <p:cNvPr id="2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1981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5" name="TextBox 24"/>
          <p:cNvSpPr txBox="1"/>
          <p:nvPr/>
        </p:nvSpPr>
        <p:spPr>
          <a:xfrm>
            <a:off x="1828800" y="381000"/>
            <a:ext cx="2209800" cy="738664"/>
          </a:xfrm>
          <a:prstGeom prst="rect">
            <a:avLst/>
          </a:prstGeom>
          <a:noFill/>
        </p:spPr>
        <p:txBody>
          <a:bodyPr wrap="square" rtlCol="0">
            <a:spAutoFit/>
          </a:bodyPr>
          <a:lstStyle/>
          <a:p>
            <a:r>
              <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rPr>
              <a:t>DO IT!</a:t>
            </a:r>
          </a:p>
        </p:txBody>
      </p:sp>
      <p:pic>
        <p:nvPicPr>
          <p:cNvPr id="4098"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1371600"/>
            <a:ext cx="8575385"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4</a:t>
            </a:r>
          </a:p>
        </p:txBody>
      </p:sp>
    </p:spTree>
    <p:extLst>
      <p:ext uri="{BB962C8B-B14F-4D97-AF65-F5344CB8AC3E}">
        <p14:creationId xmlns:p14="http://schemas.microsoft.com/office/powerpoint/2010/main" val="1501684171"/>
      </p:ext>
    </p:extLst>
  </p:cSld>
  <p:clrMapOvr>
    <a:masterClrMapping/>
  </p:clrMapOvr>
  <p:transition>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Line 29"/>
          <p:cNvSpPr>
            <a:spLocks noChangeShapeType="1"/>
          </p:cNvSpPr>
          <p:nvPr/>
        </p:nvSpPr>
        <p:spPr bwMode="auto">
          <a:xfrm>
            <a:off x="1814286" y="784325"/>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572"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17"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286" y="357189"/>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8"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4858"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9"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7473" y="571502"/>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0" name="TextBox 19"/>
          <p:cNvSpPr txBox="1"/>
          <p:nvPr/>
        </p:nvSpPr>
        <p:spPr>
          <a:xfrm>
            <a:off x="3991429" y="428625"/>
            <a:ext cx="435429" cy="641336"/>
          </a:xfrm>
          <a:prstGeom prst="rect">
            <a:avLst/>
          </a:prstGeom>
          <a:noFill/>
        </p:spPr>
        <p:txBody>
          <a:bodyPr wrap="square" lIns="86493" tIns="43247" rIns="86493" bIns="43247" rtlCol="0">
            <a:spAutoFit/>
          </a:bodyPr>
          <a:lstStyle/>
          <a:p>
            <a:r>
              <a:rPr lang="en-US" sz="3600" b="1" dirty="0">
                <a:solidFill>
                  <a:srgbClr val="FF9900"/>
                </a:solidFill>
                <a:latin typeface="Liberation Sans" panose="020B0604020202020204" pitchFamily="34" charset="0"/>
              </a:rPr>
              <a:t>4</a:t>
            </a:r>
          </a:p>
        </p:txBody>
      </p:sp>
      <p:sp>
        <p:nvSpPr>
          <p:cNvPr id="21" name="TextBox 20"/>
          <p:cNvSpPr txBox="1"/>
          <p:nvPr/>
        </p:nvSpPr>
        <p:spPr>
          <a:xfrm>
            <a:off x="4862287" y="508910"/>
            <a:ext cx="5515429" cy="519373"/>
          </a:xfrm>
          <a:prstGeom prst="rect">
            <a:avLst/>
          </a:prstGeom>
          <a:noFill/>
        </p:spPr>
        <p:txBody>
          <a:bodyPr wrap="square" lIns="86493" tIns="43247" rIns="86493" bIns="43247" rtlCol="0">
            <a:spAutoFit/>
          </a:bodyPr>
          <a:lstStyle/>
          <a:p>
            <a:pPr marL="111125"/>
            <a:r>
              <a:rPr lang="en-US" sz="2800" b="1" dirty="0">
                <a:solidFill>
                  <a:schemeClr val="bg1"/>
                </a:solidFill>
                <a:latin typeface="Liberation Sans" panose="020B0604020202020204" pitchFamily="34" charset="0"/>
              </a:rPr>
              <a:t>Trial Balance</a:t>
            </a:r>
          </a:p>
        </p:txBody>
      </p:sp>
      <p:pic>
        <p:nvPicPr>
          <p:cNvPr id="2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1981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5" name="TextBox 24"/>
          <p:cNvSpPr txBox="1"/>
          <p:nvPr/>
        </p:nvSpPr>
        <p:spPr>
          <a:xfrm>
            <a:off x="1828800" y="381000"/>
            <a:ext cx="2209800" cy="738664"/>
          </a:xfrm>
          <a:prstGeom prst="rect">
            <a:avLst/>
          </a:prstGeom>
          <a:noFill/>
        </p:spPr>
        <p:txBody>
          <a:bodyPr wrap="square" rtlCol="0">
            <a:spAutoFit/>
          </a:bodyPr>
          <a:lstStyle/>
          <a:p>
            <a:r>
              <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rPr>
              <a:t>DO IT!</a:t>
            </a:r>
          </a:p>
        </p:txBody>
      </p:sp>
      <p:pic>
        <p:nvPicPr>
          <p:cNvPr id="4098"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1371600"/>
            <a:ext cx="8575385"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bwMode="auto">
          <a:xfrm>
            <a:off x="1981200" y="4648200"/>
            <a:ext cx="8221154" cy="1600200"/>
          </a:xfrm>
          <a:prstGeom prst="rect">
            <a:avLst/>
          </a:prstGeom>
          <a:solidFill>
            <a:schemeClr val="bg1"/>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algn="ctr" defTabSz="914400" eaLnBrk="0" fontAlgn="base" hangingPunct="0">
              <a:spcBef>
                <a:spcPct val="0"/>
              </a:spcBef>
              <a:spcAft>
                <a:spcPct val="0"/>
              </a:spcAft>
            </a:pPr>
            <a:endParaRPr lang="en-US" sz="2400" dirty="0">
              <a:latin typeface="Liberation Sans" panose="020B0604020202020204" pitchFamily="34" charset="0"/>
            </a:endParaRPr>
          </a:p>
        </p:txBody>
      </p:sp>
      <p:pic>
        <p:nvPicPr>
          <p:cNvPr id="1027"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35480" y="1828801"/>
            <a:ext cx="8266874" cy="32782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4</a:t>
            </a:r>
          </a:p>
        </p:txBody>
      </p:sp>
    </p:spTree>
    <p:extLst>
      <p:ext uri="{BB962C8B-B14F-4D97-AF65-F5344CB8AC3E}">
        <p14:creationId xmlns:p14="http://schemas.microsoft.com/office/powerpoint/2010/main" val="846661310"/>
      </p:ext>
    </p:extLst>
  </p:cSld>
  <p:clrMapOvr>
    <a:masterClrMapping/>
  </p:clrMapOvr>
  <p:transition>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Line 29"/>
          <p:cNvSpPr>
            <a:spLocks noChangeShapeType="1"/>
          </p:cNvSpPr>
          <p:nvPr/>
        </p:nvSpPr>
        <p:spPr bwMode="auto">
          <a:xfrm>
            <a:off x="1814286" y="784325"/>
            <a:ext cx="8636000" cy="1489"/>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outerShdw>
                </a:effectLst>
              </a14:hiddenEffects>
            </a:ext>
          </a:extLst>
        </p:spPr>
        <p:txBody>
          <a:bodyPr lIns="85593" tIns="42045" rIns="85593" bIns="42045"/>
          <a:lstStyle/>
          <a:p>
            <a:endParaRPr lang="en-US" dirty="0">
              <a:latin typeface="Liberation Sans" panose="020B0604020202020204" pitchFamily="34" charset="0"/>
            </a:endParaRPr>
          </a:p>
        </p:txBody>
      </p:sp>
      <p:pic>
        <p:nvPicPr>
          <p:cNvPr id="16"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4572" y="395883"/>
            <a:ext cx="1669143" cy="6042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pic>
        <p:nvPicPr>
          <p:cNvPr id="17"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4286" y="357189"/>
            <a:ext cx="8636000" cy="8234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8"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4858" y="586815"/>
            <a:ext cx="3144567" cy="413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pic>
        <p:nvPicPr>
          <p:cNvPr id="19"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7473" y="571502"/>
            <a:ext cx="409385" cy="3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Lst>
        </p:spPr>
      </p:pic>
      <p:sp>
        <p:nvSpPr>
          <p:cNvPr id="20" name="TextBox 19"/>
          <p:cNvSpPr txBox="1"/>
          <p:nvPr/>
        </p:nvSpPr>
        <p:spPr>
          <a:xfrm>
            <a:off x="3991429" y="428625"/>
            <a:ext cx="435429" cy="641336"/>
          </a:xfrm>
          <a:prstGeom prst="rect">
            <a:avLst/>
          </a:prstGeom>
          <a:noFill/>
        </p:spPr>
        <p:txBody>
          <a:bodyPr wrap="square" lIns="86493" tIns="43247" rIns="86493" bIns="43247" rtlCol="0">
            <a:spAutoFit/>
          </a:bodyPr>
          <a:lstStyle/>
          <a:p>
            <a:r>
              <a:rPr lang="en-US" sz="3600" b="1" dirty="0">
                <a:solidFill>
                  <a:srgbClr val="FF9900"/>
                </a:solidFill>
                <a:latin typeface="Liberation Sans" panose="020B0604020202020204" pitchFamily="34" charset="0"/>
              </a:rPr>
              <a:t>4</a:t>
            </a:r>
          </a:p>
        </p:txBody>
      </p:sp>
      <p:sp>
        <p:nvSpPr>
          <p:cNvPr id="21" name="TextBox 20"/>
          <p:cNvSpPr txBox="1"/>
          <p:nvPr/>
        </p:nvSpPr>
        <p:spPr>
          <a:xfrm>
            <a:off x="4862287" y="508910"/>
            <a:ext cx="5515429" cy="519373"/>
          </a:xfrm>
          <a:prstGeom prst="rect">
            <a:avLst/>
          </a:prstGeom>
          <a:noFill/>
        </p:spPr>
        <p:txBody>
          <a:bodyPr wrap="square" lIns="86493" tIns="43247" rIns="86493" bIns="43247" rtlCol="0">
            <a:spAutoFit/>
          </a:bodyPr>
          <a:lstStyle/>
          <a:p>
            <a:pPr marL="111125"/>
            <a:r>
              <a:rPr lang="en-US" sz="2800" b="1" dirty="0">
                <a:solidFill>
                  <a:schemeClr val="bg1"/>
                </a:solidFill>
                <a:latin typeface="Liberation Sans" panose="020B0604020202020204" pitchFamily="34" charset="0"/>
              </a:rPr>
              <a:t>Trial Balance</a:t>
            </a:r>
          </a:p>
        </p:txBody>
      </p:sp>
      <p:pic>
        <p:nvPicPr>
          <p:cNvPr id="2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flipV="1">
            <a:off x="1981200" y="501930"/>
            <a:ext cx="1600200" cy="564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Lst>
        </p:spPr>
      </p:pic>
      <p:sp>
        <p:nvSpPr>
          <p:cNvPr id="25" name="TextBox 24"/>
          <p:cNvSpPr txBox="1"/>
          <p:nvPr/>
        </p:nvSpPr>
        <p:spPr>
          <a:xfrm>
            <a:off x="1828800" y="381000"/>
            <a:ext cx="2209800" cy="738664"/>
          </a:xfrm>
          <a:prstGeom prst="rect">
            <a:avLst/>
          </a:prstGeom>
          <a:noFill/>
        </p:spPr>
        <p:txBody>
          <a:bodyPr wrap="square" rtlCol="0">
            <a:spAutoFit/>
          </a:bodyPr>
          <a:lstStyle/>
          <a:p>
            <a:r>
              <a:rPr lang="en-US" sz="4200" b="1" dirty="0">
                <a:solidFill>
                  <a:srgbClr val="FF9900"/>
                </a:solidFill>
                <a:effectLst>
                  <a:outerShdw blurRad="38100" dist="38100" dir="2700000" algn="tl">
                    <a:srgbClr val="000000">
                      <a:alpha val="43137"/>
                    </a:srgbClr>
                  </a:outerShdw>
                </a:effectLst>
                <a:latin typeface="Liberation Sans" panose="020B0604020202020204" pitchFamily="34" charset="0"/>
              </a:rPr>
              <a:t>DO IT!</a:t>
            </a:r>
          </a:p>
        </p:txBody>
      </p:sp>
      <p:pic>
        <p:nvPicPr>
          <p:cNvPr id="4098"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1371600"/>
            <a:ext cx="8575385"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35480" y="1828801"/>
            <a:ext cx="8266874" cy="32782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72056" y="1810512"/>
            <a:ext cx="8221154" cy="15382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bwMode="auto">
          <a:xfrm>
            <a:off x="1981200" y="3348804"/>
            <a:ext cx="8221154" cy="2899596"/>
          </a:xfrm>
          <a:prstGeom prst="rect">
            <a:avLst/>
          </a:prstGeom>
          <a:solidFill>
            <a:schemeClr val="bg1"/>
          </a:solidFill>
          <a:ln w="12700" cap="sq" cmpd="sng" algn="ctr">
            <a:noFill/>
            <a:prstDash val="solid"/>
            <a:round/>
            <a:headEnd type="none" w="sm" len="sm"/>
            <a:tailEnd type="none" w="sm" len="sm"/>
          </a:ln>
          <a:effectLst/>
        </p:spPr>
        <p:txBody>
          <a:bodyPr vert="horz" wrap="square" lIns="91440" tIns="45720" rIns="91440" bIns="45720" numCol="1" rtlCol="0" anchor="t" anchorCtr="0" compatLnSpc="1"/>
          <a:lstStyle/>
          <a:p>
            <a:pPr algn="ctr" defTabSz="914400" eaLnBrk="0" fontAlgn="base" hangingPunct="0">
              <a:spcBef>
                <a:spcPct val="0"/>
              </a:spcBef>
              <a:spcAft>
                <a:spcPct val="0"/>
              </a:spcAft>
            </a:pPr>
            <a:endParaRPr lang="en-US" sz="2400" dirty="0">
              <a:latin typeface="Liberation Sans" panose="020B0604020202020204" pitchFamily="34" charset="0"/>
            </a:endParaRPr>
          </a:p>
        </p:txBody>
      </p:sp>
      <p:sp>
        <p:nvSpPr>
          <p:cNvPr id="22"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4</a:t>
            </a:r>
          </a:p>
        </p:txBody>
      </p:sp>
    </p:spTree>
    <p:extLst>
      <p:ext uri="{BB962C8B-B14F-4D97-AF65-F5344CB8AC3E}">
        <p14:creationId xmlns:p14="http://schemas.microsoft.com/office/powerpoint/2010/main" val="1597729362"/>
      </p:ext>
    </p:extLst>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2133600" y="2133601"/>
            <a:ext cx="7620000" cy="1954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marL="457200" indent="-4572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688975">
              <a:lnSpc>
                <a:spcPct val="120000"/>
              </a:lnSpc>
              <a:spcBef>
                <a:spcPct val="70000"/>
              </a:spcBef>
              <a:buSzPct val="100000"/>
              <a:buFont typeface="+mj-lt"/>
              <a:buAutoNum type="arabicPeriod"/>
            </a:pPr>
            <a:r>
              <a:rPr lang="en-US" altLang="en-US" sz="2200" b="0" dirty="0">
                <a:solidFill>
                  <a:schemeClr val="tx1"/>
                </a:solidFill>
                <a:latin typeface="Liberation Sans" panose="020B0604020202020204" pitchFamily="34" charset="0"/>
              </a:rPr>
              <a:t>When a company prepays an expense, it </a:t>
            </a:r>
            <a:r>
              <a:rPr lang="en-US" altLang="en-US" sz="2200" dirty="0">
                <a:solidFill>
                  <a:schemeClr val="tx1"/>
                </a:solidFill>
                <a:latin typeface="Liberation Sans" panose="020B0604020202020204" pitchFamily="34" charset="0"/>
              </a:rPr>
              <a:t>debits</a:t>
            </a:r>
            <a:r>
              <a:rPr lang="en-US" altLang="en-US" sz="2200" b="0" dirty="0">
                <a:solidFill>
                  <a:schemeClr val="tx1"/>
                </a:solidFill>
                <a:latin typeface="Liberation Sans" panose="020B0604020202020204" pitchFamily="34" charset="0"/>
              </a:rPr>
              <a:t> that amount to </a:t>
            </a:r>
            <a:r>
              <a:rPr lang="en-US" altLang="en-US" sz="2200" dirty="0">
                <a:solidFill>
                  <a:schemeClr val="tx1"/>
                </a:solidFill>
                <a:latin typeface="Liberation Sans" panose="020B0604020202020204" pitchFamily="34" charset="0"/>
              </a:rPr>
              <a:t>an expense account</a:t>
            </a:r>
            <a:r>
              <a:rPr lang="en-US" altLang="en-US" sz="2200" b="0" dirty="0">
                <a:solidFill>
                  <a:schemeClr val="tx1"/>
                </a:solidFill>
                <a:latin typeface="Liberation Sans" panose="020B0604020202020204" pitchFamily="34" charset="0"/>
              </a:rPr>
              <a:t>.</a:t>
            </a:r>
          </a:p>
          <a:p>
            <a:pPr marL="688975">
              <a:lnSpc>
                <a:spcPct val="120000"/>
              </a:lnSpc>
              <a:spcBef>
                <a:spcPct val="70000"/>
              </a:spcBef>
              <a:buSzPct val="100000"/>
              <a:buFont typeface="+mj-lt"/>
              <a:buAutoNum type="arabicPeriod"/>
            </a:pPr>
            <a:r>
              <a:rPr lang="en-US" altLang="en-US" sz="2200" b="0" dirty="0">
                <a:solidFill>
                  <a:schemeClr val="tx1"/>
                </a:solidFill>
                <a:latin typeface="Liberation Sans" panose="020B0604020202020204" pitchFamily="34" charset="0"/>
              </a:rPr>
              <a:t>When it receives payment for future services, it </a:t>
            </a:r>
            <a:r>
              <a:rPr lang="en-US" altLang="en-US" sz="2200" dirty="0">
                <a:solidFill>
                  <a:schemeClr val="tx1"/>
                </a:solidFill>
                <a:latin typeface="Liberation Sans" panose="020B0604020202020204" pitchFamily="34" charset="0"/>
              </a:rPr>
              <a:t>credits</a:t>
            </a:r>
            <a:r>
              <a:rPr lang="en-US" altLang="en-US" sz="2200" b="0" dirty="0">
                <a:solidFill>
                  <a:schemeClr val="tx1"/>
                </a:solidFill>
                <a:latin typeface="Liberation Sans" panose="020B0604020202020204" pitchFamily="34" charset="0"/>
              </a:rPr>
              <a:t> the amount to </a:t>
            </a:r>
            <a:r>
              <a:rPr lang="en-US" altLang="en-US" sz="2200" dirty="0">
                <a:solidFill>
                  <a:schemeClr val="tx1"/>
                </a:solidFill>
                <a:latin typeface="Liberation Sans" panose="020B0604020202020204" pitchFamily="34" charset="0"/>
              </a:rPr>
              <a:t>a revenue account</a:t>
            </a:r>
            <a:r>
              <a:rPr lang="en-US" altLang="en-US" sz="2200" b="0" dirty="0">
                <a:solidFill>
                  <a:schemeClr val="tx1"/>
                </a:solidFill>
                <a:latin typeface="Liberation Sans" panose="020B0604020202020204" pitchFamily="34" charset="0"/>
              </a:rPr>
              <a:t>.</a:t>
            </a:r>
          </a:p>
        </p:txBody>
      </p:sp>
      <p:sp>
        <p:nvSpPr>
          <p:cNvPr id="8" name="Rectangle 7"/>
          <p:cNvSpPr>
            <a:spLocks noChangeArrowheads="1"/>
          </p:cNvSpPr>
          <p:nvPr/>
        </p:nvSpPr>
        <p:spPr bwMode="auto">
          <a:xfrm>
            <a:off x="1814286" y="405765"/>
            <a:ext cx="2249714" cy="677228"/>
          </a:xfrm>
          <a:prstGeom prst="rect">
            <a:avLst/>
          </a:prstGeom>
          <a:solidFill>
            <a:schemeClr val="bg1">
              <a:lumMod val="85000"/>
            </a:schemeClr>
          </a:solidFill>
          <a:ln>
            <a:noFill/>
          </a:ln>
          <a:effectLst/>
        </p:spPr>
        <p:txBody>
          <a:bodyPr wrap="none" lIns="86493" tIns="43247" rIns="86493" bIns="43247" anchor="ctr"/>
          <a:lstStyle/>
          <a:p>
            <a:r>
              <a:rPr lang="en-US" altLang="en-US" sz="1700" dirty="0">
                <a:latin typeface="Liberation Sans" panose="020B0604020202020204" pitchFamily="34" charset="0"/>
              </a:rPr>
              <a:t>LEARNING</a:t>
            </a:r>
          </a:p>
          <a:p>
            <a:r>
              <a:rPr lang="en-US" altLang="en-US" sz="1700" dirty="0">
                <a:latin typeface="Liberation Sans" panose="020B0604020202020204" pitchFamily="34" charset="0"/>
              </a:rPr>
              <a:t>OBJECTIVE</a:t>
            </a:r>
          </a:p>
        </p:txBody>
      </p:sp>
      <p:sp>
        <p:nvSpPr>
          <p:cNvPr id="9" name="Rectangle 5"/>
          <p:cNvSpPr>
            <a:spLocks noChangeArrowheads="1"/>
          </p:cNvSpPr>
          <p:nvPr/>
        </p:nvSpPr>
        <p:spPr bwMode="auto">
          <a:xfrm>
            <a:off x="4064001" y="457200"/>
            <a:ext cx="6241143" cy="928688"/>
          </a:xfrm>
          <a:prstGeom prst="rect">
            <a:avLst/>
          </a:prstGeom>
          <a:solidFill>
            <a:srgbClr val="0027A4"/>
          </a:solidFill>
          <a:ln>
            <a:noFill/>
          </a:ln>
          <a:effectLst/>
        </p:spPr>
        <p:txBody>
          <a:bodyPr wrap="square" tIns="27432" anchor="ctr"/>
          <a:lstStyle/>
          <a:p>
            <a:pPr marL="53975">
              <a:spcBef>
                <a:spcPct val="50000"/>
              </a:spcBef>
            </a:pPr>
            <a:r>
              <a:rPr lang="en-US" altLang="en-US" sz="2300" dirty="0">
                <a:latin typeface="Liberation Sans" panose="020B0604020202020204" pitchFamily="34" charset="0"/>
              </a:rPr>
              <a:t>APPENDIX 3A: Prepare adjusting entries for the alternative treatment of deferrals.</a:t>
            </a:r>
          </a:p>
        </p:txBody>
      </p:sp>
      <p:sp>
        <p:nvSpPr>
          <p:cNvPr id="10" name="Oval 9"/>
          <p:cNvSpPr/>
          <p:nvPr/>
        </p:nvSpPr>
        <p:spPr bwMode="auto">
          <a:xfrm>
            <a:off x="3396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86493" tIns="0" rIns="86493" bIns="43247" numCol="1" spcCol="0" rtlCol="0" fromWordArt="0" anchor="ctr" anchorCtr="0" forceAA="0" compatLnSpc="1">
            <a:noAutofit/>
          </a:bodyPr>
          <a:lstStyle/>
          <a:p>
            <a:pPr algn="ctr"/>
            <a:r>
              <a:rPr lang="en-US" sz="2400" dirty="0">
                <a:latin typeface="Liberation Sans" panose="020B0604020202020204" pitchFamily="34" charset="0"/>
              </a:rPr>
              <a:t>5</a:t>
            </a:r>
          </a:p>
        </p:txBody>
      </p:sp>
      <p:sp>
        <p:nvSpPr>
          <p:cNvPr id="11" name="Text Box 2"/>
          <p:cNvSpPr txBox="1">
            <a:spLocks noChangeArrowheads="1"/>
          </p:cNvSpPr>
          <p:nvPr/>
        </p:nvSpPr>
        <p:spPr bwMode="auto">
          <a:xfrm>
            <a:off x="2133600" y="1457980"/>
            <a:ext cx="78486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buClr>
                <a:srgbClr val="800000"/>
              </a:buClr>
              <a:buSzPct val="80000"/>
            </a:pPr>
            <a:r>
              <a:rPr lang="en-US" altLang="en-US" dirty="0">
                <a:solidFill>
                  <a:schemeClr val="tx1"/>
                </a:solidFill>
                <a:latin typeface="Liberation Sans" panose="020B0604020202020204" pitchFamily="34" charset="0"/>
              </a:rPr>
              <a:t>Alternate Treatment for Adjusting Entries</a:t>
            </a:r>
            <a:endParaRPr lang="en-US" altLang="en-US" sz="2100" b="0" dirty="0">
              <a:solidFill>
                <a:schemeClr val="tx1"/>
              </a:solidFill>
              <a:latin typeface="Liberation Sans" panose="020B0604020202020204" pitchFamily="34" charset="0"/>
            </a:endParaRPr>
          </a:p>
        </p:txBody>
      </p:sp>
      <p:sp>
        <p:nvSpPr>
          <p:cNvPr id="12"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5</a:t>
            </a:r>
          </a:p>
        </p:txBody>
      </p:sp>
    </p:spTree>
    <p:extLst>
      <p:ext uri="{BB962C8B-B14F-4D97-AF65-F5344CB8AC3E}">
        <p14:creationId xmlns:p14="http://schemas.microsoft.com/office/powerpoint/2010/main" val="13977955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Text Box 9"/>
          <p:cNvSpPr txBox="1">
            <a:spLocks noChangeArrowheads="1"/>
          </p:cNvSpPr>
          <p:nvPr/>
        </p:nvSpPr>
        <p:spPr bwMode="auto">
          <a:xfrm>
            <a:off x="8915400" y="2620962"/>
            <a:ext cx="1447800" cy="274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folHlink"/>
                </a:solidFill>
                <a:latin typeface="Liberation Sans" panose="020B0604020202020204" pitchFamily="34" charset="0"/>
              </a:rPr>
              <a:t>Illustration 3A-2</a:t>
            </a:r>
          </a:p>
        </p:txBody>
      </p:sp>
      <p:sp>
        <p:nvSpPr>
          <p:cNvPr id="62469" name="Rectangle 17"/>
          <p:cNvSpPr>
            <a:spLocks noChangeArrowheads="1"/>
          </p:cNvSpPr>
          <p:nvPr/>
        </p:nvSpPr>
        <p:spPr bwMode="auto">
          <a:xfrm>
            <a:off x="2133600" y="1295401"/>
            <a:ext cx="8229600" cy="1304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lvl1pPr marL="5715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3175">
              <a:lnSpc>
                <a:spcPct val="125000"/>
              </a:lnSpc>
              <a:spcBef>
                <a:spcPts val="1200"/>
              </a:spcBef>
              <a:buClr>
                <a:srgbClr val="800000"/>
              </a:buClr>
              <a:buSzPct val="80000"/>
            </a:pPr>
            <a:r>
              <a:rPr lang="en-US" altLang="en-US" sz="2100" b="0" dirty="0">
                <a:solidFill>
                  <a:schemeClr val="tx1"/>
                </a:solidFill>
                <a:latin typeface="Liberation Sans" panose="020B0604020202020204" pitchFamily="34" charset="0"/>
              </a:rPr>
              <a:t>Company may choose to </a:t>
            </a:r>
            <a:r>
              <a:rPr lang="en-US" altLang="en-US" sz="2100" dirty="0">
                <a:solidFill>
                  <a:schemeClr val="tx1"/>
                </a:solidFill>
                <a:latin typeface="Liberation Sans" panose="020B0604020202020204" pitchFamily="34" charset="0"/>
              </a:rPr>
              <a:t>debit (increase) an expense account</a:t>
            </a:r>
            <a:r>
              <a:rPr lang="en-US" altLang="en-US" sz="2100" b="0" dirty="0">
                <a:solidFill>
                  <a:schemeClr val="tx1"/>
                </a:solidFill>
                <a:latin typeface="Liberation Sans" panose="020B0604020202020204" pitchFamily="34" charset="0"/>
              </a:rPr>
              <a:t> rather than an asset account. This alternative treatment is simply more convenient.</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971800"/>
            <a:ext cx="8382000" cy="2048182"/>
          </a:xfrm>
          <a:prstGeom prst="rect">
            <a:avLst/>
          </a:prstGeom>
          <a:noFill/>
          <a:ln w="19050" cap="sq"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14" name="Line 4"/>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5" name="Rectangle 14"/>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Prepaid Expenses</a:t>
            </a:r>
          </a:p>
        </p:txBody>
      </p:sp>
      <p:sp>
        <p:nvSpPr>
          <p:cNvPr id="16"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5</a:t>
            </a:r>
          </a:p>
        </p:txBody>
      </p:sp>
    </p:spTree>
    <p:extLst>
      <p:ext uri="{BB962C8B-B14F-4D97-AF65-F5344CB8AC3E}">
        <p14:creationId xmlns:p14="http://schemas.microsoft.com/office/powerpoint/2010/main" val="33019511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9"/>
          <p:cNvSpPr txBox="1">
            <a:spLocks noChangeArrowheads="1"/>
          </p:cNvSpPr>
          <p:nvPr/>
        </p:nvSpPr>
        <p:spPr bwMode="auto">
          <a:xfrm>
            <a:off x="8915400" y="2163764"/>
            <a:ext cx="1447800" cy="274637"/>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folHlink"/>
                </a:solidFill>
                <a:latin typeface="Liberation Sans" panose="020B0604020202020204" pitchFamily="34" charset="0"/>
              </a:rPr>
              <a:t>Illustration 3A-5</a:t>
            </a:r>
          </a:p>
        </p:txBody>
      </p:sp>
      <p:sp>
        <p:nvSpPr>
          <p:cNvPr id="63493" name="Rectangle 7"/>
          <p:cNvSpPr>
            <a:spLocks noChangeArrowheads="1"/>
          </p:cNvSpPr>
          <p:nvPr/>
        </p:nvSpPr>
        <p:spPr bwMode="auto">
          <a:xfrm>
            <a:off x="2133600" y="1295400"/>
            <a:ext cx="8229600" cy="90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a:spAutoFit/>
          </a:bodyPr>
          <a:lstStyle/>
          <a:p>
            <a:pPr marL="3175">
              <a:lnSpc>
                <a:spcPct val="125000"/>
              </a:lnSpc>
              <a:spcBef>
                <a:spcPts val="1200"/>
              </a:spcBef>
              <a:buClr>
                <a:srgbClr val="800000"/>
              </a:buClr>
              <a:buSzPct val="80000"/>
            </a:pPr>
            <a:r>
              <a:rPr lang="en-US" altLang="en-US" sz="2100" dirty="0">
                <a:latin typeface="Liberation Sans" panose="020B0604020202020204" pitchFamily="34" charset="0"/>
              </a:rPr>
              <a:t>Company may credit (increase) a revenue account when they receive cash for future services.</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1" y="2514601"/>
            <a:ext cx="8400143" cy="2845763"/>
          </a:xfrm>
          <a:prstGeom prst="rect">
            <a:avLst/>
          </a:prstGeom>
          <a:noFill/>
          <a:ln w="19050" cap="sq"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15" name="Line 4"/>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6" name="Rectangle 15"/>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Unearned Revenues</a:t>
            </a:r>
          </a:p>
        </p:txBody>
      </p:sp>
      <p:sp>
        <p:nvSpPr>
          <p:cNvPr id="17"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5</a:t>
            </a:r>
          </a:p>
        </p:txBody>
      </p:sp>
    </p:spTree>
    <p:extLst>
      <p:ext uri="{BB962C8B-B14F-4D97-AF65-F5344CB8AC3E}">
        <p14:creationId xmlns:p14="http://schemas.microsoft.com/office/powerpoint/2010/main" val="20210514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Text Box 9"/>
          <p:cNvSpPr txBox="1">
            <a:spLocks noChangeArrowheads="1"/>
          </p:cNvSpPr>
          <p:nvPr/>
        </p:nvSpPr>
        <p:spPr bwMode="auto">
          <a:xfrm>
            <a:off x="8915400" y="1828801"/>
            <a:ext cx="1447800" cy="274637"/>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type="none" w="sm" len="sm"/>
                <a:tailEnd type="none" w="sm" len="sm"/>
              </a14:hiddenLine>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tx1"/>
                </a:solidFill>
                <a:latin typeface="Liberation Sans" panose="020B0604020202020204" pitchFamily="34" charset="0"/>
              </a:rPr>
              <a:t>Illustration 3A-7</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1" y="2179638"/>
            <a:ext cx="8400143" cy="2648387"/>
          </a:xfrm>
          <a:prstGeom prst="rect">
            <a:avLst/>
          </a:prstGeom>
          <a:noFill/>
          <a:ln w="19050" cap="sq"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14" name="Line 4"/>
          <p:cNvSpPr>
            <a:spLocks noChangeShapeType="1"/>
          </p:cNvSpPr>
          <p:nvPr/>
        </p:nvSpPr>
        <p:spPr bwMode="auto">
          <a:xfrm>
            <a:off x="1828800" y="15240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5" name="Rectangle 14"/>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t" anchorCtr="0" compatLnSpc="1"/>
          <a:lstStyle/>
          <a:p>
            <a:r>
              <a:rPr lang="en-US" altLang="en-US" sz="3200" dirty="0">
                <a:solidFill>
                  <a:schemeClr val="tx2">
                    <a:lumMod val="75000"/>
                  </a:schemeClr>
                </a:solidFill>
                <a:latin typeface="Liberation Sans" panose="020B0604020202020204" pitchFamily="34" charset="0"/>
              </a:rPr>
              <a:t>Summary of Additional Adjustments Relationships</a:t>
            </a:r>
          </a:p>
        </p:txBody>
      </p:sp>
      <p:sp>
        <p:nvSpPr>
          <p:cNvPr id="16"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5</a:t>
            </a:r>
          </a:p>
        </p:txBody>
      </p:sp>
    </p:spTree>
    <p:extLst>
      <p:ext uri="{BB962C8B-B14F-4D97-AF65-F5344CB8AC3E}">
        <p14:creationId xmlns:p14="http://schemas.microsoft.com/office/powerpoint/2010/main" val="37136732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5"/>
          <p:cNvSpPr>
            <a:spLocks noChangeArrowheads="1"/>
          </p:cNvSpPr>
          <p:nvPr/>
        </p:nvSpPr>
        <p:spPr bwMode="auto">
          <a:xfrm>
            <a:off x="2133600" y="2057400"/>
            <a:ext cx="8153400"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bg1"/>
                </a:solidFill>
                <a:latin typeface="Arial" panose="020B0604020202020204" pitchFamily="34" charset="0"/>
              </a:defRPr>
            </a:lvl1pPr>
            <a:lvl2pPr marL="690880" indent="-46228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5000"/>
              </a:lnSpc>
              <a:spcBef>
                <a:spcPts val="1200"/>
              </a:spcBef>
            </a:pPr>
            <a:r>
              <a:rPr lang="en-US" altLang="en-US" sz="2100" b="0" dirty="0">
                <a:solidFill>
                  <a:schemeClr val="tx1"/>
                </a:solidFill>
                <a:latin typeface="Liberation Sans" panose="020B0604020202020204" pitchFamily="34" charset="0"/>
              </a:rPr>
              <a:t>Two fundamental qualities, </a:t>
            </a:r>
            <a:r>
              <a:rPr lang="en-US" altLang="en-US" sz="2100" dirty="0">
                <a:solidFill>
                  <a:schemeClr val="tx1"/>
                </a:solidFill>
                <a:latin typeface="Liberation Sans" panose="020B0604020202020204" pitchFamily="34" charset="0"/>
              </a:rPr>
              <a:t>relevance</a:t>
            </a:r>
            <a:r>
              <a:rPr lang="en-US" altLang="en-US" sz="2100" b="0" dirty="0">
                <a:solidFill>
                  <a:schemeClr val="tx1"/>
                </a:solidFill>
                <a:latin typeface="Liberation Sans" panose="020B0604020202020204" pitchFamily="34" charset="0"/>
              </a:rPr>
              <a:t> and </a:t>
            </a:r>
            <a:r>
              <a:rPr lang="en-US" altLang="en-US" sz="2100" dirty="0">
                <a:solidFill>
                  <a:schemeClr val="tx1"/>
                </a:solidFill>
                <a:latin typeface="Liberation Sans" panose="020B0604020202020204" pitchFamily="34" charset="0"/>
              </a:rPr>
              <a:t>faithful representation</a:t>
            </a:r>
            <a:r>
              <a:rPr lang="en-US" altLang="en-US" sz="2100" b="0" dirty="0">
                <a:solidFill>
                  <a:schemeClr val="tx1"/>
                </a:solidFill>
                <a:latin typeface="Liberation Sans" panose="020B0604020202020204" pitchFamily="34" charset="0"/>
              </a:rPr>
              <a:t>.</a:t>
            </a:r>
          </a:p>
          <a:p>
            <a:pPr marL="0" lvl="1" indent="0">
              <a:lnSpc>
                <a:spcPct val="125000"/>
              </a:lnSpc>
              <a:spcBef>
                <a:spcPts val="1200"/>
              </a:spcBef>
              <a:buClr>
                <a:srgbClr val="800000"/>
              </a:buClr>
              <a:buSzPct val="80000"/>
            </a:pPr>
            <a:r>
              <a:rPr lang="en-US" altLang="en-US" sz="2100" dirty="0">
                <a:solidFill>
                  <a:schemeClr val="tx1"/>
                </a:solidFill>
                <a:latin typeface="Liberation Sans" panose="020B0604020202020204" pitchFamily="34" charset="0"/>
              </a:rPr>
              <a:t>Relevance  </a:t>
            </a:r>
          </a:p>
          <a:p>
            <a:pPr lvl="1">
              <a:lnSpc>
                <a:spcPct val="125000"/>
              </a:lnSpc>
              <a:spcBef>
                <a:spcPts val="1200"/>
              </a:spcBef>
              <a:buClr>
                <a:srgbClr val="800000"/>
              </a:buClr>
              <a:buSzPct val="80000"/>
              <a:buFont typeface="Wingdings" panose="05000000000000000000" pitchFamily="2" charset="2"/>
              <a:buChar char="u"/>
            </a:pPr>
            <a:r>
              <a:rPr lang="en-US" altLang="en-US" sz="2000" b="0" dirty="0">
                <a:solidFill>
                  <a:schemeClr val="tx1"/>
                </a:solidFill>
                <a:latin typeface="Liberation Sans" panose="020B0604020202020204" pitchFamily="34" charset="0"/>
              </a:rPr>
              <a:t>Make a difference in a business decision. </a:t>
            </a:r>
          </a:p>
          <a:p>
            <a:pPr lvl="1">
              <a:lnSpc>
                <a:spcPct val="125000"/>
              </a:lnSpc>
              <a:spcBef>
                <a:spcPts val="1200"/>
              </a:spcBef>
              <a:buClr>
                <a:srgbClr val="800000"/>
              </a:buClr>
              <a:buSzPct val="80000"/>
              <a:buFont typeface="Wingdings" panose="05000000000000000000" pitchFamily="2" charset="2"/>
              <a:buChar char="u"/>
            </a:pPr>
            <a:r>
              <a:rPr lang="en-US" altLang="en-US" sz="2000" b="0" dirty="0">
                <a:solidFill>
                  <a:schemeClr val="tx1"/>
                </a:solidFill>
                <a:latin typeface="Liberation Sans" panose="020B0604020202020204" pitchFamily="34" charset="0"/>
              </a:rPr>
              <a:t>Provides information that has </a:t>
            </a:r>
            <a:r>
              <a:rPr lang="en-US" altLang="en-US" sz="2000" dirty="0">
                <a:solidFill>
                  <a:schemeClr val="tx1"/>
                </a:solidFill>
                <a:latin typeface="Liberation Sans" panose="020B0604020202020204" pitchFamily="34" charset="0"/>
              </a:rPr>
              <a:t>predictive value </a:t>
            </a:r>
            <a:r>
              <a:rPr lang="en-US" altLang="en-US" sz="2000" b="0" dirty="0">
                <a:solidFill>
                  <a:schemeClr val="tx1"/>
                </a:solidFill>
                <a:latin typeface="Liberation Sans" panose="020B0604020202020204" pitchFamily="34" charset="0"/>
              </a:rPr>
              <a:t>and</a:t>
            </a:r>
            <a:r>
              <a:rPr lang="en-US" altLang="en-US" sz="2000" dirty="0">
                <a:solidFill>
                  <a:schemeClr val="tx1"/>
                </a:solidFill>
                <a:latin typeface="Liberation Sans" panose="020B0604020202020204" pitchFamily="34" charset="0"/>
              </a:rPr>
              <a:t> confirmatory value</a:t>
            </a:r>
            <a:r>
              <a:rPr lang="en-US" altLang="en-US" sz="2000" b="0" dirty="0">
                <a:solidFill>
                  <a:schemeClr val="tx1"/>
                </a:solidFill>
                <a:latin typeface="Liberation Sans" panose="020B0604020202020204" pitchFamily="34" charset="0"/>
              </a:rPr>
              <a:t>. </a:t>
            </a:r>
          </a:p>
          <a:p>
            <a:pPr lvl="1">
              <a:lnSpc>
                <a:spcPct val="125000"/>
              </a:lnSpc>
              <a:spcBef>
                <a:spcPts val="1200"/>
              </a:spcBef>
              <a:buClr>
                <a:srgbClr val="800000"/>
              </a:buClr>
              <a:buSzPct val="80000"/>
              <a:buFont typeface="Wingdings" panose="05000000000000000000" pitchFamily="2" charset="2"/>
              <a:buChar char="u"/>
            </a:pPr>
            <a:r>
              <a:rPr lang="en-US" altLang="en-US" sz="2000" dirty="0">
                <a:solidFill>
                  <a:schemeClr val="tx2">
                    <a:lumMod val="75000"/>
                  </a:schemeClr>
                </a:solidFill>
                <a:latin typeface="Liberation Sans" panose="020B0604020202020204" pitchFamily="34" charset="0"/>
              </a:rPr>
              <a:t>Materiality</a:t>
            </a:r>
            <a:r>
              <a:rPr lang="en-US" altLang="en-US" sz="2000" dirty="0">
                <a:solidFill>
                  <a:schemeClr val="tx1"/>
                </a:solidFill>
                <a:latin typeface="Liberation Sans" panose="020B0604020202020204" pitchFamily="34" charset="0"/>
              </a:rPr>
              <a:t> </a:t>
            </a:r>
            <a:r>
              <a:rPr lang="en-US" altLang="en-US" sz="2000" b="0" dirty="0">
                <a:solidFill>
                  <a:schemeClr val="tx1"/>
                </a:solidFill>
                <a:latin typeface="Liberation Sans" panose="020B0604020202020204" pitchFamily="34" charset="0"/>
              </a:rPr>
              <a:t>is a company-specific aspect of relevance. </a:t>
            </a:r>
          </a:p>
          <a:p>
            <a:pPr marL="1257300" lvl="2" indent="-342900">
              <a:lnSpc>
                <a:spcPct val="125000"/>
              </a:lnSpc>
              <a:spcBef>
                <a:spcPts val="1200"/>
              </a:spcBef>
              <a:buClr>
                <a:srgbClr val="800000"/>
              </a:buClr>
              <a:buSzPct val="80000"/>
              <a:buFont typeface="Arial" panose="020B0604020202020204" pitchFamily="34" charset="0"/>
              <a:buChar char="►"/>
            </a:pPr>
            <a:r>
              <a:rPr lang="en-US" altLang="en-US" sz="1900" b="0" dirty="0">
                <a:solidFill>
                  <a:schemeClr val="tx1"/>
                </a:solidFill>
                <a:latin typeface="Liberation Sans" panose="020B0604020202020204" pitchFamily="34" charset="0"/>
              </a:rPr>
              <a:t>An item is material when its </a:t>
            </a:r>
            <a:r>
              <a:rPr lang="en-US" altLang="en-US" sz="1900" dirty="0">
                <a:solidFill>
                  <a:schemeClr val="tx1"/>
                </a:solidFill>
                <a:latin typeface="Liberation Sans" panose="020B0604020202020204" pitchFamily="34" charset="0"/>
              </a:rPr>
              <a:t>size </a:t>
            </a:r>
            <a:r>
              <a:rPr lang="en-US" altLang="en-US" sz="1900" b="0" dirty="0">
                <a:solidFill>
                  <a:schemeClr val="tx1"/>
                </a:solidFill>
                <a:latin typeface="Liberation Sans" panose="020B0604020202020204" pitchFamily="34" charset="0"/>
              </a:rPr>
              <a:t>makes it likely to influence the decision of an investor or creditor.</a:t>
            </a:r>
          </a:p>
        </p:txBody>
      </p:sp>
      <p:sp>
        <p:nvSpPr>
          <p:cNvPr id="6" name="Rectangle 5"/>
          <p:cNvSpPr>
            <a:spLocks noChangeArrowheads="1"/>
          </p:cNvSpPr>
          <p:nvPr/>
        </p:nvSpPr>
        <p:spPr bwMode="auto">
          <a:xfrm>
            <a:off x="1814286" y="405765"/>
            <a:ext cx="2249714" cy="677228"/>
          </a:xfrm>
          <a:prstGeom prst="rect">
            <a:avLst/>
          </a:prstGeom>
          <a:solidFill>
            <a:schemeClr val="bg1">
              <a:lumMod val="85000"/>
            </a:schemeClr>
          </a:solidFill>
          <a:ln>
            <a:noFill/>
          </a:ln>
          <a:effectLst/>
        </p:spPr>
        <p:txBody>
          <a:bodyPr wrap="none" lIns="86493" tIns="43247" rIns="86493" bIns="43247" anchor="ctr"/>
          <a:lstStyle/>
          <a:p>
            <a:r>
              <a:rPr lang="en-US" altLang="en-US" sz="1700" dirty="0">
                <a:latin typeface="Liberation Sans" panose="020B0604020202020204" pitchFamily="34" charset="0"/>
              </a:rPr>
              <a:t>LEARNING</a:t>
            </a:r>
          </a:p>
          <a:p>
            <a:r>
              <a:rPr lang="en-US" altLang="en-US" sz="1700" dirty="0">
                <a:latin typeface="Liberation Sans" panose="020B0604020202020204" pitchFamily="34" charset="0"/>
              </a:rPr>
              <a:t>OBJECTIVE</a:t>
            </a:r>
          </a:p>
        </p:txBody>
      </p:sp>
      <p:sp>
        <p:nvSpPr>
          <p:cNvPr id="7" name="Rectangle 5"/>
          <p:cNvSpPr>
            <a:spLocks noChangeArrowheads="1"/>
          </p:cNvSpPr>
          <p:nvPr/>
        </p:nvSpPr>
        <p:spPr bwMode="auto">
          <a:xfrm>
            <a:off x="4064001" y="274320"/>
            <a:ext cx="6241143" cy="928688"/>
          </a:xfrm>
          <a:prstGeom prst="rect">
            <a:avLst/>
          </a:prstGeom>
          <a:solidFill>
            <a:srgbClr val="0027A4"/>
          </a:solidFill>
          <a:ln>
            <a:noFill/>
          </a:ln>
          <a:effectLst/>
        </p:spPr>
        <p:txBody>
          <a:bodyPr wrap="square" tIns="27432" anchor="ctr"/>
          <a:lstStyle/>
          <a:p>
            <a:pPr marL="53975">
              <a:spcBef>
                <a:spcPct val="50000"/>
              </a:spcBef>
            </a:pPr>
            <a:r>
              <a:rPr lang="en-US" altLang="en-US" sz="2300" dirty="0">
                <a:latin typeface="Liberation Sans" panose="020B0604020202020204" pitchFamily="34" charset="0"/>
              </a:rPr>
              <a:t>APPENDIX 3B: Discuss financial reporting concepts.</a:t>
            </a:r>
          </a:p>
        </p:txBody>
      </p:sp>
      <p:sp>
        <p:nvSpPr>
          <p:cNvPr id="8" name="Oval 7"/>
          <p:cNvSpPr/>
          <p:nvPr/>
        </p:nvSpPr>
        <p:spPr bwMode="auto">
          <a:xfrm>
            <a:off x="3396343" y="48577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86493" tIns="0" rIns="86493" bIns="43247" numCol="1" spcCol="0" rtlCol="0" fromWordArt="0" anchor="ctr" anchorCtr="0" forceAA="0" compatLnSpc="1">
            <a:noAutofit/>
          </a:bodyPr>
          <a:lstStyle/>
          <a:p>
            <a:pPr algn="ctr"/>
            <a:r>
              <a:rPr lang="en-US" sz="2400" dirty="0">
                <a:latin typeface="Liberation Sans" panose="020B0604020202020204" pitchFamily="34" charset="0"/>
              </a:rPr>
              <a:t>6</a:t>
            </a:r>
          </a:p>
        </p:txBody>
      </p:sp>
      <p:sp>
        <p:nvSpPr>
          <p:cNvPr id="9" name="Rectangle 20"/>
          <p:cNvSpPr>
            <a:spLocks noChangeArrowheads="1"/>
          </p:cNvSpPr>
          <p:nvPr/>
        </p:nvSpPr>
        <p:spPr bwMode="auto">
          <a:xfrm>
            <a:off x="2133600" y="1447800"/>
            <a:ext cx="81534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buClr>
                <a:srgbClr val="800000"/>
              </a:buClr>
              <a:buSzPct val="80000"/>
            </a:pPr>
            <a:r>
              <a:rPr lang="en-US" altLang="en-US" dirty="0">
                <a:solidFill>
                  <a:schemeClr val="tx2">
                    <a:lumMod val="75000"/>
                  </a:schemeClr>
                </a:solidFill>
                <a:latin typeface="Liberation Sans" panose="020B0604020202020204" pitchFamily="34" charset="0"/>
              </a:rPr>
              <a:t>Qualities of Useful Information</a:t>
            </a:r>
          </a:p>
        </p:txBody>
      </p:sp>
      <p:sp>
        <p:nvSpPr>
          <p:cNvPr id="10"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6</a:t>
            </a:r>
          </a:p>
        </p:txBody>
      </p:sp>
    </p:spTree>
    <p:extLst>
      <p:ext uri="{BB962C8B-B14F-4D97-AF65-F5344CB8AC3E}">
        <p14:creationId xmlns:p14="http://schemas.microsoft.com/office/powerpoint/2010/main" val="33960955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5"/>
          <p:cNvSpPr>
            <a:spLocks noChangeArrowheads="1"/>
          </p:cNvSpPr>
          <p:nvPr/>
        </p:nvSpPr>
        <p:spPr bwMode="auto">
          <a:xfrm>
            <a:off x="2133600" y="1295400"/>
            <a:ext cx="8153400" cy="3689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bg1"/>
                </a:solidFill>
                <a:latin typeface="Arial" panose="020B0604020202020204" pitchFamily="34" charset="0"/>
              </a:defRPr>
            </a:lvl1pPr>
            <a:lvl2pPr marL="690880" indent="-46228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5000"/>
              </a:lnSpc>
              <a:spcBef>
                <a:spcPts val="1200"/>
              </a:spcBef>
            </a:pPr>
            <a:r>
              <a:rPr lang="en-US" altLang="en-US" sz="2100" b="0" dirty="0">
                <a:solidFill>
                  <a:schemeClr val="tx1"/>
                </a:solidFill>
                <a:latin typeface="Liberation Sans" panose="020B0604020202020204" pitchFamily="34" charset="0"/>
              </a:rPr>
              <a:t>Two fundamental qualities, </a:t>
            </a:r>
            <a:r>
              <a:rPr lang="en-US" altLang="en-US" sz="2100" dirty="0">
                <a:solidFill>
                  <a:schemeClr val="tx1"/>
                </a:solidFill>
                <a:latin typeface="Liberation Sans" panose="020B0604020202020204" pitchFamily="34" charset="0"/>
              </a:rPr>
              <a:t>relevance</a:t>
            </a:r>
            <a:r>
              <a:rPr lang="en-US" altLang="en-US" sz="2100" b="0" dirty="0">
                <a:solidFill>
                  <a:schemeClr val="tx1"/>
                </a:solidFill>
                <a:latin typeface="Liberation Sans" panose="020B0604020202020204" pitchFamily="34" charset="0"/>
              </a:rPr>
              <a:t> and </a:t>
            </a:r>
            <a:r>
              <a:rPr lang="en-US" altLang="en-US" sz="2100" dirty="0">
                <a:solidFill>
                  <a:schemeClr val="tx1"/>
                </a:solidFill>
                <a:latin typeface="Liberation Sans" panose="020B0604020202020204" pitchFamily="34" charset="0"/>
              </a:rPr>
              <a:t>faithful representation</a:t>
            </a:r>
            <a:r>
              <a:rPr lang="en-US" altLang="en-US" sz="2100" b="0" dirty="0">
                <a:solidFill>
                  <a:schemeClr val="tx1"/>
                </a:solidFill>
                <a:latin typeface="Liberation Sans" panose="020B0604020202020204" pitchFamily="34" charset="0"/>
              </a:rPr>
              <a:t>.</a:t>
            </a:r>
          </a:p>
          <a:p>
            <a:pPr marL="0" lvl="1" indent="0">
              <a:lnSpc>
                <a:spcPct val="125000"/>
              </a:lnSpc>
              <a:spcBef>
                <a:spcPts val="1200"/>
              </a:spcBef>
              <a:buClr>
                <a:srgbClr val="800000"/>
              </a:buClr>
              <a:buSzPct val="80000"/>
            </a:pPr>
            <a:r>
              <a:rPr lang="en-US" altLang="en-US" sz="2100" dirty="0">
                <a:solidFill>
                  <a:schemeClr val="tx1"/>
                </a:solidFill>
                <a:latin typeface="Liberation Sans" panose="020B0604020202020204" pitchFamily="34" charset="0"/>
              </a:rPr>
              <a:t>Faithful Representation  </a:t>
            </a:r>
          </a:p>
          <a:p>
            <a:pPr lvl="1">
              <a:lnSpc>
                <a:spcPct val="125000"/>
              </a:lnSpc>
              <a:spcBef>
                <a:spcPts val="1200"/>
              </a:spcBef>
              <a:buClr>
                <a:srgbClr val="800000"/>
              </a:buClr>
              <a:buSzPct val="80000"/>
              <a:buFont typeface="Wingdings" panose="05000000000000000000" pitchFamily="2" charset="2"/>
              <a:buChar char="u"/>
            </a:pPr>
            <a:r>
              <a:rPr lang="en-US" sz="2000" b="0" dirty="0">
                <a:solidFill>
                  <a:schemeClr val="tx1"/>
                </a:solidFill>
                <a:latin typeface="Liberation Sans" panose="020B0604020202020204" pitchFamily="34" charset="0"/>
              </a:rPr>
              <a:t>Information accurately depicts what really happened. </a:t>
            </a:r>
          </a:p>
          <a:p>
            <a:pPr lvl="1">
              <a:lnSpc>
                <a:spcPct val="125000"/>
              </a:lnSpc>
              <a:spcBef>
                <a:spcPts val="1200"/>
              </a:spcBef>
              <a:buClr>
                <a:srgbClr val="800000"/>
              </a:buClr>
              <a:buSzPct val="80000"/>
              <a:buFont typeface="Wingdings" panose="05000000000000000000" pitchFamily="2" charset="2"/>
              <a:buChar char="u"/>
            </a:pPr>
            <a:r>
              <a:rPr lang="en-US" sz="2000" b="0" dirty="0">
                <a:solidFill>
                  <a:schemeClr val="tx1"/>
                </a:solidFill>
                <a:latin typeface="Liberation Sans" panose="020B0604020202020204" pitchFamily="34" charset="0"/>
              </a:rPr>
              <a:t>Information must be </a:t>
            </a:r>
          </a:p>
          <a:p>
            <a:pPr marL="1257300" lvl="2" indent="-342900">
              <a:lnSpc>
                <a:spcPct val="125000"/>
              </a:lnSpc>
              <a:spcBef>
                <a:spcPts val="1200"/>
              </a:spcBef>
              <a:buClr>
                <a:srgbClr val="800000"/>
              </a:buClr>
              <a:buSzPct val="80000"/>
              <a:buFont typeface="Arial" panose="020B0604020202020204" pitchFamily="34" charset="0"/>
              <a:buChar char="►"/>
            </a:pPr>
            <a:r>
              <a:rPr lang="en-US" sz="1900" dirty="0">
                <a:solidFill>
                  <a:schemeClr val="tx1"/>
                </a:solidFill>
                <a:latin typeface="Liberation Sans" panose="020B0604020202020204" pitchFamily="34" charset="0"/>
              </a:rPr>
              <a:t>complete</a:t>
            </a:r>
            <a:r>
              <a:rPr lang="en-US" sz="1900" b="0" dirty="0">
                <a:solidFill>
                  <a:schemeClr val="tx1"/>
                </a:solidFill>
                <a:latin typeface="Liberation Sans" panose="020B0604020202020204" pitchFamily="34" charset="0"/>
              </a:rPr>
              <a:t> (nothing important has been omitted), </a:t>
            </a:r>
          </a:p>
          <a:p>
            <a:pPr marL="1257300" lvl="2" indent="-342900">
              <a:lnSpc>
                <a:spcPct val="125000"/>
              </a:lnSpc>
              <a:spcBef>
                <a:spcPts val="1200"/>
              </a:spcBef>
              <a:buClr>
                <a:srgbClr val="800000"/>
              </a:buClr>
              <a:buSzPct val="80000"/>
              <a:buFont typeface="Arial" panose="020B0604020202020204" pitchFamily="34" charset="0"/>
              <a:buChar char="►"/>
            </a:pPr>
            <a:r>
              <a:rPr lang="en-US" sz="1900" dirty="0">
                <a:solidFill>
                  <a:schemeClr val="tx1"/>
                </a:solidFill>
                <a:latin typeface="Liberation Sans" panose="020B0604020202020204" pitchFamily="34" charset="0"/>
              </a:rPr>
              <a:t>neutral</a:t>
            </a:r>
            <a:r>
              <a:rPr lang="en-US" sz="1900" b="0" dirty="0">
                <a:solidFill>
                  <a:schemeClr val="tx1"/>
                </a:solidFill>
                <a:latin typeface="Liberation Sans" panose="020B0604020202020204" pitchFamily="34" charset="0"/>
              </a:rPr>
              <a:t> (is not biased toward one position or another), and </a:t>
            </a:r>
          </a:p>
          <a:p>
            <a:pPr marL="1257300" lvl="2" indent="-342900">
              <a:lnSpc>
                <a:spcPct val="125000"/>
              </a:lnSpc>
              <a:spcBef>
                <a:spcPts val="1200"/>
              </a:spcBef>
              <a:buClr>
                <a:srgbClr val="800000"/>
              </a:buClr>
              <a:buSzPct val="80000"/>
              <a:buFont typeface="Arial" panose="020B0604020202020204" pitchFamily="34" charset="0"/>
              <a:buChar char="►"/>
            </a:pPr>
            <a:r>
              <a:rPr lang="en-US" sz="1900" dirty="0">
                <a:solidFill>
                  <a:schemeClr val="tx1"/>
                </a:solidFill>
                <a:latin typeface="Liberation Sans" panose="020B0604020202020204" pitchFamily="34" charset="0"/>
              </a:rPr>
              <a:t>free</a:t>
            </a:r>
            <a:r>
              <a:rPr lang="en-US" sz="1900" b="0" dirty="0">
                <a:solidFill>
                  <a:schemeClr val="tx1"/>
                </a:solidFill>
                <a:latin typeface="Liberation Sans" panose="020B0604020202020204" pitchFamily="34" charset="0"/>
              </a:rPr>
              <a:t> </a:t>
            </a:r>
            <a:r>
              <a:rPr lang="en-US" sz="1900" dirty="0">
                <a:solidFill>
                  <a:schemeClr val="tx1"/>
                </a:solidFill>
                <a:latin typeface="Liberation Sans" panose="020B0604020202020204" pitchFamily="34" charset="0"/>
              </a:rPr>
              <a:t>from</a:t>
            </a:r>
            <a:r>
              <a:rPr lang="en-US" sz="1900" b="0" dirty="0">
                <a:solidFill>
                  <a:schemeClr val="tx1"/>
                </a:solidFill>
                <a:latin typeface="Liberation Sans" panose="020B0604020202020204" pitchFamily="34" charset="0"/>
              </a:rPr>
              <a:t> </a:t>
            </a:r>
            <a:r>
              <a:rPr lang="en-US" sz="1900" dirty="0">
                <a:solidFill>
                  <a:schemeClr val="tx1"/>
                </a:solidFill>
                <a:latin typeface="Liberation Sans" panose="020B0604020202020204" pitchFamily="34" charset="0"/>
              </a:rPr>
              <a:t>error</a:t>
            </a:r>
            <a:r>
              <a:rPr lang="en-US" sz="1900" b="0" dirty="0">
                <a:solidFill>
                  <a:schemeClr val="tx1"/>
                </a:solidFill>
                <a:latin typeface="Liberation Sans" panose="020B0604020202020204" pitchFamily="34" charset="0"/>
              </a:rPr>
              <a:t>.</a:t>
            </a:r>
            <a:endParaRPr lang="en-US" altLang="en-US" sz="1900" b="0" dirty="0">
              <a:solidFill>
                <a:schemeClr val="tx1"/>
              </a:solidFill>
              <a:latin typeface="Liberation Sans" panose="020B0604020202020204" pitchFamily="34" charset="0"/>
            </a:endParaRPr>
          </a:p>
        </p:txBody>
      </p:sp>
      <p:sp>
        <p:nvSpPr>
          <p:cNvPr id="10" name="Line 4"/>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1" name="Rectangle 10"/>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Qualities of Useful Information</a:t>
            </a:r>
          </a:p>
        </p:txBody>
      </p:sp>
      <p:sp>
        <p:nvSpPr>
          <p:cNvPr id="12"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6</a:t>
            </a:r>
          </a:p>
        </p:txBody>
      </p:sp>
    </p:spTree>
    <p:extLst>
      <p:ext uri="{BB962C8B-B14F-4D97-AF65-F5344CB8AC3E}">
        <p14:creationId xmlns:p14="http://schemas.microsoft.com/office/powerpoint/2010/main" val="30960603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ChangeArrowheads="1"/>
          </p:cNvSpPr>
          <p:nvPr/>
        </p:nvSpPr>
        <p:spPr bwMode="auto">
          <a:xfrm>
            <a:off x="2133600" y="1295400"/>
            <a:ext cx="56007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r>
              <a:rPr lang="en-US" altLang="en-US" sz="2700" dirty="0">
                <a:solidFill>
                  <a:schemeClr val="tx1"/>
                </a:solidFill>
                <a:latin typeface="Liberation Sans" panose="020B0604020202020204" pitchFamily="34" charset="0"/>
              </a:rPr>
              <a:t>ENHANCING QUALITIES</a:t>
            </a:r>
          </a:p>
        </p:txBody>
      </p:sp>
      <p:sp>
        <p:nvSpPr>
          <p:cNvPr id="67587" name="Rectangle 4"/>
          <p:cNvSpPr>
            <a:spLocks noChangeArrowheads="1"/>
          </p:cNvSpPr>
          <p:nvPr/>
        </p:nvSpPr>
        <p:spPr bwMode="auto">
          <a:xfrm>
            <a:off x="1905000" y="2133601"/>
            <a:ext cx="2590800" cy="1646605"/>
          </a:xfrm>
          <a:prstGeom prst="rect">
            <a:avLst/>
          </a:prstGeom>
          <a:solidFill>
            <a:schemeClr val="bg1"/>
          </a:solidFill>
          <a:ln w="28575" cap="sq">
            <a:solidFill>
              <a:schemeClr val="tx1"/>
            </a:solidFill>
            <a:miter lim="800000"/>
            <a:headEnd type="none" w="sm" len="sm"/>
            <a:tailEnd type="none" w="sm" len="sm"/>
          </a:ln>
          <a:effectLst>
            <a:innerShdw blurRad="114300">
              <a:prstClr val="black"/>
            </a:innerShdw>
          </a:effectLst>
        </p:spPr>
        <p:txBody>
          <a:bodyPr lIns="137160" tIns="91440" rIns="137160" bIns="9144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1900" dirty="0">
                <a:solidFill>
                  <a:schemeClr val="tx2">
                    <a:lumMod val="75000"/>
                  </a:schemeClr>
                </a:solidFill>
                <a:latin typeface="Liberation Sans" panose="020B0604020202020204" pitchFamily="34" charset="0"/>
              </a:rPr>
              <a:t>Comparability</a:t>
            </a:r>
            <a:r>
              <a:rPr lang="en-US" altLang="en-US" sz="1900" dirty="0">
                <a:solidFill>
                  <a:schemeClr val="tx1"/>
                </a:solidFill>
                <a:latin typeface="Liberation Sans" panose="020B0604020202020204" pitchFamily="34" charset="0"/>
              </a:rPr>
              <a:t> </a:t>
            </a:r>
            <a:r>
              <a:rPr lang="en-US" altLang="en-US" sz="1900" b="0" dirty="0">
                <a:solidFill>
                  <a:schemeClr val="tx1"/>
                </a:solidFill>
                <a:latin typeface="Liberation Sans" panose="020B0604020202020204" pitchFamily="34" charset="0"/>
              </a:rPr>
              <a:t>results when different companies use the same accounting principles.</a:t>
            </a:r>
          </a:p>
        </p:txBody>
      </p:sp>
      <p:sp>
        <p:nvSpPr>
          <p:cNvPr id="67588" name="Rectangle 5"/>
          <p:cNvSpPr>
            <a:spLocks noChangeArrowheads="1"/>
          </p:cNvSpPr>
          <p:nvPr/>
        </p:nvSpPr>
        <p:spPr bwMode="auto">
          <a:xfrm>
            <a:off x="2857500" y="4267201"/>
            <a:ext cx="2895600" cy="1646605"/>
          </a:xfrm>
          <a:prstGeom prst="rect">
            <a:avLst/>
          </a:prstGeom>
          <a:solidFill>
            <a:schemeClr val="bg1"/>
          </a:solidFill>
          <a:ln w="28575" cap="sq">
            <a:solidFill>
              <a:schemeClr val="tx1"/>
            </a:solidFill>
            <a:miter lim="800000"/>
            <a:headEnd type="none" w="sm" len="sm"/>
            <a:tailEnd type="none" w="sm" len="sm"/>
          </a:ln>
          <a:effectLst>
            <a:innerShdw blurRad="114300">
              <a:prstClr val="black"/>
            </a:innerShdw>
          </a:effectLst>
        </p:spPr>
        <p:txBody>
          <a:bodyPr lIns="137160" tIns="91440" rIns="137160" bIns="91440">
            <a:spAutoFit/>
          </a:bodyPr>
          <a:lstStyle/>
          <a:p>
            <a:pPr algn="ctr"/>
            <a:r>
              <a:rPr lang="en-US" altLang="en-US" sz="1900" dirty="0">
                <a:solidFill>
                  <a:schemeClr val="tx2">
                    <a:lumMod val="75000"/>
                  </a:schemeClr>
                </a:solidFill>
                <a:latin typeface="Liberation Sans" panose="020B0604020202020204" pitchFamily="34" charset="0"/>
              </a:rPr>
              <a:t>Consistency</a:t>
            </a:r>
            <a:r>
              <a:rPr lang="en-US" altLang="en-US" sz="1900" dirty="0">
                <a:latin typeface="Liberation Sans" panose="020B0604020202020204" pitchFamily="34" charset="0"/>
              </a:rPr>
              <a:t> means that a company uses the same accounting</a:t>
            </a:r>
          </a:p>
          <a:p>
            <a:pPr algn="ctr"/>
            <a:r>
              <a:rPr lang="en-US" altLang="en-US" sz="1900" dirty="0">
                <a:latin typeface="Liberation Sans" panose="020B0604020202020204" pitchFamily="34" charset="0"/>
              </a:rPr>
              <a:t>principles and methods from year to year.</a:t>
            </a:r>
          </a:p>
        </p:txBody>
      </p:sp>
      <p:sp>
        <p:nvSpPr>
          <p:cNvPr id="67589" name="Rectangle 6"/>
          <p:cNvSpPr>
            <a:spLocks noChangeArrowheads="1"/>
          </p:cNvSpPr>
          <p:nvPr/>
        </p:nvSpPr>
        <p:spPr bwMode="auto">
          <a:xfrm>
            <a:off x="4724400" y="2133600"/>
            <a:ext cx="2743200" cy="1938992"/>
          </a:xfrm>
          <a:prstGeom prst="rect">
            <a:avLst/>
          </a:prstGeom>
          <a:solidFill>
            <a:schemeClr val="bg1"/>
          </a:solidFill>
          <a:ln w="28575" cap="sq">
            <a:solidFill>
              <a:schemeClr val="tx1"/>
            </a:solidFill>
            <a:miter lim="800000"/>
            <a:headEnd type="none" w="sm" len="sm"/>
            <a:tailEnd type="none" w="sm" len="sm"/>
          </a:ln>
          <a:effectLst>
            <a:innerShdw blurRad="114300">
              <a:prstClr val="black"/>
            </a:innerShdw>
          </a:effectLst>
        </p:spPr>
        <p:txBody>
          <a:bodyPr lIns="137160" tIns="91440" rIns="137160" bIns="91440">
            <a:spAutoFit/>
          </a:bodyPr>
          <a:lstStyle/>
          <a:p>
            <a:pPr algn="ctr"/>
            <a:r>
              <a:rPr lang="en-US" altLang="en-US" sz="1900" dirty="0">
                <a:latin typeface="Liberation Sans" panose="020B0604020202020204" pitchFamily="34" charset="0"/>
              </a:rPr>
              <a:t>Information is </a:t>
            </a:r>
            <a:r>
              <a:rPr lang="en-US" altLang="en-US" sz="1900" dirty="0">
                <a:solidFill>
                  <a:schemeClr val="tx2">
                    <a:lumMod val="75000"/>
                  </a:schemeClr>
                </a:solidFill>
                <a:latin typeface="Liberation Sans" panose="020B0604020202020204" pitchFamily="34" charset="0"/>
              </a:rPr>
              <a:t>verifiable</a:t>
            </a:r>
            <a:r>
              <a:rPr lang="en-US" altLang="en-US" sz="1900" dirty="0">
                <a:latin typeface="Liberation Sans" panose="020B0604020202020204" pitchFamily="34" charset="0"/>
              </a:rPr>
              <a:t> if independent</a:t>
            </a:r>
          </a:p>
          <a:p>
            <a:pPr algn="ctr"/>
            <a:r>
              <a:rPr lang="en-US" altLang="en-US" sz="1900" dirty="0">
                <a:latin typeface="Liberation Sans" panose="020B0604020202020204" pitchFamily="34" charset="0"/>
              </a:rPr>
              <a:t>observers, using the same methods, obtain similar results.</a:t>
            </a:r>
          </a:p>
        </p:txBody>
      </p:sp>
      <p:sp>
        <p:nvSpPr>
          <p:cNvPr id="67590" name="Rectangle 7"/>
          <p:cNvSpPr>
            <a:spLocks noChangeArrowheads="1"/>
          </p:cNvSpPr>
          <p:nvPr/>
        </p:nvSpPr>
        <p:spPr bwMode="auto">
          <a:xfrm>
            <a:off x="6057900" y="4495801"/>
            <a:ext cx="3162300" cy="1061829"/>
          </a:xfrm>
          <a:prstGeom prst="rect">
            <a:avLst/>
          </a:prstGeom>
          <a:solidFill>
            <a:schemeClr val="bg1"/>
          </a:solidFill>
          <a:ln w="28575" cap="sq">
            <a:solidFill>
              <a:schemeClr val="tx1"/>
            </a:solidFill>
            <a:miter lim="800000"/>
            <a:headEnd type="none" w="sm" len="sm"/>
            <a:tailEnd type="none" w="sm" len="sm"/>
          </a:ln>
          <a:effectLst>
            <a:innerShdw blurRad="114300">
              <a:prstClr val="black"/>
            </a:innerShdw>
          </a:effectLst>
        </p:spPr>
        <p:txBody>
          <a:bodyPr wrap="square" lIns="137160" tIns="91440" rIns="137160" bIns="91440">
            <a:spAutoFit/>
          </a:bodyPr>
          <a:lstStyle/>
          <a:p>
            <a:pPr algn="ctr"/>
            <a:r>
              <a:rPr lang="en-US" altLang="en-US" sz="1900" dirty="0">
                <a:latin typeface="Liberation Sans" panose="020B0604020202020204" pitchFamily="34" charset="0"/>
              </a:rPr>
              <a:t>For accounting information to have relevance, it must be </a:t>
            </a:r>
            <a:r>
              <a:rPr lang="en-US" altLang="en-US" sz="1900" dirty="0">
                <a:solidFill>
                  <a:schemeClr val="tx2">
                    <a:lumMod val="75000"/>
                  </a:schemeClr>
                </a:solidFill>
                <a:latin typeface="Liberation Sans" panose="020B0604020202020204" pitchFamily="34" charset="0"/>
              </a:rPr>
              <a:t>timely</a:t>
            </a:r>
            <a:r>
              <a:rPr lang="en-US" altLang="en-US" sz="1900" dirty="0">
                <a:latin typeface="Liberation Sans" panose="020B0604020202020204" pitchFamily="34" charset="0"/>
              </a:rPr>
              <a:t>.</a:t>
            </a:r>
          </a:p>
        </p:txBody>
      </p:sp>
      <p:sp>
        <p:nvSpPr>
          <p:cNvPr id="67591" name="Rectangle 8"/>
          <p:cNvSpPr>
            <a:spLocks noChangeArrowheads="1"/>
          </p:cNvSpPr>
          <p:nvPr/>
        </p:nvSpPr>
        <p:spPr bwMode="auto">
          <a:xfrm>
            <a:off x="7696200" y="2133600"/>
            <a:ext cx="2667000" cy="1938992"/>
          </a:xfrm>
          <a:prstGeom prst="rect">
            <a:avLst/>
          </a:prstGeom>
          <a:solidFill>
            <a:schemeClr val="bg1"/>
          </a:solidFill>
          <a:ln w="28575" cap="sq">
            <a:solidFill>
              <a:schemeClr val="tx1"/>
            </a:solidFill>
            <a:miter lim="800000"/>
            <a:headEnd type="none" w="sm" len="sm"/>
            <a:tailEnd type="none" w="sm" len="sm"/>
          </a:ln>
          <a:effectLst>
            <a:innerShdw blurRad="114300">
              <a:prstClr val="black"/>
            </a:innerShdw>
          </a:effectLst>
        </p:spPr>
        <p:txBody>
          <a:bodyPr lIns="137160" tIns="91440" rIns="137160" bIns="91440">
            <a:spAutoFit/>
          </a:bodyPr>
          <a:lstStyle/>
          <a:p>
            <a:pPr algn="ctr"/>
            <a:r>
              <a:rPr lang="en-US" altLang="en-US" sz="1900" dirty="0">
                <a:latin typeface="Liberation Sans" panose="020B0604020202020204" pitchFamily="34" charset="0"/>
              </a:rPr>
              <a:t>Information has the quality of </a:t>
            </a:r>
            <a:r>
              <a:rPr lang="en-US" altLang="en-US" sz="1900" dirty="0">
                <a:solidFill>
                  <a:schemeClr val="tx2">
                    <a:lumMod val="75000"/>
                  </a:schemeClr>
                </a:solidFill>
                <a:latin typeface="Liberation Sans" panose="020B0604020202020204" pitchFamily="34" charset="0"/>
              </a:rPr>
              <a:t>understandability</a:t>
            </a:r>
          </a:p>
          <a:p>
            <a:pPr algn="ctr"/>
            <a:r>
              <a:rPr lang="en-US" altLang="en-US" sz="1900" dirty="0">
                <a:latin typeface="Liberation Sans" panose="020B0604020202020204" pitchFamily="34" charset="0"/>
              </a:rPr>
              <a:t>if it is presented in a clear and concise fashion.</a:t>
            </a:r>
          </a:p>
        </p:txBody>
      </p:sp>
      <p:sp>
        <p:nvSpPr>
          <p:cNvPr id="14" name="Line 4"/>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5" name="Rectangle 14"/>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Qualities of Useful Information</a:t>
            </a:r>
          </a:p>
        </p:txBody>
      </p:sp>
      <p:sp>
        <p:nvSpPr>
          <p:cNvPr id="16"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6</a:t>
            </a:r>
          </a:p>
        </p:txBody>
      </p:sp>
    </p:spTree>
    <p:extLst>
      <p:ext uri="{BB962C8B-B14F-4D97-AF65-F5344CB8AC3E}">
        <p14:creationId xmlns:p14="http://schemas.microsoft.com/office/powerpoint/2010/main" val="31908160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692276"/>
            <a:ext cx="2743200" cy="1812925"/>
          </a:xfrm>
          <a:prstGeom prst="rect">
            <a:avLst/>
          </a:prstGeom>
          <a:noFill/>
          <a:ln w="19050" cap="sq">
            <a:solidFill>
              <a:schemeClr val="tx1"/>
            </a:solidFill>
            <a:miter lim="800000"/>
            <a:headEnd type="none" w="sm" len="sm"/>
            <a:tailEnd type="none" w="sm" len="sm"/>
          </a:ln>
          <a:effectLst>
            <a:innerShdw blurRad="114300">
              <a:prstClr val="black"/>
            </a:innerShdw>
          </a:effectLst>
          <a:extLst>
            <a:ext uri="{909E8E84-426E-40DD-AFC4-6F175D3DCCD1}">
              <a14:hiddenFill xmlns:a14="http://schemas.microsoft.com/office/drawing/2010/main">
                <a:solidFill>
                  <a:schemeClr val="accent1"/>
                </a:solidFill>
              </a14:hiddenFill>
            </a:ext>
          </a:extLst>
        </p:spPr>
      </p:pic>
      <p:sp>
        <p:nvSpPr>
          <p:cNvPr id="68612" name="Rectangle 6"/>
          <p:cNvSpPr>
            <a:spLocks noChangeArrowheads="1"/>
          </p:cNvSpPr>
          <p:nvPr/>
        </p:nvSpPr>
        <p:spPr bwMode="auto">
          <a:xfrm>
            <a:off x="2895600" y="3962400"/>
            <a:ext cx="251460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2100" dirty="0">
                <a:solidFill>
                  <a:schemeClr val="tx2">
                    <a:lumMod val="75000"/>
                  </a:schemeClr>
                </a:solidFill>
                <a:latin typeface="Liberation Sans" panose="020B0604020202020204" pitchFamily="34" charset="0"/>
              </a:rPr>
              <a:t>Monetary Unit</a:t>
            </a:r>
          </a:p>
        </p:txBody>
      </p:sp>
      <p:sp>
        <p:nvSpPr>
          <p:cNvPr id="191495" name="AutoShape 7"/>
          <p:cNvSpPr>
            <a:spLocks noChangeArrowheads="1"/>
          </p:cNvSpPr>
          <p:nvPr/>
        </p:nvSpPr>
        <p:spPr bwMode="auto">
          <a:xfrm rot="10800000">
            <a:off x="4038600" y="3581400"/>
            <a:ext cx="152400" cy="304800"/>
          </a:xfrm>
          <a:prstGeom prst="upArrow">
            <a:avLst>
              <a:gd name="adj1" fmla="val 50000"/>
              <a:gd name="adj2" fmla="val 50000"/>
            </a:avLst>
          </a:prstGeom>
          <a:solidFill>
            <a:srgbClr val="80000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68614" name="Rectangle 8"/>
          <p:cNvSpPr>
            <a:spLocks noChangeArrowheads="1"/>
          </p:cNvSpPr>
          <p:nvPr/>
        </p:nvSpPr>
        <p:spPr bwMode="auto">
          <a:xfrm>
            <a:off x="6629400" y="3962400"/>
            <a:ext cx="251460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100" dirty="0">
                <a:solidFill>
                  <a:schemeClr val="tx2">
                    <a:lumMod val="75000"/>
                  </a:schemeClr>
                </a:solidFill>
                <a:latin typeface="Liberation Sans" panose="020B0604020202020204" pitchFamily="34" charset="0"/>
              </a:rPr>
              <a:t>Economic Entity</a:t>
            </a:r>
          </a:p>
        </p:txBody>
      </p:sp>
      <p:sp>
        <p:nvSpPr>
          <p:cNvPr id="68615" name="Text Box 9"/>
          <p:cNvSpPr txBox="1">
            <a:spLocks noChangeArrowheads="1"/>
          </p:cNvSpPr>
          <p:nvPr/>
        </p:nvSpPr>
        <p:spPr bwMode="auto">
          <a:xfrm>
            <a:off x="8763000" y="1249362"/>
            <a:ext cx="1447800" cy="27463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tx1"/>
                </a:solidFill>
                <a:latin typeface="Liberation Sans" panose="020B0604020202020204" pitchFamily="34" charset="0"/>
              </a:rPr>
              <a:t>Illustration 3B-2</a:t>
            </a:r>
          </a:p>
        </p:txBody>
      </p:sp>
      <p:sp>
        <p:nvSpPr>
          <p:cNvPr id="191498" name="Rectangle 10"/>
          <p:cNvSpPr>
            <a:spLocks noChangeArrowheads="1"/>
          </p:cNvSpPr>
          <p:nvPr/>
        </p:nvSpPr>
        <p:spPr bwMode="auto">
          <a:xfrm>
            <a:off x="2438400" y="4359276"/>
            <a:ext cx="3352800" cy="135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lnSpc>
                <a:spcPct val="115000"/>
              </a:lnSpc>
            </a:pPr>
            <a:r>
              <a:rPr lang="en-US" altLang="en-US" sz="1800" b="0" dirty="0">
                <a:solidFill>
                  <a:schemeClr val="tx1"/>
                </a:solidFill>
                <a:latin typeface="Liberation Sans" panose="020B0604020202020204" pitchFamily="34" charset="0"/>
              </a:rPr>
              <a:t>Requires that only those things that can be expressed in money are included in the accounting records.</a:t>
            </a:r>
          </a:p>
        </p:txBody>
      </p:sp>
      <p:sp>
        <p:nvSpPr>
          <p:cNvPr id="191499" name="Rectangle 11"/>
          <p:cNvSpPr>
            <a:spLocks noChangeArrowheads="1"/>
          </p:cNvSpPr>
          <p:nvPr/>
        </p:nvSpPr>
        <p:spPr bwMode="auto">
          <a:xfrm>
            <a:off x="6324600" y="4352862"/>
            <a:ext cx="3276600" cy="103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lnSpc>
                <a:spcPct val="115000"/>
              </a:lnSpc>
            </a:pPr>
            <a:r>
              <a:rPr lang="en-US" altLang="en-US" sz="1800" b="0" dirty="0">
                <a:solidFill>
                  <a:schemeClr val="tx1"/>
                </a:solidFill>
                <a:latin typeface="Liberation Sans" panose="020B0604020202020204" pitchFamily="34" charset="0"/>
              </a:rPr>
              <a:t>States that every economic entity can be separately identified and accounted for.</a:t>
            </a:r>
          </a:p>
        </p:txBody>
      </p:sp>
      <p:pic>
        <p:nvPicPr>
          <p:cNvPr id="68618"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1785938"/>
            <a:ext cx="2743200" cy="1719262"/>
          </a:xfrm>
          <a:prstGeom prst="rect">
            <a:avLst/>
          </a:prstGeom>
          <a:noFill/>
          <a:ln w="19050" cap="sq">
            <a:solidFill>
              <a:schemeClr val="tx1"/>
            </a:solidFill>
            <a:miter lim="800000"/>
            <a:headEnd type="none" w="sm" len="sm"/>
            <a:tailEnd type="none" w="sm" len="sm"/>
          </a:ln>
          <a:effectLst>
            <a:innerShdw blurRad="114300">
              <a:prstClr val="black"/>
            </a:innerShdw>
          </a:effectLst>
          <a:extLst>
            <a:ext uri="{909E8E84-426E-40DD-AFC4-6F175D3DCCD1}">
              <a14:hiddenFill xmlns:a14="http://schemas.microsoft.com/office/drawing/2010/main">
                <a:solidFill>
                  <a:schemeClr val="accent1"/>
                </a:solidFill>
              </a14:hiddenFill>
            </a:ext>
          </a:extLst>
        </p:spPr>
      </p:pic>
      <p:sp>
        <p:nvSpPr>
          <p:cNvPr id="191502" name="AutoShape 14"/>
          <p:cNvSpPr>
            <a:spLocks noChangeArrowheads="1"/>
          </p:cNvSpPr>
          <p:nvPr/>
        </p:nvSpPr>
        <p:spPr bwMode="auto">
          <a:xfrm rot="10800000">
            <a:off x="7848600" y="3581400"/>
            <a:ext cx="152400" cy="304800"/>
          </a:xfrm>
          <a:prstGeom prst="upArrow">
            <a:avLst>
              <a:gd name="adj1" fmla="val 50000"/>
              <a:gd name="adj2" fmla="val 50000"/>
            </a:avLst>
          </a:prstGeom>
          <a:solidFill>
            <a:srgbClr val="80000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17" name="Line 4"/>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8" name="Rectangle 1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Assumptions in Financial Reporting</a:t>
            </a:r>
          </a:p>
        </p:txBody>
      </p:sp>
      <p:sp>
        <p:nvSpPr>
          <p:cNvPr id="19"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6</a:t>
            </a:r>
          </a:p>
        </p:txBody>
      </p:sp>
    </p:spTree>
    <p:extLst>
      <p:ext uri="{BB962C8B-B14F-4D97-AF65-F5344CB8AC3E}">
        <p14:creationId xmlns:p14="http://schemas.microsoft.com/office/powerpoint/2010/main" val="178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1498"/>
                                        </p:tgtEl>
                                        <p:attrNameLst>
                                          <p:attrName>style.visibility</p:attrName>
                                        </p:attrNameLst>
                                      </p:cBhvr>
                                      <p:to>
                                        <p:strVal val="visible"/>
                                      </p:to>
                                    </p:set>
                                    <p:animEffect transition="in" filter="wipe(up)">
                                      <p:cBhvr>
                                        <p:cTn id="7" dur="500"/>
                                        <p:tgtEl>
                                          <p:spTgt spid="1914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1499"/>
                                        </p:tgtEl>
                                        <p:attrNameLst>
                                          <p:attrName>style.visibility</p:attrName>
                                        </p:attrNameLst>
                                      </p:cBhvr>
                                      <p:to>
                                        <p:strVal val="visible"/>
                                      </p:to>
                                    </p:set>
                                    <p:animEffect transition="in" filter="wipe(up)">
                                      <p:cBhvr>
                                        <p:cTn id="12" dur="500"/>
                                        <p:tgtEl>
                                          <p:spTgt spid="191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8" grpId="0"/>
      <p:bldP spid="191499"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41" name="AutoShape 5"/>
          <p:cNvSpPr>
            <a:spLocks noChangeArrowheads="1"/>
          </p:cNvSpPr>
          <p:nvPr/>
        </p:nvSpPr>
        <p:spPr bwMode="auto">
          <a:xfrm rot="10800000">
            <a:off x="4038600" y="3352800"/>
            <a:ext cx="152400" cy="304800"/>
          </a:xfrm>
          <a:prstGeom prst="upArrow">
            <a:avLst>
              <a:gd name="adj1" fmla="val 50000"/>
              <a:gd name="adj2" fmla="val 50000"/>
            </a:avLst>
          </a:prstGeom>
          <a:solidFill>
            <a:srgbClr val="80000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193544" name="AutoShape 8"/>
          <p:cNvSpPr>
            <a:spLocks noChangeArrowheads="1"/>
          </p:cNvSpPr>
          <p:nvPr/>
        </p:nvSpPr>
        <p:spPr bwMode="auto">
          <a:xfrm rot="10800000">
            <a:off x="7848600" y="3352800"/>
            <a:ext cx="152400" cy="304800"/>
          </a:xfrm>
          <a:prstGeom prst="upArrow">
            <a:avLst>
              <a:gd name="adj1" fmla="val 50000"/>
              <a:gd name="adj2" fmla="val 50000"/>
            </a:avLst>
          </a:prstGeom>
          <a:solidFill>
            <a:srgbClr val="80000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6963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746250"/>
            <a:ext cx="2743200" cy="1454150"/>
          </a:xfrm>
          <a:prstGeom prst="rect">
            <a:avLst/>
          </a:prstGeom>
          <a:noFill/>
          <a:ln w="19050" cap="sq">
            <a:solidFill>
              <a:schemeClr val="tx1"/>
            </a:solidFill>
            <a:miter lim="800000"/>
            <a:headEnd type="none" w="sm" len="sm"/>
            <a:tailEnd type="none" w="sm" len="sm"/>
          </a:ln>
          <a:effectLst>
            <a:innerShdw blurRad="114300">
              <a:prstClr val="black"/>
            </a:innerShdw>
          </a:effectLst>
          <a:extLst>
            <a:ext uri="{909E8E84-426E-40DD-AFC4-6F175D3DCCD1}">
              <a14:hiddenFill xmlns:a14="http://schemas.microsoft.com/office/drawing/2010/main">
                <a:solidFill>
                  <a:schemeClr val="accent1"/>
                </a:solidFill>
              </a14:hiddenFill>
            </a:ext>
          </a:extLst>
        </p:spPr>
      </p:pic>
      <p:sp>
        <p:nvSpPr>
          <p:cNvPr id="69638" name="Rectangle 10"/>
          <p:cNvSpPr>
            <a:spLocks noChangeArrowheads="1"/>
          </p:cNvSpPr>
          <p:nvPr/>
        </p:nvSpPr>
        <p:spPr bwMode="auto">
          <a:xfrm>
            <a:off x="6400800" y="3683000"/>
            <a:ext cx="304800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100" dirty="0">
                <a:solidFill>
                  <a:schemeClr val="tx2">
                    <a:lumMod val="75000"/>
                  </a:schemeClr>
                </a:solidFill>
                <a:latin typeface="Liberation Sans" panose="020B0604020202020204" pitchFamily="34" charset="0"/>
              </a:rPr>
              <a:t>Going Concern</a:t>
            </a:r>
          </a:p>
        </p:txBody>
      </p:sp>
      <p:sp>
        <p:nvSpPr>
          <p:cNvPr id="193547" name="Rectangle 11"/>
          <p:cNvSpPr>
            <a:spLocks noChangeArrowheads="1"/>
          </p:cNvSpPr>
          <p:nvPr/>
        </p:nvSpPr>
        <p:spPr bwMode="auto">
          <a:xfrm>
            <a:off x="6477000" y="4067176"/>
            <a:ext cx="2971800" cy="1039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lnSpc>
                <a:spcPct val="115000"/>
              </a:lnSpc>
            </a:pPr>
            <a:r>
              <a:rPr lang="en-US" altLang="en-US" sz="1800" b="0" dirty="0">
                <a:solidFill>
                  <a:schemeClr val="tx1"/>
                </a:solidFill>
                <a:latin typeface="Liberation Sans" panose="020B0604020202020204" pitchFamily="34" charset="0"/>
              </a:rPr>
              <a:t>The business will remain in operation for the foreseeable future.</a:t>
            </a:r>
          </a:p>
        </p:txBody>
      </p:sp>
      <p:sp>
        <p:nvSpPr>
          <p:cNvPr id="69640" name="Rectangle 12"/>
          <p:cNvSpPr>
            <a:spLocks noChangeArrowheads="1"/>
          </p:cNvSpPr>
          <p:nvPr/>
        </p:nvSpPr>
        <p:spPr bwMode="auto">
          <a:xfrm>
            <a:off x="2895600" y="3698875"/>
            <a:ext cx="251460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100" dirty="0">
                <a:solidFill>
                  <a:schemeClr val="tx2">
                    <a:lumMod val="75000"/>
                  </a:schemeClr>
                </a:solidFill>
                <a:latin typeface="Liberation Sans" panose="020B0604020202020204" pitchFamily="34" charset="0"/>
              </a:rPr>
              <a:t>Time Period</a:t>
            </a:r>
          </a:p>
        </p:txBody>
      </p:sp>
      <p:sp>
        <p:nvSpPr>
          <p:cNvPr id="193549" name="Rectangle 13"/>
          <p:cNvSpPr>
            <a:spLocks noChangeArrowheads="1"/>
          </p:cNvSpPr>
          <p:nvPr/>
        </p:nvSpPr>
        <p:spPr bwMode="auto">
          <a:xfrm>
            <a:off x="2514600" y="4114801"/>
            <a:ext cx="3276600" cy="1039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lnSpc>
                <a:spcPct val="115000"/>
              </a:lnSpc>
            </a:pPr>
            <a:r>
              <a:rPr lang="en-US" altLang="en-US" sz="1800" b="0" dirty="0">
                <a:solidFill>
                  <a:schemeClr val="tx1"/>
                </a:solidFill>
                <a:latin typeface="Liberation Sans" panose="020B0604020202020204" pitchFamily="34" charset="0"/>
              </a:rPr>
              <a:t>States that the life of a business can be divided into artificial time periods.</a:t>
            </a:r>
          </a:p>
        </p:txBody>
      </p:sp>
      <p:pic>
        <p:nvPicPr>
          <p:cNvPr id="69642"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1676401"/>
            <a:ext cx="2743200" cy="1520825"/>
          </a:xfrm>
          <a:prstGeom prst="rect">
            <a:avLst/>
          </a:prstGeom>
          <a:noFill/>
          <a:ln w="19050" cap="sq">
            <a:solidFill>
              <a:schemeClr val="tx1"/>
            </a:solidFill>
            <a:miter lim="800000"/>
            <a:headEnd type="none" w="sm" len="sm"/>
            <a:tailEnd type="none" w="sm" len="sm"/>
          </a:ln>
          <a:effectLst>
            <a:innerShdw blurRad="114300">
              <a:prstClr val="black"/>
            </a:innerShdw>
          </a:effectLst>
          <a:extLst>
            <a:ext uri="{909E8E84-426E-40DD-AFC4-6F175D3DCCD1}">
              <a14:hiddenFill xmlns:a14="http://schemas.microsoft.com/office/drawing/2010/main">
                <a:solidFill>
                  <a:schemeClr val="accent1"/>
                </a:solidFill>
              </a14:hiddenFill>
            </a:ext>
          </a:extLst>
        </p:spPr>
      </p:pic>
      <p:sp>
        <p:nvSpPr>
          <p:cNvPr id="17" name="Line 4"/>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8" name="Rectangle 17"/>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Assumptions in Financial Reporting</a:t>
            </a:r>
          </a:p>
        </p:txBody>
      </p:sp>
      <p:sp>
        <p:nvSpPr>
          <p:cNvPr id="19" name="Text Box 9"/>
          <p:cNvSpPr txBox="1">
            <a:spLocks noChangeArrowheads="1"/>
          </p:cNvSpPr>
          <p:nvPr/>
        </p:nvSpPr>
        <p:spPr bwMode="auto">
          <a:xfrm>
            <a:off x="8763000" y="1249362"/>
            <a:ext cx="1447800" cy="27463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28575">
                <a:solidFill>
                  <a:srgbClr val="8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r"/>
            <a:r>
              <a:rPr lang="en-US" altLang="en-US" sz="1200" dirty="0">
                <a:solidFill>
                  <a:schemeClr val="tx1"/>
                </a:solidFill>
                <a:latin typeface="Liberation Sans" panose="020B0604020202020204" pitchFamily="34" charset="0"/>
              </a:rPr>
              <a:t>Illustration 3B-2</a:t>
            </a:r>
          </a:p>
        </p:txBody>
      </p:sp>
      <p:sp>
        <p:nvSpPr>
          <p:cNvPr id="20"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6</a:t>
            </a:r>
          </a:p>
        </p:txBody>
      </p:sp>
    </p:spTree>
    <p:extLst>
      <p:ext uri="{BB962C8B-B14F-4D97-AF65-F5344CB8AC3E}">
        <p14:creationId xmlns:p14="http://schemas.microsoft.com/office/powerpoint/2010/main" val="817898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3549"/>
                                        </p:tgtEl>
                                        <p:attrNameLst>
                                          <p:attrName>style.visibility</p:attrName>
                                        </p:attrNameLst>
                                      </p:cBhvr>
                                      <p:to>
                                        <p:strVal val="visible"/>
                                      </p:to>
                                    </p:set>
                                    <p:animEffect transition="in" filter="wipe(up)">
                                      <p:cBhvr>
                                        <p:cTn id="7" dur="500"/>
                                        <p:tgtEl>
                                          <p:spTgt spid="1935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3547"/>
                                        </p:tgtEl>
                                        <p:attrNameLst>
                                          <p:attrName>style.visibility</p:attrName>
                                        </p:attrNameLst>
                                      </p:cBhvr>
                                      <p:to>
                                        <p:strVal val="visible"/>
                                      </p:to>
                                    </p:set>
                                    <p:animEffect transition="in" filter="wipe(up)">
                                      <p:cBhvr>
                                        <p:cTn id="12" dur="500"/>
                                        <p:tgtEl>
                                          <p:spTgt spid="193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7" grpId="0"/>
      <p:bldP spid="19354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5"/>
          <p:cNvSpPr>
            <a:spLocks noChangeArrowheads="1"/>
          </p:cNvSpPr>
          <p:nvPr/>
        </p:nvSpPr>
        <p:spPr bwMode="auto">
          <a:xfrm>
            <a:off x="2590800" y="1295400"/>
            <a:ext cx="43434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2200" dirty="0">
                <a:solidFill>
                  <a:schemeClr val="tx1"/>
                </a:solidFill>
                <a:latin typeface="Liberation Sans" panose="020B0604020202020204" pitchFamily="34" charset="0"/>
              </a:rPr>
              <a:t>MEASUREMENT PRINCIPLES</a:t>
            </a:r>
          </a:p>
        </p:txBody>
      </p:sp>
      <p:sp>
        <p:nvSpPr>
          <p:cNvPr id="70660" name="Rectangle 6"/>
          <p:cNvSpPr>
            <a:spLocks noChangeArrowheads="1"/>
          </p:cNvSpPr>
          <p:nvPr/>
        </p:nvSpPr>
        <p:spPr bwMode="auto">
          <a:xfrm>
            <a:off x="2209800" y="2043114"/>
            <a:ext cx="2362200" cy="463973"/>
          </a:xfrm>
          <a:prstGeom prst="rect">
            <a:avLst/>
          </a:prstGeom>
          <a:solidFill>
            <a:srgbClr val="F0DCDC"/>
          </a:solidFill>
          <a:ln w="1905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lnSpc>
                <a:spcPct val="115000"/>
              </a:lnSpc>
            </a:pPr>
            <a:r>
              <a:rPr lang="en-US" altLang="en-US" sz="2100" dirty="0">
                <a:solidFill>
                  <a:schemeClr val="tx2">
                    <a:lumMod val="75000"/>
                  </a:schemeClr>
                </a:solidFill>
                <a:latin typeface="Liberation Sans" panose="020B0604020202020204" pitchFamily="34" charset="0"/>
              </a:rPr>
              <a:t>Historical Cost</a:t>
            </a:r>
            <a:endParaRPr lang="en-US" altLang="en-US" sz="2100" b="0" dirty="0">
              <a:solidFill>
                <a:schemeClr val="tx2">
                  <a:lumMod val="75000"/>
                </a:schemeClr>
              </a:solidFill>
              <a:latin typeface="Liberation Sans" panose="020B0604020202020204" pitchFamily="34" charset="0"/>
            </a:endParaRPr>
          </a:p>
        </p:txBody>
      </p:sp>
      <p:sp>
        <p:nvSpPr>
          <p:cNvPr id="70661" name="Rectangle 7"/>
          <p:cNvSpPr>
            <a:spLocks noChangeArrowheads="1"/>
          </p:cNvSpPr>
          <p:nvPr/>
        </p:nvSpPr>
        <p:spPr bwMode="auto">
          <a:xfrm>
            <a:off x="4953000" y="2043114"/>
            <a:ext cx="2362200" cy="463973"/>
          </a:xfrm>
          <a:prstGeom prst="rect">
            <a:avLst/>
          </a:prstGeom>
          <a:solidFill>
            <a:srgbClr val="F0DCDC"/>
          </a:solidFill>
          <a:ln w="1905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5000"/>
              </a:lnSpc>
            </a:pPr>
            <a:r>
              <a:rPr lang="en-US" altLang="en-US" sz="2100" dirty="0">
                <a:solidFill>
                  <a:schemeClr val="tx2">
                    <a:lumMod val="75000"/>
                  </a:schemeClr>
                </a:solidFill>
                <a:latin typeface="Liberation Sans" panose="020B0604020202020204" pitchFamily="34" charset="0"/>
              </a:rPr>
              <a:t>Fair Value</a:t>
            </a:r>
          </a:p>
        </p:txBody>
      </p:sp>
      <p:sp>
        <p:nvSpPr>
          <p:cNvPr id="195593" name="Rectangle 9"/>
          <p:cNvSpPr>
            <a:spLocks noChangeArrowheads="1"/>
          </p:cNvSpPr>
          <p:nvPr/>
        </p:nvSpPr>
        <p:spPr bwMode="auto">
          <a:xfrm>
            <a:off x="2209800" y="2514601"/>
            <a:ext cx="2362200"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8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lnSpc>
                <a:spcPct val="115000"/>
              </a:lnSpc>
            </a:pPr>
            <a:r>
              <a:rPr lang="en-US" altLang="en-US" sz="2000" b="0" dirty="0">
                <a:solidFill>
                  <a:schemeClr val="tx1"/>
                </a:solidFill>
                <a:latin typeface="Liberation Sans" panose="020B0604020202020204" pitchFamily="34" charset="0"/>
              </a:rPr>
              <a:t>Or cost principle, dictates that companies record assets at their cost.</a:t>
            </a:r>
          </a:p>
        </p:txBody>
      </p:sp>
      <p:sp>
        <p:nvSpPr>
          <p:cNvPr id="195594" name="Rectangle 10"/>
          <p:cNvSpPr>
            <a:spLocks noChangeArrowheads="1"/>
          </p:cNvSpPr>
          <p:nvPr/>
        </p:nvSpPr>
        <p:spPr bwMode="auto">
          <a:xfrm>
            <a:off x="4953000" y="2514601"/>
            <a:ext cx="2362200" cy="289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8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lnSpc>
                <a:spcPct val="115000"/>
              </a:lnSpc>
            </a:pPr>
            <a:r>
              <a:rPr lang="en-US" altLang="en-US" sz="2000" b="0" dirty="0">
                <a:solidFill>
                  <a:schemeClr val="tx1"/>
                </a:solidFill>
                <a:latin typeface="Liberation Sans" panose="020B0604020202020204" pitchFamily="34" charset="0"/>
              </a:rPr>
              <a:t>Indicates that assets and liabilities should be reported at fair value (the price received to sell an asset or settle</a:t>
            </a:r>
          </a:p>
          <a:p>
            <a:pPr algn="ctr">
              <a:lnSpc>
                <a:spcPct val="115000"/>
              </a:lnSpc>
            </a:pPr>
            <a:r>
              <a:rPr lang="en-US" altLang="en-US" sz="2000" b="0" dirty="0">
                <a:solidFill>
                  <a:schemeClr val="tx1"/>
                </a:solidFill>
                <a:latin typeface="Liberation Sans" panose="020B0604020202020204" pitchFamily="34" charset="0"/>
              </a:rPr>
              <a:t>a liability). </a:t>
            </a:r>
          </a:p>
        </p:txBody>
      </p:sp>
      <p:sp>
        <p:nvSpPr>
          <p:cNvPr id="195596" name="Rectangle 12"/>
          <p:cNvSpPr>
            <a:spLocks noChangeArrowheads="1"/>
          </p:cNvSpPr>
          <p:nvPr/>
        </p:nvSpPr>
        <p:spPr bwMode="auto">
          <a:xfrm>
            <a:off x="2133600" y="1981200"/>
            <a:ext cx="2514600" cy="3505200"/>
          </a:xfrm>
          <a:prstGeom prst="rect">
            <a:avLst/>
          </a:prstGeom>
          <a:noFill/>
          <a:ln w="1905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C0C0C0"/>
                </a:outerShdw>
              </a:effectLst>
              <a:latin typeface="Liberation Sans" panose="020B0604020202020204" pitchFamily="34" charset="0"/>
            </a:endParaRPr>
          </a:p>
        </p:txBody>
      </p:sp>
      <p:sp>
        <p:nvSpPr>
          <p:cNvPr id="195597" name="Rectangle 13"/>
          <p:cNvSpPr>
            <a:spLocks noChangeArrowheads="1"/>
          </p:cNvSpPr>
          <p:nvPr/>
        </p:nvSpPr>
        <p:spPr bwMode="auto">
          <a:xfrm>
            <a:off x="4876800" y="1981200"/>
            <a:ext cx="2514600" cy="3505200"/>
          </a:xfrm>
          <a:prstGeom prst="rect">
            <a:avLst/>
          </a:prstGeom>
          <a:noFill/>
          <a:ln w="1905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C0C0C0"/>
                </a:outerShdw>
              </a:effectLst>
              <a:latin typeface="Liberation Sans" panose="020B0604020202020204" pitchFamily="34" charset="0"/>
            </a:endParaRPr>
          </a:p>
        </p:txBody>
      </p:sp>
      <p:sp>
        <p:nvSpPr>
          <p:cNvPr id="195599" name="Line 15"/>
          <p:cNvSpPr>
            <a:spLocks noChangeShapeType="1"/>
          </p:cNvSpPr>
          <p:nvPr/>
        </p:nvSpPr>
        <p:spPr bwMode="auto">
          <a:xfrm>
            <a:off x="2133600" y="1814513"/>
            <a:ext cx="5257800"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6" name="Line 4"/>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7" name="Rectangle 16"/>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Principles of Financial Reporting</a:t>
            </a:r>
          </a:p>
        </p:txBody>
      </p:sp>
      <p:sp>
        <p:nvSpPr>
          <p:cNvPr id="18"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6</a:t>
            </a:r>
          </a:p>
        </p:txBody>
      </p:sp>
    </p:spTree>
    <p:extLst>
      <p:ext uri="{BB962C8B-B14F-4D97-AF65-F5344CB8AC3E}">
        <p14:creationId xmlns:p14="http://schemas.microsoft.com/office/powerpoint/2010/main" val="1807792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5593"/>
                                        </p:tgtEl>
                                        <p:attrNameLst>
                                          <p:attrName>style.visibility</p:attrName>
                                        </p:attrNameLst>
                                      </p:cBhvr>
                                      <p:to>
                                        <p:strVal val="visible"/>
                                      </p:to>
                                    </p:set>
                                    <p:animEffect transition="in" filter="wipe(up)">
                                      <p:cBhvr>
                                        <p:cTn id="7" dur="500"/>
                                        <p:tgtEl>
                                          <p:spTgt spid="1955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5594"/>
                                        </p:tgtEl>
                                        <p:attrNameLst>
                                          <p:attrName>style.visibility</p:attrName>
                                        </p:attrNameLst>
                                      </p:cBhvr>
                                      <p:to>
                                        <p:strVal val="visible"/>
                                      </p:to>
                                    </p:set>
                                    <p:animEffect transition="in" filter="wipe(up)">
                                      <p:cBhvr>
                                        <p:cTn id="12" dur="500"/>
                                        <p:tgtEl>
                                          <p:spTgt spid="195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93" grpId="0"/>
      <p:bldP spid="19559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7" name="Rectangle 5"/>
          <p:cNvSpPr>
            <a:spLocks noChangeArrowheads="1"/>
          </p:cNvSpPr>
          <p:nvPr/>
        </p:nvSpPr>
        <p:spPr bwMode="auto">
          <a:xfrm>
            <a:off x="4953000" y="2209800"/>
            <a:ext cx="5105400" cy="17526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C0C0C0"/>
                </a:outerShdw>
              </a:effectLst>
              <a:latin typeface="Liberation Sans" panose="020B0604020202020204" pitchFamily="34" charset="0"/>
            </a:endParaRPr>
          </a:p>
        </p:txBody>
      </p:sp>
      <p:sp>
        <p:nvSpPr>
          <p:cNvPr id="197638" name="Rectangle 6"/>
          <p:cNvSpPr>
            <a:spLocks noChangeArrowheads="1"/>
          </p:cNvSpPr>
          <p:nvPr/>
        </p:nvSpPr>
        <p:spPr bwMode="auto">
          <a:xfrm>
            <a:off x="4953000" y="4267200"/>
            <a:ext cx="5105400" cy="18288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C0C0C0"/>
                </a:outerShdw>
              </a:effectLst>
              <a:latin typeface="Liberation Sans" panose="020B0604020202020204" pitchFamily="34" charset="0"/>
            </a:endParaRPr>
          </a:p>
        </p:txBody>
      </p:sp>
      <p:sp>
        <p:nvSpPr>
          <p:cNvPr id="72709" name="Rectangle 7"/>
          <p:cNvSpPr>
            <a:spLocks noChangeArrowheads="1"/>
          </p:cNvSpPr>
          <p:nvPr/>
        </p:nvSpPr>
        <p:spPr bwMode="auto">
          <a:xfrm>
            <a:off x="6248400" y="1447801"/>
            <a:ext cx="3048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r>
              <a:rPr lang="en-US" altLang="en-US" sz="2400" dirty="0">
                <a:solidFill>
                  <a:schemeClr val="tx2">
                    <a:lumMod val="75000"/>
                  </a:schemeClr>
                </a:solidFill>
                <a:latin typeface="Liberation Sans" panose="020B0604020202020204" pitchFamily="34" charset="0"/>
              </a:rPr>
              <a:t>Cost Constraint</a:t>
            </a:r>
          </a:p>
        </p:txBody>
      </p:sp>
      <p:sp>
        <p:nvSpPr>
          <p:cNvPr id="197640" name="Rectangle 8"/>
          <p:cNvSpPr>
            <a:spLocks noChangeArrowheads="1"/>
          </p:cNvSpPr>
          <p:nvPr/>
        </p:nvSpPr>
        <p:spPr bwMode="auto">
          <a:xfrm>
            <a:off x="5562600" y="1981201"/>
            <a:ext cx="4419600" cy="230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gn="ctr">
              <a:lnSpc>
                <a:spcPct val="115000"/>
              </a:lnSpc>
            </a:pPr>
            <a:r>
              <a:rPr lang="en-US" altLang="en-US" sz="2100" b="0" dirty="0">
                <a:solidFill>
                  <a:schemeClr val="tx1"/>
                </a:solidFill>
                <a:latin typeface="Liberation Sans" panose="020B0604020202020204" pitchFamily="34" charset="0"/>
              </a:rPr>
              <a:t>Accounting standard-setters weigh the cost that companies will incur to provide the information against the benefit that financial statement users will gain from having the information available.</a:t>
            </a:r>
          </a:p>
        </p:txBody>
      </p:sp>
      <p:pic>
        <p:nvPicPr>
          <p:cNvPr id="7271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600201"/>
            <a:ext cx="2971800" cy="190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Line 4"/>
          <p:cNvSpPr>
            <a:spLocks noChangeShapeType="1"/>
          </p:cNvSpPr>
          <p:nvPr/>
        </p:nvSpPr>
        <p:spPr bwMode="auto">
          <a:xfrm>
            <a:off x="1828800" y="990600"/>
            <a:ext cx="8534400" cy="0"/>
          </a:xfrm>
          <a:prstGeom prst="line">
            <a:avLst/>
          </a:prstGeom>
          <a:noFill/>
          <a:ln w="571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dirty="0">
              <a:effectLst>
                <a:outerShdw blurRad="38100" dist="38100" dir="2700000" algn="tl">
                  <a:srgbClr val="000000">
                    <a:alpha val="43137"/>
                  </a:srgbClr>
                </a:outerShdw>
              </a:effectLst>
              <a:latin typeface="Liberation Sans" panose="020B0604020202020204" pitchFamily="34" charset="0"/>
            </a:endParaRPr>
          </a:p>
        </p:txBody>
      </p:sp>
      <p:sp>
        <p:nvSpPr>
          <p:cNvPr id="14" name="Rectangle 13"/>
          <p:cNvSpPr>
            <a:spLocks noChangeArrowheads="1"/>
          </p:cNvSpPr>
          <p:nvPr/>
        </p:nvSpPr>
        <p:spPr bwMode="auto">
          <a:xfrm>
            <a:off x="2133600" y="304800"/>
            <a:ext cx="8229600" cy="560388"/>
          </a:xfrm>
          <a:prstGeom prst="rect">
            <a:avLst/>
          </a:prstGeom>
          <a:noFill/>
          <a:ln w="63500">
            <a:noFill/>
            <a:miter lim="800000"/>
          </a:ln>
          <a:effectLst/>
        </p:spPr>
        <p:txBody>
          <a:bodyPr vert="horz" wrap="square" lIns="90488" tIns="44450" rIns="90488" bIns="44450" numCol="1" anchor="ctr" anchorCtr="0" compatLnSpc="1"/>
          <a:lstStyle/>
          <a:p>
            <a:r>
              <a:rPr lang="en-US" altLang="en-US" sz="3200" dirty="0">
                <a:solidFill>
                  <a:schemeClr val="tx2">
                    <a:lumMod val="75000"/>
                  </a:schemeClr>
                </a:solidFill>
                <a:latin typeface="Liberation Sans" panose="020B0604020202020204" pitchFamily="34" charset="0"/>
              </a:rPr>
              <a:t>Cost Constraint</a:t>
            </a:r>
          </a:p>
        </p:txBody>
      </p:sp>
      <p:sp>
        <p:nvSpPr>
          <p:cNvPr id="15"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6</a:t>
            </a:r>
          </a:p>
        </p:txBody>
      </p:sp>
    </p:spTree>
    <p:extLst>
      <p:ext uri="{BB962C8B-B14F-4D97-AF65-F5344CB8AC3E}">
        <p14:creationId xmlns:p14="http://schemas.microsoft.com/office/powerpoint/2010/main" val="29311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7640"/>
                                        </p:tgtEl>
                                        <p:attrNameLst>
                                          <p:attrName>style.visibility</p:attrName>
                                        </p:attrNameLst>
                                      </p:cBhvr>
                                      <p:to>
                                        <p:strVal val="visible"/>
                                      </p:to>
                                    </p:set>
                                    <p:animEffect transition="in" filter="wipe(up)">
                                      <p:cBhvr>
                                        <p:cTn id="7" dur="500"/>
                                        <p:tgtEl>
                                          <p:spTgt spid="197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4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1814286" y="1503045"/>
            <a:ext cx="2249714" cy="677228"/>
          </a:xfrm>
          <a:prstGeom prst="rect">
            <a:avLst/>
          </a:prstGeom>
          <a:solidFill>
            <a:schemeClr val="bg1">
              <a:lumMod val="85000"/>
            </a:schemeClr>
          </a:solidFill>
          <a:ln>
            <a:noFill/>
          </a:ln>
          <a:effectLst/>
        </p:spPr>
        <p:txBody>
          <a:bodyPr wrap="none" lIns="86493" tIns="43247" rIns="86493" bIns="43247" anchor="ctr"/>
          <a:lstStyle/>
          <a:p>
            <a:r>
              <a:rPr lang="en-US" altLang="en-US" sz="1700" dirty="0">
                <a:latin typeface="Liberation Sans" panose="020B0604020202020204" pitchFamily="34" charset="0"/>
              </a:rPr>
              <a:t>LEARNING</a:t>
            </a:r>
          </a:p>
          <a:p>
            <a:r>
              <a:rPr lang="en-US" altLang="en-US" sz="1700" dirty="0">
                <a:latin typeface="Liberation Sans" panose="020B0604020202020204" pitchFamily="34" charset="0"/>
              </a:rPr>
              <a:t>OBJECTIVE</a:t>
            </a:r>
          </a:p>
        </p:txBody>
      </p:sp>
      <p:sp>
        <p:nvSpPr>
          <p:cNvPr id="73731" name="Rectangle 2"/>
          <p:cNvSpPr>
            <a:spLocks noChangeArrowheads="1"/>
          </p:cNvSpPr>
          <p:nvPr/>
        </p:nvSpPr>
        <p:spPr bwMode="auto">
          <a:xfrm>
            <a:off x="2057400" y="2438401"/>
            <a:ext cx="2590800"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r>
              <a:rPr lang="en-US" altLang="en-US" sz="2400" dirty="0">
                <a:solidFill>
                  <a:srgbClr val="A50021"/>
                </a:solidFill>
                <a:latin typeface="Liberation Sans" panose="020B0604020202020204" pitchFamily="34" charset="0"/>
              </a:rPr>
              <a:t>Key Points</a:t>
            </a:r>
          </a:p>
        </p:txBody>
      </p:sp>
      <p:sp>
        <p:nvSpPr>
          <p:cNvPr id="73732" name="Rectangle 3"/>
          <p:cNvSpPr>
            <a:spLocks noChangeArrowheads="1"/>
          </p:cNvSpPr>
          <p:nvPr/>
        </p:nvSpPr>
        <p:spPr bwMode="auto">
          <a:xfrm>
            <a:off x="2057400" y="2941638"/>
            <a:ext cx="8153400" cy="358995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spAutoFit/>
          </a:bodyPr>
          <a:lstStyle>
            <a:lvl1pPr marL="342900" indent="-342900">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lvl="1" indent="0">
              <a:lnSpc>
                <a:spcPct val="115000"/>
              </a:lnSpc>
              <a:spcBef>
                <a:spcPct val="50000"/>
              </a:spcBef>
              <a:buClr>
                <a:srgbClr val="800000"/>
              </a:buClr>
              <a:buSzPct val="80000"/>
            </a:pPr>
            <a:r>
              <a:rPr lang="en-US" altLang="en-US" sz="2100" dirty="0">
                <a:solidFill>
                  <a:schemeClr val="tx1"/>
                </a:solidFill>
                <a:latin typeface="Liberation Sans" panose="020B0604020202020204" pitchFamily="34" charset="0"/>
              </a:rPr>
              <a:t>Similarities</a:t>
            </a:r>
          </a:p>
          <a:p>
            <a:pPr lvl="1">
              <a:lnSpc>
                <a:spcPct val="115000"/>
              </a:lnSpc>
              <a:spcBef>
                <a:spcPct val="50000"/>
              </a:spcBef>
              <a:buClr>
                <a:srgbClr val="800000"/>
              </a:buClr>
              <a:buSzPct val="80000"/>
              <a:buFont typeface="Wingdings" panose="05000000000000000000" pitchFamily="2" charset="2"/>
              <a:buChar char="u"/>
            </a:pPr>
            <a:r>
              <a:rPr lang="en-US" altLang="en-US" sz="1900" b="0" dirty="0">
                <a:solidFill>
                  <a:schemeClr val="tx1"/>
                </a:solidFill>
                <a:latin typeface="Liberation Sans" panose="020B0604020202020204" pitchFamily="34" charset="0"/>
              </a:rPr>
              <a:t>Companies applying </a:t>
            </a:r>
            <a:r>
              <a:rPr lang="en-US" altLang="en-US" sz="1900" dirty="0">
                <a:solidFill>
                  <a:schemeClr val="tx1"/>
                </a:solidFill>
                <a:latin typeface="Liberation Sans" panose="020B0604020202020204" pitchFamily="34" charset="0"/>
              </a:rPr>
              <a:t>IFRS</a:t>
            </a:r>
            <a:r>
              <a:rPr lang="en-US" altLang="en-US" sz="1900" b="0" dirty="0">
                <a:solidFill>
                  <a:schemeClr val="tx1"/>
                </a:solidFill>
                <a:latin typeface="Liberation Sans" panose="020B0604020202020204" pitchFamily="34" charset="0"/>
              </a:rPr>
              <a:t> also use accrual-basis accounting to ensure that they record transactions that change a company’s financial statements in the period in which events occur.</a:t>
            </a:r>
          </a:p>
          <a:p>
            <a:pPr lvl="1">
              <a:lnSpc>
                <a:spcPct val="115000"/>
              </a:lnSpc>
              <a:spcBef>
                <a:spcPct val="50000"/>
              </a:spcBef>
              <a:buClr>
                <a:srgbClr val="800000"/>
              </a:buClr>
              <a:buSzPct val="80000"/>
              <a:buFont typeface="Wingdings" panose="05000000000000000000" pitchFamily="2" charset="2"/>
              <a:buChar char="u"/>
            </a:pPr>
            <a:r>
              <a:rPr lang="en-US" altLang="en-US" sz="1900" b="0" dirty="0">
                <a:solidFill>
                  <a:schemeClr val="tx1"/>
                </a:solidFill>
                <a:latin typeface="Liberation Sans" panose="020B0604020202020204" pitchFamily="34" charset="0"/>
              </a:rPr>
              <a:t>Similar to </a:t>
            </a:r>
            <a:r>
              <a:rPr lang="en-US" altLang="en-US" sz="1900" dirty="0">
                <a:solidFill>
                  <a:schemeClr val="tx1"/>
                </a:solidFill>
                <a:latin typeface="Liberation Sans" panose="020B0604020202020204" pitchFamily="34" charset="0"/>
              </a:rPr>
              <a:t>GAAP</a:t>
            </a:r>
            <a:r>
              <a:rPr lang="en-US" altLang="en-US" sz="1900" b="0" dirty="0">
                <a:solidFill>
                  <a:schemeClr val="tx1"/>
                </a:solidFill>
                <a:latin typeface="Liberation Sans" panose="020B0604020202020204" pitchFamily="34" charset="0"/>
              </a:rPr>
              <a:t>, cash-basis accounting is not in accordance with </a:t>
            </a:r>
            <a:r>
              <a:rPr lang="en-US" altLang="en-US" sz="1900" dirty="0">
                <a:solidFill>
                  <a:schemeClr val="tx1"/>
                </a:solidFill>
                <a:latin typeface="Liberation Sans" panose="020B0604020202020204" pitchFamily="34" charset="0"/>
              </a:rPr>
              <a:t>IFRS</a:t>
            </a:r>
            <a:r>
              <a:rPr lang="en-US" altLang="en-US" sz="1900" b="0" dirty="0">
                <a:solidFill>
                  <a:schemeClr val="tx1"/>
                </a:solidFill>
                <a:latin typeface="Liberation Sans" panose="020B0604020202020204" pitchFamily="34" charset="0"/>
              </a:rPr>
              <a:t>.</a:t>
            </a:r>
          </a:p>
          <a:p>
            <a:pPr lvl="1">
              <a:lnSpc>
                <a:spcPct val="115000"/>
              </a:lnSpc>
              <a:spcBef>
                <a:spcPct val="50000"/>
              </a:spcBef>
              <a:buClr>
                <a:srgbClr val="800000"/>
              </a:buClr>
              <a:buSzPct val="80000"/>
              <a:buFont typeface="Wingdings" panose="05000000000000000000" pitchFamily="2" charset="2"/>
              <a:buChar char="u"/>
            </a:pPr>
            <a:r>
              <a:rPr lang="en-US" altLang="en-US" sz="1900" dirty="0">
                <a:solidFill>
                  <a:schemeClr val="tx1"/>
                </a:solidFill>
                <a:latin typeface="Liberation Sans" panose="020B0604020202020204" pitchFamily="34" charset="0"/>
              </a:rPr>
              <a:t>IFRS</a:t>
            </a:r>
            <a:r>
              <a:rPr lang="en-US" altLang="en-US" sz="1900" b="0" dirty="0">
                <a:solidFill>
                  <a:schemeClr val="tx1"/>
                </a:solidFill>
                <a:latin typeface="Liberation Sans" panose="020B0604020202020204" pitchFamily="34" charset="0"/>
              </a:rPr>
              <a:t> also divides the economic life of companies into artificial time periods. Under both </a:t>
            </a:r>
            <a:r>
              <a:rPr lang="en-US" altLang="en-US" sz="1900" dirty="0">
                <a:solidFill>
                  <a:schemeClr val="tx1"/>
                </a:solidFill>
                <a:latin typeface="Liberation Sans" panose="020B0604020202020204" pitchFamily="34" charset="0"/>
              </a:rPr>
              <a:t>GAAP</a:t>
            </a:r>
            <a:r>
              <a:rPr lang="en-US" altLang="en-US" sz="1900" b="0" dirty="0">
                <a:solidFill>
                  <a:schemeClr val="tx1"/>
                </a:solidFill>
                <a:latin typeface="Liberation Sans" panose="020B0604020202020204" pitchFamily="34" charset="0"/>
              </a:rPr>
              <a:t> and </a:t>
            </a:r>
            <a:r>
              <a:rPr lang="en-US" altLang="en-US" sz="1900" dirty="0">
                <a:solidFill>
                  <a:schemeClr val="tx1"/>
                </a:solidFill>
                <a:latin typeface="Liberation Sans" panose="020B0604020202020204" pitchFamily="34" charset="0"/>
              </a:rPr>
              <a:t>IFRS</a:t>
            </a:r>
            <a:r>
              <a:rPr lang="en-US" altLang="en-US" sz="1900" b="0" dirty="0">
                <a:solidFill>
                  <a:schemeClr val="tx1"/>
                </a:solidFill>
                <a:latin typeface="Liberation Sans" panose="020B0604020202020204" pitchFamily="34" charset="0"/>
              </a:rPr>
              <a:t>, this is referred to as the </a:t>
            </a:r>
            <a:r>
              <a:rPr lang="en-US" altLang="en-US" sz="1900" dirty="0">
                <a:solidFill>
                  <a:schemeClr val="tx1"/>
                </a:solidFill>
                <a:latin typeface="Liberation Sans" panose="020B0604020202020204" pitchFamily="34" charset="0"/>
              </a:rPr>
              <a:t>time period assumption</a:t>
            </a:r>
            <a:r>
              <a:rPr lang="en-US" altLang="en-US" sz="1900" b="0" dirty="0">
                <a:solidFill>
                  <a:schemeClr val="tx1"/>
                </a:solidFill>
                <a:latin typeface="Liberation Sans" panose="020B0604020202020204" pitchFamily="34" charset="0"/>
              </a:rPr>
              <a:t>.</a:t>
            </a:r>
          </a:p>
        </p:txBody>
      </p:sp>
      <p:sp>
        <p:nvSpPr>
          <p:cNvPr id="175108" name="Rectangle 4"/>
          <p:cNvSpPr>
            <a:spLocks noChangeArrowheads="1"/>
          </p:cNvSpPr>
          <p:nvPr/>
        </p:nvSpPr>
        <p:spPr bwMode="auto">
          <a:xfrm>
            <a:off x="1524001"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175109" name="Rectangle 5"/>
          <p:cNvSpPr>
            <a:spLocks noChangeArrowheads="1"/>
          </p:cNvSpPr>
          <p:nvPr/>
        </p:nvSpPr>
        <p:spPr bwMode="auto">
          <a:xfrm>
            <a:off x="152400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7373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73736" name="Text Box 8"/>
          <p:cNvSpPr txBox="1">
            <a:spLocks noChangeArrowheads="1"/>
          </p:cNvSpPr>
          <p:nvPr/>
        </p:nvSpPr>
        <p:spPr bwMode="auto">
          <a:xfrm>
            <a:off x="3429000" y="414339"/>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3200" dirty="0">
                <a:latin typeface="Liberation Sans" panose="020B0604020202020204" pitchFamily="34" charset="0"/>
              </a:rPr>
              <a:t>A Look at IFRS</a:t>
            </a:r>
          </a:p>
        </p:txBody>
      </p:sp>
      <p:sp>
        <p:nvSpPr>
          <p:cNvPr id="10" name="Rectangle 5"/>
          <p:cNvSpPr>
            <a:spLocks noChangeArrowheads="1"/>
          </p:cNvSpPr>
          <p:nvPr/>
        </p:nvSpPr>
        <p:spPr bwMode="auto">
          <a:xfrm>
            <a:off x="4064001" y="1371600"/>
            <a:ext cx="6241143" cy="928688"/>
          </a:xfrm>
          <a:prstGeom prst="rect">
            <a:avLst/>
          </a:prstGeom>
          <a:solidFill>
            <a:srgbClr val="0027A4"/>
          </a:solidFill>
          <a:ln>
            <a:noFill/>
          </a:ln>
          <a:effectLst/>
        </p:spPr>
        <p:txBody>
          <a:bodyPr wrap="square" tIns="27432" anchor="ctr"/>
          <a:lstStyle/>
          <a:p>
            <a:pPr marL="53975">
              <a:spcBef>
                <a:spcPct val="50000"/>
              </a:spcBef>
            </a:pPr>
            <a:r>
              <a:rPr lang="en-US" altLang="en-US" sz="2300" dirty="0">
                <a:latin typeface="Liberation Sans" panose="020B0604020202020204" pitchFamily="34" charset="0"/>
              </a:rPr>
              <a:t>Compare the procedures for adjusting entries under GAAP and IFRS.</a:t>
            </a:r>
          </a:p>
        </p:txBody>
      </p:sp>
      <p:sp>
        <p:nvSpPr>
          <p:cNvPr id="11" name="Oval 10"/>
          <p:cNvSpPr/>
          <p:nvPr/>
        </p:nvSpPr>
        <p:spPr bwMode="auto">
          <a:xfrm>
            <a:off x="3396343" y="1583055"/>
            <a:ext cx="522514" cy="514350"/>
          </a:xfrm>
          <a:prstGeom prst="ellipse">
            <a:avLst/>
          </a:prstGeom>
          <a:solidFill>
            <a:srgbClr val="FF6600"/>
          </a:solidFill>
          <a:ln w="12700" cap="flat" cmpd="sng" algn="ctr">
            <a:noFill/>
            <a:prstDash val="solid"/>
            <a:round/>
            <a:headEnd type="none" w="med" len="med"/>
            <a:tailEnd type="none" w="med" len="med"/>
          </a:ln>
          <a:effectLst/>
        </p:spPr>
        <p:txBody>
          <a:bodyPr rot="0" spcFirstLastPara="0" vertOverflow="overflow" horzOverflow="overflow" vert="horz" wrap="square" lIns="86493" tIns="0" rIns="86493" bIns="43247" numCol="1" spcCol="0" rtlCol="0" fromWordArt="0" anchor="ctr" anchorCtr="0" forceAA="0" compatLnSpc="1">
            <a:noAutofit/>
          </a:bodyPr>
          <a:lstStyle/>
          <a:p>
            <a:pPr algn="ctr"/>
            <a:r>
              <a:rPr lang="en-US" sz="2400" dirty="0">
                <a:latin typeface="Liberation Sans" panose="020B0604020202020204" pitchFamily="34" charset="0"/>
              </a:rPr>
              <a:t>7</a:t>
            </a:r>
          </a:p>
        </p:txBody>
      </p:sp>
      <p:sp>
        <p:nvSpPr>
          <p:cNvPr id="12"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7</a:t>
            </a:r>
          </a:p>
        </p:txBody>
      </p:sp>
    </p:spTree>
    <p:extLst>
      <p:ext uri="{BB962C8B-B14F-4D97-AF65-F5344CB8AC3E}">
        <p14:creationId xmlns:p14="http://schemas.microsoft.com/office/powerpoint/2010/main" val="30309886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2057400" y="1979613"/>
            <a:ext cx="8153400" cy="30898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spAutoFit/>
          </a:bodyPr>
          <a:lstStyle>
            <a:lvl1pPr marL="342900" indent="-342900">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lvl="1" indent="0">
              <a:lnSpc>
                <a:spcPct val="115000"/>
              </a:lnSpc>
              <a:spcBef>
                <a:spcPct val="50000"/>
              </a:spcBef>
              <a:buClr>
                <a:srgbClr val="800000"/>
              </a:buClr>
              <a:buSzPct val="80000"/>
            </a:pPr>
            <a:r>
              <a:rPr lang="en-US" altLang="en-US" sz="2100" dirty="0">
                <a:solidFill>
                  <a:schemeClr val="tx1"/>
                </a:solidFill>
                <a:latin typeface="Liberation Sans" panose="020B0604020202020204" pitchFamily="34" charset="0"/>
              </a:rPr>
              <a:t>Similarities</a:t>
            </a:r>
            <a:endParaRPr lang="en-US" sz="2100" dirty="0">
              <a:solidFill>
                <a:schemeClr val="tx1"/>
              </a:solidFill>
              <a:latin typeface="Liberation Sans" panose="020B0604020202020204" pitchFamily="34" charset="0"/>
            </a:endParaRPr>
          </a:p>
          <a:p>
            <a:pPr lvl="1">
              <a:lnSpc>
                <a:spcPct val="115000"/>
              </a:lnSpc>
              <a:spcBef>
                <a:spcPct val="50000"/>
              </a:spcBef>
              <a:buClr>
                <a:srgbClr val="800000"/>
              </a:buClr>
              <a:buSzPct val="80000"/>
              <a:buFont typeface="Wingdings" panose="05000000000000000000" pitchFamily="2" charset="2"/>
              <a:buChar char="u"/>
            </a:pPr>
            <a:r>
              <a:rPr lang="en-US" sz="1900" b="0" dirty="0">
                <a:solidFill>
                  <a:schemeClr val="tx1"/>
                </a:solidFill>
                <a:latin typeface="Liberation Sans" panose="020B0604020202020204" pitchFamily="34" charset="0"/>
              </a:rPr>
              <a:t>The general revenue recognition principle required by </a:t>
            </a:r>
            <a:r>
              <a:rPr lang="en-US" sz="1900" dirty="0">
                <a:solidFill>
                  <a:schemeClr val="tx1"/>
                </a:solidFill>
                <a:latin typeface="Liberation Sans" panose="020B0604020202020204" pitchFamily="34" charset="0"/>
              </a:rPr>
              <a:t>GAAP</a:t>
            </a:r>
            <a:r>
              <a:rPr lang="en-US" sz="1900" b="0" dirty="0">
                <a:solidFill>
                  <a:schemeClr val="tx1"/>
                </a:solidFill>
                <a:latin typeface="Liberation Sans" panose="020B0604020202020204" pitchFamily="34" charset="0"/>
              </a:rPr>
              <a:t> that is used in this textbook is similar to that used under </a:t>
            </a:r>
            <a:r>
              <a:rPr lang="en-US" sz="1900" dirty="0">
                <a:solidFill>
                  <a:schemeClr val="tx1"/>
                </a:solidFill>
                <a:latin typeface="Liberation Sans" panose="020B0604020202020204" pitchFamily="34" charset="0"/>
              </a:rPr>
              <a:t>IFRS</a:t>
            </a:r>
            <a:r>
              <a:rPr lang="en-US" sz="1900" b="0" dirty="0">
                <a:solidFill>
                  <a:schemeClr val="tx1"/>
                </a:solidFill>
                <a:latin typeface="Liberation Sans" panose="020B0604020202020204" pitchFamily="34" charset="0"/>
              </a:rPr>
              <a:t>.</a:t>
            </a:r>
          </a:p>
          <a:p>
            <a:pPr lvl="1">
              <a:lnSpc>
                <a:spcPct val="115000"/>
              </a:lnSpc>
              <a:spcBef>
                <a:spcPct val="50000"/>
              </a:spcBef>
              <a:buClr>
                <a:srgbClr val="800000"/>
              </a:buClr>
              <a:buSzPct val="80000"/>
              <a:buFont typeface="Wingdings" panose="05000000000000000000" pitchFamily="2" charset="2"/>
              <a:buChar char="u"/>
            </a:pPr>
            <a:r>
              <a:rPr lang="en-US" sz="1900" b="0" dirty="0">
                <a:solidFill>
                  <a:schemeClr val="tx1"/>
                </a:solidFill>
                <a:latin typeface="Liberation Sans" panose="020B0604020202020204" pitchFamily="34" charset="0"/>
              </a:rPr>
              <a:t>Revenue recognition fraud is a major issue in U.S. financial reporting. The same situation occurs in other countries, as evidenced by revenue recognition breakdowns at Dutch software company Baan NV, Japanese electronics giant NEC, and Dutch grocer Ahold NV.</a:t>
            </a:r>
            <a:endParaRPr lang="en-US" altLang="en-US" sz="1900" b="0" dirty="0">
              <a:solidFill>
                <a:schemeClr val="tx1"/>
              </a:solidFill>
              <a:latin typeface="Liberation Sans" panose="020B0604020202020204" pitchFamily="34" charset="0"/>
            </a:endParaRPr>
          </a:p>
        </p:txBody>
      </p:sp>
      <p:sp>
        <p:nvSpPr>
          <p:cNvPr id="74755" name="Rectangle 2"/>
          <p:cNvSpPr>
            <a:spLocks noChangeArrowheads="1"/>
          </p:cNvSpPr>
          <p:nvPr/>
        </p:nvSpPr>
        <p:spPr bwMode="auto">
          <a:xfrm>
            <a:off x="2057400" y="1447801"/>
            <a:ext cx="2590800"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r>
              <a:rPr lang="en-US" altLang="en-US" sz="2400" dirty="0">
                <a:solidFill>
                  <a:srgbClr val="A50021"/>
                </a:solidFill>
                <a:latin typeface="Liberation Sans" panose="020B0604020202020204" pitchFamily="34" charset="0"/>
              </a:rPr>
              <a:t>Key Points</a:t>
            </a:r>
          </a:p>
        </p:txBody>
      </p:sp>
      <p:sp>
        <p:nvSpPr>
          <p:cNvPr id="177159" name="Rectangle 7"/>
          <p:cNvSpPr>
            <a:spLocks noChangeArrowheads="1"/>
          </p:cNvSpPr>
          <p:nvPr/>
        </p:nvSpPr>
        <p:spPr bwMode="auto">
          <a:xfrm>
            <a:off x="1524001"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177160" name="Rectangle 8"/>
          <p:cNvSpPr>
            <a:spLocks noChangeArrowheads="1"/>
          </p:cNvSpPr>
          <p:nvPr/>
        </p:nvSpPr>
        <p:spPr bwMode="auto">
          <a:xfrm>
            <a:off x="152400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74758"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74759" name="Text Box 10"/>
          <p:cNvSpPr txBox="1">
            <a:spLocks noChangeArrowheads="1"/>
          </p:cNvSpPr>
          <p:nvPr/>
        </p:nvSpPr>
        <p:spPr bwMode="auto">
          <a:xfrm>
            <a:off x="3429000" y="414339"/>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3200" dirty="0">
                <a:latin typeface="Liberation Sans" panose="020B0604020202020204" pitchFamily="34" charset="0"/>
              </a:rPr>
              <a:t>A Look at IFRS</a:t>
            </a:r>
          </a:p>
        </p:txBody>
      </p:sp>
      <p:sp>
        <p:nvSpPr>
          <p:cNvPr id="9"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7</a:t>
            </a:r>
          </a:p>
        </p:txBody>
      </p:sp>
    </p:spTree>
    <p:extLst>
      <p:ext uri="{BB962C8B-B14F-4D97-AF65-F5344CB8AC3E}">
        <p14:creationId xmlns:p14="http://schemas.microsoft.com/office/powerpoint/2010/main" val="10680808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ChangeArrowheads="1"/>
          </p:cNvSpPr>
          <p:nvPr/>
        </p:nvSpPr>
        <p:spPr bwMode="auto">
          <a:xfrm>
            <a:off x="2057400" y="1979614"/>
            <a:ext cx="8153400" cy="41162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spAutoFit/>
          </a:bodyPr>
          <a:lstStyle>
            <a:lvl1pPr marL="342900" indent="-342900">
              <a:tabLst>
                <a:tab pos="1143000" algn="l"/>
              </a:tabLst>
              <a:defRPr sz="2800" b="1">
                <a:solidFill>
                  <a:schemeClr val="bg1"/>
                </a:solidFill>
                <a:latin typeface="Arial" panose="020B0604020202020204" pitchFamily="34" charset="0"/>
              </a:defRPr>
            </a:lvl1pPr>
            <a:lvl2pPr marL="685800" indent="-457200">
              <a:tabLst>
                <a:tab pos="1143000" algn="l"/>
              </a:tabLst>
              <a:defRPr sz="2800" b="1">
                <a:solidFill>
                  <a:schemeClr val="bg1"/>
                </a:solidFill>
                <a:latin typeface="Arial" panose="020B0604020202020204" pitchFamily="34" charset="0"/>
              </a:defRPr>
            </a:lvl2pPr>
            <a:lvl3pPr marL="1143000" indent="-228600">
              <a:tabLst>
                <a:tab pos="1143000" algn="l"/>
              </a:tabLst>
              <a:defRPr sz="2800" b="1">
                <a:solidFill>
                  <a:schemeClr val="bg1"/>
                </a:solidFill>
                <a:latin typeface="Arial" panose="020B0604020202020204" pitchFamily="34" charset="0"/>
              </a:defRPr>
            </a:lvl3pPr>
            <a:lvl4pPr marL="1600200" indent="-228600">
              <a:tabLst>
                <a:tab pos="1143000" algn="l"/>
              </a:tabLst>
              <a:defRPr sz="2800" b="1">
                <a:solidFill>
                  <a:schemeClr val="bg1"/>
                </a:solidFill>
                <a:latin typeface="Arial" panose="020B0604020202020204" pitchFamily="34" charset="0"/>
              </a:defRPr>
            </a:lvl4pPr>
            <a:lvl5pPr marL="2057400" indent="-228600">
              <a:tabLst>
                <a:tab pos="11430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11430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11430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11430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1143000" algn="l"/>
              </a:tabLst>
              <a:defRPr sz="2800" b="1">
                <a:solidFill>
                  <a:schemeClr val="bg1"/>
                </a:solidFill>
                <a:latin typeface="Arial" panose="020B0604020202020204" pitchFamily="34" charset="0"/>
              </a:defRPr>
            </a:lvl9pPr>
          </a:lstStyle>
          <a:p>
            <a:pPr marL="0" lvl="1" indent="0">
              <a:lnSpc>
                <a:spcPct val="115000"/>
              </a:lnSpc>
              <a:spcBef>
                <a:spcPct val="50000"/>
              </a:spcBef>
              <a:buClr>
                <a:srgbClr val="800000"/>
              </a:buClr>
              <a:buSzPct val="80000"/>
            </a:pPr>
            <a:r>
              <a:rPr lang="en-US" altLang="en-US" sz="2100" dirty="0">
                <a:solidFill>
                  <a:schemeClr val="tx1"/>
                </a:solidFill>
                <a:latin typeface="Liberation Sans" panose="020B0604020202020204" pitchFamily="34" charset="0"/>
              </a:rPr>
              <a:t>Differences</a:t>
            </a:r>
          </a:p>
          <a:p>
            <a:pPr lvl="1">
              <a:lnSpc>
                <a:spcPct val="115000"/>
              </a:lnSpc>
              <a:spcBef>
                <a:spcPct val="50000"/>
              </a:spcBef>
              <a:buClr>
                <a:srgbClr val="800000"/>
              </a:buClr>
              <a:buSzPct val="80000"/>
              <a:buFont typeface="Wingdings" panose="05000000000000000000" pitchFamily="2" charset="2"/>
              <a:buChar char="u"/>
            </a:pPr>
            <a:r>
              <a:rPr lang="en-US" sz="1900" b="0" dirty="0">
                <a:solidFill>
                  <a:schemeClr val="tx1"/>
                </a:solidFill>
                <a:latin typeface="Liberation Sans" panose="020B0604020202020204" pitchFamily="34" charset="0"/>
              </a:rPr>
              <a:t>Under IFRS, revaluation (using fair value) of items such as land and buildings is permitted. IFRS allows depreciation based on revaluation of assets, which is not permitted under GAAP.</a:t>
            </a:r>
          </a:p>
          <a:p>
            <a:pPr lvl="1">
              <a:lnSpc>
                <a:spcPct val="115000"/>
              </a:lnSpc>
              <a:spcBef>
                <a:spcPct val="50000"/>
              </a:spcBef>
              <a:buClr>
                <a:srgbClr val="800000"/>
              </a:buClr>
              <a:buSzPct val="80000"/>
              <a:buFont typeface="Wingdings" panose="05000000000000000000" pitchFamily="2" charset="2"/>
              <a:buChar char="u"/>
            </a:pPr>
            <a:r>
              <a:rPr lang="en-US" sz="1900" b="0" dirty="0">
                <a:solidFill>
                  <a:schemeClr val="tx1"/>
                </a:solidFill>
                <a:latin typeface="Liberation Sans" panose="020B0604020202020204" pitchFamily="34" charset="0"/>
              </a:rPr>
              <a:t>The terminology used for revenues and gains, and expenses and losses, differs somewhat between IFRS and GAAP. For example, income includes both revenues, which arise during the normal course of operating activities, and gains, which arise from activities outside of the normal sales of goods and services. The term income is not used this way under GAAP. Instead, under GAAP income refers to the net difference between revenues and expenses.</a:t>
            </a:r>
          </a:p>
        </p:txBody>
      </p:sp>
      <p:sp>
        <p:nvSpPr>
          <p:cNvPr id="75779" name="Rectangle 2"/>
          <p:cNvSpPr>
            <a:spLocks noChangeArrowheads="1"/>
          </p:cNvSpPr>
          <p:nvPr/>
        </p:nvSpPr>
        <p:spPr bwMode="auto">
          <a:xfrm>
            <a:off x="2057400" y="1447801"/>
            <a:ext cx="2590800"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r>
              <a:rPr lang="en-US" altLang="en-US" sz="2400" dirty="0">
                <a:solidFill>
                  <a:srgbClr val="A50021"/>
                </a:solidFill>
                <a:latin typeface="Liberation Sans" panose="020B0604020202020204" pitchFamily="34" charset="0"/>
              </a:rPr>
              <a:t>Key Points</a:t>
            </a:r>
          </a:p>
        </p:txBody>
      </p:sp>
      <p:sp>
        <p:nvSpPr>
          <p:cNvPr id="179207" name="Rectangle 7"/>
          <p:cNvSpPr>
            <a:spLocks noChangeArrowheads="1"/>
          </p:cNvSpPr>
          <p:nvPr/>
        </p:nvSpPr>
        <p:spPr bwMode="auto">
          <a:xfrm>
            <a:off x="1524001"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179208" name="Rectangle 8"/>
          <p:cNvSpPr>
            <a:spLocks noChangeArrowheads="1"/>
          </p:cNvSpPr>
          <p:nvPr/>
        </p:nvSpPr>
        <p:spPr bwMode="auto">
          <a:xfrm>
            <a:off x="152400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75782"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75783" name="Text Box 10"/>
          <p:cNvSpPr txBox="1">
            <a:spLocks noChangeArrowheads="1"/>
          </p:cNvSpPr>
          <p:nvPr/>
        </p:nvSpPr>
        <p:spPr bwMode="auto">
          <a:xfrm>
            <a:off x="3429000" y="414339"/>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3200" dirty="0">
                <a:latin typeface="Liberation Sans" panose="020B0604020202020204" pitchFamily="34" charset="0"/>
              </a:rPr>
              <a:t>A Look at IFRS</a:t>
            </a:r>
          </a:p>
        </p:txBody>
      </p:sp>
      <p:sp>
        <p:nvSpPr>
          <p:cNvPr id="9"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7</a:t>
            </a:r>
          </a:p>
        </p:txBody>
      </p:sp>
    </p:spTree>
    <p:extLst>
      <p:ext uri="{BB962C8B-B14F-4D97-AF65-F5344CB8AC3E}">
        <p14:creationId xmlns:p14="http://schemas.microsoft.com/office/powerpoint/2010/main" val="38679384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ChangeArrowheads="1"/>
          </p:cNvSpPr>
          <p:nvPr/>
        </p:nvSpPr>
        <p:spPr bwMode="auto">
          <a:xfrm>
            <a:off x="2057400" y="1979613"/>
            <a:ext cx="8153400" cy="19525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spAutoFit/>
          </a:bodyPr>
          <a:lstStyle>
            <a:lvl1pPr marL="342900" indent="-342900">
              <a:tabLst>
                <a:tab pos="1143000" algn="l"/>
              </a:tabLst>
              <a:defRPr sz="2800" b="1">
                <a:solidFill>
                  <a:schemeClr val="bg1"/>
                </a:solidFill>
                <a:latin typeface="Arial" panose="020B0604020202020204" pitchFamily="34" charset="0"/>
              </a:defRPr>
            </a:lvl1pPr>
            <a:lvl2pPr marL="685800" indent="-457200">
              <a:tabLst>
                <a:tab pos="1143000" algn="l"/>
              </a:tabLst>
              <a:defRPr sz="2800" b="1">
                <a:solidFill>
                  <a:schemeClr val="bg1"/>
                </a:solidFill>
                <a:latin typeface="Arial" panose="020B0604020202020204" pitchFamily="34" charset="0"/>
              </a:defRPr>
            </a:lvl2pPr>
            <a:lvl3pPr marL="1143000" indent="-228600">
              <a:tabLst>
                <a:tab pos="1143000" algn="l"/>
              </a:tabLst>
              <a:defRPr sz="2800" b="1">
                <a:solidFill>
                  <a:schemeClr val="bg1"/>
                </a:solidFill>
                <a:latin typeface="Arial" panose="020B0604020202020204" pitchFamily="34" charset="0"/>
              </a:defRPr>
            </a:lvl3pPr>
            <a:lvl4pPr marL="1600200" indent="-228600">
              <a:tabLst>
                <a:tab pos="1143000" algn="l"/>
              </a:tabLst>
              <a:defRPr sz="2800" b="1">
                <a:solidFill>
                  <a:schemeClr val="bg1"/>
                </a:solidFill>
                <a:latin typeface="Arial" panose="020B0604020202020204" pitchFamily="34" charset="0"/>
              </a:defRPr>
            </a:lvl4pPr>
            <a:lvl5pPr marL="2057400" indent="-228600">
              <a:tabLst>
                <a:tab pos="1143000" algn="l"/>
              </a:tabLst>
              <a:defRPr sz="2800" b="1">
                <a:solidFill>
                  <a:schemeClr val="bg1"/>
                </a:solidFill>
                <a:latin typeface="Arial" panose="020B0604020202020204" pitchFamily="34" charset="0"/>
              </a:defRPr>
            </a:lvl5pPr>
            <a:lvl6pPr marL="2514600" indent="-228600" eaLnBrk="0" fontAlgn="base" hangingPunct="0">
              <a:spcBef>
                <a:spcPct val="0"/>
              </a:spcBef>
              <a:spcAft>
                <a:spcPct val="0"/>
              </a:spcAft>
              <a:tabLst>
                <a:tab pos="1143000" algn="l"/>
              </a:tabLst>
              <a:defRPr sz="2800" b="1">
                <a:solidFill>
                  <a:schemeClr val="bg1"/>
                </a:solidFill>
                <a:latin typeface="Arial" panose="020B0604020202020204" pitchFamily="34" charset="0"/>
              </a:defRPr>
            </a:lvl6pPr>
            <a:lvl7pPr marL="2971800" indent="-228600" eaLnBrk="0" fontAlgn="base" hangingPunct="0">
              <a:spcBef>
                <a:spcPct val="0"/>
              </a:spcBef>
              <a:spcAft>
                <a:spcPct val="0"/>
              </a:spcAft>
              <a:tabLst>
                <a:tab pos="1143000" algn="l"/>
              </a:tabLst>
              <a:defRPr sz="2800" b="1">
                <a:solidFill>
                  <a:schemeClr val="bg1"/>
                </a:solidFill>
                <a:latin typeface="Arial" panose="020B0604020202020204" pitchFamily="34" charset="0"/>
              </a:defRPr>
            </a:lvl7pPr>
            <a:lvl8pPr marL="3429000" indent="-228600" eaLnBrk="0" fontAlgn="base" hangingPunct="0">
              <a:spcBef>
                <a:spcPct val="0"/>
              </a:spcBef>
              <a:spcAft>
                <a:spcPct val="0"/>
              </a:spcAft>
              <a:tabLst>
                <a:tab pos="1143000" algn="l"/>
              </a:tabLst>
              <a:defRPr sz="2800" b="1">
                <a:solidFill>
                  <a:schemeClr val="bg1"/>
                </a:solidFill>
                <a:latin typeface="Arial" panose="020B0604020202020204" pitchFamily="34" charset="0"/>
              </a:defRPr>
            </a:lvl8pPr>
            <a:lvl9pPr marL="3886200" indent="-228600" eaLnBrk="0" fontAlgn="base" hangingPunct="0">
              <a:spcBef>
                <a:spcPct val="0"/>
              </a:spcBef>
              <a:spcAft>
                <a:spcPct val="0"/>
              </a:spcAft>
              <a:tabLst>
                <a:tab pos="1143000" algn="l"/>
              </a:tabLst>
              <a:defRPr sz="2800" b="1">
                <a:solidFill>
                  <a:schemeClr val="bg1"/>
                </a:solidFill>
                <a:latin typeface="Arial" panose="020B0604020202020204" pitchFamily="34" charset="0"/>
              </a:defRPr>
            </a:lvl9pPr>
          </a:lstStyle>
          <a:p>
            <a:pPr marL="0" lvl="1" indent="0">
              <a:lnSpc>
                <a:spcPct val="115000"/>
              </a:lnSpc>
              <a:spcBef>
                <a:spcPct val="50000"/>
              </a:spcBef>
              <a:buClr>
                <a:srgbClr val="800000"/>
              </a:buClr>
              <a:buSzPct val="80000"/>
            </a:pPr>
            <a:r>
              <a:rPr lang="en-US" altLang="en-US" sz="2100" dirty="0">
                <a:solidFill>
                  <a:schemeClr val="tx1"/>
                </a:solidFill>
                <a:latin typeface="Liberation Sans" panose="020B0604020202020204" pitchFamily="34" charset="0"/>
              </a:rPr>
              <a:t>Differences</a:t>
            </a:r>
          </a:p>
          <a:p>
            <a:pPr lvl="1">
              <a:lnSpc>
                <a:spcPct val="115000"/>
              </a:lnSpc>
              <a:spcBef>
                <a:spcPct val="50000"/>
              </a:spcBef>
              <a:buClr>
                <a:srgbClr val="800000"/>
              </a:buClr>
              <a:buSzPct val="80000"/>
              <a:buFont typeface="Wingdings" panose="05000000000000000000" pitchFamily="2" charset="2"/>
              <a:buChar char="u"/>
            </a:pPr>
            <a:r>
              <a:rPr lang="en-US" sz="1900" b="0" dirty="0">
                <a:solidFill>
                  <a:schemeClr val="tx1"/>
                </a:solidFill>
                <a:latin typeface="Liberation Sans" panose="020B0604020202020204" pitchFamily="34" charset="0"/>
              </a:rPr>
              <a:t>Under IFRS, expenses include both those costs incurred in the normal course of operations as well as losses that are not part of normal operations. This is in contrast to GAAP, which defines each separately.</a:t>
            </a:r>
            <a:endParaRPr lang="en-US" altLang="en-US" sz="1900" b="0" dirty="0">
              <a:solidFill>
                <a:schemeClr val="tx1"/>
              </a:solidFill>
              <a:latin typeface="Liberation Sans" panose="020B0604020202020204" pitchFamily="34" charset="0"/>
            </a:endParaRPr>
          </a:p>
        </p:txBody>
      </p:sp>
      <p:sp>
        <p:nvSpPr>
          <p:cNvPr id="75779" name="Rectangle 2"/>
          <p:cNvSpPr>
            <a:spLocks noChangeArrowheads="1"/>
          </p:cNvSpPr>
          <p:nvPr/>
        </p:nvSpPr>
        <p:spPr bwMode="auto">
          <a:xfrm>
            <a:off x="2057400" y="1447801"/>
            <a:ext cx="2590800"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r>
              <a:rPr lang="en-US" altLang="en-US" sz="2400" dirty="0">
                <a:solidFill>
                  <a:srgbClr val="A50021"/>
                </a:solidFill>
                <a:latin typeface="Liberation Sans" panose="020B0604020202020204" pitchFamily="34" charset="0"/>
              </a:rPr>
              <a:t>Key Points</a:t>
            </a:r>
          </a:p>
        </p:txBody>
      </p:sp>
      <p:sp>
        <p:nvSpPr>
          <p:cNvPr id="179207" name="Rectangle 7"/>
          <p:cNvSpPr>
            <a:spLocks noChangeArrowheads="1"/>
          </p:cNvSpPr>
          <p:nvPr/>
        </p:nvSpPr>
        <p:spPr bwMode="auto">
          <a:xfrm>
            <a:off x="1524001"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179208" name="Rectangle 8"/>
          <p:cNvSpPr>
            <a:spLocks noChangeArrowheads="1"/>
          </p:cNvSpPr>
          <p:nvPr/>
        </p:nvSpPr>
        <p:spPr bwMode="auto">
          <a:xfrm>
            <a:off x="152400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75782"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75783" name="Text Box 10"/>
          <p:cNvSpPr txBox="1">
            <a:spLocks noChangeArrowheads="1"/>
          </p:cNvSpPr>
          <p:nvPr/>
        </p:nvSpPr>
        <p:spPr bwMode="auto">
          <a:xfrm>
            <a:off x="3429000" y="414339"/>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3200" dirty="0">
                <a:latin typeface="Liberation Sans" panose="020B0604020202020204" pitchFamily="34" charset="0"/>
              </a:rPr>
              <a:t>A Look at IFRS</a:t>
            </a:r>
          </a:p>
        </p:txBody>
      </p:sp>
      <p:sp>
        <p:nvSpPr>
          <p:cNvPr id="9"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7</a:t>
            </a:r>
          </a:p>
        </p:txBody>
      </p:sp>
    </p:spTree>
    <p:extLst>
      <p:ext uri="{BB962C8B-B14F-4D97-AF65-F5344CB8AC3E}">
        <p14:creationId xmlns:p14="http://schemas.microsoft.com/office/powerpoint/2010/main" val="20906011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ChangeArrowheads="1"/>
          </p:cNvSpPr>
          <p:nvPr/>
        </p:nvSpPr>
        <p:spPr bwMode="auto">
          <a:xfrm>
            <a:off x="2057400" y="1979613"/>
            <a:ext cx="7772400" cy="17709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lIns="90488" tIns="44450" rIns="90488" bIns="44450">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15000"/>
              </a:lnSpc>
              <a:spcBef>
                <a:spcPct val="50000"/>
              </a:spcBef>
              <a:buClr>
                <a:srgbClr val="800000"/>
              </a:buClr>
              <a:buSzPct val="80000"/>
              <a:buFont typeface="Wingdings" panose="05000000000000000000" pitchFamily="2" charset="2"/>
              <a:buNone/>
            </a:pPr>
            <a:r>
              <a:rPr lang="en-US" altLang="en-US" sz="1900" b="0" dirty="0">
                <a:solidFill>
                  <a:schemeClr val="tx1"/>
                </a:solidFill>
                <a:latin typeface="Liberation Sans" panose="020B0604020202020204" pitchFamily="34" charset="0"/>
              </a:rPr>
              <a:t>The IASB and FASB are completing a joint project on revenue recognition. The purpose of this project is to develop comprehensive guidance on when to recognize revenue. It is hoped that this approach will lead to more consistent accounting in this area. For more on this topic, see www.fasb.org/project/revenue_recognition.shtml.</a:t>
            </a:r>
          </a:p>
        </p:txBody>
      </p:sp>
      <p:sp>
        <p:nvSpPr>
          <p:cNvPr id="76803" name="Rectangle 2"/>
          <p:cNvSpPr>
            <a:spLocks noChangeArrowheads="1"/>
          </p:cNvSpPr>
          <p:nvPr/>
        </p:nvSpPr>
        <p:spPr bwMode="auto">
          <a:xfrm>
            <a:off x="2057400" y="1447801"/>
            <a:ext cx="4648200"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r>
              <a:rPr lang="en-US" altLang="en-US" sz="2400" dirty="0">
                <a:solidFill>
                  <a:srgbClr val="A50021"/>
                </a:solidFill>
                <a:latin typeface="Liberation Sans" panose="020B0604020202020204" pitchFamily="34" charset="0"/>
              </a:rPr>
              <a:t>Looking into the Future</a:t>
            </a:r>
          </a:p>
        </p:txBody>
      </p:sp>
      <p:sp>
        <p:nvSpPr>
          <p:cNvPr id="181255" name="Rectangle 7"/>
          <p:cNvSpPr>
            <a:spLocks noChangeArrowheads="1"/>
          </p:cNvSpPr>
          <p:nvPr/>
        </p:nvSpPr>
        <p:spPr bwMode="auto">
          <a:xfrm>
            <a:off x="1524001"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181256" name="Rectangle 8"/>
          <p:cNvSpPr>
            <a:spLocks noChangeArrowheads="1"/>
          </p:cNvSpPr>
          <p:nvPr/>
        </p:nvSpPr>
        <p:spPr bwMode="auto">
          <a:xfrm>
            <a:off x="152400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76806"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76807" name="Text Box 10"/>
          <p:cNvSpPr txBox="1">
            <a:spLocks noChangeArrowheads="1"/>
          </p:cNvSpPr>
          <p:nvPr/>
        </p:nvSpPr>
        <p:spPr bwMode="auto">
          <a:xfrm>
            <a:off x="3429000" y="414339"/>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3200" dirty="0">
                <a:latin typeface="Liberation Sans" panose="020B0604020202020204" pitchFamily="34" charset="0"/>
              </a:rPr>
              <a:t>A Look at IFRS</a:t>
            </a:r>
          </a:p>
        </p:txBody>
      </p:sp>
      <p:sp>
        <p:nvSpPr>
          <p:cNvPr id="9"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7</a:t>
            </a:r>
          </a:p>
        </p:txBody>
      </p:sp>
    </p:spTree>
    <p:extLst>
      <p:ext uri="{BB962C8B-B14F-4D97-AF65-F5344CB8AC3E}">
        <p14:creationId xmlns:p14="http://schemas.microsoft.com/office/powerpoint/2010/main" val="15863733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ChangeArrowheads="1"/>
          </p:cNvSpPr>
          <p:nvPr/>
        </p:nvSpPr>
        <p:spPr bwMode="auto">
          <a:xfrm>
            <a:off x="2057400" y="2003425"/>
            <a:ext cx="7848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spcBef>
                <a:spcPct val="30000"/>
              </a:spcBef>
            </a:pPr>
            <a:r>
              <a:rPr lang="en-US" altLang="en-US" sz="2000" dirty="0">
                <a:solidFill>
                  <a:schemeClr val="tx1"/>
                </a:solidFill>
                <a:latin typeface="Liberation Sans" panose="020B0604020202020204" pitchFamily="34" charset="0"/>
              </a:rPr>
              <a:t>IFRS</a:t>
            </a:r>
            <a:r>
              <a:rPr lang="en-US" altLang="en-US" sz="2000" b="0" dirty="0">
                <a:solidFill>
                  <a:schemeClr val="tx1"/>
                </a:solidFill>
                <a:latin typeface="Liberation Sans" panose="020B0604020202020204" pitchFamily="34" charset="0"/>
              </a:rPr>
              <a:t>:</a:t>
            </a:r>
          </a:p>
          <a:p>
            <a:pPr lvl="1">
              <a:lnSpc>
                <a:spcPct val="120000"/>
              </a:lnSpc>
              <a:spcBef>
                <a:spcPct val="30000"/>
              </a:spcBef>
              <a:buFontTx/>
              <a:buAutoNum type="alphaLcPeriod"/>
            </a:pPr>
            <a:r>
              <a:rPr lang="en-US" altLang="en-US" sz="2000" b="0" dirty="0">
                <a:solidFill>
                  <a:schemeClr val="tx1"/>
                </a:solidFill>
                <a:latin typeface="Liberation Sans" panose="020B0604020202020204" pitchFamily="34" charset="0"/>
              </a:rPr>
              <a:t>uses accrual accounting.</a:t>
            </a:r>
          </a:p>
          <a:p>
            <a:pPr lvl="1">
              <a:lnSpc>
                <a:spcPct val="120000"/>
              </a:lnSpc>
              <a:spcBef>
                <a:spcPct val="30000"/>
              </a:spcBef>
              <a:buFontTx/>
              <a:buAutoNum type="alphaLcPeriod"/>
            </a:pPr>
            <a:r>
              <a:rPr lang="en-US" altLang="en-US" sz="2000" b="0" dirty="0">
                <a:solidFill>
                  <a:schemeClr val="tx1"/>
                </a:solidFill>
                <a:latin typeface="Liberation Sans" panose="020B0604020202020204" pitchFamily="34" charset="0"/>
              </a:rPr>
              <a:t>uses cash-basis accounting.</a:t>
            </a:r>
          </a:p>
          <a:p>
            <a:pPr lvl="1">
              <a:lnSpc>
                <a:spcPct val="120000"/>
              </a:lnSpc>
              <a:spcBef>
                <a:spcPct val="30000"/>
              </a:spcBef>
              <a:buFontTx/>
              <a:buAutoNum type="alphaLcPeriod"/>
            </a:pPr>
            <a:r>
              <a:rPr lang="en-US" altLang="en-US" sz="2000" b="0" dirty="0">
                <a:solidFill>
                  <a:schemeClr val="tx1"/>
                </a:solidFill>
                <a:latin typeface="Liberation Sans" panose="020B0604020202020204" pitchFamily="34" charset="0"/>
              </a:rPr>
              <a:t>allows revenue to be recognized when a customer makes an order.</a:t>
            </a:r>
          </a:p>
          <a:p>
            <a:pPr lvl="1">
              <a:lnSpc>
                <a:spcPct val="120000"/>
              </a:lnSpc>
              <a:spcBef>
                <a:spcPct val="30000"/>
              </a:spcBef>
              <a:buFontTx/>
              <a:buAutoNum type="alphaLcPeriod"/>
            </a:pPr>
            <a:r>
              <a:rPr lang="en-US" altLang="en-US" sz="2000" b="0" dirty="0">
                <a:solidFill>
                  <a:schemeClr val="tx1"/>
                </a:solidFill>
                <a:latin typeface="Liberation Sans" panose="020B0604020202020204" pitchFamily="34" charset="0"/>
              </a:rPr>
              <a:t>requires that revenue not be recognized until cash is received.</a:t>
            </a:r>
          </a:p>
        </p:txBody>
      </p:sp>
      <p:sp>
        <p:nvSpPr>
          <p:cNvPr id="183303" name="Rectangle 7"/>
          <p:cNvSpPr>
            <a:spLocks noChangeArrowheads="1"/>
          </p:cNvSpPr>
          <p:nvPr/>
        </p:nvSpPr>
        <p:spPr bwMode="auto">
          <a:xfrm>
            <a:off x="1524001"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183304" name="Rectangle 8"/>
          <p:cNvSpPr>
            <a:spLocks noChangeArrowheads="1"/>
          </p:cNvSpPr>
          <p:nvPr/>
        </p:nvSpPr>
        <p:spPr bwMode="auto">
          <a:xfrm>
            <a:off x="152400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77830"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77831" name="Text Box 10"/>
          <p:cNvSpPr txBox="1">
            <a:spLocks noChangeArrowheads="1"/>
          </p:cNvSpPr>
          <p:nvPr/>
        </p:nvSpPr>
        <p:spPr bwMode="auto">
          <a:xfrm>
            <a:off x="3429000" y="414339"/>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3200" dirty="0">
                <a:latin typeface="Liberation Sans" panose="020B0604020202020204" pitchFamily="34" charset="0"/>
              </a:rPr>
              <a:t>A Look at IFRS</a:t>
            </a:r>
          </a:p>
        </p:txBody>
      </p:sp>
      <p:sp>
        <p:nvSpPr>
          <p:cNvPr id="77832" name="Rectangle 2"/>
          <p:cNvSpPr>
            <a:spLocks noChangeArrowheads="1"/>
          </p:cNvSpPr>
          <p:nvPr/>
        </p:nvSpPr>
        <p:spPr bwMode="auto">
          <a:xfrm>
            <a:off x="2057400" y="1447801"/>
            <a:ext cx="4648200"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r>
              <a:rPr lang="en-US" altLang="en-US" sz="2400" dirty="0">
                <a:solidFill>
                  <a:schemeClr val="tx1"/>
                </a:solidFill>
                <a:latin typeface="Liberation Sans" panose="020B0604020202020204" pitchFamily="34" charset="0"/>
              </a:rPr>
              <a:t>IFRS Practice</a:t>
            </a:r>
          </a:p>
        </p:txBody>
      </p:sp>
      <p:sp>
        <p:nvSpPr>
          <p:cNvPr id="11"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7</a:t>
            </a:r>
          </a:p>
        </p:txBody>
      </p:sp>
      <p:sp>
        <p:nvSpPr>
          <p:cNvPr id="10" name="Notched Right Arrow 9"/>
          <p:cNvSpPr/>
          <p:nvPr/>
        </p:nvSpPr>
        <p:spPr bwMode="auto">
          <a:xfrm>
            <a:off x="1676400" y="2496312"/>
            <a:ext cx="609600" cy="457200"/>
          </a:xfrm>
          <a:prstGeom prst="notchedRightArrow">
            <a:avLst/>
          </a:prstGeom>
          <a:solidFill>
            <a:srgbClr val="A50021"/>
          </a:solidFill>
          <a:ln w="12700" cap="sq" cmpd="sng" algn="ctr">
            <a:solidFill>
              <a:schemeClr val="tx1"/>
            </a:solidFill>
            <a:prstDash val="solid"/>
            <a:round/>
            <a:headEnd type="none" w="sm" len="sm"/>
            <a:tailEnd type="none" w="sm" len="sm"/>
          </a:ln>
          <a:effec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solidFill>
                <a:schemeClr val="accent6">
                  <a:lumMod val="50000"/>
                </a:schemeClr>
              </a:solidFill>
            </a:endParaRPr>
          </a:p>
        </p:txBody>
      </p:sp>
    </p:spTree>
    <p:extLst>
      <p:ext uri="{BB962C8B-B14F-4D97-AF65-F5344CB8AC3E}">
        <p14:creationId xmlns:p14="http://schemas.microsoft.com/office/powerpoint/2010/main" val="3306202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ChangeArrowheads="1"/>
          </p:cNvSpPr>
          <p:nvPr/>
        </p:nvSpPr>
        <p:spPr bwMode="auto">
          <a:xfrm>
            <a:off x="2057400" y="1984376"/>
            <a:ext cx="7848600"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spcBef>
                <a:spcPct val="50000"/>
              </a:spcBef>
            </a:pPr>
            <a:r>
              <a:rPr lang="en-US" altLang="en-US" sz="2000" b="0" dirty="0">
                <a:solidFill>
                  <a:schemeClr val="tx1"/>
                </a:solidFill>
                <a:latin typeface="Liberation Sans" panose="020B0604020202020204" pitchFamily="34" charset="0"/>
              </a:rPr>
              <a:t>Which of the following statements is </a:t>
            </a:r>
            <a:r>
              <a:rPr lang="en-US" altLang="en-US" sz="2000" dirty="0">
                <a:solidFill>
                  <a:schemeClr val="tx1"/>
                </a:solidFill>
                <a:latin typeface="Liberation Sans" panose="020B0604020202020204" pitchFamily="34" charset="0"/>
              </a:rPr>
              <a:t>false</a:t>
            </a:r>
            <a:r>
              <a:rPr lang="en-US" altLang="en-US" sz="2000" b="0" dirty="0">
                <a:solidFill>
                  <a:schemeClr val="tx1"/>
                </a:solidFill>
                <a:latin typeface="Liberation Sans" panose="020B0604020202020204" pitchFamily="34" charset="0"/>
              </a:rPr>
              <a:t>?</a:t>
            </a:r>
          </a:p>
          <a:p>
            <a:pPr lvl="1">
              <a:lnSpc>
                <a:spcPct val="120000"/>
              </a:lnSpc>
              <a:spcBef>
                <a:spcPct val="50000"/>
              </a:spcBef>
              <a:buFontTx/>
              <a:buAutoNum type="alphaLcPeriod"/>
            </a:pPr>
            <a:r>
              <a:rPr lang="en-US" altLang="en-US" sz="2000" dirty="0">
                <a:solidFill>
                  <a:schemeClr val="tx1"/>
                </a:solidFill>
                <a:latin typeface="Liberation Sans" panose="020B0604020202020204" pitchFamily="34" charset="0"/>
              </a:rPr>
              <a:t>IFRS</a:t>
            </a:r>
            <a:r>
              <a:rPr lang="en-US" altLang="en-US" sz="2000" b="0" dirty="0">
                <a:solidFill>
                  <a:schemeClr val="tx1"/>
                </a:solidFill>
                <a:latin typeface="Liberation Sans" panose="020B0604020202020204" pitchFamily="34" charset="0"/>
              </a:rPr>
              <a:t> employs the periodicity assumption.</a:t>
            </a:r>
          </a:p>
          <a:p>
            <a:pPr lvl="1">
              <a:lnSpc>
                <a:spcPct val="120000"/>
              </a:lnSpc>
              <a:spcBef>
                <a:spcPct val="50000"/>
              </a:spcBef>
              <a:buFontTx/>
              <a:buAutoNum type="alphaLcPeriod"/>
            </a:pPr>
            <a:r>
              <a:rPr lang="en-US" altLang="en-US" sz="2000" dirty="0">
                <a:solidFill>
                  <a:schemeClr val="tx1"/>
                </a:solidFill>
                <a:latin typeface="Liberation Sans" panose="020B0604020202020204" pitchFamily="34" charset="0"/>
              </a:rPr>
              <a:t>IFRS</a:t>
            </a:r>
            <a:r>
              <a:rPr lang="en-US" altLang="en-US" sz="2000" b="0" dirty="0">
                <a:solidFill>
                  <a:schemeClr val="tx1"/>
                </a:solidFill>
                <a:latin typeface="Liberation Sans" panose="020B0604020202020204" pitchFamily="34" charset="0"/>
              </a:rPr>
              <a:t> employs accrual accounting.</a:t>
            </a:r>
          </a:p>
          <a:p>
            <a:pPr lvl="1">
              <a:lnSpc>
                <a:spcPct val="120000"/>
              </a:lnSpc>
              <a:spcBef>
                <a:spcPct val="50000"/>
              </a:spcBef>
              <a:buFontTx/>
              <a:buAutoNum type="alphaLcPeriod"/>
            </a:pPr>
            <a:r>
              <a:rPr lang="en-US" altLang="en-US" sz="2000" dirty="0">
                <a:solidFill>
                  <a:schemeClr val="tx1"/>
                </a:solidFill>
                <a:latin typeface="Liberation Sans" panose="020B0604020202020204" pitchFamily="34" charset="0"/>
              </a:rPr>
              <a:t>IFRS</a:t>
            </a:r>
            <a:r>
              <a:rPr lang="en-US" altLang="en-US" sz="2000" b="0" dirty="0">
                <a:solidFill>
                  <a:schemeClr val="tx1"/>
                </a:solidFill>
                <a:latin typeface="Liberation Sans" panose="020B0604020202020204" pitchFamily="34" charset="0"/>
              </a:rPr>
              <a:t> requires that revenues and costs must be capable of being measured reliably.</a:t>
            </a:r>
          </a:p>
          <a:p>
            <a:pPr lvl="1">
              <a:lnSpc>
                <a:spcPct val="120000"/>
              </a:lnSpc>
              <a:spcBef>
                <a:spcPct val="50000"/>
              </a:spcBef>
              <a:buFontTx/>
              <a:buAutoNum type="alphaLcPeriod"/>
            </a:pPr>
            <a:r>
              <a:rPr lang="en-US" altLang="en-US" sz="2000" dirty="0">
                <a:solidFill>
                  <a:schemeClr val="tx1"/>
                </a:solidFill>
                <a:latin typeface="Liberation Sans" panose="020B0604020202020204" pitchFamily="34" charset="0"/>
              </a:rPr>
              <a:t>IFRS</a:t>
            </a:r>
            <a:r>
              <a:rPr lang="en-US" altLang="en-US" sz="2000" b="0" dirty="0">
                <a:solidFill>
                  <a:schemeClr val="tx1"/>
                </a:solidFill>
                <a:latin typeface="Liberation Sans" panose="020B0604020202020204" pitchFamily="34" charset="0"/>
              </a:rPr>
              <a:t> uses the cash basis of accounting.</a:t>
            </a:r>
          </a:p>
        </p:txBody>
      </p:sp>
      <p:sp>
        <p:nvSpPr>
          <p:cNvPr id="185351" name="Rectangle 7"/>
          <p:cNvSpPr>
            <a:spLocks noChangeArrowheads="1"/>
          </p:cNvSpPr>
          <p:nvPr/>
        </p:nvSpPr>
        <p:spPr bwMode="auto">
          <a:xfrm>
            <a:off x="1524001"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185352" name="Rectangle 8"/>
          <p:cNvSpPr>
            <a:spLocks noChangeArrowheads="1"/>
          </p:cNvSpPr>
          <p:nvPr/>
        </p:nvSpPr>
        <p:spPr bwMode="auto">
          <a:xfrm>
            <a:off x="152400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78854"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78855" name="Text Box 10"/>
          <p:cNvSpPr txBox="1">
            <a:spLocks noChangeArrowheads="1"/>
          </p:cNvSpPr>
          <p:nvPr/>
        </p:nvSpPr>
        <p:spPr bwMode="auto">
          <a:xfrm>
            <a:off x="3429000" y="414339"/>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3200" dirty="0">
                <a:latin typeface="Liberation Sans" panose="020B0604020202020204" pitchFamily="34" charset="0"/>
              </a:rPr>
              <a:t>A Look at IFRS</a:t>
            </a:r>
          </a:p>
        </p:txBody>
      </p:sp>
      <p:sp>
        <p:nvSpPr>
          <p:cNvPr id="78856" name="Rectangle 2"/>
          <p:cNvSpPr>
            <a:spLocks noChangeArrowheads="1"/>
          </p:cNvSpPr>
          <p:nvPr/>
        </p:nvSpPr>
        <p:spPr bwMode="auto">
          <a:xfrm>
            <a:off x="2057400" y="1447801"/>
            <a:ext cx="4648200"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p>
            <a:r>
              <a:rPr lang="en-US" altLang="en-US" sz="2400" dirty="0">
                <a:latin typeface="Liberation Sans" panose="020B0604020202020204" pitchFamily="34" charset="0"/>
              </a:rPr>
              <a:t>IFRS Practice</a:t>
            </a:r>
          </a:p>
        </p:txBody>
      </p:sp>
      <p:sp>
        <p:nvSpPr>
          <p:cNvPr id="11"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7</a:t>
            </a:r>
          </a:p>
        </p:txBody>
      </p:sp>
      <p:sp>
        <p:nvSpPr>
          <p:cNvPr id="12" name="Notched Right Arrow 11"/>
          <p:cNvSpPr/>
          <p:nvPr/>
        </p:nvSpPr>
        <p:spPr bwMode="auto">
          <a:xfrm>
            <a:off x="1676400" y="4419600"/>
            <a:ext cx="609600" cy="457200"/>
          </a:xfrm>
          <a:prstGeom prst="notchedRightArrow">
            <a:avLst/>
          </a:prstGeom>
          <a:solidFill>
            <a:srgbClr val="A50021"/>
          </a:solidFill>
          <a:ln w="12700" cap="sq" cmpd="sng" algn="ctr">
            <a:solidFill>
              <a:schemeClr val="tx1"/>
            </a:solidFill>
            <a:prstDash val="solid"/>
            <a:round/>
            <a:headEnd type="none" w="sm" len="sm"/>
            <a:tailEnd type="none" w="sm" len="sm"/>
          </a:ln>
          <a:effec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solidFill>
                <a:schemeClr val="accent6">
                  <a:lumMod val="50000"/>
                </a:schemeClr>
              </a:solidFill>
            </a:endParaRPr>
          </a:p>
        </p:txBody>
      </p:sp>
    </p:spTree>
    <p:extLst>
      <p:ext uri="{BB962C8B-B14F-4D97-AF65-F5344CB8AC3E}">
        <p14:creationId xmlns:p14="http://schemas.microsoft.com/office/powerpoint/2010/main" val="663048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2057400" y="1971676"/>
            <a:ext cx="78486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bg1"/>
                </a:solidFill>
                <a:latin typeface="Arial" panose="020B0604020202020204" pitchFamily="34" charset="0"/>
              </a:defRPr>
            </a:lvl1pPr>
            <a:lvl2pPr marL="685800" indent="-45720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lnSpc>
                <a:spcPct val="120000"/>
              </a:lnSpc>
              <a:spcBef>
                <a:spcPct val="50000"/>
              </a:spcBef>
            </a:pPr>
            <a:r>
              <a:rPr lang="en-US" altLang="en-US" sz="2000" b="0" dirty="0">
                <a:solidFill>
                  <a:schemeClr val="tx1"/>
                </a:solidFill>
                <a:latin typeface="Liberation Sans" panose="020B0604020202020204" pitchFamily="34" charset="0"/>
              </a:rPr>
              <a:t>As a result of the revenue recognition project being undertaken by the </a:t>
            </a:r>
            <a:r>
              <a:rPr lang="en-US" altLang="en-US" sz="2000" dirty="0">
                <a:solidFill>
                  <a:schemeClr val="tx1"/>
                </a:solidFill>
                <a:latin typeface="Liberation Sans" panose="020B0604020202020204" pitchFamily="34" charset="0"/>
              </a:rPr>
              <a:t>FASB</a:t>
            </a:r>
            <a:r>
              <a:rPr lang="en-US" altLang="en-US" sz="2000" b="0" dirty="0">
                <a:solidFill>
                  <a:schemeClr val="tx1"/>
                </a:solidFill>
                <a:latin typeface="Liberation Sans" panose="020B0604020202020204" pitchFamily="34" charset="0"/>
              </a:rPr>
              <a:t> and </a:t>
            </a:r>
            <a:r>
              <a:rPr lang="en-US" altLang="en-US" sz="2000" dirty="0">
                <a:solidFill>
                  <a:schemeClr val="tx1"/>
                </a:solidFill>
                <a:latin typeface="Liberation Sans" panose="020B0604020202020204" pitchFamily="34" charset="0"/>
              </a:rPr>
              <a:t>IASB</a:t>
            </a:r>
            <a:r>
              <a:rPr lang="en-US" altLang="en-US" sz="2000" b="0" dirty="0">
                <a:solidFill>
                  <a:schemeClr val="tx1"/>
                </a:solidFill>
                <a:latin typeface="Liberation Sans" panose="020B0604020202020204" pitchFamily="34" charset="0"/>
              </a:rPr>
              <a:t>:</a:t>
            </a:r>
          </a:p>
          <a:p>
            <a:pPr lvl="1">
              <a:lnSpc>
                <a:spcPct val="120000"/>
              </a:lnSpc>
              <a:spcBef>
                <a:spcPct val="50000"/>
              </a:spcBef>
              <a:buFontTx/>
              <a:buAutoNum type="alphaLcPeriod"/>
            </a:pPr>
            <a:r>
              <a:rPr lang="en-US" altLang="en-US" sz="2000" b="0" dirty="0">
                <a:solidFill>
                  <a:schemeClr val="tx1"/>
                </a:solidFill>
                <a:latin typeface="Liberation Sans" panose="020B0604020202020204" pitchFamily="34" charset="0"/>
              </a:rPr>
              <a:t>revenue recognition places more emphasis on when the performance obligation is satisfied.</a:t>
            </a:r>
          </a:p>
          <a:p>
            <a:pPr lvl="1">
              <a:lnSpc>
                <a:spcPct val="120000"/>
              </a:lnSpc>
              <a:spcBef>
                <a:spcPct val="50000"/>
              </a:spcBef>
              <a:buFontTx/>
              <a:buAutoNum type="alphaLcPeriod"/>
            </a:pPr>
            <a:r>
              <a:rPr lang="en-US" altLang="en-US" sz="2000" b="0" dirty="0">
                <a:solidFill>
                  <a:schemeClr val="tx1"/>
                </a:solidFill>
                <a:latin typeface="Liberation Sans" panose="020B0604020202020204" pitchFamily="34" charset="0"/>
              </a:rPr>
              <a:t>revenue recognition places more emphasis on when revenue is realized.</a:t>
            </a:r>
          </a:p>
          <a:p>
            <a:pPr lvl="1">
              <a:lnSpc>
                <a:spcPct val="120000"/>
              </a:lnSpc>
              <a:spcBef>
                <a:spcPct val="50000"/>
              </a:spcBef>
              <a:buFontTx/>
              <a:buAutoNum type="alphaLcPeriod"/>
            </a:pPr>
            <a:r>
              <a:rPr lang="en-US" altLang="en-US" sz="2000" b="0" dirty="0">
                <a:solidFill>
                  <a:schemeClr val="tx1"/>
                </a:solidFill>
                <a:latin typeface="Liberation Sans" panose="020B0604020202020204" pitchFamily="34" charset="0"/>
              </a:rPr>
              <a:t>revenue recognition places more emphasis on when expenses are incurred.</a:t>
            </a:r>
          </a:p>
          <a:p>
            <a:pPr lvl="1">
              <a:lnSpc>
                <a:spcPct val="120000"/>
              </a:lnSpc>
              <a:spcBef>
                <a:spcPct val="50000"/>
              </a:spcBef>
              <a:buFontTx/>
              <a:buAutoNum type="alphaLcPeriod"/>
            </a:pPr>
            <a:r>
              <a:rPr lang="en-US" altLang="en-US" sz="2000" b="0" dirty="0">
                <a:solidFill>
                  <a:schemeClr val="tx1"/>
                </a:solidFill>
                <a:latin typeface="Liberation Sans" panose="020B0604020202020204" pitchFamily="34" charset="0"/>
              </a:rPr>
              <a:t>revenue is no longer recorded unless cash has been received.</a:t>
            </a:r>
          </a:p>
        </p:txBody>
      </p:sp>
      <p:sp>
        <p:nvSpPr>
          <p:cNvPr id="187399" name="Rectangle 7"/>
          <p:cNvSpPr>
            <a:spLocks noChangeArrowheads="1"/>
          </p:cNvSpPr>
          <p:nvPr/>
        </p:nvSpPr>
        <p:spPr bwMode="auto">
          <a:xfrm>
            <a:off x="1524001" y="411163"/>
            <a:ext cx="9140825" cy="639762"/>
          </a:xfrm>
          <a:prstGeom prst="rect">
            <a:avLst/>
          </a:prstGeom>
          <a:solidFill>
            <a:srgbClr val="A50021"/>
          </a:solidFill>
          <a:ln w="12700" cap="sq">
            <a:solidFill>
              <a:srgbClr val="A5002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sp>
        <p:nvSpPr>
          <p:cNvPr id="187400" name="Rectangle 8"/>
          <p:cNvSpPr>
            <a:spLocks noChangeArrowheads="1"/>
          </p:cNvSpPr>
          <p:nvPr/>
        </p:nvSpPr>
        <p:spPr bwMode="auto">
          <a:xfrm>
            <a:off x="1524000" y="1016000"/>
            <a:ext cx="9144000" cy="128588"/>
          </a:xfrm>
          <a:prstGeom prst="rect">
            <a:avLst/>
          </a:prstGeom>
          <a:solidFill>
            <a:srgbClr val="ADADAD"/>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endParaRPr lang="en-US" altLang="en-US" dirty="0">
              <a:effectLst>
                <a:outerShdw blurRad="38100" dist="38100" dir="2700000" algn="tl">
                  <a:srgbClr val="000000"/>
                </a:outerShdw>
              </a:effectLst>
              <a:latin typeface="Liberation Sans" panose="020B0604020202020204" pitchFamily="34" charset="0"/>
            </a:endParaRPr>
          </a:p>
        </p:txBody>
      </p:sp>
      <p:pic>
        <p:nvPicPr>
          <p:cNvPr id="79878"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304800"/>
            <a:ext cx="895350" cy="89535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pic>
      <p:sp>
        <p:nvSpPr>
          <p:cNvPr id="79879" name="Text Box 10"/>
          <p:cNvSpPr txBox="1">
            <a:spLocks noChangeArrowheads="1"/>
          </p:cNvSpPr>
          <p:nvPr/>
        </p:nvSpPr>
        <p:spPr bwMode="auto">
          <a:xfrm>
            <a:off x="3429000" y="414339"/>
            <a:ext cx="4114800" cy="582211"/>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488" tIns="44450" rIns="90488" bIns="44450">
            <a:spAutoFit/>
          </a:bodyPr>
          <a:lstStyle>
            <a:lvl1pPr marL="114300">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a:spcBef>
                <a:spcPct val="50000"/>
              </a:spcBef>
            </a:pPr>
            <a:r>
              <a:rPr lang="en-US" altLang="en-US" sz="3200" dirty="0">
                <a:latin typeface="Liberation Sans" panose="020B0604020202020204" pitchFamily="34" charset="0"/>
              </a:rPr>
              <a:t>A Look at IFRS</a:t>
            </a:r>
          </a:p>
        </p:txBody>
      </p:sp>
      <p:sp>
        <p:nvSpPr>
          <p:cNvPr id="79880" name="Rectangle 2"/>
          <p:cNvSpPr>
            <a:spLocks noChangeArrowheads="1"/>
          </p:cNvSpPr>
          <p:nvPr/>
        </p:nvSpPr>
        <p:spPr bwMode="auto">
          <a:xfrm>
            <a:off x="2057400" y="1447801"/>
            <a:ext cx="4648200" cy="462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p>
            <a:r>
              <a:rPr lang="en-US" altLang="en-US" sz="2400" dirty="0">
                <a:latin typeface="Liberation Sans" panose="020B0604020202020204" pitchFamily="34" charset="0"/>
              </a:rPr>
              <a:t>IFRS Practice</a:t>
            </a:r>
          </a:p>
        </p:txBody>
      </p:sp>
      <p:sp>
        <p:nvSpPr>
          <p:cNvPr id="11" name="Text Box 5"/>
          <p:cNvSpPr txBox="1">
            <a:spLocks noChangeArrowheads="1"/>
          </p:cNvSpPr>
          <p:nvPr/>
        </p:nvSpPr>
        <p:spPr bwMode="auto">
          <a:xfrm>
            <a:off x="9601200" y="6369050"/>
            <a:ext cx="914400" cy="336550"/>
          </a:xfrm>
          <a:prstGeom prst="rect">
            <a:avLst/>
          </a:prstGeom>
          <a:solidFill>
            <a:schemeClr val="bg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b="1">
                <a:solidFill>
                  <a:schemeClr val="folHlink"/>
                </a:solidFill>
                <a:latin typeface="Comic Sans MS" panose="030F0702030302020204" pitchFamily="66" charset="0"/>
              </a:defRPr>
            </a:lvl1pPr>
            <a:lvl2pPr marL="742950" indent="-285750">
              <a:defRPr b="1">
                <a:solidFill>
                  <a:schemeClr val="folHlink"/>
                </a:solidFill>
                <a:latin typeface="Comic Sans MS" panose="030F0702030302020204" pitchFamily="66" charset="0"/>
              </a:defRPr>
            </a:lvl2pPr>
            <a:lvl3pPr marL="1143000" indent="-228600">
              <a:defRPr b="1">
                <a:solidFill>
                  <a:schemeClr val="folHlink"/>
                </a:solidFill>
                <a:latin typeface="Comic Sans MS" panose="030F0702030302020204" pitchFamily="66" charset="0"/>
              </a:defRPr>
            </a:lvl3pPr>
            <a:lvl4pPr marL="1600200" indent="-228600">
              <a:defRPr b="1">
                <a:solidFill>
                  <a:schemeClr val="folHlink"/>
                </a:solidFill>
                <a:latin typeface="Comic Sans MS" panose="030F0702030302020204" pitchFamily="66" charset="0"/>
              </a:defRPr>
            </a:lvl4pPr>
            <a:lvl5pPr marL="2057400" indent="-228600">
              <a:defRPr b="1">
                <a:solidFill>
                  <a:schemeClr val="folHlink"/>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folHlink"/>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folHlink"/>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folHlink"/>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folHlink"/>
                </a:solidFill>
                <a:latin typeface="Comic Sans MS" panose="030F0702030302020204" pitchFamily="66" charset="0"/>
              </a:defRPr>
            </a:lvl9pPr>
          </a:lstStyle>
          <a:p>
            <a:pPr algn="r">
              <a:spcBef>
                <a:spcPct val="50000"/>
              </a:spcBef>
            </a:pPr>
            <a:r>
              <a:rPr lang="en-US" altLang="en-US" sz="1600" i="1" dirty="0">
                <a:solidFill>
                  <a:schemeClr val="bg2"/>
                </a:solidFill>
                <a:latin typeface="Liberation Sans" panose="020B0604020202020204" pitchFamily="34" charset="0"/>
              </a:rPr>
              <a:t>LO 7</a:t>
            </a:r>
          </a:p>
        </p:txBody>
      </p:sp>
      <p:sp>
        <p:nvSpPr>
          <p:cNvPr id="12" name="Notched Right Arrow 11"/>
          <p:cNvSpPr/>
          <p:nvPr/>
        </p:nvSpPr>
        <p:spPr bwMode="auto">
          <a:xfrm>
            <a:off x="1676400" y="2895600"/>
            <a:ext cx="609600" cy="457200"/>
          </a:xfrm>
          <a:prstGeom prst="notchedRightArrow">
            <a:avLst/>
          </a:prstGeom>
          <a:solidFill>
            <a:srgbClr val="A50021"/>
          </a:solidFill>
          <a:ln w="12700" cap="sq" cmpd="sng" algn="ctr">
            <a:solidFill>
              <a:schemeClr val="tx1"/>
            </a:solidFill>
            <a:prstDash val="solid"/>
            <a:round/>
            <a:headEnd type="none" w="sm" len="sm"/>
            <a:tailEnd type="none" w="sm" len="sm"/>
          </a:ln>
          <a:effec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solidFill>
                <a:schemeClr val="accent6">
                  <a:lumMod val="50000"/>
                </a:schemeClr>
              </a:solidFill>
            </a:endParaRPr>
          </a:p>
        </p:txBody>
      </p:sp>
    </p:spTree>
    <p:extLst>
      <p:ext uri="{BB962C8B-B14F-4D97-AF65-F5344CB8AC3E}">
        <p14:creationId xmlns:p14="http://schemas.microsoft.com/office/powerpoint/2010/main" val="1193715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452" y="503236"/>
            <a:ext cx="9826283" cy="457199"/>
          </a:xfrm>
        </p:spPr>
        <p:txBody>
          <a:bodyPr>
            <a:noAutofit/>
          </a:bodyPr>
          <a:lstStyle/>
          <a:p>
            <a:pPr algn="l"/>
            <a:r>
              <a:rPr lang="en-US" sz="3000" b="1" dirty="0">
                <a:solidFill>
                  <a:schemeClr val="accent2"/>
                </a:solidFill>
                <a:latin typeface="Arial Black" panose="020B0A04020102020204" pitchFamily="34" charset="0"/>
              </a:rPr>
              <a:t>COMPLETING THE ACCOUNTING CYCLE</a:t>
            </a:r>
          </a:p>
        </p:txBody>
      </p:sp>
      <p:sp>
        <p:nvSpPr>
          <p:cNvPr id="3" name="Content Placeholder 2"/>
          <p:cNvSpPr>
            <a:spLocks noGrp="1"/>
          </p:cNvSpPr>
          <p:nvPr>
            <p:ph idx="1"/>
          </p:nvPr>
        </p:nvSpPr>
        <p:spPr>
          <a:xfrm>
            <a:off x="1981200" y="990601"/>
            <a:ext cx="8229600" cy="5135563"/>
          </a:xfrm>
        </p:spPr>
        <p:txBody>
          <a:bodyPr>
            <a:normAutofit/>
          </a:bodyPr>
          <a:lstStyle/>
          <a:p>
            <a:pPr>
              <a:buNone/>
            </a:pPr>
            <a:r>
              <a:rPr lang="en-US" sz="3500" dirty="0">
                <a:latin typeface="Agency FB" panose="020B0503020202020204" pitchFamily="34" charset="0"/>
              </a:rPr>
              <a:t>Objectives</a:t>
            </a:r>
          </a:p>
          <a:p>
            <a:pPr>
              <a:buNone/>
            </a:pPr>
            <a:r>
              <a:rPr lang="en-US" sz="3500" dirty="0">
                <a:latin typeface="Agency FB" panose="020B0503020202020204" pitchFamily="34" charset="0"/>
              </a:rPr>
              <a:t>1. Prepare an accounting worksheet</a:t>
            </a:r>
          </a:p>
          <a:p>
            <a:pPr>
              <a:buNone/>
            </a:pPr>
            <a:r>
              <a:rPr lang="en-US" sz="3500" dirty="0">
                <a:latin typeface="Agency FB" panose="020B0503020202020204" pitchFamily="34" charset="0"/>
              </a:rPr>
              <a:t>2. Use the worksheet to prepare financial statements</a:t>
            </a:r>
          </a:p>
          <a:p>
            <a:pPr>
              <a:buNone/>
            </a:pPr>
            <a:r>
              <a:rPr lang="en-US" sz="3500" dirty="0">
                <a:latin typeface="Agency FB" panose="020B0503020202020204" pitchFamily="34" charset="0"/>
              </a:rPr>
              <a:t>3. Close the revenue, expense, and drawing accounts</a:t>
            </a:r>
          </a:p>
          <a:p>
            <a:pPr>
              <a:buNone/>
            </a:pPr>
            <a:r>
              <a:rPr lang="en-US" sz="3500" dirty="0">
                <a:latin typeface="Agency FB" panose="020B0503020202020204" pitchFamily="34" charset="0"/>
              </a:rPr>
              <a:t>4. Prepare the post-closing trial balance</a:t>
            </a:r>
          </a:p>
          <a:p>
            <a:pPr>
              <a:buNone/>
            </a:pPr>
            <a:r>
              <a:rPr lang="en-US" sz="3500" dirty="0">
                <a:latin typeface="Agency FB" panose="020B0503020202020204" pitchFamily="34" charset="0"/>
              </a:rPr>
              <a:t>5. Classify assets and liabilities as current or long-term</a:t>
            </a:r>
          </a:p>
          <a:p>
            <a:pPr>
              <a:buNone/>
            </a:pPr>
            <a:r>
              <a:rPr lang="en-US" sz="3500" dirty="0">
                <a:latin typeface="Agency FB" panose="020B0503020202020204" pitchFamily="34" charset="0"/>
              </a:rPr>
              <a:t>6. Ratios: current ratio and the debt ratio</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8240" y="300111"/>
            <a:ext cx="9875520" cy="461889"/>
          </a:xfrm>
        </p:spPr>
        <p:txBody>
          <a:bodyPr>
            <a:noAutofit/>
          </a:bodyPr>
          <a:lstStyle/>
          <a:p>
            <a:r>
              <a:rPr lang="en-US" sz="6000" b="1" dirty="0">
                <a:latin typeface="Agency FB" panose="020B0503020202020204" pitchFamily="34" charset="0"/>
              </a:rPr>
              <a:t>Introduction</a:t>
            </a:r>
          </a:p>
        </p:txBody>
      </p:sp>
      <p:sp>
        <p:nvSpPr>
          <p:cNvPr id="3" name="Content Placeholder 2"/>
          <p:cNvSpPr>
            <a:spLocks noGrp="1"/>
          </p:cNvSpPr>
          <p:nvPr>
            <p:ph idx="1"/>
          </p:nvPr>
        </p:nvSpPr>
        <p:spPr>
          <a:xfrm>
            <a:off x="243840" y="916745"/>
            <a:ext cx="11704320" cy="4717366"/>
          </a:xfrm>
        </p:spPr>
        <p:txBody>
          <a:bodyPr>
            <a:noAutofit/>
          </a:bodyPr>
          <a:lstStyle/>
          <a:p>
            <a:r>
              <a:rPr lang="en-US" sz="3500" dirty="0">
                <a:latin typeface="Arial Black" panose="020B0A04020102020204" pitchFamily="34" charset="0"/>
              </a:rPr>
              <a:t>Each business or company should  determine its ending period:</a:t>
            </a:r>
          </a:p>
          <a:p>
            <a:r>
              <a:rPr lang="en-US" sz="3500" dirty="0">
                <a:latin typeface="Arial Black" panose="020B0A04020102020204" pitchFamily="34" charset="0"/>
              </a:rPr>
              <a:t>Example banks and many other private companies close the year end of December, 31 and start on January 01. While the Government of Rwanda  starts the financial year on July 01, and ends the period on     June 30, year +1. Others will start on 01-04 and will end on 31-03 year +1. Many educational institutions start on 1-10 and end on 30-09 year +1</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latin typeface="Agency FB" panose="020B0503020202020204" pitchFamily="34" charset="0"/>
              </a:rPr>
              <a:t>Introduction </a:t>
            </a:r>
            <a:r>
              <a:rPr lang="en-US" sz="6000" b="1" dirty="0" err="1">
                <a:latin typeface="Agency FB" panose="020B0503020202020204" pitchFamily="34" charset="0"/>
              </a:rPr>
              <a:t>cont</a:t>
            </a:r>
            <a:r>
              <a:rPr lang="en-US" sz="6000" b="1" dirty="0">
                <a:latin typeface="Agency FB" panose="020B0503020202020204" pitchFamily="34" charset="0"/>
              </a:rPr>
              <a:t>’ </a:t>
            </a:r>
          </a:p>
        </p:txBody>
      </p:sp>
      <p:sp>
        <p:nvSpPr>
          <p:cNvPr id="3" name="Content Placeholder 2"/>
          <p:cNvSpPr>
            <a:spLocks noGrp="1"/>
          </p:cNvSpPr>
          <p:nvPr>
            <p:ph idx="1"/>
          </p:nvPr>
        </p:nvSpPr>
        <p:spPr>
          <a:xfrm>
            <a:off x="351692" y="2057400"/>
            <a:ext cx="11352628" cy="4038600"/>
          </a:xfrm>
        </p:spPr>
        <p:txBody>
          <a:bodyPr>
            <a:noAutofit/>
          </a:bodyPr>
          <a:lstStyle/>
          <a:p>
            <a:r>
              <a:rPr lang="en-US" sz="3200" dirty="0">
                <a:latin typeface="Arial Black" panose="020B0A04020102020204" pitchFamily="34" charset="0"/>
              </a:rPr>
              <a:t>In common each year is composed by 12 months. This period is the standard to make evaluation of the profit or the loss the business has made( Income statement), the change in capital ( Statement of owners equity), and the balance sheet. This work is called accounting cycle because it will be repeated every end of financial year of the business.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gency FB" panose="020B0503020202020204" pitchFamily="34" charset="0"/>
              </a:rPr>
              <a:t>Accounting Cycle</a:t>
            </a:r>
          </a:p>
        </p:txBody>
      </p:sp>
      <p:sp>
        <p:nvSpPr>
          <p:cNvPr id="6" name="Arc 5"/>
          <p:cNvSpPr/>
          <p:nvPr/>
        </p:nvSpPr>
        <p:spPr>
          <a:xfrm>
            <a:off x="4800600" y="1981200"/>
            <a:ext cx="2209800" cy="2286000"/>
          </a:xfrm>
          <a:prstGeom prst="arc">
            <a:avLst>
              <a:gd name="adj1" fmla="val 16200000"/>
              <a:gd name="adj2" fmla="val 1606658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Connector 7"/>
          <p:cNvCxnSpPr/>
          <p:nvPr/>
        </p:nvCxnSpPr>
        <p:spPr>
          <a:xfrm rot="5400000">
            <a:off x="5715000" y="18288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10800000">
            <a:off x="4343400" y="3124200"/>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010400" y="30480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5400000">
            <a:off x="5829300" y="4457700"/>
            <a:ext cx="228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334000" y="1219200"/>
            <a:ext cx="1066800" cy="369332"/>
          </a:xfrm>
          <a:prstGeom prst="rect">
            <a:avLst/>
          </a:prstGeom>
          <a:noFill/>
        </p:spPr>
        <p:txBody>
          <a:bodyPr wrap="square" rtlCol="0">
            <a:spAutoFit/>
          </a:bodyPr>
          <a:lstStyle/>
          <a:p>
            <a:r>
              <a:rPr lang="en-US" dirty="0"/>
              <a:t>Jan-Dec</a:t>
            </a:r>
          </a:p>
        </p:txBody>
      </p:sp>
      <p:sp>
        <p:nvSpPr>
          <p:cNvPr id="19" name="TextBox 18"/>
          <p:cNvSpPr txBox="1"/>
          <p:nvPr/>
        </p:nvSpPr>
        <p:spPr>
          <a:xfrm>
            <a:off x="7467600" y="2895600"/>
            <a:ext cx="1295400" cy="369332"/>
          </a:xfrm>
          <a:prstGeom prst="rect">
            <a:avLst/>
          </a:prstGeom>
          <a:noFill/>
        </p:spPr>
        <p:txBody>
          <a:bodyPr wrap="square" rtlCol="0">
            <a:spAutoFit/>
          </a:bodyPr>
          <a:lstStyle/>
          <a:p>
            <a:r>
              <a:rPr lang="en-US" dirty="0"/>
              <a:t>Apr- Mar+1 </a:t>
            </a:r>
          </a:p>
        </p:txBody>
      </p:sp>
      <p:sp>
        <p:nvSpPr>
          <p:cNvPr id="21" name="TextBox 20"/>
          <p:cNvSpPr txBox="1"/>
          <p:nvPr/>
        </p:nvSpPr>
        <p:spPr>
          <a:xfrm>
            <a:off x="3048000" y="2895600"/>
            <a:ext cx="1295400" cy="369332"/>
          </a:xfrm>
          <a:prstGeom prst="rect">
            <a:avLst/>
          </a:prstGeom>
          <a:noFill/>
        </p:spPr>
        <p:txBody>
          <a:bodyPr wrap="square" rtlCol="0">
            <a:spAutoFit/>
          </a:bodyPr>
          <a:lstStyle/>
          <a:p>
            <a:r>
              <a:rPr lang="en-US" dirty="0"/>
              <a:t> Oct- Sep+1</a:t>
            </a:r>
          </a:p>
        </p:txBody>
      </p:sp>
      <p:sp>
        <p:nvSpPr>
          <p:cNvPr id="22" name="TextBox 21"/>
          <p:cNvSpPr txBox="1"/>
          <p:nvPr/>
        </p:nvSpPr>
        <p:spPr>
          <a:xfrm>
            <a:off x="5410200" y="4724400"/>
            <a:ext cx="1447800" cy="369332"/>
          </a:xfrm>
          <a:prstGeom prst="rect">
            <a:avLst/>
          </a:prstGeom>
          <a:noFill/>
        </p:spPr>
        <p:txBody>
          <a:bodyPr wrap="square" rtlCol="0">
            <a:spAutoFit/>
          </a:bodyPr>
          <a:lstStyle/>
          <a:p>
            <a:r>
              <a:rPr lang="en-US" dirty="0"/>
              <a:t>   Jul- June +1 </a:t>
            </a:r>
          </a:p>
        </p:txBody>
      </p:sp>
      <p:sp>
        <p:nvSpPr>
          <p:cNvPr id="15" name="TextBox 14"/>
          <p:cNvSpPr txBox="1"/>
          <p:nvPr/>
        </p:nvSpPr>
        <p:spPr>
          <a:xfrm>
            <a:off x="6019800" y="1752600"/>
            <a:ext cx="685800" cy="369332"/>
          </a:xfrm>
          <a:prstGeom prst="rect">
            <a:avLst/>
          </a:prstGeom>
          <a:noFill/>
        </p:spPr>
        <p:txBody>
          <a:bodyPr wrap="square" rtlCol="0">
            <a:spAutoFit/>
          </a:bodyPr>
          <a:lstStyle/>
          <a:p>
            <a:r>
              <a:rPr lang="en-US" dirty="0"/>
              <a:t>Jan 1</a:t>
            </a:r>
          </a:p>
        </p:txBody>
      </p:sp>
      <p:sp>
        <p:nvSpPr>
          <p:cNvPr id="25" name="TextBox 24"/>
          <p:cNvSpPr txBox="1"/>
          <p:nvPr/>
        </p:nvSpPr>
        <p:spPr>
          <a:xfrm>
            <a:off x="4953000" y="1752600"/>
            <a:ext cx="914400" cy="369332"/>
          </a:xfrm>
          <a:prstGeom prst="rect">
            <a:avLst/>
          </a:prstGeom>
          <a:noFill/>
        </p:spPr>
        <p:txBody>
          <a:bodyPr wrap="square" rtlCol="0">
            <a:spAutoFit/>
          </a:bodyPr>
          <a:lstStyle/>
          <a:p>
            <a:r>
              <a:rPr lang="en-US" dirty="0"/>
              <a:t>Dec 31</a:t>
            </a:r>
          </a:p>
        </p:txBody>
      </p:sp>
      <p:cxnSp>
        <p:nvCxnSpPr>
          <p:cNvPr id="27" name="Straight Arrow Connector 26"/>
          <p:cNvCxnSpPr/>
          <p:nvPr/>
        </p:nvCxnSpPr>
        <p:spPr>
          <a:xfrm rot="16200000" flipH="1">
            <a:off x="6591300" y="2247900"/>
            <a:ext cx="9144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a:off x="6210300" y="3467100"/>
            <a:ext cx="12954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16200000" flipV="1">
            <a:off x="4343400" y="3429000"/>
            <a:ext cx="12192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5400000" flipH="1" flipV="1">
            <a:off x="4305300" y="2171700"/>
            <a:ext cx="9906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200400" y="5181600"/>
            <a:ext cx="5181600" cy="369332"/>
          </a:xfrm>
          <a:prstGeom prst="rect">
            <a:avLst/>
          </a:prstGeom>
          <a:noFill/>
        </p:spPr>
        <p:txBody>
          <a:bodyPr wrap="square" rtlCol="0">
            <a:spAutoFit/>
          </a:bodyPr>
          <a:lstStyle/>
          <a:p>
            <a:r>
              <a:rPr lang="en-US" dirty="0"/>
              <a:t>Beginning  period                      Ending period</a:t>
            </a:r>
          </a:p>
        </p:txBody>
      </p:sp>
      <p:sp>
        <p:nvSpPr>
          <p:cNvPr id="23" name="TextBox 22"/>
          <p:cNvSpPr txBox="1"/>
          <p:nvPr/>
        </p:nvSpPr>
        <p:spPr>
          <a:xfrm>
            <a:off x="3048000" y="5562600"/>
            <a:ext cx="4724400" cy="369332"/>
          </a:xfrm>
          <a:prstGeom prst="rect">
            <a:avLst/>
          </a:prstGeom>
          <a:noFill/>
        </p:spPr>
        <p:txBody>
          <a:bodyPr wrap="square" rtlCol="0">
            <a:spAutoFit/>
          </a:bodyPr>
          <a:lstStyle/>
          <a:p>
            <a:r>
              <a:rPr lang="en-US" dirty="0"/>
              <a:t>January 01, Year____         December 31, Year___ </a:t>
            </a:r>
          </a:p>
        </p:txBody>
      </p:sp>
      <p:sp>
        <p:nvSpPr>
          <p:cNvPr id="24" name="TextBox 23"/>
          <p:cNvSpPr txBox="1"/>
          <p:nvPr/>
        </p:nvSpPr>
        <p:spPr>
          <a:xfrm>
            <a:off x="3200400" y="5943600"/>
            <a:ext cx="4648200" cy="369332"/>
          </a:xfrm>
          <a:prstGeom prst="rect">
            <a:avLst/>
          </a:prstGeom>
          <a:noFill/>
        </p:spPr>
        <p:txBody>
          <a:bodyPr wrap="square" rtlCol="0">
            <a:spAutoFit/>
          </a:bodyPr>
          <a:lstStyle/>
          <a:p>
            <a:r>
              <a:rPr lang="en-US" dirty="0"/>
              <a:t>  April 01, Year____           March 31, Year____+1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9"/>
            <a:ext cx="8229600" cy="457199"/>
          </a:xfrm>
        </p:spPr>
        <p:txBody>
          <a:bodyPr>
            <a:normAutofit fontScale="90000"/>
          </a:bodyPr>
          <a:lstStyle/>
          <a:p>
            <a:r>
              <a:rPr lang="en-US" dirty="0">
                <a:latin typeface="Agency FB" panose="020B0503020202020204" pitchFamily="34" charset="0"/>
              </a:rPr>
              <a:t>Accounting worksheet </a:t>
            </a:r>
          </a:p>
        </p:txBody>
      </p:sp>
      <p:sp>
        <p:nvSpPr>
          <p:cNvPr id="3" name="Content Placeholder 2"/>
          <p:cNvSpPr>
            <a:spLocks noGrp="1"/>
          </p:cNvSpPr>
          <p:nvPr>
            <p:ph idx="1"/>
          </p:nvPr>
        </p:nvSpPr>
        <p:spPr>
          <a:xfrm>
            <a:off x="1143000" y="2057400"/>
            <a:ext cx="10786403" cy="4038600"/>
          </a:xfrm>
        </p:spPr>
        <p:txBody>
          <a:bodyPr>
            <a:noAutofit/>
          </a:bodyPr>
          <a:lstStyle/>
          <a:p>
            <a:r>
              <a:rPr lang="en-US" sz="4000" dirty="0">
                <a:latin typeface="Agency FB" panose="020B0503020202020204" pitchFamily="34" charset="0"/>
              </a:rPr>
              <a:t>It is very simple to understand this accounting worksheet if really you still have a representation of Adjusted Trial Balance in your mind.</a:t>
            </a:r>
          </a:p>
          <a:p>
            <a:r>
              <a:rPr lang="en-US" sz="4000" dirty="0">
                <a:latin typeface="Agency FB" panose="020B0503020202020204" pitchFamily="34" charset="0"/>
              </a:rPr>
              <a:t>A sheet in excel helps to be sure that total Dr is equal to total credit in all columns of the sheet ( Trial Balance, Adjustment and Adjusted Trial Balance). Until now the accounting worksheet is not  complete but it is based there.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11162"/>
          </a:xfrm>
        </p:spPr>
        <p:txBody>
          <a:bodyPr>
            <a:noAutofit/>
          </a:bodyPr>
          <a:lstStyle/>
          <a:p>
            <a:r>
              <a:rPr lang="en-US" sz="3500" b="1" dirty="0">
                <a:latin typeface="Agency FB" panose="020B0503020202020204" pitchFamily="34" charset="0"/>
              </a:rPr>
              <a:t>Accounting Worksheet Cont’</a:t>
            </a:r>
          </a:p>
        </p:txBody>
      </p:sp>
      <p:graphicFrame>
        <p:nvGraphicFramePr>
          <p:cNvPr id="4" name="Content Placeholder 3"/>
          <p:cNvGraphicFramePr>
            <a:graphicFrameLocks noGrp="1"/>
          </p:cNvGraphicFramePr>
          <p:nvPr>
            <p:ph idx="1"/>
          </p:nvPr>
        </p:nvGraphicFramePr>
        <p:xfrm>
          <a:off x="1981200" y="2895601"/>
          <a:ext cx="8229600" cy="3429001"/>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xmlns="" val="20000"/>
                    </a:ext>
                  </a:extLst>
                </a:gridCol>
                <a:gridCol w="685800">
                  <a:extLst>
                    <a:ext uri="{9D8B030D-6E8A-4147-A177-3AD203B41FA5}">
                      <a16:colId xmlns:a16="http://schemas.microsoft.com/office/drawing/2014/main" xmlns="" val="20001"/>
                    </a:ext>
                  </a:extLst>
                </a:gridCol>
                <a:gridCol w="685800">
                  <a:extLst>
                    <a:ext uri="{9D8B030D-6E8A-4147-A177-3AD203B41FA5}">
                      <a16:colId xmlns:a16="http://schemas.microsoft.com/office/drawing/2014/main" xmlns="" val="20002"/>
                    </a:ext>
                  </a:extLst>
                </a:gridCol>
                <a:gridCol w="685800">
                  <a:extLst>
                    <a:ext uri="{9D8B030D-6E8A-4147-A177-3AD203B41FA5}">
                      <a16:colId xmlns:a16="http://schemas.microsoft.com/office/drawing/2014/main" xmlns="" val="20003"/>
                    </a:ext>
                  </a:extLst>
                </a:gridCol>
                <a:gridCol w="685800">
                  <a:extLst>
                    <a:ext uri="{9D8B030D-6E8A-4147-A177-3AD203B41FA5}">
                      <a16:colId xmlns:a16="http://schemas.microsoft.com/office/drawing/2014/main" xmlns="" val="20004"/>
                    </a:ext>
                  </a:extLst>
                </a:gridCol>
                <a:gridCol w="685800">
                  <a:extLst>
                    <a:ext uri="{9D8B030D-6E8A-4147-A177-3AD203B41FA5}">
                      <a16:colId xmlns:a16="http://schemas.microsoft.com/office/drawing/2014/main" xmlns="" val="20005"/>
                    </a:ext>
                  </a:extLst>
                </a:gridCol>
                <a:gridCol w="685800">
                  <a:extLst>
                    <a:ext uri="{9D8B030D-6E8A-4147-A177-3AD203B41FA5}">
                      <a16:colId xmlns:a16="http://schemas.microsoft.com/office/drawing/2014/main" xmlns="" val="20006"/>
                    </a:ext>
                  </a:extLst>
                </a:gridCol>
                <a:gridCol w="685800">
                  <a:extLst>
                    <a:ext uri="{9D8B030D-6E8A-4147-A177-3AD203B41FA5}">
                      <a16:colId xmlns:a16="http://schemas.microsoft.com/office/drawing/2014/main" xmlns="" val="20007"/>
                    </a:ext>
                  </a:extLst>
                </a:gridCol>
                <a:gridCol w="685800">
                  <a:extLst>
                    <a:ext uri="{9D8B030D-6E8A-4147-A177-3AD203B41FA5}">
                      <a16:colId xmlns:a16="http://schemas.microsoft.com/office/drawing/2014/main" xmlns="" val="20008"/>
                    </a:ext>
                  </a:extLst>
                </a:gridCol>
                <a:gridCol w="685800">
                  <a:extLst>
                    <a:ext uri="{9D8B030D-6E8A-4147-A177-3AD203B41FA5}">
                      <a16:colId xmlns:a16="http://schemas.microsoft.com/office/drawing/2014/main" xmlns="" val="20009"/>
                    </a:ext>
                  </a:extLst>
                </a:gridCol>
                <a:gridCol w="685800">
                  <a:extLst>
                    <a:ext uri="{9D8B030D-6E8A-4147-A177-3AD203B41FA5}">
                      <a16:colId xmlns:a16="http://schemas.microsoft.com/office/drawing/2014/main" xmlns="" val="20010"/>
                    </a:ext>
                  </a:extLst>
                </a:gridCol>
              </a:tblGrid>
              <a:tr h="649867">
                <a:tc rowSpan="2">
                  <a:txBody>
                    <a:bodyPr/>
                    <a:lstStyle/>
                    <a:p>
                      <a:pPr lvl="0"/>
                      <a:r>
                        <a:rPr lang="en-US" dirty="0"/>
                        <a:t>Accounts</a:t>
                      </a:r>
                    </a:p>
                  </a:txBody>
                  <a:tcPr/>
                </a:tc>
                <a:tc gridSpan="2">
                  <a:txBody>
                    <a:bodyPr/>
                    <a:lstStyle/>
                    <a:p>
                      <a:r>
                        <a:rPr lang="en-US" sz="1400" dirty="0"/>
                        <a:t>Trial Balance</a:t>
                      </a:r>
                    </a:p>
                  </a:txBody>
                  <a:tcPr/>
                </a:tc>
                <a:tc hMerge="1">
                  <a:txBody>
                    <a:bodyPr/>
                    <a:lstStyle/>
                    <a:p>
                      <a:endParaRPr lang="en-US"/>
                    </a:p>
                  </a:txBody>
                  <a:tcPr/>
                </a:tc>
                <a:tc gridSpan="2">
                  <a:txBody>
                    <a:bodyPr/>
                    <a:lstStyle/>
                    <a:p>
                      <a:r>
                        <a:rPr lang="en-US" sz="1400" dirty="0"/>
                        <a:t>Adjustment</a:t>
                      </a:r>
                    </a:p>
                  </a:txBody>
                  <a:tcPr/>
                </a:tc>
                <a:tc hMerge="1">
                  <a:txBody>
                    <a:bodyPr/>
                    <a:lstStyle/>
                    <a:p>
                      <a:endParaRPr lang="en-US"/>
                    </a:p>
                  </a:txBody>
                  <a:tcPr/>
                </a:tc>
                <a:tc gridSpan="2">
                  <a:txBody>
                    <a:bodyPr/>
                    <a:lstStyle/>
                    <a:p>
                      <a:r>
                        <a:rPr lang="en-US" sz="1400" dirty="0"/>
                        <a:t>Adjusted</a:t>
                      </a:r>
                      <a:r>
                        <a:rPr lang="en-US" sz="1400" baseline="0" dirty="0"/>
                        <a:t> Trial Balance</a:t>
                      </a:r>
                      <a:endParaRPr lang="en-US" sz="1400" dirty="0"/>
                    </a:p>
                  </a:txBody>
                  <a:tcPr/>
                </a:tc>
                <a:tc hMerge="1">
                  <a:txBody>
                    <a:bodyPr/>
                    <a:lstStyle/>
                    <a:p>
                      <a:endParaRPr lang="en-US"/>
                    </a:p>
                  </a:txBody>
                  <a:tcPr/>
                </a:tc>
                <a:tc gridSpan="2">
                  <a:txBody>
                    <a:bodyPr/>
                    <a:lstStyle/>
                    <a:p>
                      <a:r>
                        <a:rPr lang="en-US" sz="1400" dirty="0"/>
                        <a:t>Income</a:t>
                      </a:r>
                      <a:r>
                        <a:rPr lang="en-US" sz="1400" baseline="0" dirty="0"/>
                        <a:t> statement</a:t>
                      </a:r>
                      <a:endParaRPr lang="en-US" sz="1400" dirty="0"/>
                    </a:p>
                  </a:txBody>
                  <a:tcPr/>
                </a:tc>
                <a:tc hMerge="1">
                  <a:txBody>
                    <a:bodyPr/>
                    <a:lstStyle/>
                    <a:p>
                      <a:endParaRPr lang="en-US"/>
                    </a:p>
                  </a:txBody>
                  <a:tcPr/>
                </a:tc>
                <a:tc gridSpan="2">
                  <a:txBody>
                    <a:bodyPr/>
                    <a:lstStyle/>
                    <a:p>
                      <a:r>
                        <a:rPr lang="en-US" sz="1400" dirty="0"/>
                        <a:t>Balance</a:t>
                      </a:r>
                      <a:r>
                        <a:rPr lang="en-US" sz="1400" baseline="0" dirty="0"/>
                        <a:t> Sheet</a:t>
                      </a:r>
                      <a:endParaRPr lang="en-US" sz="1400" dirty="0"/>
                    </a:p>
                  </a:txBody>
                  <a:tcPr/>
                </a:tc>
                <a:tc hMerge="1">
                  <a:txBody>
                    <a:bodyPr/>
                    <a:lstStyle/>
                    <a:p>
                      <a:endParaRPr lang="en-US"/>
                    </a:p>
                  </a:txBody>
                  <a:tcPr/>
                </a:tc>
                <a:extLst>
                  <a:ext uri="{0D108BD9-81ED-4DB2-BD59-A6C34878D82A}">
                    <a16:rowId xmlns:a16="http://schemas.microsoft.com/office/drawing/2014/main" xmlns="" val="10000"/>
                  </a:ext>
                </a:extLst>
              </a:tr>
              <a:tr h="389919">
                <a:tc vMerge="1">
                  <a:txBody>
                    <a:bodyPr/>
                    <a:lstStyle/>
                    <a:p>
                      <a:endParaRPr lang="en-US"/>
                    </a:p>
                  </a:txBody>
                  <a:tcPr/>
                </a:tc>
                <a:tc>
                  <a:txBody>
                    <a:bodyPr/>
                    <a:lstStyle/>
                    <a:p>
                      <a:r>
                        <a:rPr lang="en-US" dirty="0"/>
                        <a:t>Dr</a:t>
                      </a:r>
                    </a:p>
                  </a:txBody>
                  <a:tcPr>
                    <a:lnR w="12700" cap="flat" cmpd="sng" algn="ctr">
                      <a:solidFill>
                        <a:schemeClr val="tx1"/>
                      </a:solidFill>
                      <a:prstDash val="solid"/>
                      <a:round/>
                      <a:headEnd type="none" w="med" len="med"/>
                      <a:tailEnd type="none" w="med" len="med"/>
                    </a:lnR>
                  </a:tcPr>
                </a:tc>
                <a:tc>
                  <a:txBody>
                    <a:bodyPr/>
                    <a:lstStyle/>
                    <a:p>
                      <a:r>
                        <a:rPr lang="en-US" dirty="0"/>
                        <a:t>Cr</a:t>
                      </a:r>
                    </a:p>
                  </a:txBody>
                  <a:tcPr>
                    <a:lnL w="12700" cap="flat" cmpd="sng" algn="ctr">
                      <a:solidFill>
                        <a:schemeClr val="tx1"/>
                      </a:solidFill>
                      <a:prstDash val="solid"/>
                      <a:round/>
                      <a:headEnd type="none" w="med" len="med"/>
                      <a:tailEnd type="none" w="med" len="med"/>
                    </a:lnL>
                  </a:tcPr>
                </a:tc>
                <a:tc>
                  <a:txBody>
                    <a:bodyPr/>
                    <a:lstStyle/>
                    <a:p>
                      <a:r>
                        <a:rPr lang="en-US" dirty="0"/>
                        <a:t>Dr</a:t>
                      </a:r>
                    </a:p>
                  </a:txBody>
                  <a:tcPr>
                    <a:lnR w="12700" cap="flat" cmpd="sng" algn="ctr">
                      <a:solidFill>
                        <a:schemeClr val="tx1"/>
                      </a:solidFill>
                      <a:prstDash val="solid"/>
                      <a:round/>
                      <a:headEnd type="none" w="med" len="med"/>
                      <a:tailEnd type="none" w="med" len="med"/>
                    </a:lnR>
                  </a:tcPr>
                </a:tc>
                <a:tc>
                  <a:txBody>
                    <a:bodyPr/>
                    <a:lstStyle/>
                    <a:p>
                      <a:r>
                        <a:rPr lang="en-US" dirty="0"/>
                        <a:t>Cr</a:t>
                      </a:r>
                    </a:p>
                  </a:txBody>
                  <a:tcPr>
                    <a:lnL w="12700" cap="flat" cmpd="sng" algn="ctr">
                      <a:solidFill>
                        <a:schemeClr val="tx1"/>
                      </a:solidFill>
                      <a:prstDash val="solid"/>
                      <a:round/>
                      <a:headEnd type="none" w="med" len="med"/>
                      <a:tailEnd type="none" w="med" len="med"/>
                    </a:lnL>
                  </a:tcPr>
                </a:tc>
                <a:tc>
                  <a:txBody>
                    <a:bodyPr/>
                    <a:lstStyle/>
                    <a:p>
                      <a:r>
                        <a:rPr lang="en-US" dirty="0"/>
                        <a:t>Dr</a:t>
                      </a:r>
                    </a:p>
                  </a:txBody>
                  <a:tcPr>
                    <a:lnR w="12700" cap="flat" cmpd="sng" algn="ctr">
                      <a:solidFill>
                        <a:schemeClr val="tx1"/>
                      </a:solidFill>
                      <a:prstDash val="solid"/>
                      <a:round/>
                      <a:headEnd type="none" w="med" len="med"/>
                      <a:tailEnd type="none" w="med" len="med"/>
                    </a:lnR>
                  </a:tcPr>
                </a:tc>
                <a:tc>
                  <a:txBody>
                    <a:bodyPr/>
                    <a:lstStyle/>
                    <a:p>
                      <a:r>
                        <a:rPr lang="en-US" dirty="0"/>
                        <a:t>Cr</a:t>
                      </a:r>
                    </a:p>
                  </a:txBody>
                  <a:tcPr>
                    <a:lnL w="12700" cap="flat" cmpd="sng" algn="ctr">
                      <a:solidFill>
                        <a:schemeClr val="tx1"/>
                      </a:solidFill>
                      <a:prstDash val="solid"/>
                      <a:round/>
                      <a:headEnd type="none" w="med" len="med"/>
                      <a:tailEnd type="none" w="med" len="med"/>
                    </a:lnL>
                  </a:tcPr>
                </a:tc>
                <a:tc>
                  <a:txBody>
                    <a:bodyPr/>
                    <a:lstStyle/>
                    <a:p>
                      <a:r>
                        <a:rPr lang="en-US" dirty="0"/>
                        <a:t>Dr</a:t>
                      </a:r>
                    </a:p>
                  </a:txBody>
                  <a:tcPr>
                    <a:lnR w="12700" cap="flat" cmpd="sng" algn="ctr">
                      <a:solidFill>
                        <a:schemeClr val="tx1"/>
                      </a:solidFill>
                      <a:prstDash val="solid"/>
                      <a:round/>
                      <a:headEnd type="none" w="med" len="med"/>
                      <a:tailEnd type="none" w="med" len="med"/>
                    </a:lnR>
                  </a:tcPr>
                </a:tc>
                <a:tc>
                  <a:txBody>
                    <a:bodyPr/>
                    <a:lstStyle/>
                    <a:p>
                      <a:r>
                        <a:rPr lang="en-US" dirty="0"/>
                        <a:t>Cr</a:t>
                      </a:r>
                    </a:p>
                  </a:txBody>
                  <a:tcPr>
                    <a:lnL w="12700" cap="flat" cmpd="sng" algn="ctr">
                      <a:solidFill>
                        <a:schemeClr val="tx1"/>
                      </a:solidFill>
                      <a:prstDash val="solid"/>
                      <a:round/>
                      <a:headEnd type="none" w="med" len="med"/>
                      <a:tailEnd type="none" w="med" len="med"/>
                    </a:lnL>
                  </a:tcPr>
                </a:tc>
                <a:tc>
                  <a:txBody>
                    <a:bodyPr/>
                    <a:lstStyle/>
                    <a:p>
                      <a:r>
                        <a:rPr lang="en-US" dirty="0"/>
                        <a:t>Dr</a:t>
                      </a:r>
                    </a:p>
                  </a:txBody>
                  <a:tcPr>
                    <a:lnR w="12700" cap="flat" cmpd="sng" algn="ctr">
                      <a:solidFill>
                        <a:schemeClr val="tx1"/>
                      </a:solidFill>
                      <a:prstDash val="solid"/>
                      <a:round/>
                      <a:headEnd type="none" w="med" len="med"/>
                      <a:tailEnd type="none" w="med" len="med"/>
                    </a:lnR>
                  </a:tcPr>
                </a:tc>
                <a:tc>
                  <a:txBody>
                    <a:bodyPr/>
                    <a:lstStyle/>
                    <a:p>
                      <a:r>
                        <a:rPr lang="en-US" dirty="0"/>
                        <a:t>Cr</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xmlns="" val="10001"/>
                  </a:ext>
                </a:extLst>
              </a:tr>
              <a:tr h="477843">
                <a:tc>
                  <a:txBody>
                    <a:bodyPr/>
                    <a:lstStyle/>
                    <a:p>
                      <a:r>
                        <a:rPr lang="en-US" dirty="0"/>
                        <a:t>Cash</a:t>
                      </a:r>
                    </a:p>
                  </a:txBody>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dirty="0"/>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xmlns="" val="10002"/>
                  </a:ext>
                </a:extLst>
              </a:tr>
              <a:tr h="477843">
                <a:tc>
                  <a:txBody>
                    <a:bodyPr/>
                    <a:lstStyle/>
                    <a:p>
                      <a:r>
                        <a:rPr lang="en-US" dirty="0"/>
                        <a:t>Supplies</a:t>
                      </a:r>
                    </a:p>
                  </a:txBody>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xmlns="" val="10003"/>
                  </a:ext>
                </a:extLst>
              </a:tr>
              <a:tr h="477843">
                <a:tc>
                  <a:txBody>
                    <a:bodyPr/>
                    <a:lstStyle/>
                    <a:p>
                      <a:r>
                        <a:rPr lang="en-US" dirty="0"/>
                        <a:t>…….</a:t>
                      </a:r>
                    </a:p>
                  </a:txBody>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xmlns="" val="10004"/>
                  </a:ext>
                </a:extLst>
              </a:tr>
              <a:tr h="477843">
                <a:tc>
                  <a:txBody>
                    <a:bodyPr/>
                    <a:lstStyle/>
                    <a:p>
                      <a:endParaRPr lang="en-US"/>
                    </a:p>
                  </a:txBody>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xmlns="" val="10005"/>
                  </a:ext>
                </a:extLst>
              </a:tr>
              <a:tr h="477843">
                <a:tc>
                  <a:txBody>
                    <a:bodyPr/>
                    <a:lstStyle/>
                    <a:p>
                      <a:r>
                        <a:rPr lang="en-US" dirty="0"/>
                        <a:t>Total</a:t>
                      </a:r>
                    </a:p>
                  </a:txBody>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dirty="0"/>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tcPr>
                </a:tc>
                <a:tc>
                  <a:txBody>
                    <a:bodyPr/>
                    <a:lstStyle/>
                    <a:p>
                      <a:endParaRPr lang="en-US"/>
                    </a:p>
                  </a:txBody>
                  <a:tcPr>
                    <a:lnR w="12700" cap="flat" cmpd="sng" algn="ctr">
                      <a:solidFill>
                        <a:schemeClr val="tx1"/>
                      </a:solidFill>
                      <a:prstDash val="solid"/>
                      <a:round/>
                      <a:headEnd type="none" w="med" len="med"/>
                      <a:tailEnd type="none" w="med" len="med"/>
                    </a:lnR>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xmlns="" val="10006"/>
                  </a:ext>
                </a:extLst>
              </a:tr>
            </a:tbl>
          </a:graphicData>
        </a:graphic>
      </p:graphicFrame>
      <p:sp>
        <p:nvSpPr>
          <p:cNvPr id="5" name="TextBox 4"/>
          <p:cNvSpPr txBox="1"/>
          <p:nvPr/>
        </p:nvSpPr>
        <p:spPr>
          <a:xfrm>
            <a:off x="1676400" y="816515"/>
            <a:ext cx="8839200" cy="1938992"/>
          </a:xfrm>
          <a:prstGeom prst="rect">
            <a:avLst/>
          </a:prstGeom>
          <a:noFill/>
        </p:spPr>
        <p:txBody>
          <a:bodyPr wrap="square" rtlCol="0">
            <a:spAutoFit/>
          </a:bodyPr>
          <a:lstStyle/>
          <a:p>
            <a:r>
              <a:rPr lang="en-US" sz="3000" dirty="0">
                <a:latin typeface="Agency FB" panose="020B0503020202020204" pitchFamily="34" charset="0"/>
              </a:rPr>
              <a:t>Accounting worksheet is the existing  sheet of Adjusted Trial plus two more main columns: Income Statement and Balance Sheet. The heading is  also  informing  about the company’s name, Accounting Worksheet, and the date.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b="1" dirty="0">
                <a:latin typeface="Agency FB" panose="020B0503020202020204" pitchFamily="34" charset="0"/>
              </a:rPr>
              <a:t>Accounting Worksheet Cont’</a:t>
            </a:r>
          </a:p>
        </p:txBody>
      </p:sp>
      <p:sp>
        <p:nvSpPr>
          <p:cNvPr id="3" name="Content Placeholder 2"/>
          <p:cNvSpPr>
            <a:spLocks noGrp="1"/>
          </p:cNvSpPr>
          <p:nvPr>
            <p:ph idx="1"/>
          </p:nvPr>
        </p:nvSpPr>
        <p:spPr/>
        <p:txBody>
          <a:bodyPr>
            <a:noAutofit/>
          </a:bodyPr>
          <a:lstStyle/>
          <a:p>
            <a:r>
              <a:rPr lang="en-US" sz="4400" dirty="0">
                <a:latin typeface="Agency FB" panose="020B0503020202020204" pitchFamily="34" charset="0"/>
              </a:rPr>
              <a:t>The Accounting worksheet repeats always the adjustment process that is why if you don’t understand well the previous chapter, it is meaningless to continue. </a:t>
            </a:r>
          </a:p>
          <a:p>
            <a:r>
              <a:rPr lang="en-US" sz="4400" dirty="0">
                <a:latin typeface="Agency FB" panose="020B0503020202020204" pitchFamily="34" charset="0"/>
              </a:rPr>
              <a:t>But this worksheet is a tool to indicate the income statement accounts separately from the accounts of Balance Sheet.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xmlns="" id="{C3659791-98B9-B535-91F0-0E3BDC13FE9B}"/>
              </a:ext>
            </a:extLst>
          </p:cNvPr>
          <p:cNvGraphicFramePr>
            <a:graphicFrameLocks noGrp="1"/>
          </p:cNvGraphicFramePr>
          <p:nvPr/>
        </p:nvGraphicFramePr>
        <p:xfrm>
          <a:off x="1828800" y="152401"/>
          <a:ext cx="8077200" cy="6553199"/>
        </p:xfrm>
        <a:graphic>
          <a:graphicData uri="http://schemas.openxmlformats.org/drawingml/2006/table">
            <a:tbl>
              <a:tblPr/>
              <a:tblGrid>
                <a:gridCol w="4038600">
                  <a:extLst>
                    <a:ext uri="{9D8B030D-6E8A-4147-A177-3AD203B41FA5}">
                      <a16:colId xmlns:a16="http://schemas.microsoft.com/office/drawing/2014/main" xmlns="" val="3265999050"/>
                    </a:ext>
                  </a:extLst>
                </a:gridCol>
                <a:gridCol w="2019300">
                  <a:extLst>
                    <a:ext uri="{9D8B030D-6E8A-4147-A177-3AD203B41FA5}">
                      <a16:colId xmlns:a16="http://schemas.microsoft.com/office/drawing/2014/main" xmlns="" val="3239800381"/>
                    </a:ext>
                  </a:extLst>
                </a:gridCol>
                <a:gridCol w="2019300">
                  <a:extLst>
                    <a:ext uri="{9D8B030D-6E8A-4147-A177-3AD203B41FA5}">
                      <a16:colId xmlns:a16="http://schemas.microsoft.com/office/drawing/2014/main" xmlns="" val="4147023566"/>
                    </a:ext>
                  </a:extLst>
                </a:gridCol>
              </a:tblGrid>
              <a:tr h="287295">
                <a:tc>
                  <a:txBody>
                    <a:bodyPr/>
                    <a:lstStyle/>
                    <a:p>
                      <a:pPr algn="ctr" fontAlgn="b"/>
                      <a:r>
                        <a:rPr lang="en-US" sz="1800" b="1" i="0" u="none" strike="noStrike">
                          <a:solidFill>
                            <a:srgbClr val="000000"/>
                          </a:solidFill>
                          <a:effectLst/>
                          <a:latin typeface="Arial" panose="020B0604020202020204" pitchFamily="34" charset="0"/>
                        </a:rPr>
                        <a:t>MYLA'S MOTORS</a:t>
                      </a:r>
                    </a:p>
                  </a:txBody>
                  <a:tcPr marL="9525" marR="9525" marT="9525" marB="0" anchor="b">
                    <a:lnL>
                      <a:noFill/>
                    </a:lnL>
                    <a:lnR>
                      <a:noFill/>
                    </a:lnR>
                    <a:lnT>
                      <a:noFill/>
                    </a:lnT>
                    <a:lnB>
                      <a:noFill/>
                    </a:lnB>
                    <a:noFill/>
                  </a:tcPr>
                </a:tc>
                <a:tc>
                  <a:txBody>
                    <a:bodyPr/>
                    <a:lstStyle/>
                    <a:p>
                      <a:pPr algn="l" fontAlgn="b"/>
                      <a:endParaRPr lang="en-US" sz="1100" b="1"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xmlns="" val="1217922160"/>
                  </a:ext>
                </a:extLst>
              </a:tr>
              <a:tr h="287295">
                <a:tc>
                  <a:txBody>
                    <a:bodyPr/>
                    <a:lstStyle/>
                    <a:p>
                      <a:pPr algn="ctr" fontAlgn="b"/>
                      <a:r>
                        <a:rPr lang="en-US" sz="1800" b="1" i="0" u="none" strike="noStrike">
                          <a:solidFill>
                            <a:srgbClr val="000000"/>
                          </a:solidFill>
                          <a:effectLst/>
                          <a:latin typeface="Arial" panose="020B0604020202020204" pitchFamily="34" charset="0"/>
                        </a:rPr>
                        <a:t>TRIAL BALANCE</a:t>
                      </a:r>
                    </a:p>
                  </a:txBody>
                  <a:tcPr marL="9525" marR="9525" marT="9525" marB="0" anchor="b">
                    <a:lnL>
                      <a:noFill/>
                    </a:lnL>
                    <a:lnR>
                      <a:noFill/>
                    </a:lnR>
                    <a:lnT>
                      <a:noFill/>
                    </a:lnT>
                    <a:lnB>
                      <a:noFill/>
                    </a:lnB>
                    <a:noFill/>
                  </a:tcPr>
                </a:tc>
                <a:tc>
                  <a:txBody>
                    <a:bodyPr/>
                    <a:lstStyle/>
                    <a:p>
                      <a:pPr algn="l" fontAlgn="b"/>
                      <a:endParaRPr lang="en-US" sz="1100" b="1"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xmlns="" val="497022354"/>
                  </a:ext>
                </a:extLst>
              </a:tr>
              <a:tr h="287295">
                <a:tc>
                  <a:txBody>
                    <a:bodyPr/>
                    <a:lstStyle/>
                    <a:p>
                      <a:pPr algn="ctr" fontAlgn="b"/>
                      <a:r>
                        <a:rPr lang="en-US" sz="1800" b="1" i="0" u="none" strike="noStrike" dirty="0">
                          <a:solidFill>
                            <a:srgbClr val="000000"/>
                          </a:solidFill>
                          <a:effectLst/>
                          <a:latin typeface="Arial" panose="020B0604020202020204" pitchFamily="34" charset="0"/>
                        </a:rPr>
                        <a:t>November 30,2012</a:t>
                      </a:r>
                    </a:p>
                  </a:txBody>
                  <a:tcPr marL="9525" marR="9525" marT="9525" marB="0" anchor="b">
                    <a:lnL>
                      <a:noFill/>
                    </a:lnL>
                    <a:lnR>
                      <a:noFill/>
                    </a:lnR>
                    <a:lnT>
                      <a:noFill/>
                    </a:lnT>
                    <a:lnB>
                      <a:noFill/>
                    </a:lnB>
                    <a:noFill/>
                  </a:tcPr>
                </a:tc>
                <a:tc>
                  <a:txBody>
                    <a:bodyPr/>
                    <a:lstStyle/>
                    <a:p>
                      <a:pPr algn="l" fontAlgn="b"/>
                      <a:endParaRPr lang="en-US" sz="1100" b="1"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xmlns="" val="3457245080"/>
                  </a:ext>
                </a:extLst>
              </a:tr>
              <a:tr h="287295">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569889492"/>
                  </a:ext>
                </a:extLst>
              </a:tr>
              <a:tr h="287295">
                <a:tc>
                  <a:txBody>
                    <a:bodyPr/>
                    <a:lstStyle/>
                    <a:p>
                      <a:pPr algn="l" fontAlgn="b"/>
                      <a:r>
                        <a:rPr lang="en-US" sz="1800" b="0" i="0" u="none" strike="noStrike" dirty="0">
                          <a:solidFill>
                            <a:srgbClr val="000000"/>
                          </a:solidFill>
                          <a:effectLst/>
                          <a:latin typeface="Arial" panose="020B0604020202020204" pitchFamily="34" charset="0"/>
                        </a:rPr>
                        <a:t>cash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4,300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694988683"/>
                  </a:ext>
                </a:extLst>
              </a:tr>
              <a:tr h="287295">
                <a:tc>
                  <a:txBody>
                    <a:bodyPr/>
                    <a:lstStyle/>
                    <a:p>
                      <a:pPr algn="l" fontAlgn="b"/>
                      <a:r>
                        <a:rPr lang="en-US" sz="1800" b="0" i="0" u="none" strike="noStrike" dirty="0">
                          <a:solidFill>
                            <a:srgbClr val="000000"/>
                          </a:solidFill>
                          <a:effectLst/>
                          <a:latin typeface="Arial" panose="020B0604020202020204" pitchFamily="34" charset="0"/>
                        </a:rPr>
                        <a:t>Account Receivable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26,600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566710313"/>
                  </a:ext>
                </a:extLst>
              </a:tr>
              <a:tr h="287295">
                <a:tc>
                  <a:txBody>
                    <a:bodyPr/>
                    <a:lstStyle/>
                    <a:p>
                      <a:pPr algn="l" fontAlgn="b"/>
                      <a:r>
                        <a:rPr lang="en-US" sz="1800" b="0" i="0" u="none" strike="noStrike" dirty="0">
                          <a:solidFill>
                            <a:srgbClr val="000000"/>
                          </a:solidFill>
                          <a:effectLst/>
                          <a:latin typeface="Arial" panose="020B0604020202020204" pitchFamily="34" charset="0"/>
                        </a:rPr>
                        <a:t>Supplies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438212013"/>
                  </a:ext>
                </a:extLst>
              </a:tr>
              <a:tr h="287295">
                <a:tc>
                  <a:txBody>
                    <a:bodyPr/>
                    <a:lstStyle/>
                    <a:p>
                      <a:pPr algn="l" fontAlgn="b"/>
                      <a:r>
                        <a:rPr lang="en-US" sz="1800" b="0" i="0" u="none" strike="noStrike" dirty="0">
                          <a:solidFill>
                            <a:srgbClr val="000000"/>
                          </a:solidFill>
                          <a:effectLst/>
                          <a:latin typeface="Arial" panose="020B0604020202020204" pitchFamily="34" charset="0"/>
                        </a:rPr>
                        <a:t>Prepaid Insurance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1,700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282457282"/>
                  </a:ext>
                </a:extLst>
              </a:tr>
              <a:tr h="287295">
                <a:tc>
                  <a:txBody>
                    <a:bodyPr/>
                    <a:lstStyle/>
                    <a:p>
                      <a:pPr algn="l" fontAlgn="b"/>
                      <a:r>
                        <a:rPr lang="en-US" sz="1800" b="0" i="0" u="none" strike="noStrike" dirty="0">
                          <a:solidFill>
                            <a:srgbClr val="000000"/>
                          </a:solidFill>
                          <a:effectLst/>
                          <a:latin typeface="Arial" panose="020B0604020202020204" pitchFamily="34" charset="0"/>
                        </a:rPr>
                        <a:t>Equipment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53,500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966903739"/>
                  </a:ext>
                </a:extLst>
              </a:tr>
              <a:tr h="287295">
                <a:tc>
                  <a:txBody>
                    <a:bodyPr/>
                    <a:lstStyle/>
                    <a:p>
                      <a:pPr algn="l" fontAlgn="b"/>
                      <a:r>
                        <a:rPr lang="en-US" sz="1800" b="0" i="0" u="none" strike="noStrike">
                          <a:solidFill>
                            <a:srgbClr val="000000"/>
                          </a:solidFill>
                          <a:effectLst/>
                          <a:latin typeface="Arial" panose="020B0604020202020204" pitchFamily="34" charset="0"/>
                        </a:rPr>
                        <a:t>Accumulated depreciation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dirty="0">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36,400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164682234"/>
                  </a:ext>
                </a:extLst>
              </a:tr>
              <a:tr h="287295">
                <a:tc>
                  <a:txBody>
                    <a:bodyPr/>
                    <a:lstStyle/>
                    <a:p>
                      <a:pPr algn="l" fontAlgn="b"/>
                      <a:r>
                        <a:rPr lang="en-US" sz="1800" b="0" i="0" u="none" strike="noStrike" dirty="0">
                          <a:solidFill>
                            <a:srgbClr val="000000"/>
                          </a:solidFill>
                          <a:effectLst/>
                          <a:latin typeface="Arial" panose="020B0604020202020204" pitchFamily="34" charset="0"/>
                        </a:rPr>
                        <a:t>Account Payable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13,400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949486007"/>
                  </a:ext>
                </a:extLst>
              </a:tr>
              <a:tr h="287295">
                <a:tc>
                  <a:txBody>
                    <a:bodyPr/>
                    <a:lstStyle/>
                    <a:p>
                      <a:pPr algn="l" fontAlgn="b"/>
                      <a:r>
                        <a:rPr lang="en-US" sz="1800" b="0" i="0" u="none" strike="noStrike">
                          <a:solidFill>
                            <a:srgbClr val="000000"/>
                          </a:solidFill>
                          <a:effectLst/>
                          <a:latin typeface="Arial" panose="020B0604020202020204" pitchFamily="34" charset="0"/>
                        </a:rPr>
                        <a:t>Wages payable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dirty="0">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419681730"/>
                  </a:ext>
                </a:extLst>
              </a:tr>
              <a:tr h="520004">
                <a:tc>
                  <a:txBody>
                    <a:bodyPr/>
                    <a:lstStyle/>
                    <a:p>
                      <a:pPr algn="l" fontAlgn="b"/>
                      <a:r>
                        <a:rPr lang="en-US" sz="1800" b="0" i="0" u="none" strike="noStrike" dirty="0">
                          <a:solidFill>
                            <a:srgbClr val="000000"/>
                          </a:solidFill>
                          <a:effectLst/>
                          <a:latin typeface="Arial" panose="020B0604020202020204" pitchFamily="34" charset="0"/>
                        </a:rPr>
                        <a:t>Unearned Service Revenue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dirty="0">
                          <a:solidFill>
                            <a:srgbClr val="000000"/>
                          </a:solidFill>
                          <a:effectLst/>
                          <a:latin typeface="Arial" panose="020B0604020202020204" pitchFamily="34" charset="0"/>
                        </a:rPr>
                        <a:t>          8,000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599470426"/>
                  </a:ext>
                </a:extLst>
              </a:tr>
              <a:tr h="287295">
                <a:tc>
                  <a:txBody>
                    <a:bodyPr/>
                    <a:lstStyle/>
                    <a:p>
                      <a:pPr algn="l" fontAlgn="b"/>
                      <a:r>
                        <a:rPr lang="en-US" sz="1800" b="0" i="0" u="none" strike="noStrike">
                          <a:solidFill>
                            <a:srgbClr val="000000"/>
                          </a:solidFill>
                          <a:effectLst/>
                          <a:latin typeface="Arial" panose="020B0604020202020204" pitchFamily="34" charset="0"/>
                        </a:rPr>
                        <a:t>Myla Capital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19,700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665262523"/>
                  </a:ext>
                </a:extLst>
              </a:tr>
              <a:tr h="287295">
                <a:tc>
                  <a:txBody>
                    <a:bodyPr/>
                    <a:lstStyle/>
                    <a:p>
                      <a:pPr algn="l" fontAlgn="b"/>
                      <a:r>
                        <a:rPr lang="en-US" sz="1800" b="0" i="0" u="none" strike="noStrike">
                          <a:solidFill>
                            <a:srgbClr val="000000"/>
                          </a:solidFill>
                          <a:effectLst/>
                          <a:latin typeface="Arial" panose="020B0604020202020204" pitchFamily="34" charset="0"/>
                        </a:rPr>
                        <a:t>Myla's drawing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3,800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dirty="0">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756873938"/>
                  </a:ext>
                </a:extLst>
              </a:tr>
              <a:tr h="287295">
                <a:tc>
                  <a:txBody>
                    <a:bodyPr/>
                    <a:lstStyle/>
                    <a:p>
                      <a:pPr algn="l" fontAlgn="b"/>
                      <a:r>
                        <a:rPr lang="en-US" sz="1800" b="0" i="0" u="none" strike="noStrike">
                          <a:solidFill>
                            <a:srgbClr val="000000"/>
                          </a:solidFill>
                          <a:effectLst/>
                          <a:latin typeface="Arial" panose="020B0604020202020204" pitchFamily="34" charset="0"/>
                        </a:rPr>
                        <a:t>Service Revenue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16,000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748655529"/>
                  </a:ext>
                </a:extLst>
              </a:tr>
              <a:tr h="287295">
                <a:tc>
                  <a:txBody>
                    <a:bodyPr/>
                    <a:lstStyle/>
                    <a:p>
                      <a:pPr algn="l" fontAlgn="b"/>
                      <a:r>
                        <a:rPr lang="en-US" sz="1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75811130"/>
                  </a:ext>
                </a:extLst>
              </a:tr>
              <a:tr h="287295">
                <a:tc>
                  <a:txBody>
                    <a:bodyPr/>
                    <a:lstStyle/>
                    <a:p>
                      <a:pPr algn="l" fontAlgn="b"/>
                      <a:r>
                        <a:rPr lang="en-US" sz="1800" b="0" i="0" u="none" strike="noStrike">
                          <a:solidFill>
                            <a:srgbClr val="000000"/>
                          </a:solidFill>
                          <a:effectLst/>
                          <a:latin typeface="Arial" panose="020B0604020202020204" pitchFamily="34" charset="0"/>
                        </a:rPr>
                        <a:t>Depreciation Expense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dirty="0">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dirty="0">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549917897"/>
                  </a:ext>
                </a:extLst>
              </a:tr>
              <a:tr h="287295">
                <a:tc>
                  <a:txBody>
                    <a:bodyPr/>
                    <a:lstStyle/>
                    <a:p>
                      <a:pPr algn="l" fontAlgn="b"/>
                      <a:r>
                        <a:rPr lang="en-US" sz="1800" b="0" i="0" u="none" strike="noStrike">
                          <a:solidFill>
                            <a:srgbClr val="000000"/>
                          </a:solidFill>
                          <a:effectLst/>
                          <a:latin typeface="Arial" panose="020B0604020202020204" pitchFamily="34" charset="0"/>
                        </a:rPr>
                        <a:t>Wages Expense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1,600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dirty="0">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794866534"/>
                  </a:ext>
                </a:extLst>
              </a:tr>
              <a:tr h="287295">
                <a:tc>
                  <a:txBody>
                    <a:bodyPr/>
                    <a:lstStyle/>
                    <a:p>
                      <a:pPr algn="l" fontAlgn="b"/>
                      <a:r>
                        <a:rPr lang="en-US" sz="1800" b="0" i="0" u="none" strike="noStrike">
                          <a:solidFill>
                            <a:srgbClr val="000000"/>
                          </a:solidFill>
                          <a:effectLst/>
                          <a:latin typeface="Arial" panose="020B0604020202020204" pitchFamily="34" charset="0"/>
                        </a:rPr>
                        <a:t>Insurance Expense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dirty="0">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dirty="0">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531693451"/>
                  </a:ext>
                </a:extLst>
              </a:tr>
              <a:tr h="287295">
                <a:tc>
                  <a:txBody>
                    <a:bodyPr/>
                    <a:lstStyle/>
                    <a:p>
                      <a:pPr algn="l" fontAlgn="b"/>
                      <a:r>
                        <a:rPr lang="en-US" sz="1800" b="0" i="0" u="none" strike="noStrike">
                          <a:solidFill>
                            <a:srgbClr val="000000"/>
                          </a:solidFill>
                          <a:effectLst/>
                          <a:latin typeface="Arial" panose="020B0604020202020204" pitchFamily="34" charset="0"/>
                        </a:rPr>
                        <a:t>Utilities Expense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rial" panose="020B0604020202020204" pitchFamily="34" charset="0"/>
                        </a:rPr>
                        <a:t>          1,500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0" i="0" u="none" strike="noStrike" dirty="0">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595805213"/>
                  </a:ext>
                </a:extLst>
              </a:tr>
              <a:tr h="287295">
                <a:tc>
                  <a:txBody>
                    <a:bodyPr/>
                    <a:lstStyle/>
                    <a:p>
                      <a:pPr algn="l" fontAlgn="b"/>
                      <a:r>
                        <a:rPr lang="en-US" sz="1800" b="1" i="0" u="none" strike="noStrike">
                          <a:solidFill>
                            <a:srgbClr val="000000"/>
                          </a:solidFill>
                          <a:effectLst/>
                          <a:latin typeface="Arial" panose="020B0604020202020204" pitchFamily="34" charset="0"/>
                        </a:rPr>
                        <a:t>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1" i="0" u="none" strike="noStrike">
                          <a:solidFill>
                            <a:srgbClr val="000000"/>
                          </a:solidFill>
                          <a:effectLst/>
                          <a:latin typeface="Arial" panose="020B0604020202020204" pitchFamily="34" charset="0"/>
                        </a:rPr>
                        <a:t>        93,500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800" b="1" i="0" u="none" strike="noStrike" dirty="0">
                          <a:solidFill>
                            <a:srgbClr val="000000"/>
                          </a:solidFill>
                          <a:effectLst/>
                          <a:latin typeface="Arial" panose="020B0604020202020204" pitchFamily="34" charset="0"/>
                        </a:rPr>
                        <a:t>        93,500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387271689"/>
                  </a:ext>
                </a:extLst>
              </a:tr>
            </a:tbl>
          </a:graphicData>
        </a:graphic>
      </p:graphicFrame>
    </p:spTree>
    <p:extLst>
      <p:ext uri="{BB962C8B-B14F-4D97-AF65-F5344CB8AC3E}">
        <p14:creationId xmlns:p14="http://schemas.microsoft.com/office/powerpoint/2010/main" val="10066903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gency FB" panose="020B0503020202020204" pitchFamily="34" charset="0"/>
              </a:rPr>
              <a:t>Data for adjustment </a:t>
            </a:r>
          </a:p>
        </p:txBody>
      </p:sp>
      <p:sp>
        <p:nvSpPr>
          <p:cNvPr id="3" name="Content Placeholder 2"/>
          <p:cNvSpPr>
            <a:spLocks noGrp="1"/>
          </p:cNvSpPr>
          <p:nvPr>
            <p:ph idx="1"/>
          </p:nvPr>
        </p:nvSpPr>
        <p:spPr>
          <a:xfrm>
            <a:off x="1143000" y="2057400"/>
            <a:ext cx="10828606" cy="4038600"/>
          </a:xfrm>
        </p:spPr>
        <p:txBody>
          <a:bodyPr>
            <a:noAutofit/>
          </a:bodyPr>
          <a:lstStyle/>
          <a:p>
            <a:pPr>
              <a:buNone/>
            </a:pPr>
            <a:r>
              <a:rPr lang="en-US" sz="4000" dirty="0">
                <a:latin typeface="Agency FB" panose="020B0503020202020204" pitchFamily="34" charset="0"/>
              </a:rPr>
              <a:t>a. Depreciation on equipment, $1,100.</a:t>
            </a:r>
          </a:p>
          <a:p>
            <a:pPr>
              <a:buNone/>
            </a:pPr>
            <a:r>
              <a:rPr lang="en-US" sz="4000" dirty="0">
                <a:latin typeface="Agency FB" panose="020B0503020202020204" pitchFamily="34" charset="0"/>
              </a:rPr>
              <a:t>b. Accrued wage expense, $600.</a:t>
            </a:r>
          </a:p>
          <a:p>
            <a:pPr>
              <a:buNone/>
            </a:pPr>
            <a:r>
              <a:rPr lang="en-US" sz="4000" dirty="0">
                <a:latin typeface="Agency FB" panose="020B0503020202020204" pitchFamily="34" charset="0"/>
              </a:rPr>
              <a:t>c. Supplies on hand, $300.</a:t>
            </a:r>
          </a:p>
          <a:p>
            <a:pPr>
              <a:buNone/>
            </a:pPr>
            <a:r>
              <a:rPr lang="en-US" sz="4000" dirty="0">
                <a:latin typeface="Agency FB" panose="020B0503020202020204" pitchFamily="34" charset="0"/>
              </a:rPr>
              <a:t>d. Prepaid insurance expired during December, $200.</a:t>
            </a:r>
          </a:p>
          <a:p>
            <a:pPr>
              <a:buNone/>
            </a:pPr>
            <a:r>
              <a:rPr lang="en-US" sz="4000" dirty="0">
                <a:latin typeface="Agency FB" panose="020B0503020202020204" pitchFamily="34" charset="0"/>
              </a:rPr>
              <a:t>e. Unearned service revenue earned during December, $4,000.</a:t>
            </a:r>
          </a:p>
          <a:p>
            <a:pPr>
              <a:buNone/>
            </a:pPr>
            <a:r>
              <a:rPr lang="en-US" sz="4000" dirty="0">
                <a:latin typeface="Agency FB" panose="020B0503020202020204" pitchFamily="34" charset="0"/>
              </a:rPr>
              <a:t>f. Accrued service revenue, $800.</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2709" y="609600"/>
            <a:ext cx="11282288" cy="487680"/>
          </a:xfrm>
        </p:spPr>
        <p:txBody>
          <a:bodyPr>
            <a:normAutofit fontScale="90000"/>
          </a:bodyPr>
          <a:lstStyle/>
          <a:p>
            <a:r>
              <a:rPr lang="en-US" b="1" dirty="0">
                <a:latin typeface="Agency FB" panose="020B0503020202020204" pitchFamily="34" charset="0"/>
              </a:rPr>
              <a:t>Adjusted TB</a:t>
            </a:r>
          </a:p>
        </p:txBody>
      </p:sp>
      <p:pic>
        <p:nvPicPr>
          <p:cNvPr id="1026" name="Picture 2" descr="C:\Users\KAYONDE J.PAUL\Desktop\Pictures captured from books\Adjusted TB Milan'Motor.GIF"/>
          <p:cNvPicPr>
            <a:picLocks noGrp="1" noChangeAspect="1" noChangeArrowheads="1"/>
          </p:cNvPicPr>
          <p:nvPr>
            <p:ph idx="1"/>
          </p:nvPr>
        </p:nvPicPr>
        <p:blipFill>
          <a:blip r:embed="rId2"/>
          <a:srcRect/>
          <a:stretch>
            <a:fillRect/>
          </a:stretch>
        </p:blipFill>
        <p:spPr bwMode="auto">
          <a:xfrm>
            <a:off x="347003" y="1097280"/>
            <a:ext cx="11497994" cy="5227320"/>
          </a:xfrm>
          <a:prstGeom prst="rect">
            <a:avLst/>
          </a:prstGeom>
          <a:noFill/>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r>
            <a:br>
              <a:rPr lang="en-US" dirty="0"/>
            </a:br>
            <a:endParaRPr lang="en-US" dirty="0"/>
          </a:p>
        </p:txBody>
      </p:sp>
      <p:pic>
        <p:nvPicPr>
          <p:cNvPr id="2050" name="Picture 2" descr="C:\Users\KAYONDE J.PAUL\Desktop\Pictures captured from books\Mila's worksheet.GIF"/>
          <p:cNvPicPr>
            <a:picLocks noGrp="1" noChangeAspect="1" noChangeArrowheads="1"/>
          </p:cNvPicPr>
          <p:nvPr>
            <p:ph idx="1"/>
          </p:nvPr>
        </p:nvPicPr>
        <p:blipFill>
          <a:blip r:embed="rId2"/>
          <a:srcRect/>
          <a:stretch>
            <a:fillRect/>
          </a:stretch>
        </p:blipFill>
        <p:spPr bwMode="auto">
          <a:xfrm>
            <a:off x="253218" y="281354"/>
            <a:ext cx="11732456" cy="6424246"/>
          </a:xfrm>
          <a:prstGeom prst="rect">
            <a:avLst/>
          </a:prstGeom>
          <a:noFill/>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8240" y="328246"/>
            <a:ext cx="9875520" cy="487680"/>
          </a:xfrm>
        </p:spPr>
        <p:txBody>
          <a:bodyPr>
            <a:normAutofit fontScale="90000"/>
          </a:bodyPr>
          <a:lstStyle/>
          <a:p>
            <a:r>
              <a:rPr lang="en-US" b="1" dirty="0">
                <a:latin typeface="Agency FB" panose="020B0503020202020204" pitchFamily="34" charset="0"/>
              </a:rPr>
              <a:t>CONT’</a:t>
            </a:r>
          </a:p>
        </p:txBody>
      </p:sp>
      <p:sp>
        <p:nvSpPr>
          <p:cNvPr id="3" name="Content Placeholder 2"/>
          <p:cNvSpPr>
            <a:spLocks noGrp="1"/>
          </p:cNvSpPr>
          <p:nvPr>
            <p:ph idx="1"/>
          </p:nvPr>
        </p:nvSpPr>
        <p:spPr>
          <a:xfrm>
            <a:off x="379828" y="815926"/>
            <a:ext cx="11690252" cy="4038600"/>
          </a:xfrm>
        </p:spPr>
        <p:txBody>
          <a:bodyPr>
            <a:noAutofit/>
          </a:bodyPr>
          <a:lstStyle/>
          <a:p>
            <a:r>
              <a:rPr lang="en-US" sz="4500" dirty="0">
                <a:latin typeface="Agency FB" panose="020B0503020202020204" pitchFamily="34" charset="0"/>
              </a:rPr>
              <a:t>The amounts of </a:t>
            </a:r>
            <a:r>
              <a:rPr lang="en-US" sz="4500" b="1" dirty="0">
                <a:latin typeface="Agency FB" panose="020B0503020202020204" pitchFamily="34" charset="0"/>
              </a:rPr>
              <a:t>assets</a:t>
            </a:r>
            <a:r>
              <a:rPr lang="en-US" sz="4500" dirty="0">
                <a:latin typeface="Agency FB" panose="020B0503020202020204" pitchFamily="34" charset="0"/>
              </a:rPr>
              <a:t>, </a:t>
            </a:r>
            <a:r>
              <a:rPr lang="en-US" sz="4500" b="1" dirty="0">
                <a:latin typeface="Agency FB" panose="020B0503020202020204" pitchFamily="34" charset="0"/>
              </a:rPr>
              <a:t>liabilities</a:t>
            </a:r>
            <a:r>
              <a:rPr lang="en-US" sz="4500" dirty="0">
                <a:latin typeface="Agency FB" panose="020B0503020202020204" pitchFamily="34" charset="0"/>
              </a:rPr>
              <a:t> and </a:t>
            </a:r>
            <a:r>
              <a:rPr lang="en-US" sz="4500" b="1" dirty="0">
                <a:latin typeface="Agency FB" panose="020B0503020202020204" pitchFamily="34" charset="0"/>
              </a:rPr>
              <a:t>owner’s equity</a:t>
            </a:r>
            <a:r>
              <a:rPr lang="en-US" sz="4500" dirty="0">
                <a:latin typeface="Agency FB" panose="020B0503020202020204" pitchFamily="34" charset="0"/>
              </a:rPr>
              <a:t> are transferred in the second new main column of </a:t>
            </a:r>
            <a:r>
              <a:rPr lang="en-US" sz="4500" b="1" i="1" dirty="0">
                <a:latin typeface="Agency FB" panose="020B0503020202020204" pitchFamily="34" charset="0"/>
              </a:rPr>
              <a:t>Balance Sheet </a:t>
            </a:r>
            <a:r>
              <a:rPr lang="en-US" sz="4500" dirty="0">
                <a:latin typeface="Agency FB" panose="020B0503020202020204" pitchFamily="34" charset="0"/>
              </a:rPr>
              <a:t>from adjusted TB</a:t>
            </a:r>
          </a:p>
          <a:p>
            <a:r>
              <a:rPr lang="en-US" sz="4500" dirty="0">
                <a:latin typeface="Agency FB" panose="020B0503020202020204" pitchFamily="34" charset="0"/>
              </a:rPr>
              <a:t>The amounts of </a:t>
            </a:r>
            <a:r>
              <a:rPr lang="en-US" sz="4500" b="1" dirty="0">
                <a:latin typeface="Agency FB" panose="020B0503020202020204" pitchFamily="34" charset="0"/>
              </a:rPr>
              <a:t>revenue</a:t>
            </a:r>
            <a:r>
              <a:rPr lang="en-US" sz="4500" dirty="0">
                <a:latin typeface="Agency FB" panose="020B0503020202020204" pitchFamily="34" charset="0"/>
              </a:rPr>
              <a:t> and </a:t>
            </a:r>
            <a:r>
              <a:rPr lang="en-US" sz="4500" b="1" dirty="0">
                <a:latin typeface="Agency FB" panose="020B0503020202020204" pitchFamily="34" charset="0"/>
              </a:rPr>
              <a:t>expenses</a:t>
            </a:r>
            <a:r>
              <a:rPr lang="en-US" sz="4500" dirty="0">
                <a:latin typeface="Agency FB" panose="020B0503020202020204" pitchFamily="34" charset="0"/>
              </a:rPr>
              <a:t> are transferred in the first new main column of </a:t>
            </a:r>
            <a:r>
              <a:rPr lang="en-US" sz="4500" b="1" i="1" dirty="0">
                <a:latin typeface="Agency FB" panose="020B0503020202020204" pitchFamily="34" charset="0"/>
              </a:rPr>
              <a:t>Income Statement</a:t>
            </a:r>
            <a:endParaRPr lang="en-US" sz="4500" dirty="0">
              <a:latin typeface="Agency FB" panose="020B0503020202020204" pitchFamily="34" charset="0"/>
            </a:endParaRPr>
          </a:p>
          <a:p>
            <a:r>
              <a:rPr lang="en-US" sz="4500" dirty="0">
                <a:latin typeface="Agency FB" panose="020B0503020202020204" pitchFamily="34" charset="0"/>
              </a:rPr>
              <a:t>Total debit and total credit in new columns show unbalanced figure (amount). It is reasonable because a new element </a:t>
            </a:r>
            <a:r>
              <a:rPr lang="en-US" sz="4500" b="1" dirty="0">
                <a:solidFill>
                  <a:srgbClr val="FF0000"/>
                </a:solidFill>
                <a:latin typeface="Agency FB" panose="020B0503020202020204" pitchFamily="34" charset="0"/>
              </a:rPr>
              <a:t>net income </a:t>
            </a:r>
            <a:r>
              <a:rPr lang="en-US" sz="4500" dirty="0">
                <a:latin typeface="Agency FB" panose="020B0503020202020204" pitchFamily="34" charset="0"/>
              </a:rPr>
              <a:t>is the focus of the business. </a:t>
            </a:r>
            <a:r>
              <a:rPr lang="en-US" sz="4500" i="1" dirty="0">
                <a:latin typeface="Agency FB" panose="020B0503020202020204" pitchFamily="34" charset="0"/>
              </a:rPr>
              <a:t>Net Income = Service revenue- Total expense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152400"/>
          </a:xfrm>
        </p:spPr>
        <p:txBody>
          <a:bodyPr>
            <a:normAutofit fontScale="90000"/>
          </a:bodyPr>
          <a:lstStyle/>
          <a:p>
            <a:r>
              <a:rPr lang="en-US" b="1" dirty="0" err="1">
                <a:latin typeface="Agency FB" panose="020B0503020202020204" pitchFamily="34" charset="0"/>
              </a:rPr>
              <a:t>Cont</a:t>
            </a:r>
            <a:r>
              <a:rPr lang="en-US" b="1" dirty="0">
                <a:latin typeface="Agency FB" panose="020B0503020202020204" pitchFamily="34" charset="0"/>
              </a:rPr>
              <a:t>’</a:t>
            </a:r>
          </a:p>
        </p:txBody>
      </p:sp>
      <p:sp>
        <p:nvSpPr>
          <p:cNvPr id="3" name="Content Placeholder 2"/>
          <p:cNvSpPr>
            <a:spLocks noGrp="1"/>
          </p:cNvSpPr>
          <p:nvPr>
            <p:ph idx="1"/>
          </p:nvPr>
        </p:nvSpPr>
        <p:spPr>
          <a:xfrm>
            <a:off x="267286" y="1012874"/>
            <a:ext cx="11718388" cy="5083126"/>
          </a:xfrm>
        </p:spPr>
        <p:txBody>
          <a:bodyPr>
            <a:noAutofit/>
          </a:bodyPr>
          <a:lstStyle/>
          <a:p>
            <a:r>
              <a:rPr lang="en-US" sz="4400" dirty="0">
                <a:latin typeface="Agency FB" panose="020B0503020202020204" pitchFamily="34" charset="0"/>
              </a:rPr>
              <a:t>When the business has reached its goals the net income will be written under total expenses to balance the weak side of expenses and under credit side of Balance Sheet because it will increase the capital of the business.</a:t>
            </a:r>
          </a:p>
          <a:p>
            <a:r>
              <a:rPr lang="en-US" sz="4400" dirty="0">
                <a:latin typeface="Agency FB" panose="020B0503020202020204" pitchFamily="34" charset="0"/>
              </a:rPr>
              <a:t>When the business falls in loss, the result will be Net Loss instead of Net Income. </a:t>
            </a:r>
            <a:r>
              <a:rPr lang="en-US" sz="4400" b="1" i="1" dirty="0">
                <a:solidFill>
                  <a:srgbClr val="FF0000"/>
                </a:solidFill>
                <a:latin typeface="Agency FB" panose="020B0503020202020204" pitchFamily="34" charset="0"/>
              </a:rPr>
              <a:t>Net loss </a:t>
            </a:r>
            <a:r>
              <a:rPr lang="en-US" sz="4400" b="1" i="1" dirty="0">
                <a:latin typeface="Agency FB" panose="020B0503020202020204" pitchFamily="34" charset="0"/>
              </a:rPr>
              <a:t>= Total expenses – service revenue. </a:t>
            </a:r>
            <a:r>
              <a:rPr lang="en-US" sz="4400" dirty="0">
                <a:latin typeface="Agency FB" panose="020B0503020202020204" pitchFamily="34" charset="0"/>
              </a:rPr>
              <a:t>The amount will be written under service revenue to balance the weak side,  and under debit side of balance sheet, because it is going to decrease the capital of the business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gency FB" panose="020B0503020202020204" pitchFamily="34" charset="0"/>
              </a:rPr>
              <a:t>Closing revenue, Expenses and drawings</a:t>
            </a:r>
          </a:p>
        </p:txBody>
      </p:sp>
      <p:sp>
        <p:nvSpPr>
          <p:cNvPr id="3" name="Content Placeholder 2"/>
          <p:cNvSpPr>
            <a:spLocks noGrp="1"/>
          </p:cNvSpPr>
          <p:nvPr>
            <p:ph idx="1"/>
          </p:nvPr>
        </p:nvSpPr>
        <p:spPr>
          <a:xfrm>
            <a:off x="196948" y="2199249"/>
            <a:ext cx="11816861" cy="4038600"/>
          </a:xfrm>
        </p:spPr>
        <p:txBody>
          <a:bodyPr>
            <a:noAutofit/>
          </a:bodyPr>
          <a:lstStyle/>
          <a:p>
            <a:r>
              <a:rPr lang="en-US" sz="4400" dirty="0">
                <a:latin typeface="Agency FB" panose="020B0503020202020204" pitchFamily="34" charset="0"/>
              </a:rPr>
              <a:t>At the end of year, after adjustments, revenues, expenses and owner withdrawals will be </a:t>
            </a:r>
            <a:r>
              <a:rPr lang="en-US" sz="4400" b="1" dirty="0">
                <a:latin typeface="Agency FB" panose="020B0503020202020204" pitchFamily="34" charset="0"/>
              </a:rPr>
              <a:t>closed</a:t>
            </a:r>
            <a:r>
              <a:rPr lang="en-US" sz="4400" dirty="0">
                <a:latin typeface="Agency FB" panose="020B0503020202020204" pitchFamily="34" charset="0"/>
              </a:rPr>
              <a:t> or will be </a:t>
            </a:r>
            <a:r>
              <a:rPr lang="en-US" sz="4400" b="1" dirty="0">
                <a:latin typeface="Agency FB" panose="020B0503020202020204" pitchFamily="34" charset="0"/>
              </a:rPr>
              <a:t>zeroed</a:t>
            </a:r>
            <a:r>
              <a:rPr lang="en-US" sz="4400" dirty="0">
                <a:latin typeface="Agency FB" panose="020B0503020202020204" pitchFamily="34" charset="0"/>
              </a:rPr>
              <a:t>. To zero an account is to balance it to zero. When it has </a:t>
            </a:r>
            <a:r>
              <a:rPr lang="en-US" sz="4400" i="1" u="sng" dirty="0">
                <a:solidFill>
                  <a:schemeClr val="accent1"/>
                </a:solidFill>
                <a:latin typeface="Agency FB" panose="020B0503020202020204" pitchFamily="34" charset="0"/>
              </a:rPr>
              <a:t>a credit </a:t>
            </a:r>
            <a:r>
              <a:rPr lang="en-US" sz="4400" dirty="0">
                <a:latin typeface="Agency FB" panose="020B0503020202020204" pitchFamily="34" charset="0"/>
              </a:rPr>
              <a:t>balance you </a:t>
            </a:r>
            <a:r>
              <a:rPr lang="en-US" sz="4400" i="1" u="sng" dirty="0">
                <a:solidFill>
                  <a:schemeClr val="accent1"/>
                </a:solidFill>
                <a:latin typeface="Agency FB" panose="020B0503020202020204" pitchFamily="34" charset="0"/>
              </a:rPr>
              <a:t>debit it</a:t>
            </a:r>
            <a:r>
              <a:rPr lang="en-US" sz="4400" dirty="0">
                <a:latin typeface="Agency FB" panose="020B0503020202020204" pitchFamily="34" charset="0"/>
              </a:rPr>
              <a:t>, and when it has </a:t>
            </a:r>
            <a:r>
              <a:rPr lang="en-US" sz="4400" i="1" dirty="0">
                <a:solidFill>
                  <a:schemeClr val="accent3"/>
                </a:solidFill>
                <a:latin typeface="Agency FB" panose="020B0503020202020204" pitchFamily="34" charset="0"/>
              </a:rPr>
              <a:t>a debit </a:t>
            </a:r>
            <a:r>
              <a:rPr lang="en-US" sz="4400" dirty="0">
                <a:latin typeface="Agency FB" panose="020B0503020202020204" pitchFamily="34" charset="0"/>
              </a:rPr>
              <a:t>balance you </a:t>
            </a:r>
            <a:r>
              <a:rPr lang="en-US" sz="4400" i="1" dirty="0">
                <a:solidFill>
                  <a:schemeClr val="accent3"/>
                </a:solidFill>
                <a:latin typeface="Agency FB" panose="020B0503020202020204" pitchFamily="34" charset="0"/>
              </a:rPr>
              <a:t>credit it </a:t>
            </a:r>
            <a:r>
              <a:rPr lang="en-US" sz="4400" dirty="0">
                <a:latin typeface="Agency FB" panose="020B0503020202020204" pitchFamily="34" charset="0"/>
              </a:rPr>
              <a:t>with the same amount. </a:t>
            </a:r>
          </a:p>
          <a:p>
            <a:r>
              <a:rPr lang="en-US" sz="4400" dirty="0">
                <a:latin typeface="Agency FB" panose="020B0503020202020204" pitchFamily="34" charset="0"/>
              </a:rPr>
              <a:t>There is </a:t>
            </a:r>
            <a:r>
              <a:rPr lang="en-US" sz="4400" b="1" dirty="0">
                <a:latin typeface="Agency FB" panose="020B0503020202020204" pitchFamily="34" charset="0"/>
              </a:rPr>
              <a:t>a temporary </a:t>
            </a:r>
            <a:r>
              <a:rPr lang="en-US" sz="4400" dirty="0">
                <a:latin typeface="Agency FB" panose="020B0503020202020204" pitchFamily="34" charset="0"/>
              </a:rPr>
              <a:t>account called  </a:t>
            </a:r>
            <a:r>
              <a:rPr lang="en-US" sz="4400" b="1" dirty="0">
                <a:latin typeface="Agency FB" panose="020B0503020202020204" pitchFamily="34" charset="0"/>
              </a:rPr>
              <a:t>Income Summary </a:t>
            </a:r>
            <a:r>
              <a:rPr lang="en-US" sz="4400" dirty="0">
                <a:latin typeface="Agency FB" panose="020B0503020202020204" pitchFamily="34" charset="0"/>
              </a:rPr>
              <a:t>which is used to close revenues and expenses.  </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gency FB" panose="020B0503020202020204" pitchFamily="34" charset="0"/>
              </a:rPr>
              <a:t>Closing revenue, Expenses and drawings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436796"/>
              </p:ext>
            </p:extLst>
          </p:nvPr>
        </p:nvGraphicFramePr>
        <p:xfrm>
          <a:off x="335280" y="2133600"/>
          <a:ext cx="11636326" cy="4084320"/>
        </p:xfrm>
        <a:graphic>
          <a:graphicData uri="http://schemas.openxmlformats.org/drawingml/2006/table">
            <a:tbl>
              <a:tblPr firstRow="1" bandRow="1">
                <a:tableStyleId>{5C22544A-7EE6-4342-B048-85BDC9FD1C3A}</a:tableStyleId>
              </a:tblPr>
              <a:tblGrid>
                <a:gridCol w="5818163">
                  <a:extLst>
                    <a:ext uri="{9D8B030D-6E8A-4147-A177-3AD203B41FA5}">
                      <a16:colId xmlns:a16="http://schemas.microsoft.com/office/drawing/2014/main" xmlns="" val="20000"/>
                    </a:ext>
                  </a:extLst>
                </a:gridCol>
                <a:gridCol w="5818163">
                  <a:extLst>
                    <a:ext uri="{9D8B030D-6E8A-4147-A177-3AD203B41FA5}">
                      <a16:colId xmlns:a16="http://schemas.microsoft.com/office/drawing/2014/main" xmlns="" val="20001"/>
                    </a:ext>
                  </a:extLst>
                </a:gridCol>
              </a:tblGrid>
              <a:tr h="731520">
                <a:tc>
                  <a:txBody>
                    <a:bodyPr/>
                    <a:lstStyle/>
                    <a:p>
                      <a:r>
                        <a:rPr lang="en-US" sz="3500" dirty="0"/>
                        <a:t>Accounts to be closed</a:t>
                      </a:r>
                    </a:p>
                  </a:txBody>
                  <a:tcPr/>
                </a:tc>
                <a:tc>
                  <a:txBody>
                    <a:bodyPr/>
                    <a:lstStyle/>
                    <a:p>
                      <a:r>
                        <a:rPr lang="en-US" sz="3500" dirty="0"/>
                        <a:t>Accounts used for closing</a:t>
                      </a:r>
                    </a:p>
                  </a:txBody>
                  <a:tcPr/>
                </a:tc>
                <a:extLst>
                  <a:ext uri="{0D108BD9-81ED-4DB2-BD59-A6C34878D82A}">
                    <a16:rowId xmlns:a16="http://schemas.microsoft.com/office/drawing/2014/main" xmlns="" val="10000"/>
                  </a:ext>
                </a:extLst>
              </a:tr>
              <a:tr h="731520">
                <a:tc>
                  <a:txBody>
                    <a:bodyPr/>
                    <a:lstStyle/>
                    <a:p>
                      <a:r>
                        <a:rPr lang="en-US" sz="3500" dirty="0"/>
                        <a:t>1. Service revenue</a:t>
                      </a:r>
                    </a:p>
                  </a:txBody>
                  <a:tcPr/>
                </a:tc>
                <a:tc>
                  <a:txBody>
                    <a:bodyPr/>
                    <a:lstStyle/>
                    <a:p>
                      <a:r>
                        <a:rPr lang="en-US" sz="3500" dirty="0"/>
                        <a:t>Income summary (Cr)</a:t>
                      </a:r>
                    </a:p>
                  </a:txBody>
                  <a:tcPr/>
                </a:tc>
                <a:extLst>
                  <a:ext uri="{0D108BD9-81ED-4DB2-BD59-A6C34878D82A}">
                    <a16:rowId xmlns:a16="http://schemas.microsoft.com/office/drawing/2014/main" xmlns="" val="10001"/>
                  </a:ext>
                </a:extLst>
              </a:tr>
              <a:tr h="731520">
                <a:tc>
                  <a:txBody>
                    <a:bodyPr/>
                    <a:lstStyle/>
                    <a:p>
                      <a:r>
                        <a:rPr lang="en-US" sz="3500" dirty="0"/>
                        <a:t>2.</a:t>
                      </a:r>
                      <a:r>
                        <a:rPr lang="en-US" sz="3500" baseline="0" dirty="0"/>
                        <a:t> Expenses</a:t>
                      </a:r>
                      <a:endParaRPr lang="en-US" sz="3500" dirty="0"/>
                    </a:p>
                  </a:txBody>
                  <a:tcPr/>
                </a:tc>
                <a:tc>
                  <a:txBody>
                    <a:bodyPr/>
                    <a:lstStyle/>
                    <a:p>
                      <a:r>
                        <a:rPr lang="en-US" sz="3500" dirty="0"/>
                        <a:t>Income summary (Dr)</a:t>
                      </a:r>
                    </a:p>
                  </a:txBody>
                  <a:tcPr/>
                </a:tc>
                <a:extLst>
                  <a:ext uri="{0D108BD9-81ED-4DB2-BD59-A6C34878D82A}">
                    <a16:rowId xmlns:a16="http://schemas.microsoft.com/office/drawing/2014/main" xmlns="" val="10002"/>
                  </a:ext>
                </a:extLst>
              </a:tr>
              <a:tr h="731520">
                <a:tc>
                  <a:txBody>
                    <a:bodyPr/>
                    <a:lstStyle/>
                    <a:p>
                      <a:r>
                        <a:rPr lang="en-US" sz="3500" dirty="0"/>
                        <a:t>3. Income </a:t>
                      </a:r>
                      <a:r>
                        <a:rPr lang="en-US" sz="3500" baseline="0" dirty="0"/>
                        <a:t> summary</a:t>
                      </a:r>
                      <a:endParaRPr lang="en-US" sz="3500" dirty="0"/>
                    </a:p>
                  </a:txBody>
                  <a:tcPr/>
                </a:tc>
                <a:tc>
                  <a:txBody>
                    <a:bodyPr/>
                    <a:lstStyle/>
                    <a:p>
                      <a:r>
                        <a:rPr lang="en-US" sz="3500" dirty="0"/>
                        <a:t>Owner’s Capital  (Cr)</a:t>
                      </a:r>
                      <a:r>
                        <a:rPr lang="en-US" sz="3500" baseline="0" dirty="0"/>
                        <a:t> or (Dr: for loss) </a:t>
                      </a:r>
                      <a:endParaRPr lang="en-US" sz="3500" dirty="0"/>
                    </a:p>
                  </a:txBody>
                  <a:tcPr/>
                </a:tc>
                <a:extLst>
                  <a:ext uri="{0D108BD9-81ED-4DB2-BD59-A6C34878D82A}">
                    <a16:rowId xmlns:a16="http://schemas.microsoft.com/office/drawing/2014/main" xmlns="" val="10003"/>
                  </a:ext>
                </a:extLst>
              </a:tr>
              <a:tr h="731520">
                <a:tc>
                  <a:txBody>
                    <a:bodyPr/>
                    <a:lstStyle/>
                    <a:p>
                      <a:r>
                        <a:rPr lang="en-US" sz="3500" dirty="0"/>
                        <a:t>4. Owner withdrawal</a:t>
                      </a:r>
                    </a:p>
                  </a:txBody>
                  <a:tcPr/>
                </a:tc>
                <a:tc>
                  <a:txBody>
                    <a:bodyPr/>
                    <a:lstStyle/>
                    <a:p>
                      <a:r>
                        <a:rPr lang="en-US" sz="3500" dirty="0"/>
                        <a:t>Owner’s Capital (Dr)</a:t>
                      </a:r>
                    </a:p>
                  </a:txBody>
                  <a:tcPr/>
                </a:tc>
                <a:extLst>
                  <a:ext uri="{0D108BD9-81ED-4DB2-BD59-A6C34878D82A}">
                    <a16:rowId xmlns:a16="http://schemas.microsoft.com/office/drawing/2014/main" xmlns="" val="10004"/>
                  </a:ext>
                </a:extLst>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334962"/>
          </a:xfrm>
        </p:spPr>
        <p:txBody>
          <a:bodyPr>
            <a:normAutofit fontScale="90000"/>
          </a:bodyPr>
          <a:lstStyle/>
          <a:p>
            <a:r>
              <a:rPr lang="en-US" sz="2000" b="1" dirty="0">
                <a:latin typeface="Agency FB" panose="020B0503020202020204" pitchFamily="34" charset="0"/>
              </a:rPr>
              <a:t>Closing revenue, Expenses and drawings: Journal and Ledgers</a:t>
            </a:r>
          </a:p>
        </p:txBody>
      </p:sp>
      <p:pic>
        <p:nvPicPr>
          <p:cNvPr id="4098" name="Picture 2" descr="C:\Users\KAYONDE J.PAUL\Desktop\Pictures captured from books\Mila's closing entries.GIF"/>
          <p:cNvPicPr>
            <a:picLocks noGrp="1" noChangeAspect="1" noChangeArrowheads="1"/>
          </p:cNvPicPr>
          <p:nvPr>
            <p:ph idx="1"/>
          </p:nvPr>
        </p:nvPicPr>
        <p:blipFill>
          <a:blip r:embed="rId2"/>
          <a:srcRect/>
          <a:stretch>
            <a:fillRect/>
          </a:stretch>
        </p:blipFill>
        <p:spPr bwMode="auto">
          <a:xfrm>
            <a:off x="168812" y="609600"/>
            <a:ext cx="11830930" cy="6096000"/>
          </a:xfrm>
          <a:prstGeom prst="rect">
            <a:avLst/>
          </a:prstGeom>
          <a:noFill/>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258762"/>
          </a:xfrm>
        </p:spPr>
        <p:txBody>
          <a:bodyPr>
            <a:normAutofit fontScale="90000"/>
          </a:bodyPr>
          <a:lstStyle/>
          <a:p>
            <a:r>
              <a:rPr lang="en-US" dirty="0">
                <a:latin typeface="Agency FB" panose="020B0503020202020204" pitchFamily="34" charset="0"/>
              </a:rPr>
              <a:t>Preparing Post-Closing Trial Balance</a:t>
            </a:r>
          </a:p>
        </p:txBody>
      </p:sp>
      <p:pic>
        <p:nvPicPr>
          <p:cNvPr id="5122" name="Picture 2" descr="C:\Users\KAYONDE J.PAUL\Desktop\Pictures captured from books\Mila's post-closing TB.GIF"/>
          <p:cNvPicPr>
            <a:picLocks noGrp="1" noChangeAspect="1" noChangeArrowheads="1"/>
          </p:cNvPicPr>
          <p:nvPr>
            <p:ph idx="1"/>
          </p:nvPr>
        </p:nvPicPr>
        <p:blipFill>
          <a:blip r:embed="rId2"/>
          <a:srcRect/>
          <a:stretch>
            <a:fillRect/>
          </a:stretch>
        </p:blipFill>
        <p:spPr bwMode="auto">
          <a:xfrm>
            <a:off x="3581400" y="2097107"/>
            <a:ext cx="4495800" cy="4419600"/>
          </a:xfrm>
          <a:prstGeom prst="rect">
            <a:avLst/>
          </a:prstGeom>
          <a:noFill/>
        </p:spPr>
      </p:pic>
      <p:sp>
        <p:nvSpPr>
          <p:cNvPr id="5" name="TextBox 4"/>
          <p:cNvSpPr txBox="1"/>
          <p:nvPr/>
        </p:nvSpPr>
        <p:spPr>
          <a:xfrm>
            <a:off x="281354" y="838201"/>
            <a:ext cx="11619914" cy="1169551"/>
          </a:xfrm>
          <a:prstGeom prst="rect">
            <a:avLst/>
          </a:prstGeom>
          <a:noFill/>
        </p:spPr>
        <p:txBody>
          <a:bodyPr wrap="square" rtlCol="0">
            <a:spAutoFit/>
          </a:bodyPr>
          <a:lstStyle/>
          <a:p>
            <a:r>
              <a:rPr lang="en-US" sz="3500" dirty="0">
                <a:latin typeface="Agency FB" panose="020B0503020202020204" pitchFamily="34" charset="0"/>
              </a:rPr>
              <a:t>The post-closing Trial Balance is  the Trial balance without revenues, expenses and withdrawal after closing and modifying the capital.</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7515"/>
            <a:ext cx="8229600" cy="441325"/>
          </a:xfrm>
        </p:spPr>
        <p:txBody>
          <a:bodyPr>
            <a:noAutofit/>
          </a:bodyPr>
          <a:lstStyle/>
          <a:p>
            <a:r>
              <a:rPr lang="en-US" sz="2000" dirty="0">
                <a:latin typeface="Agency FB" panose="020B0503020202020204" pitchFamily="34" charset="0"/>
              </a:rPr>
              <a:t>PREPARING INCOME STATEMENT, OWNER’S EQUITY STATEMENT AND BALANCE SHEET</a:t>
            </a:r>
          </a:p>
        </p:txBody>
      </p:sp>
      <p:sp>
        <p:nvSpPr>
          <p:cNvPr id="3" name="Content Placeholder 2"/>
          <p:cNvSpPr>
            <a:spLocks noGrp="1"/>
          </p:cNvSpPr>
          <p:nvPr>
            <p:ph idx="1"/>
          </p:nvPr>
        </p:nvSpPr>
        <p:spPr/>
        <p:txBody>
          <a:bodyPr>
            <a:normAutofit fontScale="92500" lnSpcReduction="20000"/>
          </a:bodyPr>
          <a:lstStyle/>
          <a:p>
            <a:pPr>
              <a:buNone/>
            </a:pPr>
            <a:r>
              <a:rPr lang="en-US" sz="2000" i="1" dirty="0"/>
              <a:t>1. INCOME</a:t>
            </a:r>
          </a:p>
          <a:p>
            <a:pPr>
              <a:buNone/>
            </a:pPr>
            <a:r>
              <a:rPr lang="en-US" sz="2000" i="1" dirty="0"/>
              <a:t>STATEMENT</a:t>
            </a:r>
          </a:p>
          <a:p>
            <a:pPr>
              <a:buNone/>
            </a:pPr>
            <a:endParaRPr lang="en-US" sz="2400" dirty="0"/>
          </a:p>
          <a:p>
            <a:pPr>
              <a:buNone/>
            </a:pPr>
            <a:endParaRPr lang="en-US" sz="2400" dirty="0"/>
          </a:p>
          <a:p>
            <a:pPr>
              <a:buNone/>
            </a:pPr>
            <a:endParaRPr lang="en-US" sz="2400" dirty="0"/>
          </a:p>
          <a:p>
            <a:pPr>
              <a:buNone/>
            </a:pPr>
            <a:r>
              <a:rPr lang="en-US" sz="2000" i="1" dirty="0"/>
              <a:t>2. STATEMENT</a:t>
            </a:r>
          </a:p>
          <a:p>
            <a:pPr>
              <a:buNone/>
            </a:pPr>
            <a:r>
              <a:rPr lang="en-US" sz="2000" i="1" dirty="0"/>
              <a:t>OF O-E</a:t>
            </a:r>
          </a:p>
          <a:p>
            <a:pPr>
              <a:buNone/>
            </a:pPr>
            <a:endParaRPr lang="en-US" sz="2000" dirty="0"/>
          </a:p>
          <a:p>
            <a:pPr>
              <a:buNone/>
            </a:pPr>
            <a:r>
              <a:rPr lang="en-US" sz="2000" i="1" dirty="0"/>
              <a:t>3.BALANCE</a:t>
            </a:r>
          </a:p>
          <a:p>
            <a:pPr>
              <a:buNone/>
            </a:pPr>
            <a:r>
              <a:rPr lang="en-US" sz="2000" i="1" dirty="0"/>
              <a:t>SHEET</a:t>
            </a:r>
          </a:p>
        </p:txBody>
      </p:sp>
      <p:pic>
        <p:nvPicPr>
          <p:cNvPr id="1026" name="Picture 2"/>
          <p:cNvPicPr>
            <a:picLocks noChangeAspect="1" noChangeArrowheads="1"/>
          </p:cNvPicPr>
          <p:nvPr/>
        </p:nvPicPr>
        <p:blipFill>
          <a:blip r:embed="rId2"/>
          <a:srcRect/>
          <a:stretch>
            <a:fillRect/>
          </a:stretch>
        </p:blipFill>
        <p:spPr bwMode="auto">
          <a:xfrm>
            <a:off x="3733800" y="478840"/>
            <a:ext cx="6705600" cy="6379161"/>
          </a:xfrm>
          <a:prstGeom prst="rect">
            <a:avLst/>
          </a:prstGeom>
          <a:noFill/>
          <a:ln w="9525">
            <a:noFill/>
            <a:miter lim="800000"/>
            <a:headEnd/>
            <a:tailEnd/>
          </a:ln>
          <a:effec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8714" y="228600"/>
            <a:ext cx="8229600" cy="457199"/>
          </a:xfrm>
        </p:spPr>
        <p:txBody>
          <a:bodyPr>
            <a:normAutofit fontScale="90000"/>
          </a:bodyPr>
          <a:lstStyle/>
          <a:p>
            <a:r>
              <a:rPr lang="en-US" sz="3000" b="1" dirty="0">
                <a:latin typeface="Agency FB" panose="020B0503020202020204" pitchFamily="34" charset="0"/>
              </a:rPr>
              <a:t>Classifying Assets and Liabilities</a:t>
            </a:r>
          </a:p>
        </p:txBody>
      </p:sp>
      <p:sp>
        <p:nvSpPr>
          <p:cNvPr id="3" name="Content Placeholder 2"/>
          <p:cNvSpPr>
            <a:spLocks noGrp="1"/>
          </p:cNvSpPr>
          <p:nvPr>
            <p:ph idx="1"/>
          </p:nvPr>
        </p:nvSpPr>
        <p:spPr>
          <a:xfrm>
            <a:off x="337625" y="457200"/>
            <a:ext cx="11591778" cy="6400800"/>
          </a:xfrm>
        </p:spPr>
        <p:txBody>
          <a:bodyPr>
            <a:noAutofit/>
          </a:bodyPr>
          <a:lstStyle/>
          <a:p>
            <a:pPr>
              <a:buNone/>
            </a:pPr>
            <a:endParaRPr lang="en-US" sz="2700" dirty="0">
              <a:latin typeface="Agency FB" panose="020B0503020202020204" pitchFamily="34" charset="0"/>
            </a:endParaRPr>
          </a:p>
          <a:p>
            <a:pPr>
              <a:buNone/>
            </a:pPr>
            <a:r>
              <a:rPr lang="en-US" sz="2800" dirty="0">
                <a:latin typeface="Agency FB" panose="020B0503020202020204" pitchFamily="34" charset="0"/>
              </a:rPr>
              <a:t>1.  </a:t>
            </a:r>
            <a:r>
              <a:rPr lang="en-US" sz="2800" b="1" dirty="0">
                <a:latin typeface="Agency FB" panose="020B0503020202020204" pitchFamily="34" charset="0"/>
              </a:rPr>
              <a:t>Assets</a:t>
            </a:r>
          </a:p>
          <a:p>
            <a:pPr>
              <a:buNone/>
            </a:pPr>
            <a:r>
              <a:rPr lang="en-US" sz="2800" dirty="0">
                <a:latin typeface="Agency FB" panose="020B0503020202020204" pitchFamily="34" charset="0"/>
              </a:rPr>
              <a:t>Assets are what the business owns.</a:t>
            </a:r>
          </a:p>
          <a:p>
            <a:r>
              <a:rPr lang="en-US" sz="2800" dirty="0">
                <a:latin typeface="Agency FB" panose="020B0503020202020204" pitchFamily="34" charset="0"/>
              </a:rPr>
              <a:t>There are classified into two categories:</a:t>
            </a:r>
          </a:p>
          <a:p>
            <a:pPr>
              <a:buFont typeface="Wingdings" pitchFamily="2" charset="2"/>
              <a:buChar char="q"/>
            </a:pPr>
            <a:r>
              <a:rPr lang="en-US" sz="2800" dirty="0">
                <a:latin typeface="Agency FB" panose="020B0503020202020204" pitchFamily="34" charset="0"/>
              </a:rPr>
              <a:t> Current assets: “</a:t>
            </a:r>
            <a:r>
              <a:rPr lang="en-US" sz="2800" i="1" dirty="0">
                <a:latin typeface="Agency FB" panose="020B0503020202020204" pitchFamily="34" charset="0"/>
              </a:rPr>
              <a:t>Current assets are items that will be used up in a year, like your notebook paper for this class or the change in your pocket” (Accounting 9</a:t>
            </a:r>
            <a:r>
              <a:rPr lang="en-US" sz="2800" i="1" baseline="30000" dirty="0">
                <a:latin typeface="Agency FB" panose="020B0503020202020204" pitchFamily="34" charset="0"/>
              </a:rPr>
              <a:t>th</a:t>
            </a:r>
            <a:r>
              <a:rPr lang="en-US" sz="2800" i="1" dirty="0">
                <a:latin typeface="Agency FB" panose="020B0503020202020204" pitchFamily="34" charset="0"/>
              </a:rPr>
              <a:t> ed. P 212). </a:t>
            </a:r>
          </a:p>
          <a:p>
            <a:pPr>
              <a:buFont typeface="Wingdings" pitchFamily="2" charset="2"/>
              <a:buChar char="q"/>
            </a:pPr>
            <a:r>
              <a:rPr lang="en-US" sz="2800" dirty="0">
                <a:latin typeface="Agency FB" panose="020B0503020202020204" pitchFamily="34" charset="0"/>
              </a:rPr>
              <a:t>Fixed or Long-term assets: “</a:t>
            </a:r>
            <a:r>
              <a:rPr lang="en-US" sz="2800" i="1" dirty="0">
                <a:latin typeface="Agency FB" panose="020B0503020202020204" pitchFamily="34" charset="0"/>
              </a:rPr>
              <a:t>Long-term assets are all the assets that will not be converted to cash within the business’s operating cycle” (Accounting 9</a:t>
            </a:r>
            <a:r>
              <a:rPr lang="en-US" sz="2800" i="1" baseline="30000" dirty="0">
                <a:latin typeface="Agency FB" panose="020B0503020202020204" pitchFamily="34" charset="0"/>
              </a:rPr>
              <a:t>th</a:t>
            </a:r>
            <a:r>
              <a:rPr lang="en-US" sz="2800" i="1" dirty="0">
                <a:latin typeface="Agency FB" panose="020B0503020202020204" pitchFamily="34" charset="0"/>
              </a:rPr>
              <a:t> ed. P 212)</a:t>
            </a:r>
            <a:r>
              <a:rPr lang="en-US" sz="2800" dirty="0">
                <a:latin typeface="Agency FB" panose="020B0503020202020204" pitchFamily="34" charset="0"/>
              </a:rPr>
              <a:t>.  Long-term assets can be used for more than a year, like your car or computer.</a:t>
            </a:r>
          </a:p>
          <a:p>
            <a:r>
              <a:rPr lang="en-US" sz="2800" dirty="0">
                <a:latin typeface="Agency FB" panose="020B0503020202020204" pitchFamily="34" charset="0"/>
              </a:rPr>
              <a:t>In the business of </a:t>
            </a:r>
            <a:r>
              <a:rPr lang="en-US" sz="2800" dirty="0" err="1">
                <a:latin typeface="Agency FB" panose="020B0503020202020204" pitchFamily="34" charset="0"/>
              </a:rPr>
              <a:t>MlLA’S</a:t>
            </a:r>
            <a:r>
              <a:rPr lang="en-US" sz="2800" dirty="0">
                <a:latin typeface="Agency FB" panose="020B0503020202020204" pitchFamily="34" charset="0"/>
              </a:rPr>
              <a:t> MOTORS, </a:t>
            </a:r>
          </a:p>
          <a:p>
            <a:pPr>
              <a:buFont typeface="Wingdings" pitchFamily="2" charset="2"/>
              <a:buChar char="Ø"/>
            </a:pPr>
            <a:r>
              <a:rPr lang="en-US" sz="2800" b="1" dirty="0">
                <a:latin typeface="Agency FB" panose="020B0503020202020204" pitchFamily="34" charset="0"/>
              </a:rPr>
              <a:t>current assets are</a:t>
            </a:r>
            <a:r>
              <a:rPr lang="en-US" sz="2800" dirty="0">
                <a:latin typeface="Agency FB" panose="020B0503020202020204" pitchFamily="34" charset="0"/>
              </a:rPr>
              <a:t>: Cash, Accounts receivable, Supplies, and prepaid insurance</a:t>
            </a:r>
          </a:p>
          <a:p>
            <a:pPr>
              <a:buFont typeface="Wingdings" pitchFamily="2" charset="2"/>
              <a:buChar char="Ø"/>
            </a:pPr>
            <a:r>
              <a:rPr lang="en-US" sz="2800" b="1" dirty="0">
                <a:latin typeface="Agency FB" panose="020B0503020202020204" pitchFamily="34" charset="0"/>
              </a:rPr>
              <a:t>Long-term assets are</a:t>
            </a:r>
            <a:r>
              <a:rPr lang="en-US" sz="2800" dirty="0">
                <a:latin typeface="Agency FB" panose="020B0503020202020204" pitchFamily="34" charset="0"/>
              </a:rPr>
              <a:t>: Equipment, and accumulated depreciation</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9"/>
            <a:ext cx="8229600" cy="106362"/>
          </a:xfrm>
        </p:spPr>
        <p:txBody>
          <a:bodyPr>
            <a:noAutofit/>
          </a:bodyPr>
          <a:lstStyle/>
          <a:p>
            <a:r>
              <a:rPr lang="en-US" sz="3000" b="1" dirty="0">
                <a:latin typeface="Agency FB" panose="020B0503020202020204" pitchFamily="34" charset="0"/>
              </a:rPr>
              <a:t>Classifying Assets and Liabilities</a:t>
            </a:r>
          </a:p>
        </p:txBody>
      </p:sp>
      <p:sp>
        <p:nvSpPr>
          <p:cNvPr id="3" name="Content Placeholder 2"/>
          <p:cNvSpPr>
            <a:spLocks noGrp="1"/>
          </p:cNvSpPr>
          <p:nvPr>
            <p:ph idx="1"/>
          </p:nvPr>
        </p:nvSpPr>
        <p:spPr>
          <a:xfrm>
            <a:off x="309489" y="685800"/>
            <a:ext cx="11619914" cy="6172200"/>
          </a:xfrm>
        </p:spPr>
        <p:txBody>
          <a:bodyPr>
            <a:normAutofit fontScale="92500" lnSpcReduction="10000"/>
          </a:bodyPr>
          <a:lstStyle/>
          <a:p>
            <a:pPr>
              <a:buNone/>
            </a:pPr>
            <a:r>
              <a:rPr lang="en-US" sz="3000" b="1" dirty="0">
                <a:latin typeface="Agency FB" panose="020B0503020202020204" pitchFamily="34" charset="0"/>
              </a:rPr>
              <a:t>2. Liabilities</a:t>
            </a:r>
          </a:p>
          <a:p>
            <a:r>
              <a:rPr lang="en-US" sz="3000" dirty="0">
                <a:latin typeface="Agency FB" panose="020B0503020202020204" pitchFamily="34" charset="0"/>
              </a:rPr>
              <a:t>Liabilities are what the business </a:t>
            </a:r>
            <a:r>
              <a:rPr lang="en-US" sz="3000" b="1" dirty="0">
                <a:latin typeface="Agency FB" panose="020B0503020202020204" pitchFamily="34" charset="0"/>
              </a:rPr>
              <a:t>owes </a:t>
            </a:r>
            <a:r>
              <a:rPr lang="en-US" sz="3000" dirty="0">
                <a:latin typeface="Agency FB" panose="020B0503020202020204" pitchFamily="34" charset="0"/>
              </a:rPr>
              <a:t>to outside people</a:t>
            </a:r>
          </a:p>
          <a:p>
            <a:r>
              <a:rPr lang="en-US" sz="3000" dirty="0">
                <a:latin typeface="Agency FB" panose="020B0503020202020204" pitchFamily="34" charset="0"/>
              </a:rPr>
              <a:t>Liabilities are categorized into two groups</a:t>
            </a:r>
          </a:p>
          <a:p>
            <a:pPr>
              <a:buFont typeface="Wingdings" pitchFamily="2" charset="2"/>
              <a:buChar char="q"/>
            </a:pPr>
            <a:r>
              <a:rPr lang="en-US" sz="3000" b="1" i="1" dirty="0">
                <a:latin typeface="Agency FB" panose="020B0503020202020204" pitchFamily="34" charset="0"/>
              </a:rPr>
              <a:t>Current liabilities</a:t>
            </a:r>
            <a:r>
              <a:rPr lang="en-US" sz="3000" dirty="0">
                <a:latin typeface="Agency FB" panose="020B0503020202020204" pitchFamily="34" charset="0"/>
              </a:rPr>
              <a:t>: Current liabilities must be paid either with cash or with goods and services within one year, or within the entity’s operating cycle if the cycle is longer than a year.</a:t>
            </a:r>
          </a:p>
          <a:p>
            <a:pPr marL="0" indent="0">
              <a:buNone/>
            </a:pPr>
            <a:endParaRPr lang="en-US" sz="3000" dirty="0">
              <a:latin typeface="Agency FB" panose="020B0503020202020204" pitchFamily="34" charset="0"/>
            </a:endParaRPr>
          </a:p>
          <a:p>
            <a:pPr>
              <a:buFont typeface="Wingdings" pitchFamily="2" charset="2"/>
              <a:buChar char="q"/>
            </a:pPr>
            <a:r>
              <a:rPr lang="en-US" sz="3000" b="1" i="1" dirty="0">
                <a:latin typeface="Agency FB" panose="020B0503020202020204" pitchFamily="34" charset="0"/>
              </a:rPr>
              <a:t>Long term liabilities</a:t>
            </a:r>
            <a:r>
              <a:rPr lang="en-US" sz="3000" dirty="0">
                <a:latin typeface="Agency FB" panose="020B0503020202020204" pitchFamily="34" charset="0"/>
              </a:rPr>
              <a:t>: All liabilities that do not need to be paid within the entity’s operating cycle are classified as long-term liabilities.</a:t>
            </a:r>
          </a:p>
          <a:p>
            <a:pPr>
              <a:buNone/>
            </a:pPr>
            <a:r>
              <a:rPr lang="en-US" sz="3000" dirty="0">
                <a:latin typeface="Agency FB" panose="020B0503020202020204" pitchFamily="34" charset="0"/>
              </a:rPr>
              <a:t>In MILA’S MOTORS Business, there  are only </a:t>
            </a:r>
            <a:r>
              <a:rPr lang="en-US" sz="3000" b="1" dirty="0">
                <a:latin typeface="Agency FB" panose="020B0503020202020204" pitchFamily="34" charset="0"/>
              </a:rPr>
              <a:t>current liabilities</a:t>
            </a:r>
            <a:r>
              <a:rPr lang="en-US" sz="3000" dirty="0">
                <a:latin typeface="Agency FB" panose="020B0503020202020204" pitchFamily="34" charset="0"/>
              </a:rPr>
              <a:t>, those are: </a:t>
            </a:r>
          </a:p>
          <a:p>
            <a:pPr>
              <a:buFont typeface="Wingdings" pitchFamily="2" charset="2"/>
              <a:buChar char="ü"/>
            </a:pPr>
            <a:r>
              <a:rPr lang="en-US" sz="3000" dirty="0">
                <a:latin typeface="Agency FB" panose="020B0503020202020204" pitchFamily="34" charset="0"/>
              </a:rPr>
              <a:t>accounts payable, </a:t>
            </a:r>
          </a:p>
          <a:p>
            <a:pPr>
              <a:buFont typeface="Wingdings" pitchFamily="2" charset="2"/>
              <a:buChar char="ü"/>
            </a:pPr>
            <a:r>
              <a:rPr lang="en-US" sz="3000" dirty="0">
                <a:latin typeface="Agency FB" panose="020B0503020202020204" pitchFamily="34" charset="0"/>
              </a:rPr>
              <a:t>wages payable, and </a:t>
            </a:r>
          </a:p>
          <a:p>
            <a:pPr>
              <a:buFont typeface="Wingdings" pitchFamily="2" charset="2"/>
              <a:buChar char="ü"/>
            </a:pPr>
            <a:r>
              <a:rPr lang="en-US" sz="3000" dirty="0">
                <a:latin typeface="Agency FB" panose="020B0503020202020204" pitchFamily="34" charset="0"/>
              </a:rPr>
              <a:t>unearned service revenue</a:t>
            </a:r>
          </a:p>
          <a:p>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487362"/>
          </a:xfrm>
        </p:spPr>
        <p:txBody>
          <a:bodyPr>
            <a:noAutofit/>
          </a:bodyPr>
          <a:lstStyle/>
          <a:p>
            <a:r>
              <a:rPr lang="en-US" sz="3000" b="1" dirty="0">
                <a:latin typeface="Agency FB" panose="020B0503020202020204" pitchFamily="34" charset="0"/>
              </a:rPr>
              <a:t>Balance Sheet: Account Form</a:t>
            </a:r>
          </a:p>
        </p:txBody>
      </p:sp>
      <p:pic>
        <p:nvPicPr>
          <p:cNvPr id="2050" name="Picture 2" descr="C:\Users\KAYONDE J.PAUL\Desktop\Pictures captured from books\Balance Sheet Account Form.GIF"/>
          <p:cNvPicPr>
            <a:picLocks noGrp="1" noChangeAspect="1" noChangeArrowheads="1"/>
          </p:cNvPicPr>
          <p:nvPr>
            <p:ph idx="1"/>
          </p:nvPr>
        </p:nvPicPr>
        <p:blipFill>
          <a:blip r:embed="rId2"/>
          <a:srcRect/>
          <a:stretch>
            <a:fillRect/>
          </a:stretch>
        </p:blipFill>
        <p:spPr bwMode="auto">
          <a:xfrm>
            <a:off x="2438400" y="563562"/>
            <a:ext cx="7391400" cy="6218238"/>
          </a:xfrm>
          <a:prstGeom prst="rect">
            <a:avLst/>
          </a:prstGeom>
          <a:noFill/>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r>
              <a:rPr lang="en-US" sz="3500" dirty="0">
                <a:latin typeface="Agency FB" panose="020B0503020202020204" pitchFamily="34" charset="0"/>
              </a:rPr>
              <a:t>Balance Sheet: Report Form</a:t>
            </a:r>
          </a:p>
        </p:txBody>
      </p:sp>
      <p:pic>
        <p:nvPicPr>
          <p:cNvPr id="1028" name="Picture 4" descr="C:\Users\KAYONDE J.PAUL\Desktop\Pictures captured from books\Balancesheet Report Form.GIF"/>
          <p:cNvPicPr>
            <a:picLocks noGrp="1" noChangeAspect="1" noChangeArrowheads="1"/>
          </p:cNvPicPr>
          <p:nvPr>
            <p:ph idx="1"/>
          </p:nvPr>
        </p:nvPicPr>
        <p:blipFill>
          <a:blip r:embed="rId2"/>
          <a:srcRect/>
          <a:stretch>
            <a:fillRect/>
          </a:stretch>
        </p:blipFill>
        <p:spPr bwMode="auto">
          <a:xfrm>
            <a:off x="1981200" y="838200"/>
            <a:ext cx="8229600" cy="5791200"/>
          </a:xfrm>
          <a:prstGeom prst="rect">
            <a:avLst/>
          </a:prstGeom>
          <a:noFill/>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gency FB" panose="020B0503020202020204" pitchFamily="34" charset="0"/>
              </a:rPr>
              <a:t>Accounting Ratios</a:t>
            </a:r>
          </a:p>
        </p:txBody>
      </p:sp>
      <p:sp>
        <p:nvSpPr>
          <p:cNvPr id="3" name="Content Placeholder 2"/>
          <p:cNvSpPr>
            <a:spLocks noGrp="1"/>
          </p:cNvSpPr>
          <p:nvPr>
            <p:ph idx="1"/>
          </p:nvPr>
        </p:nvSpPr>
        <p:spPr/>
        <p:txBody>
          <a:bodyPr>
            <a:normAutofit fontScale="85000" lnSpcReduction="20000"/>
          </a:bodyPr>
          <a:lstStyle/>
          <a:p>
            <a:r>
              <a:rPr lang="en-US" sz="3300" dirty="0">
                <a:latin typeface="Agency FB" panose="020B0503020202020204" pitchFamily="34" charset="0"/>
              </a:rPr>
              <a:t>Accounting ratios help decision makers to unsure the standing of their businesses. They reveal the </a:t>
            </a:r>
            <a:r>
              <a:rPr lang="en-US" sz="3300" b="1" dirty="0">
                <a:latin typeface="Agency FB" panose="020B0503020202020204" pitchFamily="34" charset="0"/>
              </a:rPr>
              <a:t>power and capacity of a business to pay its debts</a:t>
            </a:r>
          </a:p>
          <a:p>
            <a:r>
              <a:rPr lang="en-US" sz="3300" dirty="0">
                <a:latin typeface="Agency FB" panose="020B0503020202020204" pitchFamily="34" charset="0"/>
              </a:rPr>
              <a:t>From many ratios, at this level let us talk about 2 ratios: </a:t>
            </a:r>
            <a:r>
              <a:rPr lang="en-US" sz="3300" b="1" dirty="0">
                <a:latin typeface="Agency FB" panose="020B0503020202020204" pitchFamily="34" charset="0"/>
              </a:rPr>
              <a:t>Current Ratio </a:t>
            </a:r>
            <a:r>
              <a:rPr lang="en-US" sz="3300" dirty="0">
                <a:latin typeface="Agency FB" panose="020B0503020202020204" pitchFamily="34" charset="0"/>
              </a:rPr>
              <a:t>and </a:t>
            </a:r>
            <a:r>
              <a:rPr lang="en-US" sz="3300" b="1" dirty="0">
                <a:latin typeface="Agency FB" panose="020B0503020202020204" pitchFamily="34" charset="0"/>
              </a:rPr>
              <a:t>Debt Ratio</a:t>
            </a:r>
          </a:p>
          <a:p>
            <a:pPr>
              <a:buNone/>
            </a:pPr>
            <a:r>
              <a:rPr lang="en-US" sz="3300" b="1" i="1" u="sng" dirty="0">
                <a:latin typeface="Agency FB" panose="020B0503020202020204" pitchFamily="34" charset="0"/>
              </a:rPr>
              <a:t>1. Current Ratio</a:t>
            </a:r>
          </a:p>
          <a:p>
            <a:r>
              <a:rPr lang="en-US" sz="3300" dirty="0">
                <a:latin typeface="Agency FB" panose="020B0503020202020204" pitchFamily="34" charset="0"/>
              </a:rPr>
              <a:t>The </a:t>
            </a:r>
            <a:r>
              <a:rPr lang="en-US" sz="3300" b="1" dirty="0">
                <a:latin typeface="Agency FB" panose="020B0503020202020204" pitchFamily="34" charset="0"/>
              </a:rPr>
              <a:t>current ratio measures a company’s ability to pay its current liabilities with its</a:t>
            </a:r>
          </a:p>
          <a:p>
            <a:pPr>
              <a:buNone/>
            </a:pPr>
            <a:r>
              <a:rPr lang="en-US" sz="3300" dirty="0">
                <a:latin typeface="Agency FB" panose="020B0503020202020204" pitchFamily="34" charset="0"/>
              </a:rPr>
              <a:t>current assets. This ratio is computed as follows:</a:t>
            </a:r>
          </a:p>
          <a:p>
            <a:r>
              <a:rPr lang="en-US" sz="3300" dirty="0">
                <a:latin typeface="Agency FB" panose="020B0503020202020204" pitchFamily="34" charset="0"/>
              </a:rPr>
              <a:t>Current ratio = TCA/TCL</a:t>
            </a:r>
          </a:p>
          <a:p>
            <a:pPr>
              <a:buNone/>
            </a:pPr>
            <a:endParaRPr lang="en-US" dirty="0"/>
          </a:p>
          <a:p>
            <a:pPr>
              <a:buNone/>
            </a:pPr>
            <a:endParaRPr lang="en-US" dirty="0"/>
          </a:p>
          <a:p>
            <a:pPr>
              <a:buNone/>
            </a:pP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9"/>
            <a:ext cx="8229600" cy="457199"/>
          </a:xfrm>
        </p:spPr>
        <p:txBody>
          <a:bodyPr>
            <a:normAutofit fontScale="90000"/>
          </a:bodyPr>
          <a:lstStyle/>
          <a:p>
            <a:r>
              <a:rPr lang="en-US" b="1" dirty="0">
                <a:latin typeface="Agency FB" panose="020B0503020202020204" pitchFamily="34" charset="0"/>
              </a:rPr>
              <a:t>Accounting Ratios</a:t>
            </a:r>
          </a:p>
        </p:txBody>
      </p:sp>
      <p:sp>
        <p:nvSpPr>
          <p:cNvPr id="3" name="Content Placeholder 2"/>
          <p:cNvSpPr>
            <a:spLocks noGrp="1"/>
          </p:cNvSpPr>
          <p:nvPr>
            <p:ph idx="1"/>
          </p:nvPr>
        </p:nvSpPr>
        <p:spPr>
          <a:xfrm>
            <a:off x="1981200" y="731838"/>
            <a:ext cx="8229600" cy="5394326"/>
          </a:xfrm>
        </p:spPr>
        <p:txBody>
          <a:bodyPr>
            <a:normAutofit/>
          </a:bodyPr>
          <a:lstStyle/>
          <a:p>
            <a:r>
              <a:rPr lang="en-US" dirty="0">
                <a:latin typeface="Agency FB" panose="020B0503020202020204" pitchFamily="34" charset="0"/>
              </a:rPr>
              <a:t>A rule of Thumb: </a:t>
            </a:r>
          </a:p>
          <a:p>
            <a:pPr>
              <a:buFont typeface="Wingdings" pitchFamily="2" charset="2"/>
              <a:buChar char="Ø"/>
            </a:pPr>
            <a:r>
              <a:rPr lang="en-US" dirty="0">
                <a:latin typeface="Agency FB" panose="020B0503020202020204" pitchFamily="34" charset="0"/>
              </a:rPr>
              <a:t> Current ratio (CR) = 1.5 and above is perfect</a:t>
            </a:r>
          </a:p>
          <a:p>
            <a:pPr>
              <a:buFont typeface="Wingdings" pitchFamily="2" charset="2"/>
              <a:buChar char="Ø"/>
            </a:pPr>
            <a:r>
              <a:rPr lang="en-US" dirty="0">
                <a:latin typeface="Agency FB" panose="020B0503020202020204" pitchFamily="34" charset="0"/>
              </a:rPr>
              <a:t>C R &gt; 1.0 &lt;1.5 is acceptable</a:t>
            </a:r>
          </a:p>
          <a:p>
            <a:pPr>
              <a:buFont typeface="Wingdings" pitchFamily="2" charset="2"/>
              <a:buChar char="Ø"/>
            </a:pPr>
            <a:r>
              <a:rPr lang="en-US" dirty="0">
                <a:latin typeface="Agency FB" panose="020B0503020202020204" pitchFamily="34" charset="0"/>
              </a:rPr>
              <a:t>CR&lt; 1.0 is very bad and risky</a:t>
            </a:r>
          </a:p>
          <a:p>
            <a:pPr>
              <a:buNone/>
            </a:pPr>
            <a:r>
              <a:rPr lang="en-US" dirty="0">
                <a:latin typeface="Agency FB" panose="020B0503020202020204" pitchFamily="34" charset="0"/>
              </a:rPr>
              <a:t>2. </a:t>
            </a:r>
            <a:r>
              <a:rPr lang="en-US" b="1" i="1" u="sng" dirty="0">
                <a:latin typeface="Agency FB" panose="020B0503020202020204" pitchFamily="34" charset="0"/>
              </a:rPr>
              <a:t>Debt ratio </a:t>
            </a:r>
            <a:r>
              <a:rPr lang="en-US" dirty="0">
                <a:latin typeface="Agency FB" panose="020B0503020202020204" pitchFamily="34" charset="0"/>
              </a:rPr>
              <a:t>(DR)</a:t>
            </a:r>
          </a:p>
          <a:p>
            <a:r>
              <a:rPr lang="en-US" dirty="0">
                <a:latin typeface="Agency FB" panose="020B0503020202020204" pitchFamily="34" charset="0"/>
              </a:rPr>
              <a:t>The </a:t>
            </a:r>
            <a:r>
              <a:rPr lang="en-US" b="1" dirty="0">
                <a:latin typeface="Agency FB" panose="020B0503020202020204" pitchFamily="34" charset="0"/>
              </a:rPr>
              <a:t>debt ratio measures an organization’s overall ability to pay its total liabilities</a:t>
            </a:r>
          </a:p>
          <a:p>
            <a:pPr>
              <a:buNone/>
            </a:pPr>
            <a:r>
              <a:rPr lang="en-US" dirty="0">
                <a:latin typeface="Agency FB" panose="020B0503020202020204" pitchFamily="34" charset="0"/>
              </a:rPr>
              <a:t>(debt). The debt ratio is computed as follows:</a:t>
            </a:r>
          </a:p>
          <a:p>
            <a:pPr>
              <a:buNone/>
            </a:pPr>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000" b="1" dirty="0">
                <a:latin typeface="Agency FB" panose="020B0503020202020204" pitchFamily="34" charset="0"/>
              </a:rPr>
              <a:t>Accounting Ratios</a:t>
            </a:r>
          </a:p>
        </p:txBody>
      </p:sp>
      <p:sp>
        <p:nvSpPr>
          <p:cNvPr id="3" name="Content Placeholder 2"/>
          <p:cNvSpPr>
            <a:spLocks noGrp="1"/>
          </p:cNvSpPr>
          <p:nvPr>
            <p:ph idx="1"/>
          </p:nvPr>
        </p:nvSpPr>
        <p:spPr/>
        <p:txBody>
          <a:bodyPr>
            <a:normAutofit/>
          </a:bodyPr>
          <a:lstStyle/>
          <a:p>
            <a:r>
              <a:rPr lang="en-US" sz="4000" dirty="0">
                <a:latin typeface="Agency FB" panose="020B0503020202020204" pitchFamily="34" charset="0"/>
              </a:rPr>
              <a:t>Debt ratio= (TL/TA)*100</a:t>
            </a:r>
          </a:p>
          <a:p>
            <a:r>
              <a:rPr lang="en-US" sz="4000" dirty="0">
                <a:latin typeface="Agency FB" panose="020B0503020202020204" pitchFamily="34" charset="0"/>
              </a:rPr>
              <a:t>A rule of Thumb</a:t>
            </a:r>
          </a:p>
          <a:p>
            <a:pPr>
              <a:buFont typeface="Wingdings" pitchFamily="2" charset="2"/>
              <a:buChar char="Ø"/>
            </a:pPr>
            <a:r>
              <a:rPr lang="en-US" sz="4000" dirty="0">
                <a:latin typeface="Agency FB" panose="020B0503020202020204" pitchFamily="34" charset="0"/>
              </a:rPr>
              <a:t>A Debt Ratio (DR) of 60% and below is perfect</a:t>
            </a:r>
          </a:p>
          <a:p>
            <a:pPr>
              <a:buFont typeface="Wingdings" pitchFamily="2" charset="2"/>
              <a:buChar char="Ø"/>
            </a:pPr>
            <a:r>
              <a:rPr lang="en-US" sz="4000" dirty="0">
                <a:latin typeface="Agency FB" panose="020B0503020202020204" pitchFamily="34" charset="0"/>
              </a:rPr>
              <a:t> DR &gt;60% &lt;80% is acceptable</a:t>
            </a:r>
          </a:p>
          <a:p>
            <a:pPr>
              <a:buFont typeface="Wingdings" pitchFamily="2" charset="2"/>
              <a:buChar char="Ø"/>
            </a:pPr>
            <a:r>
              <a:rPr lang="en-US" sz="4000" dirty="0">
                <a:latin typeface="Agency FB" panose="020B0503020202020204" pitchFamily="34" charset="0"/>
              </a:rPr>
              <a:t>DR &gt; 80% is very bad and risky</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11162"/>
          </a:xfrm>
        </p:spPr>
        <p:txBody>
          <a:bodyPr>
            <a:noAutofit/>
          </a:bodyPr>
          <a:lstStyle/>
          <a:p>
            <a:r>
              <a:rPr lang="en-US" sz="2000" dirty="0"/>
              <a:t>ASSIGNMENT </a:t>
            </a:r>
            <a:br>
              <a:rPr lang="en-US" sz="2000" dirty="0"/>
            </a:br>
            <a:r>
              <a:rPr lang="en-US" sz="2000" dirty="0"/>
              <a:t>ON WORKSHEET</a:t>
            </a:r>
          </a:p>
        </p:txBody>
      </p:sp>
      <p:pic>
        <p:nvPicPr>
          <p:cNvPr id="1026" name="Picture 2" descr="C:\Users\KAYONDE J.PAUL\Desktop\Pictures captured from books\Chapter 4 Application on worksheet 21-5-20.GIF"/>
          <p:cNvPicPr>
            <a:picLocks noGrp="1" noChangeAspect="1" noChangeArrowheads="1"/>
          </p:cNvPicPr>
          <p:nvPr>
            <p:ph idx="1"/>
          </p:nvPr>
        </p:nvPicPr>
        <p:blipFill>
          <a:blip r:embed="rId2"/>
          <a:srcRect/>
          <a:stretch>
            <a:fillRect/>
          </a:stretch>
        </p:blipFill>
        <p:spPr bwMode="auto">
          <a:xfrm>
            <a:off x="1676400" y="838200"/>
            <a:ext cx="8763000" cy="5867400"/>
          </a:xfrm>
          <a:prstGeom prst="rect">
            <a:avLst/>
          </a:prstGeom>
          <a:noFill/>
        </p:spPr>
      </p:pic>
    </p:spTree>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995</TotalTime>
  <Words>4888</Words>
  <Application>Microsoft Office PowerPoint</Application>
  <PresentationFormat>Widescreen</PresentationFormat>
  <Paragraphs>812</Paragraphs>
  <Slides>109</Slides>
  <Notes>82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109</vt:i4>
      </vt:variant>
    </vt:vector>
  </HeadingPairs>
  <TitlesOfParts>
    <vt:vector size="119" baseType="lpstr">
      <vt:lpstr>Liberation Sans</vt:lpstr>
      <vt:lpstr>Agency FB</vt:lpstr>
      <vt:lpstr>Arial</vt:lpstr>
      <vt:lpstr>Arial Black</vt:lpstr>
      <vt:lpstr>Calibri</vt:lpstr>
      <vt:lpstr>Comic Sans MS</vt:lpstr>
      <vt:lpstr>Corbel</vt:lpstr>
      <vt:lpstr>Times New Roman</vt:lpstr>
      <vt:lpstr>Wingdings</vt:lpstr>
      <vt:lpstr>Basis</vt:lpstr>
      <vt:lpstr>CHAPTER IV: ADJUSTMENTS OR ADJUSTING PROCESS AND COMPLETING ACCOUNTING 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COMPLETING THE ACCOUNTING CYCLE</vt:lpstr>
      <vt:lpstr>Introduction</vt:lpstr>
      <vt:lpstr>Introduction cont’ </vt:lpstr>
      <vt:lpstr>Accounting Cycle</vt:lpstr>
      <vt:lpstr>Accounting worksheet </vt:lpstr>
      <vt:lpstr>Accounting Worksheet Cont’</vt:lpstr>
      <vt:lpstr>Accounting Worksheet Cont’</vt:lpstr>
      <vt:lpstr>PowerPoint Presentation</vt:lpstr>
      <vt:lpstr>Data for adjustment </vt:lpstr>
      <vt:lpstr>Adjusted TB</vt:lpstr>
      <vt:lpstr> </vt:lpstr>
      <vt:lpstr>CONT’</vt:lpstr>
      <vt:lpstr>Cont’</vt:lpstr>
      <vt:lpstr>Closing revenue, Expenses and drawings</vt:lpstr>
      <vt:lpstr>Closing revenue, Expenses and drawings</vt:lpstr>
      <vt:lpstr>Closing revenue, Expenses and drawings: Journal and Ledgers</vt:lpstr>
      <vt:lpstr>Preparing Post-Closing Trial Balance</vt:lpstr>
      <vt:lpstr>PREPARING INCOME STATEMENT, OWNER’S EQUITY STATEMENT AND BALANCE SHEET</vt:lpstr>
      <vt:lpstr>Classifying Assets and Liabilities</vt:lpstr>
      <vt:lpstr>Classifying Assets and Liabilities</vt:lpstr>
      <vt:lpstr>Balance Sheet: Account Form</vt:lpstr>
      <vt:lpstr>Balance Sheet: Report Form</vt:lpstr>
      <vt:lpstr>Accounting Ratios</vt:lpstr>
      <vt:lpstr>Accounting Ratios</vt:lpstr>
      <vt:lpstr>Accounting Ratios</vt:lpstr>
      <vt:lpstr>ASSIGNMENT  ON WORKSHEET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IV: ADJUSTMENTS OR ADJUSTING PROCESS AND COMPLETING ACCOUNTING CYCLE</dc:title>
  <dc:creator>HP</dc:creator>
  <cp:lastModifiedBy>HP</cp:lastModifiedBy>
  <cp:revision>5</cp:revision>
  <dcterms:created xsi:type="dcterms:W3CDTF">2025-02-09T20:56:23Z</dcterms:created>
  <dcterms:modified xsi:type="dcterms:W3CDTF">2025-03-29T21:21:19Z</dcterms:modified>
</cp:coreProperties>
</file>