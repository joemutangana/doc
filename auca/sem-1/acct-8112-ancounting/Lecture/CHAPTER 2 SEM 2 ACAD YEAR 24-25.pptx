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8" r:id="rId3"/>
    <p:sldId id="299" r:id="rId4"/>
    <p:sldId id="288" r:id="rId5"/>
    <p:sldId id="312" r:id="rId6"/>
    <p:sldId id="290" r:id="rId7"/>
    <p:sldId id="291" r:id="rId8"/>
    <p:sldId id="292" r:id="rId9"/>
    <p:sldId id="405" r:id="rId10"/>
    <p:sldId id="293" r:id="rId11"/>
    <p:sldId id="406" r:id="rId12"/>
    <p:sldId id="294" r:id="rId14"/>
    <p:sldId id="407" r:id="rId15"/>
    <p:sldId id="408" r:id="rId16"/>
    <p:sldId id="409" r:id="rId17"/>
    <p:sldId id="295" r:id="rId18"/>
    <p:sldId id="296" r:id="rId19"/>
    <p:sldId id="302" r:id="rId20"/>
    <p:sldId id="300" r:id="rId21"/>
    <p:sldId id="303" r:id="rId22"/>
    <p:sldId id="305" r:id="rId23"/>
    <p:sldId id="306" r:id="rId24"/>
    <p:sldId id="313" r:id="rId25"/>
    <p:sldId id="309" r:id="rId26"/>
    <p:sldId id="310" r:id="rId27"/>
    <p:sldId id="354" r:id="rId28"/>
    <p:sldId id="355" r:id="rId29"/>
    <p:sldId id="356" r:id="rId30"/>
    <p:sldId id="301" r:id="rId31"/>
    <p:sldId id="314" r:id="rId32"/>
    <p:sldId id="259" r:id="rId33"/>
    <p:sldId id="315" r:id="rId34"/>
    <p:sldId id="316" r:id="rId35"/>
    <p:sldId id="317" r:id="rId36"/>
    <p:sldId id="318" r:id="rId37"/>
    <p:sldId id="319" r:id="rId38"/>
    <p:sldId id="321" r:id="rId39"/>
    <p:sldId id="323" r:id="rId40"/>
    <p:sldId id="325" r:id="rId41"/>
    <p:sldId id="357" r:id="rId42"/>
    <p:sldId id="359" r:id="rId43"/>
    <p:sldId id="360" r:id="rId44"/>
    <p:sldId id="361" r:id="rId45"/>
    <p:sldId id="362" r:id="rId46"/>
    <p:sldId id="363" r:id="rId47"/>
    <p:sldId id="364" r:id="rId48"/>
    <p:sldId id="365" r:id="rId49"/>
    <p:sldId id="366" r:id="rId50"/>
    <p:sldId id="326" r:id="rId51"/>
    <p:sldId id="327" r:id="rId52"/>
    <p:sldId id="328" r:id="rId53"/>
    <p:sldId id="329" r:id="rId54"/>
    <p:sldId id="333" r:id="rId55"/>
    <p:sldId id="334" r:id="rId56"/>
    <p:sldId id="335" r:id="rId57"/>
    <p:sldId id="336" r:id="rId58"/>
    <p:sldId id="337" r:id="rId59"/>
    <p:sldId id="338" r:id="rId60"/>
    <p:sldId id="339" r:id="rId61"/>
    <p:sldId id="340" r:id="rId62"/>
    <p:sldId id="341" r:id="rId63"/>
    <p:sldId id="342" r:id="rId64"/>
    <p:sldId id="343" r:id="rId65"/>
    <p:sldId id="344" r:id="rId66"/>
    <p:sldId id="345" r:id="rId67"/>
    <p:sldId id="346" r:id="rId68"/>
    <p:sldId id="347" r:id="rId69"/>
    <p:sldId id="348" r:id="rId70"/>
    <p:sldId id="349" r:id="rId71"/>
    <p:sldId id="350" r:id="rId72"/>
    <p:sldId id="351" r:id="rId73"/>
    <p:sldId id="353" r:id="rId74"/>
    <p:sldId id="358" r:id="rId75"/>
    <p:sldId id="331" r:id="rId76"/>
    <p:sldId id="352" r:id="rId77"/>
    <p:sldId id="367"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showGuides="1">
      <p:cViewPr varScale="1">
        <p:scale>
          <a:sx n="75" d="100"/>
          <a:sy n="75" d="100"/>
        </p:scale>
        <p:origin x="208"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6.xml"/><Relationship Id="rId79" Type="http://schemas.openxmlformats.org/officeDocument/2006/relationships/presProps" Target="presProps.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BB8B8E9-00C4-450B-8EDC-91493768822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8270E7-DE24-4C25-BE34-419E472F69F2}"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BB8B8E9-00C4-450B-8EDC-91493768822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8270E7-DE24-4C25-BE34-419E472F69F2}"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8BB8B8E9-00C4-450B-8EDC-91493768822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8270E7-DE24-4C25-BE34-419E472F69F2}"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8BB8B8E9-00C4-450B-8EDC-91493768822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8270E7-DE24-4C25-BE34-419E472F69F2}"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8BB8B8E9-00C4-450B-8EDC-914937688223}"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8270E7-DE24-4C25-BE34-419E472F69F2}"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BB8B8E9-00C4-450B-8EDC-91493768822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8270E7-DE24-4C25-BE34-419E472F69F2}"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B8B8E9-00C4-450B-8EDC-914937688223}"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8270E7-DE24-4C25-BE34-419E472F69F2}"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8BB8B8E9-00C4-450B-8EDC-91493768822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8270E7-DE24-4C25-BE34-419E472F69F2}"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8BB8B8E9-00C4-450B-8EDC-91493768822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8270E7-DE24-4C25-BE34-419E472F69F2}"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BB8B8E9-00C4-450B-8EDC-91493768822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8270E7-DE24-4C25-BE34-419E472F69F2}"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BB8B8E9-00C4-450B-8EDC-91493768822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8270E7-DE24-4C25-BE34-419E472F69F2}"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B8B8E9-00C4-450B-8EDC-914937688223}"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8270E7-DE24-4C25-BE34-419E472F69F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emf"/></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e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em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3412" y="1199967"/>
            <a:ext cx="11385176" cy="5170646"/>
          </a:xfrm>
          <a:prstGeom prst="rect">
            <a:avLst/>
          </a:prstGeom>
        </p:spPr>
        <p:txBody>
          <a:bodyPr wrap="square">
            <a:spAutoFit/>
          </a:bodyPr>
          <a:lstStyle/>
          <a:p>
            <a:pPr algn="ctr"/>
            <a:r>
              <a:rPr lang="en-US" sz="6600" b="1" dirty="0">
                <a:latin typeface="Arial Rounded MT Bold" panose="020F0704030504030204" pitchFamily="34" charset="0"/>
              </a:rPr>
              <a:t>CHAPITER </a:t>
            </a:r>
            <a:r>
              <a:rPr lang="en-US" sz="6600" b="1" dirty="0" smtClean="0">
                <a:latin typeface="Arial Rounded MT Bold" panose="020F0704030504030204" pitchFamily="34" charset="0"/>
              </a:rPr>
              <a:t>TWO</a:t>
            </a:r>
            <a:endParaRPr lang="en-US" sz="6600" b="1" dirty="0" smtClean="0">
              <a:latin typeface="Arial Rounded MT Bold" panose="020F0704030504030204" pitchFamily="34" charset="0"/>
            </a:endParaRPr>
          </a:p>
          <a:p>
            <a:pPr algn="ctr"/>
            <a:r>
              <a:rPr lang="en-US" sz="6600" b="1" dirty="0" smtClean="0">
                <a:latin typeface="Arial Rounded MT Bold" panose="020F0704030504030204" pitchFamily="34" charset="0"/>
              </a:rPr>
              <a:t> </a:t>
            </a:r>
            <a:endParaRPr lang="en-US" sz="6600" b="1" dirty="0" smtClean="0">
              <a:latin typeface="Arial Rounded MT Bold" panose="020F0704030504030204" pitchFamily="34" charset="0"/>
            </a:endParaRPr>
          </a:p>
          <a:p>
            <a:pPr algn="ctr"/>
            <a:r>
              <a:rPr lang="en-US" sz="6600" b="1" dirty="0" smtClean="0">
                <a:latin typeface="Arial Rounded MT Bold" panose="020F0704030504030204" pitchFamily="34" charset="0"/>
              </a:rPr>
              <a:t>ACCOUNT, LEDGER </a:t>
            </a:r>
            <a:r>
              <a:rPr lang="en-US" sz="6600" b="1" dirty="0">
                <a:latin typeface="Arial Rounded MT Bold" panose="020F0704030504030204" pitchFamily="34" charset="0"/>
              </a:rPr>
              <a:t>AND CHART </a:t>
            </a:r>
            <a:endParaRPr lang="en-US" sz="6600" b="1" dirty="0" smtClean="0">
              <a:latin typeface="Arial Rounded MT Bold" panose="020F0704030504030204" pitchFamily="34" charset="0"/>
            </a:endParaRPr>
          </a:p>
          <a:p>
            <a:pPr algn="ctr"/>
            <a:r>
              <a:rPr lang="en-US" sz="6600" b="1" dirty="0" smtClean="0">
                <a:latin typeface="Arial Rounded MT Bold" panose="020F0704030504030204" pitchFamily="34" charset="0"/>
              </a:rPr>
              <a:t>OF </a:t>
            </a:r>
            <a:r>
              <a:rPr lang="en-US" sz="6600" b="1" dirty="0">
                <a:latin typeface="Arial Rounded MT Bold" panose="020F0704030504030204" pitchFamily="34" charset="0"/>
              </a:rPr>
              <a:t>ACCOUNTS</a:t>
            </a:r>
            <a:endParaRPr lang="en-US" sz="6600" b="1" dirty="0">
              <a:latin typeface="Arial Rounded MT Bold" panose="020F070403050403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690688"/>
          </a:xfrm>
        </p:spPr>
        <p:txBody>
          <a:bodyPr>
            <a:normAutofit/>
          </a:bodyPr>
          <a:lstStyle/>
          <a:p>
            <a:pPr algn="ctr"/>
            <a:r>
              <a:rPr lang="en-US" sz="6000" b="1" dirty="0" smtClean="0">
                <a:latin typeface="Arial Rounded MT Bold" panose="020F0704030504030204" pitchFamily="34" charset="0"/>
              </a:rPr>
              <a:t> ACCOUNT</a:t>
            </a:r>
            <a:endParaRPr lang="en-US" sz="6000" b="1" dirty="0">
              <a:latin typeface="Arial Rounded MT Bold" panose="020F0704030504030204" pitchFamily="34" charset="0"/>
            </a:endParaRPr>
          </a:p>
        </p:txBody>
      </p:sp>
      <p:pic>
        <p:nvPicPr>
          <p:cNvPr id="4" name="Content Placeholder 3"/>
          <p:cNvPicPr>
            <a:picLocks noGrp="1" noChangeAspect="1"/>
          </p:cNvPicPr>
          <p:nvPr>
            <p:ph idx="1"/>
          </p:nvPr>
        </p:nvPicPr>
        <p:blipFill>
          <a:blip r:embed="rId1"/>
          <a:stretch>
            <a:fillRect/>
          </a:stretch>
        </p:blipFill>
        <p:spPr>
          <a:xfrm>
            <a:off x="0" y="1690688"/>
            <a:ext cx="12192000" cy="51673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579" y="184824"/>
            <a:ext cx="10515600" cy="836580"/>
          </a:xfrm>
        </p:spPr>
        <p:txBody>
          <a:bodyPr>
            <a:normAutofit/>
          </a:bodyPr>
          <a:lstStyle/>
          <a:p>
            <a:pPr algn="ctr"/>
            <a:r>
              <a:rPr lang="en-US" b="1" dirty="0" smtClean="0">
                <a:solidFill>
                  <a:srgbClr val="FF0000"/>
                </a:solidFill>
                <a:latin typeface="Arial Rounded MT Bold" panose="020F0704030504030204" pitchFamily="34" charset="0"/>
              </a:rPr>
              <a:t>2.0.</a:t>
            </a:r>
            <a:r>
              <a:rPr lang="en-US" b="1" dirty="0" smtClean="0">
                <a:solidFill>
                  <a:srgbClr val="FF0000"/>
                </a:solidFill>
              </a:rPr>
              <a:t> </a:t>
            </a:r>
            <a:r>
              <a:rPr lang="en-US" b="1" dirty="0">
                <a:solidFill>
                  <a:srgbClr val="FF0000"/>
                </a:solidFill>
                <a:latin typeface="Arial Rounded MT Bold" panose="020F0704030504030204" pitchFamily="34" charset="0"/>
              </a:rPr>
              <a:t>DEFINITION OF </a:t>
            </a:r>
            <a:r>
              <a:rPr lang="en-US" b="1" dirty="0" smtClean="0">
                <a:solidFill>
                  <a:srgbClr val="FF0000"/>
                </a:solidFill>
                <a:latin typeface="Arial Rounded MT Bold" panose="020F0704030504030204" pitchFamily="34" charset="0"/>
              </a:rPr>
              <a:t>ACCOUNT</a:t>
            </a:r>
            <a:endParaRPr lang="en-US" b="1" dirty="0">
              <a:solidFill>
                <a:srgbClr val="FF0000"/>
              </a:solidFill>
              <a:latin typeface="Arial Rounded MT Bold" panose="020F0704030504030204" pitchFamily="34" charset="0"/>
            </a:endParaRPr>
          </a:p>
        </p:txBody>
      </p:sp>
      <p:sp>
        <p:nvSpPr>
          <p:cNvPr id="3" name="Content Placeholder 2"/>
          <p:cNvSpPr>
            <a:spLocks noGrp="1"/>
          </p:cNvSpPr>
          <p:nvPr>
            <p:ph idx="1"/>
          </p:nvPr>
        </p:nvSpPr>
        <p:spPr>
          <a:xfrm>
            <a:off x="184826" y="1021404"/>
            <a:ext cx="11819106" cy="5155559"/>
          </a:xfrm>
        </p:spPr>
        <p:txBody>
          <a:bodyPr>
            <a:noAutofit/>
          </a:bodyPr>
          <a:lstStyle/>
          <a:p>
            <a:pPr marL="0" indent="0" algn="just">
              <a:buNone/>
            </a:pPr>
            <a:r>
              <a:rPr lang="en-US" sz="3200" dirty="0" smtClean="0">
                <a:latin typeface="Bahnschrift" panose="020B0502040204020203" pitchFamily="34" charset="0"/>
              </a:rPr>
              <a:t>The basic summary device of accounting is the account. </a:t>
            </a:r>
            <a:r>
              <a:rPr lang="en-US" sz="3200" dirty="0" smtClean="0">
                <a:solidFill>
                  <a:srgbClr val="FF0000"/>
                </a:solidFill>
                <a:latin typeface="Bahnschrift" panose="020B0502040204020203" pitchFamily="34" charset="0"/>
              </a:rPr>
              <a:t>An account</a:t>
            </a:r>
            <a:r>
              <a:rPr lang="en-US" sz="3200" dirty="0" smtClean="0">
                <a:latin typeface="Bahnschrift" panose="020B0502040204020203" pitchFamily="34" charset="0"/>
              </a:rPr>
              <a:t> is the detailed record of all the changes that have occurred in an </a:t>
            </a:r>
            <a:r>
              <a:rPr lang="en-US" sz="3200" dirty="0" smtClean="0">
                <a:solidFill>
                  <a:srgbClr val="00B050"/>
                </a:solidFill>
                <a:latin typeface="Bahnschrift" panose="020B0502040204020203" pitchFamily="34" charset="0"/>
              </a:rPr>
              <a:t>individual asset</a:t>
            </a:r>
            <a:r>
              <a:rPr lang="en-US" sz="3200" dirty="0" smtClean="0">
                <a:latin typeface="Bahnschrift" panose="020B0502040204020203" pitchFamily="34" charset="0"/>
              </a:rPr>
              <a:t>, </a:t>
            </a:r>
            <a:r>
              <a:rPr lang="en-US" sz="3200" dirty="0" smtClean="0">
                <a:solidFill>
                  <a:srgbClr val="00B050"/>
                </a:solidFill>
                <a:latin typeface="Bahnschrift" panose="020B0502040204020203" pitchFamily="34" charset="0"/>
              </a:rPr>
              <a:t>liability, or owner’s equity (or stockholders’ equity</a:t>
            </a:r>
            <a:r>
              <a:rPr lang="en-US" sz="3200" dirty="0" smtClean="0">
                <a:latin typeface="Bahnschrift" panose="020B0502040204020203" pitchFamily="34" charset="0"/>
              </a:rPr>
              <a:t> for a corporation) during a specified period.</a:t>
            </a:r>
            <a:endParaRPr lang="en-US" sz="3200" dirty="0" smtClean="0">
              <a:latin typeface="Bahnschrift" panose="020B0502040204020203" pitchFamily="34" charset="0"/>
            </a:endParaRPr>
          </a:p>
          <a:p>
            <a:pPr marL="0" indent="0" algn="just">
              <a:buNone/>
            </a:pPr>
            <a:endParaRPr lang="en-US" sz="3200" dirty="0" smtClean="0">
              <a:latin typeface="Bahnschrift" panose="020B0502040204020203" pitchFamily="34" charset="0"/>
            </a:endParaRPr>
          </a:p>
          <a:p>
            <a:pPr marL="0" indent="0" algn="just">
              <a:buNone/>
            </a:pPr>
            <a:r>
              <a:rPr lang="en-US" sz="3200" dirty="0" smtClean="0">
                <a:latin typeface="Bahnschrift" panose="020B0502040204020203" pitchFamily="34" charset="0"/>
              </a:rPr>
              <a:t>Accountants record transactions first in a journal, which is the chronological record of transactions. </a:t>
            </a:r>
            <a:endParaRPr lang="en-US" sz="3200" dirty="0" smtClean="0">
              <a:latin typeface="Bahnschrift" panose="020B0502040204020203" pitchFamily="34" charset="0"/>
            </a:endParaRPr>
          </a:p>
          <a:p>
            <a:pPr marL="0" indent="0" algn="just">
              <a:buNone/>
            </a:pPr>
            <a:endParaRPr lang="en-US" sz="3200" dirty="0">
              <a:latin typeface="Bahnschrift" panose="020B0502040204020203" pitchFamily="34" charset="0"/>
            </a:endParaRPr>
          </a:p>
          <a:p>
            <a:pPr marL="0" indent="0" algn="just">
              <a:buNone/>
            </a:pPr>
            <a:r>
              <a:rPr lang="en-US" sz="3200" dirty="0" smtClean="0">
                <a:latin typeface="Bahnschrift" panose="020B0502040204020203" pitchFamily="34" charset="0"/>
              </a:rPr>
              <a:t>Accountants then post (copy) the data to the book of accounts called the ledger. A list of all the ledger accounts and their balances is called a trial balance</a:t>
            </a:r>
            <a:endParaRPr lang="en-US" sz="3200" dirty="0">
              <a:latin typeface="Bahnschrift" panose="020B0502040204020203"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6423" y="189982"/>
            <a:ext cx="11817531" cy="6801862"/>
          </a:xfrm>
          <a:prstGeom prst="rect">
            <a:avLst/>
          </a:prstGeom>
        </p:spPr>
        <p:txBody>
          <a:bodyPr wrap="square">
            <a:spAutoFit/>
          </a:bodyPr>
          <a:lstStyle/>
          <a:p>
            <a:pPr algn="ctr"/>
            <a:r>
              <a:rPr lang="en-US" sz="3000" b="1" dirty="0">
                <a:solidFill>
                  <a:srgbClr val="FF0000"/>
                </a:solidFill>
                <a:latin typeface="+mj-lt"/>
              </a:rPr>
              <a:t>	</a:t>
            </a:r>
            <a:endParaRPr lang="en-US" sz="2900" b="1" dirty="0">
              <a:solidFill>
                <a:srgbClr val="FF0000"/>
              </a:solidFill>
              <a:latin typeface="Arial Rounded MT Bold" panose="020F0704030504030204" pitchFamily="34" charset="0"/>
            </a:endParaRPr>
          </a:p>
          <a:p>
            <a:pPr algn="just"/>
            <a:r>
              <a:rPr lang="en-US" sz="2900" dirty="0" smtClean="0">
                <a:latin typeface="Arial Rounded MT Bold" panose="020F0704030504030204" pitchFamily="34" charset="0"/>
              </a:rPr>
              <a:t>Accounts </a:t>
            </a:r>
            <a:r>
              <a:rPr lang="en-US" sz="2900" dirty="0">
                <a:latin typeface="Arial Rounded MT Bold" panose="020F0704030504030204" pitchFamily="34" charset="0"/>
              </a:rPr>
              <a:t>are locations in the accounting system that summarize the increases and decreases in each asset, liability and owner’s equity item appearing on the balance sheet (statement of financial position) and each revenue and expense item appearing on the income statement (statement of comprehensive income</a:t>
            </a:r>
            <a:r>
              <a:rPr lang="en-US" sz="2900" dirty="0" smtClean="0">
                <a:latin typeface="Arial Rounded MT Bold" panose="020F0704030504030204" pitchFamily="34" charset="0"/>
              </a:rPr>
              <a:t>).</a:t>
            </a:r>
            <a:endParaRPr lang="en-US" sz="2900" dirty="0" smtClean="0">
              <a:latin typeface="Arial Rounded MT Bold" panose="020F0704030504030204" pitchFamily="34" charset="0"/>
            </a:endParaRPr>
          </a:p>
          <a:p>
            <a:pPr algn="just"/>
            <a:endParaRPr lang="en-US" sz="2900" dirty="0" smtClean="0">
              <a:latin typeface="Arial Rounded MT Bold" panose="020F0704030504030204" pitchFamily="34" charset="0"/>
            </a:endParaRPr>
          </a:p>
          <a:p>
            <a:pPr algn="just"/>
            <a:r>
              <a:rPr lang="en-US" sz="2900" dirty="0" smtClean="0">
                <a:latin typeface="Arial Rounded MT Bold" panose="020F0704030504030204" pitchFamily="34" charset="0"/>
              </a:rPr>
              <a:t>An </a:t>
            </a:r>
            <a:r>
              <a:rPr lang="en-US" sz="2900" dirty="0">
                <a:latin typeface="Arial Rounded MT Bold" panose="020F0704030504030204" pitchFamily="34" charset="0"/>
              </a:rPr>
              <a:t>account is an element in an accounting system that is used to classify and summarize measurements of business activity. </a:t>
            </a:r>
            <a:endParaRPr lang="en-US" sz="2900" dirty="0">
              <a:latin typeface="Arial Rounded MT Bold" panose="020F0704030504030204" pitchFamily="34" charset="0"/>
            </a:endParaRPr>
          </a:p>
          <a:p>
            <a:pPr algn="just"/>
            <a:endParaRPr lang="en-US" sz="2900" dirty="0">
              <a:latin typeface="Arial Rounded MT Bold" panose="020F0704030504030204" pitchFamily="34" charset="0"/>
            </a:endParaRPr>
          </a:p>
          <a:p>
            <a:pPr algn="just"/>
            <a:r>
              <a:rPr lang="en-US" sz="2900" dirty="0">
                <a:latin typeface="Arial Rounded MT Bold" panose="020F0704030504030204" pitchFamily="34" charset="0"/>
              </a:rPr>
              <a:t>Briefly, an account is a record of increases and decreases in a specific asset, liability, equity, revenue, or expense item. </a:t>
            </a:r>
            <a:endParaRPr lang="en-US" sz="2900" dirty="0">
              <a:latin typeface="Arial Rounded MT Bold" panose="020F0704030504030204" pitchFamily="34" charset="0"/>
            </a:endParaRPr>
          </a:p>
          <a:p>
            <a:pPr algn="just"/>
            <a:endParaRPr lang="en-US" sz="2900" dirty="0">
              <a:latin typeface="Arial Rounded MT Bold" panose="020F0704030504030204" pitchFamily="34" charset="0"/>
            </a:endParaRPr>
          </a:p>
          <a:p>
            <a:pPr algn="just"/>
            <a:r>
              <a:rPr lang="en-US" sz="2900" dirty="0">
                <a:latin typeface="Arial Rounded MT Bold" panose="020F0704030504030204" pitchFamily="34" charset="0"/>
              </a:rPr>
              <a:t>Each account has two main parts: Debit (</a:t>
            </a:r>
            <a:r>
              <a:rPr lang="en-US" sz="2900" dirty="0" err="1">
                <a:latin typeface="Arial Rounded MT Bold" panose="020F0704030504030204" pitchFamily="34" charset="0"/>
              </a:rPr>
              <a:t>Dr</a:t>
            </a:r>
            <a:r>
              <a:rPr lang="en-US" sz="2900" dirty="0">
                <a:latin typeface="Arial Rounded MT Bold" panose="020F0704030504030204" pitchFamily="34" charset="0"/>
              </a:rPr>
              <a:t>) and Credit (Cr). </a:t>
            </a:r>
            <a:endParaRPr lang="en-US" sz="2900" dirty="0">
              <a:latin typeface="Arial Rounded MT Bold" panose="020F0704030504030204" pitchFamily="34" charset="0"/>
            </a:endParaRPr>
          </a:p>
          <a:p>
            <a:pPr algn="just"/>
            <a:r>
              <a:rPr lang="en-US" sz="2900" dirty="0" smtClean="0">
                <a:latin typeface="Arial Rounded MT Bold" panose="020F0704030504030204" pitchFamily="34" charset="0"/>
              </a:rPr>
              <a:t>  </a:t>
            </a:r>
            <a:endParaRPr lang="en-US" sz="2900" dirty="0">
              <a:latin typeface="Arial Rounded MT Bold" panose="020F070403050403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004" y="2388617"/>
            <a:ext cx="11332724" cy="4469383"/>
          </a:xfrm>
          <a:prstGeom prst="rect">
            <a:avLst/>
          </a:prstGeom>
        </p:spPr>
      </p:pic>
      <p:sp>
        <p:nvSpPr>
          <p:cNvPr id="3" name="Rectangle 2"/>
          <p:cNvSpPr/>
          <p:nvPr/>
        </p:nvSpPr>
        <p:spPr>
          <a:xfrm>
            <a:off x="184826" y="326514"/>
            <a:ext cx="11819106" cy="2062103"/>
          </a:xfrm>
          <a:prstGeom prst="rect">
            <a:avLst/>
          </a:prstGeom>
        </p:spPr>
        <p:txBody>
          <a:bodyPr wrap="square">
            <a:spAutoFit/>
          </a:bodyPr>
          <a:lstStyle/>
          <a:p>
            <a:pPr algn="just"/>
            <a:r>
              <a:rPr lang="en-US" sz="3200" dirty="0">
                <a:latin typeface="Arial Rounded MT Bold" panose="020F0704030504030204" pitchFamily="34" charset="0"/>
              </a:rPr>
              <a:t>The following diagram summarizes the accounting process covered in </a:t>
            </a:r>
            <a:r>
              <a:rPr lang="en-US" sz="3200" dirty="0" smtClean="0">
                <a:latin typeface="Arial Rounded MT Bold" panose="020F0704030504030204" pitchFamily="34" charset="0"/>
              </a:rPr>
              <a:t>this chapter</a:t>
            </a:r>
            <a:r>
              <a:rPr lang="en-US" sz="3200" dirty="0">
                <a:latin typeface="Arial Rounded MT Bold" panose="020F0704030504030204" pitchFamily="34" charset="0"/>
              </a:rPr>
              <a:t>. Take a moment to become familiar with these important terms. You will </a:t>
            </a:r>
            <a:r>
              <a:rPr lang="en-US" sz="3200" dirty="0" smtClean="0">
                <a:latin typeface="Arial Rounded MT Bold" panose="020F0704030504030204" pitchFamily="34" charset="0"/>
              </a:rPr>
              <a:t>be using </a:t>
            </a:r>
            <a:r>
              <a:rPr lang="en-US" sz="3200" dirty="0">
                <a:latin typeface="Arial Rounded MT Bold" panose="020F0704030504030204" pitchFamily="34" charset="0"/>
              </a:rPr>
              <a:t>them over and over again.</a:t>
            </a:r>
            <a:endParaRPr lang="en-US" sz="3200" dirty="0">
              <a:latin typeface="Arial Rounded MT Bold" panose="020F07040305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5642" y="234820"/>
            <a:ext cx="11614826" cy="6247864"/>
          </a:xfrm>
          <a:prstGeom prst="rect">
            <a:avLst/>
          </a:prstGeom>
        </p:spPr>
        <p:txBody>
          <a:bodyPr wrap="square">
            <a:spAutoFit/>
          </a:bodyPr>
          <a:lstStyle/>
          <a:p>
            <a:r>
              <a:rPr lang="en-US" sz="2800" dirty="0">
                <a:solidFill>
                  <a:srgbClr val="FF0000"/>
                </a:solidFill>
                <a:latin typeface="Arial Rounded MT Bold" panose="020F0704030504030204" pitchFamily="34" charset="0"/>
              </a:rPr>
              <a:t>Account</a:t>
            </a:r>
            <a:r>
              <a:rPr lang="en-US" sz="2800" dirty="0">
                <a:latin typeface="Arial Rounded MT Bold" panose="020F0704030504030204" pitchFamily="34" charset="0"/>
              </a:rPr>
              <a:t>—the detailed record of all the changes that have occurred in a </a:t>
            </a:r>
            <a:r>
              <a:rPr lang="en-US" sz="2800" dirty="0" smtClean="0">
                <a:latin typeface="Arial Rounded MT Bold" panose="020F0704030504030204" pitchFamily="34" charset="0"/>
              </a:rPr>
              <a:t>particular asset</a:t>
            </a:r>
            <a:r>
              <a:rPr lang="en-US" sz="2800" dirty="0">
                <a:latin typeface="Arial Rounded MT Bold" panose="020F0704030504030204" pitchFamily="34" charset="0"/>
              </a:rPr>
              <a:t>, liability, or owner’s </a:t>
            </a:r>
            <a:r>
              <a:rPr lang="en-US" sz="2800" dirty="0" smtClean="0">
                <a:latin typeface="Arial Rounded MT Bold" panose="020F0704030504030204" pitchFamily="34" charset="0"/>
              </a:rPr>
              <a:t>equity.</a:t>
            </a:r>
            <a:endParaRPr lang="en-US" sz="2800" dirty="0" smtClean="0">
              <a:latin typeface="Arial Rounded MT Bold" panose="020F0704030504030204" pitchFamily="34" charset="0"/>
            </a:endParaRPr>
          </a:p>
          <a:p>
            <a:endParaRPr lang="en-US" sz="2800" dirty="0">
              <a:latin typeface="Arial Rounded MT Bold" panose="020F0704030504030204" pitchFamily="34" charset="0"/>
            </a:endParaRPr>
          </a:p>
          <a:p>
            <a:r>
              <a:rPr lang="en-US" sz="2800" dirty="0">
                <a:latin typeface="Arial Rounded MT Bold" panose="020F0704030504030204" pitchFamily="34" charset="0"/>
              </a:rPr>
              <a:t>● </a:t>
            </a:r>
            <a:r>
              <a:rPr lang="en-US" sz="2800" dirty="0">
                <a:solidFill>
                  <a:srgbClr val="FF0000"/>
                </a:solidFill>
                <a:latin typeface="Arial Rounded MT Bold" panose="020F0704030504030204" pitchFamily="34" charset="0"/>
              </a:rPr>
              <a:t>Journal</a:t>
            </a:r>
            <a:r>
              <a:rPr lang="en-US" sz="2800" dirty="0">
                <a:latin typeface="Arial Rounded MT Bold" panose="020F0704030504030204" pitchFamily="34" charset="0"/>
              </a:rPr>
              <a:t>—the chronological record of </a:t>
            </a:r>
            <a:r>
              <a:rPr lang="en-US" sz="2800" dirty="0" smtClean="0">
                <a:latin typeface="Arial Rounded MT Bold" panose="020F0704030504030204" pitchFamily="34" charset="0"/>
              </a:rPr>
              <a:t>transactions.</a:t>
            </a:r>
            <a:endParaRPr lang="en-US" sz="2800" dirty="0" smtClean="0">
              <a:latin typeface="Arial Rounded MT Bold" panose="020F0704030504030204" pitchFamily="34" charset="0"/>
            </a:endParaRPr>
          </a:p>
          <a:p>
            <a:endParaRPr lang="en-US" sz="2800" dirty="0">
              <a:latin typeface="Arial Rounded MT Bold" panose="020F0704030504030204" pitchFamily="34" charset="0"/>
            </a:endParaRPr>
          </a:p>
          <a:p>
            <a:r>
              <a:rPr lang="en-US" sz="2800" dirty="0">
                <a:latin typeface="Arial Rounded MT Bold" panose="020F0704030504030204" pitchFamily="34" charset="0"/>
              </a:rPr>
              <a:t>● </a:t>
            </a:r>
            <a:r>
              <a:rPr lang="en-US" sz="2800" dirty="0">
                <a:solidFill>
                  <a:srgbClr val="FF0000"/>
                </a:solidFill>
                <a:latin typeface="Arial Rounded MT Bold" panose="020F0704030504030204" pitchFamily="34" charset="0"/>
              </a:rPr>
              <a:t>Ledger</a:t>
            </a:r>
            <a:r>
              <a:rPr lang="en-US" sz="2800" dirty="0">
                <a:latin typeface="Arial Rounded MT Bold" panose="020F0704030504030204" pitchFamily="34" charset="0"/>
              </a:rPr>
              <a:t>—the book holding all the accounts with their </a:t>
            </a:r>
            <a:r>
              <a:rPr lang="en-US" sz="2800" dirty="0" smtClean="0">
                <a:latin typeface="Arial Rounded MT Bold" panose="020F0704030504030204" pitchFamily="34" charset="0"/>
              </a:rPr>
              <a:t>balances.</a:t>
            </a:r>
            <a:endParaRPr lang="en-US" sz="2800" dirty="0" smtClean="0">
              <a:latin typeface="Arial Rounded MT Bold" panose="020F0704030504030204" pitchFamily="34" charset="0"/>
            </a:endParaRPr>
          </a:p>
          <a:p>
            <a:endParaRPr lang="en-US" sz="2800" dirty="0">
              <a:latin typeface="Arial Rounded MT Bold" panose="020F0704030504030204" pitchFamily="34" charset="0"/>
            </a:endParaRPr>
          </a:p>
          <a:p>
            <a:r>
              <a:rPr lang="en-US" sz="2800" dirty="0">
                <a:latin typeface="Arial Rounded MT Bold" panose="020F0704030504030204" pitchFamily="34" charset="0"/>
              </a:rPr>
              <a:t>● </a:t>
            </a:r>
            <a:r>
              <a:rPr lang="en-US" sz="2800" dirty="0">
                <a:solidFill>
                  <a:srgbClr val="FF0000"/>
                </a:solidFill>
                <a:latin typeface="Arial Rounded MT Bold" panose="020F0704030504030204" pitchFamily="34" charset="0"/>
              </a:rPr>
              <a:t>Trial balance</a:t>
            </a:r>
            <a:r>
              <a:rPr lang="en-US" sz="2800" dirty="0">
                <a:latin typeface="Arial Rounded MT Bold" panose="020F0704030504030204" pitchFamily="34" charset="0"/>
              </a:rPr>
              <a:t>—the list of all the ledger accounts with their </a:t>
            </a:r>
            <a:r>
              <a:rPr lang="en-US" sz="2800" dirty="0" smtClean="0">
                <a:latin typeface="Arial Rounded MT Bold" panose="020F0704030504030204" pitchFamily="34" charset="0"/>
              </a:rPr>
              <a:t>balances.</a:t>
            </a:r>
            <a:endParaRPr lang="en-US" sz="2800" dirty="0" smtClean="0">
              <a:latin typeface="Arial Rounded MT Bold" panose="020F0704030504030204" pitchFamily="34" charset="0"/>
            </a:endParaRPr>
          </a:p>
          <a:p>
            <a:endParaRPr lang="en-US" sz="2800" dirty="0">
              <a:latin typeface="Arial Rounded MT Bold" panose="020F0704030504030204" pitchFamily="34" charset="0"/>
            </a:endParaRPr>
          </a:p>
          <a:p>
            <a:r>
              <a:rPr lang="en-US" sz="2800" dirty="0">
                <a:latin typeface="Arial Rounded MT Bold" panose="020F0704030504030204" pitchFamily="34" charset="0"/>
              </a:rPr>
              <a:t>Accounts are grouped in three broad categories, according to the </a:t>
            </a:r>
            <a:r>
              <a:rPr lang="en-US" sz="2800" dirty="0" smtClean="0">
                <a:latin typeface="Arial Rounded MT Bold" panose="020F0704030504030204" pitchFamily="34" charset="0"/>
              </a:rPr>
              <a:t>accounting equation and in modern approach:</a:t>
            </a:r>
            <a:endParaRPr lang="en-US" sz="2800" dirty="0" smtClean="0">
              <a:latin typeface="Arial Rounded MT Bold" panose="020F0704030504030204" pitchFamily="34" charset="0"/>
            </a:endParaRPr>
          </a:p>
          <a:p>
            <a:endParaRPr lang="en-US" sz="2800" dirty="0">
              <a:latin typeface="Arial Rounded MT Bold" panose="020F0704030504030204" pitchFamily="34" charset="0"/>
            </a:endParaRPr>
          </a:p>
          <a:p>
            <a:r>
              <a:rPr lang="en-US" sz="2800" dirty="0" smtClean="0">
                <a:latin typeface="Arial Rounded MT Bold" panose="020F0704030504030204" pitchFamily="34" charset="0"/>
              </a:rPr>
              <a:t>			</a:t>
            </a:r>
            <a:r>
              <a:rPr lang="en-US" sz="3600" dirty="0" smtClean="0">
                <a:solidFill>
                  <a:srgbClr val="002060"/>
                </a:solidFill>
                <a:latin typeface="Arial Rounded MT Bold" panose="020F0704030504030204" pitchFamily="34" charset="0"/>
              </a:rPr>
              <a:t>Assets </a:t>
            </a:r>
            <a:r>
              <a:rPr lang="en-US" sz="3600" dirty="0">
                <a:solidFill>
                  <a:srgbClr val="002060"/>
                </a:solidFill>
                <a:latin typeface="Arial Rounded MT Bold" panose="020F0704030504030204" pitchFamily="34" charset="0"/>
              </a:rPr>
              <a:t>= Liabilities + Owner’s Equity</a:t>
            </a:r>
            <a:endParaRPr lang="en-US" sz="3600" dirty="0">
              <a:solidFill>
                <a:srgbClr val="002060"/>
              </a:solidFill>
              <a:latin typeface="Arial Rounded MT Bold" panose="020F07040305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FF0000"/>
                </a:solidFill>
                <a:latin typeface="Arial Rounded MT Bold" panose="020F0704030504030204" pitchFamily="34" charset="0"/>
              </a:rPr>
              <a:t>ASSETS</a:t>
            </a:r>
            <a:endParaRPr lang="en-US" b="1" dirty="0">
              <a:solidFill>
                <a:srgbClr val="FF0000"/>
              </a:solidFill>
              <a:latin typeface="Arial Rounded MT Bold" panose="020F0704030504030204" pitchFamily="34" charset="0"/>
            </a:endParaRPr>
          </a:p>
        </p:txBody>
      </p:sp>
      <p:sp>
        <p:nvSpPr>
          <p:cNvPr id="3" name="Content Placeholder 2"/>
          <p:cNvSpPr>
            <a:spLocks noGrp="1"/>
          </p:cNvSpPr>
          <p:nvPr>
            <p:ph idx="1"/>
          </p:nvPr>
        </p:nvSpPr>
        <p:spPr/>
        <p:txBody>
          <a:bodyPr>
            <a:normAutofit/>
          </a:bodyPr>
          <a:lstStyle/>
          <a:p>
            <a:r>
              <a:rPr lang="en-US" sz="2000" b="1" dirty="0" smtClean="0">
                <a:latin typeface="Arial Rounded MT Bold" panose="020F0704030504030204" pitchFamily="34" charset="0"/>
              </a:rPr>
              <a:t>CASH</a:t>
            </a:r>
            <a:endParaRPr lang="en-US" dirty="0" smtClean="0">
              <a:latin typeface="Arial Rounded MT Bold" panose="020F0704030504030204" pitchFamily="34" charset="0"/>
            </a:endParaRPr>
          </a:p>
          <a:p>
            <a:r>
              <a:rPr lang="en-US" sz="2000" b="1" dirty="0" smtClean="0">
                <a:latin typeface="Arial Rounded MT Bold" panose="020F0704030504030204" pitchFamily="34" charset="0"/>
              </a:rPr>
              <a:t>ACCOUNT RECEIVABLE</a:t>
            </a:r>
            <a:endParaRPr lang="en-US" sz="2000" b="1" dirty="0" smtClean="0">
              <a:latin typeface="Arial Rounded MT Bold" panose="020F0704030504030204" pitchFamily="34" charset="0"/>
            </a:endParaRPr>
          </a:p>
          <a:p>
            <a:r>
              <a:rPr lang="en-US" sz="2000" b="1" dirty="0" smtClean="0">
                <a:latin typeface="Arial Rounded MT Bold" panose="020F0704030504030204" pitchFamily="34" charset="0"/>
              </a:rPr>
              <a:t>NOTES RECEIVABLE</a:t>
            </a:r>
            <a:endParaRPr lang="en-US" sz="2000" b="1" dirty="0" smtClean="0">
              <a:latin typeface="Arial Rounded MT Bold" panose="020F0704030504030204" pitchFamily="34" charset="0"/>
            </a:endParaRPr>
          </a:p>
          <a:p>
            <a:r>
              <a:rPr lang="en-US" sz="2000" b="1" dirty="0" smtClean="0">
                <a:latin typeface="Arial Rounded MT Bold" panose="020F0704030504030204" pitchFamily="34" charset="0"/>
              </a:rPr>
              <a:t>PREPAID EXPENSES</a:t>
            </a:r>
            <a:endParaRPr lang="en-US" sz="2000" b="1" dirty="0" smtClean="0">
              <a:latin typeface="Arial Rounded MT Bold" panose="020F0704030504030204" pitchFamily="34" charset="0"/>
            </a:endParaRPr>
          </a:p>
          <a:p>
            <a:r>
              <a:rPr lang="en-US" sz="2000" b="1" dirty="0" smtClean="0">
                <a:latin typeface="Arial Rounded MT Bold" panose="020F0704030504030204" pitchFamily="34" charset="0"/>
              </a:rPr>
              <a:t>LAND </a:t>
            </a:r>
            <a:endParaRPr lang="en-US" sz="2000" b="1" dirty="0" smtClean="0">
              <a:latin typeface="Arial Rounded MT Bold" panose="020F0704030504030204" pitchFamily="34" charset="0"/>
            </a:endParaRPr>
          </a:p>
          <a:p>
            <a:r>
              <a:rPr lang="en-US" sz="2000" b="1" dirty="0" smtClean="0">
                <a:latin typeface="Arial Rounded MT Bold" panose="020F0704030504030204" pitchFamily="34" charset="0"/>
              </a:rPr>
              <a:t>BUILDING </a:t>
            </a:r>
            <a:endParaRPr lang="en-US" sz="2000" b="1" dirty="0" smtClean="0">
              <a:latin typeface="Arial Rounded MT Bold" panose="020F0704030504030204" pitchFamily="34" charset="0"/>
            </a:endParaRPr>
          </a:p>
          <a:p>
            <a:r>
              <a:rPr lang="en-US" sz="2000" b="1" dirty="0" smtClean="0">
                <a:latin typeface="Arial Rounded MT Bold" panose="020F0704030504030204" pitchFamily="34" charset="0"/>
              </a:rPr>
              <a:t>EQUIPMENTS, FURNITURE , FIXTURES</a:t>
            </a:r>
            <a:endParaRPr lang="en-US" sz="2000" b="1" dirty="0" smtClean="0">
              <a:latin typeface="Arial Rounded MT Bold" panose="020F0704030504030204" pitchFamily="34" charset="0"/>
            </a:endParaRPr>
          </a:p>
          <a:p>
            <a:pPr marL="0" indent="0">
              <a:buNone/>
            </a:pPr>
            <a:endParaRPr lang="en-US" sz="2000" b="1" dirty="0">
              <a:latin typeface="Arial Rounded MT Bold" panose="020F07040305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404495"/>
            <a:ext cx="10515600" cy="552450"/>
          </a:xfrm>
        </p:spPr>
        <p:txBody>
          <a:bodyPr>
            <a:normAutofit fontScale="90000"/>
          </a:bodyPr>
          <a:p>
            <a:pPr algn="ctr"/>
            <a:r>
              <a:rPr lang="en-US" b="1" dirty="0" smtClean="0">
                <a:solidFill>
                  <a:srgbClr val="FF0000"/>
                </a:solidFill>
                <a:latin typeface="Arial Rounded MT Bold" panose="020F0704030504030204" pitchFamily="34" charset="0"/>
                <a:sym typeface="+mn-ea"/>
              </a:rPr>
              <a:t>ASSETS</a:t>
            </a:r>
            <a:br>
              <a:rPr lang="en-US" b="1" dirty="0">
                <a:solidFill>
                  <a:srgbClr val="FF0000"/>
                </a:solidFill>
                <a:latin typeface="Arial Rounded MT Bold" panose="020F0704030504030204" pitchFamily="34" charset="0"/>
              </a:rPr>
            </a:br>
            <a:endParaRPr lang="en-US"/>
          </a:p>
        </p:txBody>
      </p:sp>
      <p:sp>
        <p:nvSpPr>
          <p:cNvPr id="3" name="Content Placeholder 2"/>
          <p:cNvSpPr>
            <a:spLocks noGrp="1"/>
          </p:cNvSpPr>
          <p:nvPr>
            <p:ph idx="1"/>
          </p:nvPr>
        </p:nvSpPr>
        <p:spPr>
          <a:xfrm>
            <a:off x="838200" y="1253490"/>
            <a:ext cx="10515600" cy="4351338"/>
          </a:xfrm>
        </p:spPr>
        <p:txBody>
          <a:bodyPr>
            <a:noAutofit/>
          </a:bodyPr>
          <a:p>
            <a:pPr marL="457200" indent="-457200">
              <a:buFont typeface="+mj-lt"/>
              <a:buAutoNum type="arabicPeriod"/>
            </a:pPr>
            <a:r>
              <a:rPr lang="en-US" sz="1800" b="1" dirty="0">
                <a:latin typeface="Arial Rounded MT Bold" panose="020F0704030504030204" pitchFamily="34" charset="0"/>
                <a:sym typeface="+mn-ea"/>
              </a:rPr>
              <a:t>Office Supplies: </a:t>
            </a:r>
            <a:r>
              <a:rPr lang="en-US" sz="1800" dirty="0">
                <a:latin typeface="Arial Rounded MT Bold" panose="020F0704030504030204" pitchFamily="34" charset="0"/>
                <a:sym typeface="+mn-ea"/>
              </a:rPr>
              <a:t>Items like paper, pens, and other supplies used in daily operations.</a:t>
            </a:r>
            <a:endParaRPr lang="en-US" sz="1800" dirty="0">
              <a:latin typeface="Arial Rounded MT Bold" panose="020F0704030504030204" pitchFamily="34" charset="0"/>
            </a:endParaRPr>
          </a:p>
          <a:p>
            <a:pPr marL="457200" indent="-457200">
              <a:buFont typeface="+mj-lt"/>
              <a:buAutoNum type="arabicPeriod"/>
            </a:pPr>
            <a:r>
              <a:rPr lang="en-US" sz="1800" b="1" dirty="0">
                <a:latin typeface="Arial Rounded MT Bold" panose="020F0704030504030204" pitchFamily="34" charset="0"/>
                <a:sym typeface="+mn-ea"/>
              </a:rPr>
              <a:t>Software: </a:t>
            </a:r>
            <a:r>
              <a:rPr lang="en-US" sz="1800" dirty="0">
                <a:latin typeface="Arial Rounded MT Bold" panose="020F0704030504030204" pitchFamily="34" charset="0"/>
                <a:sym typeface="+mn-ea"/>
              </a:rPr>
              <a:t>Purchased or developed software that is used in business operations.</a:t>
            </a:r>
            <a:endParaRPr lang="en-US" sz="1800" dirty="0">
              <a:latin typeface="Arial Rounded MT Bold" panose="020F0704030504030204" pitchFamily="34" charset="0"/>
            </a:endParaRPr>
          </a:p>
          <a:p>
            <a:pPr marL="457200" indent="-457200">
              <a:buFont typeface="+mj-lt"/>
              <a:buAutoNum type="arabicPeriod"/>
            </a:pPr>
            <a:r>
              <a:rPr lang="en-US" sz="1800" b="1" dirty="0">
                <a:latin typeface="Arial Rounded MT Bold" panose="020F0704030504030204" pitchFamily="34" charset="0"/>
                <a:sym typeface="+mn-ea"/>
              </a:rPr>
              <a:t>Inventory:</a:t>
            </a:r>
            <a:r>
              <a:rPr lang="en-US" sz="1800" dirty="0">
                <a:latin typeface="Arial Rounded MT Bold" panose="020F0704030504030204" pitchFamily="34" charset="0"/>
                <a:sym typeface="+mn-ea"/>
              </a:rPr>
              <a:t> Goods available for sale or raw materials used in production.</a:t>
            </a:r>
            <a:endParaRPr lang="en-US" sz="1800" dirty="0">
              <a:latin typeface="Arial Rounded MT Bold" panose="020F0704030504030204" pitchFamily="34" charset="0"/>
            </a:endParaRPr>
          </a:p>
          <a:p>
            <a:pPr marL="457200" indent="-457200">
              <a:buFont typeface="+mj-lt"/>
              <a:buAutoNum type="arabicPeriod"/>
            </a:pPr>
            <a:r>
              <a:rPr lang="en-US" sz="1800" b="1" dirty="0">
                <a:latin typeface="Arial Rounded MT Bold" panose="020F0704030504030204" pitchFamily="34" charset="0"/>
                <a:sym typeface="+mn-ea"/>
              </a:rPr>
              <a:t>Property, Plant, and Equipment (PP&amp;E):</a:t>
            </a:r>
            <a:r>
              <a:rPr lang="en-US" sz="1800" dirty="0">
                <a:latin typeface="Arial Rounded MT Bold" panose="020F0704030504030204" pitchFamily="34" charset="0"/>
                <a:sym typeface="+mn-ea"/>
              </a:rPr>
              <a:t> Physical assets like buildings, machinery, and vehicles.</a:t>
            </a:r>
            <a:endParaRPr lang="en-US" sz="1800" dirty="0">
              <a:latin typeface="Arial Rounded MT Bold" panose="020F0704030504030204" pitchFamily="34" charset="0"/>
            </a:endParaRPr>
          </a:p>
          <a:p>
            <a:pPr marL="457200" indent="-457200">
              <a:buFont typeface="+mj-lt"/>
              <a:buAutoNum type="arabicPeriod"/>
            </a:pPr>
            <a:r>
              <a:rPr lang="en-US" sz="1800" b="1" dirty="0">
                <a:latin typeface="Arial Rounded MT Bold" panose="020F0704030504030204" pitchFamily="34" charset="0"/>
                <a:sym typeface="+mn-ea"/>
              </a:rPr>
              <a:t>Investments: </a:t>
            </a:r>
            <a:r>
              <a:rPr lang="en-US" sz="1800" dirty="0">
                <a:latin typeface="Arial Rounded MT Bold" panose="020F0704030504030204" pitchFamily="34" charset="0"/>
                <a:sym typeface="+mn-ea"/>
              </a:rPr>
              <a:t>Stocks, bonds, or other securities owned by the business.</a:t>
            </a:r>
            <a:endParaRPr lang="en-US" sz="1800" b="1" dirty="0">
              <a:latin typeface="Arial Rounded MT Bold" panose="020F0704030504030204" pitchFamily="34" charset="0"/>
            </a:endParaRPr>
          </a:p>
          <a:p>
            <a:pPr marL="457200" indent="-457200">
              <a:buFont typeface="+mj-lt"/>
              <a:buAutoNum type="arabicPeriod"/>
            </a:pPr>
            <a:r>
              <a:rPr lang="en-US" sz="1800" b="1" dirty="0">
                <a:latin typeface="Arial Rounded MT Bold" panose="020F0704030504030204" pitchFamily="34" charset="0"/>
                <a:sym typeface="+mn-ea"/>
              </a:rPr>
              <a:t>Prepaid Expenses: </a:t>
            </a:r>
            <a:r>
              <a:rPr lang="en-US" sz="1800" dirty="0">
                <a:latin typeface="Arial Rounded MT Bold" panose="020F0704030504030204" pitchFamily="34" charset="0"/>
                <a:sym typeface="+mn-ea"/>
              </a:rPr>
              <a:t>Payments made in advance for services or goods to be received in the future (e.g., insurance).</a:t>
            </a:r>
            <a:endParaRPr lang="en-US" sz="1800" dirty="0">
              <a:latin typeface="Arial Rounded MT Bold" panose="020F0704030504030204" pitchFamily="34" charset="0"/>
            </a:endParaRPr>
          </a:p>
          <a:p>
            <a:pPr marL="457200" indent="-457200">
              <a:buFont typeface="+mj-lt"/>
              <a:buAutoNum type="arabicPeriod"/>
            </a:pPr>
            <a:r>
              <a:rPr lang="en-US" sz="1800" b="1" dirty="0">
                <a:latin typeface="Arial Rounded MT Bold" panose="020F0704030504030204" pitchFamily="34" charset="0"/>
                <a:sym typeface="+mn-ea"/>
              </a:rPr>
              <a:t>Intangible Assets: </a:t>
            </a:r>
            <a:r>
              <a:rPr lang="en-US" sz="1800" dirty="0">
                <a:latin typeface="Arial Rounded MT Bold" panose="020F0704030504030204" pitchFamily="34" charset="0"/>
                <a:sym typeface="+mn-ea"/>
              </a:rPr>
              <a:t>Non-physical assets like patents, trademarks, and goodwill.</a:t>
            </a:r>
            <a:endParaRPr lang="en-US" sz="1800" dirty="0">
              <a:latin typeface="Arial Rounded MT Bold" panose="020F0704030504030204" pitchFamily="34" charset="0"/>
              <a:sym typeface="+mn-ea"/>
            </a:endParaRPr>
          </a:p>
          <a:p>
            <a:pPr marL="457200" indent="-457200">
              <a:buFont typeface="+mj-lt"/>
              <a:buAutoNum type="arabicPeriod"/>
            </a:pPr>
            <a:r>
              <a:rPr lang="en-US" sz="1400" b="1" dirty="0" smtClean="0">
                <a:latin typeface="Arial Rounded MT Bold" panose="020F0704030504030204" pitchFamily="34" charset="0"/>
                <a:sym typeface="+mn-ea"/>
              </a:rPr>
              <a:t>CASH:</a:t>
            </a:r>
            <a:r>
              <a:rPr lang="en-US" sz="1800" dirty="0" smtClean="0">
                <a:latin typeface="Arial Rounded MT Bold" panose="020F0704030504030204" pitchFamily="34" charset="0"/>
                <a:sym typeface="+mn-ea"/>
              </a:rPr>
              <a:t> Money in hand or in bank accounts.</a:t>
            </a:r>
            <a:endParaRPr lang="en-US" sz="1800" dirty="0" smtClean="0">
              <a:latin typeface="Arial Rounded MT Bold" panose="020F0704030504030204" pitchFamily="34" charset="0"/>
            </a:endParaRPr>
          </a:p>
          <a:p>
            <a:pPr marL="457200" indent="-457200">
              <a:buFont typeface="+mj-lt"/>
              <a:buAutoNum type="arabicPeriod"/>
            </a:pPr>
            <a:r>
              <a:rPr lang="en-US" sz="1400" b="1" dirty="0" smtClean="0">
                <a:latin typeface="Arial Rounded MT Bold" panose="020F0704030504030204" pitchFamily="34" charset="0"/>
                <a:sym typeface="+mn-ea"/>
              </a:rPr>
              <a:t>ACCOUNT RECEIVABLE:</a:t>
            </a:r>
            <a:r>
              <a:rPr lang="en-US" sz="1800" dirty="0" smtClean="0">
                <a:latin typeface="Arial Rounded MT Bold" panose="020F0704030504030204" pitchFamily="34" charset="0"/>
                <a:sym typeface="+mn-ea"/>
              </a:rPr>
              <a:t> Money owed to the business by customers for goods or services delivered.</a:t>
            </a:r>
            <a:endParaRPr lang="en-US" sz="1800" dirty="0" smtClean="0">
              <a:latin typeface="Arial Rounded MT Bold" panose="020F0704030504030204" pitchFamily="34" charset="0"/>
              <a:sym typeface="+mn-ea"/>
            </a:endParaRPr>
          </a:p>
          <a:p>
            <a:pPr marL="457200" indent="-457200">
              <a:buFont typeface="+mj-lt"/>
              <a:buAutoNum type="arabicPeriod"/>
            </a:pPr>
            <a:r>
              <a:rPr lang="en-US" sz="1400" b="1" dirty="0" smtClean="0">
                <a:latin typeface="Arial Rounded MT Bold" panose="020F0704030504030204" pitchFamily="34" charset="0"/>
                <a:sym typeface="+mn-ea"/>
              </a:rPr>
              <a:t>LAND:</a:t>
            </a:r>
            <a:r>
              <a:rPr lang="en-US" sz="1800" dirty="0" smtClean="0">
                <a:latin typeface="Arial Rounded MT Bold" panose="020F0704030504030204" pitchFamily="34" charset="0"/>
                <a:sym typeface="+mn-ea"/>
              </a:rPr>
              <a:t> Real estate owned by the business.</a:t>
            </a:r>
            <a:endParaRPr lang="en-US" sz="1800" dirty="0" smtClean="0">
              <a:latin typeface="Arial Rounded MT Bold" panose="020F0704030504030204" pitchFamily="34" charset="0"/>
            </a:endParaRPr>
          </a:p>
          <a:p>
            <a:pPr marL="0" indent="0">
              <a:buFont typeface="+mj-lt"/>
              <a:buNone/>
            </a:pPr>
            <a:endParaRPr lang="en-US" sz="1800" dirty="0" smtClean="0">
              <a:latin typeface="Arial Rounded MT Bold" panose="020F0704030504030204" pitchFamily="34" charset="0"/>
            </a:endParaRPr>
          </a:p>
          <a:p>
            <a:pPr marL="457200" indent="-457200">
              <a:buFont typeface="+mj-lt"/>
              <a:buAutoNum type="arabicPeriod"/>
            </a:pPr>
            <a:endParaRPr lang="en-US" sz="1800" dirty="0">
              <a:latin typeface="Arial Rounded MT Bold" panose="020F0704030504030204" pitchFamily="34" charset="0"/>
            </a:endParaRPr>
          </a:p>
          <a:p>
            <a:pPr marL="457200" indent="-457200">
              <a:buFont typeface="+mj-lt"/>
              <a:buAutoNum type="arabicPeriod"/>
            </a:pPr>
            <a:endParaRPr lang="en-US" sz="1800" dirty="0">
              <a:latin typeface="Arial Rounded MT Bold" panose="020F07040305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FF0000"/>
                </a:solidFill>
                <a:latin typeface="Arial Rounded MT Bold" panose="020F0704030504030204" pitchFamily="34" charset="0"/>
              </a:rPr>
              <a:t> LIABILITIES</a:t>
            </a:r>
            <a:endParaRPr lang="en-US" dirty="0">
              <a:solidFill>
                <a:srgbClr val="FF0000"/>
              </a:solidFill>
              <a:latin typeface="Arial Rounded MT Bold" panose="020F0704030504030204" pitchFamily="34" charset="0"/>
            </a:endParaRPr>
          </a:p>
        </p:txBody>
      </p:sp>
      <p:sp>
        <p:nvSpPr>
          <p:cNvPr id="3" name="Content Placeholder 2"/>
          <p:cNvSpPr>
            <a:spLocks noGrp="1"/>
          </p:cNvSpPr>
          <p:nvPr>
            <p:ph idx="1"/>
          </p:nvPr>
        </p:nvSpPr>
        <p:spPr/>
        <p:txBody>
          <a:bodyPr/>
          <a:lstStyle/>
          <a:p>
            <a:r>
              <a:rPr lang="en-US" dirty="0" smtClean="0">
                <a:latin typeface="Arial Rounded MT Bold" panose="020F0704030504030204" pitchFamily="34" charset="0"/>
              </a:rPr>
              <a:t>ACCOUNT PAYABLE</a:t>
            </a:r>
            <a:endParaRPr lang="en-US" dirty="0" smtClean="0">
              <a:latin typeface="Arial Rounded MT Bold" panose="020F0704030504030204" pitchFamily="34" charset="0"/>
            </a:endParaRPr>
          </a:p>
          <a:p>
            <a:r>
              <a:rPr lang="en-US" dirty="0" smtClean="0">
                <a:latin typeface="Arial Rounded MT Bold" panose="020F0704030504030204" pitchFamily="34" charset="0"/>
              </a:rPr>
              <a:t>NOTE PAYABLE</a:t>
            </a:r>
            <a:endParaRPr lang="en-US" dirty="0" smtClean="0">
              <a:latin typeface="Arial Rounded MT Bold" panose="020F0704030504030204" pitchFamily="34" charset="0"/>
            </a:endParaRPr>
          </a:p>
          <a:p>
            <a:r>
              <a:rPr lang="en-US" dirty="0" smtClean="0">
                <a:latin typeface="Arial Rounded MT Bold" panose="020F0704030504030204" pitchFamily="34" charset="0"/>
              </a:rPr>
              <a:t>ACCRUED </a:t>
            </a:r>
            <a:r>
              <a:rPr lang="en-US" dirty="0" smtClean="0">
                <a:latin typeface="Arial Rounded MT Bold" panose="020F0704030504030204" pitchFamily="34" charset="0"/>
              </a:rPr>
              <a:t>LIABILITIES</a:t>
            </a:r>
            <a:endParaRPr lang="en-US" dirty="0" smtClean="0">
              <a:latin typeface="Arial Rounded MT Bold" panose="020F0704030504030204" pitchFamily="34" charset="0"/>
            </a:endParaRPr>
          </a:p>
          <a:p>
            <a:r>
              <a:rPr lang="en-US" dirty="0" smtClean="0">
                <a:latin typeface="Arial Rounded MT Bold" panose="020F0704030504030204" pitchFamily="34" charset="0"/>
              </a:rPr>
              <a:t>SALARY PAYABLE</a:t>
            </a:r>
            <a:endParaRPr lang="en-US" dirty="0" smtClean="0">
              <a:latin typeface="Arial Rounded MT Bold" panose="020F0704030504030204" pitchFamily="34" charset="0"/>
            </a:endParaRPr>
          </a:p>
          <a:p>
            <a:r>
              <a:rPr lang="en-US" dirty="0" smtClean="0">
                <a:latin typeface="Arial Rounded MT Bold" panose="020F0704030504030204" pitchFamily="34" charset="0"/>
              </a:rPr>
              <a:t>TAX PAYABLE</a:t>
            </a:r>
            <a:endParaRPr lang="en-US" dirty="0" smtClean="0">
              <a:latin typeface="Arial Rounded MT Bold" panose="020F0704030504030204" pitchFamily="34" charset="0"/>
            </a:endParaRPr>
          </a:p>
          <a:p>
            <a:r>
              <a:rPr lang="en-US" dirty="0" smtClean="0">
                <a:latin typeface="Arial Rounded MT Bold" panose="020F0704030504030204" pitchFamily="34" charset="0"/>
              </a:rPr>
              <a:t>INTEREST PAYABLE</a:t>
            </a:r>
            <a:endParaRPr lang="en-US" dirty="0" smtClean="0">
              <a:latin typeface="Arial Rounded MT Bold" panose="020F0704030504030204" pitchFamily="34" charset="0"/>
            </a:endParaRPr>
          </a:p>
          <a:p>
            <a:pPr marL="0" indent="0">
              <a:buNone/>
            </a:pPr>
            <a:endParaRPr lang="en-US" dirty="0" smtClean="0">
              <a:latin typeface="Arial Rounded MT Bold" panose="020F0704030504030204" pitchFamily="34" charset="0"/>
            </a:endParaRPr>
          </a:p>
          <a:p>
            <a:pPr marL="0" indent="0">
              <a:buNone/>
            </a:pPr>
            <a:endParaRPr lang="en-US" dirty="0" smtClean="0">
              <a:latin typeface="Arial Rounded MT Bold" panose="020F0704030504030204" pitchFamily="34" charset="0"/>
            </a:endParaRPr>
          </a:p>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826770"/>
          </a:xfrm>
        </p:spPr>
        <p:txBody>
          <a:bodyPr>
            <a:normAutofit/>
          </a:bodyPr>
          <a:p>
            <a:pPr algn="ctr"/>
            <a:r>
              <a:rPr lang="en-US" dirty="0" smtClean="0">
                <a:solidFill>
                  <a:srgbClr val="FF0000"/>
                </a:solidFill>
                <a:latin typeface="Arial Rounded MT Bold" panose="020F0704030504030204" pitchFamily="34" charset="0"/>
                <a:sym typeface="+mn-ea"/>
              </a:rPr>
              <a:t> LIABILITIES</a:t>
            </a:r>
            <a:endParaRPr lang="en-US"/>
          </a:p>
        </p:txBody>
      </p:sp>
      <p:sp>
        <p:nvSpPr>
          <p:cNvPr id="3" name="Content Placeholder 2"/>
          <p:cNvSpPr>
            <a:spLocks noGrp="1"/>
          </p:cNvSpPr>
          <p:nvPr>
            <p:ph idx="1"/>
          </p:nvPr>
        </p:nvSpPr>
        <p:spPr>
          <a:xfrm>
            <a:off x="838200" y="686435"/>
            <a:ext cx="10515600" cy="5490845"/>
          </a:xfrm>
        </p:spPr>
        <p:txBody>
          <a:bodyPr>
            <a:noAutofit/>
          </a:bodyPr>
          <a:p>
            <a:pPr marL="0" indent="0">
              <a:buNone/>
            </a:pPr>
            <a:r>
              <a:rPr lang="en-US" sz="1800" b="1"/>
              <a:t>1. Accounts Payable: </a:t>
            </a:r>
            <a:r>
              <a:rPr lang="en-US" sz="1800"/>
              <a:t>Money owed by the business to suppliers for goods or </a:t>
            </a:r>
            <a:endParaRPr lang="en-US" sz="1800"/>
          </a:p>
          <a:p>
            <a:pPr marL="0" indent="0">
              <a:buNone/>
            </a:pPr>
            <a:r>
              <a:rPr lang="en-US" sz="1800"/>
              <a:t>   services  received.</a:t>
            </a:r>
            <a:endParaRPr lang="en-US" sz="1800"/>
          </a:p>
          <a:p>
            <a:pPr marL="0" indent="0">
              <a:buNone/>
            </a:pPr>
            <a:r>
              <a:rPr lang="en-US" sz="1800" b="1"/>
              <a:t>2. Notes Payable:</a:t>
            </a:r>
            <a:r>
              <a:rPr lang="en-US" sz="1800"/>
              <a:t> Written promises to pay a certain amount of money at a future </a:t>
            </a:r>
            <a:endParaRPr lang="en-US" sz="1800"/>
          </a:p>
          <a:p>
            <a:pPr marL="0" indent="0">
              <a:buNone/>
            </a:pPr>
            <a:r>
              <a:rPr lang="en-US" sz="1800"/>
              <a:t>   date, often with interest.</a:t>
            </a:r>
            <a:endParaRPr lang="en-US" sz="1800"/>
          </a:p>
          <a:p>
            <a:pPr marL="0" indent="0">
              <a:buNone/>
            </a:pPr>
            <a:r>
              <a:rPr lang="en-US" sz="1800" b="1"/>
              <a:t>3. Accrued Expenses:</a:t>
            </a:r>
            <a:r>
              <a:rPr lang="en-US" sz="1800"/>
              <a:t> Expenses that have been incurred but not yet paid </a:t>
            </a:r>
            <a:endParaRPr lang="en-US" sz="1800"/>
          </a:p>
          <a:p>
            <a:pPr marL="0" indent="0">
              <a:buNone/>
            </a:pPr>
            <a:r>
              <a:rPr lang="en-US" sz="1800"/>
              <a:t>   (e.g., wages payable).</a:t>
            </a:r>
            <a:endParaRPr lang="en-US" sz="1800"/>
          </a:p>
          <a:p>
            <a:pPr marL="0" indent="0">
              <a:buNone/>
            </a:pPr>
            <a:r>
              <a:rPr lang="en-US" sz="1800" b="1"/>
              <a:t>4. Deferred Revenue:</a:t>
            </a:r>
            <a:r>
              <a:rPr lang="en-US" sz="1800"/>
              <a:t> Money received in advance for services or goods to be delivered </a:t>
            </a:r>
            <a:endParaRPr lang="en-US" sz="1800"/>
          </a:p>
          <a:p>
            <a:pPr marL="0" indent="0">
              <a:buNone/>
            </a:pPr>
            <a:r>
              <a:rPr lang="en-US" sz="1800"/>
              <a:t>   in the future.</a:t>
            </a:r>
            <a:endParaRPr lang="en-US" sz="1800"/>
          </a:p>
          <a:p>
            <a:pPr marL="0" indent="0">
              <a:buNone/>
            </a:pPr>
            <a:r>
              <a:rPr lang="en-US" sz="1800" b="1"/>
              <a:t>5. Long-term Debt:</a:t>
            </a:r>
            <a:r>
              <a:rPr lang="en-US" sz="1800"/>
              <a:t> Loans or bonds payable that are due in more than one year.</a:t>
            </a:r>
            <a:endParaRPr lang="en-US" sz="1800"/>
          </a:p>
          <a:p>
            <a:pPr marL="0" indent="0">
              <a:buNone/>
            </a:pPr>
            <a:r>
              <a:rPr lang="en-US" sz="1800" b="1"/>
              <a:t>6. Short-term Debt</a:t>
            </a:r>
            <a:r>
              <a:rPr lang="en-US" sz="1800"/>
              <a:t>: Loans or obligations that are due within one year.</a:t>
            </a:r>
            <a:endParaRPr lang="en-US" sz="1800"/>
          </a:p>
          <a:p>
            <a:pPr marL="0" indent="0">
              <a:buNone/>
            </a:pPr>
            <a:r>
              <a:rPr lang="en-US" sz="1800" b="1"/>
              <a:t>7. Mortgage Payable:</a:t>
            </a:r>
            <a:r>
              <a:rPr lang="en-US" sz="1800"/>
              <a:t> A loan secured by real estate, typically paid over a long term.</a:t>
            </a:r>
            <a:endParaRPr lang="en-US" sz="1800"/>
          </a:p>
          <a:p>
            <a:pPr marL="0" indent="0">
              <a:buNone/>
            </a:pPr>
            <a:r>
              <a:rPr lang="en-US" sz="1800" b="1"/>
              <a:t>8. Taxes Payable:</a:t>
            </a:r>
            <a:r>
              <a:rPr lang="en-US" sz="1800"/>
              <a:t> Taxes owed to the government that have not yet been paid.</a:t>
            </a:r>
            <a:endParaRPr lang="en-US" sz="1800"/>
          </a:p>
          <a:p>
            <a:pPr marL="0" indent="0">
              <a:buNone/>
            </a:pPr>
            <a:r>
              <a:rPr lang="en-US" sz="1800" b="1"/>
              <a:t>9. Lease Liabilities:</a:t>
            </a:r>
            <a:r>
              <a:rPr lang="en-US" sz="1800"/>
              <a:t> Obligations under lease agreements for the use of property</a:t>
            </a:r>
            <a:endParaRPr lang="en-US" sz="1800"/>
          </a:p>
          <a:p>
            <a:pPr marL="0" indent="0">
              <a:buNone/>
            </a:pPr>
            <a:r>
              <a:rPr lang="en-US" sz="1800"/>
              <a:t>    or equipment.</a:t>
            </a:r>
            <a:endParaRPr lang="en-US" sz="1800"/>
          </a:p>
          <a:p>
            <a:pPr marL="0" indent="0">
              <a:buNone/>
            </a:pPr>
            <a:r>
              <a:rPr lang="en-US" sz="1800" b="1"/>
              <a:t>10. Warranty Liabilities:</a:t>
            </a:r>
            <a:r>
              <a:rPr lang="en-US" sz="1800"/>
              <a:t> Estimated costs associated with warranty claims on product sold</a:t>
            </a:r>
            <a:endParaRPr 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FF0000"/>
                </a:solidFill>
                <a:latin typeface="Arial Rounded MT Bold" panose="020F0704030504030204" pitchFamily="34" charset="0"/>
              </a:rPr>
              <a:t>OWNER’S EQUITY</a:t>
            </a:r>
            <a:endParaRPr lang="en-US" dirty="0">
              <a:solidFill>
                <a:srgbClr val="FF0000"/>
              </a:solidFill>
              <a:latin typeface="Arial Rounded MT Bold" panose="020F0704030504030204" pitchFamily="34" charset="0"/>
            </a:endParaRPr>
          </a:p>
        </p:txBody>
      </p:sp>
      <p:sp>
        <p:nvSpPr>
          <p:cNvPr id="3" name="Content Placeholder 2"/>
          <p:cNvSpPr>
            <a:spLocks noGrp="1"/>
          </p:cNvSpPr>
          <p:nvPr>
            <p:ph idx="1"/>
          </p:nvPr>
        </p:nvSpPr>
        <p:spPr/>
        <p:txBody>
          <a:bodyPr>
            <a:normAutofit/>
          </a:bodyPr>
          <a:lstStyle/>
          <a:p>
            <a:r>
              <a:rPr lang="en-US" sz="3200" dirty="0" smtClean="0">
                <a:latin typeface="Arial Rounded MT Bold" panose="020F0704030504030204" pitchFamily="34" charset="0"/>
              </a:rPr>
              <a:t>CAPITAL</a:t>
            </a:r>
            <a:endParaRPr lang="en-US" sz="3200" dirty="0" smtClean="0">
              <a:latin typeface="Arial Rounded MT Bold" panose="020F0704030504030204" pitchFamily="34" charset="0"/>
            </a:endParaRPr>
          </a:p>
          <a:p>
            <a:r>
              <a:rPr lang="en-US" sz="3200" dirty="0" smtClean="0">
                <a:latin typeface="Arial Rounded MT Bold" panose="020F0704030504030204" pitchFamily="34" charset="0"/>
              </a:rPr>
              <a:t>DRAWING</a:t>
            </a:r>
            <a:endParaRPr lang="en-US" sz="3200" dirty="0" smtClean="0">
              <a:latin typeface="Arial Rounded MT Bold" panose="020F0704030504030204" pitchFamily="34" charset="0"/>
            </a:endParaRPr>
          </a:p>
          <a:p>
            <a:r>
              <a:rPr lang="en-US" sz="3200" dirty="0" smtClean="0">
                <a:latin typeface="Arial Rounded MT Bold" panose="020F0704030504030204" pitchFamily="34" charset="0"/>
              </a:rPr>
              <a:t>REVENUE</a:t>
            </a:r>
            <a:endParaRPr lang="en-US" sz="3200" dirty="0" smtClean="0">
              <a:latin typeface="Arial Rounded MT Bold" panose="020F0704030504030204" pitchFamily="34" charset="0"/>
            </a:endParaRPr>
          </a:p>
          <a:p>
            <a:r>
              <a:rPr lang="en-US" sz="3200" dirty="0" smtClean="0">
                <a:latin typeface="Arial Rounded MT Bold" panose="020F0704030504030204" pitchFamily="34" charset="0"/>
              </a:rPr>
              <a:t>EXPENSES</a:t>
            </a:r>
            <a:endParaRPr lang="en-US" sz="3200" dirty="0">
              <a:latin typeface="Arial Rounded MT Bold" panose="020F07040305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dirty="0" smtClean="0">
                <a:solidFill>
                  <a:srgbClr val="FF0000"/>
                </a:solidFill>
                <a:latin typeface="Arial Rounded MT Bold" panose="020F0704030504030204" pitchFamily="34" charset="0"/>
                <a:sym typeface="+mn-ea"/>
              </a:rPr>
              <a:t>OWNER’S EQUITY</a:t>
            </a:r>
            <a:br>
              <a:rPr lang="en-US" dirty="0">
                <a:solidFill>
                  <a:srgbClr val="FF0000"/>
                </a:solidFill>
                <a:latin typeface="Arial Rounded MT Bold" panose="020F0704030504030204" pitchFamily="34" charset="0"/>
              </a:rPr>
            </a:br>
            <a:endParaRPr lang="en-US"/>
          </a:p>
        </p:txBody>
      </p:sp>
      <p:sp>
        <p:nvSpPr>
          <p:cNvPr id="3" name="Content Placeholder 2"/>
          <p:cNvSpPr>
            <a:spLocks noGrp="1"/>
          </p:cNvSpPr>
          <p:nvPr>
            <p:ph idx="1"/>
          </p:nvPr>
        </p:nvSpPr>
        <p:spPr>
          <a:xfrm>
            <a:off x="838200" y="1226185"/>
            <a:ext cx="10515600" cy="4951095"/>
          </a:xfrm>
        </p:spPr>
        <p:txBody>
          <a:bodyPr>
            <a:noAutofit/>
          </a:bodyPr>
          <a:p>
            <a:pPr marL="0" indent="0">
              <a:buNone/>
            </a:pPr>
            <a:r>
              <a:rPr lang="en-US" sz="2300" b="1"/>
              <a:t>1. Common Stock:</a:t>
            </a:r>
            <a:r>
              <a:rPr lang="en-US" sz="2300"/>
              <a:t> Equity capital raised by issuing </a:t>
            </a:r>
            <a:endParaRPr lang="en-US" sz="2300"/>
          </a:p>
          <a:p>
            <a:pPr marL="0" indent="0">
              <a:buNone/>
            </a:pPr>
            <a:r>
              <a:rPr lang="en-US" sz="2300"/>
              <a:t>    shares to investors.</a:t>
            </a:r>
            <a:endParaRPr lang="en-US" sz="2300"/>
          </a:p>
          <a:p>
            <a:pPr marL="0" indent="0">
              <a:buNone/>
            </a:pPr>
            <a:endParaRPr lang="en-US" sz="2300"/>
          </a:p>
          <a:p>
            <a:pPr marL="0" indent="0">
              <a:buNone/>
            </a:pPr>
            <a:r>
              <a:rPr lang="en-US" sz="2300" b="1"/>
              <a:t>2.Retained Earnings:</a:t>
            </a:r>
            <a:r>
              <a:rPr lang="en-US" sz="2300"/>
              <a:t> Profits that have been reinvested   </a:t>
            </a:r>
            <a:endParaRPr lang="en-US" sz="2300"/>
          </a:p>
          <a:p>
            <a:pPr marL="0" indent="0">
              <a:buNone/>
            </a:pPr>
            <a:r>
              <a:rPr lang="en-US" sz="2300"/>
              <a:t>    in the business rather than distributed as dividends.</a:t>
            </a:r>
            <a:endParaRPr lang="en-US" sz="2300"/>
          </a:p>
          <a:p>
            <a:pPr marL="0" indent="0">
              <a:buNone/>
            </a:pPr>
            <a:endParaRPr lang="en-US" sz="2300"/>
          </a:p>
          <a:p>
            <a:pPr marL="0" indent="0">
              <a:buNone/>
            </a:pPr>
            <a:r>
              <a:rPr lang="en-US" sz="2300" b="1"/>
              <a:t>3. Additional Paid-in Capital:</a:t>
            </a:r>
            <a:r>
              <a:rPr lang="en-US" sz="2300"/>
              <a:t> Money received from </a:t>
            </a:r>
            <a:endParaRPr lang="en-US" sz="2300"/>
          </a:p>
          <a:p>
            <a:pPr marL="0" indent="0">
              <a:buNone/>
            </a:pPr>
            <a:r>
              <a:rPr lang="en-US" sz="2300"/>
              <a:t>    shareholders above the par value of the stock.</a:t>
            </a:r>
            <a:endParaRPr lang="en-US" sz="2300"/>
          </a:p>
          <a:p>
            <a:pPr marL="0" indent="0">
              <a:buNone/>
            </a:pPr>
            <a:endParaRPr lang="en-US" sz="2300"/>
          </a:p>
          <a:p>
            <a:pPr marL="0" indent="0">
              <a:buNone/>
            </a:pPr>
            <a:r>
              <a:rPr lang="en-US" sz="2300" b="1"/>
              <a:t>4. Treasury Stock:</a:t>
            </a:r>
            <a:r>
              <a:rPr lang="en-US" sz="2300"/>
              <a:t> Shares that were repurchased by the company </a:t>
            </a:r>
            <a:endParaRPr lang="en-US" sz="2300"/>
          </a:p>
          <a:p>
            <a:pPr marL="0" indent="0">
              <a:buNone/>
            </a:pPr>
            <a:r>
              <a:rPr lang="en-US" sz="2300"/>
              <a:t>    and are held in its treasury.</a:t>
            </a:r>
            <a:endParaRPr lang="en-US" sz="23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62965"/>
          </a:xfrm>
        </p:spPr>
        <p:txBody>
          <a:bodyPr>
            <a:normAutofit/>
          </a:bodyPr>
          <a:p>
            <a:pPr algn="ctr"/>
            <a:r>
              <a:rPr lang="en-US">
                <a:solidFill>
                  <a:srgbClr val="FF0000"/>
                </a:solidFill>
              </a:rPr>
              <a:t>REVENUE</a:t>
            </a:r>
            <a:endParaRPr lang="en-US">
              <a:solidFill>
                <a:srgbClr val="FF0000"/>
              </a:solidFill>
            </a:endParaRPr>
          </a:p>
        </p:txBody>
      </p:sp>
      <p:sp>
        <p:nvSpPr>
          <p:cNvPr id="3" name="Content Placeholder 2"/>
          <p:cNvSpPr>
            <a:spLocks noGrp="1"/>
          </p:cNvSpPr>
          <p:nvPr>
            <p:ph idx="1"/>
          </p:nvPr>
        </p:nvSpPr>
        <p:spPr>
          <a:xfrm>
            <a:off x="838200" y="2199005"/>
            <a:ext cx="10515600" cy="4412615"/>
          </a:xfrm>
        </p:spPr>
        <p:txBody>
          <a:bodyPr>
            <a:noAutofit/>
          </a:bodyPr>
          <a:p>
            <a:pPr marL="0" indent="0">
              <a:lnSpc>
                <a:spcPct val="100000"/>
              </a:lnSpc>
              <a:buNone/>
            </a:pPr>
            <a:r>
              <a:rPr lang="en-US" sz="2000" b="1"/>
              <a:t>1. Sales Revenue:</a:t>
            </a:r>
            <a:r>
              <a:rPr lang="en-US" sz="2000"/>
              <a:t> Income generated from selling goods or services.</a:t>
            </a:r>
            <a:endParaRPr lang="en-US" sz="2000"/>
          </a:p>
          <a:p>
            <a:pPr marL="0" indent="0">
              <a:lnSpc>
                <a:spcPct val="100000"/>
              </a:lnSpc>
              <a:buNone/>
            </a:pPr>
            <a:r>
              <a:rPr lang="en-US" sz="2000" b="1"/>
              <a:t>2.Service Revenue:</a:t>
            </a:r>
            <a:r>
              <a:rPr lang="en-US" sz="2000"/>
              <a:t> Income earned from providing services to customers.</a:t>
            </a:r>
            <a:endParaRPr lang="en-US" sz="2000"/>
          </a:p>
          <a:p>
            <a:pPr marL="0" indent="0">
              <a:lnSpc>
                <a:spcPct val="100000"/>
              </a:lnSpc>
              <a:buNone/>
            </a:pPr>
            <a:r>
              <a:rPr lang="en-US" sz="2000" b="1"/>
              <a:t>3.Interest Income:</a:t>
            </a:r>
            <a:r>
              <a:rPr lang="en-US" sz="2000"/>
              <a:t> Earnings from interest on investments or loans.</a:t>
            </a:r>
            <a:endParaRPr lang="en-US" sz="2000"/>
          </a:p>
          <a:p>
            <a:pPr marL="0" indent="0">
              <a:lnSpc>
                <a:spcPct val="100000"/>
              </a:lnSpc>
              <a:buNone/>
            </a:pPr>
            <a:r>
              <a:rPr lang="en-US" sz="2000" b="1"/>
              <a:t>4.Rental Income: </a:t>
            </a:r>
            <a:r>
              <a:rPr lang="en-US" sz="2000"/>
              <a:t>Revenue earned from leasing property or equipment.</a:t>
            </a:r>
            <a:endParaRPr lang="en-US" sz="2000"/>
          </a:p>
          <a:p>
            <a:pPr marL="0" indent="0">
              <a:lnSpc>
                <a:spcPct val="100000"/>
              </a:lnSpc>
              <a:buNone/>
            </a:pPr>
            <a:r>
              <a:rPr lang="en-US" sz="2000" b="1"/>
              <a:t>5.Commission Revenue:</a:t>
            </a:r>
            <a:r>
              <a:rPr lang="en-US" sz="2000"/>
              <a:t> Income earned from commissions on sales </a:t>
            </a:r>
            <a:endParaRPr lang="en-US" sz="2000"/>
          </a:p>
          <a:p>
            <a:pPr marL="0" indent="0">
              <a:lnSpc>
                <a:spcPct val="100000"/>
              </a:lnSpc>
              <a:buNone/>
            </a:pPr>
            <a:r>
              <a:rPr lang="en-US" sz="2000"/>
              <a:t>   made on behalf of others.</a:t>
            </a:r>
            <a:endParaRPr lang="en-US" sz="2000"/>
          </a:p>
          <a:p>
            <a:pPr marL="0" indent="0">
              <a:lnSpc>
                <a:spcPct val="100000"/>
              </a:lnSpc>
              <a:buNone/>
            </a:pPr>
            <a:r>
              <a:rPr lang="en-US" sz="2000" b="1"/>
              <a:t>6.Royalties:</a:t>
            </a:r>
            <a:r>
              <a:rPr lang="en-US" sz="2000"/>
              <a:t> Income received from licensing agreements for the use of </a:t>
            </a:r>
            <a:endParaRPr lang="en-US" sz="2000"/>
          </a:p>
          <a:p>
            <a:pPr marL="0" indent="0">
              <a:lnSpc>
                <a:spcPct val="100000"/>
              </a:lnSpc>
              <a:buNone/>
            </a:pPr>
            <a:r>
              <a:rPr lang="en-US" sz="2000"/>
              <a:t>    intellectual property.</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53670"/>
            <a:ext cx="10515600" cy="637540"/>
          </a:xfrm>
        </p:spPr>
        <p:txBody>
          <a:bodyPr>
            <a:normAutofit fontScale="90000"/>
          </a:bodyPr>
          <a:p>
            <a:pPr algn="ctr"/>
            <a:r>
              <a:rPr lang="en-US">
                <a:solidFill>
                  <a:srgbClr val="FF0000"/>
                </a:solidFill>
              </a:rPr>
              <a:t>EXPENCES</a:t>
            </a:r>
            <a:endParaRPr lang="en-US">
              <a:solidFill>
                <a:srgbClr val="FF0000"/>
              </a:solidFill>
            </a:endParaRPr>
          </a:p>
        </p:txBody>
      </p:sp>
      <p:sp>
        <p:nvSpPr>
          <p:cNvPr id="3" name="Content Placeholder 2"/>
          <p:cNvSpPr>
            <a:spLocks noGrp="1"/>
          </p:cNvSpPr>
          <p:nvPr>
            <p:ph idx="1"/>
          </p:nvPr>
        </p:nvSpPr>
        <p:spPr>
          <a:xfrm>
            <a:off x="838200" y="1032510"/>
            <a:ext cx="10515600" cy="5144770"/>
          </a:xfrm>
        </p:spPr>
        <p:txBody>
          <a:bodyPr>
            <a:noAutofit/>
          </a:bodyPr>
          <a:p>
            <a:pPr marL="0" indent="0">
              <a:buNone/>
            </a:pPr>
            <a:r>
              <a:rPr lang="en-US" sz="1800" b="1"/>
              <a:t>1. Cost of Goods Sold (COGS):</a:t>
            </a:r>
            <a:r>
              <a:rPr lang="en-US" sz="1800"/>
              <a:t> Direct costs attributable to the production of goods</a:t>
            </a:r>
            <a:endParaRPr lang="en-US" sz="1800"/>
          </a:p>
          <a:p>
            <a:pPr marL="0" indent="0">
              <a:buNone/>
            </a:pPr>
            <a:r>
              <a:rPr lang="en-US" sz="1800"/>
              <a:t>    sold by the company.</a:t>
            </a:r>
            <a:endParaRPr lang="en-US" sz="1800"/>
          </a:p>
          <a:p>
            <a:pPr marL="0" indent="0">
              <a:buNone/>
            </a:pPr>
            <a:r>
              <a:rPr lang="en-US" sz="1800" b="1"/>
              <a:t>2. Salaries and Wages:</a:t>
            </a:r>
            <a:r>
              <a:rPr lang="en-US" sz="1800"/>
              <a:t> Payments made to employees for their work.</a:t>
            </a:r>
            <a:endParaRPr lang="en-US" sz="1800"/>
          </a:p>
          <a:p>
            <a:pPr marL="0" indent="0">
              <a:buNone/>
            </a:pPr>
            <a:r>
              <a:rPr lang="en-US" sz="1800" b="1"/>
              <a:t>3. Rent Expense:</a:t>
            </a:r>
            <a:r>
              <a:rPr lang="en-US" sz="1800"/>
              <a:t> Costs incurred for renting office or retail space.</a:t>
            </a:r>
            <a:endParaRPr lang="en-US" sz="1800"/>
          </a:p>
          <a:p>
            <a:pPr marL="0" indent="0">
              <a:buNone/>
            </a:pPr>
            <a:r>
              <a:rPr lang="en-US" sz="1800" b="1"/>
              <a:t>4. Utilities Expense:</a:t>
            </a:r>
            <a:r>
              <a:rPr lang="en-US" sz="1800"/>
              <a:t> Costs for services such as electricity, water, and gas.</a:t>
            </a:r>
            <a:endParaRPr lang="en-US" sz="1800"/>
          </a:p>
          <a:p>
            <a:pPr marL="0" indent="0">
              <a:buNone/>
            </a:pPr>
            <a:r>
              <a:rPr lang="en-US" sz="1800" b="1"/>
              <a:t>5. Depreciation Expenses:</a:t>
            </a:r>
            <a:r>
              <a:rPr lang="en-US" sz="1800"/>
              <a:t> The allocation of the cost of tangible assets over their</a:t>
            </a:r>
            <a:endParaRPr lang="en-US" sz="1800"/>
          </a:p>
          <a:p>
            <a:pPr marL="0" indent="0">
              <a:buNone/>
            </a:pPr>
            <a:r>
              <a:rPr lang="en-US" sz="1800"/>
              <a:t>     useful lives.</a:t>
            </a:r>
            <a:endParaRPr lang="en-US" sz="1800"/>
          </a:p>
          <a:p>
            <a:pPr marL="0" indent="0">
              <a:buNone/>
            </a:pPr>
            <a:r>
              <a:rPr lang="en-US" sz="1800" b="1"/>
              <a:t>6. Advertising Expense:</a:t>
            </a:r>
            <a:r>
              <a:rPr lang="en-US" sz="1800"/>
              <a:t> Costs associated with promoting the business and its products </a:t>
            </a:r>
            <a:endParaRPr lang="en-US" sz="1800"/>
          </a:p>
          <a:p>
            <a:pPr marL="0" indent="0">
              <a:buNone/>
            </a:pPr>
            <a:r>
              <a:rPr lang="en-US" sz="1800"/>
              <a:t>    or services.</a:t>
            </a:r>
            <a:endParaRPr lang="en-US" sz="1800"/>
          </a:p>
          <a:p>
            <a:pPr marL="0" indent="0">
              <a:buNone/>
            </a:pPr>
            <a:r>
              <a:rPr lang="en-US" sz="1800" b="1"/>
              <a:t>7. Insurance Expense:</a:t>
            </a:r>
            <a:r>
              <a:rPr lang="en-US" sz="1800"/>
              <a:t> Premiums paid for various types of insurance coverage.</a:t>
            </a:r>
            <a:endParaRPr lang="en-US" sz="1800"/>
          </a:p>
          <a:p>
            <a:pPr marL="0" indent="0">
              <a:buNone/>
            </a:pPr>
            <a:r>
              <a:rPr lang="en-US" sz="1800" b="1"/>
              <a:t>8. Interest Expense:</a:t>
            </a:r>
            <a:r>
              <a:rPr lang="en-US" sz="1800"/>
              <a:t> Costs incurred from borrowing money.</a:t>
            </a:r>
            <a:endParaRPr lang="en-US" sz="1800"/>
          </a:p>
          <a:p>
            <a:pPr marL="0" indent="0">
              <a:buNone/>
            </a:pPr>
            <a:r>
              <a:rPr lang="en-US" sz="1800" b="1"/>
              <a:t>9. Office Supplies Expense:</a:t>
            </a:r>
            <a:r>
              <a:rPr lang="en-US" sz="1800"/>
              <a:t> Costs for supplies used in daily operations.</a:t>
            </a:r>
            <a:endParaRPr lang="en-US" sz="1800"/>
          </a:p>
          <a:p>
            <a:pPr marL="0" indent="0">
              <a:buNone/>
            </a:pPr>
            <a:r>
              <a:rPr lang="en-US" sz="1800" b="1"/>
              <a:t>10. Professional Fees:</a:t>
            </a:r>
            <a:r>
              <a:rPr lang="en-US" sz="1800"/>
              <a:t> Payments made for services provided by professionals, such as </a:t>
            </a:r>
            <a:endParaRPr lang="en-US" sz="1800"/>
          </a:p>
          <a:p>
            <a:pPr marL="0" indent="0">
              <a:buNone/>
            </a:pPr>
            <a:r>
              <a:rPr lang="en-US" sz="1800"/>
              <a:t>       accountants  or consultants.</a:t>
            </a:r>
            <a:endParaRPr 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latin typeface="Arial Rounded MT Bold" panose="020F0704030504030204" pitchFamily="34" charset="0"/>
              </a:rPr>
              <a:t>ASSIGNMENT 3</a:t>
            </a:r>
            <a:endParaRPr lang="en-US" dirty="0">
              <a:latin typeface="Arial Rounded MT Bold" panose="020F0704030504030204" pitchFamily="34" charset="0"/>
            </a:endParaRPr>
          </a:p>
        </p:txBody>
      </p:sp>
      <p:sp>
        <p:nvSpPr>
          <p:cNvPr id="3" name="Content Placeholder 2"/>
          <p:cNvSpPr>
            <a:spLocks noGrp="1"/>
          </p:cNvSpPr>
          <p:nvPr>
            <p:ph idx="1"/>
          </p:nvPr>
        </p:nvSpPr>
        <p:spPr/>
        <p:txBody>
          <a:bodyPr/>
          <a:lstStyle/>
          <a:p>
            <a:pPr marL="0" indent="0" algn="just">
              <a:buNone/>
            </a:pPr>
            <a:r>
              <a:rPr lang="en-US" dirty="0" smtClean="0"/>
              <a:t> </a:t>
            </a:r>
            <a:r>
              <a:rPr lang="en-US" dirty="0">
                <a:latin typeface="Arial Rounded MT Bold" panose="020F0704030504030204" pitchFamily="34" charset="0"/>
              </a:rPr>
              <a:t>FIND </a:t>
            </a:r>
            <a:r>
              <a:rPr lang="en-US" dirty="0" smtClean="0">
                <a:latin typeface="Arial Rounded MT Bold" panose="020F0704030504030204" pitchFamily="34" charset="0"/>
              </a:rPr>
              <a:t>THE </a:t>
            </a:r>
            <a:r>
              <a:rPr lang="en-US" dirty="0">
                <a:latin typeface="Arial Rounded MT Bold" panose="020F0704030504030204" pitchFamily="34" charset="0"/>
              </a:rPr>
              <a:t>DEFINITION OF EACH OF THE ABOVE ACCOUNTS (MAXIMUM </a:t>
            </a:r>
            <a:r>
              <a:rPr lang="en-US" dirty="0" smtClean="0">
                <a:latin typeface="Arial Rounded MT Bold" panose="020F0704030504030204" pitchFamily="34" charset="0"/>
              </a:rPr>
              <a:t>5 LINES </a:t>
            </a:r>
            <a:r>
              <a:rPr lang="en-US" dirty="0">
                <a:latin typeface="Arial Rounded MT Bold" panose="020F0704030504030204" pitchFamily="34" charset="0"/>
              </a:rPr>
              <a:t>FOR EACH</a:t>
            </a:r>
            <a:r>
              <a:rPr lang="en-US" dirty="0" smtClean="0">
                <a:latin typeface="Arial Rounded MT Bold" panose="020F0704030504030204" pitchFamily="34" charset="0"/>
              </a:rPr>
              <a:t>).</a:t>
            </a:r>
            <a:endParaRPr lang="en-US" dirty="0" smtClean="0">
              <a:latin typeface="Arial Rounded MT Bold" panose="020F0704030504030204" pitchFamily="34" charset="0"/>
            </a:endParaRPr>
          </a:p>
          <a:p>
            <a:pPr marL="0" indent="0" algn="just">
              <a:buNone/>
            </a:pPr>
            <a:endParaRPr lang="en-US" dirty="0">
              <a:latin typeface="Arial Rounded MT Bold" panose="020F0704030504030204" pitchFamily="34" charset="0"/>
            </a:endParaRPr>
          </a:p>
          <a:p>
            <a:pPr marL="0" indent="0" algn="just">
              <a:buNone/>
            </a:pPr>
            <a:r>
              <a:rPr lang="en-US" dirty="0" smtClean="0">
                <a:latin typeface="Arial Rounded MT Bold" panose="020F0704030504030204" pitchFamily="34" charset="0"/>
              </a:rPr>
              <a:t>USE THE BOOKS SENT TO YOU.</a:t>
            </a:r>
            <a:endParaRPr lang="en-US" dirty="0" smtClean="0">
              <a:latin typeface="Arial Rounded MT Bold" panose="020F0704030504030204" pitchFamily="34" charset="0"/>
            </a:endParaRPr>
          </a:p>
          <a:p>
            <a:pPr marL="0" indent="0" algn="just">
              <a:buNone/>
            </a:pPr>
            <a:endParaRPr lang="en-US" dirty="0">
              <a:latin typeface="Arial Rounded MT Bold" panose="020F0704030504030204" pitchFamily="34" charset="0"/>
            </a:endParaRPr>
          </a:p>
          <a:p>
            <a:pPr marL="0" indent="0" algn="just">
              <a:buNone/>
            </a:pPr>
            <a:r>
              <a:rPr lang="en-US" dirty="0" smtClean="0">
                <a:solidFill>
                  <a:srgbClr val="FF0000"/>
                </a:solidFill>
                <a:latin typeface="Arial Rounded MT Bold" panose="020F0704030504030204" pitchFamily="34" charset="0"/>
              </a:rPr>
              <a:t>Note : This is individual assignment and clear hand writing is required.</a:t>
            </a:r>
            <a:endParaRPr lang="en-US" dirty="0">
              <a:solidFill>
                <a:srgbClr val="FF0000"/>
              </a:solidFill>
              <a:latin typeface="Arial Rounded MT Bold" panose="020F07040305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7205"/>
            <a:ext cx="10515600" cy="633984"/>
          </a:xfrm>
        </p:spPr>
        <p:txBody>
          <a:bodyPr>
            <a:normAutofit/>
          </a:bodyPr>
          <a:lstStyle/>
          <a:p>
            <a:pPr algn="ctr"/>
            <a:r>
              <a:rPr lang="en-US" sz="3000" b="1" dirty="0" smtClean="0">
                <a:solidFill>
                  <a:srgbClr val="FF0000"/>
                </a:solidFill>
                <a:latin typeface="Arial Rounded MT Bold" panose="020F0704030504030204" pitchFamily="34" charset="0"/>
              </a:rPr>
              <a:t>TYPES OF ACCOUNTS</a:t>
            </a:r>
            <a:endParaRPr lang="en-US" sz="3000" b="1" dirty="0">
              <a:solidFill>
                <a:srgbClr val="FF0000"/>
              </a:solidFill>
              <a:latin typeface="Arial Rounded MT Bold" panose="020F0704030504030204" pitchFamily="34" charset="0"/>
            </a:endParaRPr>
          </a:p>
        </p:txBody>
      </p:sp>
      <p:sp>
        <p:nvSpPr>
          <p:cNvPr id="3" name="Content Placeholder 2"/>
          <p:cNvSpPr>
            <a:spLocks noGrp="1"/>
          </p:cNvSpPr>
          <p:nvPr>
            <p:ph idx="1"/>
          </p:nvPr>
        </p:nvSpPr>
        <p:spPr>
          <a:xfrm>
            <a:off x="134113" y="439432"/>
            <a:ext cx="12057887" cy="3276534"/>
          </a:xfrm>
        </p:spPr>
        <p:txBody>
          <a:bodyPr>
            <a:normAutofit/>
          </a:bodyPr>
          <a:lstStyle/>
          <a:p>
            <a:pPr marL="0" indent="0">
              <a:buNone/>
            </a:pPr>
            <a:endParaRPr lang="en-US" sz="2600" dirty="0">
              <a:latin typeface="Arial Rounded MT Bold" panose="020F0704030504030204" pitchFamily="34" charset="0"/>
            </a:endParaRPr>
          </a:p>
          <a:p>
            <a:pPr marL="0" indent="0">
              <a:buNone/>
            </a:pPr>
            <a:r>
              <a:rPr lang="en-US" sz="4000" dirty="0" smtClean="0">
                <a:solidFill>
                  <a:srgbClr val="FF0000"/>
                </a:solidFill>
                <a:latin typeface="Arial Rounded MT Bold" panose="020F0704030504030204" pitchFamily="34" charset="0"/>
              </a:rPr>
              <a:t>2.2</a:t>
            </a:r>
            <a:endParaRPr lang="en-US" sz="4000" dirty="0" smtClean="0">
              <a:solidFill>
                <a:srgbClr val="FF0000"/>
              </a:solidFill>
              <a:latin typeface="Arial Rounded MT Bold" panose="020F0704030504030204" pitchFamily="34" charset="0"/>
            </a:endParaRPr>
          </a:p>
          <a:p>
            <a:pPr marL="0" indent="0">
              <a:buNone/>
            </a:pPr>
            <a:r>
              <a:rPr lang="en-US" sz="2600" dirty="0" smtClean="0">
                <a:latin typeface="Arial Rounded MT Bold" panose="020F0704030504030204" pitchFamily="34" charset="0"/>
              </a:rPr>
              <a:t>The </a:t>
            </a:r>
            <a:r>
              <a:rPr lang="en-US" sz="2600" dirty="0">
                <a:latin typeface="Arial Rounded MT Bold" panose="020F0704030504030204" pitchFamily="34" charset="0"/>
              </a:rPr>
              <a:t>Institute of Cost Accountants of India (ICAI</a:t>
            </a:r>
            <a:r>
              <a:rPr lang="en-US" sz="2600" dirty="0" smtClean="0">
                <a:latin typeface="Arial Rounded MT Bold" panose="020F0704030504030204" pitchFamily="34" charset="0"/>
              </a:rPr>
              <a:t>),2014 categorized accounts as follow</a:t>
            </a:r>
            <a:endParaRPr lang="en-US" sz="2600" dirty="0">
              <a:latin typeface="Arial Rounded MT Bold" panose="020F0704030504030204" pitchFamily="34" charset="0"/>
            </a:endParaRPr>
          </a:p>
          <a:p>
            <a:pPr>
              <a:buFont typeface="Wingdings" panose="05000000000000000000" pitchFamily="2" charset="2"/>
              <a:buChar char="ü"/>
            </a:pPr>
            <a:r>
              <a:rPr lang="en-US" sz="2000" dirty="0" smtClean="0">
                <a:latin typeface="Arial Rounded MT Bold" panose="020F0704030504030204" pitchFamily="34" charset="0"/>
              </a:rPr>
              <a:t> PERSONAL ACCOUNTS</a:t>
            </a:r>
            <a:endParaRPr lang="en-US" sz="2000" dirty="0" smtClean="0">
              <a:latin typeface="Arial Rounded MT Bold" panose="020F0704030504030204" pitchFamily="34" charset="0"/>
            </a:endParaRPr>
          </a:p>
          <a:p>
            <a:pPr>
              <a:buFont typeface="Wingdings" panose="05000000000000000000" pitchFamily="2" charset="2"/>
              <a:buChar char="ü"/>
            </a:pPr>
            <a:r>
              <a:rPr lang="en-US" sz="2000" dirty="0">
                <a:latin typeface="Arial Rounded MT Bold" panose="020F0704030504030204" pitchFamily="34" charset="0"/>
              </a:rPr>
              <a:t> </a:t>
            </a:r>
            <a:r>
              <a:rPr lang="en-US" sz="2000" dirty="0" smtClean="0">
                <a:latin typeface="Arial Rounded MT Bold" panose="020F0704030504030204" pitchFamily="34" charset="0"/>
              </a:rPr>
              <a:t>REAL ACCOUNTS</a:t>
            </a:r>
            <a:endParaRPr lang="en-US" sz="2000" dirty="0" smtClean="0">
              <a:latin typeface="Arial Rounded MT Bold" panose="020F0704030504030204" pitchFamily="34" charset="0"/>
            </a:endParaRPr>
          </a:p>
          <a:p>
            <a:pPr>
              <a:buFont typeface="Wingdings" panose="05000000000000000000" pitchFamily="2" charset="2"/>
              <a:buChar char="ü"/>
            </a:pPr>
            <a:r>
              <a:rPr lang="en-US" sz="2000" dirty="0">
                <a:latin typeface="Arial Rounded MT Bold" panose="020F0704030504030204" pitchFamily="34" charset="0"/>
              </a:rPr>
              <a:t> </a:t>
            </a:r>
            <a:r>
              <a:rPr lang="en-US" sz="2000" dirty="0" smtClean="0">
                <a:latin typeface="Arial Rounded MT Bold" panose="020F0704030504030204" pitchFamily="34" charset="0"/>
              </a:rPr>
              <a:t>NOMINAL ACCOUNTS</a:t>
            </a:r>
            <a:endParaRPr lang="en-US" sz="2000" dirty="0">
              <a:latin typeface="Arial Rounded MT Bold" panose="020F0704030504030204" pitchFamily="34" charset="0"/>
            </a:endParaRPr>
          </a:p>
        </p:txBody>
      </p:sp>
      <p:pic>
        <p:nvPicPr>
          <p:cNvPr id="4" name="Picture 3"/>
          <p:cNvPicPr>
            <a:picLocks noChangeAspect="1"/>
          </p:cNvPicPr>
          <p:nvPr/>
        </p:nvPicPr>
        <p:blipFill>
          <a:blip r:embed="rId1"/>
          <a:stretch>
            <a:fillRect/>
          </a:stretch>
        </p:blipFill>
        <p:spPr>
          <a:xfrm>
            <a:off x="134113" y="3608961"/>
            <a:ext cx="12057887" cy="320198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770965"/>
          </a:xfrm>
        </p:spPr>
        <p:txBody>
          <a:bodyPr/>
          <a:lstStyle/>
          <a:p>
            <a:pPr algn="ctr"/>
            <a:r>
              <a:rPr lang="en-US" dirty="0" smtClean="0">
                <a:solidFill>
                  <a:srgbClr val="FF0000"/>
                </a:solidFill>
                <a:latin typeface="Arial Rounded MT Bold" panose="020F0704030504030204" pitchFamily="34" charset="0"/>
              </a:rPr>
              <a:t>Personal Accounts</a:t>
            </a:r>
            <a:endParaRPr lang="en-US" dirty="0">
              <a:solidFill>
                <a:srgbClr val="FF0000"/>
              </a:solidFill>
              <a:latin typeface="Arial Rounded MT Bold" panose="020F0704030504030204" pitchFamily="34" charset="0"/>
            </a:endParaRPr>
          </a:p>
        </p:txBody>
      </p:sp>
      <p:sp>
        <p:nvSpPr>
          <p:cNvPr id="3" name="Content Placeholder 2"/>
          <p:cNvSpPr>
            <a:spLocks noGrp="1"/>
          </p:cNvSpPr>
          <p:nvPr>
            <p:ph idx="1"/>
          </p:nvPr>
        </p:nvSpPr>
        <p:spPr>
          <a:xfrm>
            <a:off x="161365" y="770966"/>
            <a:ext cx="12030635" cy="6087034"/>
          </a:xfrm>
        </p:spPr>
        <p:txBody>
          <a:bodyPr>
            <a:normAutofit fontScale="92500" lnSpcReduction="10000"/>
          </a:bodyPr>
          <a:lstStyle/>
          <a:p>
            <a:pPr marL="0" indent="0">
              <a:buNone/>
            </a:pPr>
            <a:r>
              <a:rPr lang="en-US" dirty="0">
                <a:latin typeface="Arial Rounded MT Bold" panose="020F0704030504030204" pitchFamily="34" charset="0"/>
              </a:rPr>
              <a:t>As the name suggests these are accounts related to persons.</a:t>
            </a:r>
            <a:endParaRPr lang="en-US" dirty="0">
              <a:latin typeface="Arial Rounded MT Bold" panose="020F0704030504030204" pitchFamily="34" charset="0"/>
            </a:endParaRPr>
          </a:p>
          <a:p>
            <a:pPr marL="514350" indent="-514350">
              <a:buAutoNum type="alphaLcParenBoth"/>
            </a:pPr>
            <a:r>
              <a:rPr lang="en-US" dirty="0" smtClean="0">
                <a:latin typeface="Arial Rounded MT Bold" panose="020F0704030504030204" pitchFamily="34" charset="0"/>
              </a:rPr>
              <a:t>These </a:t>
            </a:r>
            <a:r>
              <a:rPr lang="en-US" dirty="0">
                <a:latin typeface="Arial Rounded MT Bold" panose="020F0704030504030204" pitchFamily="34" charset="0"/>
              </a:rPr>
              <a:t>persons could be natural persons like </a:t>
            </a:r>
            <a:r>
              <a:rPr lang="en-US" dirty="0" err="1" smtClean="0">
                <a:latin typeface="Arial Rounded MT Bold" panose="020F0704030504030204" pitchFamily="34" charset="0"/>
              </a:rPr>
              <a:t>Anie</a:t>
            </a:r>
            <a:r>
              <a:rPr lang="en-US" dirty="0" smtClean="0">
                <a:latin typeface="Arial Rounded MT Bold" panose="020F0704030504030204" pitchFamily="34" charset="0"/>
              </a:rPr>
              <a:t> A/C, Bosco A/C……</a:t>
            </a:r>
            <a:endParaRPr lang="en-US" dirty="0" smtClean="0">
              <a:latin typeface="Arial Rounded MT Bold" panose="020F0704030504030204" pitchFamily="34" charset="0"/>
            </a:endParaRPr>
          </a:p>
          <a:p>
            <a:pPr marL="0" indent="0">
              <a:buNone/>
            </a:pPr>
            <a:endParaRPr lang="en-US" dirty="0">
              <a:latin typeface="Arial Rounded MT Bold" panose="020F0704030504030204" pitchFamily="34" charset="0"/>
            </a:endParaRPr>
          </a:p>
          <a:p>
            <a:pPr marL="0" indent="0">
              <a:buNone/>
            </a:pPr>
            <a:r>
              <a:rPr lang="en-US" dirty="0">
                <a:latin typeface="Arial Rounded MT Bold" panose="020F0704030504030204" pitchFamily="34" charset="0"/>
              </a:rPr>
              <a:t>(b) The persons could also be artificial persons like companies, bodies corporate or </a:t>
            </a:r>
            <a:r>
              <a:rPr lang="en-US" dirty="0" smtClean="0">
                <a:latin typeface="Arial Rounded MT Bold" panose="020F0704030504030204" pitchFamily="34" charset="0"/>
              </a:rPr>
              <a:t>association of </a:t>
            </a:r>
            <a:r>
              <a:rPr lang="en-US" dirty="0">
                <a:latin typeface="Arial Rounded MT Bold" panose="020F0704030504030204" pitchFamily="34" charset="0"/>
              </a:rPr>
              <a:t>persons or partnerships etc. Accordingly, we could have Videocon Industries A/c, </a:t>
            </a:r>
            <a:r>
              <a:rPr lang="en-US" dirty="0" smtClean="0">
                <a:latin typeface="Arial Rounded MT Bold" panose="020F0704030504030204" pitchFamily="34" charset="0"/>
              </a:rPr>
              <a:t>Infosys Technologies </a:t>
            </a:r>
            <a:r>
              <a:rPr lang="en-US" dirty="0">
                <a:latin typeface="Arial Rounded MT Bold" panose="020F0704030504030204" pitchFamily="34" charset="0"/>
              </a:rPr>
              <a:t>A/c, Charitable Trust A/c, Ali and Sons trading A/c, ABC Bank A/c, etc</a:t>
            </a:r>
            <a:r>
              <a:rPr lang="en-US" dirty="0" smtClean="0">
                <a:latin typeface="Arial Rounded MT Bold" panose="020F0704030504030204" pitchFamily="34" charset="0"/>
              </a:rPr>
              <a:t>.</a:t>
            </a:r>
            <a:endParaRPr lang="en-US" dirty="0" smtClean="0">
              <a:latin typeface="Arial Rounded MT Bold" panose="020F0704030504030204" pitchFamily="34" charset="0"/>
            </a:endParaRPr>
          </a:p>
          <a:p>
            <a:pPr marL="0" indent="0">
              <a:buNone/>
            </a:pPr>
            <a:endParaRPr lang="en-US" dirty="0">
              <a:latin typeface="Arial Rounded MT Bold" panose="020F0704030504030204" pitchFamily="34" charset="0"/>
            </a:endParaRPr>
          </a:p>
          <a:p>
            <a:pPr marL="0" indent="0">
              <a:buNone/>
            </a:pPr>
            <a:r>
              <a:rPr lang="en-US" dirty="0">
                <a:latin typeface="Arial Rounded MT Bold" panose="020F0704030504030204" pitchFamily="34" charset="0"/>
              </a:rPr>
              <a:t>(c) There could be representative personal accounts as well. Although the individual identity </a:t>
            </a:r>
            <a:r>
              <a:rPr lang="en-US" dirty="0" smtClean="0">
                <a:latin typeface="Arial Rounded MT Bold" panose="020F0704030504030204" pitchFamily="34" charset="0"/>
              </a:rPr>
              <a:t>of persons </a:t>
            </a:r>
            <a:r>
              <a:rPr lang="en-US" dirty="0">
                <a:latin typeface="Arial Rounded MT Bold" panose="020F0704030504030204" pitchFamily="34" charset="0"/>
              </a:rPr>
              <a:t>related to these is known, the convention is to reflect them as collective accounts</a:t>
            </a:r>
            <a:r>
              <a:rPr lang="en-US" dirty="0" smtClean="0">
                <a:latin typeface="Arial Rounded MT Bold" panose="020F0704030504030204" pitchFamily="34" charset="0"/>
              </a:rPr>
              <a:t>.</a:t>
            </a:r>
            <a:endParaRPr lang="en-US" dirty="0" smtClean="0">
              <a:latin typeface="Arial Rounded MT Bold" panose="020F0704030504030204" pitchFamily="34" charset="0"/>
            </a:endParaRPr>
          </a:p>
          <a:p>
            <a:pPr marL="0" indent="0">
              <a:buNone/>
            </a:pPr>
            <a:r>
              <a:rPr lang="en-US" dirty="0" smtClean="0">
                <a:latin typeface="Arial Rounded MT Bold" panose="020F0704030504030204" pitchFamily="34" charset="0"/>
              </a:rPr>
              <a:t> </a:t>
            </a:r>
            <a:endParaRPr lang="en-US" dirty="0" smtClean="0">
              <a:latin typeface="Arial Rounded MT Bold" panose="020F0704030504030204" pitchFamily="34" charset="0"/>
            </a:endParaRPr>
          </a:p>
          <a:p>
            <a:pPr marL="0" indent="0">
              <a:buNone/>
            </a:pPr>
            <a:r>
              <a:rPr lang="en-US" dirty="0" smtClean="0">
                <a:latin typeface="Arial Rounded MT Bold" panose="020F0704030504030204" pitchFamily="34" charset="0"/>
              </a:rPr>
              <a:t>Ex: when </a:t>
            </a:r>
            <a:r>
              <a:rPr lang="en-US" dirty="0">
                <a:latin typeface="Arial Rounded MT Bold" panose="020F0704030504030204" pitchFamily="34" charset="0"/>
              </a:rPr>
              <a:t>salary is payable to employees, we know how much is payable to each of them, </a:t>
            </a:r>
            <a:r>
              <a:rPr lang="en-US" dirty="0" smtClean="0">
                <a:latin typeface="Arial Rounded MT Bold" panose="020F0704030504030204" pitchFamily="34" charset="0"/>
              </a:rPr>
              <a:t>but collectively </a:t>
            </a:r>
            <a:r>
              <a:rPr lang="en-US" dirty="0">
                <a:latin typeface="Arial Rounded MT Bold" panose="020F0704030504030204" pitchFamily="34" charset="0"/>
              </a:rPr>
              <a:t>the account is called as ‘Salary Payable A/c’. Similar examples are rent payable</a:t>
            </a:r>
            <a:r>
              <a:rPr lang="en-US" dirty="0" smtClean="0">
                <a:latin typeface="Arial Rounded MT Bold" panose="020F0704030504030204" pitchFamily="34" charset="0"/>
              </a:rPr>
              <a:t>, Insurance </a:t>
            </a:r>
            <a:r>
              <a:rPr lang="en-US" dirty="0">
                <a:latin typeface="Arial Rounded MT Bold" panose="020F0704030504030204" pitchFamily="34" charset="0"/>
              </a:rPr>
              <a:t>prepaid, commission pre-received etc. </a:t>
            </a:r>
            <a:endParaRPr lang="en-US" dirty="0">
              <a:latin typeface="Arial Rounded MT Bold" panose="020F07040305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0993"/>
          </a:xfrm>
        </p:spPr>
        <p:txBody>
          <a:bodyPr>
            <a:normAutofit fontScale="90000"/>
          </a:bodyPr>
          <a:lstStyle/>
          <a:p>
            <a:pPr algn="ctr"/>
            <a:r>
              <a:rPr lang="en-US" dirty="0" smtClean="0">
                <a:solidFill>
                  <a:srgbClr val="FF0000"/>
                </a:solidFill>
                <a:latin typeface="Arial Rounded MT Bold" panose="020F0704030504030204" pitchFamily="34" charset="0"/>
              </a:rPr>
              <a:t> REAL ACCOUNTS</a:t>
            </a:r>
            <a:endParaRPr lang="en-US" dirty="0">
              <a:solidFill>
                <a:srgbClr val="FF0000"/>
              </a:solidFill>
              <a:latin typeface="Arial Rounded MT Bold" panose="020F0704030504030204" pitchFamily="34" charset="0"/>
            </a:endParaRPr>
          </a:p>
        </p:txBody>
      </p:sp>
      <p:sp>
        <p:nvSpPr>
          <p:cNvPr id="3" name="Content Placeholder 2"/>
          <p:cNvSpPr>
            <a:spLocks noGrp="1"/>
          </p:cNvSpPr>
          <p:nvPr>
            <p:ph idx="1"/>
          </p:nvPr>
        </p:nvSpPr>
        <p:spPr>
          <a:xfrm>
            <a:off x="268941" y="986118"/>
            <a:ext cx="11923059" cy="5190845"/>
          </a:xfrm>
        </p:spPr>
        <p:txBody>
          <a:bodyPr>
            <a:noAutofit/>
          </a:bodyPr>
          <a:lstStyle/>
          <a:p>
            <a:pPr marL="0" indent="0">
              <a:buNone/>
            </a:pPr>
            <a:r>
              <a:rPr lang="en-US" sz="2700" dirty="0">
                <a:latin typeface="Arial Rounded MT Bold" panose="020F0704030504030204" pitchFamily="34" charset="0"/>
              </a:rPr>
              <a:t>These are accounts related to assets or properties or possessions. Depending </a:t>
            </a:r>
            <a:r>
              <a:rPr lang="en-US" sz="2700" dirty="0" smtClean="0">
                <a:latin typeface="Arial Rounded MT Bold" panose="020F0704030504030204" pitchFamily="34" charset="0"/>
              </a:rPr>
              <a:t>on their </a:t>
            </a:r>
            <a:r>
              <a:rPr lang="en-US" sz="2700" dirty="0">
                <a:latin typeface="Arial Rounded MT Bold" panose="020F0704030504030204" pitchFamily="34" charset="0"/>
              </a:rPr>
              <a:t>physical existence or otherwise, they are further classified as follows:-</a:t>
            </a:r>
            <a:endParaRPr lang="en-US" sz="2700" dirty="0">
              <a:latin typeface="Arial Rounded MT Bold" panose="020F0704030504030204" pitchFamily="34" charset="0"/>
            </a:endParaRPr>
          </a:p>
          <a:p>
            <a:pPr marL="0" indent="0">
              <a:buNone/>
            </a:pPr>
            <a:r>
              <a:rPr lang="en-US" sz="2700" dirty="0">
                <a:solidFill>
                  <a:srgbClr val="FF0000"/>
                </a:solidFill>
                <a:latin typeface="Arial Rounded MT Bold" panose="020F0704030504030204" pitchFamily="34" charset="0"/>
              </a:rPr>
              <a:t>(a) Tangible Real Account </a:t>
            </a:r>
            <a:r>
              <a:rPr lang="en-US" sz="2700" dirty="0">
                <a:latin typeface="Arial Rounded MT Bold" panose="020F0704030504030204" pitchFamily="34" charset="0"/>
              </a:rPr>
              <a:t>– Assets that have physical existence and can be seen, and touched.</a:t>
            </a:r>
            <a:endParaRPr lang="en-US" sz="2700" dirty="0">
              <a:latin typeface="Arial Rounded MT Bold" panose="020F0704030504030204" pitchFamily="34" charset="0"/>
            </a:endParaRPr>
          </a:p>
          <a:p>
            <a:pPr marL="0" indent="0">
              <a:buNone/>
            </a:pPr>
            <a:r>
              <a:rPr lang="en-US" sz="2700" dirty="0" smtClean="0">
                <a:latin typeface="Arial Rounded MT Bold" panose="020F0704030504030204" pitchFamily="34" charset="0"/>
              </a:rPr>
              <a:t>Ex: Machinery </a:t>
            </a:r>
            <a:r>
              <a:rPr lang="en-US" sz="2700" dirty="0">
                <a:latin typeface="Arial Rounded MT Bold" panose="020F0704030504030204" pitchFamily="34" charset="0"/>
              </a:rPr>
              <a:t>A/c, Stock A/c, Cash A/c, Vehicle A/c, and the like</a:t>
            </a:r>
            <a:r>
              <a:rPr lang="en-US" sz="2700" dirty="0" smtClean="0">
                <a:latin typeface="Arial Rounded MT Bold" panose="020F0704030504030204" pitchFamily="34" charset="0"/>
              </a:rPr>
              <a:t>.</a:t>
            </a:r>
            <a:endParaRPr lang="en-US" sz="2700" dirty="0" smtClean="0">
              <a:latin typeface="Arial Rounded MT Bold" panose="020F0704030504030204" pitchFamily="34" charset="0"/>
            </a:endParaRPr>
          </a:p>
          <a:p>
            <a:pPr marL="0" indent="0">
              <a:buNone/>
            </a:pPr>
            <a:endParaRPr lang="en-US" sz="2700" dirty="0">
              <a:latin typeface="Arial Rounded MT Bold" panose="020F0704030504030204" pitchFamily="34" charset="0"/>
            </a:endParaRPr>
          </a:p>
          <a:p>
            <a:r>
              <a:rPr lang="en-US" sz="2700" dirty="0">
                <a:solidFill>
                  <a:srgbClr val="FF0000"/>
                </a:solidFill>
                <a:latin typeface="Arial Rounded MT Bold" panose="020F0704030504030204" pitchFamily="34" charset="0"/>
              </a:rPr>
              <a:t>(b) Intangible Real Account </a:t>
            </a:r>
            <a:r>
              <a:rPr lang="en-US" sz="2700" dirty="0">
                <a:latin typeface="Arial Rounded MT Bold" panose="020F0704030504030204" pitchFamily="34" charset="0"/>
              </a:rPr>
              <a:t>– These represent possession of properties that have no </a:t>
            </a:r>
            <a:r>
              <a:rPr lang="en-US" sz="2700" dirty="0" smtClean="0">
                <a:latin typeface="Arial Rounded MT Bold" panose="020F0704030504030204" pitchFamily="34" charset="0"/>
              </a:rPr>
              <a:t>physical existence </a:t>
            </a:r>
            <a:r>
              <a:rPr lang="en-US" sz="2700" dirty="0">
                <a:latin typeface="Arial Rounded MT Bold" panose="020F0704030504030204" pitchFamily="34" charset="0"/>
              </a:rPr>
              <a:t>but can be measured in terms of money and have value attached to them</a:t>
            </a:r>
            <a:r>
              <a:rPr lang="en-US" sz="2700" dirty="0" smtClean="0">
                <a:latin typeface="Arial Rounded MT Bold" panose="020F0704030504030204" pitchFamily="34" charset="0"/>
              </a:rPr>
              <a:t>.</a:t>
            </a:r>
            <a:endParaRPr lang="en-US" sz="2700" dirty="0" smtClean="0">
              <a:latin typeface="Arial Rounded MT Bold" panose="020F0704030504030204" pitchFamily="34" charset="0"/>
            </a:endParaRPr>
          </a:p>
          <a:p>
            <a:pPr marL="0" indent="0">
              <a:buNone/>
            </a:pPr>
            <a:r>
              <a:rPr lang="en-US" sz="2700" dirty="0" smtClean="0">
                <a:latin typeface="Arial Rounded MT Bold" panose="020F0704030504030204" pitchFamily="34" charset="0"/>
              </a:rPr>
              <a:t> Ex: Goodwill </a:t>
            </a:r>
            <a:r>
              <a:rPr lang="en-US" sz="2700" dirty="0">
                <a:latin typeface="Arial Rounded MT Bold" panose="020F0704030504030204" pitchFamily="34" charset="0"/>
              </a:rPr>
              <a:t>A/c, Trade mark A/c, Patents &amp; Copy Rights A/c, Intellectual Property Rights A/c </a:t>
            </a:r>
            <a:r>
              <a:rPr lang="en-US" sz="2700" dirty="0" smtClean="0">
                <a:latin typeface="Arial Rounded MT Bold" panose="020F0704030504030204" pitchFamily="34" charset="0"/>
              </a:rPr>
              <a:t>and the </a:t>
            </a:r>
            <a:r>
              <a:rPr lang="en-US" sz="2700" dirty="0">
                <a:latin typeface="Arial Rounded MT Bold" panose="020F0704030504030204" pitchFamily="34" charset="0"/>
              </a:rPr>
              <a:t>like.</a:t>
            </a:r>
            <a:endParaRPr lang="en-US" sz="2700" dirty="0">
              <a:latin typeface="Arial Rounded MT Bold" panose="020F07040305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4945"/>
            <a:ext cx="10515600" cy="890016"/>
          </a:xfrm>
        </p:spPr>
        <p:txBody>
          <a:bodyPr>
            <a:normAutofit/>
          </a:bodyPr>
          <a:lstStyle/>
          <a:p>
            <a:pPr algn="ctr"/>
            <a:r>
              <a:rPr lang="en-US" dirty="0" smtClean="0">
                <a:solidFill>
                  <a:srgbClr val="FF0000"/>
                </a:solidFill>
                <a:latin typeface="Arial Rounded MT Bold" panose="020F0704030504030204" pitchFamily="34" charset="0"/>
              </a:rPr>
              <a:t>Nominal </a:t>
            </a:r>
            <a:r>
              <a:rPr lang="en-US" dirty="0">
                <a:solidFill>
                  <a:srgbClr val="FF0000"/>
                </a:solidFill>
                <a:latin typeface="Arial Rounded MT Bold" panose="020F0704030504030204" pitchFamily="34" charset="0"/>
              </a:rPr>
              <a:t>Account </a:t>
            </a:r>
            <a:endParaRPr lang="en-US" dirty="0">
              <a:solidFill>
                <a:srgbClr val="FF0000"/>
              </a:solidFill>
              <a:latin typeface="Arial Rounded MT Bold" panose="020F0704030504030204" pitchFamily="34" charset="0"/>
            </a:endParaRPr>
          </a:p>
        </p:txBody>
      </p:sp>
      <p:sp>
        <p:nvSpPr>
          <p:cNvPr id="3" name="Content Placeholder 2"/>
          <p:cNvSpPr>
            <a:spLocks noGrp="1"/>
          </p:cNvSpPr>
          <p:nvPr>
            <p:ph idx="1"/>
          </p:nvPr>
        </p:nvSpPr>
        <p:spPr>
          <a:xfrm>
            <a:off x="109728" y="1825625"/>
            <a:ext cx="11899392" cy="4351338"/>
          </a:xfrm>
        </p:spPr>
        <p:txBody>
          <a:bodyPr>
            <a:normAutofit/>
          </a:bodyPr>
          <a:lstStyle/>
          <a:p>
            <a:pPr marL="0" indent="0" algn="just">
              <a:buNone/>
            </a:pPr>
            <a:endParaRPr lang="en-US" sz="3600" dirty="0" smtClean="0">
              <a:latin typeface="Arial Rounded MT Bold" panose="020F0704030504030204" pitchFamily="34" charset="0"/>
            </a:endParaRPr>
          </a:p>
          <a:p>
            <a:pPr marL="0" indent="0" algn="just">
              <a:buNone/>
            </a:pPr>
            <a:r>
              <a:rPr lang="en-US" sz="3600" dirty="0" smtClean="0">
                <a:latin typeface="Arial Rounded MT Bold" panose="020F0704030504030204" pitchFamily="34" charset="0"/>
              </a:rPr>
              <a:t>These </a:t>
            </a:r>
            <a:r>
              <a:rPr lang="en-US" sz="3600" dirty="0">
                <a:latin typeface="Arial Rounded MT Bold" panose="020F0704030504030204" pitchFamily="34" charset="0"/>
              </a:rPr>
              <a:t>accounts are related to expenses or losses and incomes or gains </a:t>
            </a:r>
            <a:r>
              <a:rPr lang="en-US" sz="3600" dirty="0" smtClean="0">
                <a:latin typeface="Arial Rounded MT Bold" panose="020F0704030504030204" pitchFamily="34" charset="0"/>
              </a:rPr>
              <a:t>Ex:  Salary and </a:t>
            </a:r>
            <a:r>
              <a:rPr lang="en-US" sz="3600" dirty="0">
                <a:latin typeface="Arial Rounded MT Bold" panose="020F0704030504030204" pitchFamily="34" charset="0"/>
              </a:rPr>
              <a:t>Wages A/c, </a:t>
            </a:r>
            <a:r>
              <a:rPr lang="en-US" sz="3600" dirty="0" smtClean="0">
                <a:latin typeface="Arial Rounded MT Bold" panose="020F0704030504030204" pitchFamily="34" charset="0"/>
              </a:rPr>
              <a:t>House rent</a:t>
            </a:r>
            <a:r>
              <a:rPr lang="en-US" sz="3600" dirty="0" smtClean="0">
                <a:latin typeface="Arial Rounded MT Bold" panose="020F0704030504030204" pitchFamily="34" charset="0"/>
              </a:rPr>
              <a:t> </a:t>
            </a:r>
            <a:r>
              <a:rPr lang="en-US" sz="3600" dirty="0">
                <a:latin typeface="Arial Rounded MT Bold" panose="020F0704030504030204" pitchFamily="34" charset="0"/>
              </a:rPr>
              <a:t>A/c, Travelling Expenses A/c</a:t>
            </a:r>
            <a:r>
              <a:rPr lang="en-US" sz="3600" dirty="0" smtClean="0">
                <a:latin typeface="Arial Rounded MT Bold" panose="020F0704030504030204" pitchFamily="34" charset="0"/>
              </a:rPr>
              <a:t>, service revenue A/c, </a:t>
            </a:r>
            <a:r>
              <a:rPr lang="en-US" sz="3600" dirty="0">
                <a:latin typeface="Arial Rounded MT Bold" panose="020F0704030504030204" pitchFamily="34" charset="0"/>
              </a:rPr>
              <a:t>Commission received A/c, Loss by </a:t>
            </a:r>
            <a:r>
              <a:rPr lang="en-US" sz="3600" dirty="0" smtClean="0">
                <a:latin typeface="Arial Rounded MT Bold" panose="020F0704030504030204" pitchFamily="34" charset="0"/>
              </a:rPr>
              <a:t>fire A/c </a:t>
            </a:r>
            <a:r>
              <a:rPr lang="en-US" sz="3600" dirty="0">
                <a:latin typeface="Arial Rounded MT Bold" panose="020F0704030504030204" pitchFamily="34" charset="0"/>
              </a:rPr>
              <a:t>etc</a:t>
            </a:r>
            <a:r>
              <a:rPr lang="en-US" sz="3600" dirty="0" smtClean="0">
                <a:latin typeface="Arial Rounded MT Bold" panose="020F0704030504030204" pitchFamily="34" charset="0"/>
              </a:rPr>
              <a:t>.</a:t>
            </a:r>
            <a:endParaRPr lang="en-US" sz="3600" dirty="0">
              <a:latin typeface="Arial Rounded MT Bold" panose="020F0704030504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9634" y="315078"/>
            <a:ext cx="11678194" cy="5200650"/>
          </a:xfrm>
          <a:prstGeom prst="rect">
            <a:avLst/>
          </a:prstGeom>
        </p:spPr>
        <p:txBody>
          <a:bodyPr wrap="square">
            <a:spAutoFit/>
          </a:bodyPr>
          <a:lstStyle/>
          <a:p>
            <a:pPr algn="ctr"/>
            <a:r>
              <a:rPr lang="en-US" sz="3000" dirty="0" smtClean="0">
                <a:solidFill>
                  <a:srgbClr val="FF0000"/>
                </a:solidFill>
                <a:latin typeface="Arial Rounded MT Bold" panose="020F0704030504030204" pitchFamily="34" charset="0"/>
              </a:rPr>
              <a:t>2.3</a:t>
            </a:r>
            <a:r>
              <a:rPr lang="en-US" sz="3000" dirty="0">
                <a:solidFill>
                  <a:srgbClr val="FF0000"/>
                </a:solidFill>
                <a:latin typeface="Arial Rounded MT Bold" panose="020F0704030504030204" pitchFamily="34" charset="0"/>
              </a:rPr>
              <a:t>	DIFFERENT </a:t>
            </a:r>
            <a:r>
              <a:rPr lang="en-US" sz="3000" dirty="0" smtClean="0">
                <a:solidFill>
                  <a:srgbClr val="FF0000"/>
                </a:solidFill>
                <a:latin typeface="Arial Rounded MT Bold" panose="020F0704030504030204" pitchFamily="34" charset="0"/>
              </a:rPr>
              <a:t>FORMS / FORMAT </a:t>
            </a:r>
            <a:r>
              <a:rPr lang="en-US" sz="3000" dirty="0">
                <a:solidFill>
                  <a:srgbClr val="FF0000"/>
                </a:solidFill>
                <a:latin typeface="Arial Rounded MT Bold" panose="020F0704030504030204" pitchFamily="34" charset="0"/>
              </a:rPr>
              <a:t>OF </a:t>
            </a:r>
            <a:r>
              <a:rPr lang="en-US" sz="3000" dirty="0" smtClean="0">
                <a:solidFill>
                  <a:srgbClr val="FF0000"/>
                </a:solidFill>
                <a:latin typeface="Arial Rounded MT Bold" panose="020F0704030504030204" pitchFamily="34" charset="0"/>
              </a:rPr>
              <a:t>ACCOUNT</a:t>
            </a:r>
            <a:endParaRPr lang="en-US" sz="3000" dirty="0">
              <a:solidFill>
                <a:srgbClr val="FF0000"/>
              </a:solidFill>
              <a:latin typeface="Arial Rounded MT Bold" panose="020F0704030504030204" pitchFamily="34" charset="0"/>
            </a:endParaRPr>
          </a:p>
          <a:p>
            <a:pPr marL="457200" indent="-457200" algn="ctr">
              <a:buAutoNum type="arabicPeriod"/>
            </a:pPr>
            <a:endParaRPr lang="en-US" sz="3000" dirty="0" smtClean="0">
              <a:solidFill>
                <a:srgbClr val="FF0000"/>
              </a:solidFill>
              <a:latin typeface="Bahnschrift Condensed" panose="020B0502040204020203" pitchFamily="34" charset="0"/>
            </a:endParaRPr>
          </a:p>
          <a:p>
            <a:pPr marL="457200" indent="-457200" algn="ctr">
              <a:buAutoNum type="arabicPeriod"/>
            </a:pPr>
            <a:r>
              <a:rPr lang="en-US" sz="3000" dirty="0" smtClean="0">
                <a:solidFill>
                  <a:srgbClr val="FF0000"/>
                </a:solidFill>
                <a:latin typeface="Bahnschrift Condensed" panose="020B0502040204020203" pitchFamily="34" charset="0"/>
              </a:rPr>
              <a:t>A </a:t>
            </a:r>
            <a:r>
              <a:rPr lang="en-US" sz="3000" dirty="0">
                <a:solidFill>
                  <a:srgbClr val="FF0000"/>
                </a:solidFill>
                <a:latin typeface="Bahnschrift Condensed" panose="020B0502040204020203" pitchFamily="34" charset="0"/>
              </a:rPr>
              <a:t>T </a:t>
            </a:r>
            <a:r>
              <a:rPr lang="en-US" sz="3000" dirty="0" smtClean="0">
                <a:solidFill>
                  <a:srgbClr val="FF0000"/>
                </a:solidFill>
                <a:latin typeface="Bahnschrift Condensed" panose="020B0502040204020203" pitchFamily="34" charset="0"/>
              </a:rPr>
              <a:t>account </a:t>
            </a:r>
            <a:endParaRPr lang="en-US" sz="3000" dirty="0" smtClean="0">
              <a:solidFill>
                <a:srgbClr val="FF0000"/>
              </a:solidFill>
              <a:latin typeface="Bahnschrift Condensed" panose="020B0502040204020203" pitchFamily="34" charset="0"/>
            </a:endParaRPr>
          </a:p>
          <a:p>
            <a:pPr marL="457200" indent="-457200">
              <a:buAutoNum type="arabicPeriod"/>
            </a:pPr>
            <a:endParaRPr lang="en-US" sz="3000" dirty="0">
              <a:solidFill>
                <a:srgbClr val="FF0000"/>
              </a:solidFill>
              <a:latin typeface="Bahnschrift Condensed" panose="020B0502040204020203" pitchFamily="34" charset="0"/>
            </a:endParaRPr>
          </a:p>
          <a:p>
            <a:r>
              <a:rPr lang="en-US" sz="3000" dirty="0" smtClean="0">
                <a:solidFill>
                  <a:srgbClr val="FF0000"/>
                </a:solidFill>
                <a:latin typeface="Bahnschrift Condensed" panose="020B0502040204020203" pitchFamily="34" charset="0"/>
              </a:rPr>
              <a:t>T </a:t>
            </a:r>
            <a:r>
              <a:rPr lang="en-US" sz="3000" dirty="0" smtClean="0">
                <a:latin typeface="Bahnschrift Condensed" panose="020B0502040204020203" pitchFamily="34" charset="0"/>
              </a:rPr>
              <a:t>represents </a:t>
            </a:r>
            <a:r>
              <a:rPr lang="en-US" sz="3000" dirty="0">
                <a:latin typeface="Bahnschrift Condensed" panose="020B0502040204020203" pitchFamily="34" charset="0"/>
              </a:rPr>
              <a:t>a ledger account </a:t>
            </a:r>
            <a:r>
              <a:rPr lang="en-US" sz="3000" dirty="0" smtClean="0">
                <a:latin typeface="Bahnschrift Condensed" panose="020B0502040204020203" pitchFamily="34" charset="0"/>
              </a:rPr>
              <a:t>and it will help to record transactions in </a:t>
            </a:r>
            <a:r>
              <a:rPr lang="en-US" sz="3000" dirty="0" err="1" smtClean="0">
                <a:latin typeface="Bahnschrift Condensed" panose="020B0502040204020203" pitchFamily="34" charset="0"/>
              </a:rPr>
              <a:t>Dr</a:t>
            </a:r>
            <a:r>
              <a:rPr lang="en-US" sz="3000" dirty="0" smtClean="0">
                <a:latin typeface="Bahnschrift Condensed" panose="020B0502040204020203" pitchFamily="34" charset="0"/>
              </a:rPr>
              <a:t> and Cr side and finally determine the final </a:t>
            </a:r>
            <a:r>
              <a:rPr lang="en-US" sz="3000" dirty="0" err="1" smtClean="0">
                <a:latin typeface="Bahnschrift Condensed" panose="020B0502040204020203" pitchFamily="34" charset="0"/>
              </a:rPr>
              <a:t>Dr</a:t>
            </a:r>
            <a:r>
              <a:rPr lang="en-US" sz="3000" dirty="0" smtClean="0">
                <a:latin typeface="Bahnschrift Condensed" panose="020B0502040204020203" pitchFamily="34" charset="0"/>
              </a:rPr>
              <a:t> or Cr Balance</a:t>
            </a:r>
            <a:endParaRPr lang="en-US" sz="3000" dirty="0" smtClean="0">
              <a:latin typeface="Bahnschrift Condensed" panose="020B0502040204020203" pitchFamily="34" charset="0"/>
            </a:endParaRPr>
          </a:p>
          <a:p>
            <a:r>
              <a:rPr lang="en-US" sz="4000" dirty="0" smtClean="0">
                <a:latin typeface="+mj-lt"/>
              </a:rPr>
              <a:t>				</a:t>
            </a:r>
            <a:endParaRPr lang="en-US" sz="4000" dirty="0" smtClean="0">
              <a:latin typeface="+mj-lt"/>
            </a:endParaRPr>
          </a:p>
          <a:p>
            <a:r>
              <a:rPr lang="en-US" sz="4000" dirty="0">
                <a:latin typeface="+mj-lt"/>
              </a:rPr>
              <a:t> </a:t>
            </a:r>
            <a:r>
              <a:rPr lang="en-US" sz="4000" dirty="0" smtClean="0">
                <a:latin typeface="+mj-lt"/>
              </a:rPr>
              <a:t>      </a:t>
            </a:r>
            <a:r>
              <a:rPr lang="en-US" sz="4000" b="1" dirty="0" err="1" smtClean="0">
                <a:latin typeface="+mj-lt"/>
              </a:rPr>
              <a:t>Dr</a:t>
            </a:r>
            <a:r>
              <a:rPr lang="en-US" sz="4000" b="1" dirty="0" smtClean="0">
                <a:latin typeface="+mj-lt"/>
              </a:rPr>
              <a:t> </a:t>
            </a:r>
            <a:r>
              <a:rPr lang="en-US" sz="4000" dirty="0" smtClean="0">
                <a:latin typeface="+mj-lt"/>
              </a:rPr>
              <a:t>             </a:t>
            </a:r>
            <a:r>
              <a:rPr lang="en-US" sz="4000" b="1" dirty="0">
                <a:latin typeface="Arial Narrow" panose="020B0606020202030204" pitchFamily="34" charset="0"/>
              </a:rPr>
              <a:t>Title of </a:t>
            </a:r>
            <a:r>
              <a:rPr lang="en-US" sz="4000" b="1" dirty="0" smtClean="0">
                <a:latin typeface="Arial Narrow" panose="020B0606020202030204" pitchFamily="34" charset="0"/>
              </a:rPr>
              <a:t>account           Cr               </a:t>
            </a:r>
            <a:endParaRPr lang="en-US" sz="4000" b="1" dirty="0">
              <a:latin typeface="+mj-lt"/>
            </a:endParaRPr>
          </a:p>
          <a:p>
            <a:endParaRPr lang="en-US" sz="2400" dirty="0" smtClean="0"/>
          </a:p>
          <a:p>
            <a:endParaRPr lang="en-US" sz="2400" dirty="0"/>
          </a:p>
          <a:p>
            <a:endParaRPr lang="en-US" sz="2400" dirty="0" smtClean="0"/>
          </a:p>
        </p:txBody>
      </p:sp>
      <p:cxnSp>
        <p:nvCxnSpPr>
          <p:cNvPr id="4" name="AutoShape 32"/>
          <p:cNvCxnSpPr>
            <a:cxnSpLocks noChangeShapeType="1"/>
          </p:cNvCxnSpPr>
          <p:nvPr/>
        </p:nvCxnSpPr>
        <p:spPr bwMode="auto">
          <a:xfrm>
            <a:off x="1443172" y="4317957"/>
            <a:ext cx="8322620" cy="0"/>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pic>
        <p:nvPicPr>
          <p:cNvPr id="5" name="Picture 4"/>
          <p:cNvPicPr>
            <a:picLocks noChangeAspect="1"/>
          </p:cNvPicPr>
          <p:nvPr/>
        </p:nvPicPr>
        <p:blipFill>
          <a:blip r:embed="rId1"/>
          <a:stretch>
            <a:fillRect/>
          </a:stretch>
        </p:blipFill>
        <p:spPr>
          <a:xfrm flipH="1">
            <a:off x="5497355" y="4317957"/>
            <a:ext cx="103207" cy="2107858"/>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58496" y="2062189"/>
            <a:ext cx="11225349" cy="4245429"/>
          </a:xfrm>
          <a:prstGeom prst="rect">
            <a:avLst/>
          </a:prstGeom>
        </p:spPr>
      </p:pic>
      <p:sp>
        <p:nvSpPr>
          <p:cNvPr id="3" name="Rectangle 2"/>
          <p:cNvSpPr/>
          <p:nvPr/>
        </p:nvSpPr>
        <p:spPr>
          <a:xfrm>
            <a:off x="330926" y="217102"/>
            <a:ext cx="11295017" cy="2246769"/>
          </a:xfrm>
          <a:prstGeom prst="rect">
            <a:avLst/>
          </a:prstGeom>
        </p:spPr>
        <p:txBody>
          <a:bodyPr wrap="square">
            <a:spAutoFit/>
          </a:bodyPr>
          <a:lstStyle/>
          <a:p>
            <a:pPr algn="ctr"/>
            <a:r>
              <a:rPr lang="en-US" sz="2800" dirty="0" smtClean="0">
                <a:solidFill>
                  <a:srgbClr val="FF0000"/>
                </a:solidFill>
                <a:latin typeface="Arial Narrow" panose="020B0606020202030204" pitchFamily="34" charset="0"/>
              </a:rPr>
              <a:t>a. </a:t>
            </a:r>
            <a:r>
              <a:rPr lang="en-US" sz="2800" dirty="0">
                <a:solidFill>
                  <a:srgbClr val="FF0000"/>
                </a:solidFill>
                <a:latin typeface="Arial Narrow" panose="020B0606020202030204" pitchFamily="34" charset="0"/>
              </a:rPr>
              <a:t>	Account without balance </a:t>
            </a:r>
            <a:r>
              <a:rPr lang="en-US" sz="2800" dirty="0" smtClean="0">
                <a:solidFill>
                  <a:srgbClr val="FF0000"/>
                </a:solidFill>
                <a:latin typeface="Arial Narrow" panose="020B0606020202030204" pitchFamily="34" charset="0"/>
              </a:rPr>
              <a:t>column (Assets Accounts)</a:t>
            </a:r>
            <a:endParaRPr lang="en-US" sz="2800" dirty="0">
              <a:solidFill>
                <a:srgbClr val="FF0000"/>
              </a:solidFill>
              <a:latin typeface="Arial Narrow" panose="020B0606020202030204" pitchFamily="34" charset="0"/>
            </a:endParaRPr>
          </a:p>
          <a:p>
            <a:r>
              <a:rPr lang="en-US" sz="2800" dirty="0">
                <a:latin typeface="+mj-lt"/>
              </a:rPr>
              <a:t>This form of account shows the full information concerning that account and its representation is the following:</a:t>
            </a:r>
            <a:endParaRPr lang="en-US" sz="2800" dirty="0">
              <a:latin typeface="+mj-lt"/>
            </a:endParaRPr>
          </a:p>
          <a:p>
            <a:endParaRPr lang="en-US" sz="2800" dirty="0"/>
          </a:p>
          <a:p>
            <a:r>
              <a:rPr lang="en-US" sz="2800" dirty="0" smtClean="0"/>
              <a:t>									</a:t>
            </a:r>
            <a:endParaRPr lang="en-US" sz="2800" dirty="0">
              <a:latin typeface="+mj-l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58496" y="2062189"/>
            <a:ext cx="11225349" cy="4245429"/>
          </a:xfrm>
          <a:prstGeom prst="rect">
            <a:avLst/>
          </a:prstGeom>
        </p:spPr>
      </p:pic>
      <p:sp>
        <p:nvSpPr>
          <p:cNvPr id="3" name="Rectangle 2"/>
          <p:cNvSpPr/>
          <p:nvPr/>
        </p:nvSpPr>
        <p:spPr>
          <a:xfrm>
            <a:off x="330926" y="217102"/>
            <a:ext cx="11295017" cy="2246769"/>
          </a:xfrm>
          <a:prstGeom prst="rect">
            <a:avLst/>
          </a:prstGeom>
        </p:spPr>
        <p:txBody>
          <a:bodyPr wrap="square">
            <a:spAutoFit/>
          </a:bodyPr>
          <a:lstStyle/>
          <a:p>
            <a:pPr algn="ctr"/>
            <a:r>
              <a:rPr lang="en-US" sz="2800" dirty="0">
                <a:solidFill>
                  <a:srgbClr val="FF0000"/>
                </a:solidFill>
                <a:latin typeface="Arial Narrow" panose="020B0606020202030204" pitchFamily="34" charset="0"/>
              </a:rPr>
              <a:t>	Account without balance </a:t>
            </a:r>
            <a:r>
              <a:rPr lang="en-US" sz="2800" dirty="0" smtClean="0">
                <a:solidFill>
                  <a:srgbClr val="FF0000"/>
                </a:solidFill>
                <a:latin typeface="Arial Narrow" panose="020B0606020202030204" pitchFamily="34" charset="0"/>
              </a:rPr>
              <a:t>column (owner’ s Equity and Liabilities Accounts)</a:t>
            </a:r>
            <a:endParaRPr lang="en-US" sz="2800" dirty="0">
              <a:solidFill>
                <a:srgbClr val="FF0000"/>
              </a:solidFill>
              <a:latin typeface="Arial Narrow" panose="020B0606020202030204" pitchFamily="34" charset="0"/>
            </a:endParaRPr>
          </a:p>
          <a:p>
            <a:r>
              <a:rPr lang="en-US" sz="2800" dirty="0">
                <a:latin typeface="+mj-lt"/>
              </a:rPr>
              <a:t>This form of account shows the full information concerning that account and its representation is the following:</a:t>
            </a:r>
            <a:endParaRPr lang="en-US" sz="2800" dirty="0">
              <a:latin typeface="+mj-lt"/>
            </a:endParaRPr>
          </a:p>
          <a:p>
            <a:endParaRPr lang="en-US" sz="2800" dirty="0"/>
          </a:p>
          <a:p>
            <a:r>
              <a:rPr lang="en-US" sz="2800" dirty="0" smtClean="0"/>
              <a:t>									</a:t>
            </a:r>
            <a:endParaRPr lang="en-US" sz="2800" dirty="0">
              <a:latin typeface="+mj-lt"/>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36148" y="253990"/>
            <a:ext cx="6361037" cy="646331"/>
          </a:xfrm>
          <a:prstGeom prst="rect">
            <a:avLst/>
          </a:prstGeom>
        </p:spPr>
        <p:txBody>
          <a:bodyPr wrap="none">
            <a:spAutoFit/>
          </a:bodyPr>
          <a:lstStyle/>
          <a:p>
            <a:r>
              <a:rPr lang="en-US" sz="3600" b="1" dirty="0" smtClean="0">
                <a:solidFill>
                  <a:srgbClr val="FF0000"/>
                </a:solidFill>
                <a:latin typeface="Bahnschrift Condensed" panose="020B0502040204020203" pitchFamily="34" charset="0"/>
              </a:rPr>
              <a:t>b. Account </a:t>
            </a:r>
            <a:r>
              <a:rPr lang="en-US" sz="3600" b="1" dirty="0">
                <a:solidFill>
                  <a:srgbClr val="FF0000"/>
                </a:solidFill>
                <a:latin typeface="Bahnschrift Condensed" panose="020B0502040204020203" pitchFamily="34" charset="0"/>
              </a:rPr>
              <a:t>with debit and credit married</a:t>
            </a:r>
            <a:endParaRPr lang="en-US" sz="3600" b="1" dirty="0">
              <a:solidFill>
                <a:srgbClr val="FF0000"/>
              </a:solidFill>
              <a:latin typeface="Bahnschrift Condensed" panose="020B0502040204020203" pitchFamily="34" charset="0"/>
            </a:endParaRPr>
          </a:p>
        </p:txBody>
      </p:sp>
      <p:pic>
        <p:nvPicPr>
          <p:cNvPr id="5" name="Picture 4"/>
          <p:cNvPicPr>
            <a:picLocks noChangeAspect="1"/>
          </p:cNvPicPr>
          <p:nvPr/>
        </p:nvPicPr>
        <p:blipFill>
          <a:blip r:embed="rId1"/>
          <a:stretch>
            <a:fillRect/>
          </a:stretch>
        </p:blipFill>
        <p:spPr>
          <a:xfrm>
            <a:off x="357051" y="1234331"/>
            <a:ext cx="11355977" cy="3203558"/>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99954" y="318254"/>
            <a:ext cx="8142514" cy="646331"/>
          </a:xfrm>
          <a:prstGeom prst="rect">
            <a:avLst/>
          </a:prstGeom>
        </p:spPr>
        <p:txBody>
          <a:bodyPr wrap="square">
            <a:spAutoFit/>
          </a:bodyPr>
          <a:lstStyle/>
          <a:p>
            <a:r>
              <a:rPr lang="en-US" sz="3600" b="1" dirty="0" smtClean="0">
                <a:solidFill>
                  <a:srgbClr val="FF0000"/>
                </a:solidFill>
                <a:latin typeface="Bahnschrift Condensed" panose="020B0502040204020203" pitchFamily="34" charset="0"/>
              </a:rPr>
              <a:t>c. Account </a:t>
            </a:r>
            <a:r>
              <a:rPr lang="en-US" sz="3600" b="1" dirty="0">
                <a:solidFill>
                  <a:srgbClr val="FF0000"/>
                </a:solidFill>
                <a:latin typeface="Bahnschrift Condensed" panose="020B0502040204020203" pitchFamily="34" charset="0"/>
              </a:rPr>
              <a:t>with balance column</a:t>
            </a:r>
            <a:endParaRPr lang="en-US" sz="3600" b="1" dirty="0">
              <a:solidFill>
                <a:srgbClr val="FF0000"/>
              </a:solidFill>
              <a:latin typeface="Bahnschrift Condensed" panose="020B0502040204020203" pitchFamily="34" charset="0"/>
            </a:endParaRPr>
          </a:p>
        </p:txBody>
      </p:sp>
      <p:pic>
        <p:nvPicPr>
          <p:cNvPr id="4" name="Picture 3"/>
          <p:cNvPicPr>
            <a:picLocks noChangeAspect="1"/>
          </p:cNvPicPr>
          <p:nvPr/>
        </p:nvPicPr>
        <p:blipFill>
          <a:blip r:embed="rId1"/>
          <a:stretch>
            <a:fillRect/>
          </a:stretch>
        </p:blipFill>
        <p:spPr>
          <a:xfrm>
            <a:off x="165463" y="2262315"/>
            <a:ext cx="11808823" cy="3626421"/>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6423" y="125496"/>
            <a:ext cx="11808823" cy="6617196"/>
          </a:xfrm>
          <a:prstGeom prst="rect">
            <a:avLst/>
          </a:prstGeom>
        </p:spPr>
        <p:txBody>
          <a:bodyPr wrap="square">
            <a:spAutoFit/>
          </a:bodyPr>
          <a:lstStyle/>
          <a:p>
            <a:pPr algn="ctr"/>
            <a:r>
              <a:rPr lang="en-US" sz="4000" dirty="0" smtClean="0">
                <a:solidFill>
                  <a:srgbClr val="FF0000"/>
                </a:solidFill>
                <a:latin typeface="Bahnschrift" panose="020B0502040204020203" pitchFamily="34" charset="0"/>
              </a:rPr>
              <a:t>2.4</a:t>
            </a:r>
            <a:r>
              <a:rPr lang="en-US" sz="4000" dirty="0">
                <a:solidFill>
                  <a:srgbClr val="FF0000"/>
                </a:solidFill>
                <a:latin typeface="Bahnschrift" panose="020B0502040204020203" pitchFamily="34" charset="0"/>
              </a:rPr>
              <a:t>	THE ACCOUNT BALANCE</a:t>
            </a:r>
            <a:endParaRPr lang="en-US" sz="4000" dirty="0">
              <a:solidFill>
                <a:srgbClr val="FF0000"/>
              </a:solidFill>
              <a:latin typeface="Bahnschrift" panose="020B0502040204020203" pitchFamily="34" charset="0"/>
            </a:endParaRPr>
          </a:p>
          <a:p>
            <a:r>
              <a:rPr lang="en-US" sz="3200" dirty="0">
                <a:latin typeface="Bahnschrift" panose="020B0502040204020203" pitchFamily="34" charset="0"/>
              </a:rPr>
              <a:t>This refers to the difference between the total debits and total credits for an account, including any beginning balance</a:t>
            </a:r>
            <a:r>
              <a:rPr lang="en-US" sz="3200" dirty="0" smtClean="0">
                <a:latin typeface="Bahnschrift" panose="020B0502040204020203" pitchFamily="34" charset="0"/>
              </a:rPr>
              <a:t>.</a:t>
            </a:r>
            <a:endParaRPr lang="en-US" sz="3200" dirty="0" smtClean="0">
              <a:latin typeface="Bahnschrift" panose="020B0502040204020203" pitchFamily="34" charset="0"/>
            </a:endParaRPr>
          </a:p>
          <a:p>
            <a:endParaRPr lang="en-US" sz="3200" dirty="0">
              <a:latin typeface="Bahnschrift" panose="020B0502040204020203" pitchFamily="34" charset="0"/>
            </a:endParaRPr>
          </a:p>
          <a:p>
            <a:r>
              <a:rPr lang="en-US" sz="3200" dirty="0">
                <a:solidFill>
                  <a:srgbClr val="FF0000"/>
                </a:solidFill>
                <a:latin typeface="Bahnschrift" panose="020B0502040204020203" pitchFamily="34" charset="0"/>
              </a:rPr>
              <a:t>DEBIT BALANCE</a:t>
            </a:r>
            <a:r>
              <a:rPr lang="en-US" sz="3200" dirty="0">
                <a:latin typeface="Bahnschrift" panose="020B0502040204020203" pitchFamily="34" charset="0"/>
              </a:rPr>
              <a:t>: this occurs when the sum of the debits exceeds the sum of </a:t>
            </a:r>
            <a:r>
              <a:rPr lang="en-US" sz="3200" dirty="0" smtClean="0">
                <a:latin typeface="Bahnschrift" panose="020B0502040204020203" pitchFamily="34" charset="0"/>
              </a:rPr>
              <a:t>credits</a:t>
            </a:r>
            <a:endParaRPr lang="en-US" sz="3200" dirty="0" smtClean="0">
              <a:latin typeface="Bahnschrift" panose="020B0502040204020203" pitchFamily="34" charset="0"/>
            </a:endParaRPr>
          </a:p>
          <a:p>
            <a:r>
              <a:rPr lang="en-US" sz="3200" dirty="0" smtClean="0">
                <a:latin typeface="Bahnschrift" panose="020B0502040204020203" pitchFamily="34" charset="0"/>
              </a:rPr>
              <a:t>.</a:t>
            </a:r>
            <a:endParaRPr lang="en-US" sz="3200" dirty="0">
              <a:latin typeface="Bahnschrift" panose="020B0502040204020203" pitchFamily="34" charset="0"/>
            </a:endParaRPr>
          </a:p>
          <a:p>
            <a:r>
              <a:rPr lang="en-US" sz="3200" dirty="0">
                <a:solidFill>
                  <a:srgbClr val="FF0000"/>
                </a:solidFill>
                <a:latin typeface="Bahnschrift" panose="020B0502040204020203" pitchFamily="34" charset="0"/>
              </a:rPr>
              <a:t>CREDIT BALANCE</a:t>
            </a:r>
            <a:r>
              <a:rPr lang="en-US" sz="3200" dirty="0">
                <a:latin typeface="Bahnschrift" panose="020B0502040204020203" pitchFamily="34" charset="0"/>
              </a:rPr>
              <a:t>: this occurs when the sum of the credits exceeds the sum of debits</a:t>
            </a:r>
            <a:r>
              <a:rPr lang="en-US" sz="3200" dirty="0" smtClean="0">
                <a:latin typeface="Bahnschrift" panose="020B0502040204020203" pitchFamily="34" charset="0"/>
              </a:rPr>
              <a:t>.</a:t>
            </a:r>
            <a:endParaRPr lang="en-US" sz="3200" dirty="0" smtClean="0">
              <a:latin typeface="Bahnschrift" panose="020B0502040204020203" pitchFamily="34" charset="0"/>
            </a:endParaRPr>
          </a:p>
          <a:p>
            <a:endParaRPr lang="en-US" sz="3200" dirty="0">
              <a:latin typeface="Bahnschrift" panose="020B0502040204020203" pitchFamily="34" charset="0"/>
            </a:endParaRPr>
          </a:p>
          <a:p>
            <a:r>
              <a:rPr lang="en-US" sz="3200" dirty="0">
                <a:solidFill>
                  <a:srgbClr val="FF0000"/>
                </a:solidFill>
                <a:latin typeface="Bahnschrift" panose="020B0502040204020203" pitchFamily="34" charset="0"/>
              </a:rPr>
              <a:t>ZERO BALANCE</a:t>
            </a:r>
            <a:r>
              <a:rPr lang="en-US" sz="3200" dirty="0">
                <a:latin typeface="Bahnschrift" panose="020B0502040204020203" pitchFamily="34" charset="0"/>
              </a:rPr>
              <a:t>: this occurs when the sum of both sides of account debits and credits are equal. It means the sum of credits equals the sum of debits of an account.</a:t>
            </a:r>
            <a:endParaRPr lang="en-US" sz="32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9007" y="173734"/>
            <a:ext cx="11887200" cy="6186309"/>
          </a:xfrm>
          <a:prstGeom prst="rect">
            <a:avLst/>
          </a:prstGeom>
        </p:spPr>
        <p:txBody>
          <a:bodyPr wrap="square">
            <a:spAutoFit/>
          </a:bodyPr>
          <a:lstStyle/>
          <a:p>
            <a:pPr algn="ctr"/>
            <a:r>
              <a:rPr lang="en-US" sz="3300" b="1" dirty="0" smtClean="0">
                <a:solidFill>
                  <a:srgbClr val="FF0000"/>
                </a:solidFill>
                <a:latin typeface="Bahnschrift" panose="020B0502040204020203" pitchFamily="34" charset="0"/>
              </a:rPr>
              <a:t>2.5. </a:t>
            </a:r>
            <a:r>
              <a:rPr lang="en-US" sz="3300" b="1" dirty="0">
                <a:solidFill>
                  <a:srgbClr val="FF0000"/>
                </a:solidFill>
                <a:latin typeface="Bahnschrift" panose="020B0502040204020203" pitchFamily="34" charset="0"/>
              </a:rPr>
              <a:t>	BALANCING ACCOUNTS</a:t>
            </a:r>
            <a:endParaRPr lang="en-US" sz="3300" b="1" dirty="0">
              <a:solidFill>
                <a:srgbClr val="FF0000"/>
              </a:solidFill>
              <a:latin typeface="Bahnschrift" panose="020B0502040204020203" pitchFamily="34" charset="0"/>
            </a:endParaRPr>
          </a:p>
          <a:p>
            <a:pPr algn="just"/>
            <a:r>
              <a:rPr lang="en-US" sz="3300" dirty="0">
                <a:latin typeface="Bahnschrift" panose="020B0502040204020203" pitchFamily="34" charset="0"/>
              </a:rPr>
              <a:t>Balancing accounts involves the following process:</a:t>
            </a:r>
            <a:endParaRPr lang="en-US" sz="3300" dirty="0">
              <a:latin typeface="Bahnschrift" panose="020B0502040204020203" pitchFamily="34" charset="0"/>
            </a:endParaRPr>
          </a:p>
          <a:p>
            <a:pPr algn="just"/>
            <a:r>
              <a:rPr lang="en-US" sz="3300" dirty="0">
                <a:latin typeface="Bahnschrift" panose="020B0502040204020203" pitchFamily="34" charset="0"/>
              </a:rPr>
              <a:t>1.	Total up the amounts on the debit and credit sides;</a:t>
            </a:r>
            <a:endParaRPr lang="en-US" sz="3300" dirty="0">
              <a:latin typeface="Bahnschrift" panose="020B0502040204020203" pitchFamily="34" charset="0"/>
            </a:endParaRPr>
          </a:p>
          <a:p>
            <a:pPr algn="just"/>
            <a:r>
              <a:rPr lang="en-US" sz="3300" dirty="0">
                <a:latin typeface="Bahnschrift" panose="020B0502040204020203" pitchFamily="34" charset="0"/>
              </a:rPr>
              <a:t>2.	Compare the two totals, and find out the difference;</a:t>
            </a:r>
            <a:endParaRPr lang="en-US" sz="3300" dirty="0">
              <a:latin typeface="Bahnschrift" panose="020B0502040204020203" pitchFamily="34" charset="0"/>
            </a:endParaRPr>
          </a:p>
          <a:p>
            <a:pPr algn="just"/>
            <a:r>
              <a:rPr lang="en-US" sz="3300" dirty="0">
                <a:latin typeface="Bahnschrift" panose="020B0502040204020203" pitchFamily="34" charset="0"/>
              </a:rPr>
              <a:t>3.	The difference between the two totals is placed on the side with lesser total and called balance carried forward (balance c/f) or balance carried down (balance c/d) and this closes the current period (has the ending period date). So now both debit and credit totals equal each other.</a:t>
            </a:r>
            <a:endParaRPr lang="en-US" sz="3300" dirty="0">
              <a:latin typeface="Bahnschrift" panose="020B0502040204020203" pitchFamily="34" charset="0"/>
            </a:endParaRPr>
          </a:p>
          <a:p>
            <a:pPr algn="just"/>
            <a:r>
              <a:rPr lang="en-US" sz="3300" dirty="0">
                <a:latin typeface="Bahnschrift" panose="020B0502040204020203" pitchFamily="34" charset="0"/>
              </a:rPr>
              <a:t>4.	Then the totals of both debit and credit are shown after underlining the last amounts on the same row. The total is then underlined with double lines</a:t>
            </a:r>
            <a:r>
              <a:rPr lang="en-US" sz="3300" dirty="0" smtClean="0">
                <a:latin typeface="Bahnschrift" panose="020B0502040204020203" pitchFamily="34" charset="0"/>
              </a:rPr>
              <a:t>;</a:t>
            </a:r>
            <a:endParaRPr lang="en-US" sz="33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343" y="0"/>
            <a:ext cx="11608526" cy="6555641"/>
          </a:xfrm>
          <a:prstGeom prst="rect">
            <a:avLst/>
          </a:prstGeom>
        </p:spPr>
        <p:txBody>
          <a:bodyPr wrap="square">
            <a:spAutoFit/>
          </a:bodyPr>
          <a:lstStyle/>
          <a:p>
            <a:endParaRPr lang="en-US" sz="3000" dirty="0" smtClean="0">
              <a:latin typeface="+mj-lt"/>
            </a:endParaRPr>
          </a:p>
          <a:p>
            <a:r>
              <a:rPr lang="en-US" sz="3000" dirty="0" smtClean="0">
                <a:latin typeface="Bahnschrift" panose="020B0502040204020203" pitchFamily="34" charset="0"/>
              </a:rPr>
              <a:t>5</a:t>
            </a:r>
            <a:r>
              <a:rPr lang="en-US" sz="3000" dirty="0">
                <a:latin typeface="Bahnschrift" panose="020B0502040204020203" pitchFamily="34" charset="0"/>
              </a:rPr>
              <a:t>.	The balance c/f amount is </a:t>
            </a:r>
            <a:r>
              <a:rPr lang="en-US" sz="3000" dirty="0" smtClean="0">
                <a:latin typeface="Bahnschrift" panose="020B0502040204020203" pitchFamily="34" charset="0"/>
              </a:rPr>
              <a:t>then </a:t>
            </a:r>
            <a:r>
              <a:rPr lang="en-US" sz="3000" dirty="0">
                <a:latin typeface="Bahnschrift" panose="020B0502040204020203" pitchFamily="34" charset="0"/>
              </a:rPr>
              <a:t>placed below the totals but on the opposite side (if it was on the debit, then placed on the credit and vice versa). This balance is then now known as the balance brought forward (balance b/f) or balance brought down (balance b/d) to start of the following period (has the starting period date). This balance, if is on the debit side is a debit balance and if is on the credit side is a credit balance. Notice the way the balance is on the opposite side when it is being carried forward.</a:t>
            </a:r>
            <a:endParaRPr lang="en-US" sz="3000" dirty="0">
              <a:latin typeface="Bahnschrift" panose="020B0502040204020203" pitchFamily="34" charset="0"/>
            </a:endParaRPr>
          </a:p>
          <a:p>
            <a:r>
              <a:rPr lang="en-US" sz="3000" dirty="0">
                <a:latin typeface="Bahnschrift" panose="020B0502040204020203" pitchFamily="34" charset="0"/>
              </a:rPr>
              <a:t>•	If there is use of balance c/f, it should be used with balance </a:t>
            </a:r>
            <a:r>
              <a:rPr lang="en-US" sz="3000" dirty="0" err="1">
                <a:latin typeface="Bahnschrift" panose="020B0502040204020203" pitchFamily="34" charset="0"/>
              </a:rPr>
              <a:t>b/f</a:t>
            </a:r>
            <a:r>
              <a:rPr lang="en-US" sz="3000" dirty="0">
                <a:latin typeface="Bahnschrift" panose="020B0502040204020203" pitchFamily="34" charset="0"/>
              </a:rPr>
              <a:t> consistently;</a:t>
            </a:r>
            <a:endParaRPr lang="en-US" sz="3000" dirty="0">
              <a:latin typeface="Bahnschrift" panose="020B0502040204020203" pitchFamily="34" charset="0"/>
            </a:endParaRPr>
          </a:p>
          <a:p>
            <a:r>
              <a:rPr lang="en-US" sz="3000" dirty="0">
                <a:latin typeface="Bahnschrift" panose="020B0502040204020203" pitchFamily="34" charset="0"/>
              </a:rPr>
              <a:t>•	If balance c/d is used then, it should be used with b/d consistently. Make sure this is followed throughout the accounting practice.</a:t>
            </a:r>
            <a:endParaRPr lang="en-US" sz="30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00B050"/>
                </a:solidFill>
                <a:latin typeface="Arial Rounded MT Bold" panose="020F0704030504030204" pitchFamily="34" charset="0"/>
              </a:rPr>
              <a:t>Assignment 4</a:t>
            </a:r>
            <a:endParaRPr lang="en-US" dirty="0">
              <a:solidFill>
                <a:srgbClr val="00B050"/>
              </a:solidFill>
              <a:latin typeface="Arial Rounded MT Bold" panose="020F0704030504030204" pitchFamily="34" charset="0"/>
            </a:endParaRPr>
          </a:p>
        </p:txBody>
      </p:sp>
      <p:sp>
        <p:nvSpPr>
          <p:cNvPr id="3" name="Content Placeholder 2"/>
          <p:cNvSpPr>
            <a:spLocks noGrp="1"/>
          </p:cNvSpPr>
          <p:nvPr>
            <p:ph idx="1"/>
          </p:nvPr>
        </p:nvSpPr>
        <p:spPr/>
        <p:txBody>
          <a:bodyPr>
            <a:normAutofit/>
          </a:bodyPr>
          <a:lstStyle/>
          <a:p>
            <a:pPr marL="0" indent="0" algn="just">
              <a:buNone/>
            </a:pPr>
            <a:r>
              <a:rPr lang="en-US" sz="4000" dirty="0" smtClean="0">
                <a:latin typeface="Arial Rounded MT Bold" panose="020F0704030504030204" pitchFamily="34" charset="0"/>
              </a:rPr>
              <a:t>Using other books or other authors please find terminologies describing the types of account and identify </a:t>
            </a:r>
            <a:r>
              <a:rPr lang="en-US" sz="4000" smtClean="0">
                <a:latin typeface="Arial Rounded MT Bold" panose="020F0704030504030204" pitchFamily="34" charset="0"/>
              </a:rPr>
              <a:t>similarities or </a:t>
            </a:r>
            <a:r>
              <a:rPr lang="en-US" sz="4000" dirty="0" smtClean="0">
                <a:latin typeface="Arial Rounded MT Bold" panose="020F0704030504030204" pitchFamily="34" charset="0"/>
              </a:rPr>
              <a:t>differences</a:t>
            </a:r>
            <a:endParaRPr lang="en-US" sz="4000" dirty="0">
              <a:latin typeface="Arial Rounded MT Bold" panose="020F07040305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245"/>
            <a:ext cx="10515600" cy="610235"/>
          </a:xfrm>
        </p:spPr>
        <p:txBody>
          <a:bodyPr>
            <a:normAutofit fontScale="90000"/>
          </a:bodyPr>
          <a:lstStyle/>
          <a:p>
            <a:pPr algn="ctr"/>
            <a:r>
              <a:rPr lang="en-US" dirty="0" smtClean="0">
                <a:solidFill>
                  <a:srgbClr val="FF0000"/>
                </a:solidFill>
                <a:latin typeface="Arial Rounded MT Bold" panose="020F0704030504030204" pitchFamily="34" charset="0"/>
              </a:rPr>
              <a:t>2.6.CHART OF ACCOUNTS</a:t>
            </a:r>
            <a:endParaRPr lang="en-US" dirty="0">
              <a:solidFill>
                <a:srgbClr val="FF0000"/>
              </a:solidFill>
              <a:latin typeface="Arial Rounded MT Bold" panose="020F0704030504030204" pitchFamily="34" charset="0"/>
            </a:endParaRPr>
          </a:p>
        </p:txBody>
      </p:sp>
      <p:sp>
        <p:nvSpPr>
          <p:cNvPr id="3" name="Content Placeholder 2"/>
          <p:cNvSpPr>
            <a:spLocks noGrp="1"/>
          </p:cNvSpPr>
          <p:nvPr>
            <p:ph idx="1"/>
          </p:nvPr>
        </p:nvSpPr>
        <p:spPr>
          <a:xfrm>
            <a:off x="341376" y="792480"/>
            <a:ext cx="11850624" cy="6065519"/>
          </a:xfrm>
        </p:spPr>
        <p:txBody>
          <a:bodyPr>
            <a:normAutofit lnSpcReduction="10000"/>
          </a:bodyPr>
          <a:lstStyle/>
          <a:p>
            <a:pPr marL="0" indent="0">
              <a:buNone/>
            </a:pPr>
            <a:r>
              <a:rPr lang="en-US" sz="3500" dirty="0">
                <a:latin typeface="Bahnschrift SemiBold" panose="020B0502040204020203" pitchFamily="34" charset="0"/>
              </a:rPr>
              <a:t>The ledger contains the accounts grouped under these headings:</a:t>
            </a:r>
            <a:endParaRPr lang="en-US" sz="3500" dirty="0">
              <a:latin typeface="Bahnschrift SemiBold" panose="020B0502040204020203" pitchFamily="34" charset="0"/>
            </a:endParaRPr>
          </a:p>
          <a:p>
            <a:pPr marL="0" indent="0">
              <a:buNone/>
            </a:pPr>
            <a:r>
              <a:rPr lang="en-US" sz="3500" dirty="0">
                <a:latin typeface="Bahnschrift SemiBold" panose="020B0502040204020203" pitchFamily="34" charset="0"/>
              </a:rPr>
              <a:t>	</a:t>
            </a:r>
            <a:r>
              <a:rPr lang="en-US" sz="3500" dirty="0" smtClean="0">
                <a:solidFill>
                  <a:srgbClr val="0070C0"/>
                </a:solidFill>
                <a:latin typeface="Bahnschrift SemiBold" panose="020B0502040204020203" pitchFamily="34" charset="0"/>
              </a:rPr>
              <a:t>● </a:t>
            </a:r>
            <a:r>
              <a:rPr lang="en-US" sz="3500" dirty="0">
                <a:solidFill>
                  <a:srgbClr val="0070C0"/>
                </a:solidFill>
                <a:latin typeface="Bahnschrift SemiBold" panose="020B0502040204020203" pitchFamily="34" charset="0"/>
              </a:rPr>
              <a:t>Assets, Liabilities, and Owner’s </a:t>
            </a:r>
            <a:r>
              <a:rPr lang="en-US" sz="3500" dirty="0" smtClean="0">
                <a:solidFill>
                  <a:srgbClr val="0070C0"/>
                </a:solidFill>
                <a:latin typeface="Bahnschrift SemiBold" panose="020B0502040204020203" pitchFamily="34" charset="0"/>
              </a:rPr>
              <a:t>Equity (Balance Sheet).</a:t>
            </a:r>
            <a:endParaRPr lang="en-US" sz="3500" dirty="0" smtClean="0">
              <a:solidFill>
                <a:srgbClr val="0070C0"/>
              </a:solidFill>
              <a:latin typeface="Bahnschrift SemiBold" panose="020B0502040204020203" pitchFamily="34" charset="0"/>
            </a:endParaRPr>
          </a:p>
          <a:p>
            <a:pPr marL="0" indent="0">
              <a:buNone/>
            </a:pPr>
            <a:endParaRPr lang="en-US" sz="3500" dirty="0">
              <a:solidFill>
                <a:srgbClr val="0070C0"/>
              </a:solidFill>
              <a:latin typeface="Bahnschrift SemiBold" panose="020B0502040204020203" pitchFamily="34" charset="0"/>
            </a:endParaRPr>
          </a:p>
          <a:p>
            <a:pPr marL="0" indent="0">
              <a:buNone/>
            </a:pPr>
            <a:r>
              <a:rPr lang="en-US" sz="3500" dirty="0" smtClean="0">
                <a:solidFill>
                  <a:srgbClr val="0070C0"/>
                </a:solidFill>
                <a:latin typeface="Bahnschrift SemiBold" panose="020B0502040204020203" pitchFamily="34" charset="0"/>
              </a:rPr>
              <a:t>	● </a:t>
            </a:r>
            <a:r>
              <a:rPr lang="en-US" sz="3500" dirty="0">
                <a:solidFill>
                  <a:srgbClr val="0070C0"/>
                </a:solidFill>
                <a:latin typeface="Bahnschrift SemiBold" panose="020B0502040204020203" pitchFamily="34" charset="0"/>
              </a:rPr>
              <a:t>Revenues and </a:t>
            </a:r>
            <a:r>
              <a:rPr lang="en-US" sz="3500" dirty="0" smtClean="0">
                <a:solidFill>
                  <a:srgbClr val="0070C0"/>
                </a:solidFill>
                <a:latin typeface="Bahnschrift SemiBold" panose="020B0502040204020203" pitchFamily="34" charset="0"/>
              </a:rPr>
              <a:t>Expenses ( Income Statement).</a:t>
            </a:r>
            <a:endParaRPr lang="en-US" sz="3500" dirty="0">
              <a:solidFill>
                <a:srgbClr val="0070C0"/>
              </a:solidFill>
              <a:latin typeface="Bahnschrift SemiBold" panose="020B0502040204020203" pitchFamily="34" charset="0"/>
            </a:endParaRPr>
          </a:p>
          <a:p>
            <a:pPr marL="0" indent="0">
              <a:buNone/>
            </a:pPr>
            <a:r>
              <a:rPr lang="en-US" sz="3500" dirty="0">
                <a:latin typeface="Bahnschrift SemiBold" panose="020B0502040204020203" pitchFamily="34" charset="0"/>
              </a:rPr>
              <a:t>Companies use a chart of accounts to list all their accounts along with </a:t>
            </a:r>
            <a:r>
              <a:rPr lang="en-US" sz="3500" dirty="0" smtClean="0">
                <a:latin typeface="Bahnschrift SemiBold" panose="020B0502040204020203" pitchFamily="34" charset="0"/>
              </a:rPr>
              <a:t>the account </a:t>
            </a:r>
            <a:r>
              <a:rPr lang="en-US" sz="3500" dirty="0">
                <a:latin typeface="Bahnschrift SemiBold" panose="020B0502040204020203" pitchFamily="34" charset="0"/>
              </a:rPr>
              <a:t>numbers. </a:t>
            </a:r>
            <a:endParaRPr lang="en-US" sz="3500" dirty="0" smtClean="0">
              <a:latin typeface="Bahnschrift SemiBold" panose="020B0502040204020203" pitchFamily="34" charset="0"/>
            </a:endParaRPr>
          </a:p>
          <a:p>
            <a:pPr marL="0" indent="0">
              <a:buNone/>
            </a:pPr>
            <a:endParaRPr lang="en-US" sz="3500" dirty="0">
              <a:latin typeface="Bahnschrift SemiBold" panose="020B0502040204020203" pitchFamily="34" charset="0"/>
            </a:endParaRPr>
          </a:p>
          <a:p>
            <a:pPr marL="0" indent="0">
              <a:buNone/>
            </a:pPr>
            <a:r>
              <a:rPr lang="en-US" sz="3500" dirty="0" smtClean="0">
                <a:latin typeface="Bahnschrift SemiBold" panose="020B0502040204020203" pitchFamily="34" charset="0"/>
              </a:rPr>
              <a:t>Account </a:t>
            </a:r>
            <a:r>
              <a:rPr lang="en-US" sz="3500" dirty="0">
                <a:latin typeface="Bahnschrift SemiBold" panose="020B0502040204020203" pitchFamily="34" charset="0"/>
              </a:rPr>
              <a:t>numbers are just shorthand versions of the account names. One </a:t>
            </a:r>
            <a:r>
              <a:rPr lang="en-US" sz="3500" dirty="0" smtClean="0">
                <a:latin typeface="Bahnschrift SemiBold" panose="020B0502040204020203" pitchFamily="34" charset="0"/>
              </a:rPr>
              <a:t>account number </a:t>
            </a:r>
            <a:r>
              <a:rPr lang="en-US" sz="3500" dirty="0">
                <a:latin typeface="Bahnschrift SemiBold" panose="020B0502040204020203" pitchFamily="34" charset="0"/>
              </a:rPr>
              <a:t>equals one </a:t>
            </a:r>
            <a:r>
              <a:rPr lang="en-US" sz="3500" dirty="0" smtClean="0">
                <a:latin typeface="Bahnschrift SemiBold" panose="020B0502040204020203" pitchFamily="34" charset="0"/>
              </a:rPr>
              <a:t>account.</a:t>
            </a:r>
            <a:endParaRPr lang="en-US" sz="3500" dirty="0" smtClean="0">
              <a:latin typeface="Bahnschrift SemiBold" panose="020B0502040204020203" pitchFamily="34" charset="0"/>
            </a:endParaRPr>
          </a:p>
          <a:p>
            <a:pPr marL="0" indent="0">
              <a:buNone/>
            </a:pPr>
            <a:endParaRPr lang="en-US" sz="3500" dirty="0">
              <a:latin typeface="Bahnschrift SemiBold" panose="020B0502040204020203"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7714" y="175741"/>
            <a:ext cx="11808823" cy="6555641"/>
          </a:xfrm>
          <a:prstGeom prst="rect">
            <a:avLst/>
          </a:prstGeom>
        </p:spPr>
        <p:txBody>
          <a:bodyPr wrap="square">
            <a:spAutoFit/>
          </a:bodyPr>
          <a:lstStyle/>
          <a:p>
            <a:pPr algn="just"/>
            <a:r>
              <a:rPr lang="en-US" sz="2800" dirty="0">
                <a:latin typeface="Arial Rounded MT Bold" panose="020F0704030504030204" pitchFamily="34" charset="0"/>
              </a:rPr>
              <a:t>A ledger (general ledger) is the complete collection of all the accounts of a company. Accounts are classified into two general groups: </a:t>
            </a:r>
            <a:endParaRPr lang="en-US" sz="2800" dirty="0" smtClean="0">
              <a:latin typeface="Arial Rounded MT Bold" panose="020F0704030504030204" pitchFamily="34" charset="0"/>
            </a:endParaRPr>
          </a:p>
          <a:p>
            <a:pPr algn="just"/>
            <a:r>
              <a:rPr lang="en-US" sz="2800" dirty="0" smtClean="0">
                <a:solidFill>
                  <a:srgbClr val="FF0000"/>
                </a:solidFill>
                <a:latin typeface="Arial Rounded MT Bold" panose="020F0704030504030204" pitchFamily="34" charset="0"/>
              </a:rPr>
              <a:t>(</a:t>
            </a:r>
            <a:r>
              <a:rPr lang="en-US" sz="2800" dirty="0">
                <a:solidFill>
                  <a:srgbClr val="FF0000"/>
                </a:solidFill>
                <a:latin typeface="Arial Rounded MT Bold" panose="020F0704030504030204" pitchFamily="34" charset="0"/>
              </a:rPr>
              <a:t>1) </a:t>
            </a:r>
            <a:r>
              <a:rPr lang="en-US" sz="2800" dirty="0" smtClean="0">
                <a:solidFill>
                  <a:srgbClr val="FF0000"/>
                </a:solidFill>
                <a:latin typeface="Arial Rounded MT Bold" panose="020F0704030504030204" pitchFamily="34" charset="0"/>
              </a:rPr>
              <a:t>Balance </a:t>
            </a:r>
            <a:r>
              <a:rPr lang="en-US" sz="2800" dirty="0">
                <a:solidFill>
                  <a:srgbClr val="FF0000"/>
                </a:solidFill>
                <a:latin typeface="Arial Rounded MT Bold" panose="020F0704030504030204" pitchFamily="34" charset="0"/>
              </a:rPr>
              <a:t>sheet accounts (assets, liabilities, and owner’s equity) and (2) </a:t>
            </a:r>
            <a:r>
              <a:rPr lang="en-US" sz="2800" dirty="0" smtClean="0">
                <a:solidFill>
                  <a:srgbClr val="FF0000"/>
                </a:solidFill>
                <a:latin typeface="Arial Rounded MT Bold" panose="020F0704030504030204" pitchFamily="34" charset="0"/>
              </a:rPr>
              <a:t>Income </a:t>
            </a:r>
            <a:r>
              <a:rPr lang="en-US" sz="2800" dirty="0">
                <a:solidFill>
                  <a:srgbClr val="FF0000"/>
                </a:solidFill>
                <a:latin typeface="Arial Rounded MT Bold" panose="020F0704030504030204" pitchFamily="34" charset="0"/>
              </a:rPr>
              <a:t>statement accounts (revenues and expenses).</a:t>
            </a:r>
            <a:endParaRPr lang="en-US" sz="2800" dirty="0">
              <a:solidFill>
                <a:srgbClr val="FF0000"/>
              </a:solidFill>
              <a:latin typeface="Arial Rounded MT Bold" panose="020F0704030504030204" pitchFamily="34" charset="0"/>
            </a:endParaRPr>
          </a:p>
          <a:p>
            <a:pPr algn="just"/>
            <a:endParaRPr lang="en-US" sz="2800" dirty="0" smtClean="0">
              <a:solidFill>
                <a:srgbClr val="00B050"/>
              </a:solidFill>
              <a:latin typeface="Arial Rounded MT Bold" panose="020F0704030504030204" pitchFamily="34" charset="0"/>
            </a:endParaRPr>
          </a:p>
          <a:p>
            <a:pPr algn="just"/>
            <a:r>
              <a:rPr lang="en-US" sz="2800" dirty="0" smtClean="0">
                <a:solidFill>
                  <a:srgbClr val="00B050"/>
                </a:solidFill>
                <a:latin typeface="Arial Rounded MT Bold" panose="020F0704030504030204" pitchFamily="34" charset="0"/>
              </a:rPr>
              <a:t>A ledger is a </a:t>
            </a:r>
            <a:r>
              <a:rPr lang="en-US" sz="2800" dirty="0">
                <a:solidFill>
                  <a:srgbClr val="00B050"/>
                </a:solidFill>
                <a:latin typeface="Arial Rounded MT Bold" panose="020F0704030504030204" pitchFamily="34" charset="0"/>
              </a:rPr>
              <a:t>complete listing of account titles and account numbers of all the accounts in the ledger is known as the chart of accounts</a:t>
            </a:r>
            <a:r>
              <a:rPr lang="en-US" sz="2800" dirty="0" smtClean="0">
                <a:solidFill>
                  <a:srgbClr val="00B050"/>
                </a:solidFill>
                <a:latin typeface="Arial Rounded MT Bold" panose="020F0704030504030204" pitchFamily="34" charset="0"/>
              </a:rPr>
              <a:t>.</a:t>
            </a:r>
            <a:endParaRPr lang="en-US" sz="2800" dirty="0" smtClean="0">
              <a:solidFill>
                <a:srgbClr val="00B050"/>
              </a:solidFill>
              <a:latin typeface="Arial Rounded MT Bold" panose="020F0704030504030204" pitchFamily="34" charset="0"/>
            </a:endParaRPr>
          </a:p>
          <a:p>
            <a:pPr algn="just"/>
            <a:endParaRPr lang="en-US" sz="2800" dirty="0">
              <a:solidFill>
                <a:srgbClr val="00B050"/>
              </a:solidFill>
              <a:latin typeface="Arial Rounded MT Bold" panose="020F0704030504030204" pitchFamily="34" charset="0"/>
            </a:endParaRPr>
          </a:p>
          <a:p>
            <a:pPr algn="just"/>
            <a:r>
              <a:rPr lang="en-US" sz="2800" dirty="0">
                <a:latin typeface="Arial Rounded MT Bold" panose="020F0704030504030204" pitchFamily="34" charset="0"/>
              </a:rPr>
              <a:t>A Ledger is a group of accounts or a book or a printout holding all the </a:t>
            </a:r>
            <a:r>
              <a:rPr lang="en-US" sz="2800" dirty="0" smtClean="0">
                <a:latin typeface="Arial Rounded MT Bold" panose="020F0704030504030204" pitchFamily="34" charset="0"/>
              </a:rPr>
              <a:t>transactions.  </a:t>
            </a:r>
            <a:endParaRPr lang="en-US" sz="2800" dirty="0">
              <a:latin typeface="Arial Rounded MT Bold" panose="020F0704030504030204" pitchFamily="34" charset="0"/>
            </a:endParaRPr>
          </a:p>
          <a:p>
            <a:pPr algn="ctr"/>
            <a:r>
              <a:rPr lang="en-US" sz="2800" b="1" dirty="0">
                <a:latin typeface="Arial Rounded MT Bold" panose="020F0704030504030204" pitchFamily="34" charset="0"/>
              </a:rPr>
              <a:t>Types of </a:t>
            </a:r>
            <a:r>
              <a:rPr lang="en-US" sz="2800" b="1" dirty="0" smtClean="0">
                <a:latin typeface="Arial Rounded MT Bold" panose="020F0704030504030204" pitchFamily="34" charset="0"/>
              </a:rPr>
              <a:t>ledgers </a:t>
            </a:r>
            <a:endParaRPr lang="en-US" sz="2800" b="1" dirty="0" smtClean="0">
              <a:latin typeface="Arial Rounded MT Bold" panose="020F0704030504030204" pitchFamily="34" charset="0"/>
            </a:endParaRPr>
          </a:p>
          <a:p>
            <a:pPr algn="just"/>
            <a:r>
              <a:rPr lang="en-US" sz="2800" dirty="0" smtClean="0">
                <a:latin typeface="Arial Rounded MT Bold" panose="020F0704030504030204" pitchFamily="34" charset="0"/>
              </a:rPr>
              <a:t>Double </a:t>
            </a:r>
            <a:r>
              <a:rPr lang="en-US" sz="2800" dirty="0">
                <a:latin typeface="Arial Rounded MT Bold" panose="020F0704030504030204" pitchFamily="34" charset="0"/>
              </a:rPr>
              <a:t>entry accounts are kept in various types of ledgers described as follows:</a:t>
            </a:r>
            <a:endParaRPr lang="en-US" sz="2800" dirty="0">
              <a:latin typeface="Arial Rounded MT Bold" panose="020F0704030504030204"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1248" y="450426"/>
            <a:ext cx="10960608" cy="5016758"/>
          </a:xfrm>
          <a:prstGeom prst="rect">
            <a:avLst/>
          </a:prstGeom>
        </p:spPr>
        <p:txBody>
          <a:bodyPr wrap="square">
            <a:spAutoFit/>
          </a:bodyPr>
          <a:lstStyle/>
          <a:p>
            <a:pPr algn="just"/>
            <a:r>
              <a:rPr lang="en-US" sz="3200" dirty="0">
                <a:latin typeface="Bahnschrift SemiBold" panose="020B0502040204020203" pitchFamily="34" charset="0"/>
              </a:rPr>
              <a:t>Account numbers usually have two or more </a:t>
            </a:r>
            <a:r>
              <a:rPr lang="en-US" sz="3200" dirty="0" smtClean="0">
                <a:latin typeface="Bahnschrift SemiBold" panose="020B0502040204020203" pitchFamily="34" charset="0"/>
              </a:rPr>
              <a:t>digits: </a:t>
            </a:r>
            <a:endParaRPr lang="en-US" sz="3200" dirty="0" smtClean="0">
              <a:latin typeface="Bahnschrift SemiBold" panose="020B0502040204020203" pitchFamily="34" charset="0"/>
            </a:endParaRPr>
          </a:p>
          <a:p>
            <a:pPr algn="just"/>
            <a:endParaRPr lang="en-US" sz="3200" dirty="0">
              <a:latin typeface="Bahnschrift SemiBold" panose="020B0502040204020203" pitchFamily="34" charset="0"/>
            </a:endParaRPr>
          </a:p>
          <a:p>
            <a:pPr marL="457200" indent="-457200" algn="just">
              <a:buFont typeface="Wingdings" panose="05000000000000000000" pitchFamily="2" charset="2"/>
              <a:buChar char="ü"/>
            </a:pPr>
            <a:r>
              <a:rPr lang="en-US" sz="3200" dirty="0" smtClean="0">
                <a:latin typeface="Bahnschrift SemiBold" panose="020B0502040204020203" pitchFamily="34" charset="0"/>
              </a:rPr>
              <a:t>Assets </a:t>
            </a:r>
            <a:r>
              <a:rPr lang="en-US" sz="3200" dirty="0">
                <a:latin typeface="Bahnschrift SemiBold" panose="020B0502040204020203" pitchFamily="34" charset="0"/>
              </a:rPr>
              <a:t>are often </a:t>
            </a:r>
            <a:r>
              <a:rPr lang="en-US" sz="3200" dirty="0" smtClean="0">
                <a:latin typeface="Bahnschrift SemiBold" panose="020B0502040204020203" pitchFamily="34" charset="0"/>
              </a:rPr>
              <a:t>numbered beginning </a:t>
            </a:r>
            <a:r>
              <a:rPr lang="en-US" sz="3200" dirty="0">
                <a:latin typeface="Bahnschrift SemiBold" panose="020B0502040204020203" pitchFamily="34" charset="0"/>
              </a:rPr>
              <a:t>with 1, </a:t>
            </a:r>
            <a:endParaRPr lang="en-US" sz="3200" dirty="0" smtClean="0">
              <a:latin typeface="Bahnschrift SemiBold" panose="020B0502040204020203" pitchFamily="34" charset="0"/>
            </a:endParaRPr>
          </a:p>
          <a:p>
            <a:pPr marL="457200" indent="-457200" algn="just">
              <a:buFont typeface="Wingdings" panose="05000000000000000000" pitchFamily="2" charset="2"/>
              <a:buChar char="ü"/>
            </a:pPr>
            <a:r>
              <a:rPr lang="en-US" sz="3200" dirty="0" smtClean="0">
                <a:latin typeface="Bahnschrift SemiBold" panose="020B0502040204020203" pitchFamily="34" charset="0"/>
              </a:rPr>
              <a:t>liabilities </a:t>
            </a:r>
            <a:r>
              <a:rPr lang="en-US" sz="3200" dirty="0">
                <a:latin typeface="Bahnschrift SemiBold" panose="020B0502040204020203" pitchFamily="34" charset="0"/>
              </a:rPr>
              <a:t>with 2, </a:t>
            </a:r>
            <a:endParaRPr lang="en-US" sz="3200" dirty="0" smtClean="0">
              <a:latin typeface="Bahnschrift SemiBold" panose="020B0502040204020203" pitchFamily="34" charset="0"/>
            </a:endParaRPr>
          </a:p>
          <a:p>
            <a:pPr marL="457200" indent="-457200" algn="just">
              <a:buFont typeface="Wingdings" panose="05000000000000000000" pitchFamily="2" charset="2"/>
              <a:buChar char="ü"/>
            </a:pPr>
            <a:r>
              <a:rPr lang="en-US" sz="3200" dirty="0" smtClean="0">
                <a:latin typeface="Bahnschrift SemiBold" panose="020B0502040204020203" pitchFamily="34" charset="0"/>
              </a:rPr>
              <a:t>owner’s </a:t>
            </a:r>
            <a:r>
              <a:rPr lang="en-US" sz="3200" dirty="0">
                <a:latin typeface="Bahnschrift SemiBold" panose="020B0502040204020203" pitchFamily="34" charset="0"/>
              </a:rPr>
              <a:t>equity with 3, </a:t>
            </a:r>
            <a:endParaRPr lang="en-US" sz="3200" dirty="0" smtClean="0">
              <a:latin typeface="Bahnschrift SemiBold" panose="020B0502040204020203" pitchFamily="34" charset="0"/>
            </a:endParaRPr>
          </a:p>
          <a:p>
            <a:pPr marL="457200" indent="-457200" algn="just">
              <a:buFont typeface="Wingdings" panose="05000000000000000000" pitchFamily="2" charset="2"/>
              <a:buChar char="ü"/>
            </a:pPr>
            <a:r>
              <a:rPr lang="en-US" sz="3200" dirty="0" smtClean="0">
                <a:latin typeface="Bahnschrift SemiBold" panose="020B0502040204020203" pitchFamily="34" charset="0"/>
              </a:rPr>
              <a:t>revenues </a:t>
            </a:r>
            <a:r>
              <a:rPr lang="en-US" sz="3200" dirty="0">
                <a:latin typeface="Bahnschrift SemiBold" panose="020B0502040204020203" pitchFamily="34" charset="0"/>
              </a:rPr>
              <a:t>with 4, </a:t>
            </a:r>
            <a:endParaRPr lang="en-US" sz="3200" dirty="0" smtClean="0">
              <a:latin typeface="Bahnschrift SemiBold" panose="020B0502040204020203" pitchFamily="34" charset="0"/>
            </a:endParaRPr>
          </a:p>
          <a:p>
            <a:pPr marL="457200" indent="-457200" algn="just">
              <a:buFont typeface="Wingdings" panose="05000000000000000000" pitchFamily="2" charset="2"/>
              <a:buChar char="ü"/>
            </a:pPr>
            <a:r>
              <a:rPr lang="en-US" sz="3200" dirty="0" smtClean="0">
                <a:latin typeface="Bahnschrift SemiBold" panose="020B0502040204020203" pitchFamily="34" charset="0"/>
              </a:rPr>
              <a:t>and expenses </a:t>
            </a:r>
            <a:r>
              <a:rPr lang="en-US" sz="3200" dirty="0">
                <a:latin typeface="Bahnschrift SemiBold" panose="020B0502040204020203" pitchFamily="34" charset="0"/>
              </a:rPr>
              <a:t>with 5. </a:t>
            </a:r>
            <a:endParaRPr lang="en-US" sz="3200" dirty="0" smtClean="0">
              <a:latin typeface="Bahnschrift SemiBold" panose="020B0502040204020203" pitchFamily="34" charset="0"/>
            </a:endParaRPr>
          </a:p>
          <a:p>
            <a:pPr algn="just"/>
            <a:endParaRPr lang="en-US" sz="3200" dirty="0">
              <a:latin typeface="Bahnschrift SemiBold" panose="020B0502040204020203" pitchFamily="34" charset="0"/>
            </a:endParaRPr>
          </a:p>
          <a:p>
            <a:pPr algn="just"/>
            <a:r>
              <a:rPr lang="en-US" sz="3200" dirty="0" smtClean="0">
                <a:latin typeface="Bahnschrift SemiBold" panose="020B0502040204020203" pitchFamily="34" charset="0"/>
              </a:rPr>
              <a:t>The </a:t>
            </a:r>
            <a:r>
              <a:rPr lang="en-US" sz="3200" dirty="0">
                <a:latin typeface="Bahnschrift SemiBold" panose="020B0502040204020203" pitchFamily="34" charset="0"/>
              </a:rPr>
              <a:t>second and third digits in an account number indicate where the account fits within the category.</a:t>
            </a:r>
            <a:endParaRPr lang="en-US" sz="3200" dirty="0">
              <a:latin typeface="Bahnschrift SemiBold" panose="020B0502040204020203"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9456" y="266575"/>
            <a:ext cx="11753088" cy="6494085"/>
          </a:xfrm>
          <a:prstGeom prst="rect">
            <a:avLst/>
          </a:prstGeom>
        </p:spPr>
        <p:txBody>
          <a:bodyPr wrap="square">
            <a:spAutoFit/>
          </a:bodyPr>
          <a:lstStyle/>
          <a:p>
            <a:pPr algn="just"/>
            <a:r>
              <a:rPr lang="en-US" sz="3200" dirty="0" smtClean="0">
                <a:latin typeface="Arial Rounded MT Bold" panose="020F0704030504030204" pitchFamily="34" charset="0"/>
              </a:rPr>
              <a:t>Account </a:t>
            </a:r>
            <a:r>
              <a:rPr lang="en-US" sz="3200" dirty="0">
                <a:latin typeface="Arial Rounded MT Bold" panose="020F0704030504030204" pitchFamily="34" charset="0"/>
              </a:rPr>
              <a:t>numbers, Cash may be account number 101, the first asset account</a:t>
            </a:r>
            <a:r>
              <a:rPr lang="en-US" sz="3200" dirty="0" smtClean="0">
                <a:latin typeface="Arial Rounded MT Bold" panose="020F0704030504030204" pitchFamily="34" charset="0"/>
              </a:rPr>
              <a:t>.</a:t>
            </a:r>
            <a:endParaRPr lang="en-US" sz="3200" dirty="0" smtClean="0">
              <a:latin typeface="Arial Rounded MT Bold" panose="020F0704030504030204" pitchFamily="34" charset="0"/>
            </a:endParaRPr>
          </a:p>
          <a:p>
            <a:pPr algn="just"/>
            <a:endParaRPr lang="en-US" sz="3200" dirty="0">
              <a:latin typeface="Arial Rounded MT Bold" panose="020F0704030504030204" pitchFamily="34" charset="0"/>
            </a:endParaRPr>
          </a:p>
          <a:p>
            <a:pPr algn="just"/>
            <a:r>
              <a:rPr lang="en-US" sz="3200" dirty="0">
                <a:latin typeface="Arial Rounded MT Bold" panose="020F0704030504030204" pitchFamily="34" charset="0"/>
              </a:rPr>
              <a:t>Accounts receivable may be account number 111, the second asset. </a:t>
            </a:r>
            <a:endParaRPr lang="en-US" sz="3200" dirty="0" smtClean="0">
              <a:latin typeface="Arial Rounded MT Bold" panose="020F0704030504030204" pitchFamily="34" charset="0"/>
            </a:endParaRPr>
          </a:p>
          <a:p>
            <a:pPr algn="just"/>
            <a:endParaRPr lang="en-US" sz="3200" dirty="0">
              <a:latin typeface="Arial Rounded MT Bold" panose="020F0704030504030204" pitchFamily="34" charset="0"/>
            </a:endParaRPr>
          </a:p>
          <a:p>
            <a:pPr algn="just"/>
            <a:r>
              <a:rPr lang="en-US" sz="3200" dirty="0" smtClean="0">
                <a:latin typeface="Arial Rounded MT Bold" panose="020F0704030504030204" pitchFamily="34" charset="0"/>
              </a:rPr>
              <a:t>Accounts payable may </a:t>
            </a:r>
            <a:r>
              <a:rPr lang="en-US" sz="3200" dirty="0">
                <a:latin typeface="Arial Rounded MT Bold" panose="020F0704030504030204" pitchFamily="34" charset="0"/>
              </a:rPr>
              <a:t>be number 201, the first liability. When numbers are used, all accounts are </a:t>
            </a:r>
            <a:r>
              <a:rPr lang="en-US" sz="3200" dirty="0" smtClean="0">
                <a:latin typeface="Arial Rounded MT Bold" panose="020F0704030504030204" pitchFamily="34" charset="0"/>
              </a:rPr>
              <a:t>numbered </a:t>
            </a:r>
            <a:r>
              <a:rPr lang="en-US" sz="3200" dirty="0">
                <a:latin typeface="Arial Rounded MT Bold" panose="020F0704030504030204" pitchFamily="34" charset="0"/>
              </a:rPr>
              <a:t>by this system. However, each company chooses its own account </a:t>
            </a:r>
            <a:r>
              <a:rPr lang="en-US" sz="3200" dirty="0" smtClean="0">
                <a:latin typeface="Arial Rounded MT Bold" panose="020F0704030504030204" pitchFamily="34" charset="0"/>
              </a:rPr>
              <a:t>numbering system.</a:t>
            </a:r>
            <a:endParaRPr lang="en-US" sz="3200" dirty="0" smtClean="0">
              <a:latin typeface="Arial Rounded MT Bold" panose="020F0704030504030204" pitchFamily="34" charset="0"/>
            </a:endParaRPr>
          </a:p>
          <a:p>
            <a:pPr algn="just"/>
            <a:endParaRPr lang="en-US" sz="3200" dirty="0">
              <a:latin typeface="Arial Rounded MT Bold" panose="020F0704030504030204" pitchFamily="34" charset="0"/>
            </a:endParaRPr>
          </a:p>
          <a:p>
            <a:pPr algn="just"/>
            <a:r>
              <a:rPr lang="en-US" sz="3200" dirty="0" smtClean="0">
                <a:latin typeface="Arial Rounded MT Bold" panose="020F0704030504030204" pitchFamily="34" charset="0"/>
              </a:rPr>
              <a:t>Let us see an example </a:t>
            </a:r>
            <a:r>
              <a:rPr lang="en-US" sz="3200" dirty="0">
                <a:latin typeface="Arial Rounded MT Bold" panose="020F0704030504030204" pitchFamily="34" charset="0"/>
              </a:rPr>
              <a:t>here down of Chart of Accounts—</a:t>
            </a:r>
            <a:endParaRPr lang="en-US" sz="3200" dirty="0">
              <a:latin typeface="Arial Rounded MT Bold" panose="020F0704030504030204" pitchFamily="34" charset="0"/>
            </a:endParaRPr>
          </a:p>
          <a:p>
            <a:pPr algn="just"/>
            <a:r>
              <a:rPr lang="en-US" sz="3200" dirty="0">
                <a:latin typeface="Arial Rounded MT Bold" panose="020F0704030504030204" pitchFamily="34" charset="0"/>
              </a:rPr>
              <a:t>Smart Touch </a:t>
            </a:r>
            <a:r>
              <a:rPr lang="en-US" sz="3200" dirty="0" smtClean="0">
                <a:latin typeface="Arial Rounded MT Bold" panose="020F0704030504030204" pitchFamily="34" charset="0"/>
              </a:rPr>
              <a:t>Learning Smart </a:t>
            </a:r>
            <a:r>
              <a:rPr lang="en-US" sz="3200" dirty="0">
                <a:latin typeface="Arial Rounded MT Bold" panose="020F0704030504030204" pitchFamily="34" charset="0"/>
              </a:rPr>
              <a:t>Touch </a:t>
            </a:r>
            <a:r>
              <a:rPr lang="en-US" sz="3200" dirty="0" smtClean="0">
                <a:latin typeface="Arial Rounded MT Bold" panose="020F0704030504030204" pitchFamily="34" charset="0"/>
              </a:rPr>
              <a:t>Learning.</a:t>
            </a:r>
            <a:endParaRPr lang="en-US" sz="3200" dirty="0">
              <a:latin typeface="Arial Rounded MT Bold" panose="020F070403050403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85343"/>
            <a:ext cx="12191999" cy="694334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 y="2193925"/>
            <a:ext cx="11472672" cy="1325563"/>
          </a:xfrm>
        </p:spPr>
        <p:txBody>
          <a:bodyPr>
            <a:normAutofit fontScale="90000"/>
          </a:bodyPr>
          <a:lstStyle/>
          <a:p>
            <a:pPr algn="just"/>
            <a:br>
              <a:rPr lang="en-US" dirty="0" smtClean="0">
                <a:solidFill>
                  <a:srgbClr val="0070C0"/>
                </a:solidFill>
                <a:latin typeface="Bahnschrift SemiBold" panose="020B0502040204020203" pitchFamily="34" charset="0"/>
              </a:rPr>
            </a:br>
            <a:br>
              <a:rPr lang="en-US" dirty="0">
                <a:solidFill>
                  <a:srgbClr val="0070C0"/>
                </a:solidFill>
                <a:latin typeface="Bahnschrift SemiBold" panose="020B0502040204020203" pitchFamily="34" charset="0"/>
              </a:rPr>
            </a:br>
            <a:r>
              <a:rPr lang="en-US" dirty="0" smtClean="0">
                <a:solidFill>
                  <a:srgbClr val="FF0000"/>
                </a:solidFill>
                <a:latin typeface="Bahnschrift SemiBold" panose="020B0502040204020203" pitchFamily="34" charset="0"/>
              </a:rPr>
              <a:t>2.7. DEBIT, CREDIT AND DOUBLE ENTRY-ACCOUNTING</a:t>
            </a:r>
            <a:br>
              <a:rPr lang="en-US" dirty="0" smtClean="0">
                <a:solidFill>
                  <a:srgbClr val="FF0000"/>
                </a:solidFill>
                <a:latin typeface="Bahnschrift SemiBold" panose="020B0502040204020203" pitchFamily="34" charset="0"/>
              </a:rPr>
            </a:br>
            <a:br>
              <a:rPr lang="en-US" dirty="0" smtClean="0">
                <a:solidFill>
                  <a:srgbClr val="FF0000"/>
                </a:solidFill>
                <a:latin typeface="Bahnschrift SemiBold" panose="020B0502040204020203" pitchFamily="34" charset="0"/>
              </a:rPr>
            </a:br>
            <a:r>
              <a:rPr lang="en-US" dirty="0">
                <a:latin typeface="Bahnschrift SemiBold" panose="020B0502040204020203" pitchFamily="34" charset="0"/>
              </a:rPr>
              <a:t>In accounting, </a:t>
            </a:r>
            <a:r>
              <a:rPr lang="en-US" b="1" dirty="0">
                <a:latin typeface="Bahnschrift SemiBold" panose="020B0502040204020203" pitchFamily="34" charset="0"/>
              </a:rPr>
              <a:t>a credit is an entry that increases a liability account or decreases an asset account.</a:t>
            </a:r>
            <a:r>
              <a:rPr lang="en-US" dirty="0">
                <a:latin typeface="Bahnschrift SemiBold" panose="020B0502040204020203" pitchFamily="34" charset="0"/>
              </a:rPr>
              <a:t> </a:t>
            </a:r>
            <a:br>
              <a:rPr lang="en-US" dirty="0" smtClean="0">
                <a:latin typeface="Bahnschrift SemiBold" panose="020B0502040204020203" pitchFamily="34" charset="0"/>
              </a:rPr>
            </a:br>
            <a:br>
              <a:rPr lang="en-US" dirty="0">
                <a:latin typeface="Bahnschrift SemiBold" panose="020B0502040204020203" pitchFamily="34" charset="0"/>
              </a:rPr>
            </a:br>
            <a:r>
              <a:rPr lang="en-US" b="1" dirty="0" smtClean="0">
                <a:latin typeface="Bahnschrift SemiBold" panose="020B0502040204020203" pitchFamily="34" charset="0"/>
              </a:rPr>
              <a:t>A </a:t>
            </a:r>
            <a:r>
              <a:rPr lang="en-US" b="1" dirty="0">
                <a:latin typeface="Bahnschrift SemiBold" panose="020B0502040204020203" pitchFamily="34" charset="0"/>
              </a:rPr>
              <a:t>debit is the opposite.</a:t>
            </a:r>
            <a:r>
              <a:rPr lang="en-US" dirty="0">
                <a:latin typeface="Bahnschrift SemiBold" panose="020B0502040204020203" pitchFamily="34" charset="0"/>
              </a:rPr>
              <a:t> </a:t>
            </a:r>
            <a:r>
              <a:rPr lang="en-US" b="1" dirty="0">
                <a:latin typeface="Bahnschrift SemiBold" panose="020B0502040204020203" pitchFamily="34" charset="0"/>
              </a:rPr>
              <a:t>It is an entry that increases an asset account or decreases a liability account</a:t>
            </a:r>
            <a:r>
              <a:rPr lang="en-US" dirty="0">
                <a:latin typeface="Bahnschrift SemiBold" panose="020B0502040204020203" pitchFamily="34" charset="0"/>
              </a:rPr>
              <a:t>. In the double-entry accounting system, transactions are recorded in terms of debits and credits.</a:t>
            </a:r>
            <a:endParaRPr lang="en-US" dirty="0">
              <a:latin typeface="Bahnschrift SemiBold" panose="020B0502040204020203"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6304" y="156055"/>
            <a:ext cx="12045696" cy="6817251"/>
          </a:xfrm>
          <a:prstGeom prst="rect">
            <a:avLst/>
          </a:prstGeom>
        </p:spPr>
        <p:txBody>
          <a:bodyPr wrap="square">
            <a:spAutoFit/>
          </a:bodyPr>
          <a:lstStyle/>
          <a:p>
            <a:r>
              <a:rPr lang="en-US" sz="2300" dirty="0" smtClean="0">
                <a:latin typeface="Bahnschrift" panose="020B0502040204020203" pitchFamily="34" charset="0"/>
              </a:rPr>
              <a:t>Accounting </a:t>
            </a:r>
            <a:r>
              <a:rPr lang="en-US" sz="2300" dirty="0">
                <a:latin typeface="Bahnschrift" panose="020B0502040204020203" pitchFamily="34" charset="0"/>
              </a:rPr>
              <a:t>is based on transaction data, not on mere </a:t>
            </a:r>
            <a:r>
              <a:rPr lang="en-US" sz="2300" dirty="0" smtClean="0">
                <a:latin typeface="Bahnschrift" panose="020B0502040204020203" pitchFamily="34" charset="0"/>
              </a:rPr>
              <a:t>whim or </a:t>
            </a:r>
            <a:r>
              <a:rPr lang="en-US" sz="2300" dirty="0">
                <a:latin typeface="Bahnschrift" panose="020B0502040204020203" pitchFamily="34" charset="0"/>
              </a:rPr>
              <a:t>opinion. Each business transaction has dual effects</a:t>
            </a:r>
            <a:r>
              <a:rPr lang="en-US" sz="2300" dirty="0" smtClean="0">
                <a:latin typeface="Bahnschrift" panose="020B0502040204020203" pitchFamily="34" charset="0"/>
              </a:rPr>
              <a:t>:</a:t>
            </a:r>
            <a:endParaRPr lang="en-US" sz="2300" dirty="0" smtClean="0">
              <a:latin typeface="Bahnschrift" panose="020B0502040204020203" pitchFamily="34" charset="0"/>
            </a:endParaRPr>
          </a:p>
          <a:p>
            <a:r>
              <a:rPr lang="en-US" sz="2300" dirty="0" smtClean="0">
                <a:latin typeface="Bahnschrift" panose="020B0502040204020203" pitchFamily="34" charset="0"/>
              </a:rPr>
              <a:t>● </a:t>
            </a:r>
            <a:r>
              <a:rPr lang="en-US" sz="2300" dirty="0">
                <a:latin typeface="Bahnschrift" panose="020B0502040204020203" pitchFamily="34" charset="0"/>
              </a:rPr>
              <a:t>The receiving side</a:t>
            </a:r>
            <a:endParaRPr lang="en-US" sz="2300" dirty="0">
              <a:latin typeface="Bahnschrift" panose="020B0502040204020203" pitchFamily="34" charset="0"/>
            </a:endParaRPr>
          </a:p>
          <a:p>
            <a:r>
              <a:rPr lang="en-US" sz="2300" dirty="0">
                <a:latin typeface="Bahnschrift" panose="020B0502040204020203" pitchFamily="34" charset="0"/>
              </a:rPr>
              <a:t>● The giving </a:t>
            </a:r>
            <a:r>
              <a:rPr lang="en-US" sz="2300" dirty="0" smtClean="0">
                <a:latin typeface="Bahnschrift" panose="020B0502040204020203" pitchFamily="34" charset="0"/>
              </a:rPr>
              <a:t>side</a:t>
            </a:r>
            <a:endParaRPr lang="en-US" sz="2300" dirty="0" smtClean="0">
              <a:latin typeface="Bahnschrift" panose="020B0502040204020203" pitchFamily="34" charset="0"/>
            </a:endParaRPr>
          </a:p>
          <a:p>
            <a:endParaRPr lang="en-US" sz="2300" dirty="0">
              <a:latin typeface="Bahnschrift" panose="020B0502040204020203" pitchFamily="34" charset="0"/>
            </a:endParaRPr>
          </a:p>
          <a:p>
            <a:r>
              <a:rPr lang="en-US" sz="2300" dirty="0" smtClean="0">
                <a:latin typeface="Bahnschrift" panose="020B0502040204020203" pitchFamily="34" charset="0"/>
              </a:rPr>
              <a:t>Accounting </a:t>
            </a:r>
            <a:r>
              <a:rPr lang="en-US" sz="2300" dirty="0">
                <a:latin typeface="Bahnschrift" panose="020B0502040204020203" pitchFamily="34" charset="0"/>
              </a:rPr>
              <a:t>uses the double-entry system, which means that we record the dual</a:t>
            </a:r>
            <a:endParaRPr lang="en-US" sz="2300" dirty="0">
              <a:latin typeface="Bahnschrift" panose="020B0502040204020203" pitchFamily="34" charset="0"/>
            </a:endParaRPr>
          </a:p>
          <a:p>
            <a:r>
              <a:rPr lang="en-US" sz="2300" dirty="0">
                <a:latin typeface="Bahnschrift" panose="020B0502040204020203" pitchFamily="34" charset="0"/>
              </a:rPr>
              <a:t>effects of each transaction. As a result, every transaction affects at least </a:t>
            </a:r>
            <a:r>
              <a:rPr lang="en-US" sz="2300" dirty="0" smtClean="0">
                <a:latin typeface="Bahnschrift" panose="020B0502040204020203" pitchFamily="34" charset="0"/>
              </a:rPr>
              <a:t>two accounts</a:t>
            </a:r>
            <a:r>
              <a:rPr lang="en-US" sz="2300" dirty="0">
                <a:latin typeface="Bahnschrift" panose="020B0502040204020203" pitchFamily="34" charset="0"/>
              </a:rPr>
              <a:t>. It would be incomplete to record only the giving side, or only the </a:t>
            </a:r>
            <a:r>
              <a:rPr lang="en-US" sz="2300" dirty="0" smtClean="0">
                <a:latin typeface="Bahnschrift" panose="020B0502040204020203" pitchFamily="34" charset="0"/>
              </a:rPr>
              <a:t>receiving side</a:t>
            </a:r>
            <a:r>
              <a:rPr lang="en-US" sz="2300" dirty="0">
                <a:latin typeface="Bahnschrift" panose="020B0502040204020203" pitchFamily="34" charset="0"/>
              </a:rPr>
              <a:t>, of a </a:t>
            </a:r>
            <a:r>
              <a:rPr lang="en-US" sz="2300" dirty="0" smtClean="0">
                <a:latin typeface="Bahnschrift" panose="020B0502040204020203" pitchFamily="34" charset="0"/>
              </a:rPr>
              <a:t> transaction.</a:t>
            </a:r>
            <a:endParaRPr lang="en-US" sz="2300" dirty="0" smtClean="0">
              <a:latin typeface="Bahnschrift" panose="020B0502040204020203" pitchFamily="34" charset="0"/>
            </a:endParaRPr>
          </a:p>
          <a:p>
            <a:endParaRPr lang="en-US" sz="2300" dirty="0">
              <a:latin typeface="Bahnschrift" panose="020B0502040204020203" pitchFamily="34" charset="0"/>
            </a:endParaRPr>
          </a:p>
          <a:p>
            <a:r>
              <a:rPr lang="en-US" sz="2300" dirty="0">
                <a:latin typeface="Bahnschrift" panose="020B0502040204020203" pitchFamily="34" charset="0"/>
              </a:rPr>
              <a:t>Consider a cash purchase of supplies. What are the dual effects? A cash </a:t>
            </a:r>
            <a:r>
              <a:rPr lang="en-US" sz="2300" dirty="0" smtClean="0">
                <a:latin typeface="Bahnschrift" panose="020B0502040204020203" pitchFamily="34" charset="0"/>
              </a:rPr>
              <a:t>purchase </a:t>
            </a:r>
            <a:r>
              <a:rPr lang="en-US" sz="2300" dirty="0">
                <a:latin typeface="Bahnschrift" panose="020B0502040204020203" pitchFamily="34" charset="0"/>
              </a:rPr>
              <a:t>of supplies</a:t>
            </a:r>
            <a:endParaRPr lang="en-US" sz="2300" dirty="0">
              <a:latin typeface="Bahnschrift" panose="020B0502040204020203" pitchFamily="34" charset="0"/>
            </a:endParaRPr>
          </a:p>
          <a:p>
            <a:pPr marL="342900" indent="-342900">
              <a:buAutoNum type="arabicPeriod"/>
            </a:pPr>
            <a:r>
              <a:rPr lang="en-US" sz="2300" dirty="0" smtClean="0">
                <a:latin typeface="Bahnschrift" panose="020B0502040204020203" pitchFamily="34" charset="0"/>
              </a:rPr>
              <a:t>increases </a:t>
            </a:r>
            <a:r>
              <a:rPr lang="en-US" sz="2300" dirty="0">
                <a:latin typeface="Bahnschrift" panose="020B0502040204020203" pitchFamily="34" charset="0"/>
              </a:rPr>
              <a:t>supplies (you received </a:t>
            </a:r>
            <a:r>
              <a:rPr lang="en-US" sz="2300" dirty="0" smtClean="0">
                <a:latin typeface="Bahnschrift" panose="020B0502040204020203" pitchFamily="34" charset="0"/>
              </a:rPr>
              <a:t>supplies)</a:t>
            </a:r>
            <a:endParaRPr lang="en-US" sz="2300" dirty="0" smtClean="0">
              <a:latin typeface="Bahnschrift" panose="020B0502040204020203" pitchFamily="34" charset="0"/>
            </a:endParaRPr>
          </a:p>
          <a:p>
            <a:pPr marL="342900" indent="-342900">
              <a:buAutoNum type="arabicPeriod"/>
            </a:pPr>
            <a:r>
              <a:rPr lang="en-US" sz="2300" dirty="0" smtClean="0">
                <a:latin typeface="Bahnschrift" panose="020B0502040204020203" pitchFamily="34" charset="0"/>
              </a:rPr>
              <a:t> </a:t>
            </a:r>
            <a:r>
              <a:rPr lang="en-US" sz="2300" dirty="0">
                <a:latin typeface="Bahnschrift" panose="020B0502040204020203" pitchFamily="34" charset="0"/>
              </a:rPr>
              <a:t>decreases cash (you gave cash</a:t>
            </a:r>
            <a:r>
              <a:rPr lang="en-US" sz="2300" dirty="0" smtClean="0">
                <a:latin typeface="Bahnschrift" panose="020B0502040204020203" pitchFamily="34" charset="0"/>
              </a:rPr>
              <a:t>).</a:t>
            </a:r>
            <a:endParaRPr lang="en-US" sz="2300" dirty="0" smtClean="0">
              <a:latin typeface="Bahnschrift" panose="020B0502040204020203" pitchFamily="34" charset="0"/>
            </a:endParaRPr>
          </a:p>
          <a:p>
            <a:pPr marL="342900" indent="-342900">
              <a:buAutoNum type="arabicPeriod"/>
            </a:pPr>
            <a:endParaRPr lang="en-US" sz="2300" dirty="0">
              <a:latin typeface="Bahnschrift" panose="020B0502040204020203" pitchFamily="34" charset="0"/>
            </a:endParaRPr>
          </a:p>
          <a:p>
            <a:endParaRPr lang="en-US" sz="2300" dirty="0">
              <a:latin typeface="Bahnschrift" panose="020B0502040204020203" pitchFamily="34" charset="0"/>
            </a:endParaRPr>
          </a:p>
          <a:p>
            <a:r>
              <a:rPr lang="en-US" sz="2300" dirty="0">
                <a:latin typeface="Bahnschrift" panose="020B0502040204020203" pitchFamily="34" charset="0"/>
              </a:rPr>
              <a:t>Similarly, a credit purchase of equipment (a purchase on account)</a:t>
            </a:r>
            <a:endParaRPr lang="en-US" sz="2300" dirty="0">
              <a:latin typeface="Bahnschrift" panose="020B0502040204020203" pitchFamily="34" charset="0"/>
            </a:endParaRPr>
          </a:p>
          <a:p>
            <a:r>
              <a:rPr lang="en-US" sz="2300" dirty="0">
                <a:latin typeface="Bahnschrift" panose="020B0502040204020203" pitchFamily="34" charset="0"/>
              </a:rPr>
              <a:t>1. increases equipment (you received equipment).</a:t>
            </a:r>
            <a:endParaRPr lang="en-US" sz="2300" dirty="0">
              <a:latin typeface="Bahnschrift" panose="020B0502040204020203" pitchFamily="34" charset="0"/>
            </a:endParaRPr>
          </a:p>
          <a:p>
            <a:r>
              <a:rPr lang="en-US" sz="2300" dirty="0">
                <a:latin typeface="Bahnschrift" panose="020B0502040204020203" pitchFamily="34" charset="0"/>
              </a:rPr>
              <a:t>2. increases accounts payable (you gave your promise to pay in the future)</a:t>
            </a:r>
            <a:endParaRPr lang="en-US" sz="2300" dirty="0">
              <a:latin typeface="Bahnschrift" panose="020B0502040204020203"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FF0000"/>
                </a:solidFill>
                <a:latin typeface="Bahnschrift SemiBold" panose="020B0502040204020203" pitchFamily="34" charset="0"/>
              </a:rPr>
              <a:t>2.8. INCREASES AND DECREASES IN ACCOUNTS</a:t>
            </a:r>
            <a:endParaRPr lang="en-US" dirty="0">
              <a:solidFill>
                <a:srgbClr val="FF0000"/>
              </a:solidFill>
              <a:latin typeface="Bahnschrift SemiBold" panose="020B0502040204020203" pitchFamily="34" charset="0"/>
            </a:endParaRPr>
          </a:p>
        </p:txBody>
      </p:sp>
      <p:sp>
        <p:nvSpPr>
          <p:cNvPr id="3" name="Content Placeholder 2"/>
          <p:cNvSpPr>
            <a:spLocks noGrp="1"/>
          </p:cNvSpPr>
          <p:nvPr>
            <p:ph idx="1"/>
          </p:nvPr>
        </p:nvSpPr>
        <p:spPr/>
        <p:txBody>
          <a:bodyPr>
            <a:normAutofit/>
          </a:bodyPr>
          <a:lstStyle/>
          <a:p>
            <a:pPr marL="0" indent="0" algn="just">
              <a:buNone/>
            </a:pPr>
            <a:r>
              <a:rPr lang="en-US" sz="3000" dirty="0">
                <a:latin typeface="Bahnschrift SemiBold" panose="020B0502040204020203" pitchFamily="34" charset="0"/>
              </a:rPr>
              <a:t>The account category (asset, liability, equity) governs how we record increases </a:t>
            </a:r>
            <a:r>
              <a:rPr lang="en-US" sz="3000" dirty="0" smtClean="0">
                <a:latin typeface="Bahnschrift SemiBold" panose="020B0502040204020203" pitchFamily="34" charset="0"/>
              </a:rPr>
              <a:t>and decreases</a:t>
            </a:r>
            <a:r>
              <a:rPr lang="en-US" sz="3000" dirty="0">
                <a:latin typeface="Bahnschrift SemiBold" panose="020B0502040204020203" pitchFamily="34" charset="0"/>
              </a:rPr>
              <a:t>. For any given account, increases are recorded on one side, and </a:t>
            </a:r>
            <a:r>
              <a:rPr lang="en-US" sz="3000" dirty="0" smtClean="0">
                <a:latin typeface="Bahnschrift SemiBold" panose="020B0502040204020203" pitchFamily="34" charset="0"/>
              </a:rPr>
              <a:t>decreases are </a:t>
            </a:r>
            <a:r>
              <a:rPr lang="en-US" sz="3000" dirty="0">
                <a:latin typeface="Bahnschrift SemiBold" panose="020B0502040204020203" pitchFamily="34" charset="0"/>
              </a:rPr>
              <a:t>recorded on the opposite side. The following T-accounts provide a summary</a:t>
            </a:r>
            <a:r>
              <a:rPr lang="en-US" sz="3000" dirty="0" smtClean="0">
                <a:latin typeface="Bahnschrift SemiBold" panose="020B0502040204020203" pitchFamily="34" charset="0"/>
              </a:rPr>
              <a:t>:</a:t>
            </a:r>
            <a:endParaRPr lang="en-US" sz="3000" dirty="0" smtClean="0">
              <a:latin typeface="Bahnschrift SemiBold" panose="020B0502040204020203" pitchFamily="34" charset="0"/>
            </a:endParaRPr>
          </a:p>
          <a:p>
            <a:pPr marL="0" indent="0" algn="just">
              <a:buNone/>
            </a:pPr>
            <a:endParaRPr lang="en-US" sz="4000" dirty="0">
              <a:latin typeface="Bahnschrift SemiBold" panose="020B0502040204020203" pitchFamily="34" charset="0"/>
            </a:endParaRPr>
          </a:p>
        </p:txBody>
      </p:sp>
      <p:pic>
        <p:nvPicPr>
          <p:cNvPr id="4" name="Picture 3"/>
          <p:cNvPicPr>
            <a:picLocks noChangeAspect="1"/>
          </p:cNvPicPr>
          <p:nvPr/>
        </p:nvPicPr>
        <p:blipFill>
          <a:blip r:embed="rId1"/>
          <a:stretch>
            <a:fillRect/>
          </a:stretch>
        </p:blipFill>
        <p:spPr>
          <a:xfrm>
            <a:off x="926592" y="4157472"/>
            <a:ext cx="10427208" cy="180977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02336" y="313403"/>
            <a:ext cx="11570208" cy="6492875"/>
          </a:xfrm>
          <a:prstGeom prst="rect">
            <a:avLst/>
          </a:prstGeom>
        </p:spPr>
        <p:txBody>
          <a:bodyPr wrap="square">
            <a:spAutoFit/>
          </a:bodyPr>
          <a:lstStyle/>
          <a:p>
            <a:pPr algn="just"/>
            <a:r>
              <a:rPr lang="en-US" sz="3200" dirty="0">
                <a:latin typeface="Arial Narrow" panose="020B0606020202030204" pitchFamily="34" charset="0"/>
              </a:rPr>
              <a:t>These are the rules of debit and credit. Whether an account is increased </a:t>
            </a:r>
            <a:r>
              <a:rPr lang="en-US" sz="3200" dirty="0" smtClean="0">
                <a:latin typeface="Arial Narrow" panose="020B0606020202030204" pitchFamily="34" charset="0"/>
              </a:rPr>
              <a:t>or decreased </a:t>
            </a:r>
            <a:r>
              <a:rPr lang="en-US" sz="3200" dirty="0">
                <a:latin typeface="Arial Narrow" panose="020B0606020202030204" pitchFamily="34" charset="0"/>
              </a:rPr>
              <a:t>by a debit or a credit depends on the type of account. Debits are </a:t>
            </a:r>
            <a:r>
              <a:rPr lang="en-US" sz="3200" dirty="0" smtClean="0">
                <a:latin typeface="Arial Narrow" panose="020B0606020202030204" pitchFamily="34" charset="0"/>
              </a:rPr>
              <a:t>not “</a:t>
            </a:r>
            <a:r>
              <a:rPr lang="en-US" sz="3200" dirty="0">
                <a:latin typeface="Arial Narrow" panose="020B0606020202030204" pitchFamily="34" charset="0"/>
              </a:rPr>
              <a:t>good” or “bad.” Neither are credits. Debits are not always increases or </a:t>
            </a:r>
            <a:r>
              <a:rPr lang="en-US" sz="3200" dirty="0" smtClean="0">
                <a:latin typeface="Arial Narrow" panose="020B0606020202030204" pitchFamily="34" charset="0"/>
              </a:rPr>
              <a:t>always decreases—neither </a:t>
            </a:r>
            <a:r>
              <a:rPr lang="en-US" sz="3200" dirty="0">
                <a:latin typeface="Arial Narrow" panose="020B0606020202030204" pitchFamily="34" charset="0"/>
              </a:rPr>
              <a:t>are credits</a:t>
            </a:r>
            <a:r>
              <a:rPr lang="en-US" sz="3200" dirty="0" smtClean="0">
                <a:latin typeface="Arial Narrow" panose="020B0606020202030204" pitchFamily="34" charset="0"/>
              </a:rPr>
              <a:t>.</a:t>
            </a:r>
            <a:endParaRPr lang="en-US" sz="3200" dirty="0" smtClean="0">
              <a:latin typeface="Arial Narrow" panose="020B0606020202030204" pitchFamily="34" charset="0"/>
            </a:endParaRPr>
          </a:p>
          <a:p>
            <a:pPr algn="just"/>
            <a:endParaRPr lang="en-US" sz="3200" dirty="0">
              <a:latin typeface="Arial Narrow" panose="020B0606020202030204" pitchFamily="34" charset="0"/>
            </a:endParaRPr>
          </a:p>
          <a:p>
            <a:pPr algn="just"/>
            <a:r>
              <a:rPr lang="en-US" sz="3200" dirty="0">
                <a:latin typeface="Arial Narrow" panose="020B0606020202030204" pitchFamily="34" charset="0"/>
              </a:rPr>
              <a:t>In a computerized accounting information system, the computer interprets </a:t>
            </a:r>
            <a:r>
              <a:rPr lang="en-US" sz="3200" dirty="0" smtClean="0">
                <a:latin typeface="Arial Narrow" panose="020B0606020202030204" pitchFamily="34" charset="0"/>
              </a:rPr>
              <a:t>debits </a:t>
            </a:r>
            <a:r>
              <a:rPr lang="en-US" sz="3200" dirty="0">
                <a:latin typeface="Arial Narrow" panose="020B0606020202030204" pitchFamily="34" charset="0"/>
              </a:rPr>
              <a:t>and credits as increases or decreases, based on the account type. For example, </a:t>
            </a:r>
            <a:r>
              <a:rPr lang="en-US" sz="3200" dirty="0" smtClean="0">
                <a:latin typeface="Arial Narrow" panose="020B0606020202030204" pitchFamily="34" charset="0"/>
              </a:rPr>
              <a:t>a computer </a:t>
            </a:r>
            <a:r>
              <a:rPr lang="en-US" sz="3200" dirty="0">
                <a:latin typeface="Arial Narrow" panose="020B0606020202030204" pitchFamily="34" charset="0"/>
              </a:rPr>
              <a:t>reads a debit to Cash as an increase, because it is an asset account. </a:t>
            </a:r>
            <a:r>
              <a:rPr lang="en-US" sz="3200" dirty="0" smtClean="0">
                <a:latin typeface="Arial Narrow" panose="020B0606020202030204" pitchFamily="34" charset="0"/>
              </a:rPr>
              <a:t>The computer </a:t>
            </a:r>
            <a:r>
              <a:rPr lang="en-US" sz="3200" dirty="0">
                <a:latin typeface="Arial Narrow" panose="020B0606020202030204" pitchFamily="34" charset="0"/>
              </a:rPr>
              <a:t>reads a debit to Accounts payable as a decrease, because it is a liability</a:t>
            </a:r>
            <a:endParaRPr lang="en-US" sz="3200" dirty="0">
              <a:latin typeface="Arial Narrow" panose="020B0606020202030204" pitchFamily="34" charset="0"/>
            </a:endParaRPr>
          </a:p>
          <a:p>
            <a:pPr algn="just"/>
            <a:r>
              <a:rPr lang="en-US" sz="3200" dirty="0">
                <a:latin typeface="Arial Narrow" panose="020B0606020202030204" pitchFamily="34" charset="0"/>
              </a:rPr>
              <a:t>account</a:t>
            </a:r>
            <a:r>
              <a:rPr lang="en-US" sz="3200" dirty="0" smtClean="0">
                <a:latin typeface="Arial Narrow" panose="020B0606020202030204" pitchFamily="34" charset="0"/>
              </a:rPr>
              <a:t>. </a:t>
            </a:r>
            <a:endParaRPr lang="en-US" sz="3200" dirty="0">
              <a:latin typeface="Arial Narrow" panose="020B060602020203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921" y="365125"/>
            <a:ext cx="11780194" cy="1325563"/>
          </a:xfrm>
        </p:spPr>
        <p:txBody>
          <a:bodyPr>
            <a:normAutofit/>
          </a:bodyPr>
          <a:lstStyle/>
          <a:p>
            <a:r>
              <a:rPr lang="en-US" sz="3500" b="1" dirty="0">
                <a:latin typeface="Arial Narrow" panose="020B0606020202030204" pitchFamily="34" charset="0"/>
              </a:rPr>
              <a:t>The table below shows how the accounts increase and decrease.</a:t>
            </a:r>
            <a:endParaRPr lang="en-US" sz="3500" b="1" dirty="0">
              <a:latin typeface="Arial Narrow" panose="020B0606020202030204" pitchFamily="34" charset="0"/>
            </a:endParaRPr>
          </a:p>
        </p:txBody>
      </p:sp>
      <p:graphicFrame>
        <p:nvGraphicFramePr>
          <p:cNvPr id="4" name="Content Placeholder 3"/>
          <p:cNvGraphicFramePr>
            <a:graphicFrameLocks noGrp="1"/>
          </p:cNvGraphicFramePr>
          <p:nvPr>
            <p:ph idx="1"/>
          </p:nvPr>
        </p:nvGraphicFramePr>
        <p:xfrm>
          <a:off x="252921" y="1935805"/>
          <a:ext cx="11614825" cy="4937336"/>
        </p:xfrm>
        <a:graphic>
          <a:graphicData uri="http://schemas.openxmlformats.org/drawingml/2006/table">
            <a:tbl>
              <a:tblPr firstRow="1" bandRow="1">
                <a:tableStyleId>{5C22544A-7EE6-4342-B048-85BDC9FD1C3A}</a:tableStyleId>
              </a:tblPr>
              <a:tblGrid>
                <a:gridCol w="758756"/>
                <a:gridCol w="5303899"/>
                <a:gridCol w="1690236"/>
                <a:gridCol w="1864382"/>
                <a:gridCol w="1997552"/>
              </a:tblGrid>
              <a:tr h="954380">
                <a:tc>
                  <a:txBody>
                    <a:bodyPr/>
                    <a:lstStyle/>
                    <a:p>
                      <a:pPr algn="ctr"/>
                      <a:r>
                        <a:rPr lang="en-US" sz="3200" dirty="0" err="1" smtClean="0">
                          <a:solidFill>
                            <a:srgbClr val="FFFF00"/>
                          </a:solidFill>
                          <a:latin typeface="Arial Rounded MT Bold" panose="020F0704030504030204" pitchFamily="34" charset="0"/>
                        </a:rPr>
                        <a:t>sn</a:t>
                      </a:r>
                      <a:endParaRPr lang="en-US" sz="3200" dirty="0">
                        <a:solidFill>
                          <a:srgbClr val="FFFF00"/>
                        </a:solidFill>
                        <a:latin typeface="Arial Rounded MT Bold" panose="020F0704030504030204" pitchFamily="34" charset="0"/>
                      </a:endParaRPr>
                    </a:p>
                  </a:txBody>
                  <a:tcPr/>
                </a:tc>
                <a:tc>
                  <a:txBody>
                    <a:bodyPr/>
                    <a:lstStyle/>
                    <a:p>
                      <a:pPr algn="ctr"/>
                      <a:r>
                        <a:rPr lang="en-US" sz="3200" dirty="0" smtClean="0">
                          <a:solidFill>
                            <a:srgbClr val="FFFF00"/>
                          </a:solidFill>
                          <a:latin typeface="Arial Rounded MT Bold" panose="020F0704030504030204" pitchFamily="34" charset="0"/>
                        </a:rPr>
                        <a:t>Classification / Types of Accounts</a:t>
                      </a:r>
                      <a:endParaRPr lang="en-US" sz="3200" dirty="0">
                        <a:solidFill>
                          <a:srgbClr val="FFFF00"/>
                        </a:solidFill>
                        <a:latin typeface="Arial Rounded MT Bold" panose="020F0704030504030204" pitchFamily="34" charset="0"/>
                      </a:endParaRPr>
                    </a:p>
                  </a:txBody>
                  <a:tcPr/>
                </a:tc>
                <a:tc>
                  <a:txBody>
                    <a:bodyPr/>
                    <a:lstStyle/>
                    <a:p>
                      <a:pPr algn="ctr"/>
                      <a:r>
                        <a:rPr lang="en-US" sz="3200" dirty="0" err="1" smtClean="0">
                          <a:solidFill>
                            <a:srgbClr val="FFFF00"/>
                          </a:solidFill>
                          <a:latin typeface="Arial Rounded MT Bold" panose="020F0704030504030204" pitchFamily="34" charset="0"/>
                        </a:rPr>
                        <a:t>Dr</a:t>
                      </a:r>
                      <a:r>
                        <a:rPr lang="en-US" sz="3200" dirty="0" smtClean="0">
                          <a:solidFill>
                            <a:srgbClr val="FFFF00"/>
                          </a:solidFill>
                          <a:latin typeface="Arial Rounded MT Bold" panose="020F0704030504030204" pitchFamily="34" charset="0"/>
                        </a:rPr>
                        <a:t> (Debit)</a:t>
                      </a:r>
                      <a:endParaRPr lang="en-US" sz="3200" dirty="0">
                        <a:solidFill>
                          <a:srgbClr val="FFFF00"/>
                        </a:solidFill>
                        <a:latin typeface="Arial Rounded MT Bold" panose="020F0704030504030204" pitchFamily="34" charset="0"/>
                      </a:endParaRPr>
                    </a:p>
                  </a:txBody>
                  <a:tcPr/>
                </a:tc>
                <a:tc>
                  <a:txBody>
                    <a:bodyPr/>
                    <a:lstStyle/>
                    <a:p>
                      <a:pPr algn="ctr"/>
                      <a:r>
                        <a:rPr lang="en-US" sz="3200" dirty="0" smtClean="0">
                          <a:solidFill>
                            <a:srgbClr val="FFFF00"/>
                          </a:solidFill>
                          <a:latin typeface="Arial Rounded MT Bold" panose="020F0704030504030204" pitchFamily="34" charset="0"/>
                        </a:rPr>
                        <a:t>Cr (Credit)</a:t>
                      </a:r>
                      <a:endParaRPr lang="en-US" sz="3200" dirty="0">
                        <a:solidFill>
                          <a:srgbClr val="FFFF00"/>
                        </a:solidFill>
                        <a:latin typeface="Arial Rounded MT Bold" panose="020F0704030504030204" pitchFamily="34" charset="0"/>
                      </a:endParaRPr>
                    </a:p>
                  </a:txBody>
                  <a:tcPr/>
                </a:tc>
                <a:tc>
                  <a:txBody>
                    <a:bodyPr/>
                    <a:lstStyle/>
                    <a:p>
                      <a:pPr algn="ctr"/>
                      <a:r>
                        <a:rPr lang="en-US" sz="3200" dirty="0" smtClean="0">
                          <a:solidFill>
                            <a:srgbClr val="FFFF00"/>
                          </a:solidFill>
                          <a:latin typeface="Arial Rounded MT Bold" panose="020F0704030504030204" pitchFamily="34" charset="0"/>
                        </a:rPr>
                        <a:t>Normal Balance</a:t>
                      </a:r>
                      <a:endParaRPr lang="en-US" sz="3200" dirty="0">
                        <a:solidFill>
                          <a:srgbClr val="FFFF00"/>
                        </a:solidFill>
                        <a:latin typeface="Arial Rounded MT Bold" panose="020F0704030504030204" pitchFamily="34" charset="0"/>
                      </a:endParaRPr>
                    </a:p>
                  </a:txBody>
                  <a:tcPr/>
                </a:tc>
              </a:tr>
              <a:tr h="967634">
                <a:tc>
                  <a:txBody>
                    <a:bodyPr/>
                    <a:lstStyle/>
                    <a:p>
                      <a:r>
                        <a:rPr lang="en-US" sz="2400" dirty="0" smtClean="0">
                          <a:solidFill>
                            <a:srgbClr val="00B050"/>
                          </a:solidFill>
                          <a:latin typeface="Arial Rounded MT Bold" panose="020F0704030504030204" pitchFamily="34" charset="0"/>
                        </a:rPr>
                        <a:t>1</a:t>
                      </a:r>
                      <a:endParaRPr lang="en-US" sz="2400" dirty="0">
                        <a:solidFill>
                          <a:srgbClr val="00B050"/>
                        </a:solidFill>
                        <a:latin typeface="Arial Rounded MT Bold" panose="020F0704030504030204" pitchFamily="34" charset="0"/>
                      </a:endParaRPr>
                    </a:p>
                  </a:txBody>
                  <a:tcPr/>
                </a:tc>
                <a:tc>
                  <a:txBody>
                    <a:bodyPr/>
                    <a:lstStyle/>
                    <a:p>
                      <a:r>
                        <a:rPr lang="en-US" sz="2400" dirty="0" smtClean="0">
                          <a:solidFill>
                            <a:srgbClr val="00B050"/>
                          </a:solidFill>
                          <a:latin typeface="Arial Rounded MT Bold" panose="020F0704030504030204" pitchFamily="34" charset="0"/>
                        </a:rPr>
                        <a:t>ASSETS ACCOUNTS</a:t>
                      </a:r>
                      <a:endParaRPr lang="en-US" sz="2400" dirty="0">
                        <a:solidFill>
                          <a:srgbClr val="00B050"/>
                        </a:solidFill>
                        <a:latin typeface="Arial Rounded MT Bold" panose="020F0704030504030204" pitchFamily="34" charset="0"/>
                      </a:endParaRPr>
                    </a:p>
                  </a:txBody>
                  <a:tcPr/>
                </a:tc>
                <a:tc>
                  <a:txBody>
                    <a:bodyPr/>
                    <a:lstStyle/>
                    <a:p>
                      <a:r>
                        <a:rPr lang="en-US" sz="2400" dirty="0" smtClean="0">
                          <a:solidFill>
                            <a:srgbClr val="00B050"/>
                          </a:solidFill>
                          <a:latin typeface="Arial Rounded MT Bold" panose="020F0704030504030204" pitchFamily="34" charset="0"/>
                        </a:rPr>
                        <a:t>Increase (+)</a:t>
                      </a:r>
                      <a:endParaRPr lang="en-US" sz="2400" dirty="0">
                        <a:solidFill>
                          <a:srgbClr val="00B050"/>
                        </a:solidFill>
                        <a:latin typeface="Arial Rounded MT Bold" panose="020F0704030504030204" pitchFamily="34" charset="0"/>
                      </a:endParaRPr>
                    </a:p>
                  </a:txBody>
                  <a:tcPr/>
                </a:tc>
                <a:tc>
                  <a:txBody>
                    <a:bodyPr/>
                    <a:lstStyle/>
                    <a:p>
                      <a:r>
                        <a:rPr lang="en-US" sz="2400" dirty="0" smtClean="0">
                          <a:solidFill>
                            <a:srgbClr val="00B050"/>
                          </a:solidFill>
                          <a:latin typeface="Arial Rounded MT Bold" panose="020F0704030504030204" pitchFamily="34" charset="0"/>
                        </a:rPr>
                        <a:t>Decrease (-)</a:t>
                      </a:r>
                      <a:endParaRPr lang="en-US" sz="2400" dirty="0">
                        <a:solidFill>
                          <a:srgbClr val="00B050"/>
                        </a:solidFill>
                        <a:latin typeface="Arial Rounded MT Bold" panose="020F0704030504030204" pitchFamily="34" charset="0"/>
                      </a:endParaRPr>
                    </a:p>
                  </a:txBody>
                  <a:tcPr/>
                </a:tc>
                <a:tc>
                  <a:txBody>
                    <a:bodyPr/>
                    <a:lstStyle/>
                    <a:p>
                      <a:r>
                        <a:rPr lang="en-US" sz="2400" dirty="0" smtClean="0">
                          <a:solidFill>
                            <a:srgbClr val="00B050"/>
                          </a:solidFill>
                          <a:latin typeface="Arial Rounded MT Bold" panose="020F0704030504030204" pitchFamily="34" charset="0"/>
                        </a:rPr>
                        <a:t>Dr. Balance</a:t>
                      </a:r>
                      <a:endParaRPr lang="en-US" sz="2400" dirty="0">
                        <a:solidFill>
                          <a:srgbClr val="00B050"/>
                        </a:solidFill>
                        <a:latin typeface="Arial Rounded MT Bold" panose="020F0704030504030204" pitchFamily="34" charset="0"/>
                      </a:endParaRPr>
                    </a:p>
                  </a:txBody>
                  <a:tcPr/>
                </a:tc>
              </a:tr>
              <a:tr h="967634">
                <a:tc>
                  <a:txBody>
                    <a:bodyPr/>
                    <a:lstStyle/>
                    <a:p>
                      <a:r>
                        <a:rPr lang="en-US" sz="2400" dirty="0" smtClean="0">
                          <a:solidFill>
                            <a:srgbClr val="C00000"/>
                          </a:solidFill>
                          <a:latin typeface="Arial Rounded MT Bold" panose="020F0704030504030204" pitchFamily="34" charset="0"/>
                        </a:rPr>
                        <a:t>2</a:t>
                      </a:r>
                      <a:endParaRPr lang="en-US" sz="2400" dirty="0">
                        <a:solidFill>
                          <a:srgbClr val="C00000"/>
                        </a:solidFill>
                        <a:latin typeface="Arial Rounded MT Bold" panose="020F0704030504030204" pitchFamily="34" charset="0"/>
                      </a:endParaRPr>
                    </a:p>
                  </a:txBody>
                  <a:tcPr/>
                </a:tc>
                <a:tc>
                  <a:txBody>
                    <a:bodyPr/>
                    <a:lstStyle/>
                    <a:p>
                      <a:r>
                        <a:rPr lang="en-US" sz="2400" dirty="0" smtClean="0">
                          <a:solidFill>
                            <a:srgbClr val="C00000"/>
                          </a:solidFill>
                          <a:latin typeface="Arial Rounded MT Bold" panose="020F0704030504030204" pitchFamily="34" charset="0"/>
                        </a:rPr>
                        <a:t>LIABILITIES</a:t>
                      </a:r>
                      <a:r>
                        <a:rPr lang="en-US" sz="2400" baseline="0" dirty="0" smtClean="0">
                          <a:solidFill>
                            <a:srgbClr val="C00000"/>
                          </a:solidFill>
                          <a:latin typeface="Arial Rounded MT Bold" panose="020F0704030504030204" pitchFamily="34" charset="0"/>
                        </a:rPr>
                        <a:t> AND OWNER’ EQUITY ACCOUNTS</a:t>
                      </a:r>
                      <a:endParaRPr lang="en-US" sz="2400" dirty="0">
                        <a:solidFill>
                          <a:srgbClr val="C00000"/>
                        </a:solidFill>
                        <a:latin typeface="Arial Rounded MT Bold" panose="020F0704030504030204" pitchFamily="34" charset="0"/>
                      </a:endParaRPr>
                    </a:p>
                  </a:txBody>
                  <a:tcPr/>
                </a:tc>
                <a:tc>
                  <a:txBody>
                    <a:bodyPr/>
                    <a:lstStyle/>
                    <a:p>
                      <a:r>
                        <a:rPr lang="en-US" sz="2400" dirty="0" smtClean="0">
                          <a:solidFill>
                            <a:srgbClr val="C00000"/>
                          </a:solidFill>
                          <a:latin typeface="Arial Rounded MT Bold" panose="020F0704030504030204" pitchFamily="34" charset="0"/>
                        </a:rPr>
                        <a:t>Decrease (-)</a:t>
                      </a:r>
                      <a:endParaRPr lang="en-US" sz="2400" dirty="0">
                        <a:solidFill>
                          <a:srgbClr val="C00000"/>
                        </a:solidFill>
                        <a:latin typeface="Arial Rounded MT Bold" panose="020F0704030504030204" pitchFamily="34" charset="0"/>
                      </a:endParaRPr>
                    </a:p>
                  </a:txBody>
                  <a:tcPr/>
                </a:tc>
                <a:tc>
                  <a:txBody>
                    <a:bodyPr/>
                    <a:lstStyle/>
                    <a:p>
                      <a:r>
                        <a:rPr lang="en-US" sz="2400" dirty="0" smtClean="0">
                          <a:solidFill>
                            <a:srgbClr val="C00000"/>
                          </a:solidFill>
                          <a:latin typeface="Arial Rounded MT Bold" panose="020F0704030504030204" pitchFamily="34" charset="0"/>
                        </a:rPr>
                        <a:t>Increase (+)</a:t>
                      </a:r>
                      <a:endParaRPr lang="en-US" sz="2400" dirty="0">
                        <a:solidFill>
                          <a:srgbClr val="C00000"/>
                        </a:solidFill>
                        <a:latin typeface="Arial Rounded MT Bold" panose="020F0704030504030204" pitchFamily="34" charset="0"/>
                      </a:endParaRPr>
                    </a:p>
                  </a:txBody>
                  <a:tcPr/>
                </a:tc>
                <a:tc>
                  <a:txBody>
                    <a:bodyPr/>
                    <a:lstStyle/>
                    <a:p>
                      <a:r>
                        <a:rPr lang="en-US" sz="2400" dirty="0" smtClean="0">
                          <a:solidFill>
                            <a:srgbClr val="C00000"/>
                          </a:solidFill>
                          <a:latin typeface="Arial Rounded MT Bold" panose="020F0704030504030204" pitchFamily="34" charset="0"/>
                        </a:rPr>
                        <a:t>Cr. Balance</a:t>
                      </a:r>
                      <a:endParaRPr lang="en-US" sz="2400" dirty="0">
                        <a:solidFill>
                          <a:srgbClr val="C00000"/>
                        </a:solidFill>
                        <a:latin typeface="Arial Rounded MT Bold" panose="020F0704030504030204" pitchFamily="34" charset="0"/>
                      </a:endParaRPr>
                    </a:p>
                  </a:txBody>
                  <a:tcPr/>
                </a:tc>
              </a:tr>
              <a:tr h="967634">
                <a:tc>
                  <a:txBody>
                    <a:bodyPr/>
                    <a:lstStyle/>
                    <a:p>
                      <a:r>
                        <a:rPr lang="en-US" sz="2400" dirty="0" smtClean="0">
                          <a:solidFill>
                            <a:srgbClr val="C00000"/>
                          </a:solidFill>
                          <a:latin typeface="Arial Rounded MT Bold" panose="020F0704030504030204" pitchFamily="34" charset="0"/>
                        </a:rPr>
                        <a:t>3</a:t>
                      </a:r>
                      <a:endParaRPr lang="en-US" sz="2400" dirty="0">
                        <a:solidFill>
                          <a:srgbClr val="C00000"/>
                        </a:solidFill>
                        <a:latin typeface="Arial Rounded MT Bold" panose="020F0704030504030204" pitchFamily="34" charset="0"/>
                      </a:endParaRPr>
                    </a:p>
                  </a:txBody>
                  <a:tcPr/>
                </a:tc>
                <a:tc>
                  <a:txBody>
                    <a:bodyPr/>
                    <a:lstStyle/>
                    <a:p>
                      <a:r>
                        <a:rPr lang="en-US" sz="2400" dirty="0" smtClean="0">
                          <a:solidFill>
                            <a:srgbClr val="C00000"/>
                          </a:solidFill>
                          <a:latin typeface="Arial Rounded MT Bold" panose="020F0704030504030204" pitchFamily="34" charset="0"/>
                        </a:rPr>
                        <a:t>REVENUE</a:t>
                      </a:r>
                      <a:r>
                        <a:rPr lang="en-US" sz="2400" baseline="0" dirty="0" smtClean="0">
                          <a:solidFill>
                            <a:srgbClr val="C00000"/>
                          </a:solidFill>
                          <a:latin typeface="Arial Rounded MT Bold" panose="020F0704030504030204" pitchFamily="34" charset="0"/>
                        </a:rPr>
                        <a:t> / INCOME ACCOUNTS</a:t>
                      </a:r>
                      <a:endParaRPr lang="en-US" sz="2400" dirty="0">
                        <a:solidFill>
                          <a:srgbClr val="C00000"/>
                        </a:solidFill>
                        <a:latin typeface="Arial Rounded MT Bold" panose="020F0704030504030204" pitchFamily="34" charset="0"/>
                      </a:endParaRPr>
                    </a:p>
                  </a:txBody>
                  <a:tcPr/>
                </a:tc>
                <a:tc>
                  <a:txBody>
                    <a:bodyPr/>
                    <a:lstStyle/>
                    <a:p>
                      <a:r>
                        <a:rPr lang="en-US" sz="2400" dirty="0" smtClean="0">
                          <a:solidFill>
                            <a:srgbClr val="C00000"/>
                          </a:solidFill>
                          <a:latin typeface="Arial Rounded MT Bold" panose="020F0704030504030204" pitchFamily="34" charset="0"/>
                        </a:rPr>
                        <a:t>Decrease(-)</a:t>
                      </a:r>
                      <a:endParaRPr lang="en-US" sz="2400" dirty="0">
                        <a:solidFill>
                          <a:srgbClr val="C00000"/>
                        </a:solidFill>
                        <a:latin typeface="Arial Rounded MT Bold" panose="020F0704030504030204" pitchFamily="34" charset="0"/>
                      </a:endParaRPr>
                    </a:p>
                  </a:txBody>
                  <a:tcPr/>
                </a:tc>
                <a:tc>
                  <a:txBody>
                    <a:bodyPr/>
                    <a:lstStyle/>
                    <a:p>
                      <a:r>
                        <a:rPr lang="en-US" sz="2400" dirty="0" smtClean="0">
                          <a:solidFill>
                            <a:srgbClr val="C00000"/>
                          </a:solidFill>
                          <a:latin typeface="Arial Rounded MT Bold" panose="020F0704030504030204" pitchFamily="34" charset="0"/>
                        </a:rPr>
                        <a:t>Increase (+)</a:t>
                      </a:r>
                      <a:endParaRPr lang="en-US" sz="2400" dirty="0">
                        <a:solidFill>
                          <a:srgbClr val="C00000"/>
                        </a:solidFill>
                        <a:latin typeface="Arial Rounded MT Bold" panose="020F0704030504030204" pitchFamily="34" charset="0"/>
                      </a:endParaRPr>
                    </a:p>
                  </a:txBody>
                  <a:tcPr/>
                </a:tc>
                <a:tc>
                  <a:txBody>
                    <a:bodyPr/>
                    <a:lstStyle/>
                    <a:p>
                      <a:r>
                        <a:rPr lang="en-US" sz="2400" dirty="0" smtClean="0">
                          <a:solidFill>
                            <a:srgbClr val="C00000"/>
                          </a:solidFill>
                          <a:latin typeface="Arial Rounded MT Bold" panose="020F0704030504030204" pitchFamily="34" charset="0"/>
                        </a:rPr>
                        <a:t>Cr. Balance</a:t>
                      </a:r>
                      <a:endParaRPr lang="en-US" sz="2400" dirty="0">
                        <a:solidFill>
                          <a:srgbClr val="C00000"/>
                        </a:solidFill>
                        <a:latin typeface="Arial Rounded MT Bold" panose="020F0704030504030204" pitchFamily="34" charset="0"/>
                      </a:endParaRPr>
                    </a:p>
                  </a:txBody>
                  <a:tcPr/>
                </a:tc>
              </a:tr>
              <a:tr h="967634">
                <a:tc>
                  <a:txBody>
                    <a:bodyPr/>
                    <a:lstStyle/>
                    <a:p>
                      <a:r>
                        <a:rPr lang="en-US" sz="2400" dirty="0" smtClean="0">
                          <a:solidFill>
                            <a:srgbClr val="00B050"/>
                          </a:solidFill>
                          <a:latin typeface="Arial Rounded MT Bold" panose="020F0704030504030204" pitchFamily="34" charset="0"/>
                        </a:rPr>
                        <a:t>4</a:t>
                      </a:r>
                      <a:endParaRPr lang="en-US" sz="2400" dirty="0">
                        <a:solidFill>
                          <a:srgbClr val="00B050"/>
                        </a:solidFill>
                        <a:latin typeface="Arial Rounded MT Bold" panose="020F0704030504030204" pitchFamily="34" charset="0"/>
                      </a:endParaRPr>
                    </a:p>
                  </a:txBody>
                  <a:tcPr/>
                </a:tc>
                <a:tc>
                  <a:txBody>
                    <a:bodyPr/>
                    <a:lstStyle/>
                    <a:p>
                      <a:r>
                        <a:rPr lang="en-US" sz="2400" dirty="0" smtClean="0">
                          <a:solidFill>
                            <a:srgbClr val="00B050"/>
                          </a:solidFill>
                          <a:latin typeface="Arial Rounded MT Bold" panose="020F0704030504030204" pitchFamily="34" charset="0"/>
                        </a:rPr>
                        <a:t>EXPENSES</a:t>
                      </a:r>
                      <a:r>
                        <a:rPr lang="en-US" sz="2400" baseline="0" dirty="0" smtClean="0">
                          <a:solidFill>
                            <a:srgbClr val="00B050"/>
                          </a:solidFill>
                          <a:latin typeface="Arial Rounded MT Bold" panose="020F0704030504030204" pitchFamily="34" charset="0"/>
                        </a:rPr>
                        <a:t> ACCOUNTS</a:t>
                      </a:r>
                      <a:endParaRPr lang="en-US" sz="2400" dirty="0">
                        <a:solidFill>
                          <a:srgbClr val="00B050"/>
                        </a:solidFill>
                        <a:latin typeface="Arial Rounded MT Bold" panose="020F0704030504030204" pitchFamily="34" charset="0"/>
                      </a:endParaRPr>
                    </a:p>
                  </a:txBody>
                  <a:tcPr/>
                </a:tc>
                <a:tc>
                  <a:txBody>
                    <a:bodyPr/>
                    <a:lstStyle/>
                    <a:p>
                      <a:r>
                        <a:rPr lang="en-US" sz="2400" dirty="0" smtClean="0">
                          <a:solidFill>
                            <a:srgbClr val="00B050"/>
                          </a:solidFill>
                          <a:latin typeface="Arial Rounded MT Bold" panose="020F0704030504030204" pitchFamily="34" charset="0"/>
                        </a:rPr>
                        <a:t>Increase (+)</a:t>
                      </a:r>
                      <a:endParaRPr lang="en-US" sz="2400" dirty="0">
                        <a:solidFill>
                          <a:srgbClr val="00B050"/>
                        </a:solidFill>
                        <a:latin typeface="Arial Rounded MT Bold" panose="020F0704030504030204" pitchFamily="34" charset="0"/>
                      </a:endParaRPr>
                    </a:p>
                  </a:txBody>
                  <a:tcPr/>
                </a:tc>
                <a:tc>
                  <a:txBody>
                    <a:bodyPr/>
                    <a:lstStyle/>
                    <a:p>
                      <a:r>
                        <a:rPr lang="en-US" sz="2400" dirty="0" smtClean="0">
                          <a:solidFill>
                            <a:srgbClr val="00B050"/>
                          </a:solidFill>
                          <a:latin typeface="Arial Rounded MT Bold" panose="020F0704030504030204" pitchFamily="34" charset="0"/>
                        </a:rPr>
                        <a:t>Decrease (-)</a:t>
                      </a:r>
                      <a:endParaRPr lang="en-US" sz="2400" dirty="0">
                        <a:solidFill>
                          <a:srgbClr val="00B050"/>
                        </a:solidFill>
                        <a:latin typeface="Arial Rounded MT Bold" panose="020F0704030504030204" pitchFamily="34" charset="0"/>
                      </a:endParaRPr>
                    </a:p>
                  </a:txBody>
                  <a:tcPr/>
                </a:tc>
                <a:tc>
                  <a:txBody>
                    <a:bodyPr/>
                    <a:lstStyle/>
                    <a:p>
                      <a:r>
                        <a:rPr lang="en-US" sz="2400" dirty="0" smtClean="0">
                          <a:solidFill>
                            <a:srgbClr val="00B050"/>
                          </a:solidFill>
                          <a:latin typeface="Arial Rounded MT Bold" panose="020F0704030504030204" pitchFamily="34" charset="0"/>
                        </a:rPr>
                        <a:t>Dr. Balance</a:t>
                      </a:r>
                      <a:endParaRPr lang="en-US" sz="2400" dirty="0">
                        <a:solidFill>
                          <a:srgbClr val="00B050"/>
                        </a:solidFill>
                        <a:latin typeface="Arial Rounded MT Bold" panose="020F0704030504030204" pitchFamily="34" charset="0"/>
                      </a:endParaRPr>
                    </a:p>
                  </a:txBody>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78" y="95794"/>
            <a:ext cx="11965576" cy="931817"/>
          </a:xfrm>
        </p:spPr>
        <p:txBody>
          <a:bodyPr/>
          <a:lstStyle/>
          <a:p>
            <a:pPr algn="ctr"/>
            <a:r>
              <a:rPr lang="en-US" b="1" dirty="0" smtClean="0">
                <a:solidFill>
                  <a:srgbClr val="FF0000"/>
                </a:solidFill>
                <a:latin typeface="Bahnschrift" panose="020B0502040204020203" pitchFamily="34" charset="0"/>
              </a:rPr>
              <a:t>2.9. ACCOUNTING EQUATION</a:t>
            </a:r>
            <a:endParaRPr lang="en-US" b="1" dirty="0">
              <a:solidFill>
                <a:srgbClr val="FF0000"/>
              </a:solidFill>
              <a:latin typeface="Bahnschrift" panose="020B0502040204020203" pitchFamily="34" charset="0"/>
            </a:endParaRPr>
          </a:p>
        </p:txBody>
      </p:sp>
      <p:sp>
        <p:nvSpPr>
          <p:cNvPr id="3" name="Content Placeholder 2"/>
          <p:cNvSpPr>
            <a:spLocks noGrp="1"/>
          </p:cNvSpPr>
          <p:nvPr>
            <p:ph idx="1"/>
          </p:nvPr>
        </p:nvSpPr>
        <p:spPr>
          <a:xfrm>
            <a:off x="226424" y="2151017"/>
            <a:ext cx="11817530" cy="4632960"/>
          </a:xfrm>
        </p:spPr>
        <p:txBody>
          <a:bodyPr>
            <a:normAutofit/>
          </a:bodyPr>
          <a:lstStyle/>
          <a:p>
            <a:pPr marL="0" indent="0">
              <a:buNone/>
            </a:pPr>
            <a:r>
              <a:rPr lang="en-US" sz="4400" dirty="0" smtClean="0">
                <a:latin typeface="Bahnschrift" panose="020B0502040204020203" pitchFamily="34" charset="0"/>
              </a:rPr>
              <a:t>It is also </a:t>
            </a:r>
            <a:r>
              <a:rPr lang="en-US" sz="4400" dirty="0">
                <a:latin typeface="Bahnschrift" panose="020B0502040204020203" pitchFamily="34" charset="0"/>
              </a:rPr>
              <a:t>known as the balance sheet </a:t>
            </a:r>
            <a:r>
              <a:rPr lang="en-US" sz="4400" dirty="0" smtClean="0">
                <a:latin typeface="Bahnschrift" panose="020B0502040204020203" pitchFamily="34" charset="0"/>
              </a:rPr>
              <a:t>equation.</a:t>
            </a:r>
            <a:endParaRPr lang="en-US" sz="4400" dirty="0" smtClean="0">
              <a:latin typeface="Bahnschrift" panose="020B0502040204020203" pitchFamily="34" charset="0"/>
            </a:endParaRPr>
          </a:p>
          <a:p>
            <a:pPr marL="0" indent="0">
              <a:buNone/>
            </a:pPr>
            <a:r>
              <a:rPr lang="en-US" sz="4400" dirty="0" smtClean="0">
                <a:latin typeface="Bahnschrift" panose="020B0502040204020203" pitchFamily="34" charset="0"/>
              </a:rPr>
              <a:t>AE     </a:t>
            </a:r>
            <a:r>
              <a:rPr lang="en-US" sz="4400" b="1" dirty="0" smtClean="0">
                <a:latin typeface="Bahnschrift" panose="020B0502040204020203" pitchFamily="34" charset="0"/>
              </a:rPr>
              <a:t>Assets </a:t>
            </a:r>
            <a:r>
              <a:rPr lang="en-US" sz="4400" b="1" dirty="0">
                <a:latin typeface="Bahnschrift" panose="020B0502040204020203" pitchFamily="34" charset="0"/>
              </a:rPr>
              <a:t>= Liabilities + Equity</a:t>
            </a:r>
            <a:r>
              <a:rPr lang="en-US" sz="4400" dirty="0">
                <a:latin typeface="Bahnschrift" panose="020B0502040204020203" pitchFamily="34" charset="0"/>
              </a:rPr>
              <a:t>. </a:t>
            </a:r>
            <a:endParaRPr lang="en-US" sz="4400" dirty="0" smtClean="0">
              <a:latin typeface="Bahnschrift" panose="020B0502040204020203" pitchFamily="34" charset="0"/>
            </a:endParaRPr>
          </a:p>
          <a:p>
            <a:pPr marL="0" indent="0">
              <a:buNone/>
            </a:pPr>
            <a:endParaRPr lang="en-US" sz="4400" dirty="0">
              <a:latin typeface="Bahnschrift" panose="020B0502040204020203" pitchFamily="34" charset="0"/>
            </a:endParaRPr>
          </a:p>
          <a:p>
            <a:pPr marL="0" indent="0">
              <a:buNone/>
            </a:pPr>
            <a:r>
              <a:rPr lang="en-US" sz="4400" dirty="0" smtClean="0">
                <a:latin typeface="Bahnschrift" panose="020B0502040204020203" pitchFamily="34" charset="0"/>
              </a:rPr>
              <a:t>This </a:t>
            </a:r>
            <a:r>
              <a:rPr lang="en-US" sz="4400" dirty="0">
                <a:latin typeface="Bahnschrift" panose="020B0502040204020203" pitchFamily="34" charset="0"/>
              </a:rPr>
              <a:t>equation should be supported by the information on a company's balance sheet.</a:t>
            </a:r>
            <a:endParaRPr lang="en-US" sz="4400" dirty="0">
              <a:latin typeface="Bahnschrift" panose="020B0502040204020203" pitchFamily="34" charset="0"/>
            </a:endParaRPr>
          </a:p>
        </p:txBody>
      </p:sp>
      <p:sp>
        <p:nvSpPr>
          <p:cNvPr id="6" name="Right Arrow 5"/>
          <p:cNvSpPr/>
          <p:nvPr/>
        </p:nvSpPr>
        <p:spPr>
          <a:xfrm>
            <a:off x="991851" y="3751311"/>
            <a:ext cx="696686" cy="1611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920" y="58847"/>
            <a:ext cx="11913326" cy="6017032"/>
          </a:xfrm>
          <a:prstGeom prst="rect">
            <a:avLst/>
          </a:prstGeom>
        </p:spPr>
        <p:txBody>
          <a:bodyPr wrap="square">
            <a:spAutoFit/>
          </a:bodyPr>
          <a:lstStyle/>
          <a:p>
            <a:pPr algn="just"/>
            <a:r>
              <a:rPr lang="en-US" sz="3500" dirty="0">
                <a:solidFill>
                  <a:srgbClr val="FF0000"/>
                </a:solidFill>
                <a:latin typeface="Bahnschrift" panose="020B0502040204020203" pitchFamily="34" charset="0"/>
              </a:rPr>
              <a:t>Liabilities</a:t>
            </a:r>
            <a:r>
              <a:rPr lang="en-US" sz="3500" dirty="0">
                <a:latin typeface="Bahnschrift" panose="020B0502040204020203" pitchFamily="34" charset="0"/>
              </a:rPr>
              <a:t> are something the business owes.</a:t>
            </a:r>
            <a:endParaRPr lang="en-US" sz="3500" dirty="0">
              <a:latin typeface="Bahnschrift" panose="020B0502040204020203" pitchFamily="34" charset="0"/>
            </a:endParaRPr>
          </a:p>
          <a:p>
            <a:pPr algn="just"/>
            <a:r>
              <a:rPr lang="en-US" sz="3500" dirty="0">
                <a:latin typeface="Bahnschrift" panose="020B0502040204020203" pitchFamily="34" charset="0"/>
              </a:rPr>
              <a:t>For example, a creditor who has loaned money to Smart Touch has a claim to some of the business’s assets until the business pays the debt. Many liabilities have the word payable in their titles. Examples include Accounts payable, Notes payable, and Salary payable</a:t>
            </a:r>
            <a:r>
              <a:rPr lang="en-US" sz="3500" dirty="0" smtClean="0">
                <a:latin typeface="Bahnschrift" panose="020B0502040204020203" pitchFamily="34" charset="0"/>
              </a:rPr>
              <a:t>.</a:t>
            </a:r>
            <a:endParaRPr lang="en-US" sz="3500" dirty="0" smtClean="0">
              <a:latin typeface="Bahnschrift" panose="020B0502040204020203" pitchFamily="34" charset="0"/>
            </a:endParaRPr>
          </a:p>
          <a:p>
            <a:pPr algn="just"/>
            <a:endParaRPr lang="en-US" sz="3500" dirty="0">
              <a:latin typeface="Bahnschrift" panose="020B0502040204020203" pitchFamily="34" charset="0"/>
            </a:endParaRPr>
          </a:p>
          <a:p>
            <a:pPr algn="just"/>
            <a:r>
              <a:rPr lang="en-US" sz="3500" dirty="0">
                <a:latin typeface="Bahnschrift" panose="020B0502040204020203" pitchFamily="34" charset="0"/>
              </a:rPr>
              <a:t>The owner’s claims to the assets of the business are called equity (also called owner’s, stockholders’, or shareholders’ equity, depending on how the company is organized). </a:t>
            </a:r>
            <a:endParaRPr lang="en-US" sz="35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2779" y="1407864"/>
            <a:ext cx="11704320" cy="3847207"/>
          </a:xfrm>
          <a:prstGeom prst="rect">
            <a:avLst/>
          </a:prstGeom>
        </p:spPr>
        <p:txBody>
          <a:bodyPr wrap="square">
            <a:spAutoFit/>
          </a:bodyPr>
          <a:lstStyle/>
          <a:p>
            <a:r>
              <a:rPr lang="en-US" sz="4400" b="1" dirty="0">
                <a:solidFill>
                  <a:srgbClr val="FF0000"/>
                </a:solidFill>
                <a:latin typeface="Bahnschrift" panose="020B0502040204020203" pitchFamily="34" charset="0"/>
              </a:rPr>
              <a:t>Owner’s equity is </a:t>
            </a:r>
            <a:r>
              <a:rPr lang="en-US" sz="4400" b="1" dirty="0" smtClean="0">
                <a:solidFill>
                  <a:srgbClr val="FF0000"/>
                </a:solidFill>
                <a:latin typeface="Bahnschrift" panose="020B0502040204020203" pitchFamily="34" charset="0"/>
              </a:rPr>
              <a:t>affected </a:t>
            </a:r>
            <a:r>
              <a:rPr lang="en-US" sz="4400" b="1" dirty="0">
                <a:solidFill>
                  <a:srgbClr val="FF0000"/>
                </a:solidFill>
                <a:latin typeface="Bahnschrift" panose="020B0502040204020203" pitchFamily="34" charset="0"/>
              </a:rPr>
              <a:t>by</a:t>
            </a:r>
            <a:r>
              <a:rPr lang="en-US" sz="4400" b="1" dirty="0" smtClean="0">
                <a:latin typeface="Bahnschrift" panose="020B0502040204020203" pitchFamily="34" charset="0"/>
              </a:rPr>
              <a:t>:</a:t>
            </a:r>
            <a:endParaRPr lang="en-US" sz="4400" b="1" dirty="0" smtClean="0">
              <a:latin typeface="Bahnschrift" panose="020B0502040204020203" pitchFamily="34" charset="0"/>
            </a:endParaRPr>
          </a:p>
          <a:p>
            <a:pPr marL="685800" indent="-685800">
              <a:buFont typeface="Wingdings" panose="05000000000000000000" pitchFamily="2" charset="2"/>
              <a:buChar char="q"/>
            </a:pPr>
            <a:r>
              <a:rPr lang="en-US" sz="4000" dirty="0" smtClean="0">
                <a:latin typeface="Bahnschrift" panose="020B0502040204020203" pitchFamily="34" charset="0"/>
              </a:rPr>
              <a:t>Capital </a:t>
            </a:r>
            <a:r>
              <a:rPr lang="en-US" sz="4000" dirty="0">
                <a:latin typeface="Bahnschrift" panose="020B0502040204020203" pitchFamily="34" charset="0"/>
              </a:rPr>
              <a:t>Invested (+)</a:t>
            </a:r>
            <a:endParaRPr lang="en-US" sz="4000" dirty="0">
              <a:latin typeface="Bahnschrift" panose="020B0502040204020203" pitchFamily="34" charset="0"/>
            </a:endParaRPr>
          </a:p>
          <a:p>
            <a:pPr marL="685800" indent="-685800">
              <a:buFont typeface="Wingdings" panose="05000000000000000000" pitchFamily="2" charset="2"/>
              <a:buChar char="q"/>
            </a:pPr>
            <a:r>
              <a:rPr lang="en-US" sz="4000" dirty="0">
                <a:latin typeface="Bahnschrift" panose="020B0502040204020203" pitchFamily="34" charset="0"/>
              </a:rPr>
              <a:t>Other investments during a period (+)</a:t>
            </a:r>
            <a:endParaRPr lang="en-US" sz="4000" dirty="0">
              <a:latin typeface="Bahnschrift" panose="020B0502040204020203" pitchFamily="34" charset="0"/>
            </a:endParaRPr>
          </a:p>
          <a:p>
            <a:pPr marL="685800" indent="-685800">
              <a:buFont typeface="Wingdings" panose="05000000000000000000" pitchFamily="2" charset="2"/>
              <a:buChar char="q"/>
            </a:pPr>
            <a:r>
              <a:rPr lang="en-US" sz="4000" dirty="0">
                <a:latin typeface="Bahnschrift" panose="020B0502040204020203" pitchFamily="34" charset="0"/>
              </a:rPr>
              <a:t>Withdrawals of the owner (-)</a:t>
            </a:r>
            <a:endParaRPr lang="en-US" sz="4000" dirty="0">
              <a:latin typeface="Bahnschrift" panose="020B0502040204020203" pitchFamily="34" charset="0"/>
            </a:endParaRPr>
          </a:p>
          <a:p>
            <a:pPr marL="685800" indent="-685800">
              <a:buFont typeface="Wingdings" panose="05000000000000000000" pitchFamily="2" charset="2"/>
              <a:buChar char="q"/>
            </a:pPr>
            <a:r>
              <a:rPr lang="en-US" sz="4000" dirty="0">
                <a:latin typeface="Bahnschrift" panose="020B0502040204020203" pitchFamily="34" charset="0"/>
              </a:rPr>
              <a:t>Revenue (service revenue or sales) (+) </a:t>
            </a:r>
            <a:endParaRPr lang="en-US" sz="4000" dirty="0">
              <a:latin typeface="Bahnschrift" panose="020B0502040204020203" pitchFamily="34" charset="0"/>
            </a:endParaRPr>
          </a:p>
          <a:p>
            <a:pPr marL="685800" indent="-685800">
              <a:buFont typeface="Wingdings" panose="05000000000000000000" pitchFamily="2" charset="2"/>
              <a:buChar char="q"/>
            </a:pPr>
            <a:r>
              <a:rPr lang="en-US" sz="4000" dirty="0">
                <a:latin typeface="Bahnschrift" panose="020B0502040204020203" pitchFamily="34" charset="0"/>
              </a:rPr>
              <a:t>Expenses (-)</a:t>
            </a:r>
            <a:endParaRPr lang="en-US" sz="40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0926" y="568345"/>
            <a:ext cx="11373345" cy="1560716"/>
          </a:xfrm>
        </p:spPr>
        <p:txBody>
          <a:bodyPr/>
          <a:lstStyle/>
          <a:p>
            <a:pPr algn="ctr"/>
            <a:r>
              <a:rPr lang="en-US" dirty="0" smtClean="0">
                <a:solidFill>
                  <a:srgbClr val="FF0000"/>
                </a:solidFill>
                <a:latin typeface="Bahnschrift" panose="020B0502040204020203" pitchFamily="34" charset="0"/>
              </a:rPr>
              <a:t>Ending Balance of Owners’ Equity</a:t>
            </a:r>
            <a:endParaRPr lang="en-US" dirty="0">
              <a:solidFill>
                <a:srgbClr val="FF0000"/>
              </a:solidFill>
              <a:latin typeface="Bahnschrift" panose="020B0502040204020203" pitchFamily="34" charset="0"/>
            </a:endParaRPr>
          </a:p>
        </p:txBody>
      </p:sp>
      <p:sp>
        <p:nvSpPr>
          <p:cNvPr id="3" name="Content Placeholder 2"/>
          <p:cNvSpPr>
            <a:spLocks noGrp="1"/>
          </p:cNvSpPr>
          <p:nvPr>
            <p:ph sz="half" idx="1"/>
          </p:nvPr>
        </p:nvSpPr>
        <p:spPr>
          <a:xfrm>
            <a:off x="87549" y="2129061"/>
            <a:ext cx="7006670" cy="4728939"/>
          </a:xfrm>
        </p:spPr>
        <p:txBody>
          <a:bodyPr>
            <a:normAutofit/>
          </a:bodyPr>
          <a:lstStyle/>
          <a:p>
            <a:r>
              <a:rPr lang="en-US" sz="4400" dirty="0" smtClean="0">
                <a:latin typeface="Bahnschrift" panose="020B0502040204020203" pitchFamily="34" charset="0"/>
              </a:rPr>
              <a:t>When we are preparing Owners’ Equity Statement; we use the following formula here.</a:t>
            </a:r>
            <a:endParaRPr lang="en-US" sz="4400" dirty="0">
              <a:latin typeface="Bahnschrift" panose="020B0502040204020203" pitchFamily="34" charset="0"/>
            </a:endParaRPr>
          </a:p>
        </p:txBody>
      </p:sp>
      <p:pic>
        <p:nvPicPr>
          <p:cNvPr id="5" name="Content Placeholder 4"/>
          <p:cNvPicPr>
            <a:picLocks noGrp="1" noChangeAspect="1"/>
          </p:cNvPicPr>
          <p:nvPr>
            <p:ph sz="half" idx="2"/>
          </p:nvPr>
        </p:nvPicPr>
        <p:blipFill>
          <a:blip r:embed="rId1"/>
          <a:stretch>
            <a:fillRect/>
          </a:stretch>
        </p:blipFill>
        <p:spPr>
          <a:xfrm>
            <a:off x="7184572" y="2111645"/>
            <a:ext cx="4520066" cy="451818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795" y="97695"/>
            <a:ext cx="11895908" cy="6247864"/>
          </a:xfrm>
          <a:prstGeom prst="rect">
            <a:avLst/>
          </a:prstGeom>
        </p:spPr>
        <p:txBody>
          <a:bodyPr wrap="square">
            <a:spAutoFit/>
          </a:bodyPr>
          <a:lstStyle/>
          <a:p>
            <a:pPr algn="just"/>
            <a:r>
              <a:rPr lang="en-US" sz="4000" dirty="0">
                <a:solidFill>
                  <a:srgbClr val="FF0000"/>
                </a:solidFill>
                <a:latin typeface="Bahnschrift" panose="020B0502040204020203" pitchFamily="34" charset="0"/>
              </a:rPr>
              <a:t>Equity</a:t>
            </a:r>
            <a:r>
              <a:rPr lang="en-US" sz="4000" dirty="0">
                <a:latin typeface="Bahnschrift" panose="020B0502040204020203" pitchFamily="34" charset="0"/>
              </a:rPr>
              <a:t> equals what is owned (assets) minus what is owed (liabilities). It </a:t>
            </a:r>
            <a:r>
              <a:rPr lang="en-US" sz="4000" dirty="0" smtClean="0">
                <a:latin typeface="Bahnschrift" panose="020B0502040204020203" pitchFamily="34" charset="0"/>
              </a:rPr>
              <a:t>is the </a:t>
            </a:r>
            <a:r>
              <a:rPr lang="en-US" sz="4000" dirty="0">
                <a:latin typeface="Bahnschrift" panose="020B0502040204020203" pitchFamily="34" charset="0"/>
              </a:rPr>
              <a:t>company’s net worth. The accounting equation shows how assets, liabilities, and owner’s equity are related. </a:t>
            </a:r>
            <a:endParaRPr lang="en-US" sz="4000" dirty="0" smtClean="0">
              <a:latin typeface="Bahnschrift" panose="020B0502040204020203" pitchFamily="34" charset="0"/>
            </a:endParaRPr>
          </a:p>
          <a:p>
            <a:pPr algn="just"/>
            <a:endParaRPr lang="en-US" sz="4000" dirty="0">
              <a:latin typeface="Bahnschrift" panose="020B0502040204020203" pitchFamily="34" charset="0"/>
            </a:endParaRPr>
          </a:p>
          <a:p>
            <a:pPr algn="just"/>
            <a:r>
              <a:rPr lang="en-US" sz="4000" dirty="0" smtClean="0">
                <a:solidFill>
                  <a:srgbClr val="FF0000"/>
                </a:solidFill>
                <a:latin typeface="Bahnschrift" panose="020B0502040204020203" pitchFamily="34" charset="0"/>
              </a:rPr>
              <a:t>Assets </a:t>
            </a:r>
            <a:r>
              <a:rPr lang="en-US" sz="4000" dirty="0">
                <a:latin typeface="Bahnschrift" panose="020B0502040204020203" pitchFamily="34" charset="0"/>
              </a:rPr>
              <a:t>appear on the left side of the equation, and the liabilities and owner’s equity appear on the right side. The accounting equation is an equation—so the left side of the equation always equals the right side of the equation.</a:t>
            </a:r>
            <a:endParaRPr lang="en-US" sz="40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4528" y="382631"/>
            <a:ext cx="11594592" cy="1200329"/>
          </a:xfrm>
          <a:prstGeom prst="rect">
            <a:avLst/>
          </a:prstGeom>
        </p:spPr>
        <p:txBody>
          <a:bodyPr wrap="square">
            <a:spAutoFit/>
          </a:bodyPr>
          <a:lstStyle/>
          <a:p>
            <a:pPr algn="just"/>
            <a:r>
              <a:rPr lang="en-US" sz="3600" dirty="0">
                <a:latin typeface="Bahnschrift SemiBold" panose="020B0502040204020203" pitchFamily="34" charset="0"/>
              </a:rPr>
              <a:t>Exhibit 2-3 shows the relationship between the accounting equation and </a:t>
            </a:r>
            <a:r>
              <a:rPr lang="en-US" sz="3600" dirty="0" smtClean="0">
                <a:latin typeface="Bahnschrift SemiBold" panose="020B0502040204020203" pitchFamily="34" charset="0"/>
              </a:rPr>
              <a:t>the rules </a:t>
            </a:r>
            <a:r>
              <a:rPr lang="en-US" sz="3600" dirty="0">
                <a:latin typeface="Bahnschrift SemiBold" panose="020B0502040204020203" pitchFamily="34" charset="0"/>
              </a:rPr>
              <a:t>of debit and credit.</a:t>
            </a:r>
            <a:endParaRPr lang="en-US" sz="3600" dirty="0">
              <a:latin typeface="Bahnschrift SemiBold" panose="020B0502040204020203" pitchFamily="34" charset="0"/>
            </a:endParaRPr>
          </a:p>
        </p:txBody>
      </p:sp>
      <p:pic>
        <p:nvPicPr>
          <p:cNvPr id="3" name="Picture 2"/>
          <p:cNvPicPr>
            <a:picLocks noChangeAspect="1"/>
          </p:cNvPicPr>
          <p:nvPr/>
        </p:nvPicPr>
        <p:blipFill>
          <a:blip r:embed="rId1"/>
          <a:stretch>
            <a:fillRect/>
          </a:stretch>
        </p:blipFill>
        <p:spPr>
          <a:xfrm>
            <a:off x="219456" y="2400210"/>
            <a:ext cx="11789664" cy="4354157"/>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36187" y="0"/>
            <a:ext cx="11945566" cy="6750996"/>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003" y="94488"/>
            <a:ext cx="11751013" cy="6124754"/>
          </a:xfrm>
          <a:prstGeom prst="rect">
            <a:avLst/>
          </a:prstGeom>
        </p:spPr>
        <p:txBody>
          <a:bodyPr wrap="square">
            <a:spAutoFit/>
          </a:bodyPr>
          <a:lstStyle/>
          <a:p>
            <a:pPr algn="just"/>
            <a:r>
              <a:rPr lang="en-US" sz="2800" dirty="0">
                <a:latin typeface="Bahnschrift" panose="020B0502040204020203" pitchFamily="34" charset="0"/>
              </a:rPr>
              <a:t>The amount remaining in an account is called its balance. The first </a:t>
            </a:r>
            <a:r>
              <a:rPr lang="en-US" sz="2800" dirty="0" smtClean="0">
                <a:latin typeface="Bahnschrift" panose="020B0502040204020203" pitchFamily="34" charset="0"/>
              </a:rPr>
              <a:t>transaction gives </a:t>
            </a:r>
            <a:r>
              <a:rPr lang="en-US" sz="2800" dirty="0">
                <a:latin typeface="Bahnschrift" panose="020B0502040204020203" pitchFamily="34" charset="0"/>
              </a:rPr>
              <a:t>Cash a $30,000 debit balance and Bright, capital a $30,000 credit balance</a:t>
            </a:r>
            <a:r>
              <a:rPr lang="en-US" sz="2800" dirty="0" smtClean="0">
                <a:latin typeface="Bahnschrift" panose="020B0502040204020203" pitchFamily="34" charset="0"/>
              </a:rPr>
              <a:t>.</a:t>
            </a:r>
            <a:endParaRPr lang="en-US" sz="2800" dirty="0" smtClean="0">
              <a:latin typeface="Bahnschrift" panose="020B0502040204020203" pitchFamily="34" charset="0"/>
            </a:endParaRPr>
          </a:p>
          <a:p>
            <a:pPr algn="just"/>
            <a:endParaRPr lang="en-US" sz="2800" dirty="0">
              <a:latin typeface="Bahnschrift" panose="020B0502040204020203" pitchFamily="34" charset="0"/>
            </a:endParaRPr>
          </a:p>
          <a:p>
            <a:pPr algn="just"/>
            <a:r>
              <a:rPr lang="en-US" sz="2800" dirty="0">
                <a:latin typeface="Bahnschrift" panose="020B0502040204020203" pitchFamily="34" charset="0"/>
              </a:rPr>
              <a:t>The second transaction is a $20,000 purchase of land. Exhibit 2-4 illustrates</a:t>
            </a:r>
            <a:endParaRPr lang="en-US" sz="2800" dirty="0">
              <a:latin typeface="Bahnschrift" panose="020B0502040204020203" pitchFamily="34" charset="0"/>
            </a:endParaRPr>
          </a:p>
          <a:p>
            <a:pPr algn="just"/>
            <a:r>
              <a:rPr lang="en-US" sz="2800" dirty="0">
                <a:latin typeface="Bahnschrift" panose="020B0502040204020203" pitchFamily="34" charset="0"/>
              </a:rPr>
              <a:t>the accounting equation after Smart Touch Learning’s first two transactions. </a:t>
            </a:r>
            <a:r>
              <a:rPr lang="en-US" sz="2800" dirty="0" smtClean="0">
                <a:latin typeface="Bahnschrift" panose="020B0502040204020203" pitchFamily="34" charset="0"/>
              </a:rPr>
              <a:t>After transaction </a:t>
            </a:r>
            <a:r>
              <a:rPr lang="en-US" sz="2800" dirty="0">
                <a:latin typeface="Bahnschrift" panose="020B0502040204020203" pitchFamily="34" charset="0"/>
              </a:rPr>
              <a:t>2, Cash has a $10,000 debit balance, Land has a debit balance </a:t>
            </a:r>
            <a:r>
              <a:rPr lang="en-US" sz="2800" dirty="0" smtClean="0">
                <a:latin typeface="Bahnschrift" panose="020B0502040204020203" pitchFamily="34" charset="0"/>
              </a:rPr>
              <a:t>of $</a:t>
            </a:r>
            <a:r>
              <a:rPr lang="en-US" sz="2800" dirty="0">
                <a:latin typeface="Bahnschrift" panose="020B0502040204020203" pitchFamily="34" charset="0"/>
              </a:rPr>
              <a:t>20,000, and Bright, capital has a $30,000 credit balance.</a:t>
            </a:r>
            <a:endParaRPr lang="en-US" sz="2800" dirty="0">
              <a:latin typeface="Bahnschrift" panose="020B0502040204020203" pitchFamily="34" charset="0"/>
            </a:endParaRPr>
          </a:p>
          <a:p>
            <a:pPr algn="just"/>
            <a:r>
              <a:rPr lang="en-US" sz="2800" dirty="0">
                <a:latin typeface="Bahnschrift" panose="020B0502040204020203" pitchFamily="34" charset="0"/>
              </a:rPr>
              <a:t>We create accounts as needed. The process of creating a new account is </a:t>
            </a:r>
            <a:r>
              <a:rPr lang="en-US" sz="2800" dirty="0" smtClean="0">
                <a:latin typeface="Bahnschrift" panose="020B0502040204020203" pitchFamily="34" charset="0"/>
              </a:rPr>
              <a:t>called opening </a:t>
            </a:r>
            <a:r>
              <a:rPr lang="en-US" sz="2800" dirty="0">
                <a:latin typeface="Bahnschrift" panose="020B0502040204020203" pitchFamily="34" charset="0"/>
              </a:rPr>
              <a:t>the account. For transaction 1, we opened the Cash account and the Bright</a:t>
            </a:r>
            <a:r>
              <a:rPr lang="en-US" sz="2800" dirty="0" smtClean="0">
                <a:latin typeface="Bahnschrift" panose="020B0502040204020203" pitchFamily="34" charset="0"/>
              </a:rPr>
              <a:t>, capital </a:t>
            </a:r>
            <a:r>
              <a:rPr lang="en-US" sz="2800" dirty="0">
                <a:latin typeface="Bahnschrift" panose="020B0502040204020203" pitchFamily="34" charset="0"/>
              </a:rPr>
              <a:t>account. For transaction 2, we opened the Land account.</a:t>
            </a:r>
            <a:endParaRPr lang="en-US" sz="2800" dirty="0">
              <a:latin typeface="Bahnschrift" panose="020B0502040204020203"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97278" y="0"/>
            <a:ext cx="12289277" cy="685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3840" y="1443841"/>
            <a:ext cx="11704320" cy="3970318"/>
          </a:xfrm>
          <a:prstGeom prst="rect">
            <a:avLst/>
          </a:prstGeom>
        </p:spPr>
        <p:txBody>
          <a:bodyPr wrap="square">
            <a:spAutoFit/>
          </a:bodyPr>
          <a:lstStyle/>
          <a:p>
            <a:pPr algn="ctr"/>
            <a:r>
              <a:rPr lang="en-US" sz="3600" b="1" dirty="0">
                <a:solidFill>
                  <a:srgbClr val="FF0000"/>
                </a:solidFill>
                <a:latin typeface="Bahnschrift" panose="020B0502040204020203" pitchFamily="34" charset="0"/>
              </a:rPr>
              <a:t>Transaction 1: Starting the Business</a:t>
            </a:r>
            <a:endParaRPr lang="en-US" sz="3600" b="1" dirty="0">
              <a:solidFill>
                <a:srgbClr val="FF0000"/>
              </a:solidFill>
              <a:latin typeface="Bahnschrift" panose="020B0502040204020203" pitchFamily="34" charset="0"/>
            </a:endParaRPr>
          </a:p>
          <a:p>
            <a:pPr algn="just"/>
            <a:r>
              <a:rPr lang="en-US" sz="3600" dirty="0">
                <a:latin typeface="Bahnschrift" panose="020B0502040204020203" pitchFamily="34" charset="0"/>
              </a:rPr>
              <a:t>Sheena Bright starts the new business as a proprietorship named Smart </a:t>
            </a:r>
            <a:r>
              <a:rPr lang="en-US" sz="3600" dirty="0" smtClean="0">
                <a:latin typeface="Bahnschrift" panose="020B0502040204020203" pitchFamily="34" charset="0"/>
              </a:rPr>
              <a:t>Touch Learning</a:t>
            </a:r>
            <a:r>
              <a:rPr lang="en-US" sz="3600" dirty="0">
                <a:latin typeface="Bahnschrift" panose="020B0502040204020203" pitchFamily="34" charset="0"/>
              </a:rPr>
              <a:t>. In April 2013, the e-learning agency receives $30,000 cash from </a:t>
            </a:r>
            <a:r>
              <a:rPr lang="en-US" sz="3600" dirty="0" smtClean="0">
                <a:latin typeface="Bahnschrift" panose="020B0502040204020203" pitchFamily="34" charset="0"/>
              </a:rPr>
              <a:t>the owner</a:t>
            </a:r>
            <a:r>
              <a:rPr lang="en-US" sz="3600" dirty="0">
                <a:latin typeface="Bahnschrift" panose="020B0502040204020203" pitchFamily="34" charset="0"/>
              </a:rPr>
              <a:t>, Sheena Bright, and the business gave capital to her. The effect of this </a:t>
            </a:r>
            <a:r>
              <a:rPr lang="en-US" sz="3600" dirty="0" smtClean="0">
                <a:latin typeface="Bahnschrift" panose="020B0502040204020203" pitchFamily="34" charset="0"/>
              </a:rPr>
              <a:t>transaction </a:t>
            </a:r>
            <a:r>
              <a:rPr lang="en-US" sz="3600" dirty="0">
                <a:latin typeface="Bahnschrift" panose="020B0502040204020203" pitchFamily="34" charset="0"/>
              </a:rPr>
              <a:t>on the accounting equation of the business is as follows:</a:t>
            </a:r>
            <a:endParaRPr lang="en-US" sz="36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920" y="2370436"/>
            <a:ext cx="11948160" cy="3170099"/>
          </a:xfrm>
          <a:prstGeom prst="rect">
            <a:avLst/>
          </a:prstGeom>
        </p:spPr>
        <p:txBody>
          <a:bodyPr wrap="square">
            <a:spAutoFit/>
          </a:bodyPr>
          <a:lstStyle/>
          <a:p>
            <a:pPr algn="ctr"/>
            <a:r>
              <a:rPr lang="en-US" sz="4000" dirty="0">
                <a:solidFill>
                  <a:srgbClr val="FF0000"/>
                </a:solidFill>
                <a:latin typeface="Bahnschrift" panose="020B0502040204020203" pitchFamily="34" charset="0"/>
              </a:rPr>
              <a:t>Transaction 2: Purchase of </a:t>
            </a:r>
            <a:r>
              <a:rPr lang="en-US" sz="4000" dirty="0" smtClean="0">
                <a:solidFill>
                  <a:srgbClr val="FF0000"/>
                </a:solidFill>
                <a:latin typeface="Bahnschrift" panose="020B0502040204020203" pitchFamily="34" charset="0"/>
              </a:rPr>
              <a:t>Land</a:t>
            </a:r>
            <a:endParaRPr lang="en-US" sz="4000" dirty="0" smtClean="0">
              <a:solidFill>
                <a:srgbClr val="FF0000"/>
              </a:solidFill>
              <a:latin typeface="Bahnschrift" panose="020B0502040204020203" pitchFamily="34" charset="0"/>
            </a:endParaRPr>
          </a:p>
          <a:p>
            <a:pPr algn="just"/>
            <a:endParaRPr lang="en-US" sz="4000" dirty="0">
              <a:solidFill>
                <a:srgbClr val="FF0000"/>
              </a:solidFill>
              <a:latin typeface="Bahnschrift" panose="020B0502040204020203" pitchFamily="34" charset="0"/>
            </a:endParaRPr>
          </a:p>
          <a:p>
            <a:pPr algn="just"/>
            <a:r>
              <a:rPr lang="en-US" sz="4000" dirty="0">
                <a:latin typeface="Bahnschrift" panose="020B0502040204020203" pitchFamily="34" charset="0"/>
              </a:rPr>
              <a:t>The business purchases land for an office location, paying cash of $20,000. </a:t>
            </a:r>
            <a:r>
              <a:rPr lang="en-US" sz="4000" dirty="0" smtClean="0">
                <a:latin typeface="Bahnschrift" panose="020B0502040204020203" pitchFamily="34" charset="0"/>
              </a:rPr>
              <a:t>This transaction </a:t>
            </a:r>
            <a:r>
              <a:rPr lang="en-US" sz="4000" dirty="0">
                <a:latin typeface="Bahnschrift" panose="020B0502040204020203" pitchFamily="34" charset="0"/>
              </a:rPr>
              <a:t>affects the accounting equation of Smart Touch as </a:t>
            </a:r>
            <a:r>
              <a:rPr lang="en-US" sz="4000" dirty="0" smtClean="0">
                <a:latin typeface="Bahnschrift" panose="020B0502040204020203" pitchFamily="34" charset="0"/>
              </a:rPr>
              <a:t>follows:</a:t>
            </a:r>
            <a:endParaRPr lang="en-US" sz="40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0"/>
            <a:ext cx="12192000" cy="6940731"/>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1189231"/>
            <a:ext cx="12009120" cy="5016758"/>
          </a:xfrm>
          <a:prstGeom prst="rect">
            <a:avLst/>
          </a:prstGeom>
        </p:spPr>
        <p:txBody>
          <a:bodyPr wrap="square">
            <a:spAutoFit/>
          </a:bodyPr>
          <a:lstStyle/>
          <a:p>
            <a:pPr algn="ctr"/>
            <a:r>
              <a:rPr lang="en-US" sz="4000" dirty="0">
                <a:solidFill>
                  <a:srgbClr val="FF0000"/>
                </a:solidFill>
                <a:latin typeface="Bahnschrift" panose="020B0502040204020203" pitchFamily="34" charset="0"/>
              </a:rPr>
              <a:t>Transaction 3: Purchase of Office </a:t>
            </a:r>
            <a:r>
              <a:rPr lang="en-US" sz="4000" dirty="0" smtClean="0">
                <a:solidFill>
                  <a:srgbClr val="FF0000"/>
                </a:solidFill>
                <a:latin typeface="Bahnschrift" panose="020B0502040204020203" pitchFamily="34" charset="0"/>
              </a:rPr>
              <a:t>Supplies</a:t>
            </a:r>
            <a:endParaRPr lang="en-US" sz="4000" dirty="0" smtClean="0">
              <a:solidFill>
                <a:srgbClr val="FF0000"/>
              </a:solidFill>
              <a:latin typeface="Bahnschrift" panose="020B0502040204020203" pitchFamily="34" charset="0"/>
            </a:endParaRPr>
          </a:p>
          <a:p>
            <a:pPr algn="just"/>
            <a:endParaRPr lang="en-US" sz="4000" dirty="0">
              <a:solidFill>
                <a:srgbClr val="FF0000"/>
              </a:solidFill>
              <a:latin typeface="Bahnschrift" panose="020B0502040204020203" pitchFamily="34" charset="0"/>
            </a:endParaRPr>
          </a:p>
          <a:p>
            <a:pPr algn="just"/>
            <a:r>
              <a:rPr lang="en-US" sz="4000" dirty="0">
                <a:latin typeface="Bahnschrift" panose="020B0502040204020203" pitchFamily="34" charset="0"/>
              </a:rPr>
              <a:t>The e-learning agency buys office supplies on account (credit), agreeing to pay $</a:t>
            </a:r>
            <a:r>
              <a:rPr lang="en-US" sz="4000" dirty="0" smtClean="0">
                <a:latin typeface="Bahnschrift" panose="020B0502040204020203" pitchFamily="34" charset="0"/>
              </a:rPr>
              <a:t>500 within </a:t>
            </a:r>
            <a:r>
              <a:rPr lang="en-US" sz="4000" dirty="0">
                <a:latin typeface="Bahnschrift" panose="020B0502040204020203" pitchFamily="34" charset="0"/>
              </a:rPr>
              <a:t>30 days. The company will use the supplies in the future, so they are an </a:t>
            </a:r>
            <a:r>
              <a:rPr lang="en-US" sz="4000" dirty="0" smtClean="0">
                <a:latin typeface="Bahnschrift" panose="020B0502040204020203" pitchFamily="34" charset="0"/>
              </a:rPr>
              <a:t>asset to </a:t>
            </a:r>
            <a:r>
              <a:rPr lang="en-US" sz="4000" dirty="0">
                <a:latin typeface="Bahnschrift" panose="020B0502040204020203" pitchFamily="34" charset="0"/>
              </a:rPr>
              <a:t>the business. This transaction increases both the assets and the liabilities of </a:t>
            </a:r>
            <a:r>
              <a:rPr lang="en-US" sz="4000" dirty="0" smtClean="0">
                <a:latin typeface="Bahnschrift" panose="020B0502040204020203" pitchFamily="34" charset="0"/>
              </a:rPr>
              <a:t>the business</a:t>
            </a:r>
            <a:r>
              <a:rPr lang="en-US" sz="4000" dirty="0">
                <a:latin typeface="Bahnschrift" panose="020B0502040204020203" pitchFamily="34" charset="0"/>
              </a:rPr>
              <a:t>, as follows:</a:t>
            </a:r>
            <a:endParaRPr lang="en-US" sz="40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6756" y="106404"/>
            <a:ext cx="11678194" cy="6247864"/>
          </a:xfrm>
          <a:prstGeom prst="rect">
            <a:avLst/>
          </a:prstGeom>
        </p:spPr>
        <p:txBody>
          <a:bodyPr wrap="square">
            <a:spAutoFit/>
          </a:bodyPr>
          <a:lstStyle/>
          <a:p>
            <a:pPr algn="ctr"/>
            <a:endParaRPr lang="en-US" sz="4000" dirty="0" smtClean="0">
              <a:solidFill>
                <a:srgbClr val="FF0000"/>
              </a:solidFill>
              <a:latin typeface="Bahnschrift" panose="020B0502040204020203" pitchFamily="34" charset="0"/>
            </a:endParaRPr>
          </a:p>
          <a:p>
            <a:pPr algn="ctr"/>
            <a:endParaRPr lang="en-US" sz="4000" dirty="0">
              <a:solidFill>
                <a:srgbClr val="FF0000"/>
              </a:solidFill>
              <a:latin typeface="Bahnschrift" panose="020B0502040204020203" pitchFamily="34" charset="0"/>
            </a:endParaRPr>
          </a:p>
          <a:p>
            <a:pPr algn="ctr"/>
            <a:r>
              <a:rPr lang="en-US" sz="4000" dirty="0" smtClean="0">
                <a:solidFill>
                  <a:srgbClr val="FF0000"/>
                </a:solidFill>
                <a:latin typeface="Bahnschrift" panose="020B0502040204020203" pitchFamily="34" charset="0"/>
              </a:rPr>
              <a:t>Transaction </a:t>
            </a:r>
            <a:r>
              <a:rPr lang="en-US" sz="4000" dirty="0">
                <a:solidFill>
                  <a:srgbClr val="FF0000"/>
                </a:solidFill>
                <a:latin typeface="Bahnschrift" panose="020B0502040204020203" pitchFamily="34" charset="0"/>
              </a:rPr>
              <a:t>4: Earning of Service </a:t>
            </a:r>
            <a:r>
              <a:rPr lang="en-US" sz="4000" dirty="0" smtClean="0">
                <a:solidFill>
                  <a:srgbClr val="FF0000"/>
                </a:solidFill>
                <a:latin typeface="Bahnschrift" panose="020B0502040204020203" pitchFamily="34" charset="0"/>
              </a:rPr>
              <a:t>Revenue</a:t>
            </a:r>
            <a:endParaRPr lang="en-US" sz="4000" dirty="0" smtClean="0">
              <a:solidFill>
                <a:srgbClr val="FF0000"/>
              </a:solidFill>
              <a:latin typeface="Bahnschrift" panose="020B0502040204020203" pitchFamily="34" charset="0"/>
            </a:endParaRPr>
          </a:p>
          <a:p>
            <a:pPr algn="ctr"/>
            <a:endParaRPr lang="en-US" sz="4000" dirty="0">
              <a:solidFill>
                <a:srgbClr val="FF0000"/>
              </a:solidFill>
              <a:latin typeface="Bahnschrift" panose="020B0502040204020203" pitchFamily="34" charset="0"/>
            </a:endParaRPr>
          </a:p>
          <a:p>
            <a:pPr algn="just"/>
            <a:r>
              <a:rPr lang="en-US" sz="4000" dirty="0">
                <a:latin typeface="Bahnschrift" panose="020B0502040204020203" pitchFamily="34" charset="0"/>
              </a:rPr>
              <a:t>Smart Touch earns service revenue by providing training services for clients. </a:t>
            </a:r>
            <a:r>
              <a:rPr lang="en-US" sz="4000" dirty="0" smtClean="0">
                <a:latin typeface="Bahnschrift" panose="020B0502040204020203" pitchFamily="34" charset="0"/>
              </a:rPr>
              <a:t>The business </a:t>
            </a:r>
            <a:r>
              <a:rPr lang="en-US" sz="4000" dirty="0">
                <a:latin typeface="Bahnschrift" panose="020B0502040204020203" pitchFamily="34" charset="0"/>
              </a:rPr>
              <a:t>earns $5,500 of revenue and collects this amount in cash. The effect </a:t>
            </a:r>
            <a:r>
              <a:rPr lang="en-US" sz="4000" dirty="0" smtClean="0">
                <a:latin typeface="Bahnschrift" panose="020B0502040204020203" pitchFamily="34" charset="0"/>
              </a:rPr>
              <a:t>on the </a:t>
            </a:r>
            <a:r>
              <a:rPr lang="en-US" sz="4000" dirty="0">
                <a:latin typeface="Bahnschrift" panose="020B0502040204020203" pitchFamily="34" charset="0"/>
              </a:rPr>
              <a:t>accounting equation is an increase in Cash and an increase in Bright, capital</a:t>
            </a:r>
            <a:r>
              <a:rPr lang="en-US" sz="4000" dirty="0" smtClean="0">
                <a:latin typeface="Bahnschrift" panose="020B0502040204020203" pitchFamily="34" charset="0"/>
              </a:rPr>
              <a:t>, as </a:t>
            </a:r>
            <a:r>
              <a:rPr lang="en-US" sz="4000" dirty="0">
                <a:latin typeface="Bahnschrift" panose="020B0502040204020203" pitchFamily="34" charset="0"/>
              </a:rPr>
              <a:t>follows:</a:t>
            </a:r>
            <a:endParaRPr lang="en-US" sz="40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669" y="105234"/>
            <a:ext cx="11982994" cy="6093976"/>
          </a:xfrm>
          <a:prstGeom prst="rect">
            <a:avLst/>
          </a:prstGeom>
        </p:spPr>
        <p:txBody>
          <a:bodyPr wrap="square">
            <a:spAutoFit/>
          </a:bodyPr>
          <a:lstStyle/>
          <a:p>
            <a:pPr algn="ctr"/>
            <a:endParaRPr lang="en-US" sz="3000" b="1" dirty="0" smtClean="0">
              <a:solidFill>
                <a:srgbClr val="FF0000"/>
              </a:solidFill>
              <a:latin typeface="Bahnschrift" panose="020B0502040204020203" pitchFamily="34" charset="0"/>
            </a:endParaRPr>
          </a:p>
          <a:p>
            <a:pPr algn="ctr"/>
            <a:endParaRPr lang="en-US" sz="3000" b="1" dirty="0">
              <a:solidFill>
                <a:srgbClr val="FF0000"/>
              </a:solidFill>
              <a:latin typeface="Bahnschrift" panose="020B0502040204020203" pitchFamily="34" charset="0"/>
            </a:endParaRPr>
          </a:p>
          <a:p>
            <a:pPr algn="ctr"/>
            <a:r>
              <a:rPr lang="en-US" sz="3000" b="1" dirty="0" smtClean="0">
                <a:solidFill>
                  <a:srgbClr val="FF0000"/>
                </a:solidFill>
                <a:latin typeface="Bahnschrift" panose="020B0502040204020203" pitchFamily="34" charset="0"/>
              </a:rPr>
              <a:t>Transaction </a:t>
            </a:r>
            <a:r>
              <a:rPr lang="en-US" sz="3000" b="1" dirty="0">
                <a:solidFill>
                  <a:srgbClr val="FF0000"/>
                </a:solidFill>
                <a:latin typeface="Bahnschrift" panose="020B0502040204020203" pitchFamily="34" charset="0"/>
              </a:rPr>
              <a:t>5: Earning of Service Revenue on Account</a:t>
            </a:r>
            <a:endParaRPr lang="en-US" sz="3000" b="1" dirty="0">
              <a:solidFill>
                <a:srgbClr val="FF0000"/>
              </a:solidFill>
              <a:latin typeface="Bahnschrift" panose="020B0502040204020203" pitchFamily="34" charset="0"/>
            </a:endParaRPr>
          </a:p>
          <a:p>
            <a:pPr algn="just"/>
            <a:r>
              <a:rPr lang="en-US" sz="3000" dirty="0">
                <a:latin typeface="Bahnschrift" panose="020B0502040204020203" pitchFamily="34" charset="0"/>
              </a:rPr>
              <a:t>Smart Touch performs a service for clients who do not pay immediately. The </a:t>
            </a:r>
            <a:r>
              <a:rPr lang="en-US" sz="3000" dirty="0" smtClean="0">
                <a:latin typeface="Bahnschrift" panose="020B0502040204020203" pitchFamily="34" charset="0"/>
              </a:rPr>
              <a:t>business </a:t>
            </a:r>
            <a:r>
              <a:rPr lang="en-US" sz="3000" dirty="0">
                <a:latin typeface="Bahnschrift" panose="020B0502040204020203" pitchFamily="34" charset="0"/>
              </a:rPr>
              <a:t>receives the clients’ promise to pay $3,000 within one month. This promise </a:t>
            </a:r>
            <a:r>
              <a:rPr lang="en-US" sz="3000" dirty="0" smtClean="0">
                <a:latin typeface="Bahnschrift" panose="020B0502040204020203" pitchFamily="34" charset="0"/>
              </a:rPr>
              <a:t>is an </a:t>
            </a:r>
            <a:r>
              <a:rPr lang="en-US" sz="3000" dirty="0">
                <a:latin typeface="Bahnschrift" panose="020B0502040204020203" pitchFamily="34" charset="0"/>
              </a:rPr>
              <a:t>asset, an Account receivable, because the agency expects to collect the cash </a:t>
            </a:r>
            <a:r>
              <a:rPr lang="en-US" sz="3000" dirty="0" smtClean="0">
                <a:latin typeface="Bahnschrift" panose="020B0502040204020203" pitchFamily="34" charset="0"/>
              </a:rPr>
              <a:t>in the </a:t>
            </a:r>
            <a:r>
              <a:rPr lang="en-US" sz="3000" dirty="0">
                <a:latin typeface="Bahnschrift" panose="020B0502040204020203" pitchFamily="34" charset="0"/>
              </a:rPr>
              <a:t>future. In accounting, we say that Smart Touch performed this service </a:t>
            </a:r>
            <a:r>
              <a:rPr lang="en-US" sz="3000" dirty="0" smtClean="0">
                <a:latin typeface="Bahnschrift" panose="020B0502040204020203" pitchFamily="34" charset="0"/>
              </a:rPr>
              <a:t>on account</a:t>
            </a:r>
            <a:r>
              <a:rPr lang="en-US" sz="3000" dirty="0">
                <a:latin typeface="Bahnschrift" panose="020B0502040204020203" pitchFamily="34" charset="0"/>
              </a:rPr>
              <a:t>. It is in performing the service (doing the work), not collecting the cash</a:t>
            </a:r>
            <a:r>
              <a:rPr lang="en-US" sz="3000" dirty="0" smtClean="0">
                <a:latin typeface="Bahnschrift" panose="020B0502040204020203" pitchFamily="34" charset="0"/>
              </a:rPr>
              <a:t>, that </a:t>
            </a:r>
            <a:r>
              <a:rPr lang="en-US" sz="3000" dirty="0">
                <a:latin typeface="Bahnschrift" panose="020B0502040204020203" pitchFamily="34" charset="0"/>
              </a:rPr>
              <a:t>the company earns the revenue. As in transaction 4, increasing </a:t>
            </a:r>
            <a:r>
              <a:rPr lang="en-US" sz="3000" dirty="0" smtClean="0">
                <a:latin typeface="Bahnschrift" panose="020B0502040204020203" pitchFamily="34" charset="0"/>
              </a:rPr>
              <a:t>earnings increases </a:t>
            </a:r>
            <a:r>
              <a:rPr lang="en-US" sz="3000" dirty="0">
                <a:latin typeface="Bahnschrift" panose="020B0502040204020203" pitchFamily="34" charset="0"/>
              </a:rPr>
              <a:t>Bright, capital. Smart Touch records the earning of $3,000 of revenue </a:t>
            </a:r>
            <a:r>
              <a:rPr lang="en-US" sz="3000" dirty="0" smtClean="0">
                <a:latin typeface="Bahnschrift" panose="020B0502040204020203" pitchFamily="34" charset="0"/>
              </a:rPr>
              <a:t>on account</a:t>
            </a:r>
            <a:r>
              <a:rPr lang="en-US" sz="3000" dirty="0">
                <a:latin typeface="Bahnschrift" panose="020B0502040204020203" pitchFamily="34" charset="0"/>
              </a:rPr>
              <a:t>, as follows:</a:t>
            </a:r>
            <a:endParaRPr lang="en-US" sz="30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0"/>
            <a:ext cx="12192000" cy="6857999"/>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085" y="61185"/>
            <a:ext cx="11982995" cy="4939814"/>
          </a:xfrm>
          <a:prstGeom prst="rect">
            <a:avLst/>
          </a:prstGeom>
        </p:spPr>
        <p:txBody>
          <a:bodyPr wrap="square">
            <a:spAutoFit/>
          </a:bodyPr>
          <a:lstStyle/>
          <a:p>
            <a:endParaRPr lang="en-US" sz="3500" b="1" dirty="0" smtClean="0">
              <a:solidFill>
                <a:srgbClr val="FF0000"/>
              </a:solidFill>
              <a:latin typeface="+mj-lt"/>
            </a:endParaRPr>
          </a:p>
          <a:p>
            <a:endParaRPr lang="en-US" sz="3500" b="1" dirty="0" smtClean="0">
              <a:solidFill>
                <a:srgbClr val="FF0000"/>
              </a:solidFill>
              <a:latin typeface="Bahnschrift" panose="020B0502040204020203" pitchFamily="34" charset="0"/>
            </a:endParaRPr>
          </a:p>
          <a:p>
            <a:endParaRPr lang="en-US" sz="3500" b="1" dirty="0">
              <a:solidFill>
                <a:srgbClr val="FF0000"/>
              </a:solidFill>
              <a:latin typeface="Bahnschrift" panose="020B0502040204020203" pitchFamily="34" charset="0"/>
            </a:endParaRPr>
          </a:p>
          <a:p>
            <a:pPr algn="ctr"/>
            <a:r>
              <a:rPr lang="en-US" sz="3500" b="1" dirty="0" smtClean="0">
                <a:solidFill>
                  <a:srgbClr val="FF0000"/>
                </a:solidFill>
                <a:latin typeface="Bahnschrift" panose="020B0502040204020203" pitchFamily="34" charset="0"/>
              </a:rPr>
              <a:t>Transaction </a:t>
            </a:r>
            <a:r>
              <a:rPr lang="en-US" sz="3500" b="1" dirty="0">
                <a:solidFill>
                  <a:srgbClr val="FF0000"/>
                </a:solidFill>
                <a:latin typeface="Bahnschrift" panose="020B0502040204020203" pitchFamily="34" charset="0"/>
              </a:rPr>
              <a:t>6: Payment of </a:t>
            </a:r>
            <a:r>
              <a:rPr lang="en-US" sz="3500" b="1" dirty="0" smtClean="0">
                <a:solidFill>
                  <a:srgbClr val="FF0000"/>
                </a:solidFill>
                <a:latin typeface="Bahnschrift" panose="020B0502040204020203" pitchFamily="34" charset="0"/>
              </a:rPr>
              <a:t>Expenses</a:t>
            </a:r>
            <a:endParaRPr lang="en-US" sz="3500" b="1" dirty="0" smtClean="0">
              <a:solidFill>
                <a:srgbClr val="FF0000"/>
              </a:solidFill>
              <a:latin typeface="Bahnschrift" panose="020B0502040204020203" pitchFamily="34" charset="0"/>
            </a:endParaRPr>
          </a:p>
          <a:p>
            <a:endParaRPr lang="en-US" sz="3500" b="1" dirty="0">
              <a:solidFill>
                <a:srgbClr val="FF0000"/>
              </a:solidFill>
              <a:latin typeface="Bahnschrift" panose="020B0502040204020203" pitchFamily="34" charset="0"/>
            </a:endParaRPr>
          </a:p>
          <a:p>
            <a:pPr algn="just"/>
            <a:r>
              <a:rPr lang="en-US" sz="3500" dirty="0">
                <a:latin typeface="Bahnschrift" panose="020B0502040204020203" pitchFamily="34" charset="0"/>
              </a:rPr>
              <a:t>During the month, the business pays $3,300 in cash expenses: rent expense on </a:t>
            </a:r>
            <a:r>
              <a:rPr lang="en-US" sz="3500" dirty="0" smtClean="0">
                <a:latin typeface="Bahnschrift" panose="020B0502040204020203" pitchFamily="34" charset="0"/>
              </a:rPr>
              <a:t>a computer</a:t>
            </a:r>
            <a:r>
              <a:rPr lang="en-US" sz="3500" dirty="0">
                <a:latin typeface="Bahnschrift" panose="020B0502040204020203" pitchFamily="34" charset="0"/>
              </a:rPr>
              <a:t>, $600; office rent, $1,100; employee salary, $1,200; and utilities, $400.</a:t>
            </a:r>
            <a:endParaRPr lang="en-US" sz="3500" dirty="0">
              <a:latin typeface="Bahnschrift" panose="020B0502040204020203" pitchFamily="34" charset="0"/>
            </a:endParaRPr>
          </a:p>
          <a:p>
            <a:pPr algn="just"/>
            <a:r>
              <a:rPr lang="en-US" sz="3500" dirty="0">
                <a:latin typeface="Bahnschrift" panose="020B0502040204020203" pitchFamily="34" charset="0"/>
              </a:rPr>
              <a:t>The effects on the accounting equation are as follows:</a:t>
            </a:r>
            <a:endParaRPr lang="en-US" sz="35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12192000" cy="6857999"/>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3210" y="84467"/>
            <a:ext cx="11956869" cy="6186309"/>
          </a:xfrm>
          <a:prstGeom prst="rect">
            <a:avLst/>
          </a:prstGeom>
        </p:spPr>
        <p:txBody>
          <a:bodyPr wrap="square">
            <a:spAutoFit/>
          </a:bodyPr>
          <a:lstStyle/>
          <a:p>
            <a:pPr algn="just"/>
            <a:r>
              <a:rPr lang="en-US" sz="3600" dirty="0">
                <a:latin typeface="Bahnschrift" panose="020B0502040204020203" pitchFamily="34" charset="0"/>
              </a:rPr>
              <a:t>Expenses have the opposite effect of revenues. Expenses shrink the business, </a:t>
            </a:r>
            <a:r>
              <a:rPr lang="en-US" sz="3600" dirty="0" smtClean="0">
                <a:latin typeface="Bahnschrift" panose="020B0502040204020203" pitchFamily="34" charset="0"/>
              </a:rPr>
              <a:t>as shown </a:t>
            </a:r>
            <a:r>
              <a:rPr lang="en-US" sz="3600" dirty="0">
                <a:latin typeface="Bahnschrift" panose="020B0502040204020203" pitchFamily="34" charset="0"/>
              </a:rPr>
              <a:t>by the decreased balances of assets and owner’s equity (Bright, capital</a:t>
            </a:r>
            <a:r>
              <a:rPr lang="en-US" sz="3600" dirty="0" smtClean="0">
                <a:latin typeface="Bahnschrift" panose="020B0502040204020203" pitchFamily="34" charset="0"/>
              </a:rPr>
              <a:t>).</a:t>
            </a:r>
            <a:endParaRPr lang="en-US" sz="3600" dirty="0" smtClean="0">
              <a:latin typeface="Bahnschrift" panose="020B0502040204020203" pitchFamily="34" charset="0"/>
            </a:endParaRPr>
          </a:p>
          <a:p>
            <a:pPr algn="just"/>
            <a:endParaRPr lang="en-US" sz="3600" dirty="0">
              <a:latin typeface="Bahnschrift" panose="020B0502040204020203" pitchFamily="34" charset="0"/>
            </a:endParaRPr>
          </a:p>
          <a:p>
            <a:pPr algn="just"/>
            <a:r>
              <a:rPr lang="en-US" sz="3600" dirty="0">
                <a:latin typeface="Bahnschrift" panose="020B0502040204020203" pitchFamily="34" charset="0"/>
              </a:rPr>
              <a:t>Each expense can be recorded separately. The expenses are listed as one </a:t>
            </a:r>
            <a:r>
              <a:rPr lang="en-US" sz="3600" dirty="0" smtClean="0">
                <a:latin typeface="Bahnschrift" panose="020B0502040204020203" pitchFamily="34" charset="0"/>
              </a:rPr>
              <a:t>transaction </a:t>
            </a:r>
            <a:r>
              <a:rPr lang="en-US" sz="3600" dirty="0">
                <a:latin typeface="Bahnschrift" panose="020B0502040204020203" pitchFamily="34" charset="0"/>
              </a:rPr>
              <a:t>here for simplicity. We could record the cash payment in a single amount </a:t>
            </a:r>
            <a:r>
              <a:rPr lang="en-US" sz="3600" dirty="0" smtClean="0">
                <a:latin typeface="Bahnschrift" panose="020B0502040204020203" pitchFamily="34" charset="0"/>
              </a:rPr>
              <a:t>for the </a:t>
            </a:r>
            <a:r>
              <a:rPr lang="en-US" sz="3600" dirty="0">
                <a:latin typeface="Bahnschrift" panose="020B0502040204020203" pitchFamily="34" charset="0"/>
              </a:rPr>
              <a:t>sum of the four expenses: $3,300 ($600 + $1,100 + $1,200 + $400). </a:t>
            </a:r>
            <a:r>
              <a:rPr lang="en-US" sz="3600" dirty="0" smtClean="0">
                <a:latin typeface="Bahnschrift" panose="020B0502040204020203" pitchFamily="34" charset="0"/>
              </a:rPr>
              <a:t>However the </a:t>
            </a:r>
            <a:r>
              <a:rPr lang="en-US" sz="3600" dirty="0">
                <a:latin typeface="Bahnschrift" panose="020B0502040204020203" pitchFamily="34" charset="0"/>
              </a:rPr>
              <a:t>expenses are recorded, the accounting equation must balance. (Notice that </a:t>
            </a:r>
            <a:r>
              <a:rPr lang="en-US" sz="3600" dirty="0" smtClean="0">
                <a:latin typeface="Bahnschrift" panose="020B0502040204020203" pitchFamily="34" charset="0"/>
              </a:rPr>
              <a:t>each side </a:t>
            </a:r>
            <a:r>
              <a:rPr lang="en-US" sz="3600" dirty="0">
                <a:latin typeface="Bahnschrift" panose="020B0502040204020203" pitchFamily="34" charset="0"/>
              </a:rPr>
              <a:t>totals to $35,700.)</a:t>
            </a:r>
            <a:endParaRPr lang="en-US" sz="36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0298" y="245741"/>
            <a:ext cx="11861074" cy="5632311"/>
          </a:xfrm>
          <a:prstGeom prst="rect">
            <a:avLst/>
          </a:prstGeom>
        </p:spPr>
        <p:txBody>
          <a:bodyPr wrap="square">
            <a:spAutoFit/>
          </a:bodyPr>
          <a:lstStyle/>
          <a:p>
            <a:pPr algn="just"/>
            <a:endParaRPr lang="en-US" sz="4000" dirty="0" smtClean="0">
              <a:solidFill>
                <a:srgbClr val="FF0000"/>
              </a:solidFill>
              <a:latin typeface="Bahnschrift" panose="020B0502040204020203" pitchFamily="34" charset="0"/>
            </a:endParaRPr>
          </a:p>
          <a:p>
            <a:pPr algn="ctr"/>
            <a:r>
              <a:rPr lang="en-US" sz="4000" dirty="0" smtClean="0">
                <a:solidFill>
                  <a:srgbClr val="FF0000"/>
                </a:solidFill>
                <a:latin typeface="Bahnschrift" panose="020B0502040204020203" pitchFamily="34" charset="0"/>
              </a:rPr>
              <a:t>Transaction </a:t>
            </a:r>
            <a:r>
              <a:rPr lang="en-US" sz="4000" dirty="0">
                <a:solidFill>
                  <a:srgbClr val="FF0000"/>
                </a:solidFill>
                <a:latin typeface="Bahnschrift" panose="020B0502040204020203" pitchFamily="34" charset="0"/>
              </a:rPr>
              <a:t>7: Payment on </a:t>
            </a:r>
            <a:r>
              <a:rPr lang="en-US" sz="4000" dirty="0" smtClean="0">
                <a:solidFill>
                  <a:srgbClr val="FF0000"/>
                </a:solidFill>
                <a:latin typeface="Bahnschrift" panose="020B0502040204020203" pitchFamily="34" charset="0"/>
              </a:rPr>
              <a:t>Account</a:t>
            </a:r>
            <a:endParaRPr lang="en-US" sz="4000" dirty="0" smtClean="0">
              <a:solidFill>
                <a:srgbClr val="FF0000"/>
              </a:solidFill>
              <a:latin typeface="Bahnschrift" panose="020B0502040204020203" pitchFamily="34" charset="0"/>
            </a:endParaRPr>
          </a:p>
          <a:p>
            <a:pPr algn="just"/>
            <a:endParaRPr lang="en-US" sz="4000" dirty="0">
              <a:solidFill>
                <a:srgbClr val="FF0000"/>
              </a:solidFill>
              <a:latin typeface="Bahnschrift" panose="020B0502040204020203" pitchFamily="34" charset="0"/>
            </a:endParaRPr>
          </a:p>
          <a:p>
            <a:pPr algn="just"/>
            <a:r>
              <a:rPr lang="en-US" sz="4000" dirty="0">
                <a:latin typeface="Bahnschrift" panose="020B0502040204020203" pitchFamily="34" charset="0"/>
              </a:rPr>
              <a:t>The business pays $300 to the store from which it purchased supplies in transaction 3.</a:t>
            </a:r>
            <a:endParaRPr lang="en-US" sz="4000" dirty="0">
              <a:latin typeface="Bahnschrift" panose="020B0502040204020203" pitchFamily="34" charset="0"/>
            </a:endParaRPr>
          </a:p>
          <a:p>
            <a:pPr algn="just"/>
            <a:r>
              <a:rPr lang="en-US" sz="4000" dirty="0">
                <a:latin typeface="Bahnschrift" panose="020B0502040204020203" pitchFamily="34" charset="0"/>
              </a:rPr>
              <a:t>In accounting, we say that the business pays $300 on account. The effect on </a:t>
            </a:r>
            <a:r>
              <a:rPr lang="en-US" sz="4000" dirty="0" smtClean="0">
                <a:latin typeface="Bahnschrift" panose="020B0502040204020203" pitchFamily="34" charset="0"/>
              </a:rPr>
              <a:t>the accounting equation is a decrease in Cash and a decrease in Accounts payable, as shown </a:t>
            </a:r>
            <a:r>
              <a:rPr lang="en-US" sz="4000" dirty="0">
                <a:latin typeface="Bahnschrift" panose="020B0502040204020203" pitchFamily="34" charset="0"/>
              </a:rPr>
              <a:t>here:</a:t>
            </a:r>
            <a:endParaRPr lang="en-US" sz="40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196003"/>
            <a:ext cx="12192000" cy="7602081"/>
          </a:xfrm>
          <a:prstGeom prst="rect">
            <a:avLst/>
          </a:prstGeom>
        </p:spPr>
        <p:txBody>
          <a:bodyPr wrap="square">
            <a:spAutoFit/>
          </a:bodyPr>
          <a:lstStyle/>
          <a:p>
            <a:pPr algn="ctr"/>
            <a:r>
              <a:rPr lang="en-US" sz="2500" dirty="0">
                <a:solidFill>
                  <a:srgbClr val="FF0000"/>
                </a:solidFill>
                <a:latin typeface="Bahnschrift" panose="020B0502040204020203" pitchFamily="34" charset="0"/>
              </a:rPr>
              <a:t>Transaction 8: Personal Transaction</a:t>
            </a:r>
            <a:endParaRPr lang="en-US" sz="2500" dirty="0">
              <a:solidFill>
                <a:srgbClr val="FF0000"/>
              </a:solidFill>
              <a:latin typeface="Bahnschrift" panose="020B0502040204020203" pitchFamily="34" charset="0"/>
            </a:endParaRPr>
          </a:p>
          <a:p>
            <a:pPr algn="just"/>
            <a:r>
              <a:rPr lang="en-US" sz="2500" dirty="0">
                <a:latin typeface="Bahnschrift" panose="020B0502040204020203" pitchFamily="34" charset="0"/>
              </a:rPr>
              <a:t>Sheena Bright buys groceries at a cost of $200, paying cash from personal </a:t>
            </a:r>
            <a:r>
              <a:rPr lang="en-US" sz="2500" dirty="0" smtClean="0">
                <a:latin typeface="Bahnschrift" panose="020B0502040204020203" pitchFamily="34" charset="0"/>
              </a:rPr>
              <a:t>funds. This </a:t>
            </a:r>
            <a:r>
              <a:rPr lang="en-US" sz="2500" dirty="0">
                <a:latin typeface="Bahnschrift" panose="020B0502040204020203" pitchFamily="34" charset="0"/>
              </a:rPr>
              <a:t>event is not a transaction of Smart Touch. It has no effect on the </a:t>
            </a:r>
            <a:r>
              <a:rPr lang="en-US" sz="2500" dirty="0" smtClean="0">
                <a:latin typeface="Bahnschrift" panose="020B0502040204020203" pitchFamily="34" charset="0"/>
              </a:rPr>
              <a:t>e-learning agency </a:t>
            </a:r>
            <a:r>
              <a:rPr lang="en-US" sz="2500" dirty="0">
                <a:latin typeface="Bahnschrift" panose="020B0502040204020203" pitchFamily="34" charset="0"/>
              </a:rPr>
              <a:t>and, therefore, is not recorded by the business. It is a transaction of </a:t>
            </a:r>
            <a:r>
              <a:rPr lang="en-US" sz="2500" dirty="0" smtClean="0">
                <a:latin typeface="Bahnschrift" panose="020B0502040204020203" pitchFamily="34" charset="0"/>
              </a:rPr>
              <a:t>the Sheena </a:t>
            </a:r>
            <a:r>
              <a:rPr lang="en-US" sz="2500" dirty="0">
                <a:latin typeface="Bahnschrift" panose="020B0502040204020203" pitchFamily="34" charset="0"/>
              </a:rPr>
              <a:t>Bright personal entity, not the e-learning agency. This transaction </a:t>
            </a:r>
            <a:r>
              <a:rPr lang="en-US" sz="2500" dirty="0" smtClean="0">
                <a:latin typeface="Bahnschrift" panose="020B0502040204020203" pitchFamily="34" charset="0"/>
              </a:rPr>
              <a:t>illustrates the </a:t>
            </a:r>
            <a:r>
              <a:rPr lang="en-US" sz="2500" dirty="0">
                <a:latin typeface="Bahnschrift" panose="020B0502040204020203" pitchFamily="34" charset="0"/>
              </a:rPr>
              <a:t>entity concept</a:t>
            </a:r>
            <a:r>
              <a:rPr lang="en-US" sz="2500" dirty="0" smtClean="0">
                <a:latin typeface="Bahnschrift" panose="020B0502040204020203" pitchFamily="34" charset="0"/>
              </a:rPr>
              <a:t>. </a:t>
            </a:r>
            <a:endParaRPr lang="en-US" sz="2500" dirty="0" smtClean="0">
              <a:latin typeface="Bahnschrift" panose="020B0502040204020203" pitchFamily="34" charset="0"/>
            </a:endParaRPr>
          </a:p>
          <a:p>
            <a:pPr algn="just"/>
            <a:endParaRPr lang="en-US" sz="2500" dirty="0">
              <a:latin typeface="Bahnschrift" panose="020B0502040204020203" pitchFamily="34" charset="0"/>
            </a:endParaRPr>
          </a:p>
          <a:p>
            <a:pPr algn="ctr"/>
            <a:r>
              <a:rPr lang="en-US" sz="2500" dirty="0">
                <a:solidFill>
                  <a:srgbClr val="FF0000"/>
                </a:solidFill>
                <a:latin typeface="Bahnschrift" panose="020B0502040204020203" pitchFamily="34" charset="0"/>
              </a:rPr>
              <a:t>Transaction 9: Collection on Account</a:t>
            </a:r>
            <a:endParaRPr lang="en-US" sz="2500" dirty="0">
              <a:solidFill>
                <a:srgbClr val="FF0000"/>
              </a:solidFill>
              <a:latin typeface="Bahnschrift" panose="020B0502040204020203" pitchFamily="34" charset="0"/>
            </a:endParaRPr>
          </a:p>
          <a:p>
            <a:pPr algn="just"/>
            <a:r>
              <a:rPr lang="en-US" sz="2500" dirty="0">
                <a:latin typeface="Bahnschrift" panose="020B0502040204020203" pitchFamily="34" charset="0"/>
              </a:rPr>
              <a:t>In transaction 5, the business performed services for a client on account. The </a:t>
            </a:r>
            <a:r>
              <a:rPr lang="en-US" sz="2500" dirty="0" smtClean="0">
                <a:latin typeface="Bahnschrift" panose="020B0502040204020203" pitchFamily="34" charset="0"/>
              </a:rPr>
              <a:t>business </a:t>
            </a:r>
            <a:r>
              <a:rPr lang="en-US" sz="2500" dirty="0">
                <a:latin typeface="Bahnschrift" panose="020B0502040204020203" pitchFamily="34" charset="0"/>
              </a:rPr>
              <a:t>now collects $1,000 from the client. We say that Smart Touch collects the </a:t>
            </a:r>
            <a:r>
              <a:rPr lang="en-US" sz="2500" dirty="0" smtClean="0">
                <a:latin typeface="Bahnschrift" panose="020B0502040204020203" pitchFamily="34" charset="0"/>
              </a:rPr>
              <a:t>cash on </a:t>
            </a:r>
            <a:r>
              <a:rPr lang="en-US" sz="2500" dirty="0">
                <a:latin typeface="Bahnschrift" panose="020B0502040204020203" pitchFamily="34" charset="0"/>
              </a:rPr>
              <a:t>account. The business will record an increase in the asset Cash. Should it </a:t>
            </a:r>
            <a:r>
              <a:rPr lang="en-US" sz="2500" dirty="0" smtClean="0">
                <a:latin typeface="Bahnschrift" panose="020B0502040204020203" pitchFamily="34" charset="0"/>
              </a:rPr>
              <a:t>also record </a:t>
            </a:r>
            <a:r>
              <a:rPr lang="en-US" sz="2500" dirty="0">
                <a:latin typeface="Bahnschrift" panose="020B0502040204020203" pitchFamily="34" charset="0"/>
              </a:rPr>
              <a:t>an increase in service revenue? No, because the business already recorded </a:t>
            </a:r>
            <a:r>
              <a:rPr lang="en-US" sz="2500" dirty="0" smtClean="0">
                <a:latin typeface="Bahnschrift" panose="020B0502040204020203" pitchFamily="34" charset="0"/>
              </a:rPr>
              <a:t>the revenue </a:t>
            </a:r>
            <a:r>
              <a:rPr lang="en-US" sz="2500" dirty="0">
                <a:latin typeface="Bahnschrift" panose="020B0502040204020203" pitchFamily="34" charset="0"/>
              </a:rPr>
              <a:t>when it earned the revenue in transaction 5. The phrase “collect cash </a:t>
            </a:r>
            <a:r>
              <a:rPr lang="en-US" sz="2500" dirty="0" smtClean="0">
                <a:latin typeface="Bahnschrift" panose="020B0502040204020203" pitchFamily="34" charset="0"/>
              </a:rPr>
              <a:t>on account</a:t>
            </a:r>
            <a:r>
              <a:rPr lang="en-US" sz="2500" dirty="0">
                <a:latin typeface="Bahnschrift" panose="020B0502040204020203" pitchFamily="34" charset="0"/>
              </a:rPr>
              <a:t>” means to record an increase in Cash and a decrease in Accounts </a:t>
            </a:r>
            <a:r>
              <a:rPr lang="en-US" sz="2500" dirty="0" smtClean="0">
                <a:latin typeface="Bahnschrift" panose="020B0502040204020203" pitchFamily="34" charset="0"/>
              </a:rPr>
              <a:t>receivable</a:t>
            </a:r>
            <a:r>
              <a:rPr lang="en-US" sz="2500" dirty="0">
                <a:latin typeface="Bahnschrift" panose="020B0502040204020203" pitchFamily="34" charset="0"/>
              </a:rPr>
              <a:t>. Accounts receivable is decreased because the $1,000 that the business was </a:t>
            </a:r>
            <a:r>
              <a:rPr lang="en-US" sz="2500" dirty="0" smtClean="0">
                <a:latin typeface="Bahnschrift" panose="020B0502040204020203" pitchFamily="34" charset="0"/>
              </a:rPr>
              <a:t>to collect </a:t>
            </a:r>
            <a:r>
              <a:rPr lang="en-US" sz="2500" dirty="0">
                <a:latin typeface="Bahnschrift" panose="020B0502040204020203" pitchFamily="34" charset="0"/>
              </a:rPr>
              <a:t>at some point in the future is being collected today. The effect on the </a:t>
            </a:r>
            <a:r>
              <a:rPr lang="en-US" sz="2500" dirty="0" smtClean="0">
                <a:latin typeface="Bahnschrift" panose="020B0502040204020203" pitchFamily="34" charset="0"/>
              </a:rPr>
              <a:t>accounting </a:t>
            </a:r>
            <a:r>
              <a:rPr lang="en-US" sz="2500" dirty="0">
                <a:latin typeface="Bahnschrift" panose="020B0502040204020203" pitchFamily="34" charset="0"/>
              </a:rPr>
              <a:t>equation is as follows:</a:t>
            </a:r>
            <a:endParaRPr lang="en-US" sz="2500" dirty="0" smtClean="0">
              <a:latin typeface="Bahnschrift" panose="020B0502040204020203" pitchFamily="34" charset="0"/>
            </a:endParaRPr>
          </a:p>
          <a:p>
            <a:pPr algn="just"/>
            <a:endParaRPr lang="en-US" sz="2500" dirty="0">
              <a:latin typeface="Bahnschrift" panose="020B0502040204020203" pitchFamily="34" charset="0"/>
            </a:endParaRPr>
          </a:p>
          <a:p>
            <a:pPr algn="just"/>
            <a:endParaRPr lang="en-US" sz="2000" dirty="0">
              <a:latin typeface="+mj-lt"/>
            </a:endParaRPr>
          </a:p>
          <a:p>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0"/>
            <a:ext cx="12192000" cy="6923313"/>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2183" y="-85185"/>
            <a:ext cx="10563498" cy="4939814"/>
          </a:xfrm>
          <a:prstGeom prst="rect">
            <a:avLst/>
          </a:prstGeom>
        </p:spPr>
        <p:txBody>
          <a:bodyPr wrap="square">
            <a:spAutoFit/>
          </a:bodyPr>
          <a:lstStyle/>
          <a:p>
            <a:pPr algn="just"/>
            <a:endParaRPr lang="en-US" sz="3500" b="1" dirty="0" smtClean="0">
              <a:solidFill>
                <a:srgbClr val="FF0000"/>
              </a:solidFill>
              <a:latin typeface="+mj-lt"/>
            </a:endParaRPr>
          </a:p>
          <a:p>
            <a:pPr algn="ctr"/>
            <a:r>
              <a:rPr lang="en-US" sz="3500" b="1" dirty="0" smtClean="0">
                <a:solidFill>
                  <a:srgbClr val="FF0000"/>
                </a:solidFill>
                <a:latin typeface="Bahnschrift" panose="020B0502040204020203" pitchFamily="34" charset="0"/>
              </a:rPr>
              <a:t>Transaction </a:t>
            </a:r>
            <a:r>
              <a:rPr lang="en-US" sz="3500" b="1" dirty="0">
                <a:solidFill>
                  <a:srgbClr val="FF0000"/>
                </a:solidFill>
                <a:latin typeface="Bahnschrift" panose="020B0502040204020203" pitchFamily="34" charset="0"/>
              </a:rPr>
              <a:t>10: Sale of </a:t>
            </a:r>
            <a:r>
              <a:rPr lang="en-US" sz="3500" b="1" dirty="0" smtClean="0">
                <a:solidFill>
                  <a:srgbClr val="FF0000"/>
                </a:solidFill>
                <a:latin typeface="Bahnschrift" panose="020B0502040204020203" pitchFamily="34" charset="0"/>
              </a:rPr>
              <a:t>Land</a:t>
            </a:r>
            <a:endParaRPr lang="en-US" sz="3500" b="1" dirty="0" smtClean="0">
              <a:solidFill>
                <a:srgbClr val="FF0000"/>
              </a:solidFill>
              <a:latin typeface="Bahnschrift" panose="020B0502040204020203" pitchFamily="34" charset="0"/>
            </a:endParaRPr>
          </a:p>
          <a:p>
            <a:endParaRPr lang="en-US" sz="3500" b="1" dirty="0">
              <a:solidFill>
                <a:srgbClr val="FF0000"/>
              </a:solidFill>
              <a:latin typeface="Bahnschrift" panose="020B0502040204020203" pitchFamily="34" charset="0"/>
            </a:endParaRPr>
          </a:p>
          <a:p>
            <a:pPr algn="just"/>
            <a:r>
              <a:rPr lang="en-US" sz="3500" dirty="0">
                <a:latin typeface="Bahnschrift" panose="020B0502040204020203" pitchFamily="34" charset="0"/>
              </a:rPr>
              <a:t>The business sells some land owned by the e-learning agency. The sale price </a:t>
            </a:r>
            <a:r>
              <a:rPr lang="en-US" sz="3500" dirty="0" smtClean="0">
                <a:latin typeface="Bahnschrift" panose="020B0502040204020203" pitchFamily="34" charset="0"/>
              </a:rPr>
              <a:t>of $</a:t>
            </a:r>
            <a:r>
              <a:rPr lang="en-US" sz="3500" dirty="0">
                <a:latin typeface="Bahnschrift" panose="020B0502040204020203" pitchFamily="34" charset="0"/>
              </a:rPr>
              <a:t>9,000 is equal to the cost of the land, so Smart Touch didn’t gain or lose </a:t>
            </a:r>
            <a:r>
              <a:rPr lang="en-US" sz="3500" dirty="0" smtClean="0">
                <a:latin typeface="Bahnschrift" panose="020B0502040204020203" pitchFamily="34" charset="0"/>
              </a:rPr>
              <a:t>anything extra </a:t>
            </a:r>
            <a:r>
              <a:rPr lang="en-US" sz="3500" dirty="0">
                <a:latin typeface="Bahnschrift" panose="020B0502040204020203" pitchFamily="34" charset="0"/>
              </a:rPr>
              <a:t>from the land sale. The business receives $9,000 cash, and the effect on </a:t>
            </a:r>
            <a:r>
              <a:rPr lang="en-US" sz="3500" dirty="0" smtClean="0">
                <a:latin typeface="Bahnschrift" panose="020B0502040204020203" pitchFamily="34" charset="0"/>
              </a:rPr>
              <a:t>the accounting </a:t>
            </a:r>
            <a:r>
              <a:rPr lang="en-US" sz="3500" dirty="0">
                <a:latin typeface="Bahnschrift" panose="020B0502040204020203" pitchFamily="34" charset="0"/>
              </a:rPr>
              <a:t>equation follows:</a:t>
            </a:r>
            <a:endParaRPr lang="en-US" sz="3500" dirty="0">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0"/>
            <a:ext cx="12192000" cy="6857999"/>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463" y="3079142"/>
            <a:ext cx="10515600" cy="1325563"/>
          </a:xfrm>
        </p:spPr>
        <p:txBody>
          <a:bodyPr/>
          <a:lstStyle/>
          <a:p>
            <a:pPr algn="ctr"/>
            <a:r>
              <a:rPr lang="en-US" dirty="0" smtClean="0">
                <a:solidFill>
                  <a:srgbClr val="00B0F0"/>
                </a:solidFill>
                <a:latin typeface="Arial Rounded MT Bold" panose="020F0704030504030204" pitchFamily="34" charset="0"/>
              </a:rPr>
              <a:t>SELF ASSESSMENT</a:t>
            </a:r>
            <a:endParaRPr lang="en-US" dirty="0">
              <a:solidFill>
                <a:srgbClr val="00B0F0"/>
              </a:solidFill>
              <a:latin typeface="Arial Rounded MT Bold" panose="020F070403050403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Arial Rounded MT Bold" panose="020F0704030504030204" pitchFamily="34" charset="0"/>
              </a:rPr>
              <a:t>ASSIGNMENT 5</a:t>
            </a:r>
            <a:endParaRPr lang="en-US" dirty="0">
              <a:latin typeface="Arial Rounded MT Bold" panose="020F0704030504030204" pitchFamily="34" charset="0"/>
            </a:endParaRPr>
          </a:p>
        </p:txBody>
      </p:sp>
      <p:sp>
        <p:nvSpPr>
          <p:cNvPr id="3" name="Content Placeholder 2"/>
          <p:cNvSpPr>
            <a:spLocks noGrp="1"/>
          </p:cNvSpPr>
          <p:nvPr>
            <p:ph idx="1"/>
          </p:nvPr>
        </p:nvSpPr>
        <p:spPr/>
        <p:txBody>
          <a:bodyPr/>
          <a:lstStyle/>
          <a:p>
            <a:pPr marL="0" indent="0" algn="just">
              <a:buNone/>
            </a:pPr>
            <a:r>
              <a:rPr lang="en-US" dirty="0" smtClean="0">
                <a:latin typeface="Bahnschrift" panose="020B0502040204020203" pitchFamily="34" charset="0"/>
              </a:rPr>
              <a:t>THE TABLE IN WORD HAS A LIST OF ACCOUNTS. USING THE KNOWLEDGE ACQUIRED FROM DEBIT, CREDIT AND BALANCING ACCOUNT, PLZ INCRESE AND DECREASE AS WELL AS BALANCE THEM.</a:t>
            </a:r>
            <a:endParaRPr lang="en-US" dirty="0">
              <a:latin typeface="Bahnschrift" panose="020B0502040204020203"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5131" y="0"/>
            <a:ext cx="11643360" cy="6000750"/>
          </a:xfrm>
          <a:prstGeom prst="rect">
            <a:avLst/>
          </a:prstGeom>
        </p:spPr>
        <p:txBody>
          <a:bodyPr wrap="square">
            <a:spAutoFit/>
          </a:bodyPr>
          <a:lstStyle/>
          <a:p>
            <a:pPr algn="ctr"/>
            <a:r>
              <a:rPr lang="en-US" sz="2400" b="1" dirty="0" smtClean="0">
                <a:latin typeface="Arial Narrow" panose="020B0606020202030204" pitchFamily="34" charset="0"/>
              </a:rPr>
              <a:t>From the above 11 transactions , you are required to make accounting Equation in a full table.</a:t>
            </a:r>
            <a:endParaRPr lang="en-US" sz="2400" b="1" dirty="0" smtClean="0">
              <a:latin typeface="Arial Narrow" panose="020B0606020202030204" pitchFamily="34" charset="0"/>
            </a:endParaRPr>
          </a:p>
          <a:p>
            <a:pPr algn="ctr"/>
            <a:endParaRPr lang="en-US" sz="2400" b="1" dirty="0">
              <a:latin typeface="Arial Narrow" panose="020B0606020202030204" pitchFamily="34" charset="0"/>
            </a:endParaRPr>
          </a:p>
          <a:p>
            <a:r>
              <a:rPr lang="en-US" sz="2400" dirty="0" smtClean="0">
                <a:latin typeface="Arial Narrow" panose="020B0606020202030204" pitchFamily="34" charset="0"/>
              </a:rPr>
              <a:t>1</a:t>
            </a:r>
            <a:r>
              <a:rPr lang="en-US" sz="2400" dirty="0">
                <a:latin typeface="Arial Narrow" panose="020B0606020202030204" pitchFamily="34" charset="0"/>
              </a:rPr>
              <a:t>. The e-learning agency received $30,000 cash and gave capital to Sheena Bright.</a:t>
            </a:r>
            <a:endParaRPr lang="en-US" sz="2400" dirty="0">
              <a:latin typeface="Arial Narrow" panose="020B0606020202030204" pitchFamily="34" charset="0"/>
            </a:endParaRPr>
          </a:p>
          <a:p>
            <a:r>
              <a:rPr lang="en-US" sz="2400" dirty="0">
                <a:latin typeface="Arial Narrow" panose="020B0606020202030204" pitchFamily="34" charset="0"/>
              </a:rPr>
              <a:t>2. Paid $20,000 cash for land.</a:t>
            </a:r>
            <a:endParaRPr lang="en-US" sz="2400" dirty="0">
              <a:latin typeface="Arial Narrow" panose="020B0606020202030204" pitchFamily="34" charset="0"/>
            </a:endParaRPr>
          </a:p>
          <a:p>
            <a:r>
              <a:rPr lang="en-US" sz="2400" dirty="0">
                <a:latin typeface="Arial Narrow" panose="020B0606020202030204" pitchFamily="34" charset="0"/>
              </a:rPr>
              <a:t>3. Bought $500 of office supplies on account.</a:t>
            </a:r>
            <a:endParaRPr lang="en-US" sz="2400" dirty="0">
              <a:latin typeface="Arial Narrow" panose="020B0606020202030204" pitchFamily="34" charset="0"/>
            </a:endParaRPr>
          </a:p>
          <a:p>
            <a:r>
              <a:rPr lang="en-US" sz="2400" dirty="0">
                <a:latin typeface="Arial Narrow" panose="020B0606020202030204" pitchFamily="34" charset="0"/>
              </a:rPr>
              <a:t>4. Received $5,500 cash from clients for service revenue earned.</a:t>
            </a:r>
            <a:endParaRPr lang="en-US" sz="2400" dirty="0">
              <a:latin typeface="Arial Narrow" panose="020B0606020202030204" pitchFamily="34" charset="0"/>
            </a:endParaRPr>
          </a:p>
          <a:p>
            <a:r>
              <a:rPr lang="en-US" sz="2400" dirty="0">
                <a:latin typeface="Arial Narrow" panose="020B0606020202030204" pitchFamily="34" charset="0"/>
              </a:rPr>
              <a:t>5. Performed services for clients on account, $3,000.</a:t>
            </a:r>
            <a:endParaRPr lang="en-US" sz="2400" dirty="0">
              <a:latin typeface="Arial Narrow" panose="020B0606020202030204" pitchFamily="34" charset="0"/>
            </a:endParaRPr>
          </a:p>
          <a:p>
            <a:r>
              <a:rPr lang="en-US" sz="2400" dirty="0">
                <a:latin typeface="Arial Narrow" panose="020B0606020202030204" pitchFamily="34" charset="0"/>
              </a:rPr>
              <a:t>6. Paid cash expenses: computer rent, $600; office rent, $1,100; employee salary, $1,200; utilities, $400.</a:t>
            </a:r>
            <a:endParaRPr lang="en-US" sz="2400" dirty="0">
              <a:latin typeface="Arial Narrow" panose="020B0606020202030204" pitchFamily="34" charset="0"/>
            </a:endParaRPr>
          </a:p>
          <a:p>
            <a:r>
              <a:rPr lang="en-US" sz="2400" dirty="0">
                <a:latin typeface="Arial Narrow" panose="020B0606020202030204" pitchFamily="34" charset="0"/>
              </a:rPr>
              <a:t>7. Paid $300 on the account payable created in transaction 3.</a:t>
            </a:r>
            <a:endParaRPr lang="en-US" sz="2400" dirty="0">
              <a:latin typeface="Arial Narrow" panose="020B0606020202030204" pitchFamily="34" charset="0"/>
            </a:endParaRPr>
          </a:p>
          <a:p>
            <a:r>
              <a:rPr lang="en-US" sz="2400" dirty="0">
                <a:latin typeface="Arial Narrow" panose="020B0606020202030204" pitchFamily="34" charset="0"/>
              </a:rPr>
              <a:t>8. Bright buys $200 of groceries. This is not a transaction of the business.</a:t>
            </a:r>
            <a:endParaRPr lang="en-US" sz="2400" dirty="0">
              <a:latin typeface="Arial Narrow" panose="020B0606020202030204" pitchFamily="34" charset="0"/>
            </a:endParaRPr>
          </a:p>
          <a:p>
            <a:r>
              <a:rPr lang="en-US" sz="2400" dirty="0">
                <a:latin typeface="Arial Narrow" panose="020B0606020202030204" pitchFamily="34" charset="0"/>
              </a:rPr>
              <a:t>9. Collected $1,000 on the account receivable created in transaction 5.</a:t>
            </a:r>
            <a:endParaRPr lang="en-US" sz="2400" dirty="0">
              <a:latin typeface="Arial Narrow" panose="020B0606020202030204" pitchFamily="34" charset="0"/>
            </a:endParaRPr>
          </a:p>
          <a:p>
            <a:r>
              <a:rPr lang="en-US" sz="2400" dirty="0">
                <a:latin typeface="Arial Narrow" panose="020B0606020202030204" pitchFamily="34" charset="0"/>
              </a:rPr>
              <a:t>10. Sold land for cash at its cost of $9,000.</a:t>
            </a:r>
            <a:endParaRPr lang="en-US" sz="2400" dirty="0">
              <a:latin typeface="Arial Narrow" panose="020B0606020202030204" pitchFamily="34" charset="0"/>
            </a:endParaRPr>
          </a:p>
          <a:p>
            <a:r>
              <a:rPr lang="en-US" sz="2400" dirty="0">
                <a:latin typeface="Arial Narrow" panose="020B0606020202030204" pitchFamily="34" charset="0"/>
              </a:rPr>
              <a:t>11. Owner withdrew cash of $2,000.</a:t>
            </a:r>
            <a:endParaRPr lang="en-US" sz="2400" dirty="0">
              <a:latin typeface="Arial Narrow" panose="020B0606020202030204" pitchFamily="34"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17145"/>
            <a:ext cx="12192000" cy="6858000"/>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4117" y="2874683"/>
            <a:ext cx="9225602" cy="1323439"/>
          </a:xfrm>
          <a:prstGeom prst="rect">
            <a:avLst/>
          </a:prstGeom>
        </p:spPr>
        <p:txBody>
          <a:bodyPr wrap="none">
            <a:spAutoFit/>
          </a:bodyPr>
          <a:lstStyle/>
          <a:p>
            <a:r>
              <a:rPr lang="en-US" sz="8000" i="1" dirty="0" smtClean="0">
                <a:solidFill>
                  <a:srgbClr val="00B0F0"/>
                </a:solidFill>
                <a:latin typeface="Bahnschrift" panose="020B0502040204020203" pitchFamily="34" charset="0"/>
              </a:rPr>
              <a:t>END OF CHAPTER II</a:t>
            </a:r>
            <a:endParaRPr lang="en-US" sz="8000" i="1" dirty="0">
              <a:solidFill>
                <a:srgbClr val="00B0F0"/>
              </a:solidFill>
              <a:latin typeface="Bahnschrift" panose="020B0502040204020203"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21583</Words>
  <Application>WPS Presentation</Application>
  <PresentationFormat>Widescreen</PresentationFormat>
  <Paragraphs>459</Paragraphs>
  <Slides>75</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75</vt:i4>
      </vt:variant>
    </vt:vector>
  </HeadingPairs>
  <TitlesOfParts>
    <vt:vector size="93" baseType="lpstr">
      <vt:lpstr>Arial</vt:lpstr>
      <vt:lpstr>SimSun</vt:lpstr>
      <vt:lpstr>Wingdings</vt:lpstr>
      <vt:lpstr>DejaVu Sans</vt:lpstr>
      <vt:lpstr>Arial Rounded MT Bold</vt:lpstr>
      <vt:lpstr>Bahnschrift</vt:lpstr>
      <vt:lpstr>Microsoft YaHei</vt:lpstr>
      <vt:lpstr>Droid Sans Fallback</vt:lpstr>
      <vt:lpstr>Arial Unicode MS</vt:lpstr>
      <vt:lpstr>Calibri Light</vt:lpstr>
      <vt:lpstr>Calibri</vt:lpstr>
      <vt:lpstr>Noto Looped Lao Bold</vt:lpstr>
      <vt:lpstr>Noto Sans Symbols2</vt:lpstr>
      <vt:lpstr>Bahnschrift Condensed</vt:lpstr>
      <vt:lpstr>Arial Narrow</vt:lpstr>
      <vt:lpstr>Bahnschrift SemiBold</vt:lpstr>
      <vt:lpstr>OpenSymbol</vt:lpstr>
      <vt:lpstr>Office Theme</vt:lpstr>
      <vt:lpstr>PowerPoint 演示文稿</vt:lpstr>
      <vt:lpstr> ACCOUNT</vt:lpstr>
      <vt:lpstr>2.0. DEFINITION OF ACCOUNT</vt:lpstr>
      <vt:lpstr>PowerPoint 演示文稿</vt:lpstr>
      <vt:lpstr>PowerPoint 演示文稿</vt:lpstr>
      <vt:lpstr>PowerPoint 演示文稿</vt:lpstr>
      <vt:lpstr>ASSETS</vt:lpstr>
      <vt:lpstr>ASSETS </vt:lpstr>
      <vt:lpstr> LIABILITIES</vt:lpstr>
      <vt:lpstr> LIABILITIES</vt:lpstr>
      <vt:lpstr>OWNER’S EQUITY</vt:lpstr>
      <vt:lpstr>OWNER’S EQUITY </vt:lpstr>
      <vt:lpstr>REVENUE</vt:lpstr>
      <vt:lpstr>EXPENCES</vt:lpstr>
      <vt:lpstr>ASSIGNMENT 3</vt:lpstr>
      <vt:lpstr>TYPES OF ACCOUNTS</vt:lpstr>
      <vt:lpstr>Personal Accounts</vt:lpstr>
      <vt:lpstr> REAL ACCOUNTS</vt:lpstr>
      <vt:lpstr>Nominal Account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Assignment 4</vt:lpstr>
      <vt:lpstr>2.6.CHART OF ACCOUNTS</vt:lpstr>
      <vt:lpstr>PowerPoint 演示文稿</vt:lpstr>
      <vt:lpstr>PowerPoint 演示文稿</vt:lpstr>
      <vt:lpstr>PowerPoint 演示文稿</vt:lpstr>
      <vt:lpstr>PowerPoint 演示文稿</vt:lpstr>
      <vt:lpstr>PowerPoint 演示文稿</vt:lpstr>
      <vt:lpstr>  2.7. DEBIT, CREDIT AND DOUBLE ENTRY-ACCOUNTING  In accounting, a credit is an entry that increases a liability account or decreases an asset account.   A debit is the opposite. It is an entry that increases an asset account or decreases a liability account. In the double-entry accounting system, transactions are recorded in terms of debits and credits.</vt:lpstr>
      <vt:lpstr>PowerPoint 演示文稿</vt:lpstr>
      <vt:lpstr>2.8. INCREASES AND DECREASES IN ACCOUNTS</vt:lpstr>
      <vt:lpstr>PowerPoint 演示文稿</vt:lpstr>
      <vt:lpstr>The table below shows how the accounts increase and decrease.</vt:lpstr>
      <vt:lpstr>2.9. ACCOUNTING EQUATION</vt:lpstr>
      <vt:lpstr>PowerPoint 演示文稿</vt:lpstr>
      <vt:lpstr>PowerPoint 演示文稿</vt:lpstr>
      <vt:lpstr>Ending Balance of Owners’ Equity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SELF ASSESSMENT</vt:lpstr>
      <vt:lpstr>ASSIGNMENT 5</vt:lpstr>
      <vt:lpstr>PowerPoint 演示文稿</vt:lpstr>
      <vt:lpstr>PowerPoint 演示文稿</vt:lpstr>
      <vt:lpstr>PowerPoint 演示文稿</vt:lpstr>
    </vt:vector>
  </TitlesOfParts>
  <Company>Revenue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II:</dc:title>
  <dc:creator>Evariste Nahimana</dc:creator>
  <cp:lastModifiedBy>jmutangana</cp:lastModifiedBy>
  <cp:revision>50</cp:revision>
  <dcterms:created xsi:type="dcterms:W3CDTF">2025-05-08T13:18:31Z</dcterms:created>
  <dcterms:modified xsi:type="dcterms:W3CDTF">2025-05-08T13:18:31Z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1033-11.1.0.11698</vt:lpwstr>
  </property>
</Properties>
</file>