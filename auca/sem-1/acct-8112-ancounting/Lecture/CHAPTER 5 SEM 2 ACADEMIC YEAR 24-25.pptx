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82"/>
  </p:notesMasterIdLst>
  <p:handoutMasterIdLst>
    <p:handoutMasterId r:id="rId83"/>
  </p:handoutMasterIdLst>
  <p:sldIdLst>
    <p:sldId id="844" r:id="rId2"/>
    <p:sldId id="845" r:id="rId3"/>
    <p:sldId id="626" r:id="rId4"/>
    <p:sldId id="614" r:id="rId5"/>
    <p:sldId id="627" r:id="rId6"/>
    <p:sldId id="693" r:id="rId7"/>
    <p:sldId id="630" r:id="rId8"/>
    <p:sldId id="694" r:id="rId9"/>
    <p:sldId id="695" r:id="rId10"/>
    <p:sldId id="631" r:id="rId11"/>
    <p:sldId id="633" r:id="rId12"/>
    <p:sldId id="696" r:id="rId13"/>
    <p:sldId id="697" r:id="rId14"/>
    <p:sldId id="698" r:id="rId15"/>
    <p:sldId id="700" r:id="rId16"/>
    <p:sldId id="699" r:id="rId17"/>
    <p:sldId id="701" r:id="rId18"/>
    <p:sldId id="702" r:id="rId19"/>
    <p:sldId id="703" r:id="rId20"/>
    <p:sldId id="704" r:id="rId21"/>
    <p:sldId id="798" r:id="rId22"/>
    <p:sldId id="706" r:id="rId23"/>
    <p:sldId id="827" r:id="rId24"/>
    <p:sldId id="764" r:id="rId25"/>
    <p:sldId id="708" r:id="rId26"/>
    <p:sldId id="709" r:id="rId27"/>
    <p:sldId id="765" r:id="rId28"/>
    <p:sldId id="710" r:id="rId29"/>
    <p:sldId id="711" r:id="rId30"/>
    <p:sldId id="712" r:id="rId31"/>
    <p:sldId id="713" r:id="rId32"/>
    <p:sldId id="714" r:id="rId33"/>
    <p:sldId id="715" r:id="rId34"/>
    <p:sldId id="716" r:id="rId35"/>
    <p:sldId id="828" r:id="rId36"/>
    <p:sldId id="829" r:id="rId37"/>
    <p:sldId id="804" r:id="rId38"/>
    <p:sldId id="805" r:id="rId39"/>
    <p:sldId id="806" r:id="rId40"/>
    <p:sldId id="807" r:id="rId41"/>
    <p:sldId id="830" r:id="rId42"/>
    <p:sldId id="831" r:id="rId43"/>
    <p:sldId id="721" r:id="rId44"/>
    <p:sldId id="788" r:id="rId45"/>
    <p:sldId id="789" r:id="rId46"/>
    <p:sldId id="790" r:id="rId47"/>
    <p:sldId id="791" r:id="rId48"/>
    <p:sldId id="792" r:id="rId49"/>
    <p:sldId id="793" r:id="rId50"/>
    <p:sldId id="725" r:id="rId51"/>
    <p:sldId id="751" r:id="rId52"/>
    <p:sldId id="810" r:id="rId53"/>
    <p:sldId id="811" r:id="rId54"/>
    <p:sldId id="812" r:id="rId55"/>
    <p:sldId id="832" r:id="rId56"/>
    <p:sldId id="833" r:id="rId57"/>
    <p:sldId id="846" r:id="rId58"/>
    <p:sldId id="813" r:id="rId59"/>
    <p:sldId id="834" r:id="rId60"/>
    <p:sldId id="729" r:id="rId61"/>
    <p:sldId id="753" r:id="rId62"/>
    <p:sldId id="731" r:id="rId63"/>
    <p:sldId id="761" r:id="rId64"/>
    <p:sldId id="732" r:id="rId65"/>
    <p:sldId id="733" r:id="rId66"/>
    <p:sldId id="734" r:id="rId67"/>
    <p:sldId id="735" r:id="rId68"/>
    <p:sldId id="736" r:id="rId69"/>
    <p:sldId id="737" r:id="rId70"/>
    <p:sldId id="738" r:id="rId71"/>
    <p:sldId id="768" r:id="rId72"/>
    <p:sldId id="814" r:id="rId73"/>
    <p:sldId id="835" r:id="rId74"/>
    <p:sldId id="836" r:id="rId75"/>
    <p:sldId id="837" r:id="rId76"/>
    <p:sldId id="838" r:id="rId77"/>
    <p:sldId id="820" r:id="rId78"/>
    <p:sldId id="821" r:id="rId79"/>
    <p:sldId id="822" r:id="rId80"/>
    <p:sldId id="839" r:id="rId81"/>
  </p:sldIdLst>
  <p:sldSz cx="9144000" cy="6858000" type="screen4x3"/>
  <p:notesSz cx="7004050" cy="9290050"/>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sz="2000" kern="1200">
        <a:solidFill>
          <a:schemeClr val="tx1"/>
        </a:solidFill>
        <a:latin typeface="Comic Sans MS" panose="030F0702030302020204" pitchFamily="66" charset="0"/>
        <a:ea typeface="+mn-ea"/>
        <a:cs typeface="+mn-cs"/>
      </a:defRPr>
    </a:lvl1pPr>
    <a:lvl2pPr marL="457200" algn="ctr" rtl="0" eaLnBrk="0" fontAlgn="base" hangingPunct="0">
      <a:spcBef>
        <a:spcPct val="0"/>
      </a:spcBef>
      <a:spcAft>
        <a:spcPct val="0"/>
      </a:spcAft>
      <a:defRPr sz="2000" kern="1200">
        <a:solidFill>
          <a:schemeClr val="tx1"/>
        </a:solidFill>
        <a:latin typeface="Comic Sans MS" panose="030F0702030302020204" pitchFamily="66" charset="0"/>
        <a:ea typeface="+mn-ea"/>
        <a:cs typeface="+mn-cs"/>
      </a:defRPr>
    </a:lvl2pPr>
    <a:lvl3pPr marL="914400" algn="ctr" rtl="0" eaLnBrk="0" fontAlgn="base" hangingPunct="0">
      <a:spcBef>
        <a:spcPct val="0"/>
      </a:spcBef>
      <a:spcAft>
        <a:spcPct val="0"/>
      </a:spcAft>
      <a:defRPr sz="2000" kern="1200">
        <a:solidFill>
          <a:schemeClr val="tx1"/>
        </a:solidFill>
        <a:latin typeface="Comic Sans MS" panose="030F0702030302020204" pitchFamily="66" charset="0"/>
        <a:ea typeface="+mn-ea"/>
        <a:cs typeface="+mn-cs"/>
      </a:defRPr>
    </a:lvl3pPr>
    <a:lvl4pPr marL="1371600" algn="ctr" rtl="0" eaLnBrk="0" fontAlgn="base" hangingPunct="0">
      <a:spcBef>
        <a:spcPct val="0"/>
      </a:spcBef>
      <a:spcAft>
        <a:spcPct val="0"/>
      </a:spcAft>
      <a:defRPr sz="2000" kern="1200">
        <a:solidFill>
          <a:schemeClr val="tx1"/>
        </a:solidFill>
        <a:latin typeface="Comic Sans MS" panose="030F0702030302020204" pitchFamily="66" charset="0"/>
        <a:ea typeface="+mn-ea"/>
        <a:cs typeface="+mn-cs"/>
      </a:defRPr>
    </a:lvl4pPr>
    <a:lvl5pPr marL="1828800" algn="ctr" rtl="0" eaLnBrk="0" fontAlgn="base" hangingPunct="0">
      <a:spcBef>
        <a:spcPct val="0"/>
      </a:spcBef>
      <a:spcAft>
        <a:spcPct val="0"/>
      </a:spcAft>
      <a:defRPr sz="2000" kern="1200">
        <a:solidFill>
          <a:schemeClr val="tx1"/>
        </a:solidFill>
        <a:latin typeface="Comic Sans MS" panose="030F0702030302020204" pitchFamily="66" charset="0"/>
        <a:ea typeface="+mn-ea"/>
        <a:cs typeface="+mn-cs"/>
      </a:defRPr>
    </a:lvl5pPr>
    <a:lvl6pPr marL="2286000" algn="l" defTabSz="914400" rtl="0" eaLnBrk="1" latinLnBrk="0" hangingPunct="1">
      <a:defRPr sz="2000" kern="1200">
        <a:solidFill>
          <a:schemeClr val="tx1"/>
        </a:solidFill>
        <a:latin typeface="Comic Sans MS" panose="030F0702030302020204" pitchFamily="66" charset="0"/>
        <a:ea typeface="+mn-ea"/>
        <a:cs typeface="+mn-cs"/>
      </a:defRPr>
    </a:lvl6pPr>
    <a:lvl7pPr marL="2743200" algn="l" defTabSz="914400" rtl="0" eaLnBrk="1" latinLnBrk="0" hangingPunct="1">
      <a:defRPr sz="2000" kern="1200">
        <a:solidFill>
          <a:schemeClr val="tx1"/>
        </a:solidFill>
        <a:latin typeface="Comic Sans MS" panose="030F0702030302020204" pitchFamily="66" charset="0"/>
        <a:ea typeface="+mn-ea"/>
        <a:cs typeface="+mn-cs"/>
      </a:defRPr>
    </a:lvl7pPr>
    <a:lvl8pPr marL="3200400" algn="l" defTabSz="914400" rtl="0" eaLnBrk="1" latinLnBrk="0" hangingPunct="1">
      <a:defRPr sz="2000" kern="1200">
        <a:solidFill>
          <a:schemeClr val="tx1"/>
        </a:solidFill>
        <a:latin typeface="Comic Sans MS" panose="030F0702030302020204" pitchFamily="66" charset="0"/>
        <a:ea typeface="+mn-ea"/>
        <a:cs typeface="+mn-cs"/>
      </a:defRPr>
    </a:lvl8pPr>
    <a:lvl9pPr marL="3657600" algn="l" defTabSz="914400" rtl="0" eaLnBrk="1" latinLnBrk="0" hangingPunct="1">
      <a:defRPr sz="2000" kern="1200">
        <a:solidFill>
          <a:schemeClr val="tx1"/>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967">
          <p15:clr>
            <a:srgbClr val="A4A3A4"/>
          </p15:clr>
        </p15:guide>
        <p15:guide id="2" pos="220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600"/>
    <a:srgbClr val="0027A4"/>
    <a:srgbClr val="006600"/>
    <a:srgbClr val="800000"/>
    <a:srgbClr val="AD0000"/>
    <a:srgbClr val="5393FB"/>
    <a:srgbClr val="4FA7FF"/>
    <a:srgbClr val="2D96FF"/>
    <a:srgbClr val="0077EE"/>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7" autoAdjust="0"/>
    <p:restoredTop sz="94671" autoAdjust="0"/>
  </p:normalViewPr>
  <p:slideViewPr>
    <p:cSldViewPr>
      <p:cViewPr varScale="1">
        <p:scale>
          <a:sx n="75" d="100"/>
          <a:sy n="75" d="100"/>
        </p:scale>
        <p:origin x="1020" y="60"/>
      </p:cViewPr>
      <p:guideLst>
        <p:guide orient="horz" pos="219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Lst>
  </p:outlineViewPr>
  <p:notesTextViewPr>
    <p:cViewPr>
      <p:scale>
        <a:sx n="100" d="100"/>
        <a:sy n="100" d="100"/>
      </p:scale>
      <p:origin x="0" y="0"/>
    </p:cViewPr>
  </p:notesTextViewPr>
  <p:sorterViewPr>
    <p:cViewPr>
      <p:scale>
        <a:sx n="100" d="100"/>
        <a:sy n="100" d="100"/>
      </p:scale>
      <p:origin x="0" y="9792"/>
    </p:cViewPr>
  </p:sorterViewPr>
  <p:notesViewPr>
    <p:cSldViewPr>
      <p:cViewPr>
        <p:scale>
          <a:sx n="75" d="100"/>
          <a:sy n="75" d="100"/>
        </p:scale>
        <p:origin x="-2310" y="72"/>
      </p:cViewPr>
      <p:guideLst>
        <p:guide orient="horz" pos="2967"/>
        <p:guide pos="220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_rels/viewProps.xml.rels><?xml version="1.0" encoding="UTF-8" standalone="yes"?>
<Relationships xmlns="http://schemas.openxmlformats.org/package/2006/relationships"><Relationship Id="rId13" Type="http://schemas.openxmlformats.org/officeDocument/2006/relationships/slide" Target="slides/slide14.xml"/><Relationship Id="rId18" Type="http://schemas.openxmlformats.org/officeDocument/2006/relationships/slide" Target="slides/slide19.xml"/><Relationship Id="rId26" Type="http://schemas.openxmlformats.org/officeDocument/2006/relationships/slide" Target="slides/slide27.xml"/><Relationship Id="rId39" Type="http://schemas.openxmlformats.org/officeDocument/2006/relationships/slide" Target="slides/slide41.xml"/><Relationship Id="rId3" Type="http://schemas.openxmlformats.org/officeDocument/2006/relationships/slide" Target="slides/slide4.xml"/><Relationship Id="rId21" Type="http://schemas.openxmlformats.org/officeDocument/2006/relationships/slide" Target="slides/slide22.xml"/><Relationship Id="rId34" Type="http://schemas.openxmlformats.org/officeDocument/2006/relationships/slide" Target="slides/slide36.xml"/><Relationship Id="rId42" Type="http://schemas.openxmlformats.org/officeDocument/2006/relationships/slide" Target="slides/slide50.xml"/><Relationship Id="rId47" Type="http://schemas.openxmlformats.org/officeDocument/2006/relationships/slide" Target="slides/slide55.xml"/><Relationship Id="rId50" Type="http://schemas.openxmlformats.org/officeDocument/2006/relationships/slide" Target="slides/slide58.xml"/><Relationship Id="rId7" Type="http://schemas.openxmlformats.org/officeDocument/2006/relationships/slide" Target="slides/slide8.xml"/><Relationship Id="rId12" Type="http://schemas.openxmlformats.org/officeDocument/2006/relationships/slide" Target="slides/slide13.xml"/><Relationship Id="rId17" Type="http://schemas.openxmlformats.org/officeDocument/2006/relationships/slide" Target="slides/slide18.xml"/><Relationship Id="rId25" Type="http://schemas.openxmlformats.org/officeDocument/2006/relationships/slide" Target="slides/slide26.xml"/><Relationship Id="rId33" Type="http://schemas.openxmlformats.org/officeDocument/2006/relationships/slide" Target="slides/slide35.xml"/><Relationship Id="rId38" Type="http://schemas.openxmlformats.org/officeDocument/2006/relationships/slide" Target="slides/slide40.xml"/><Relationship Id="rId46" Type="http://schemas.openxmlformats.org/officeDocument/2006/relationships/slide" Target="slides/slide54.xml"/><Relationship Id="rId2" Type="http://schemas.openxmlformats.org/officeDocument/2006/relationships/slide" Target="slides/slide3.xml"/><Relationship Id="rId16" Type="http://schemas.openxmlformats.org/officeDocument/2006/relationships/slide" Target="slides/slide17.xml"/><Relationship Id="rId20" Type="http://schemas.openxmlformats.org/officeDocument/2006/relationships/slide" Target="slides/slide21.xml"/><Relationship Id="rId29" Type="http://schemas.openxmlformats.org/officeDocument/2006/relationships/slide" Target="slides/slide30.xml"/><Relationship Id="rId41" Type="http://schemas.openxmlformats.org/officeDocument/2006/relationships/slide" Target="slides/slide43.xml"/><Relationship Id="rId54" Type="http://schemas.openxmlformats.org/officeDocument/2006/relationships/slide" Target="slides/slide72.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24" Type="http://schemas.openxmlformats.org/officeDocument/2006/relationships/slide" Target="slides/slide25.xml"/><Relationship Id="rId32" Type="http://schemas.openxmlformats.org/officeDocument/2006/relationships/slide" Target="slides/slide34.xml"/><Relationship Id="rId37" Type="http://schemas.openxmlformats.org/officeDocument/2006/relationships/slide" Target="slides/slide39.xml"/><Relationship Id="rId40" Type="http://schemas.openxmlformats.org/officeDocument/2006/relationships/slide" Target="slides/slide42.xml"/><Relationship Id="rId45" Type="http://schemas.openxmlformats.org/officeDocument/2006/relationships/slide" Target="slides/slide53.xml"/><Relationship Id="rId53" Type="http://schemas.openxmlformats.org/officeDocument/2006/relationships/slide" Target="slides/slide61.xml"/><Relationship Id="rId5" Type="http://schemas.openxmlformats.org/officeDocument/2006/relationships/slide" Target="slides/slide6.xml"/><Relationship Id="rId15" Type="http://schemas.openxmlformats.org/officeDocument/2006/relationships/slide" Target="slides/slide16.xml"/><Relationship Id="rId23" Type="http://schemas.openxmlformats.org/officeDocument/2006/relationships/slide" Target="slides/slide24.xml"/><Relationship Id="rId28" Type="http://schemas.openxmlformats.org/officeDocument/2006/relationships/slide" Target="slides/slide29.xml"/><Relationship Id="rId36" Type="http://schemas.openxmlformats.org/officeDocument/2006/relationships/slide" Target="slides/slide38.xml"/><Relationship Id="rId49" Type="http://schemas.openxmlformats.org/officeDocument/2006/relationships/slide" Target="slides/slide57.xml"/><Relationship Id="rId10" Type="http://schemas.openxmlformats.org/officeDocument/2006/relationships/slide" Target="slides/slide11.xml"/><Relationship Id="rId19" Type="http://schemas.openxmlformats.org/officeDocument/2006/relationships/slide" Target="slides/slide20.xml"/><Relationship Id="rId31" Type="http://schemas.openxmlformats.org/officeDocument/2006/relationships/slide" Target="slides/slide33.xml"/><Relationship Id="rId44" Type="http://schemas.openxmlformats.org/officeDocument/2006/relationships/slide" Target="slides/slide52.xml"/><Relationship Id="rId52" Type="http://schemas.openxmlformats.org/officeDocument/2006/relationships/slide" Target="slides/slide60.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 Id="rId22" Type="http://schemas.openxmlformats.org/officeDocument/2006/relationships/slide" Target="slides/slide23.xml"/><Relationship Id="rId27" Type="http://schemas.openxmlformats.org/officeDocument/2006/relationships/slide" Target="slides/slide28.xml"/><Relationship Id="rId30" Type="http://schemas.openxmlformats.org/officeDocument/2006/relationships/slide" Target="slides/slide31.xml"/><Relationship Id="rId35" Type="http://schemas.openxmlformats.org/officeDocument/2006/relationships/slide" Target="slides/slide37.xml"/><Relationship Id="rId43" Type="http://schemas.openxmlformats.org/officeDocument/2006/relationships/slide" Target="slides/slide51.xml"/><Relationship Id="rId48" Type="http://schemas.openxmlformats.org/officeDocument/2006/relationships/slide" Target="slides/slide56.xml"/><Relationship Id="rId8" Type="http://schemas.openxmlformats.org/officeDocument/2006/relationships/slide" Target="slides/slide9.xml"/><Relationship Id="rId51" Type="http://schemas.openxmlformats.org/officeDocument/2006/relationships/slide" Target="slides/slide5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388938" y="4413250"/>
            <a:ext cx="6303962" cy="417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871" tIns="45130" rIns="91871" bIns="45130" numCol="1" anchor="t" anchorCtr="0" compatLnSpc="1"/>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7827" name="Rectangle 3"/>
          <p:cNvSpPr>
            <a:spLocks noGrp="1" noRot="1" noChangeAspect="1" noChangeArrowheads="1" noTextEdit="1"/>
          </p:cNvSpPr>
          <p:nvPr>
            <p:ph type="sldImg" idx="2"/>
          </p:nvPr>
        </p:nvSpPr>
        <p:spPr bwMode="auto">
          <a:xfrm>
            <a:off x="1189038" y="703263"/>
            <a:ext cx="4627562" cy="3470275"/>
          </a:xfrm>
          <a:prstGeom prst="rect">
            <a:avLst/>
          </a:prstGeom>
          <a:noFill/>
          <a:ln w="12700">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27883391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4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4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4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4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p:sp>
      <p:sp>
        <p:nvSpPr>
          <p:cNvPr id="563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3661719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89038" y="703263"/>
            <a:ext cx="4625975" cy="3470275"/>
          </a:xfrm>
        </p:spPr>
      </p:sp>
      <p:sp>
        <p:nvSpPr>
          <p:cNvPr id="8192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667547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89038" y="703263"/>
            <a:ext cx="4625975" cy="3470275"/>
          </a:xfrm>
        </p:spPr>
      </p:sp>
      <p:sp>
        <p:nvSpPr>
          <p:cNvPr id="8294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612908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p:sp>
      <p:sp>
        <p:nvSpPr>
          <p:cNvPr id="8397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509170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p:sp>
      <p:sp>
        <p:nvSpPr>
          <p:cNvPr id="8499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843644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p:sp>
      <p:sp>
        <p:nvSpPr>
          <p:cNvPr id="8601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977249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p:sp>
      <p:sp>
        <p:nvSpPr>
          <p:cNvPr id="8704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365500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p:sp>
      <p:sp>
        <p:nvSpPr>
          <p:cNvPr id="8806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799112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p:sp>
      <p:sp>
        <p:nvSpPr>
          <p:cNvPr id="8909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584958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p:sp>
      <p:sp>
        <p:nvSpPr>
          <p:cNvPr id="9011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930320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p:sp>
      <p:sp>
        <p:nvSpPr>
          <p:cNvPr id="9113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481383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p:sp>
      <p:sp>
        <p:nvSpPr>
          <p:cNvPr id="92163" name="Notes Placeholder 2"/>
          <p:cNvSpPr>
            <a:spLocks noGrp="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297440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p:sp>
      <p:sp>
        <p:nvSpPr>
          <p:cNvPr id="9318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923807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p:sp>
      <p:sp>
        <p:nvSpPr>
          <p:cNvPr id="9421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9062581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p:sp>
      <p:sp>
        <p:nvSpPr>
          <p:cNvPr id="9523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555703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p:sp>
      <p:sp>
        <p:nvSpPr>
          <p:cNvPr id="9625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4089096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p:sp>
      <p:sp>
        <p:nvSpPr>
          <p:cNvPr id="9728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716088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p:sp>
      <p:sp>
        <p:nvSpPr>
          <p:cNvPr id="9830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0687625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p:sp>
      <p:sp>
        <p:nvSpPr>
          <p:cNvPr id="9933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661742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p:sp>
      <p:sp>
        <p:nvSpPr>
          <p:cNvPr id="10035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828544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p:sp>
      <p:sp>
        <p:nvSpPr>
          <p:cNvPr id="10137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716211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1189038" y="703263"/>
            <a:ext cx="4625975" cy="3470275"/>
          </a:xfrm>
        </p:spPr>
      </p:sp>
      <p:sp>
        <p:nvSpPr>
          <p:cNvPr id="10240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246220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90625" y="703263"/>
            <a:ext cx="4627563" cy="3470275"/>
          </a:xfrm>
        </p:spPr>
      </p:sp>
      <p:sp>
        <p:nvSpPr>
          <p:cNvPr id="880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8285353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p:sp>
      <p:sp>
        <p:nvSpPr>
          <p:cNvPr id="10342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9463157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p:sp>
      <p:sp>
        <p:nvSpPr>
          <p:cNvPr id="10445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9092071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p:sp>
      <p:sp>
        <p:nvSpPr>
          <p:cNvPr id="10547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073433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p:sp>
      <p:sp>
        <p:nvSpPr>
          <p:cNvPr id="10649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7203384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p:sp>
      <p:sp>
        <p:nvSpPr>
          <p:cNvPr id="10752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4571499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p:sp>
      <p:sp>
        <p:nvSpPr>
          <p:cNvPr id="10854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6240802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p:sp>
      <p:sp>
        <p:nvSpPr>
          <p:cNvPr id="10957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8520059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p:sp>
      <p:sp>
        <p:nvSpPr>
          <p:cNvPr id="11059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1987093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1189038" y="703263"/>
            <a:ext cx="4625975" cy="3470275"/>
          </a:xfrm>
        </p:spPr>
      </p:sp>
      <p:sp>
        <p:nvSpPr>
          <p:cNvPr id="11161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0372664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p:sp>
      <p:sp>
        <p:nvSpPr>
          <p:cNvPr id="11264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9623330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p:sp>
      <p:sp>
        <p:nvSpPr>
          <p:cNvPr id="11366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3888679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90625" y="703263"/>
            <a:ext cx="4627563" cy="3470275"/>
          </a:xfrm>
        </p:spPr>
      </p:sp>
      <p:sp>
        <p:nvSpPr>
          <p:cNvPr id="880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8936382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90625" y="703263"/>
            <a:ext cx="4627563" cy="3470275"/>
          </a:xfrm>
        </p:spPr>
      </p:sp>
      <p:sp>
        <p:nvSpPr>
          <p:cNvPr id="880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6593388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p:sp>
      <p:sp>
        <p:nvSpPr>
          <p:cNvPr id="11469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0599006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p:sp>
      <p:sp>
        <p:nvSpPr>
          <p:cNvPr id="11571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1094782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5758666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p:sp>
      <p:sp>
        <p:nvSpPr>
          <p:cNvPr id="11776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62328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90625" y="703263"/>
            <a:ext cx="4627563" cy="3470275"/>
          </a:xfrm>
        </p:spPr>
      </p:sp>
      <p:sp>
        <p:nvSpPr>
          <p:cNvPr id="880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9927422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90625" y="703263"/>
            <a:ext cx="4627563" cy="3470275"/>
          </a:xfrm>
        </p:spPr>
      </p:sp>
      <p:sp>
        <p:nvSpPr>
          <p:cNvPr id="880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6308992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p:sp>
      <p:sp>
        <p:nvSpPr>
          <p:cNvPr id="11878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1735599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p:sp>
      <p:sp>
        <p:nvSpPr>
          <p:cNvPr id="11981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0514130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p:sp>
      <p:sp>
        <p:nvSpPr>
          <p:cNvPr id="12083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5863605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p:sp>
      <p:sp>
        <p:nvSpPr>
          <p:cNvPr id="12185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6742350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p:sp>
      <p:sp>
        <p:nvSpPr>
          <p:cNvPr id="12288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9847183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p:sp>
      <p:sp>
        <p:nvSpPr>
          <p:cNvPr id="12390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40323920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p:sp>
      <p:sp>
        <p:nvSpPr>
          <p:cNvPr id="12493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6490181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p:sp>
      <p:sp>
        <p:nvSpPr>
          <p:cNvPr id="12595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02875883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p:sp>
      <p:sp>
        <p:nvSpPr>
          <p:cNvPr id="12697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3941974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p:sp>
      <p:sp>
        <p:nvSpPr>
          <p:cNvPr id="12800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5622071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1026"/>
          <p:cNvSpPr>
            <a:spLocks noGrp="1" noRot="1" noChangeAspect="1" noChangeArrowheads="1" noTextEdit="1"/>
          </p:cNvSpPr>
          <p:nvPr>
            <p:ph type="sldImg"/>
          </p:nvPr>
        </p:nvSpPr>
        <p:spPr/>
      </p:sp>
      <p:sp>
        <p:nvSpPr>
          <p:cNvPr id="129027" name="Rectangle 1027"/>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5311176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p:sp>
      <p:sp>
        <p:nvSpPr>
          <p:cNvPr id="13005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1297191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90625" y="703263"/>
            <a:ext cx="4627563" cy="3470275"/>
          </a:xfrm>
        </p:spPr>
      </p:sp>
      <p:sp>
        <p:nvSpPr>
          <p:cNvPr id="880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3558934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90625" y="703263"/>
            <a:ext cx="4627563" cy="3470275"/>
          </a:xfrm>
        </p:spPr>
      </p:sp>
      <p:sp>
        <p:nvSpPr>
          <p:cNvPr id="880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0029111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90625" y="703263"/>
            <a:ext cx="4627563" cy="3470275"/>
          </a:xfrm>
        </p:spPr>
      </p:sp>
      <p:sp>
        <p:nvSpPr>
          <p:cNvPr id="880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5493784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p:sp>
      <p:sp>
        <p:nvSpPr>
          <p:cNvPr id="13107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438745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p:sp>
      <p:sp>
        <p:nvSpPr>
          <p:cNvPr id="13107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5586261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p:sp>
      <p:sp>
        <p:nvSpPr>
          <p:cNvPr id="13209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5956497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p:sp>
      <p:sp>
        <p:nvSpPr>
          <p:cNvPr id="13312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8188823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p:sp>
      <p:sp>
        <p:nvSpPr>
          <p:cNvPr id="13414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07819454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p:sp>
      <p:sp>
        <p:nvSpPr>
          <p:cNvPr id="13517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07975665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p:sp>
      <p:sp>
        <p:nvSpPr>
          <p:cNvPr id="13619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32199313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p:sp>
      <p:sp>
        <p:nvSpPr>
          <p:cNvPr id="13721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3956917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p:sp>
      <p:sp>
        <p:nvSpPr>
          <p:cNvPr id="13824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13035231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p:sp>
      <p:sp>
        <p:nvSpPr>
          <p:cNvPr id="13926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16622871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p:sp>
      <p:sp>
        <p:nvSpPr>
          <p:cNvPr id="140291"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86432413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p:sp>
      <p:sp>
        <p:nvSpPr>
          <p:cNvPr id="141315"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79146732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p:sp>
      <p:sp>
        <p:nvSpPr>
          <p:cNvPr id="142339"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39781898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p:sp>
      <p:sp>
        <p:nvSpPr>
          <p:cNvPr id="14336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70567188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Rot="1" noChangeAspect="1" noChangeArrowheads="1" noTextEdit="1"/>
          </p:cNvSpPr>
          <p:nvPr>
            <p:ph type="sldImg"/>
          </p:nvPr>
        </p:nvSpPr>
        <p:spPr/>
      </p:sp>
      <p:sp>
        <p:nvSpPr>
          <p:cNvPr id="144387"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35209647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p:sp>
      <p:sp>
        <p:nvSpPr>
          <p:cNvPr id="13107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861" tIns="45125" rIns="91861" bIns="45125"/>
          <a:lstStyle/>
          <a:p>
            <a:endParaRPr lang="en-US" altLang="en-US" dirty="0"/>
          </a:p>
        </p:txBody>
      </p:sp>
    </p:spTree>
    <p:extLst>
      <p:ext uri="{BB962C8B-B14F-4D97-AF65-F5344CB8AC3E}">
        <p14:creationId xmlns:p14="http://schemas.microsoft.com/office/powerpoint/2010/main" val="311083104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p:sp>
      <p:sp>
        <p:nvSpPr>
          <p:cNvPr id="13209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861" tIns="45125" rIns="91861" bIns="45125"/>
          <a:lstStyle/>
          <a:p>
            <a:endParaRPr lang="en-US" altLang="en-US" dirty="0"/>
          </a:p>
        </p:txBody>
      </p:sp>
    </p:spTree>
    <p:extLst>
      <p:ext uri="{BB962C8B-B14F-4D97-AF65-F5344CB8AC3E}">
        <p14:creationId xmlns:p14="http://schemas.microsoft.com/office/powerpoint/2010/main" val="4196503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p:sp>
      <p:sp>
        <p:nvSpPr>
          <p:cNvPr id="13209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861" tIns="45125" rIns="91861" bIns="45125"/>
          <a:lstStyle/>
          <a:p>
            <a:endParaRPr lang="en-US" altLang="en-US" dirty="0"/>
          </a:p>
        </p:txBody>
      </p:sp>
    </p:spTree>
    <p:extLst>
      <p:ext uri="{BB962C8B-B14F-4D97-AF65-F5344CB8AC3E}">
        <p14:creationId xmlns:p14="http://schemas.microsoft.com/office/powerpoint/2010/main" val="258895518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p:sp>
      <p:sp>
        <p:nvSpPr>
          <p:cNvPr id="13414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861" tIns="45125" rIns="91861" bIns="45125"/>
          <a:lstStyle/>
          <a:p>
            <a:endParaRPr lang="en-US" altLang="en-US" dirty="0"/>
          </a:p>
        </p:txBody>
      </p:sp>
    </p:spTree>
    <p:extLst>
      <p:ext uri="{BB962C8B-B14F-4D97-AF65-F5344CB8AC3E}">
        <p14:creationId xmlns:p14="http://schemas.microsoft.com/office/powerpoint/2010/main" val="266608356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p:sp>
      <p:sp>
        <p:nvSpPr>
          <p:cNvPr id="1505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861" tIns="45125" rIns="91861" bIns="45125"/>
          <a:lstStyle/>
          <a:p>
            <a:endParaRPr lang="en-US" altLang="en-US" dirty="0"/>
          </a:p>
        </p:txBody>
      </p:sp>
    </p:spTree>
    <p:extLst>
      <p:ext uri="{BB962C8B-B14F-4D97-AF65-F5344CB8AC3E}">
        <p14:creationId xmlns:p14="http://schemas.microsoft.com/office/powerpoint/2010/main" val="272013404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861" tIns="45125" rIns="91861" bIns="45125"/>
          <a:lstStyle/>
          <a:p>
            <a:endParaRPr lang="en-US" altLang="en-US" dirty="0"/>
          </a:p>
        </p:txBody>
      </p:sp>
    </p:spTree>
    <p:extLst>
      <p:ext uri="{BB962C8B-B14F-4D97-AF65-F5344CB8AC3E}">
        <p14:creationId xmlns:p14="http://schemas.microsoft.com/office/powerpoint/2010/main" val="133625828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p:sp>
      <p:sp>
        <p:nvSpPr>
          <p:cNvPr id="1525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861" tIns="45125" rIns="91861" bIns="45125"/>
          <a:lstStyle/>
          <a:p>
            <a:endParaRPr lang="en-US" altLang="en-US" dirty="0"/>
          </a:p>
        </p:txBody>
      </p:sp>
    </p:spTree>
    <p:extLst>
      <p:ext uri="{BB962C8B-B14F-4D97-AF65-F5344CB8AC3E}">
        <p14:creationId xmlns:p14="http://schemas.microsoft.com/office/powerpoint/2010/main" val="311939822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82688" y="698500"/>
            <a:ext cx="4638675" cy="3479800"/>
          </a:xfrm>
          <a:solidFill>
            <a:srgbClr val="FFFFFF"/>
          </a:solidFill>
          <a:ln cap="fla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3" name="Rectangle 3"/>
          <p:cNvSpPr>
            <a:spLocks noGrp="1" noChangeArrowheads="1"/>
          </p:cNvSpPr>
          <p:nvPr>
            <p:ph type="body" idx="1"/>
          </p:nvPr>
        </p:nvSpPr>
        <p:spPr>
          <a:xfrm>
            <a:off x="933450" y="4413250"/>
            <a:ext cx="5137150" cy="41798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3482" tIns="46742" rIns="93482" bIns="46742"/>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1770053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1430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430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354013"/>
            <a:ext cx="2095500" cy="55895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354013"/>
            <a:ext cx="6134100" cy="55895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49350" y="354013"/>
            <a:ext cx="7607300" cy="560387"/>
          </a:xfrm>
        </p:spPr>
        <p:txBody>
          <a:bodyPr/>
          <a:lstStyle/>
          <a:p>
            <a:r>
              <a:rPr lang="en-US"/>
              <a:t>Click to edit Master title style</a:t>
            </a:r>
          </a:p>
        </p:txBody>
      </p:sp>
      <p:sp>
        <p:nvSpPr>
          <p:cNvPr id="3" name="Text Placeholder 2"/>
          <p:cNvSpPr>
            <a:spLocks noGrp="1"/>
          </p:cNvSpPr>
          <p:nvPr>
            <p:ph type="body" sz="half" idx="1"/>
          </p:nvPr>
        </p:nvSpPr>
        <p:spPr>
          <a:xfrm>
            <a:off x="381000" y="1143000"/>
            <a:ext cx="41148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43000"/>
            <a:ext cx="41148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7" name="Rectangle 13"/>
          <p:cNvSpPr>
            <a:spLocks noGrp="1" noChangeArrowheads="1"/>
          </p:cNvSpPr>
          <p:nvPr>
            <p:ph type="title"/>
          </p:nvPr>
        </p:nvSpPr>
        <p:spPr bwMode="auto">
          <a:xfrm>
            <a:off x="1149350" y="354013"/>
            <a:ext cx="7607300" cy="560387"/>
          </a:xfrm>
          <a:prstGeom prst="rect">
            <a:avLst/>
          </a:prstGeom>
          <a:solidFill>
            <a:srgbClr val="003399"/>
          </a:solidFill>
          <a:ln w="63500">
            <a:solidFill>
              <a:srgbClr val="54385C"/>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lstStyle/>
          <a:p>
            <a:pPr lvl="0"/>
            <a:r>
              <a:rPr lang="en-US"/>
              <a:t>Click to edit Master title style</a:t>
            </a:r>
          </a:p>
        </p:txBody>
      </p:sp>
      <p:sp>
        <p:nvSpPr>
          <p:cNvPr id="1038" name="Rectangle 14"/>
          <p:cNvSpPr>
            <a:spLocks noGrp="1" noChangeArrowheads="1"/>
          </p:cNvSpPr>
          <p:nvPr>
            <p:ph type="body" idx="1"/>
          </p:nvPr>
        </p:nvSpPr>
        <p:spPr bwMode="auto">
          <a:xfrm>
            <a:off x="381000" y="1143000"/>
            <a:ext cx="8382000" cy="4800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vert="horz" wrap="square" lIns="182562" tIns="46038" rIns="182562" bIns="46038"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Text Box 16"/>
          <p:cNvSpPr txBox="1">
            <a:spLocks noChangeArrowheads="1"/>
          </p:cNvSpPr>
          <p:nvPr/>
        </p:nvSpPr>
        <p:spPr bwMode="auto">
          <a:xfrm>
            <a:off x="76200" y="6400800"/>
            <a:ext cx="762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200" b="1" dirty="0">
                <a:latin typeface="Arial" panose="020B0604020202020204" pitchFamily="34" charset="0"/>
              </a:rPr>
              <a:t>5-</a:t>
            </a:r>
            <a:fld id="{A312235D-5B42-4B5B-810B-1423FE49CC39}" type="slidenum">
              <a:rPr lang="en-US" altLang="en-US" sz="1200" b="1">
                <a:latin typeface="Arial" panose="020B0604020202020204" pitchFamily="34" charset="0"/>
              </a:rPr>
              <a:t>‹#›</a:t>
            </a:fld>
            <a:endParaRPr lang="en-US" altLang="en-US" sz="1200" b="1"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wipe dir="r"/>
  </p:transition>
  <p:txStyles>
    <p:titleStyle>
      <a:lvl1pPr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anose="030F0702030302020204" pitchFamily="66" charset="0"/>
        </a:defRPr>
      </a:lvl2pPr>
      <a:lvl3pPr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anose="030F0702030302020204" pitchFamily="66" charset="0"/>
        </a:defRPr>
      </a:lvl3pPr>
      <a:lvl4pPr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anose="030F0702030302020204" pitchFamily="66" charset="0"/>
        </a:defRPr>
      </a:lvl4pPr>
      <a:lvl5pPr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anose="030F0702030302020204" pitchFamily="66" charset="0"/>
        </a:defRPr>
      </a:lvl5pPr>
      <a:lvl6pPr marL="457200"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anose="030F0702030302020204" pitchFamily="66" charset="0"/>
        </a:defRPr>
      </a:lvl6pPr>
      <a:lvl7pPr marL="914400"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anose="030F0702030302020204" pitchFamily="66" charset="0"/>
        </a:defRPr>
      </a:lvl7pPr>
      <a:lvl8pPr marL="1371600"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anose="030F0702030302020204" pitchFamily="66" charset="0"/>
        </a:defRPr>
      </a:lvl8pPr>
      <a:lvl9pPr marL="1828800" algn="ctr" rtl="0" eaLnBrk="0" fontAlgn="base" hangingPunct="0">
        <a:spcBef>
          <a:spcPct val="0"/>
        </a:spcBef>
        <a:spcAft>
          <a:spcPct val="0"/>
        </a:spcAft>
        <a:defRPr sz="3000" b="1" i="1">
          <a:solidFill>
            <a:schemeClr val="tx1"/>
          </a:solidFill>
          <a:effectLst>
            <a:outerShdw blurRad="38100" dist="38100" dir="2700000" algn="tl">
              <a:srgbClr val="FFFFFF"/>
            </a:outerShdw>
          </a:effectLst>
          <a:latin typeface="Comic Sans MS" panose="030F0702030302020204" pitchFamily="66" charset="0"/>
        </a:defRPr>
      </a:lvl9pPr>
    </p:titleStyle>
    <p:bodyStyle>
      <a:lvl1pPr marL="342900" indent="-342900" algn="l" rtl="0" eaLnBrk="0" fontAlgn="base" hangingPunct="0">
        <a:spcBef>
          <a:spcPct val="20000"/>
        </a:spcBef>
        <a:spcAft>
          <a:spcPct val="0"/>
        </a:spcAft>
        <a:buClr>
          <a:schemeClr val="accent2"/>
        </a:buClr>
        <a:buSzPct val="75000"/>
        <a:buFont typeface="Wingdings" panose="05000000000000000000" pitchFamily="2" charset="2"/>
        <a:buChar char="l"/>
        <a:defRPr sz="2800" b="1">
          <a:solidFill>
            <a:schemeClr val="bg2"/>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l"/>
        <a:defRPr sz="2400" b="1">
          <a:solidFill>
            <a:schemeClr val="bg2"/>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5pPr>
      <a:lvl6pPr marL="25146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6pPr>
      <a:lvl7pPr marL="29718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7pPr>
      <a:lvl8pPr marL="34290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8pPr>
      <a:lvl9pPr marL="38862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microsoft.com/office/2007/relationships/hdphoto" Target="../media/hdphoto1.wdp"/><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3.wdp"/></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14.png"/><Relationship Id="rId4" Type="http://schemas.microsoft.com/office/2007/relationships/hdphoto" Target="../media/hdphoto4.wd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5.e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6.emf"/><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microsoft.com/office/2007/relationships/hdphoto" Target="../media/hdphoto3.wdp"/></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microsoft.com/office/2007/relationships/hdphoto" Target="../media/hdphoto6.wdp"/></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microsoft.com/office/2007/relationships/hdphoto" Target="../media/hdphoto7.wdp"/></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microsoft.com/office/2007/relationships/hdphoto" Target="../media/hdphoto9.wdp"/><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31.png"/><Relationship Id="rId5" Type="http://schemas.microsoft.com/office/2007/relationships/hdphoto" Target="../media/hdphoto8.wdp"/><Relationship Id="rId4" Type="http://schemas.openxmlformats.org/officeDocument/2006/relationships/image" Target="../media/image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microsoft.com/office/2007/relationships/hdphoto" Target="../media/hdphoto9.wdp"/><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31.png"/><Relationship Id="rId5" Type="http://schemas.microsoft.com/office/2007/relationships/hdphoto" Target="../media/hdphoto8.wdp"/><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microsoft.com/office/2007/relationships/hdphoto" Target="../media/hdphoto9.wdp"/><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31.png"/><Relationship Id="rId5" Type="http://schemas.microsoft.com/office/2007/relationships/hdphoto" Target="../media/hdphoto8.wdp"/><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microsoft.com/office/2007/relationships/hdphoto" Target="../media/hdphoto9.wdp"/><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1.png"/><Relationship Id="rId5" Type="http://schemas.microsoft.com/office/2007/relationships/hdphoto" Target="../media/hdphoto8.wdp"/><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9.png"/><Relationship Id="rId7" Type="http://schemas.microsoft.com/office/2007/relationships/hdphoto" Target="../media/hdphoto10.wdp"/><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33.png"/><Relationship Id="rId5" Type="http://schemas.microsoft.com/office/2007/relationships/hdphoto" Target="../media/hdphoto8.wdp"/><Relationship Id="rId10" Type="http://schemas.openxmlformats.org/officeDocument/2006/relationships/image" Target="../media/image32.png"/><Relationship Id="rId4" Type="http://schemas.openxmlformats.org/officeDocument/2006/relationships/image" Target="../media/image30.png"/><Relationship Id="rId9" Type="http://schemas.microsoft.com/office/2007/relationships/hdphoto" Target="../media/hdphoto9.wdp"/></Relationships>
</file>

<file path=ppt/slides/_rels/slide4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microsoft.com/office/2007/relationships/hdphoto" Target="../media/hdphoto9.wdp"/><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31.png"/><Relationship Id="rId5" Type="http://schemas.microsoft.com/office/2007/relationships/hdphoto" Target="../media/hdphoto8.wdp"/><Relationship Id="rId4" Type="http://schemas.openxmlformats.org/officeDocument/2006/relationships/image" Target="../media/image30.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8.png"/><Relationship Id="rId7"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5"/>
          <p:cNvSpPr>
            <a:spLocks noChangeArrowheads="1"/>
          </p:cNvSpPr>
          <p:nvPr/>
        </p:nvSpPr>
        <p:spPr bwMode="auto">
          <a:xfrm>
            <a:off x="0" y="228600"/>
            <a:ext cx="9144000" cy="1752600"/>
          </a:xfrm>
          <a:prstGeom prst="rect">
            <a:avLst/>
          </a:prstGeom>
          <a:solidFill>
            <a:srgbClr val="C5C5FF"/>
          </a:solidFill>
          <a:ln>
            <a:noFill/>
          </a:ln>
          <a:effectLst/>
        </p:spPr>
        <p:txBody>
          <a:bodyPr wrap="none" anchor="ctr"/>
          <a:lstStyle/>
          <a:p>
            <a:endParaRPr lang="en-US" dirty="0">
              <a:latin typeface="Liberation Sans" panose="020B0604020202020204" pitchFamily="34" charset="0"/>
            </a:endParaRPr>
          </a:p>
        </p:txBody>
      </p:sp>
      <p:sp>
        <p:nvSpPr>
          <p:cNvPr id="8" name="Rectangle 6"/>
          <p:cNvSpPr>
            <a:spLocks noChangeArrowheads="1"/>
          </p:cNvSpPr>
          <p:nvPr/>
        </p:nvSpPr>
        <p:spPr bwMode="auto">
          <a:xfrm>
            <a:off x="0" y="685800"/>
            <a:ext cx="2514600" cy="914400"/>
          </a:xfrm>
          <a:prstGeom prst="rect">
            <a:avLst/>
          </a:prstGeom>
          <a:solidFill>
            <a:schemeClr val="bg1">
              <a:lumMod val="6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9" name="Rectangle 8"/>
          <p:cNvSpPr txBox="1">
            <a:spLocks noChangeArrowheads="1"/>
          </p:cNvSpPr>
          <p:nvPr/>
        </p:nvSpPr>
        <p:spPr>
          <a:xfrm>
            <a:off x="2514600" y="533400"/>
            <a:ext cx="6400800" cy="1200329"/>
          </a:xfrm>
          <a:prstGeom prst="rect">
            <a:avLst/>
          </a:prstGeom>
          <a:solidFill>
            <a:schemeClr val="bg1"/>
          </a:solidFill>
          <a:ln w="28575" cap="flat" cmpd="sng" algn="ctr">
            <a:solidFill>
              <a:schemeClr val="bg1">
                <a:lumMod val="65000"/>
              </a:schemeClr>
            </a:solidFill>
            <a:prstDash val="solid"/>
            <a:miter lim="800000"/>
          </a:ln>
        </p:spPr>
        <p:txBody>
          <a:bodyPr wrap="square" lIns="91440" tIns="45720" rIns="91440" bIns="45720" anchor="ctr" anchorCtr="0">
            <a:noAutofit/>
          </a:bodyPr>
          <a:lstStyle>
            <a:defPPr>
              <a:defRPr lang="en-US"/>
            </a:defPPr>
            <a:lvl1pPr marL="59055" indent="0" algn="l">
              <a:spcBef>
                <a:spcPct val="50000"/>
              </a:spcBef>
              <a:buClr>
                <a:schemeClr val="accent2"/>
              </a:buClr>
              <a:buSzTx/>
              <a:buFontTx/>
              <a:buNone/>
              <a:defRPr sz="3800" b="1" kern="0">
                <a:solidFill>
                  <a:srgbClr val="CC0000"/>
                </a:solidFill>
                <a:effectLst/>
                <a:latin typeface="Liberation Sans" panose="020B0604020202020204" pitchFamily="34" charset="0"/>
              </a:defRPr>
            </a:lvl1pPr>
            <a:lvl2pPr marL="742950" indent="-285750" algn="l">
              <a:spcBef>
                <a:spcPct val="20000"/>
              </a:spcBef>
              <a:buClr>
                <a:schemeClr val="accent2"/>
              </a:buClr>
              <a:buSzPct val="75000"/>
              <a:buFont typeface="Wingdings" panose="05000000000000000000" pitchFamily="2" charset="2"/>
              <a:buChar char="l"/>
              <a:defRPr sz="2400" b="1">
                <a:solidFill>
                  <a:schemeClr val="bg2"/>
                </a:solidFill>
                <a:effectLst>
                  <a:outerShdw blurRad="38100" dist="38100" dir="2700000" algn="tl">
                    <a:srgbClr val="C0C0C0"/>
                  </a:outerShdw>
                </a:effectLst>
                <a:latin typeface="+mn-lt"/>
              </a:defRPr>
            </a:lvl2pPr>
            <a:lvl3pPr marL="1143000" indent="-228600" algn="l">
              <a:spcBef>
                <a:spcPct val="20000"/>
              </a:spcBef>
              <a:buClr>
                <a:schemeClr val="accent2"/>
              </a:buClr>
              <a:buSzPct val="75000"/>
              <a:buFont typeface="Wingdings" panose="05000000000000000000" pitchFamily="2" charset="2"/>
              <a:buChar char="l"/>
              <a:defRPr b="1">
                <a:solidFill>
                  <a:schemeClr val="bg2"/>
                </a:solidFill>
                <a:effectLst>
                  <a:outerShdw blurRad="38100" dist="38100" dir="2700000" algn="tl">
                    <a:srgbClr val="C0C0C0"/>
                  </a:outerShdw>
                </a:effectLst>
                <a:latin typeface="+mn-lt"/>
              </a:defRPr>
            </a:lvl3pPr>
            <a:lvl4pPr marL="1600200" indent="-228600" algn="l">
              <a:spcBef>
                <a:spcPct val="20000"/>
              </a:spcBef>
              <a:buClr>
                <a:schemeClr val="accent2"/>
              </a:buClr>
              <a:buSzPct val="75000"/>
              <a:buFont typeface="Wingdings" panose="05000000000000000000" pitchFamily="2" charset="2"/>
              <a:buChar char="l"/>
              <a:defRPr b="1">
                <a:solidFill>
                  <a:schemeClr val="bg2"/>
                </a:solidFill>
                <a:effectLst>
                  <a:outerShdw blurRad="38100" dist="38100" dir="2700000" algn="tl">
                    <a:srgbClr val="C0C0C0"/>
                  </a:outerShdw>
                </a:effectLst>
                <a:latin typeface="+mn-lt"/>
              </a:defRPr>
            </a:lvl4pPr>
            <a:lvl5pPr marL="2057400" indent="-228600" algn="l">
              <a:spcBef>
                <a:spcPct val="20000"/>
              </a:spcBef>
              <a:buClr>
                <a:schemeClr val="accent2"/>
              </a:buClr>
              <a:buSzPct val="75000"/>
              <a:buFont typeface="Wingdings" panose="05000000000000000000" pitchFamily="2" charset="2"/>
              <a:buChar char="l"/>
              <a:defRPr b="1">
                <a:solidFill>
                  <a:schemeClr val="bg2"/>
                </a:solidFill>
                <a:effectLst>
                  <a:outerShdw blurRad="38100" dist="38100" dir="2700000" algn="tl">
                    <a:srgbClr val="C0C0C0"/>
                  </a:outerShdw>
                </a:effectLst>
                <a:latin typeface="+mn-lt"/>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b="1">
                <a:solidFill>
                  <a:schemeClr val="bg2"/>
                </a:solidFill>
                <a:effectLst>
                  <a:outerShdw blurRad="38100" dist="38100" dir="2700000" algn="tl">
                    <a:srgbClr val="C0C0C0"/>
                  </a:outerShdw>
                </a:effectLst>
                <a:latin typeface="+mn-lt"/>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b="1">
                <a:solidFill>
                  <a:schemeClr val="bg2"/>
                </a:solidFill>
                <a:effectLst>
                  <a:outerShdw blurRad="38100" dist="38100" dir="2700000" algn="tl">
                    <a:srgbClr val="C0C0C0"/>
                  </a:outerShdw>
                </a:effectLst>
                <a:latin typeface="+mn-lt"/>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b="1">
                <a:solidFill>
                  <a:schemeClr val="bg2"/>
                </a:solidFill>
                <a:effectLst>
                  <a:outerShdw blurRad="38100" dist="38100" dir="2700000" algn="tl">
                    <a:srgbClr val="C0C0C0"/>
                  </a:outerShdw>
                </a:effectLst>
                <a:latin typeface="+mn-lt"/>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b="1">
                <a:solidFill>
                  <a:schemeClr val="bg2"/>
                </a:solidFill>
                <a:effectLst>
                  <a:outerShdw blurRad="38100" dist="38100" dir="2700000" algn="tl">
                    <a:srgbClr val="C0C0C0"/>
                  </a:outerShdw>
                </a:effectLst>
                <a:latin typeface="+mn-lt"/>
              </a:defRPr>
            </a:lvl9pPr>
          </a:lstStyle>
          <a:p>
            <a:r>
              <a:rPr lang="en-US" altLang="en-US" sz="2400" dirty="0"/>
              <a:t>Accounting for Merchandising Operations</a:t>
            </a:r>
          </a:p>
        </p:txBody>
      </p:sp>
      <p:sp>
        <p:nvSpPr>
          <p:cNvPr id="10" name="Oval 9"/>
          <p:cNvSpPr/>
          <p:nvPr/>
        </p:nvSpPr>
        <p:spPr bwMode="auto">
          <a:xfrm>
            <a:off x="762000" y="381000"/>
            <a:ext cx="1447800" cy="1447800"/>
          </a:xfrm>
          <a:prstGeom prst="ellipse">
            <a:avLst/>
          </a:prstGeom>
          <a:solidFill>
            <a:srgbClr val="0027A4"/>
          </a:solidFill>
          <a:ln w="12700" cap="flat" cmpd="sng" algn="ctr">
            <a:noFill/>
            <a:prstDash val="solid"/>
            <a:round/>
            <a:headEnd type="none" w="med" len="med"/>
            <a:tailEnd type="none" w="med" len="med"/>
          </a:ln>
          <a:effectLst/>
        </p:spPr>
        <p:txBody>
          <a:bodyPr vert="horz" wrap="square" lIns="91440" tIns="0" rIns="91440" bIns="45720" numCol="1" rtlCol="0" anchor="ctr" anchorCtr="0" compatLnSpc="1"/>
          <a:lstStyle/>
          <a:p>
            <a:r>
              <a:rPr lang="en-US" sz="10000" dirty="0">
                <a:solidFill>
                  <a:schemeClr val="bg1"/>
                </a:solidFill>
                <a:latin typeface="Liberation Sans" panose="020B0604020202020204" pitchFamily="34" charset="0"/>
              </a:rPr>
              <a:t>5</a:t>
            </a:r>
          </a:p>
        </p:txBody>
      </p:sp>
      <p:sp>
        <p:nvSpPr>
          <p:cNvPr id="11" name="Rectangle 6"/>
          <p:cNvSpPr>
            <a:spLocks noChangeArrowheads="1"/>
          </p:cNvSpPr>
          <p:nvPr/>
        </p:nvSpPr>
        <p:spPr bwMode="auto">
          <a:xfrm>
            <a:off x="0" y="3477768"/>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12" name="Rectangle 6"/>
          <p:cNvSpPr>
            <a:spLocks noChangeArrowheads="1"/>
          </p:cNvSpPr>
          <p:nvPr/>
        </p:nvSpPr>
        <p:spPr bwMode="auto">
          <a:xfrm>
            <a:off x="0" y="2667000"/>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13" name="Rectangle 10"/>
          <p:cNvSpPr>
            <a:spLocks noChangeArrowheads="1"/>
          </p:cNvSpPr>
          <p:nvPr/>
        </p:nvSpPr>
        <p:spPr bwMode="auto">
          <a:xfrm>
            <a:off x="457200" y="2057400"/>
            <a:ext cx="4419600" cy="523220"/>
          </a:xfrm>
          <a:prstGeom prst="rect">
            <a:avLst/>
          </a:prstGeom>
          <a:noFill/>
          <a:ln>
            <a:noFill/>
          </a:ln>
          <a:effectLst/>
        </p:spPr>
        <p:txBody>
          <a:bodyPr wrap="square">
            <a:spAutoFit/>
          </a:bodyPr>
          <a:lstStyle/>
          <a:p>
            <a:pPr algn="l" eaLnBrk="1" hangingPunct="1">
              <a:spcBef>
                <a:spcPct val="30000"/>
              </a:spcBef>
            </a:pPr>
            <a:r>
              <a:rPr lang="en-US" altLang="en-US" sz="2800" b="1" dirty="0">
                <a:latin typeface="Liberation Sans" panose="020B0604020202020204" pitchFamily="34" charset="0"/>
              </a:rPr>
              <a:t>Learning Objectives</a:t>
            </a:r>
          </a:p>
        </p:txBody>
      </p:sp>
      <p:sp>
        <p:nvSpPr>
          <p:cNvPr id="14" name="Rectangle 5"/>
          <p:cNvSpPr>
            <a:spLocks noChangeArrowheads="1"/>
          </p:cNvSpPr>
          <p:nvPr/>
        </p:nvSpPr>
        <p:spPr bwMode="auto">
          <a:xfrm>
            <a:off x="1447800" y="2667000"/>
            <a:ext cx="7696200" cy="722376"/>
          </a:xfrm>
          <a:prstGeom prst="rect">
            <a:avLst/>
          </a:prstGeom>
          <a:solidFill>
            <a:srgbClr val="0027A4"/>
          </a:solidFill>
          <a:ln>
            <a:noFill/>
          </a:ln>
          <a:effectLst/>
        </p:spPr>
        <p:txBody>
          <a:bodyPr wrap="square" tIns="27432" rIns="365760" anchor="ctr"/>
          <a:lstStyle/>
          <a:p>
            <a:pPr marL="117475" algn="l"/>
            <a:r>
              <a:rPr lang="en-US" b="1" dirty="0">
                <a:solidFill>
                  <a:schemeClr val="accent3"/>
                </a:solidFill>
                <a:latin typeface="Liberation Sans" panose="020B0604020202020204" pitchFamily="34" charset="0"/>
              </a:rPr>
              <a:t>Describe merchandising operations and inventory systems.</a:t>
            </a:r>
          </a:p>
        </p:txBody>
      </p:sp>
      <p:sp>
        <p:nvSpPr>
          <p:cNvPr id="15" name="Rectangle 5"/>
          <p:cNvSpPr>
            <a:spLocks noChangeArrowheads="1"/>
          </p:cNvSpPr>
          <p:nvPr/>
        </p:nvSpPr>
        <p:spPr bwMode="auto">
          <a:xfrm>
            <a:off x="1447800" y="3477768"/>
            <a:ext cx="7696200" cy="722376"/>
          </a:xfrm>
          <a:prstGeom prst="rect">
            <a:avLst/>
          </a:prstGeom>
          <a:solidFill>
            <a:srgbClr val="0027A4"/>
          </a:solidFill>
          <a:ln>
            <a:noFill/>
          </a:ln>
          <a:effectLst/>
        </p:spPr>
        <p:txBody>
          <a:bodyPr wrap="square" tIns="27432" rIns="365760" anchor="ctr"/>
          <a:lstStyle/>
          <a:p>
            <a:pPr marL="117475" algn="l"/>
            <a:r>
              <a:rPr lang="en-US" b="1" dirty="0">
                <a:solidFill>
                  <a:schemeClr val="accent3"/>
                </a:solidFill>
                <a:latin typeface="Liberation Sans" panose="020B0604020202020204" pitchFamily="34" charset="0"/>
              </a:rPr>
              <a:t>Record purchases under a perpetual inventory system.</a:t>
            </a:r>
          </a:p>
        </p:txBody>
      </p:sp>
      <p:sp>
        <p:nvSpPr>
          <p:cNvPr id="16" name="Rectangle 6"/>
          <p:cNvSpPr>
            <a:spLocks noChangeArrowheads="1"/>
          </p:cNvSpPr>
          <p:nvPr/>
        </p:nvSpPr>
        <p:spPr bwMode="auto">
          <a:xfrm>
            <a:off x="0" y="4279392"/>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17" name="Rectangle 5"/>
          <p:cNvSpPr>
            <a:spLocks noChangeArrowheads="1"/>
          </p:cNvSpPr>
          <p:nvPr/>
        </p:nvSpPr>
        <p:spPr bwMode="auto">
          <a:xfrm>
            <a:off x="1447800" y="4279392"/>
            <a:ext cx="7696200" cy="722376"/>
          </a:xfrm>
          <a:prstGeom prst="rect">
            <a:avLst/>
          </a:prstGeom>
          <a:solidFill>
            <a:srgbClr val="0027A4"/>
          </a:solidFill>
          <a:ln>
            <a:noFill/>
          </a:ln>
          <a:effectLst/>
        </p:spPr>
        <p:txBody>
          <a:bodyPr wrap="square" tIns="27432" rIns="365760" anchor="ctr"/>
          <a:lstStyle/>
          <a:p>
            <a:pPr marL="117475" algn="l"/>
            <a:r>
              <a:rPr lang="en-US" b="1" dirty="0">
                <a:solidFill>
                  <a:schemeClr val="accent3"/>
                </a:solidFill>
                <a:latin typeface="Liberation Sans" panose="020B0604020202020204" pitchFamily="34" charset="0"/>
              </a:rPr>
              <a:t>Record sales under a perpetual inventory system.</a:t>
            </a:r>
          </a:p>
        </p:txBody>
      </p:sp>
      <p:sp>
        <p:nvSpPr>
          <p:cNvPr id="18" name="Oval 17"/>
          <p:cNvSpPr/>
          <p:nvPr/>
        </p:nvSpPr>
        <p:spPr bwMode="auto">
          <a:xfrm>
            <a:off x="685800" y="4364736"/>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3</a:t>
            </a:r>
          </a:p>
        </p:txBody>
      </p:sp>
      <p:sp>
        <p:nvSpPr>
          <p:cNvPr id="19" name="Rectangle 5"/>
          <p:cNvSpPr>
            <a:spLocks noChangeArrowheads="1"/>
          </p:cNvSpPr>
          <p:nvPr/>
        </p:nvSpPr>
        <p:spPr bwMode="auto">
          <a:xfrm>
            <a:off x="1447800" y="5077968"/>
            <a:ext cx="7696200" cy="722376"/>
          </a:xfrm>
          <a:prstGeom prst="rect">
            <a:avLst/>
          </a:prstGeom>
          <a:solidFill>
            <a:srgbClr val="0027A4"/>
          </a:solidFill>
          <a:ln>
            <a:noFill/>
          </a:ln>
          <a:effectLst/>
        </p:spPr>
        <p:txBody>
          <a:bodyPr wrap="square" tIns="27432" rIns="365760" anchor="ctr"/>
          <a:lstStyle/>
          <a:p>
            <a:pPr marL="117475" algn="l"/>
            <a:r>
              <a:rPr lang="en-US" b="1" dirty="0">
                <a:solidFill>
                  <a:schemeClr val="accent3"/>
                </a:solidFill>
                <a:latin typeface="Liberation Sans" panose="020B0604020202020204" pitchFamily="34" charset="0"/>
              </a:rPr>
              <a:t>Apply the steps in the accounting cycle to a merchandising company.</a:t>
            </a:r>
          </a:p>
        </p:txBody>
      </p:sp>
      <p:sp>
        <p:nvSpPr>
          <p:cNvPr id="20" name="Oval 19"/>
          <p:cNvSpPr/>
          <p:nvPr/>
        </p:nvSpPr>
        <p:spPr bwMode="auto">
          <a:xfrm>
            <a:off x="685800" y="3575304"/>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2</a:t>
            </a:r>
          </a:p>
        </p:txBody>
      </p:sp>
      <p:sp>
        <p:nvSpPr>
          <p:cNvPr id="21" name="Oval 20"/>
          <p:cNvSpPr/>
          <p:nvPr/>
        </p:nvSpPr>
        <p:spPr bwMode="auto">
          <a:xfrm>
            <a:off x="685800" y="2752344"/>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1</a:t>
            </a:r>
          </a:p>
        </p:txBody>
      </p:sp>
      <p:sp>
        <p:nvSpPr>
          <p:cNvPr id="22" name="Rectangle 6"/>
          <p:cNvSpPr>
            <a:spLocks noChangeArrowheads="1"/>
          </p:cNvSpPr>
          <p:nvPr/>
        </p:nvSpPr>
        <p:spPr bwMode="auto">
          <a:xfrm>
            <a:off x="0" y="5077968"/>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23" name="Oval 22"/>
          <p:cNvSpPr/>
          <p:nvPr/>
        </p:nvSpPr>
        <p:spPr bwMode="auto">
          <a:xfrm>
            <a:off x="685800" y="5175504"/>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4</a:t>
            </a:r>
          </a:p>
        </p:txBody>
      </p:sp>
      <p:sp>
        <p:nvSpPr>
          <p:cNvPr id="24" name="Rectangle 5"/>
          <p:cNvSpPr>
            <a:spLocks noChangeArrowheads="1"/>
          </p:cNvSpPr>
          <p:nvPr/>
        </p:nvSpPr>
        <p:spPr bwMode="auto">
          <a:xfrm>
            <a:off x="1447800" y="5907024"/>
            <a:ext cx="7696200" cy="722376"/>
          </a:xfrm>
          <a:prstGeom prst="rect">
            <a:avLst/>
          </a:prstGeom>
          <a:solidFill>
            <a:srgbClr val="0027A4"/>
          </a:solidFill>
          <a:ln>
            <a:noFill/>
          </a:ln>
          <a:effectLst/>
        </p:spPr>
        <p:txBody>
          <a:bodyPr wrap="square" tIns="27432" rIns="365760" anchor="ctr"/>
          <a:lstStyle/>
          <a:p>
            <a:pPr marL="117475" algn="l"/>
            <a:r>
              <a:rPr lang="en-US" b="1" dirty="0">
                <a:solidFill>
                  <a:schemeClr val="accent3"/>
                </a:solidFill>
                <a:latin typeface="Liberation Sans" panose="020B0604020202020204" pitchFamily="34" charset="0"/>
              </a:rPr>
              <a:t>Compare a multiple-step with a single-step income statement.</a:t>
            </a:r>
          </a:p>
        </p:txBody>
      </p:sp>
      <p:sp>
        <p:nvSpPr>
          <p:cNvPr id="25" name="Rectangle 6"/>
          <p:cNvSpPr>
            <a:spLocks noChangeArrowheads="1"/>
          </p:cNvSpPr>
          <p:nvPr/>
        </p:nvSpPr>
        <p:spPr bwMode="auto">
          <a:xfrm>
            <a:off x="0" y="5907024"/>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26" name="Oval 25"/>
          <p:cNvSpPr/>
          <p:nvPr/>
        </p:nvSpPr>
        <p:spPr bwMode="auto">
          <a:xfrm>
            <a:off x="685800" y="6004560"/>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5</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685800" y="3244850"/>
            <a:ext cx="8077200" cy="2133600"/>
          </a:xfrm>
          <a:prstGeom prst="rect">
            <a:avLst/>
          </a:prstGeom>
          <a:solidFill>
            <a:srgbClr val="FFFFCC"/>
          </a:solidFill>
          <a:ln w="381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pic>
        <p:nvPicPr>
          <p:cNvPr id="5123" name="Picture 56" descr="ANd9GcSOIdLGanUplF9A3LzYBZEGvJqfPRDVr8zSqH6bhWCHER6lIVz-U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0425" y="3349625"/>
            <a:ext cx="234315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5"/>
          <p:cNvSpPr>
            <a:spLocks noChangeArrowheads="1"/>
          </p:cNvSpPr>
          <p:nvPr/>
        </p:nvSpPr>
        <p:spPr bwMode="auto">
          <a:xfrm>
            <a:off x="457200" y="1492250"/>
            <a:ext cx="5638800" cy="1066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182562" tIns="46038" rIns="182562" bIns="46038"/>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25000"/>
              </a:spcBef>
              <a:buClr>
                <a:schemeClr val="tx1"/>
              </a:buClr>
              <a:buFont typeface="Wingdings" panose="05000000000000000000" pitchFamily="2" charset="2"/>
              <a:buNone/>
            </a:pPr>
            <a:r>
              <a:rPr lang="en-US" altLang="en-US" sz="2600" b="1" dirty="0">
                <a:latin typeface="Liberation Sans" panose="020B0604020202020204" pitchFamily="34" charset="0"/>
              </a:rPr>
              <a:t>Merchandising Companies</a:t>
            </a:r>
          </a:p>
          <a:p>
            <a:pPr algn="l">
              <a:lnSpc>
                <a:spcPct val="120000"/>
              </a:lnSpc>
              <a:spcBef>
                <a:spcPct val="25000"/>
              </a:spcBef>
              <a:buClr>
                <a:schemeClr val="tx1"/>
              </a:buClr>
              <a:buFont typeface="Wingdings" panose="05000000000000000000" pitchFamily="2" charset="2"/>
              <a:buNone/>
            </a:pPr>
            <a:r>
              <a:rPr lang="en-US" altLang="en-US" sz="2400" dirty="0">
                <a:latin typeface="Liberation Sans" panose="020B0604020202020204" pitchFamily="34" charset="0"/>
              </a:rPr>
              <a:t>Buy and Sell Goods </a:t>
            </a:r>
          </a:p>
        </p:txBody>
      </p:sp>
      <p:pic>
        <p:nvPicPr>
          <p:cNvPr id="5126"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427413"/>
            <a:ext cx="1333500" cy="1227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7" name="Text Box 13"/>
          <p:cNvSpPr txBox="1">
            <a:spLocks noChangeArrowheads="1"/>
          </p:cNvSpPr>
          <p:nvPr/>
        </p:nvSpPr>
        <p:spPr bwMode="auto">
          <a:xfrm>
            <a:off x="762000" y="4799013"/>
            <a:ext cx="18288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2200" dirty="0">
                <a:latin typeface="Liberation Sans" panose="020B0604020202020204" pitchFamily="34" charset="0"/>
              </a:rPr>
              <a:t>Wholesaler</a:t>
            </a:r>
          </a:p>
        </p:txBody>
      </p:sp>
      <p:pic>
        <p:nvPicPr>
          <p:cNvPr id="5128"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041775"/>
            <a:ext cx="1524000"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9" name="Text Box 16"/>
          <p:cNvSpPr txBox="1">
            <a:spLocks noChangeArrowheads="1"/>
          </p:cNvSpPr>
          <p:nvPr/>
        </p:nvSpPr>
        <p:spPr bwMode="auto">
          <a:xfrm>
            <a:off x="6553200" y="4799013"/>
            <a:ext cx="18288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2200" dirty="0">
                <a:latin typeface="Liberation Sans" panose="020B0604020202020204" pitchFamily="34" charset="0"/>
              </a:rPr>
              <a:t>Consumer</a:t>
            </a:r>
          </a:p>
        </p:txBody>
      </p:sp>
      <p:sp>
        <p:nvSpPr>
          <p:cNvPr id="5130" name="AutoShape 17"/>
          <p:cNvSpPr>
            <a:spLocks noChangeArrowheads="1"/>
          </p:cNvSpPr>
          <p:nvPr/>
        </p:nvSpPr>
        <p:spPr bwMode="auto">
          <a:xfrm>
            <a:off x="2667000" y="4006850"/>
            <a:ext cx="457200" cy="228600"/>
          </a:xfrm>
          <a:prstGeom prst="rightArrow">
            <a:avLst>
              <a:gd name="adj1" fmla="val 50000"/>
              <a:gd name="adj2" fmla="val 50000"/>
            </a:avLst>
          </a:prstGeom>
          <a:solidFill>
            <a:srgbClr val="8000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5131" name="AutoShape 18"/>
          <p:cNvSpPr>
            <a:spLocks noChangeArrowheads="1"/>
          </p:cNvSpPr>
          <p:nvPr/>
        </p:nvSpPr>
        <p:spPr bwMode="auto">
          <a:xfrm>
            <a:off x="5867400" y="4006850"/>
            <a:ext cx="457200" cy="228600"/>
          </a:xfrm>
          <a:prstGeom prst="rightArrow">
            <a:avLst>
              <a:gd name="adj1" fmla="val 50000"/>
              <a:gd name="adj2" fmla="val 50000"/>
            </a:avLst>
          </a:prstGeom>
          <a:solidFill>
            <a:srgbClr val="8000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5132" name="Rectangle 20"/>
          <p:cNvSpPr>
            <a:spLocks noChangeArrowheads="1"/>
          </p:cNvSpPr>
          <p:nvPr/>
        </p:nvSpPr>
        <p:spPr bwMode="auto">
          <a:xfrm>
            <a:off x="685800" y="5638800"/>
            <a:ext cx="8077200" cy="762000"/>
          </a:xfrm>
          <a:prstGeom prst="rect">
            <a:avLst/>
          </a:prstGeom>
          <a:solidFill>
            <a:schemeClr val="bg1"/>
          </a:solidFill>
          <a:ln>
            <a:noFill/>
          </a:ln>
          <a:effectLst/>
          <a:extLst>
            <a:ext uri="{91240B29-F687-4F45-9708-019B960494DF}">
              <a14:hiddenLine xmlns:a14="http://schemas.microsoft.com/office/drawing/2010/main" w="28575">
                <a:solidFill>
                  <a:srgbClr val="8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2200" dirty="0">
                <a:latin typeface="Liberation Sans" panose="020B0604020202020204" pitchFamily="34" charset="0"/>
              </a:rPr>
              <a:t>The primary source of revenues is referred to as                    </a:t>
            </a:r>
            <a:r>
              <a:rPr lang="en-US" altLang="en-US" sz="2200" b="1" dirty="0">
                <a:solidFill>
                  <a:srgbClr val="000066"/>
                </a:solidFill>
                <a:latin typeface="Liberation Sans" panose="020B0604020202020204" pitchFamily="34" charset="0"/>
              </a:rPr>
              <a:t>sales revenue</a:t>
            </a:r>
            <a:r>
              <a:rPr lang="en-US" altLang="en-US" sz="2200" dirty="0">
                <a:latin typeface="Liberation Sans" panose="020B0604020202020204" pitchFamily="34" charset="0"/>
              </a:rPr>
              <a:t> or </a:t>
            </a:r>
            <a:r>
              <a:rPr lang="en-US" altLang="en-US" sz="2200" b="1" dirty="0">
                <a:latin typeface="Liberation Sans" panose="020B0604020202020204" pitchFamily="34" charset="0"/>
              </a:rPr>
              <a:t>sales</a:t>
            </a:r>
            <a:r>
              <a:rPr lang="en-US" altLang="en-US" sz="2200" dirty="0">
                <a:latin typeface="Liberation Sans" panose="020B0604020202020204" pitchFamily="34" charset="0"/>
              </a:rPr>
              <a:t>.</a:t>
            </a:r>
          </a:p>
        </p:txBody>
      </p:sp>
      <p:pic>
        <p:nvPicPr>
          <p:cNvPr id="5133" name="Picture 24" descr="REI-Logo_BW_for_web"/>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57800" y="1492250"/>
            <a:ext cx="11715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4" name="Picture 28" descr="walmar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81800" y="1682750"/>
            <a:ext cx="19050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5" name="Picture 26" descr="ANd9GcRhX1pE3Ou562T-Qx-OjhgeGG43OEnHyUZfSLd9Cq6b8Yyo2YOebw"/>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72163" y="2482850"/>
            <a:ext cx="2281237"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6" name="AutoShape 32" descr="2Q=="/>
          <p:cNvSpPr>
            <a:spLocks noChangeAspect="1" noChangeArrowheads="1"/>
          </p:cNvSpPr>
          <p:nvPr/>
        </p:nvSpPr>
        <p:spPr bwMode="auto">
          <a:xfrm>
            <a:off x="3733800" y="3273425"/>
            <a:ext cx="167640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5137" name="AutoShape 34" descr="2Q=="/>
          <p:cNvSpPr>
            <a:spLocks noChangeAspect="1" noChangeArrowheads="1"/>
          </p:cNvSpPr>
          <p:nvPr/>
        </p:nvSpPr>
        <p:spPr bwMode="auto">
          <a:xfrm>
            <a:off x="3733800" y="3273425"/>
            <a:ext cx="167640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5138" name="AutoShape 36" descr="2Q=="/>
          <p:cNvSpPr>
            <a:spLocks noChangeAspect="1" noChangeArrowheads="1"/>
          </p:cNvSpPr>
          <p:nvPr/>
        </p:nvSpPr>
        <p:spPr bwMode="auto">
          <a:xfrm>
            <a:off x="3733800" y="3273425"/>
            <a:ext cx="167640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5139" name="AutoShape 40" descr="9k="/>
          <p:cNvSpPr>
            <a:spLocks noChangeAspect="1" noChangeArrowheads="1"/>
          </p:cNvSpPr>
          <p:nvPr/>
        </p:nvSpPr>
        <p:spPr bwMode="auto">
          <a:xfrm>
            <a:off x="3829050" y="2940050"/>
            <a:ext cx="14859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5140" name="AutoShape 48" descr="2Q=="/>
          <p:cNvSpPr>
            <a:spLocks noChangeAspect="1" noChangeArrowheads="1"/>
          </p:cNvSpPr>
          <p:nvPr/>
        </p:nvSpPr>
        <p:spPr bwMode="auto">
          <a:xfrm>
            <a:off x="3733800" y="3273425"/>
            <a:ext cx="167640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5141" name="AutoShape 50" descr="2Q=="/>
          <p:cNvSpPr>
            <a:spLocks noChangeAspect="1" noChangeArrowheads="1"/>
          </p:cNvSpPr>
          <p:nvPr/>
        </p:nvSpPr>
        <p:spPr bwMode="auto">
          <a:xfrm>
            <a:off x="3733800" y="3273425"/>
            <a:ext cx="167640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5142" name="Text Box 15"/>
          <p:cNvSpPr txBox="1">
            <a:spLocks noChangeArrowheads="1"/>
          </p:cNvSpPr>
          <p:nvPr/>
        </p:nvSpPr>
        <p:spPr bwMode="auto">
          <a:xfrm>
            <a:off x="3886200" y="2711450"/>
            <a:ext cx="1219200" cy="42703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2200" dirty="0">
                <a:latin typeface="Liberation Sans" panose="020B0604020202020204" pitchFamily="34" charset="0"/>
              </a:rPr>
              <a:t>Retailer</a:t>
            </a:r>
          </a:p>
        </p:txBody>
      </p:sp>
      <p:pic>
        <p:nvPicPr>
          <p:cNvPr id="5143" name="Picture 60" descr="ANd9GcTYZPScEQjb4ydq5g8E7L4821jXXgIQ8JM7wGG2k5-1XggLFgDp"/>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3549650"/>
            <a:ext cx="20574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5"/>
          <p:cNvSpPr>
            <a:spLocks noChangeArrowheads="1"/>
          </p:cNvSpPr>
          <p:nvPr/>
        </p:nvSpPr>
        <p:spPr bwMode="auto">
          <a:xfrm>
            <a:off x="290286" y="405765"/>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solidFill>
                  <a:schemeClr val="tx1"/>
                </a:solidFill>
                <a:latin typeface="Liberation Sans" panose="020B0604020202020204" pitchFamily="34" charset="0"/>
              </a:rPr>
              <a:t>LEARNING</a:t>
            </a:r>
          </a:p>
          <a:p>
            <a:pPr algn="l"/>
            <a:r>
              <a:rPr lang="en-US" altLang="en-US" sz="1700" b="1" dirty="0">
                <a:solidFill>
                  <a:schemeClr val="tx1"/>
                </a:solidFill>
                <a:latin typeface="Liberation Sans" panose="020B0604020202020204" pitchFamily="34" charset="0"/>
              </a:rPr>
              <a:t>OBJECTIVE</a:t>
            </a:r>
          </a:p>
        </p:txBody>
      </p:sp>
      <p:sp>
        <p:nvSpPr>
          <p:cNvPr id="27" name="Rectangle 5"/>
          <p:cNvSpPr>
            <a:spLocks noChangeArrowheads="1"/>
          </p:cNvSpPr>
          <p:nvPr/>
        </p:nvSpPr>
        <p:spPr bwMode="auto">
          <a:xfrm>
            <a:off x="2540000" y="274320"/>
            <a:ext cx="6241143" cy="928688"/>
          </a:xfrm>
          <a:prstGeom prst="rect">
            <a:avLst/>
          </a:prstGeom>
          <a:solidFill>
            <a:srgbClr val="0027A4"/>
          </a:solidFill>
          <a:ln>
            <a:noFill/>
          </a:ln>
          <a:effectLst/>
        </p:spPr>
        <p:txBody>
          <a:bodyPr wrap="square" lIns="86493" tIns="27432" rIns="86493" bIns="43247" anchor="ctr"/>
          <a:lstStyle/>
          <a:p>
            <a:pPr marL="111125" algn="l"/>
            <a:r>
              <a:rPr lang="en-US" sz="2400" b="1" dirty="0">
                <a:solidFill>
                  <a:schemeClr val="bg1"/>
                </a:solidFill>
                <a:latin typeface="Liberation Sans" panose="020B0604020202020204" pitchFamily="34" charset="0"/>
              </a:rPr>
              <a:t>Describe merchandising operations and inventory systems.</a:t>
            </a:r>
          </a:p>
        </p:txBody>
      </p:sp>
      <p:sp>
        <p:nvSpPr>
          <p:cNvPr id="28" name="Oval 27"/>
          <p:cNvSpPr/>
          <p:nvPr/>
        </p:nvSpPr>
        <p:spPr bwMode="auto">
          <a:xfrm>
            <a:off x="1872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noAutofit/>
          </a:bodyPr>
          <a:lstStyle/>
          <a:p>
            <a:r>
              <a:rPr lang="en-US" sz="2400" b="1" dirty="0">
                <a:solidFill>
                  <a:schemeClr val="accent3"/>
                </a:solidFill>
                <a:latin typeface="Liberation Sans" panose="020B0604020202020204" pitchFamily="34" charset="0"/>
              </a:rPr>
              <a:t>1</a:t>
            </a:r>
          </a:p>
        </p:txBody>
      </p:sp>
      <p:sp>
        <p:nvSpPr>
          <p:cNvPr id="29"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1</a:t>
            </a: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5"/>
          <p:cNvSpPr>
            <a:spLocks noChangeArrowheads="1"/>
          </p:cNvSpPr>
          <p:nvPr/>
        </p:nvSpPr>
        <p:spPr bwMode="auto">
          <a:xfrm>
            <a:off x="457200" y="1295400"/>
            <a:ext cx="5638800" cy="533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182562" tIns="46038" rIns="182562" bIns="46038"/>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Clr>
                <a:schemeClr val="tx1"/>
              </a:buClr>
              <a:buFont typeface="Wingdings" panose="05000000000000000000" pitchFamily="2" charset="2"/>
              <a:buNone/>
            </a:pPr>
            <a:r>
              <a:rPr lang="en-US" altLang="en-US" sz="2600" b="1" dirty="0">
                <a:latin typeface="Liberation Sans" panose="020B0604020202020204" pitchFamily="34" charset="0"/>
              </a:rPr>
              <a:t>Income Measurement</a:t>
            </a:r>
            <a:endParaRPr lang="en-US" altLang="en-US" sz="2600" dirty="0">
              <a:latin typeface="Liberation Sans" panose="020B0604020202020204" pitchFamily="34" charset="0"/>
            </a:endParaRPr>
          </a:p>
        </p:txBody>
      </p:sp>
      <p:sp>
        <p:nvSpPr>
          <p:cNvPr id="6148" name="Rectangle 24"/>
          <p:cNvSpPr>
            <a:spLocks noChangeArrowheads="1"/>
          </p:cNvSpPr>
          <p:nvPr/>
        </p:nvSpPr>
        <p:spPr bwMode="auto">
          <a:xfrm>
            <a:off x="533400" y="4648200"/>
            <a:ext cx="3886200" cy="1200150"/>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nSpc>
                <a:spcPct val="120000"/>
              </a:lnSpc>
            </a:pPr>
            <a:r>
              <a:rPr lang="en-US" altLang="en-US" b="1" dirty="0">
                <a:solidFill>
                  <a:srgbClr val="000066"/>
                </a:solidFill>
                <a:latin typeface="Liberation Sans" panose="020B0604020202020204" pitchFamily="34" charset="0"/>
              </a:rPr>
              <a:t>Cost of goods sold </a:t>
            </a:r>
            <a:r>
              <a:rPr lang="en-US" altLang="en-US" dirty="0">
                <a:latin typeface="Liberation Sans" panose="020B0604020202020204" pitchFamily="34" charset="0"/>
              </a:rPr>
              <a:t>is the total cost of merchandise sold during the period.</a:t>
            </a:r>
          </a:p>
        </p:txBody>
      </p:sp>
      <p:sp>
        <p:nvSpPr>
          <p:cNvPr id="6149" name="Rectangle 26"/>
          <p:cNvSpPr>
            <a:spLocks noChangeArrowheads="1"/>
          </p:cNvSpPr>
          <p:nvPr/>
        </p:nvSpPr>
        <p:spPr bwMode="auto">
          <a:xfrm>
            <a:off x="3048000" y="2025650"/>
            <a:ext cx="2286000" cy="641350"/>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1800" dirty="0">
                <a:latin typeface="Liberation Sans" panose="020B0604020202020204" pitchFamily="34" charset="0"/>
              </a:rPr>
              <a:t>Not used in a Service business.</a:t>
            </a:r>
          </a:p>
        </p:txBody>
      </p:sp>
      <p:sp>
        <p:nvSpPr>
          <p:cNvPr id="6150" name="Line 27"/>
          <p:cNvSpPr>
            <a:spLocks noChangeShapeType="1"/>
          </p:cNvSpPr>
          <p:nvPr/>
        </p:nvSpPr>
        <p:spPr bwMode="auto">
          <a:xfrm flipH="1">
            <a:off x="3200400" y="2667000"/>
            <a:ext cx="533400" cy="45720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6151" name="Line 28"/>
          <p:cNvSpPr>
            <a:spLocks noChangeShapeType="1"/>
          </p:cNvSpPr>
          <p:nvPr/>
        </p:nvSpPr>
        <p:spPr bwMode="auto">
          <a:xfrm>
            <a:off x="3733800" y="2667000"/>
            <a:ext cx="609600" cy="45720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6152" name="Rectangle 34"/>
          <p:cNvSpPr>
            <a:spLocks noChangeArrowheads="1"/>
          </p:cNvSpPr>
          <p:nvPr/>
        </p:nvSpPr>
        <p:spPr bwMode="auto">
          <a:xfrm>
            <a:off x="7391400" y="4419600"/>
            <a:ext cx="1524000" cy="1066800"/>
          </a:xfrm>
          <a:prstGeom prst="rect">
            <a:avLst/>
          </a:prstGeom>
          <a:solidFill>
            <a:srgbClr val="FAEFB6"/>
          </a:solidFill>
          <a:ln w="28575" cap="sq" algn="ctr">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1900" b="1" dirty="0">
                <a:latin typeface="Liberation Sans" panose="020B0604020202020204" pitchFamily="34" charset="0"/>
              </a:rPr>
              <a:t>Net </a:t>
            </a:r>
          </a:p>
          <a:p>
            <a:r>
              <a:rPr lang="en-US" altLang="en-US" sz="1900" b="1" dirty="0">
                <a:latin typeface="Liberation Sans" panose="020B0604020202020204" pitchFamily="34" charset="0"/>
              </a:rPr>
              <a:t>Income </a:t>
            </a:r>
          </a:p>
          <a:p>
            <a:r>
              <a:rPr lang="en-US" altLang="en-US" sz="1900" b="1" dirty="0">
                <a:latin typeface="Liberation Sans" panose="020B0604020202020204" pitchFamily="34" charset="0"/>
              </a:rPr>
              <a:t>(Loss)</a:t>
            </a:r>
          </a:p>
        </p:txBody>
      </p:sp>
      <p:cxnSp>
        <p:nvCxnSpPr>
          <p:cNvPr id="6153" name="AutoShape 37"/>
          <p:cNvCxnSpPr>
            <a:cxnSpLocks noChangeShapeType="1"/>
            <a:stCxn id="6161" idx="3"/>
            <a:endCxn id="6162" idx="0"/>
          </p:cNvCxnSpPr>
          <p:nvPr/>
        </p:nvCxnSpPr>
        <p:spPr bwMode="auto">
          <a:xfrm>
            <a:off x="1995488" y="2476500"/>
            <a:ext cx="442912" cy="785813"/>
          </a:xfrm>
          <a:prstGeom prst="bentConnector2">
            <a:avLst/>
          </a:prstGeom>
          <a:noFill/>
          <a:ln w="38100" cap="sq">
            <a:solidFill>
              <a:srgbClr val="80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54" name="Text Box 38"/>
          <p:cNvSpPr txBox="1">
            <a:spLocks noChangeArrowheads="1"/>
          </p:cNvSpPr>
          <p:nvPr/>
        </p:nvSpPr>
        <p:spPr bwMode="auto">
          <a:xfrm>
            <a:off x="1905000" y="2178050"/>
            <a:ext cx="762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300" b="1" dirty="0">
                <a:latin typeface="Liberation Sans" panose="020B0604020202020204" pitchFamily="34" charset="0"/>
              </a:rPr>
              <a:t>Less</a:t>
            </a:r>
          </a:p>
        </p:txBody>
      </p:sp>
      <p:cxnSp>
        <p:nvCxnSpPr>
          <p:cNvPr id="6155" name="AutoShape 41"/>
          <p:cNvCxnSpPr>
            <a:cxnSpLocks noChangeShapeType="1"/>
            <a:stCxn id="6163" idx="3"/>
            <a:endCxn id="6164" idx="0"/>
          </p:cNvCxnSpPr>
          <p:nvPr/>
        </p:nvCxnSpPr>
        <p:spPr bwMode="auto">
          <a:xfrm>
            <a:off x="5424488" y="3695700"/>
            <a:ext cx="442912" cy="785813"/>
          </a:xfrm>
          <a:prstGeom prst="bentConnector2">
            <a:avLst/>
          </a:prstGeom>
          <a:noFill/>
          <a:ln w="38100" cap="sq">
            <a:solidFill>
              <a:srgbClr val="80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56" name="Text Box 42"/>
          <p:cNvSpPr txBox="1">
            <a:spLocks noChangeArrowheads="1"/>
          </p:cNvSpPr>
          <p:nvPr/>
        </p:nvSpPr>
        <p:spPr bwMode="auto">
          <a:xfrm>
            <a:off x="5334000" y="3397250"/>
            <a:ext cx="762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300" b="1" dirty="0">
                <a:latin typeface="Liberation Sans" panose="020B0604020202020204" pitchFamily="34" charset="0"/>
              </a:rPr>
              <a:t>Less</a:t>
            </a:r>
          </a:p>
        </p:txBody>
      </p:sp>
      <p:cxnSp>
        <p:nvCxnSpPr>
          <p:cNvPr id="6157" name="AutoShape 43"/>
          <p:cNvCxnSpPr>
            <a:cxnSpLocks noChangeShapeType="1"/>
            <a:stCxn id="6162" idx="3"/>
            <a:endCxn id="6163" idx="1"/>
          </p:cNvCxnSpPr>
          <p:nvPr/>
        </p:nvCxnSpPr>
        <p:spPr bwMode="auto">
          <a:xfrm>
            <a:off x="3214688" y="3695700"/>
            <a:ext cx="657225" cy="0"/>
          </a:xfrm>
          <a:prstGeom prst="straightConnector1">
            <a:avLst/>
          </a:prstGeom>
          <a:noFill/>
          <a:ln w="38100" cap="sq">
            <a:solidFill>
              <a:srgbClr val="8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58" name="AutoShape 46"/>
          <p:cNvCxnSpPr>
            <a:cxnSpLocks noChangeShapeType="1"/>
            <a:endCxn id="6152" idx="1"/>
          </p:cNvCxnSpPr>
          <p:nvPr/>
        </p:nvCxnSpPr>
        <p:spPr bwMode="auto">
          <a:xfrm>
            <a:off x="6643688" y="4953000"/>
            <a:ext cx="733425" cy="0"/>
          </a:xfrm>
          <a:prstGeom prst="straightConnector1">
            <a:avLst/>
          </a:prstGeom>
          <a:noFill/>
          <a:ln w="38100" cap="sq">
            <a:solidFill>
              <a:srgbClr val="80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59" name="Text Box 47"/>
          <p:cNvSpPr txBox="1">
            <a:spLocks noChangeArrowheads="1"/>
          </p:cNvSpPr>
          <p:nvPr/>
        </p:nvSpPr>
        <p:spPr bwMode="auto">
          <a:xfrm>
            <a:off x="3124200" y="3352800"/>
            <a:ext cx="8382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300" b="1" dirty="0">
                <a:latin typeface="Liberation Sans" panose="020B0604020202020204" pitchFamily="34" charset="0"/>
              </a:rPr>
              <a:t>Equals</a:t>
            </a:r>
          </a:p>
        </p:txBody>
      </p:sp>
      <p:sp>
        <p:nvSpPr>
          <p:cNvPr id="6160" name="Text Box 48"/>
          <p:cNvSpPr txBox="1">
            <a:spLocks noChangeArrowheads="1"/>
          </p:cNvSpPr>
          <p:nvPr/>
        </p:nvSpPr>
        <p:spPr bwMode="auto">
          <a:xfrm>
            <a:off x="6629400" y="4572000"/>
            <a:ext cx="762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300" b="1" dirty="0">
                <a:latin typeface="Liberation Sans" panose="020B0604020202020204" pitchFamily="34" charset="0"/>
              </a:rPr>
              <a:t>Equals</a:t>
            </a:r>
          </a:p>
        </p:txBody>
      </p:sp>
      <p:sp>
        <p:nvSpPr>
          <p:cNvPr id="6161" name="Rectangle 30"/>
          <p:cNvSpPr>
            <a:spLocks noChangeArrowheads="1"/>
          </p:cNvSpPr>
          <p:nvPr/>
        </p:nvSpPr>
        <p:spPr bwMode="auto">
          <a:xfrm>
            <a:off x="457200" y="2057400"/>
            <a:ext cx="1524000" cy="838200"/>
          </a:xfrm>
          <a:prstGeom prst="rect">
            <a:avLst/>
          </a:prstGeom>
          <a:solidFill>
            <a:srgbClr val="FAEFB6"/>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1900" b="1" dirty="0">
                <a:latin typeface="Liberation Sans" panose="020B0604020202020204" pitchFamily="34" charset="0"/>
              </a:rPr>
              <a:t>Sales</a:t>
            </a:r>
          </a:p>
          <a:p>
            <a:r>
              <a:rPr lang="en-US" altLang="en-US" sz="1900" b="1" dirty="0">
                <a:latin typeface="Liberation Sans" panose="020B0604020202020204" pitchFamily="34" charset="0"/>
              </a:rPr>
              <a:t>Revenue</a:t>
            </a:r>
          </a:p>
        </p:txBody>
      </p:sp>
      <p:sp>
        <p:nvSpPr>
          <p:cNvPr id="6162" name="Rectangle 31"/>
          <p:cNvSpPr>
            <a:spLocks noChangeArrowheads="1"/>
          </p:cNvSpPr>
          <p:nvPr/>
        </p:nvSpPr>
        <p:spPr bwMode="auto">
          <a:xfrm>
            <a:off x="1676400" y="3276600"/>
            <a:ext cx="1524000" cy="838200"/>
          </a:xfrm>
          <a:prstGeom prst="rect">
            <a:avLst/>
          </a:prstGeom>
          <a:solidFill>
            <a:srgbClr val="66FFFF"/>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1900" b="1" dirty="0">
                <a:latin typeface="Liberation Sans" panose="020B0604020202020204" pitchFamily="34" charset="0"/>
              </a:rPr>
              <a:t>Cost of </a:t>
            </a:r>
          </a:p>
          <a:p>
            <a:r>
              <a:rPr lang="en-US" altLang="en-US" sz="1900" b="1" dirty="0">
                <a:latin typeface="Liberation Sans" panose="020B0604020202020204" pitchFamily="34" charset="0"/>
              </a:rPr>
              <a:t>Goods Sold</a:t>
            </a:r>
          </a:p>
        </p:txBody>
      </p:sp>
      <p:sp>
        <p:nvSpPr>
          <p:cNvPr id="6163" name="Rectangle 32"/>
          <p:cNvSpPr>
            <a:spLocks noChangeArrowheads="1"/>
          </p:cNvSpPr>
          <p:nvPr/>
        </p:nvSpPr>
        <p:spPr bwMode="auto">
          <a:xfrm>
            <a:off x="3886200" y="3276600"/>
            <a:ext cx="1524000" cy="838200"/>
          </a:xfrm>
          <a:prstGeom prst="rect">
            <a:avLst/>
          </a:prstGeom>
          <a:solidFill>
            <a:srgbClr val="66FFFF"/>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1900" b="1" dirty="0">
                <a:latin typeface="Liberation Sans" panose="020B0604020202020204" pitchFamily="34" charset="0"/>
              </a:rPr>
              <a:t>Gross </a:t>
            </a:r>
          </a:p>
          <a:p>
            <a:r>
              <a:rPr lang="en-US" altLang="en-US" sz="1900" b="1" dirty="0">
                <a:latin typeface="Liberation Sans" panose="020B0604020202020204" pitchFamily="34" charset="0"/>
              </a:rPr>
              <a:t>Profit</a:t>
            </a:r>
          </a:p>
        </p:txBody>
      </p:sp>
      <p:sp>
        <p:nvSpPr>
          <p:cNvPr id="6164" name="Rectangle 33"/>
          <p:cNvSpPr>
            <a:spLocks noChangeArrowheads="1"/>
          </p:cNvSpPr>
          <p:nvPr/>
        </p:nvSpPr>
        <p:spPr bwMode="auto">
          <a:xfrm>
            <a:off x="5105400" y="4495800"/>
            <a:ext cx="1524000" cy="838200"/>
          </a:xfrm>
          <a:prstGeom prst="rect">
            <a:avLst/>
          </a:prstGeom>
          <a:solidFill>
            <a:srgbClr val="FAEFB6"/>
          </a:solidFill>
          <a:ln w="28575" cap="sq" algn="ctr">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1900" b="1" dirty="0">
                <a:latin typeface="Liberation Sans" panose="020B0604020202020204" pitchFamily="34" charset="0"/>
              </a:rPr>
              <a:t>Operating </a:t>
            </a:r>
          </a:p>
          <a:p>
            <a:r>
              <a:rPr lang="en-US" altLang="en-US" sz="1900" b="1" dirty="0">
                <a:latin typeface="Liberation Sans" panose="020B0604020202020204" pitchFamily="34" charset="0"/>
              </a:rPr>
              <a:t>Expenses</a:t>
            </a:r>
          </a:p>
        </p:txBody>
      </p:sp>
      <p:sp>
        <p:nvSpPr>
          <p:cNvPr id="6165" name="Rectangle 49"/>
          <p:cNvSpPr>
            <a:spLocks noChangeArrowheads="1"/>
          </p:cNvSpPr>
          <p:nvPr/>
        </p:nvSpPr>
        <p:spPr bwMode="auto">
          <a:xfrm>
            <a:off x="6172200" y="2286000"/>
            <a:ext cx="2590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1200" b="1" dirty="0">
                <a:latin typeface="Liberation Sans" panose="020B0604020202020204" pitchFamily="34" charset="0"/>
              </a:rPr>
              <a:t>Illustration 5-1 </a:t>
            </a:r>
          </a:p>
          <a:p>
            <a:pPr algn="l"/>
            <a:r>
              <a:rPr lang="en-US" altLang="en-US" sz="1200" dirty="0">
                <a:latin typeface="Liberation Sans" panose="020B0604020202020204" pitchFamily="34" charset="0"/>
              </a:rPr>
              <a:t>Income measurement process for a merchandising company</a:t>
            </a:r>
          </a:p>
        </p:txBody>
      </p:sp>
      <p:sp>
        <p:nvSpPr>
          <p:cNvPr id="6166"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pPr algn="l"/>
            <a:r>
              <a:rPr lang="en-US" altLang="en-US" sz="3200" b="1" dirty="0">
                <a:latin typeface="Liberation Sans" panose="020B0604020202020204" pitchFamily="34" charset="0"/>
              </a:rPr>
              <a:t>Merchandising Operations</a:t>
            </a:r>
          </a:p>
        </p:txBody>
      </p:sp>
      <p:sp>
        <p:nvSpPr>
          <p:cNvPr id="6167"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24"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1</a:t>
            </a: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16"/>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2895600" y="1374775"/>
            <a:ext cx="6096000" cy="487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1" name="Text Box 2"/>
          <p:cNvSpPr txBox="1">
            <a:spLocks noChangeArrowheads="1"/>
          </p:cNvSpPr>
          <p:nvPr/>
        </p:nvSpPr>
        <p:spPr bwMode="auto">
          <a:xfrm>
            <a:off x="381000" y="1295400"/>
            <a:ext cx="2362200" cy="343217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30000"/>
              </a:lnSpc>
              <a:spcBef>
                <a:spcPct val="50000"/>
              </a:spcBef>
            </a:pPr>
            <a:r>
              <a:rPr lang="en-US" altLang="en-US" sz="2100" dirty="0">
                <a:latin typeface="Liberation Sans" panose="020B0604020202020204" pitchFamily="34" charset="0"/>
                <a:cs typeface="Arial" panose="020B0604020202020204" pitchFamily="34" charset="0"/>
              </a:rPr>
              <a:t>The operating cycle of a </a:t>
            </a:r>
            <a:r>
              <a:rPr lang="en-US" altLang="en-US" sz="2100" b="1" dirty="0">
                <a:latin typeface="Liberation Sans" panose="020B0604020202020204" pitchFamily="34" charset="0"/>
                <a:cs typeface="Arial" panose="020B0604020202020204" pitchFamily="34" charset="0"/>
              </a:rPr>
              <a:t>merchandising company</a:t>
            </a:r>
            <a:r>
              <a:rPr lang="en-US" altLang="en-US" sz="2100" dirty="0">
                <a:latin typeface="Liberation Sans" panose="020B0604020202020204" pitchFamily="34" charset="0"/>
                <a:cs typeface="Arial" panose="020B0604020202020204" pitchFamily="34" charset="0"/>
              </a:rPr>
              <a:t> ordinarily is longer than that of a </a:t>
            </a:r>
            <a:r>
              <a:rPr lang="en-US" altLang="en-US" sz="2100" b="1" dirty="0">
                <a:latin typeface="Liberation Sans" panose="020B0604020202020204" pitchFamily="34" charset="0"/>
                <a:cs typeface="Arial" panose="020B0604020202020204" pitchFamily="34" charset="0"/>
              </a:rPr>
              <a:t>service company</a:t>
            </a:r>
            <a:r>
              <a:rPr lang="en-US" altLang="en-US" sz="2100" dirty="0">
                <a:latin typeface="Liberation Sans" panose="020B0604020202020204" pitchFamily="34" charset="0"/>
                <a:cs typeface="Arial" panose="020B0604020202020204" pitchFamily="34" charset="0"/>
              </a:rPr>
              <a:t>.</a:t>
            </a:r>
          </a:p>
        </p:txBody>
      </p:sp>
      <p:sp>
        <p:nvSpPr>
          <p:cNvPr id="7172" name="Text Box 10"/>
          <p:cNvSpPr txBox="1">
            <a:spLocks noChangeArrowheads="1"/>
          </p:cNvSpPr>
          <p:nvPr/>
        </p:nvSpPr>
        <p:spPr bwMode="auto">
          <a:xfrm>
            <a:off x="7391400" y="1265238"/>
            <a:ext cx="1295400" cy="274637"/>
          </a:xfrm>
          <a:prstGeom prst="rect">
            <a:avLst/>
          </a:prstGeom>
          <a:solidFill>
            <a:schemeClr val="bg1"/>
          </a:solidFill>
          <a:ln>
            <a:noFill/>
          </a:ln>
          <a:effectLst/>
          <a:extLs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1200" b="1" dirty="0">
                <a:latin typeface="Liberation Sans" panose="020B0604020202020204" pitchFamily="34" charset="0"/>
              </a:rPr>
              <a:t>Illustration 5-2</a:t>
            </a:r>
          </a:p>
        </p:txBody>
      </p:sp>
      <p:sp>
        <p:nvSpPr>
          <p:cNvPr id="7175"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solidFill>
                  <a:schemeClr val="tx2">
                    <a:lumMod val="75000"/>
                  </a:schemeClr>
                </a:solidFill>
                <a:latin typeface="Liberation Sans" panose="020B0604020202020204" pitchFamily="34" charset="0"/>
              </a:rPr>
              <a:t>Operating Cycles</a:t>
            </a:r>
          </a:p>
        </p:txBody>
      </p:sp>
      <p:sp>
        <p:nvSpPr>
          <p:cNvPr id="7176"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7177" name="Text Box 10"/>
          <p:cNvSpPr txBox="1">
            <a:spLocks noChangeArrowheads="1"/>
          </p:cNvSpPr>
          <p:nvPr/>
        </p:nvSpPr>
        <p:spPr bwMode="auto">
          <a:xfrm>
            <a:off x="1524000" y="5943600"/>
            <a:ext cx="1295400" cy="274638"/>
          </a:xfrm>
          <a:prstGeom prst="rect">
            <a:avLst/>
          </a:prstGeom>
          <a:solidFill>
            <a:schemeClr val="bg1"/>
          </a:solidFill>
          <a:ln>
            <a:noFill/>
          </a:ln>
          <a:effectLst/>
          <a:extLs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1200" b="1" dirty="0">
                <a:latin typeface="Liberation Sans" panose="020B0604020202020204" pitchFamily="34" charset="0"/>
              </a:rPr>
              <a:t>Illustration 5-3</a:t>
            </a:r>
          </a:p>
        </p:txBody>
      </p:sp>
      <p:sp>
        <p:nvSpPr>
          <p:cNvPr id="10"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1</a:t>
            </a:r>
          </a:p>
        </p:txBody>
      </p:sp>
    </p:spTree>
  </p:cSld>
  <p:clrMapOvr>
    <a:overrideClrMapping bg1="lt1" tx1="dk1" bg2="lt2" tx2="dk2" accent1="accent1" accent2="accent2" accent3="accent3" accent4="accent4" accent5="accent5" accent6="accent6" hlink="hlink" folHlink="folHlink"/>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028"/>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1143000" y="1443037"/>
            <a:ext cx="6781800" cy="381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6" name="Rectangle 7"/>
          <p:cNvSpPr>
            <a:spLocks noChangeArrowheads="1"/>
          </p:cNvSpPr>
          <p:nvPr/>
        </p:nvSpPr>
        <p:spPr bwMode="auto">
          <a:xfrm>
            <a:off x="609600" y="5454650"/>
            <a:ext cx="8305800" cy="832279"/>
          </a:xfrm>
          <a:prstGeom prst="rect">
            <a:avLst/>
          </a:prstGeom>
          <a:noFill/>
          <a:ln>
            <a:noFill/>
          </a:ln>
          <a:effectLst/>
          <a:extLst>
            <a:ext uri="{909E8E84-426E-40DD-AFC4-6F175D3DCCD1}">
              <a14:hiddenFill xmlns:a14="http://schemas.microsoft.com/office/drawing/2010/main">
                <a:solidFill>
                  <a:srgbClr val="FAEFB6"/>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pPr>
            <a:r>
              <a:rPr lang="en-US" altLang="en-US" sz="2100" dirty="0">
                <a:latin typeface="Liberation Sans" panose="020B0604020202020204" pitchFamily="34" charset="0"/>
              </a:rPr>
              <a:t>Companies use either a </a:t>
            </a:r>
            <a:r>
              <a:rPr lang="en-US" altLang="en-US" sz="2100" b="1" dirty="0">
                <a:latin typeface="Liberation Sans" panose="020B0604020202020204" pitchFamily="34" charset="0"/>
              </a:rPr>
              <a:t>perpetual inventory system </a:t>
            </a:r>
            <a:r>
              <a:rPr lang="en-US" altLang="en-US" sz="2100" dirty="0">
                <a:latin typeface="Liberation Sans" panose="020B0604020202020204" pitchFamily="34" charset="0"/>
              </a:rPr>
              <a:t>or a </a:t>
            </a:r>
            <a:r>
              <a:rPr lang="en-US" altLang="en-US" sz="2100" b="1" dirty="0">
                <a:latin typeface="Liberation Sans" panose="020B0604020202020204" pitchFamily="34" charset="0"/>
              </a:rPr>
              <a:t>periodic inventory system</a:t>
            </a:r>
            <a:r>
              <a:rPr lang="en-US" altLang="en-US" sz="2100" dirty="0">
                <a:latin typeface="Liberation Sans" panose="020B0604020202020204" pitchFamily="34" charset="0"/>
              </a:rPr>
              <a:t> to account for inventory.</a:t>
            </a:r>
          </a:p>
        </p:txBody>
      </p:sp>
      <p:sp>
        <p:nvSpPr>
          <p:cNvPr id="8198" name="Text Box 15"/>
          <p:cNvSpPr txBox="1">
            <a:spLocks noChangeArrowheads="1"/>
          </p:cNvSpPr>
          <p:nvPr/>
        </p:nvSpPr>
        <p:spPr bwMode="auto">
          <a:xfrm>
            <a:off x="6705600" y="1143000"/>
            <a:ext cx="1295400" cy="274637"/>
          </a:xfrm>
          <a:prstGeom prst="rect">
            <a:avLst/>
          </a:prstGeom>
          <a:solidFill>
            <a:schemeClr val="bg1"/>
          </a:solidFill>
          <a:ln>
            <a:noFill/>
          </a:ln>
          <a:effectLst/>
          <a:extLs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1200" b="1" dirty="0">
                <a:latin typeface="Liberation Sans" panose="020B0604020202020204" pitchFamily="34" charset="0"/>
              </a:rPr>
              <a:t>Illustration 5-4</a:t>
            </a:r>
          </a:p>
        </p:txBody>
      </p:sp>
      <p:sp>
        <p:nvSpPr>
          <p:cNvPr id="8199"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solidFill>
                  <a:schemeClr val="tx2">
                    <a:lumMod val="75000"/>
                  </a:schemeClr>
                </a:solidFill>
                <a:latin typeface="Liberation Sans" panose="020B0604020202020204" pitchFamily="34" charset="0"/>
              </a:rPr>
              <a:t>Flow of Costs</a:t>
            </a:r>
          </a:p>
        </p:txBody>
      </p:sp>
      <p:sp>
        <p:nvSpPr>
          <p:cNvPr id="8200"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9"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1</a:t>
            </a:r>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533400" y="1295400"/>
            <a:ext cx="48768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30000"/>
              </a:spcBef>
              <a:spcAft>
                <a:spcPct val="20000"/>
              </a:spcAft>
              <a:buSzPct val="80000"/>
            </a:pPr>
            <a:r>
              <a:rPr lang="en-US" altLang="en-US" sz="2800" b="1" dirty="0">
                <a:latin typeface="Liberation Sans" panose="020B0604020202020204" pitchFamily="34" charset="0"/>
              </a:rPr>
              <a:t>PERPETUAL SYSTEM</a:t>
            </a:r>
          </a:p>
        </p:txBody>
      </p:sp>
      <p:sp>
        <p:nvSpPr>
          <p:cNvPr id="9220" name="Rectangle 11"/>
          <p:cNvSpPr>
            <a:spLocks noChangeArrowheads="1"/>
          </p:cNvSpPr>
          <p:nvPr/>
        </p:nvSpPr>
        <p:spPr bwMode="auto">
          <a:xfrm>
            <a:off x="533400" y="1900237"/>
            <a:ext cx="7543800" cy="282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000">
                <a:solidFill>
                  <a:schemeClr val="tx1"/>
                </a:solidFill>
                <a:latin typeface="Comic Sans MS" panose="030F0702030302020204" pitchFamily="66" charset="0"/>
              </a:defRPr>
            </a:lvl1pPr>
            <a:lvl2pPr marL="68580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lvl="1" algn="l">
              <a:lnSpc>
                <a:spcPct val="125000"/>
              </a:lnSpc>
              <a:spcBef>
                <a:spcPts val="12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Maintain detailed records of the cost of each inventory purchase and sale.</a:t>
            </a:r>
          </a:p>
          <a:p>
            <a:pPr lvl="1" algn="l">
              <a:lnSpc>
                <a:spcPct val="125000"/>
              </a:lnSpc>
              <a:spcBef>
                <a:spcPts val="12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Records continuously show inventory that should be on hand for every item.</a:t>
            </a:r>
          </a:p>
          <a:p>
            <a:pPr lvl="1" algn="l">
              <a:lnSpc>
                <a:spcPct val="125000"/>
              </a:lnSpc>
              <a:spcBef>
                <a:spcPts val="12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Company determines cost of goods sold each time a sale occurs.</a:t>
            </a:r>
          </a:p>
        </p:txBody>
      </p:sp>
      <p:sp>
        <p:nvSpPr>
          <p:cNvPr id="9223"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8"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solidFill>
                  <a:schemeClr val="tx2">
                    <a:lumMod val="75000"/>
                  </a:schemeClr>
                </a:solidFill>
                <a:latin typeface="Liberation Sans" panose="020B0604020202020204" pitchFamily="34" charset="0"/>
              </a:rPr>
              <a:t>Flow of Costs</a:t>
            </a:r>
          </a:p>
        </p:txBody>
      </p:sp>
      <p:sp>
        <p:nvSpPr>
          <p:cNvPr id="9"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1</a:t>
            </a: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4"/>
          <p:cNvSpPr txBox="1">
            <a:spLocks noChangeArrowheads="1"/>
          </p:cNvSpPr>
          <p:nvPr/>
        </p:nvSpPr>
        <p:spPr bwMode="auto">
          <a:xfrm>
            <a:off x="533400" y="1905000"/>
            <a:ext cx="7391400" cy="200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000">
                <a:solidFill>
                  <a:schemeClr val="tx1"/>
                </a:solidFill>
                <a:latin typeface="Comic Sans MS" panose="030F0702030302020204" pitchFamily="66" charset="0"/>
              </a:defRPr>
            </a:lvl1pPr>
            <a:lvl2pPr marL="68580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lvl="1" algn="l">
              <a:lnSpc>
                <a:spcPct val="125000"/>
              </a:lnSpc>
              <a:spcBef>
                <a:spcPts val="12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Do not keep detailed records of the goods on hand.</a:t>
            </a:r>
          </a:p>
          <a:p>
            <a:pPr lvl="1" algn="l">
              <a:lnSpc>
                <a:spcPct val="125000"/>
              </a:lnSpc>
              <a:spcBef>
                <a:spcPts val="12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Cost of goods sold determined by count at the end of the accounting period.</a:t>
            </a:r>
          </a:p>
          <a:p>
            <a:pPr lvl="1" algn="l">
              <a:lnSpc>
                <a:spcPct val="125000"/>
              </a:lnSpc>
              <a:spcBef>
                <a:spcPts val="12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Calculation of Cost of Goods Sold:</a:t>
            </a:r>
          </a:p>
        </p:txBody>
      </p:sp>
      <p:sp>
        <p:nvSpPr>
          <p:cNvPr id="10243" name="Text Box 8"/>
          <p:cNvSpPr txBox="1">
            <a:spLocks noChangeArrowheads="1"/>
          </p:cNvSpPr>
          <p:nvPr/>
        </p:nvSpPr>
        <p:spPr bwMode="auto">
          <a:xfrm>
            <a:off x="1523365" y="4419600"/>
            <a:ext cx="6401435" cy="1786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tabLst>
                <a:tab pos="5832475" algn="r"/>
              </a:tabLst>
              <a:defRPr sz="2000">
                <a:solidFill>
                  <a:schemeClr val="tx1"/>
                </a:solidFill>
                <a:latin typeface="Comic Sans MS" panose="030F0702030302020204" pitchFamily="66" charset="0"/>
              </a:defRPr>
            </a:lvl1pPr>
            <a:lvl2pPr marL="742950" indent="-285750">
              <a:tabLst>
                <a:tab pos="5832475" algn="r"/>
              </a:tabLst>
              <a:defRPr sz="2000">
                <a:solidFill>
                  <a:schemeClr val="tx1"/>
                </a:solidFill>
                <a:latin typeface="Comic Sans MS" panose="030F0702030302020204" pitchFamily="66" charset="0"/>
              </a:defRPr>
            </a:lvl2pPr>
            <a:lvl3pPr marL="1143000" indent="-228600">
              <a:tabLst>
                <a:tab pos="5832475" algn="r"/>
              </a:tabLst>
              <a:defRPr sz="2000">
                <a:solidFill>
                  <a:schemeClr val="tx1"/>
                </a:solidFill>
                <a:latin typeface="Comic Sans MS" panose="030F0702030302020204" pitchFamily="66" charset="0"/>
              </a:defRPr>
            </a:lvl3pPr>
            <a:lvl4pPr marL="1600200" indent="-228600">
              <a:tabLst>
                <a:tab pos="5832475" algn="r"/>
              </a:tabLst>
              <a:defRPr sz="2000">
                <a:solidFill>
                  <a:schemeClr val="tx1"/>
                </a:solidFill>
                <a:latin typeface="Comic Sans MS" panose="030F0702030302020204" pitchFamily="66" charset="0"/>
              </a:defRPr>
            </a:lvl4pPr>
            <a:lvl5pPr marL="2057400" indent="-228600">
              <a:tabLst>
                <a:tab pos="5832475"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832475"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832475"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832475"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832475" algn="r"/>
              </a:tabLst>
              <a:defRPr sz="2000">
                <a:solidFill>
                  <a:schemeClr val="tx1"/>
                </a:solidFill>
                <a:latin typeface="Comic Sans MS" panose="030F0702030302020204" pitchFamily="66" charset="0"/>
              </a:defRPr>
            </a:lvl9pPr>
          </a:lstStyle>
          <a:p>
            <a:pPr algn="l">
              <a:spcBef>
                <a:spcPct val="20000"/>
              </a:spcBef>
              <a:buClr>
                <a:srgbClr val="800000"/>
              </a:buClr>
              <a:buSzPct val="95000"/>
            </a:pPr>
            <a:r>
              <a:rPr lang="en-US" altLang="en-US" sz="1900" dirty="0">
                <a:latin typeface="Liberation Sans" panose="020B0604020202020204" pitchFamily="34" charset="0"/>
              </a:rPr>
              <a:t>Beginning inventory	$ 100,000</a:t>
            </a:r>
          </a:p>
          <a:p>
            <a:pPr algn="l">
              <a:spcBef>
                <a:spcPct val="20000"/>
              </a:spcBef>
              <a:buClr>
                <a:srgbClr val="800000"/>
              </a:buClr>
              <a:buSzPct val="95000"/>
            </a:pPr>
            <a:r>
              <a:rPr lang="en-US" altLang="en-US" sz="1900" dirty="0">
                <a:latin typeface="Liberation Sans" panose="020B0604020202020204" pitchFamily="34" charset="0"/>
              </a:rPr>
              <a:t>Add: Purchases, net	800,000</a:t>
            </a:r>
          </a:p>
          <a:p>
            <a:pPr algn="l">
              <a:spcBef>
                <a:spcPct val="20000"/>
              </a:spcBef>
              <a:buClr>
                <a:srgbClr val="800000"/>
              </a:buClr>
              <a:buSzPct val="95000"/>
            </a:pPr>
            <a:r>
              <a:rPr lang="en-US" altLang="en-US" sz="1900" dirty="0">
                <a:latin typeface="Liberation Sans" panose="020B0604020202020204" pitchFamily="34" charset="0"/>
              </a:rPr>
              <a:t>Goods available for sale	900,000</a:t>
            </a:r>
          </a:p>
          <a:p>
            <a:pPr algn="l">
              <a:spcBef>
                <a:spcPct val="20000"/>
              </a:spcBef>
              <a:buClr>
                <a:srgbClr val="800000"/>
              </a:buClr>
              <a:buSzPct val="95000"/>
            </a:pPr>
            <a:r>
              <a:rPr lang="en-US" altLang="en-US" sz="1900" dirty="0">
                <a:latin typeface="Liberation Sans" panose="020B0604020202020204" pitchFamily="34" charset="0"/>
              </a:rPr>
              <a:t>Less: Ending inventory	125,000</a:t>
            </a:r>
          </a:p>
          <a:p>
            <a:pPr algn="l">
              <a:spcBef>
                <a:spcPct val="20000"/>
              </a:spcBef>
              <a:buClr>
                <a:srgbClr val="800000"/>
              </a:buClr>
              <a:buSzPct val="95000"/>
            </a:pPr>
            <a:r>
              <a:rPr lang="en-US" altLang="en-US" sz="1900" dirty="0">
                <a:latin typeface="Liberation Sans" panose="020B0604020202020204" pitchFamily="34" charset="0"/>
              </a:rPr>
              <a:t>Cost of goods sold	$ 775,000</a:t>
            </a:r>
          </a:p>
        </p:txBody>
      </p:sp>
      <p:sp>
        <p:nvSpPr>
          <p:cNvPr id="10244" name="Line 9"/>
          <p:cNvSpPr>
            <a:spLocks noChangeShapeType="1"/>
          </p:cNvSpPr>
          <p:nvPr/>
        </p:nvSpPr>
        <p:spPr bwMode="auto">
          <a:xfrm>
            <a:off x="5791200" y="4724400"/>
            <a:ext cx="144780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0245" name="Line 10"/>
          <p:cNvSpPr>
            <a:spLocks noChangeShapeType="1"/>
          </p:cNvSpPr>
          <p:nvPr/>
        </p:nvSpPr>
        <p:spPr bwMode="auto">
          <a:xfrm>
            <a:off x="5791200" y="5410200"/>
            <a:ext cx="144780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0246" name="Line 11"/>
          <p:cNvSpPr>
            <a:spLocks noChangeShapeType="1"/>
          </p:cNvSpPr>
          <p:nvPr/>
        </p:nvSpPr>
        <p:spPr bwMode="auto">
          <a:xfrm>
            <a:off x="5791200" y="5867400"/>
            <a:ext cx="144780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0247" name="Line 12"/>
          <p:cNvSpPr>
            <a:spLocks noChangeShapeType="1"/>
          </p:cNvSpPr>
          <p:nvPr/>
        </p:nvSpPr>
        <p:spPr bwMode="auto">
          <a:xfrm>
            <a:off x="5791200" y="5791200"/>
            <a:ext cx="144780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0250"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0251" name="Text Box 2"/>
          <p:cNvSpPr txBox="1">
            <a:spLocks noChangeArrowheads="1"/>
          </p:cNvSpPr>
          <p:nvPr/>
        </p:nvSpPr>
        <p:spPr bwMode="auto">
          <a:xfrm>
            <a:off x="533400" y="1295400"/>
            <a:ext cx="47244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457200" indent="-457200" algn="l">
              <a:spcBef>
                <a:spcPct val="30000"/>
              </a:spcBef>
              <a:spcAft>
                <a:spcPct val="20000"/>
              </a:spcAft>
              <a:buSzPct val="80000"/>
              <a:defRPr sz="2800" b="1">
                <a:solidFill>
                  <a:srgbClr val="006600"/>
                </a:solidFill>
                <a:latin typeface="Liberation Sans" panose="020B0604020202020204" pitchFamily="34" charset="0"/>
              </a:defRPr>
            </a:lvl1pPr>
            <a:lvl2pPr marL="742950" indent="-285750"/>
            <a:lvl3pPr marL="1143000" indent="-228600"/>
            <a:lvl4pPr marL="1600200" indent="-228600"/>
            <a:lvl5pPr marL="2057400" indent="-228600"/>
            <a:lvl6pPr marL="2514600" indent="-228600" algn="ctr" eaLnBrk="0" fontAlgn="base" hangingPunct="0">
              <a:spcBef>
                <a:spcPct val="0"/>
              </a:spcBef>
              <a:spcAft>
                <a:spcPct val="0"/>
              </a:spcAft>
            </a:lvl6pPr>
            <a:lvl7pPr marL="2971800" indent="-228600" algn="ctr" eaLnBrk="0" fontAlgn="base" hangingPunct="0">
              <a:spcBef>
                <a:spcPct val="0"/>
              </a:spcBef>
              <a:spcAft>
                <a:spcPct val="0"/>
              </a:spcAft>
            </a:lvl7pPr>
            <a:lvl8pPr marL="3429000" indent="-228600" algn="ctr" eaLnBrk="0" fontAlgn="base" hangingPunct="0">
              <a:spcBef>
                <a:spcPct val="0"/>
              </a:spcBef>
              <a:spcAft>
                <a:spcPct val="0"/>
              </a:spcAft>
            </a:lvl8pPr>
            <a:lvl9pPr marL="3886200" indent="-228600" algn="ctr" eaLnBrk="0" fontAlgn="base" hangingPunct="0">
              <a:spcBef>
                <a:spcPct val="0"/>
              </a:spcBef>
              <a:spcAft>
                <a:spcPct val="0"/>
              </a:spcAft>
            </a:lvl9pPr>
          </a:lstStyle>
          <a:p>
            <a:r>
              <a:rPr lang="en-US" altLang="en-US" dirty="0">
                <a:solidFill>
                  <a:schemeClr val="tx1"/>
                </a:solidFill>
              </a:rPr>
              <a:t>PERIODIC SYSTEM</a:t>
            </a:r>
          </a:p>
        </p:txBody>
      </p:sp>
      <p:sp>
        <p:nvSpPr>
          <p:cNvPr id="13"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solidFill>
                  <a:schemeClr val="tx2">
                    <a:lumMod val="75000"/>
                  </a:schemeClr>
                </a:solidFill>
                <a:latin typeface="Liberation Sans" panose="020B0604020202020204" pitchFamily="34" charset="0"/>
              </a:rPr>
              <a:t>Flow of Costs</a:t>
            </a:r>
          </a:p>
        </p:txBody>
      </p:sp>
      <p:sp>
        <p:nvSpPr>
          <p:cNvPr id="14"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1</a:t>
            </a: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533400" y="1905000"/>
            <a:ext cx="7696200" cy="2897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000">
                <a:solidFill>
                  <a:schemeClr val="tx1"/>
                </a:solidFill>
                <a:latin typeface="Comic Sans MS" panose="030F0702030302020204" pitchFamily="66" charset="0"/>
              </a:defRPr>
            </a:lvl1pPr>
            <a:lvl2pPr marL="68580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lvl="1" algn="l">
              <a:lnSpc>
                <a:spcPct val="125000"/>
              </a:lnSpc>
              <a:spcBef>
                <a:spcPts val="1200"/>
              </a:spcBef>
              <a:buClr>
                <a:srgbClr val="800000"/>
              </a:buClr>
              <a:buSzPct val="80000"/>
              <a:buFont typeface="Wingdings" panose="05000000000000000000" pitchFamily="2" charset="2"/>
              <a:buChar char="u"/>
            </a:pPr>
            <a:r>
              <a:rPr lang="en-US" altLang="en-US" sz="2200" dirty="0">
                <a:latin typeface="Liberation Sans" panose="020B0604020202020204" pitchFamily="34" charset="0"/>
              </a:rPr>
              <a:t>Traditionally used for merchandise with high unit values.</a:t>
            </a:r>
          </a:p>
          <a:p>
            <a:pPr lvl="1" algn="l">
              <a:lnSpc>
                <a:spcPct val="125000"/>
              </a:lnSpc>
              <a:spcBef>
                <a:spcPts val="1200"/>
              </a:spcBef>
              <a:buClr>
                <a:srgbClr val="800000"/>
              </a:buClr>
              <a:buSzPct val="80000"/>
              <a:buFont typeface="Wingdings" panose="05000000000000000000" pitchFamily="2" charset="2"/>
              <a:buChar char="u"/>
            </a:pPr>
            <a:r>
              <a:rPr lang="en-US" altLang="en-US" sz="2200" dirty="0">
                <a:latin typeface="Liberation Sans" panose="020B0604020202020204" pitchFamily="34" charset="0"/>
              </a:rPr>
              <a:t>Shows the quantity and cost of the inventory that should be on hand at any time.</a:t>
            </a:r>
          </a:p>
          <a:p>
            <a:pPr lvl="1" algn="l">
              <a:lnSpc>
                <a:spcPct val="125000"/>
              </a:lnSpc>
              <a:spcBef>
                <a:spcPts val="1200"/>
              </a:spcBef>
              <a:buClr>
                <a:srgbClr val="800000"/>
              </a:buClr>
              <a:buSzPct val="80000"/>
              <a:buFont typeface="Wingdings" panose="05000000000000000000" pitchFamily="2" charset="2"/>
              <a:buChar char="u"/>
            </a:pPr>
            <a:r>
              <a:rPr lang="en-US" altLang="en-US" sz="2200" dirty="0">
                <a:latin typeface="Liberation Sans" panose="020B0604020202020204" pitchFamily="34" charset="0"/>
              </a:rPr>
              <a:t>Provides better control over inventories than a periodic system.</a:t>
            </a:r>
          </a:p>
        </p:txBody>
      </p:sp>
      <p:sp>
        <p:nvSpPr>
          <p:cNvPr id="11269" name="Text Box 16"/>
          <p:cNvSpPr txBox="1">
            <a:spLocks noChangeArrowheads="1"/>
          </p:cNvSpPr>
          <p:nvPr/>
        </p:nvSpPr>
        <p:spPr bwMode="auto">
          <a:xfrm>
            <a:off x="533400" y="1295400"/>
            <a:ext cx="81534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457200" indent="-457200" algn="l">
              <a:spcBef>
                <a:spcPct val="30000"/>
              </a:spcBef>
              <a:spcAft>
                <a:spcPct val="20000"/>
              </a:spcAft>
              <a:buSzPct val="80000"/>
              <a:defRPr sz="2800" b="1">
                <a:solidFill>
                  <a:srgbClr val="006600"/>
                </a:solidFill>
                <a:latin typeface="Liberation Sans" panose="020B0604020202020204" pitchFamily="34" charset="0"/>
              </a:defRPr>
            </a:lvl1pPr>
            <a:lvl2pPr marL="742950" indent="-285750"/>
            <a:lvl3pPr marL="1143000" indent="-228600"/>
            <a:lvl4pPr marL="1600200" indent="-228600"/>
            <a:lvl5pPr marL="2057400" indent="-228600"/>
            <a:lvl6pPr marL="2514600" indent="-228600" algn="ctr" eaLnBrk="0" fontAlgn="base" hangingPunct="0">
              <a:spcBef>
                <a:spcPct val="0"/>
              </a:spcBef>
              <a:spcAft>
                <a:spcPct val="0"/>
              </a:spcAft>
            </a:lvl6pPr>
            <a:lvl7pPr marL="2971800" indent="-228600" algn="ctr" eaLnBrk="0" fontAlgn="base" hangingPunct="0">
              <a:spcBef>
                <a:spcPct val="0"/>
              </a:spcBef>
              <a:spcAft>
                <a:spcPct val="0"/>
              </a:spcAft>
            </a:lvl7pPr>
            <a:lvl8pPr marL="3429000" indent="-228600" algn="ctr" eaLnBrk="0" fontAlgn="base" hangingPunct="0">
              <a:spcBef>
                <a:spcPct val="0"/>
              </a:spcBef>
              <a:spcAft>
                <a:spcPct val="0"/>
              </a:spcAft>
            </a:lvl8pPr>
            <a:lvl9pPr marL="3886200" indent="-228600" algn="ctr" eaLnBrk="0" fontAlgn="base" hangingPunct="0">
              <a:spcBef>
                <a:spcPct val="0"/>
              </a:spcBef>
              <a:spcAft>
                <a:spcPct val="0"/>
              </a:spcAft>
            </a:lvl9pPr>
          </a:lstStyle>
          <a:p>
            <a:r>
              <a:rPr lang="en-US" altLang="en-US" dirty="0">
                <a:solidFill>
                  <a:schemeClr val="tx1"/>
                </a:solidFill>
              </a:rPr>
              <a:t>ADVANTAGES OF THE PERPETUAL SYSTEM</a:t>
            </a:r>
          </a:p>
        </p:txBody>
      </p:sp>
      <p:sp>
        <p:nvSpPr>
          <p:cNvPr id="11271"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8"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solidFill>
                  <a:schemeClr val="tx2">
                    <a:lumMod val="75000"/>
                  </a:schemeClr>
                </a:solidFill>
                <a:latin typeface="Liberation Sans" panose="020B0604020202020204" pitchFamily="34" charset="0"/>
              </a:rPr>
              <a:t>Flow of Costs</a:t>
            </a:r>
          </a:p>
        </p:txBody>
      </p:sp>
      <p:sp>
        <p:nvSpPr>
          <p:cNvPr id="9"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1</a:t>
            </a: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1</a:t>
            </a:r>
          </a:p>
        </p:txBody>
      </p:sp>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440481"/>
            <a:ext cx="8534400" cy="4274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 y="628650"/>
            <a:ext cx="3314700" cy="742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609600" y="1483412"/>
            <a:ext cx="6629400" cy="532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30000"/>
              </a:lnSpc>
              <a:spcBef>
                <a:spcPct val="40000"/>
              </a:spcBef>
              <a:spcAft>
                <a:spcPct val="20000"/>
              </a:spcAft>
              <a:buClr>
                <a:srgbClr val="800000"/>
              </a:buClr>
              <a:buSzPct val="80000"/>
              <a:buFont typeface="Wingdings" panose="05000000000000000000" pitchFamily="2" charset="2"/>
              <a:buChar char="u"/>
            </a:pPr>
            <a:r>
              <a:rPr lang="en-US" altLang="en-US" sz="2200" dirty="0">
                <a:latin typeface="Liberation Sans" panose="020B0604020202020204" pitchFamily="34" charset="0"/>
              </a:rPr>
              <a:t>Made using </a:t>
            </a:r>
            <a:r>
              <a:rPr lang="en-US" altLang="en-US" sz="2200" b="1" dirty="0">
                <a:latin typeface="Liberation Sans" panose="020B0604020202020204" pitchFamily="34" charset="0"/>
              </a:rPr>
              <a:t>cash or credit</a:t>
            </a:r>
            <a:r>
              <a:rPr lang="en-US" altLang="en-US" sz="2200" dirty="0">
                <a:latin typeface="Liberation Sans" panose="020B0604020202020204" pitchFamily="34" charset="0"/>
              </a:rPr>
              <a:t> (on account).</a:t>
            </a:r>
          </a:p>
        </p:txBody>
      </p:sp>
      <p:sp>
        <p:nvSpPr>
          <p:cNvPr id="13316" name="Text Box 15"/>
          <p:cNvSpPr txBox="1">
            <a:spLocks noChangeArrowheads="1"/>
          </p:cNvSpPr>
          <p:nvPr/>
        </p:nvSpPr>
        <p:spPr bwMode="auto">
          <a:xfrm>
            <a:off x="609600" y="2169212"/>
            <a:ext cx="3886200" cy="2936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30000"/>
              </a:lnSpc>
              <a:spcBef>
                <a:spcPct val="40000"/>
              </a:spcBef>
              <a:spcAft>
                <a:spcPct val="20000"/>
              </a:spcAft>
              <a:buClr>
                <a:srgbClr val="800000"/>
              </a:buClr>
              <a:buSzPct val="80000"/>
              <a:buFont typeface="Wingdings" panose="05000000000000000000" pitchFamily="2" charset="2"/>
              <a:buChar char="u"/>
            </a:pPr>
            <a:r>
              <a:rPr lang="en-US" altLang="en-US" sz="2200" dirty="0">
                <a:latin typeface="Liberation Sans" panose="020B0604020202020204" pitchFamily="34" charset="0"/>
              </a:rPr>
              <a:t>Normally </a:t>
            </a:r>
            <a:r>
              <a:rPr lang="en-US" altLang="en-US" sz="2200" b="1" dirty="0">
                <a:latin typeface="Liberation Sans" panose="020B0604020202020204" pitchFamily="34" charset="0"/>
              </a:rPr>
              <a:t>record when </a:t>
            </a:r>
            <a:r>
              <a:rPr lang="en-US" altLang="en-US" sz="2200" dirty="0">
                <a:latin typeface="Liberation Sans" panose="020B0604020202020204" pitchFamily="34" charset="0"/>
              </a:rPr>
              <a:t>goods are received from the seller.</a:t>
            </a:r>
          </a:p>
          <a:p>
            <a:pPr algn="l">
              <a:lnSpc>
                <a:spcPct val="130000"/>
              </a:lnSpc>
              <a:spcBef>
                <a:spcPct val="40000"/>
              </a:spcBef>
              <a:spcAft>
                <a:spcPct val="20000"/>
              </a:spcAft>
              <a:buClr>
                <a:srgbClr val="800000"/>
              </a:buClr>
              <a:buSzPct val="80000"/>
              <a:buFont typeface="Wingdings" panose="05000000000000000000" pitchFamily="2" charset="2"/>
              <a:buChar char="u"/>
            </a:pPr>
            <a:r>
              <a:rPr lang="en-US" altLang="en-US" sz="2200" b="1" dirty="0">
                <a:solidFill>
                  <a:srgbClr val="000066"/>
                </a:solidFill>
                <a:latin typeface="Liberation Sans" panose="020B0604020202020204" pitchFamily="34" charset="0"/>
              </a:rPr>
              <a:t>Purchase invoice</a:t>
            </a:r>
            <a:r>
              <a:rPr lang="en-US" altLang="en-US" sz="2200" dirty="0">
                <a:latin typeface="Liberation Sans" panose="020B0604020202020204" pitchFamily="34" charset="0"/>
              </a:rPr>
              <a:t> should support each credit purchase.</a:t>
            </a:r>
          </a:p>
        </p:txBody>
      </p:sp>
      <p:sp>
        <p:nvSpPr>
          <p:cNvPr id="9" name="Rectangle 8"/>
          <p:cNvSpPr>
            <a:spLocks noChangeArrowheads="1"/>
          </p:cNvSpPr>
          <p:nvPr/>
        </p:nvSpPr>
        <p:spPr bwMode="auto">
          <a:xfrm>
            <a:off x="290286" y="405765"/>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solidFill>
                  <a:schemeClr val="tx1"/>
                </a:solidFill>
                <a:latin typeface="Liberation Sans" panose="020B0604020202020204" pitchFamily="34" charset="0"/>
              </a:rPr>
              <a:t>LEARNING</a:t>
            </a:r>
          </a:p>
          <a:p>
            <a:pPr algn="l"/>
            <a:r>
              <a:rPr lang="en-US" altLang="en-US" sz="1700" b="1" dirty="0">
                <a:solidFill>
                  <a:schemeClr val="tx1"/>
                </a:solidFill>
                <a:latin typeface="Liberation Sans" panose="020B0604020202020204" pitchFamily="34" charset="0"/>
              </a:rPr>
              <a:t>OBJECTIVE</a:t>
            </a:r>
          </a:p>
        </p:txBody>
      </p:sp>
      <p:sp>
        <p:nvSpPr>
          <p:cNvPr id="10" name="Rectangle 5"/>
          <p:cNvSpPr>
            <a:spLocks noChangeArrowheads="1"/>
          </p:cNvSpPr>
          <p:nvPr/>
        </p:nvSpPr>
        <p:spPr bwMode="auto">
          <a:xfrm>
            <a:off x="2540000" y="274320"/>
            <a:ext cx="6241143" cy="928688"/>
          </a:xfrm>
          <a:prstGeom prst="rect">
            <a:avLst/>
          </a:prstGeom>
          <a:solidFill>
            <a:srgbClr val="0027A4"/>
          </a:solidFill>
          <a:ln>
            <a:noFill/>
          </a:ln>
          <a:effectLst/>
        </p:spPr>
        <p:txBody>
          <a:bodyPr wrap="square" lIns="86493" tIns="27432" rIns="86493" bIns="43247" anchor="ctr"/>
          <a:lstStyle/>
          <a:p>
            <a:pPr marL="111125" algn="l"/>
            <a:r>
              <a:rPr lang="en-US" sz="2400" b="1" dirty="0">
                <a:solidFill>
                  <a:schemeClr val="accent3"/>
                </a:solidFill>
                <a:latin typeface="Liberation Sans" panose="020B0604020202020204" pitchFamily="34" charset="0"/>
              </a:rPr>
              <a:t>Record purchases under a perpetual inventory system.</a:t>
            </a:r>
          </a:p>
        </p:txBody>
      </p:sp>
      <p:sp>
        <p:nvSpPr>
          <p:cNvPr id="11" name="Oval 10"/>
          <p:cNvSpPr/>
          <p:nvPr/>
        </p:nvSpPr>
        <p:spPr bwMode="auto">
          <a:xfrm>
            <a:off x="1872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2</a:t>
            </a:r>
          </a:p>
        </p:txBody>
      </p:sp>
      <p:sp>
        <p:nvSpPr>
          <p:cNvPr id="2" name="Rectangle 1"/>
          <p:cNvSpPr/>
          <p:nvPr/>
        </p:nvSpPr>
        <p:spPr>
          <a:xfrm>
            <a:off x="2286000" y="5715000"/>
            <a:ext cx="2388033" cy="646331"/>
          </a:xfrm>
          <a:prstGeom prst="rect">
            <a:avLst/>
          </a:prstGeom>
        </p:spPr>
        <p:txBody>
          <a:bodyPr wrap="square">
            <a:spAutoFit/>
          </a:bodyPr>
          <a:lstStyle/>
          <a:p>
            <a:pPr algn="l"/>
            <a:r>
              <a:rPr lang="en-US" sz="1200" b="1" dirty="0">
                <a:latin typeface="Liberation Sans" panose="020B0604020202020204" pitchFamily="34" charset="0"/>
              </a:rPr>
              <a:t>Illustration 5-6</a:t>
            </a:r>
          </a:p>
          <a:p>
            <a:pPr algn="l"/>
            <a:r>
              <a:rPr lang="en-US" sz="1200" dirty="0">
                <a:latin typeface="Liberation Sans" panose="020B0604020202020204" pitchFamily="34" charset="0"/>
              </a:rPr>
              <a:t>Sales invoice used as purchase</a:t>
            </a:r>
          </a:p>
          <a:p>
            <a:pPr algn="l"/>
            <a:r>
              <a:rPr lang="en-US" sz="1200" dirty="0">
                <a:latin typeface="Liberation Sans" panose="020B0604020202020204" pitchFamily="34" charset="0"/>
              </a:rPr>
              <a:t>invoice by Sauk Stereo</a:t>
            </a:r>
          </a:p>
        </p:txBody>
      </p:sp>
      <p:pic>
        <p:nvPicPr>
          <p:cNvPr id="13321" name="Picture 9"/>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4733261" y="2143664"/>
            <a:ext cx="4029739" cy="4217667"/>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Lst>
        </p:spPr>
      </p:pic>
      <p:sp>
        <p:nvSpPr>
          <p:cNvPr id="14"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3"/>
          <p:cNvSpPr txBox="1">
            <a:spLocks noChangeArrowheads="1"/>
          </p:cNvSpPr>
          <p:nvPr/>
        </p:nvSpPr>
        <p:spPr bwMode="auto">
          <a:xfrm>
            <a:off x="533400" y="1295400"/>
            <a:ext cx="4343400" cy="3613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30000"/>
              </a:lnSpc>
            </a:pPr>
            <a:r>
              <a:rPr lang="en-US" altLang="en-US" sz="2200" b="1" dirty="0">
                <a:latin typeface="Liberation Sans" panose="020B0604020202020204" pitchFamily="34" charset="0"/>
              </a:rPr>
              <a:t>Illustration:  </a:t>
            </a:r>
            <a:r>
              <a:rPr lang="en-US" altLang="en-US" sz="2200" dirty="0">
                <a:latin typeface="Liberation Sans" panose="020B0604020202020204" pitchFamily="34" charset="0"/>
              </a:rPr>
              <a:t>Sauk Stereo (the buyer) uses as a purchase invoice the sales invoice prepared by PW Audio Supply, Inc. (the seller).  </a:t>
            </a:r>
            <a:r>
              <a:rPr lang="en-US" altLang="en-US" sz="2200" b="1" dirty="0">
                <a:latin typeface="Liberation Sans" panose="020B0604020202020204" pitchFamily="34" charset="0"/>
              </a:rPr>
              <a:t>Prepare the journal entry</a:t>
            </a:r>
            <a:r>
              <a:rPr lang="en-US" altLang="en-US" sz="2200" dirty="0">
                <a:latin typeface="Liberation Sans" panose="020B0604020202020204" pitchFamily="34" charset="0"/>
              </a:rPr>
              <a:t> for Sauk Stereo for the invoice from PW Audio Supply.</a:t>
            </a:r>
          </a:p>
        </p:txBody>
      </p:sp>
      <p:sp>
        <p:nvSpPr>
          <p:cNvPr id="719876" name="Text Box 4"/>
          <p:cNvSpPr txBox="1">
            <a:spLocks noChangeArrowheads="1"/>
          </p:cNvSpPr>
          <p:nvPr/>
        </p:nvSpPr>
        <p:spPr bwMode="auto">
          <a:xfrm>
            <a:off x="1981200" y="5257800"/>
            <a:ext cx="6400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800600" algn="r"/>
              </a:tabLst>
              <a:defRPr sz="2000">
                <a:solidFill>
                  <a:schemeClr val="tx1"/>
                </a:solidFill>
                <a:latin typeface="Comic Sans MS" panose="030F0702030302020204" pitchFamily="66" charset="0"/>
              </a:defRPr>
            </a:lvl1pPr>
            <a:lvl2pPr marL="742950" indent="-285750">
              <a:tabLst>
                <a:tab pos="4800600" algn="r"/>
              </a:tabLst>
              <a:defRPr sz="2000">
                <a:solidFill>
                  <a:schemeClr val="tx1"/>
                </a:solidFill>
                <a:latin typeface="Comic Sans MS" panose="030F0702030302020204" pitchFamily="66" charset="0"/>
              </a:defRPr>
            </a:lvl2pPr>
            <a:lvl3pPr marL="1143000" indent="-228600">
              <a:tabLst>
                <a:tab pos="4800600" algn="r"/>
              </a:tabLst>
              <a:defRPr sz="2000">
                <a:solidFill>
                  <a:schemeClr val="tx1"/>
                </a:solidFill>
                <a:latin typeface="Comic Sans MS" panose="030F0702030302020204" pitchFamily="66" charset="0"/>
              </a:defRPr>
            </a:lvl3pPr>
            <a:lvl4pPr marL="1600200" indent="-228600">
              <a:tabLst>
                <a:tab pos="4800600" algn="r"/>
              </a:tabLst>
              <a:defRPr sz="2000">
                <a:solidFill>
                  <a:schemeClr val="tx1"/>
                </a:solidFill>
                <a:latin typeface="Comic Sans MS" panose="030F0702030302020204" pitchFamily="66" charset="0"/>
              </a:defRPr>
            </a:lvl4pPr>
            <a:lvl5pPr marL="2057400" indent="-228600">
              <a:tabLst>
                <a:tab pos="48006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8006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8006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8006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8006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Inventory	3,800</a:t>
            </a:r>
          </a:p>
        </p:txBody>
      </p:sp>
      <p:sp>
        <p:nvSpPr>
          <p:cNvPr id="14340" name="Text Box 5"/>
          <p:cNvSpPr txBox="1">
            <a:spLocks noChangeArrowheads="1"/>
          </p:cNvSpPr>
          <p:nvPr/>
        </p:nvSpPr>
        <p:spPr bwMode="auto">
          <a:xfrm>
            <a:off x="685800" y="5257800"/>
            <a:ext cx="15240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4</a:t>
            </a:r>
          </a:p>
        </p:txBody>
      </p:sp>
      <p:sp>
        <p:nvSpPr>
          <p:cNvPr id="719878" name="Text Box 6"/>
          <p:cNvSpPr txBox="1">
            <a:spLocks noChangeArrowheads="1"/>
          </p:cNvSpPr>
          <p:nvPr/>
        </p:nvSpPr>
        <p:spPr bwMode="auto">
          <a:xfrm>
            <a:off x="1981200" y="5715000"/>
            <a:ext cx="6400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6109970" algn="r"/>
              </a:tabLst>
              <a:defRPr sz="2000">
                <a:solidFill>
                  <a:schemeClr val="tx1"/>
                </a:solidFill>
                <a:latin typeface="Comic Sans MS" panose="030F0702030302020204" pitchFamily="66" charset="0"/>
              </a:defRPr>
            </a:lvl1pPr>
            <a:lvl2pPr marL="742950" indent="-285750">
              <a:tabLst>
                <a:tab pos="4744720" algn="r"/>
                <a:tab pos="6109970" algn="r"/>
              </a:tabLst>
              <a:defRPr sz="2000">
                <a:solidFill>
                  <a:schemeClr val="tx1"/>
                </a:solidFill>
                <a:latin typeface="Comic Sans MS" panose="030F0702030302020204" pitchFamily="66" charset="0"/>
              </a:defRPr>
            </a:lvl2pPr>
            <a:lvl3pPr marL="1143000" indent="-228600">
              <a:tabLst>
                <a:tab pos="4744720" algn="r"/>
                <a:tab pos="6109970" algn="r"/>
              </a:tabLst>
              <a:defRPr sz="2000">
                <a:solidFill>
                  <a:schemeClr val="tx1"/>
                </a:solidFill>
                <a:latin typeface="Comic Sans MS" panose="030F0702030302020204" pitchFamily="66" charset="0"/>
              </a:defRPr>
            </a:lvl3pPr>
            <a:lvl4pPr marL="1600200" indent="-228600">
              <a:tabLst>
                <a:tab pos="4744720" algn="r"/>
                <a:tab pos="6109970" algn="r"/>
              </a:tabLst>
              <a:defRPr sz="2000">
                <a:solidFill>
                  <a:schemeClr val="tx1"/>
                </a:solidFill>
                <a:latin typeface="Comic Sans MS" panose="030F0702030302020204" pitchFamily="66" charset="0"/>
              </a:defRPr>
            </a:lvl4pPr>
            <a:lvl5pPr marL="2057400" indent="-228600">
              <a:tabLst>
                <a:tab pos="4744720" algn="r"/>
                <a:tab pos="610997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Accounts Payable  		3,800</a:t>
            </a:r>
          </a:p>
        </p:txBody>
      </p:sp>
      <p:sp>
        <p:nvSpPr>
          <p:cNvPr id="14343" name="Text Box 18"/>
          <p:cNvSpPr txBox="1">
            <a:spLocks noChangeArrowheads="1"/>
          </p:cNvSpPr>
          <p:nvPr/>
        </p:nvSpPr>
        <p:spPr bwMode="auto">
          <a:xfrm>
            <a:off x="7391400" y="1219200"/>
            <a:ext cx="1371600" cy="2444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r>
              <a:rPr lang="en-US" altLang="en-US" sz="1000" b="1" dirty="0">
                <a:latin typeface="Liberation Sans" panose="020B0604020202020204" pitchFamily="34" charset="0"/>
              </a:rPr>
              <a:t>Illustration 5-6</a:t>
            </a:r>
          </a:p>
        </p:txBody>
      </p:sp>
      <p:sp>
        <p:nvSpPr>
          <p:cNvPr id="14345" name="Rectangle 10"/>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latin typeface="Liberation Sans" panose="020B0604020202020204" pitchFamily="34" charset="0"/>
              </a:rPr>
              <a:t>Recording Purchases of Merchandise</a:t>
            </a:r>
          </a:p>
        </p:txBody>
      </p:sp>
      <p:sp>
        <p:nvSpPr>
          <p:cNvPr id="14346"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11" name="Picture 9"/>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5350793" y="1524000"/>
            <a:ext cx="3412207" cy="3571336"/>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Lst>
        </p:spPr>
      </p:pic>
      <p:sp>
        <p:nvSpPr>
          <p:cNvPr id="12"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9876"/>
                                        </p:tgtEl>
                                        <p:attrNameLst>
                                          <p:attrName>style.visibility</p:attrName>
                                        </p:attrNameLst>
                                      </p:cBhvr>
                                      <p:to>
                                        <p:strVal val="visible"/>
                                      </p:to>
                                    </p:set>
                                    <p:animEffect transition="in" filter="wipe(left)">
                                      <p:cBhvr>
                                        <p:cTn id="7" dur="500"/>
                                        <p:tgtEl>
                                          <p:spTgt spid="7198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9878"/>
                                        </p:tgtEl>
                                        <p:attrNameLst>
                                          <p:attrName>style.visibility</p:attrName>
                                        </p:attrNameLst>
                                      </p:cBhvr>
                                      <p:to>
                                        <p:strVal val="visible"/>
                                      </p:to>
                                    </p:set>
                                    <p:animEffect transition="in" filter="wipe(left)">
                                      <p:cBhvr>
                                        <p:cTn id="12" dur="500"/>
                                        <p:tgtEl>
                                          <p:spTgt spid="719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876" grpId="0" autoUpdateAnimBg="0"/>
      <p:bldP spid="71987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p:cNvSpPr>
            <a:spLocks noChangeArrowheads="1"/>
          </p:cNvSpPr>
          <p:nvPr/>
        </p:nvSpPr>
        <p:spPr bwMode="auto">
          <a:xfrm rot="16200000">
            <a:off x="4572000" y="4262438"/>
            <a:ext cx="381000" cy="381000"/>
          </a:xfrm>
          <a:prstGeom prst="downArrow">
            <a:avLst>
              <a:gd name="adj1" fmla="val 50000"/>
              <a:gd name="adj2" fmla="val 25000"/>
            </a:avLst>
          </a:prstGeom>
          <a:solidFill>
            <a:srgbClr val="8000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15363" name="Text Box 4"/>
          <p:cNvSpPr txBox="1">
            <a:spLocks noChangeArrowheads="1"/>
          </p:cNvSpPr>
          <p:nvPr/>
        </p:nvSpPr>
        <p:spPr bwMode="auto">
          <a:xfrm>
            <a:off x="228600" y="5472113"/>
            <a:ext cx="1371600" cy="4572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1200" b="1" dirty="0">
                <a:latin typeface="Liberation Sans" panose="020B0604020202020204" pitchFamily="34" charset="0"/>
              </a:rPr>
              <a:t>Illustration 5-7 </a:t>
            </a:r>
            <a:r>
              <a:rPr lang="en-US" altLang="en-US" sz="1200" dirty="0">
                <a:latin typeface="Liberation Sans" panose="020B0604020202020204" pitchFamily="34" charset="0"/>
              </a:rPr>
              <a:t>Shipping terms</a:t>
            </a:r>
          </a:p>
        </p:txBody>
      </p:sp>
      <p:sp>
        <p:nvSpPr>
          <p:cNvPr id="15364" name="Rectangle 5"/>
          <p:cNvSpPr>
            <a:spLocks noChangeArrowheads="1"/>
          </p:cNvSpPr>
          <p:nvPr/>
        </p:nvSpPr>
        <p:spPr bwMode="auto">
          <a:xfrm>
            <a:off x="5029200" y="1600200"/>
            <a:ext cx="3733800" cy="1530350"/>
          </a:xfrm>
          <a:prstGeom prst="rect">
            <a:avLst/>
          </a:prstGeom>
          <a:noFill/>
          <a:ln w="28575" cap="sq" algn="ctr">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nSpc>
                <a:spcPct val="110000"/>
              </a:lnSpc>
              <a:spcBef>
                <a:spcPct val="50000"/>
              </a:spcBef>
            </a:pPr>
            <a:r>
              <a:rPr lang="en-US" altLang="en-US" sz="2100" dirty="0">
                <a:solidFill>
                  <a:srgbClr val="000000"/>
                </a:solidFill>
                <a:latin typeface="Liberation Sans" panose="020B0604020202020204" pitchFamily="34" charset="0"/>
              </a:rPr>
              <a:t>Ownership of the goods passes to the buyer when the public carrier accepts the goods from the seller.</a:t>
            </a:r>
          </a:p>
        </p:txBody>
      </p:sp>
      <p:sp>
        <p:nvSpPr>
          <p:cNvPr id="15365" name="Rectangle 6"/>
          <p:cNvSpPr>
            <a:spLocks noChangeArrowheads="1"/>
          </p:cNvSpPr>
          <p:nvPr/>
        </p:nvSpPr>
        <p:spPr bwMode="auto">
          <a:xfrm>
            <a:off x="5029200" y="3881438"/>
            <a:ext cx="3733800" cy="1177925"/>
          </a:xfrm>
          <a:prstGeom prst="rect">
            <a:avLst/>
          </a:prstGeom>
          <a:noFill/>
          <a:ln w="28575" cap="sq" algn="ctr">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nSpc>
                <a:spcPct val="110000"/>
              </a:lnSpc>
              <a:spcBef>
                <a:spcPct val="50000"/>
              </a:spcBef>
            </a:pPr>
            <a:r>
              <a:rPr lang="en-US" altLang="en-US" sz="2100" dirty="0">
                <a:solidFill>
                  <a:srgbClr val="000000"/>
                </a:solidFill>
                <a:latin typeface="Liberation Sans" panose="020B0604020202020204" pitchFamily="34" charset="0"/>
              </a:rPr>
              <a:t>Ownership of the goods remains with the seller until the goods reach the buyer.</a:t>
            </a:r>
          </a:p>
        </p:txBody>
      </p:sp>
      <p:sp>
        <p:nvSpPr>
          <p:cNvPr id="15366" name="AutoShape 7"/>
          <p:cNvSpPr>
            <a:spLocks noChangeArrowheads="1"/>
          </p:cNvSpPr>
          <p:nvPr/>
        </p:nvSpPr>
        <p:spPr bwMode="auto">
          <a:xfrm rot="16200000">
            <a:off x="4572000" y="2209800"/>
            <a:ext cx="381000" cy="381000"/>
          </a:xfrm>
          <a:prstGeom prst="downArrow">
            <a:avLst>
              <a:gd name="adj1" fmla="val 50000"/>
              <a:gd name="adj2" fmla="val 25000"/>
            </a:avLst>
          </a:prstGeom>
          <a:solidFill>
            <a:srgbClr val="8000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15368" name="Rectangle 11"/>
          <p:cNvSpPr>
            <a:spLocks noChangeArrowheads="1"/>
          </p:cNvSpPr>
          <p:nvPr/>
        </p:nvSpPr>
        <p:spPr bwMode="auto">
          <a:xfrm>
            <a:off x="3276600" y="5700713"/>
            <a:ext cx="4876800" cy="646331"/>
          </a:xfrm>
          <a:prstGeom prst="rect">
            <a:avLst/>
          </a:prstGeom>
          <a:solidFill>
            <a:srgbClr val="FAEFB6"/>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800" dirty="0">
                <a:latin typeface="Liberation Sans" panose="020B0604020202020204" pitchFamily="34" charset="0"/>
              </a:rPr>
              <a:t>Freight costs incurred by the seller are an </a:t>
            </a:r>
            <a:r>
              <a:rPr lang="en-US" altLang="en-US" sz="1800" b="1" dirty="0">
                <a:latin typeface="Liberation Sans" panose="020B0604020202020204" pitchFamily="34" charset="0"/>
              </a:rPr>
              <a:t>operating expense</a:t>
            </a:r>
            <a:r>
              <a:rPr lang="en-US" altLang="en-US" sz="1800" dirty="0">
                <a:latin typeface="Liberation Sans" panose="020B0604020202020204" pitchFamily="34" charset="0"/>
              </a:rPr>
              <a:t>.</a:t>
            </a:r>
          </a:p>
        </p:txBody>
      </p:sp>
      <p:pic>
        <p:nvPicPr>
          <p:cNvPr id="15369" name="Picture 17"/>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304800" y="3500438"/>
            <a:ext cx="4267200" cy="1900237"/>
          </a:xfrm>
          <a:prstGeom prst="rect">
            <a:avLst/>
          </a:prstGeom>
          <a:noFill/>
          <a:ln w="28575" cap="sq" algn="ctr">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70" name="Picture 18"/>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304800" y="1447800"/>
            <a:ext cx="4267200" cy="1900238"/>
          </a:xfrm>
          <a:prstGeom prst="rect">
            <a:avLst/>
          </a:prstGeom>
          <a:noFill/>
          <a:ln w="28575" cap="sq" algn="ctr">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72" name="Rectangle 13"/>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solidFill>
                  <a:schemeClr val="tx2">
                    <a:lumMod val="75000"/>
                  </a:schemeClr>
                </a:solidFill>
                <a:latin typeface="Liberation Sans" panose="020B0604020202020204" pitchFamily="34" charset="0"/>
              </a:rPr>
              <a:t>Freight Costs</a:t>
            </a:r>
          </a:p>
        </p:txBody>
      </p:sp>
      <p:sp>
        <p:nvSpPr>
          <p:cNvPr id="15373"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4"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533400" y="1295400"/>
            <a:ext cx="80772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15000"/>
              </a:lnSpc>
              <a:spcBef>
                <a:spcPct val="70000"/>
              </a:spcBef>
            </a:pPr>
            <a:r>
              <a:rPr lang="en-US" altLang="en-US" sz="2100" b="1" dirty="0">
                <a:latin typeface="Liberation Sans" panose="020B0604020202020204" pitchFamily="34" charset="0"/>
              </a:rPr>
              <a:t>Illustration:</a:t>
            </a:r>
            <a:r>
              <a:rPr lang="en-US" altLang="en-US" sz="2100" dirty="0">
                <a:latin typeface="Liberation Sans" panose="020B0604020202020204" pitchFamily="34" charset="0"/>
              </a:rPr>
              <a:t>  Assume upon delivery of the goods on May 6, </a:t>
            </a:r>
            <a:r>
              <a:rPr lang="en-US" altLang="en-US" sz="2100" b="1" dirty="0">
                <a:latin typeface="Liberation Sans" panose="020B0604020202020204" pitchFamily="34" charset="0"/>
              </a:rPr>
              <a:t>Sauk Stereo pays</a:t>
            </a:r>
            <a:r>
              <a:rPr lang="en-US" altLang="en-US" sz="2100" dirty="0">
                <a:latin typeface="Liberation Sans" panose="020B0604020202020204" pitchFamily="34" charset="0"/>
              </a:rPr>
              <a:t> Public Freight Company $150 for </a:t>
            </a:r>
            <a:r>
              <a:rPr lang="en-US" altLang="en-US" sz="2100" b="1" dirty="0">
                <a:latin typeface="Liberation Sans" panose="020B0604020202020204" pitchFamily="34" charset="0"/>
              </a:rPr>
              <a:t>freight charges</a:t>
            </a:r>
            <a:r>
              <a:rPr lang="en-US" altLang="en-US" sz="2100" dirty="0">
                <a:latin typeface="Liberation Sans" panose="020B0604020202020204" pitchFamily="34" charset="0"/>
              </a:rPr>
              <a:t>, the entry on Sauk Stereo’s books is:</a:t>
            </a:r>
          </a:p>
        </p:txBody>
      </p:sp>
      <p:sp>
        <p:nvSpPr>
          <p:cNvPr id="860163" name="Text Box 3"/>
          <p:cNvSpPr txBox="1">
            <a:spLocks noChangeArrowheads="1"/>
          </p:cNvSpPr>
          <p:nvPr/>
        </p:nvSpPr>
        <p:spPr bwMode="auto">
          <a:xfrm>
            <a:off x="1981200" y="2667000"/>
            <a:ext cx="5638800" cy="4127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065270" algn="r"/>
              </a:tabLst>
              <a:defRPr sz="2000">
                <a:solidFill>
                  <a:schemeClr val="tx1"/>
                </a:solidFill>
                <a:latin typeface="Comic Sans MS" panose="030F0702030302020204" pitchFamily="66" charset="0"/>
              </a:defRPr>
            </a:lvl1pPr>
            <a:lvl2pPr marL="742950" indent="-285750">
              <a:tabLst>
                <a:tab pos="4065270" algn="r"/>
              </a:tabLst>
              <a:defRPr sz="2000">
                <a:solidFill>
                  <a:schemeClr val="tx1"/>
                </a:solidFill>
                <a:latin typeface="Comic Sans MS" panose="030F0702030302020204" pitchFamily="66" charset="0"/>
              </a:defRPr>
            </a:lvl2pPr>
            <a:lvl3pPr marL="1143000" indent="-228600">
              <a:tabLst>
                <a:tab pos="4065270" algn="r"/>
              </a:tabLst>
              <a:defRPr sz="2000">
                <a:solidFill>
                  <a:schemeClr val="tx1"/>
                </a:solidFill>
                <a:latin typeface="Comic Sans MS" panose="030F0702030302020204" pitchFamily="66" charset="0"/>
              </a:defRPr>
            </a:lvl3pPr>
            <a:lvl4pPr marL="1600200" indent="-228600">
              <a:tabLst>
                <a:tab pos="4065270" algn="r"/>
              </a:tabLst>
              <a:defRPr sz="2000">
                <a:solidFill>
                  <a:schemeClr val="tx1"/>
                </a:solidFill>
                <a:latin typeface="Comic Sans MS" panose="030F0702030302020204" pitchFamily="66" charset="0"/>
              </a:defRPr>
            </a:lvl4pPr>
            <a:lvl5pPr marL="2057400" indent="-228600">
              <a:tabLst>
                <a:tab pos="406527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06527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06527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06527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065270" algn="r"/>
              </a:tabLst>
              <a:defRPr sz="2000">
                <a:solidFill>
                  <a:schemeClr val="tx1"/>
                </a:solidFill>
                <a:latin typeface="Comic Sans MS" panose="030F0702030302020204" pitchFamily="66" charset="0"/>
              </a:defRPr>
            </a:lvl9pPr>
          </a:lstStyle>
          <a:p>
            <a:pPr algn="l">
              <a:spcBef>
                <a:spcPct val="50000"/>
              </a:spcBef>
            </a:pPr>
            <a:r>
              <a:rPr lang="en-US" altLang="en-US" sz="2100" dirty="0">
                <a:latin typeface="Liberation Sans" panose="020B0604020202020204" pitchFamily="34" charset="0"/>
                <a:cs typeface="Arial" panose="020B0604020202020204" pitchFamily="34" charset="0"/>
              </a:rPr>
              <a:t>Inventory	150</a:t>
            </a:r>
          </a:p>
        </p:txBody>
      </p:sp>
      <p:sp>
        <p:nvSpPr>
          <p:cNvPr id="16388" name="Text Box 4"/>
          <p:cNvSpPr txBox="1">
            <a:spLocks noChangeArrowheads="1"/>
          </p:cNvSpPr>
          <p:nvPr/>
        </p:nvSpPr>
        <p:spPr bwMode="auto">
          <a:xfrm>
            <a:off x="609600" y="2667000"/>
            <a:ext cx="1524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15000"/>
              </a:lnSpc>
              <a:spcBef>
                <a:spcPct val="70000"/>
              </a:spcBef>
            </a:pPr>
            <a:r>
              <a:rPr lang="en-US" altLang="en-US" sz="2100" dirty="0">
                <a:solidFill>
                  <a:srgbClr val="000000"/>
                </a:solidFill>
                <a:latin typeface="Liberation Sans" panose="020B0604020202020204" pitchFamily="34" charset="0"/>
                <a:cs typeface="Arial" panose="020B0604020202020204" pitchFamily="34" charset="0"/>
              </a:rPr>
              <a:t>May 6</a:t>
            </a:r>
          </a:p>
        </p:txBody>
      </p:sp>
      <p:sp>
        <p:nvSpPr>
          <p:cNvPr id="860165" name="Text Box 5"/>
          <p:cNvSpPr txBox="1">
            <a:spLocks noChangeArrowheads="1"/>
          </p:cNvSpPr>
          <p:nvPr/>
        </p:nvSpPr>
        <p:spPr bwMode="auto">
          <a:xfrm>
            <a:off x="1981200" y="3124200"/>
            <a:ext cx="5638800" cy="4127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5372100" algn="r"/>
                <a:tab pos="6286500" algn="r"/>
              </a:tabLst>
              <a:defRPr sz="2000">
                <a:solidFill>
                  <a:schemeClr val="tx1"/>
                </a:solidFill>
                <a:latin typeface="Comic Sans MS" panose="030F0702030302020204" pitchFamily="66" charset="0"/>
              </a:defRPr>
            </a:lvl1pPr>
            <a:lvl2pPr marL="742950" indent="-285750">
              <a:tabLst>
                <a:tab pos="5372100" algn="r"/>
                <a:tab pos="6286500" algn="r"/>
              </a:tabLst>
              <a:defRPr sz="2000">
                <a:solidFill>
                  <a:schemeClr val="tx1"/>
                </a:solidFill>
                <a:latin typeface="Comic Sans MS" panose="030F0702030302020204" pitchFamily="66" charset="0"/>
              </a:defRPr>
            </a:lvl2pPr>
            <a:lvl3pPr marL="1143000" indent="-228600">
              <a:tabLst>
                <a:tab pos="5372100" algn="r"/>
                <a:tab pos="6286500" algn="r"/>
              </a:tabLst>
              <a:defRPr sz="2000">
                <a:solidFill>
                  <a:schemeClr val="tx1"/>
                </a:solidFill>
                <a:latin typeface="Comic Sans MS" panose="030F0702030302020204" pitchFamily="66" charset="0"/>
              </a:defRPr>
            </a:lvl3pPr>
            <a:lvl4pPr marL="1600200" indent="-228600">
              <a:tabLst>
                <a:tab pos="5372100" algn="r"/>
                <a:tab pos="6286500" algn="r"/>
              </a:tabLst>
              <a:defRPr sz="2000">
                <a:solidFill>
                  <a:schemeClr val="tx1"/>
                </a:solidFill>
                <a:latin typeface="Comic Sans MS" panose="030F0702030302020204" pitchFamily="66" charset="0"/>
              </a:defRPr>
            </a:lvl4pPr>
            <a:lvl5pPr marL="2057400" indent="-228600">
              <a:tabLst>
                <a:tab pos="5372100" algn="r"/>
                <a:tab pos="62865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372100" algn="r"/>
                <a:tab pos="62865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372100" algn="r"/>
                <a:tab pos="62865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372100" algn="r"/>
                <a:tab pos="62865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372100" algn="r"/>
                <a:tab pos="6286500" algn="r"/>
              </a:tabLst>
              <a:defRPr sz="2000">
                <a:solidFill>
                  <a:schemeClr val="tx1"/>
                </a:solidFill>
                <a:latin typeface="Comic Sans MS" panose="030F0702030302020204" pitchFamily="66" charset="0"/>
              </a:defRPr>
            </a:lvl9pPr>
          </a:lstStyle>
          <a:p>
            <a:pPr algn="l">
              <a:spcBef>
                <a:spcPct val="50000"/>
              </a:spcBef>
            </a:pPr>
            <a:r>
              <a:rPr lang="en-US" altLang="en-US" sz="2100" dirty="0">
                <a:latin typeface="Liberation Sans" panose="020B0604020202020204" pitchFamily="34" charset="0"/>
                <a:cs typeface="Arial" panose="020B0604020202020204" pitchFamily="34" charset="0"/>
              </a:rPr>
              <a:t>Cash  	150</a:t>
            </a:r>
          </a:p>
        </p:txBody>
      </p:sp>
      <p:sp>
        <p:nvSpPr>
          <p:cNvPr id="16391" name="Text Box 8"/>
          <p:cNvSpPr txBox="1">
            <a:spLocks noChangeArrowheads="1"/>
          </p:cNvSpPr>
          <p:nvPr/>
        </p:nvSpPr>
        <p:spPr bwMode="auto">
          <a:xfrm>
            <a:off x="533400" y="3962400"/>
            <a:ext cx="80772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15000"/>
              </a:lnSpc>
              <a:spcBef>
                <a:spcPct val="70000"/>
              </a:spcBef>
            </a:pPr>
            <a:r>
              <a:rPr lang="en-US" altLang="en-US" sz="2100" dirty="0">
                <a:solidFill>
                  <a:srgbClr val="000000"/>
                </a:solidFill>
                <a:latin typeface="Liberation Sans" panose="020B0604020202020204" pitchFamily="34" charset="0"/>
              </a:rPr>
              <a:t>Assume the freight terms on the invoice in Illustration 5-6 had required </a:t>
            </a:r>
            <a:r>
              <a:rPr lang="en-US" altLang="en-US" sz="2100" b="1" dirty="0">
                <a:solidFill>
                  <a:srgbClr val="000000"/>
                </a:solidFill>
                <a:latin typeface="Liberation Sans" panose="020B0604020202020204" pitchFamily="34" charset="0"/>
              </a:rPr>
              <a:t>PW Audio Supply to pay the freight charges</a:t>
            </a:r>
            <a:r>
              <a:rPr lang="en-US" altLang="en-US" sz="2100" dirty="0">
                <a:solidFill>
                  <a:srgbClr val="000000"/>
                </a:solidFill>
                <a:latin typeface="Liberation Sans" panose="020B0604020202020204" pitchFamily="34" charset="0"/>
              </a:rPr>
              <a:t>, the entry by PW Audio Supply would have been:</a:t>
            </a:r>
          </a:p>
        </p:txBody>
      </p:sp>
      <p:sp>
        <p:nvSpPr>
          <p:cNvPr id="860169" name="Text Box 9"/>
          <p:cNvSpPr txBox="1">
            <a:spLocks noChangeArrowheads="1"/>
          </p:cNvSpPr>
          <p:nvPr/>
        </p:nvSpPr>
        <p:spPr bwMode="auto">
          <a:xfrm>
            <a:off x="1981200" y="5334000"/>
            <a:ext cx="5562600" cy="4127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065270" algn="r"/>
              </a:tabLst>
              <a:defRPr sz="2000">
                <a:solidFill>
                  <a:schemeClr val="tx1"/>
                </a:solidFill>
                <a:latin typeface="Comic Sans MS" panose="030F0702030302020204" pitchFamily="66" charset="0"/>
              </a:defRPr>
            </a:lvl1pPr>
            <a:lvl2pPr marL="742950" indent="-285750">
              <a:tabLst>
                <a:tab pos="4065270" algn="r"/>
              </a:tabLst>
              <a:defRPr sz="2000">
                <a:solidFill>
                  <a:schemeClr val="tx1"/>
                </a:solidFill>
                <a:latin typeface="Comic Sans MS" panose="030F0702030302020204" pitchFamily="66" charset="0"/>
              </a:defRPr>
            </a:lvl2pPr>
            <a:lvl3pPr marL="1143000" indent="-228600">
              <a:tabLst>
                <a:tab pos="4065270" algn="r"/>
              </a:tabLst>
              <a:defRPr sz="2000">
                <a:solidFill>
                  <a:schemeClr val="tx1"/>
                </a:solidFill>
                <a:latin typeface="Comic Sans MS" panose="030F0702030302020204" pitchFamily="66" charset="0"/>
              </a:defRPr>
            </a:lvl3pPr>
            <a:lvl4pPr marL="1600200" indent="-228600">
              <a:tabLst>
                <a:tab pos="4065270" algn="r"/>
              </a:tabLst>
              <a:defRPr sz="2000">
                <a:solidFill>
                  <a:schemeClr val="tx1"/>
                </a:solidFill>
                <a:latin typeface="Comic Sans MS" panose="030F0702030302020204" pitchFamily="66" charset="0"/>
              </a:defRPr>
            </a:lvl4pPr>
            <a:lvl5pPr marL="2057400" indent="-228600">
              <a:tabLst>
                <a:tab pos="406527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06527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06527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06527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065270" algn="r"/>
              </a:tabLst>
              <a:defRPr sz="2000">
                <a:solidFill>
                  <a:schemeClr val="tx1"/>
                </a:solidFill>
                <a:latin typeface="Comic Sans MS" panose="030F0702030302020204" pitchFamily="66" charset="0"/>
              </a:defRPr>
            </a:lvl9pPr>
          </a:lstStyle>
          <a:p>
            <a:pPr algn="l">
              <a:spcBef>
                <a:spcPct val="50000"/>
              </a:spcBef>
            </a:pPr>
            <a:r>
              <a:rPr lang="en-US" altLang="en-US" sz="2100" dirty="0">
                <a:latin typeface="Liberation Sans" panose="020B0604020202020204" pitchFamily="34" charset="0"/>
              </a:rPr>
              <a:t>Freight-Out</a:t>
            </a:r>
            <a:r>
              <a:rPr lang="en-US" altLang="en-US" sz="2100" dirty="0">
                <a:latin typeface="Liberation Sans" panose="020B0604020202020204" pitchFamily="34" charset="0"/>
                <a:cs typeface="Arial" panose="020B0604020202020204" pitchFamily="34" charset="0"/>
              </a:rPr>
              <a:t>	150</a:t>
            </a:r>
          </a:p>
        </p:txBody>
      </p:sp>
      <p:sp>
        <p:nvSpPr>
          <p:cNvPr id="16393" name="Text Box 10"/>
          <p:cNvSpPr txBox="1">
            <a:spLocks noChangeArrowheads="1"/>
          </p:cNvSpPr>
          <p:nvPr/>
        </p:nvSpPr>
        <p:spPr bwMode="auto">
          <a:xfrm>
            <a:off x="685800" y="5334000"/>
            <a:ext cx="1524000" cy="4127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100" dirty="0">
                <a:latin typeface="Liberation Sans" panose="020B0604020202020204" pitchFamily="34" charset="0"/>
                <a:cs typeface="Arial" panose="020B0604020202020204" pitchFamily="34" charset="0"/>
              </a:rPr>
              <a:t>May 4</a:t>
            </a:r>
          </a:p>
        </p:txBody>
      </p:sp>
      <p:sp>
        <p:nvSpPr>
          <p:cNvPr id="860171" name="Text Box 11"/>
          <p:cNvSpPr txBox="1">
            <a:spLocks noChangeArrowheads="1"/>
          </p:cNvSpPr>
          <p:nvPr/>
        </p:nvSpPr>
        <p:spPr bwMode="auto">
          <a:xfrm>
            <a:off x="1981200" y="5791200"/>
            <a:ext cx="5562600" cy="4127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5372100" algn="r"/>
                <a:tab pos="6286500" algn="r"/>
              </a:tabLst>
              <a:defRPr sz="2000">
                <a:solidFill>
                  <a:schemeClr val="tx1"/>
                </a:solidFill>
                <a:latin typeface="Comic Sans MS" panose="030F0702030302020204" pitchFamily="66" charset="0"/>
              </a:defRPr>
            </a:lvl1pPr>
            <a:lvl2pPr marL="742950" indent="-285750">
              <a:tabLst>
                <a:tab pos="5372100" algn="r"/>
                <a:tab pos="6286500" algn="r"/>
              </a:tabLst>
              <a:defRPr sz="2000">
                <a:solidFill>
                  <a:schemeClr val="tx1"/>
                </a:solidFill>
                <a:latin typeface="Comic Sans MS" panose="030F0702030302020204" pitchFamily="66" charset="0"/>
              </a:defRPr>
            </a:lvl2pPr>
            <a:lvl3pPr marL="1143000" indent="-228600">
              <a:tabLst>
                <a:tab pos="5372100" algn="r"/>
                <a:tab pos="6286500" algn="r"/>
              </a:tabLst>
              <a:defRPr sz="2000">
                <a:solidFill>
                  <a:schemeClr val="tx1"/>
                </a:solidFill>
                <a:latin typeface="Comic Sans MS" panose="030F0702030302020204" pitchFamily="66" charset="0"/>
              </a:defRPr>
            </a:lvl3pPr>
            <a:lvl4pPr marL="1600200" indent="-228600">
              <a:tabLst>
                <a:tab pos="5372100" algn="r"/>
                <a:tab pos="6286500" algn="r"/>
              </a:tabLst>
              <a:defRPr sz="2000">
                <a:solidFill>
                  <a:schemeClr val="tx1"/>
                </a:solidFill>
                <a:latin typeface="Comic Sans MS" panose="030F0702030302020204" pitchFamily="66" charset="0"/>
              </a:defRPr>
            </a:lvl4pPr>
            <a:lvl5pPr marL="2057400" indent="-228600">
              <a:tabLst>
                <a:tab pos="5372100" algn="r"/>
                <a:tab pos="62865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372100" algn="r"/>
                <a:tab pos="62865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372100" algn="r"/>
                <a:tab pos="62865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372100" algn="r"/>
                <a:tab pos="62865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372100" algn="r"/>
                <a:tab pos="6286500" algn="r"/>
              </a:tabLst>
              <a:defRPr sz="2000">
                <a:solidFill>
                  <a:schemeClr val="tx1"/>
                </a:solidFill>
                <a:latin typeface="Comic Sans MS" panose="030F0702030302020204" pitchFamily="66" charset="0"/>
              </a:defRPr>
            </a:lvl9pPr>
          </a:lstStyle>
          <a:p>
            <a:pPr algn="l">
              <a:spcBef>
                <a:spcPct val="50000"/>
              </a:spcBef>
            </a:pPr>
            <a:r>
              <a:rPr lang="en-US" altLang="en-US" sz="2100" dirty="0">
                <a:latin typeface="Liberation Sans" panose="020B0604020202020204" pitchFamily="34" charset="0"/>
                <a:cs typeface="Arial" panose="020B0604020202020204" pitchFamily="34" charset="0"/>
              </a:rPr>
              <a:t>Cash  	150</a:t>
            </a:r>
          </a:p>
        </p:txBody>
      </p:sp>
      <p:sp>
        <p:nvSpPr>
          <p:cNvPr id="16395" name="Line 12"/>
          <p:cNvSpPr>
            <a:spLocks noChangeShapeType="1"/>
          </p:cNvSpPr>
          <p:nvPr/>
        </p:nvSpPr>
        <p:spPr bwMode="auto">
          <a:xfrm>
            <a:off x="304800" y="3810000"/>
            <a:ext cx="8534400" cy="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6397"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4" name="Rectangle 13"/>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solidFill>
                  <a:schemeClr val="tx2">
                    <a:lumMod val="75000"/>
                  </a:schemeClr>
                </a:solidFill>
                <a:latin typeface="Liberation Sans" panose="020B0604020202020204" pitchFamily="34" charset="0"/>
              </a:rPr>
              <a:t>Freight Costs</a:t>
            </a:r>
          </a:p>
        </p:txBody>
      </p:sp>
      <p:sp>
        <p:nvSpPr>
          <p:cNvPr id="15"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0163"/>
                                        </p:tgtEl>
                                        <p:attrNameLst>
                                          <p:attrName>style.visibility</p:attrName>
                                        </p:attrNameLst>
                                      </p:cBhvr>
                                      <p:to>
                                        <p:strVal val="visible"/>
                                      </p:to>
                                    </p:set>
                                    <p:animEffect transition="in" filter="wipe(left)">
                                      <p:cBhvr>
                                        <p:cTn id="7" dur="500"/>
                                        <p:tgtEl>
                                          <p:spTgt spid="8601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0165"/>
                                        </p:tgtEl>
                                        <p:attrNameLst>
                                          <p:attrName>style.visibility</p:attrName>
                                        </p:attrNameLst>
                                      </p:cBhvr>
                                      <p:to>
                                        <p:strVal val="visible"/>
                                      </p:to>
                                    </p:set>
                                    <p:animEffect transition="in" filter="wipe(left)">
                                      <p:cBhvr>
                                        <p:cTn id="12" dur="500"/>
                                        <p:tgtEl>
                                          <p:spTgt spid="8601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60169"/>
                                        </p:tgtEl>
                                        <p:attrNameLst>
                                          <p:attrName>style.visibility</p:attrName>
                                        </p:attrNameLst>
                                      </p:cBhvr>
                                      <p:to>
                                        <p:strVal val="visible"/>
                                      </p:to>
                                    </p:set>
                                    <p:animEffect transition="in" filter="wipe(left)">
                                      <p:cBhvr>
                                        <p:cTn id="17" dur="500"/>
                                        <p:tgtEl>
                                          <p:spTgt spid="8601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60171"/>
                                        </p:tgtEl>
                                        <p:attrNameLst>
                                          <p:attrName>style.visibility</p:attrName>
                                        </p:attrNameLst>
                                      </p:cBhvr>
                                      <p:to>
                                        <p:strVal val="visible"/>
                                      </p:to>
                                    </p:set>
                                    <p:animEffect transition="in" filter="wipe(left)">
                                      <p:cBhvr>
                                        <p:cTn id="22" dur="500"/>
                                        <p:tgtEl>
                                          <p:spTgt spid="860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63" grpId="0" autoUpdateAnimBg="0"/>
      <p:bldP spid="860165" grpId="0" autoUpdateAnimBg="0"/>
      <p:bldP spid="860169" grpId="0" autoUpdateAnimBg="0"/>
      <p:bldP spid="86017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533400" y="1295400"/>
            <a:ext cx="8153400" cy="9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30000"/>
              </a:spcBef>
              <a:spcAft>
                <a:spcPct val="20000"/>
              </a:spcAft>
              <a:buSzPct val="80000"/>
            </a:pPr>
            <a:r>
              <a:rPr lang="en-US" altLang="en-US" sz="2200" b="1" dirty="0">
                <a:latin typeface="Liberation Sans" panose="020B0604020202020204" pitchFamily="34" charset="0"/>
              </a:rPr>
              <a:t>Purchaser may be dissatisfied</a:t>
            </a:r>
            <a:r>
              <a:rPr lang="en-US" altLang="en-US" sz="2200" dirty="0">
                <a:latin typeface="Liberation Sans" panose="020B0604020202020204" pitchFamily="34" charset="0"/>
              </a:rPr>
              <a:t> because goods are damaged or defective, of inferior quality, or do not meet specifications.</a:t>
            </a:r>
          </a:p>
        </p:txBody>
      </p:sp>
      <p:sp>
        <p:nvSpPr>
          <p:cNvPr id="17412" name="Rectangle 5"/>
          <p:cNvSpPr>
            <a:spLocks noChangeArrowheads="1"/>
          </p:cNvSpPr>
          <p:nvPr/>
        </p:nvSpPr>
        <p:spPr bwMode="auto">
          <a:xfrm>
            <a:off x="685800" y="3081337"/>
            <a:ext cx="3581400" cy="1446213"/>
          </a:xfrm>
          <a:prstGeom prst="rect">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solidFill>
                  <a:srgbClr val="CCE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nSpc>
                <a:spcPct val="110000"/>
              </a:lnSpc>
              <a:spcBef>
                <a:spcPct val="50000"/>
              </a:spcBef>
            </a:pPr>
            <a:r>
              <a:rPr lang="en-US" altLang="en-US" dirty="0">
                <a:latin typeface="Liberation Sans" panose="020B0604020202020204" pitchFamily="34" charset="0"/>
              </a:rPr>
              <a:t>Return goods for credit if the sale was made on credit, or for a cash refund if the purchase was for cash.</a:t>
            </a:r>
          </a:p>
        </p:txBody>
      </p:sp>
      <p:sp>
        <p:nvSpPr>
          <p:cNvPr id="17413" name="Rectangle 6"/>
          <p:cNvSpPr>
            <a:spLocks noChangeArrowheads="1"/>
          </p:cNvSpPr>
          <p:nvPr/>
        </p:nvSpPr>
        <p:spPr bwMode="auto">
          <a:xfrm>
            <a:off x="4800600" y="3081337"/>
            <a:ext cx="3581400" cy="1446213"/>
          </a:xfrm>
          <a:prstGeom prst="rect">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solidFill>
                  <a:srgbClr val="CCE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nSpc>
                <a:spcPct val="110000"/>
              </a:lnSpc>
              <a:spcBef>
                <a:spcPct val="50000"/>
              </a:spcBef>
            </a:pPr>
            <a:r>
              <a:rPr lang="en-US" altLang="en-US" dirty="0">
                <a:latin typeface="Liberation Sans" panose="020B0604020202020204" pitchFamily="34" charset="0"/>
              </a:rPr>
              <a:t>May choose to keep the merchandise if the seller will grant a reduction of the purchase price.</a:t>
            </a:r>
          </a:p>
        </p:txBody>
      </p:sp>
      <p:sp>
        <p:nvSpPr>
          <p:cNvPr id="17414" name="Rectangle 7"/>
          <p:cNvSpPr>
            <a:spLocks noChangeArrowheads="1"/>
          </p:cNvSpPr>
          <p:nvPr/>
        </p:nvSpPr>
        <p:spPr bwMode="auto">
          <a:xfrm>
            <a:off x="685800" y="2592387"/>
            <a:ext cx="3581400" cy="461665"/>
          </a:xfrm>
          <a:prstGeom prst="rect">
            <a:avLst/>
          </a:prstGeom>
          <a:solidFill>
            <a:srgbClr val="FFFF99"/>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2400" b="1" dirty="0">
                <a:latin typeface="Liberation Sans" panose="020B0604020202020204" pitchFamily="34" charset="0"/>
              </a:rPr>
              <a:t>Purchase Return</a:t>
            </a:r>
          </a:p>
        </p:txBody>
      </p:sp>
      <p:sp>
        <p:nvSpPr>
          <p:cNvPr id="17415" name="Rectangle 8"/>
          <p:cNvSpPr>
            <a:spLocks noChangeArrowheads="1"/>
          </p:cNvSpPr>
          <p:nvPr/>
        </p:nvSpPr>
        <p:spPr bwMode="auto">
          <a:xfrm>
            <a:off x="4800600" y="2590800"/>
            <a:ext cx="3581400" cy="461665"/>
          </a:xfrm>
          <a:prstGeom prst="rect">
            <a:avLst/>
          </a:prstGeom>
          <a:solidFill>
            <a:srgbClr val="FFFF99"/>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2400" b="1" dirty="0">
                <a:latin typeface="Liberation Sans" panose="020B0604020202020204" pitchFamily="34" charset="0"/>
              </a:rPr>
              <a:t>Purchase Allowance</a:t>
            </a:r>
          </a:p>
        </p:txBody>
      </p:sp>
      <p:sp>
        <p:nvSpPr>
          <p:cNvPr id="17417" name="Rectangle 10"/>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Purchase Returns and Allowances</a:t>
            </a:r>
          </a:p>
        </p:txBody>
      </p:sp>
      <p:sp>
        <p:nvSpPr>
          <p:cNvPr id="17418"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1"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4"/>
          <p:cNvSpPr txBox="1">
            <a:spLocks noChangeArrowheads="1"/>
          </p:cNvSpPr>
          <p:nvPr/>
        </p:nvSpPr>
        <p:spPr bwMode="auto">
          <a:xfrm>
            <a:off x="533400" y="1295400"/>
            <a:ext cx="7772400" cy="93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70000"/>
              </a:spcBef>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Assume Sauk Stereo returned goods costing $300 to PW Audio Supply on May 8.</a:t>
            </a:r>
          </a:p>
        </p:txBody>
      </p:sp>
      <p:sp>
        <p:nvSpPr>
          <p:cNvPr id="866309" name="Text Box 5"/>
          <p:cNvSpPr txBox="1">
            <a:spLocks noChangeArrowheads="1"/>
          </p:cNvSpPr>
          <p:nvPr/>
        </p:nvSpPr>
        <p:spPr bwMode="auto">
          <a:xfrm>
            <a:off x="1905000" y="2616200"/>
            <a:ext cx="66294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686300" algn="r"/>
              </a:tabLst>
              <a:defRPr sz="2000">
                <a:solidFill>
                  <a:schemeClr val="tx1"/>
                </a:solidFill>
                <a:latin typeface="Comic Sans MS" panose="030F0702030302020204" pitchFamily="66" charset="0"/>
              </a:defRPr>
            </a:lvl1pPr>
            <a:lvl2pPr marL="742950" indent="-285750">
              <a:tabLst>
                <a:tab pos="4686300" algn="r"/>
              </a:tabLst>
              <a:defRPr sz="2000">
                <a:solidFill>
                  <a:schemeClr val="tx1"/>
                </a:solidFill>
                <a:latin typeface="Comic Sans MS" panose="030F0702030302020204" pitchFamily="66" charset="0"/>
              </a:defRPr>
            </a:lvl2pPr>
            <a:lvl3pPr marL="1143000" indent="-228600">
              <a:tabLst>
                <a:tab pos="4686300" algn="r"/>
              </a:tabLst>
              <a:defRPr sz="2000">
                <a:solidFill>
                  <a:schemeClr val="tx1"/>
                </a:solidFill>
                <a:latin typeface="Comic Sans MS" panose="030F0702030302020204" pitchFamily="66" charset="0"/>
              </a:defRPr>
            </a:lvl3pPr>
            <a:lvl4pPr marL="1600200" indent="-228600">
              <a:tabLst>
                <a:tab pos="4686300" algn="r"/>
              </a:tabLst>
              <a:defRPr sz="2000">
                <a:solidFill>
                  <a:schemeClr val="tx1"/>
                </a:solidFill>
                <a:latin typeface="Comic Sans MS" panose="030F0702030302020204" pitchFamily="66" charset="0"/>
              </a:defRPr>
            </a:lvl4pPr>
            <a:lvl5pPr marL="2057400" indent="-228600">
              <a:tabLst>
                <a:tab pos="46863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6863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6863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6863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6863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Accounts Payable	300</a:t>
            </a:r>
          </a:p>
        </p:txBody>
      </p:sp>
      <p:sp>
        <p:nvSpPr>
          <p:cNvPr id="18437" name="Text Box 6"/>
          <p:cNvSpPr txBox="1">
            <a:spLocks noChangeArrowheads="1"/>
          </p:cNvSpPr>
          <p:nvPr/>
        </p:nvSpPr>
        <p:spPr bwMode="auto">
          <a:xfrm>
            <a:off x="685800" y="2616200"/>
            <a:ext cx="1066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8</a:t>
            </a:r>
          </a:p>
        </p:txBody>
      </p:sp>
      <p:sp>
        <p:nvSpPr>
          <p:cNvPr id="866311" name="Text Box 7"/>
          <p:cNvSpPr txBox="1">
            <a:spLocks noChangeArrowheads="1"/>
          </p:cNvSpPr>
          <p:nvPr/>
        </p:nvSpPr>
        <p:spPr bwMode="auto">
          <a:xfrm>
            <a:off x="1905000" y="3103563"/>
            <a:ext cx="66294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5886450" algn="r"/>
              </a:tabLst>
              <a:defRPr sz="2000">
                <a:solidFill>
                  <a:schemeClr val="tx1"/>
                </a:solidFill>
                <a:latin typeface="Comic Sans MS" panose="030F0702030302020204" pitchFamily="66" charset="0"/>
              </a:defRPr>
            </a:lvl1pPr>
            <a:lvl2pPr marL="742950" indent="-285750">
              <a:tabLst>
                <a:tab pos="4744720" algn="r"/>
                <a:tab pos="5886450" algn="r"/>
              </a:tabLst>
              <a:defRPr sz="2000">
                <a:solidFill>
                  <a:schemeClr val="tx1"/>
                </a:solidFill>
                <a:latin typeface="Comic Sans MS" panose="030F0702030302020204" pitchFamily="66" charset="0"/>
              </a:defRPr>
            </a:lvl2pPr>
            <a:lvl3pPr marL="1143000" indent="-228600">
              <a:tabLst>
                <a:tab pos="4744720" algn="r"/>
                <a:tab pos="5886450" algn="r"/>
              </a:tabLst>
              <a:defRPr sz="2000">
                <a:solidFill>
                  <a:schemeClr val="tx1"/>
                </a:solidFill>
                <a:latin typeface="Comic Sans MS" panose="030F0702030302020204" pitchFamily="66" charset="0"/>
              </a:defRPr>
            </a:lvl3pPr>
            <a:lvl4pPr marL="1600200" indent="-228600">
              <a:tabLst>
                <a:tab pos="4744720" algn="r"/>
                <a:tab pos="5886450" algn="r"/>
              </a:tabLst>
              <a:defRPr sz="2000">
                <a:solidFill>
                  <a:schemeClr val="tx1"/>
                </a:solidFill>
                <a:latin typeface="Comic Sans MS" panose="030F0702030302020204" pitchFamily="66" charset="0"/>
              </a:defRPr>
            </a:lvl4pPr>
            <a:lvl5pPr marL="2057400" indent="-228600">
              <a:tabLst>
                <a:tab pos="4744720" algn="r"/>
                <a:tab pos="588645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588645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588645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588645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588645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rPr>
              <a:t>Inventory</a:t>
            </a:r>
            <a:r>
              <a:rPr lang="en-US" altLang="en-US" sz="2200" dirty="0">
                <a:latin typeface="Liberation Sans" panose="020B0604020202020204" pitchFamily="34" charset="0"/>
                <a:cs typeface="Arial" panose="020B0604020202020204" pitchFamily="34" charset="0"/>
              </a:rPr>
              <a:t> 		300</a:t>
            </a:r>
          </a:p>
        </p:txBody>
      </p:sp>
      <p:sp>
        <p:nvSpPr>
          <p:cNvPr id="18440"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9" name="Rectangle 10"/>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Purchase Returns and Allowances</a:t>
            </a:r>
          </a:p>
        </p:txBody>
      </p:sp>
      <p:sp>
        <p:nvSpPr>
          <p:cNvPr id="10"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6309"/>
                                        </p:tgtEl>
                                        <p:attrNameLst>
                                          <p:attrName>style.visibility</p:attrName>
                                        </p:attrNameLst>
                                      </p:cBhvr>
                                      <p:to>
                                        <p:strVal val="visible"/>
                                      </p:to>
                                    </p:set>
                                    <p:animEffect transition="in" filter="wipe(left)">
                                      <p:cBhvr>
                                        <p:cTn id="7" dur="500"/>
                                        <p:tgtEl>
                                          <p:spTgt spid="8663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6311"/>
                                        </p:tgtEl>
                                        <p:attrNameLst>
                                          <p:attrName>style.visibility</p:attrName>
                                        </p:attrNameLst>
                                      </p:cBhvr>
                                      <p:to>
                                        <p:strVal val="visible"/>
                                      </p:to>
                                    </p:set>
                                    <p:animEffect transition="in" filter="wipe(left)">
                                      <p:cBhvr>
                                        <p:cTn id="12" dur="500"/>
                                        <p:tgtEl>
                                          <p:spTgt spid="866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6309" grpId="0" autoUpdateAnimBg="0"/>
      <p:bldP spid="866311"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457200" y="1890713"/>
            <a:ext cx="8001000" cy="36576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182562" tIns="46038" rIns="182562" bIns="46038"/>
          <a:lstStyle>
            <a:lvl1pPr>
              <a:defRPr sz="2000">
                <a:solidFill>
                  <a:schemeClr val="tx1"/>
                </a:solidFill>
                <a:latin typeface="Comic Sans MS" panose="030F0702030302020204" pitchFamily="66" charset="0"/>
              </a:defRPr>
            </a:lvl1pPr>
            <a:lvl2pPr marL="69215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40000"/>
              </a:spcBef>
              <a:buClr>
                <a:schemeClr val="tx1"/>
              </a:buClr>
              <a:buFont typeface="Wingdings" panose="05000000000000000000" pitchFamily="2" charset="2"/>
              <a:buNone/>
            </a:pPr>
            <a:r>
              <a:rPr lang="en-US" altLang="en-US" sz="2300" dirty="0">
                <a:latin typeface="Liberation Sans" panose="020B0604020202020204" pitchFamily="34" charset="0"/>
                <a:cs typeface="Times New Roman" panose="02020603050405020304" pitchFamily="18" charset="0"/>
              </a:rPr>
              <a:t>In a perpetual inventory system, a return of defective merchandise by a purchaser is recorded by crediting:  </a:t>
            </a:r>
          </a:p>
          <a:p>
            <a:pPr marL="805180" lvl="1" indent="-463550" algn="l">
              <a:lnSpc>
                <a:spcPct val="120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Purchases  </a:t>
            </a:r>
          </a:p>
          <a:p>
            <a:pPr marL="805180" lvl="1" indent="-463550" algn="l">
              <a:lnSpc>
                <a:spcPct val="120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Purchase Returns  </a:t>
            </a:r>
          </a:p>
          <a:p>
            <a:pPr marL="805180" lvl="1" indent="-463550" algn="l">
              <a:lnSpc>
                <a:spcPct val="120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Purchase Allowance  </a:t>
            </a:r>
          </a:p>
          <a:p>
            <a:pPr marL="805180" lvl="1" indent="-463550" algn="l">
              <a:lnSpc>
                <a:spcPct val="120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Inventory</a:t>
            </a:r>
          </a:p>
        </p:txBody>
      </p:sp>
      <p:sp>
        <p:nvSpPr>
          <p:cNvPr id="19460" name="Text Box 9"/>
          <p:cNvSpPr txBox="1">
            <a:spLocks noChangeArrowheads="1"/>
          </p:cNvSpPr>
          <p:nvPr/>
        </p:nvSpPr>
        <p:spPr bwMode="auto">
          <a:xfrm>
            <a:off x="533400" y="1295400"/>
            <a:ext cx="6843713" cy="5539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000" b="1" dirty="0">
                <a:solidFill>
                  <a:schemeClr val="tx2">
                    <a:lumMod val="75000"/>
                  </a:schemeClr>
                </a:solidFill>
                <a:latin typeface="Liberation Sans" panose="020B0604020202020204" pitchFamily="34" charset="0"/>
              </a:rPr>
              <a:t>Question</a:t>
            </a:r>
          </a:p>
        </p:txBody>
      </p:sp>
      <p:sp>
        <p:nvSpPr>
          <p:cNvPr id="19462"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8" name="Rectangle 10"/>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Purchase Returns and Allowances</a:t>
            </a:r>
          </a:p>
        </p:txBody>
      </p:sp>
      <p:sp>
        <p:nvSpPr>
          <p:cNvPr id="9" name="Notched Right Arrow 8"/>
          <p:cNvSpPr/>
          <p:nvPr/>
        </p:nvSpPr>
        <p:spPr bwMode="auto">
          <a:xfrm>
            <a:off x="152400" y="4572000"/>
            <a:ext cx="609600" cy="457200"/>
          </a:xfrm>
          <a:prstGeom prst="notchedRightArrow">
            <a:avLst/>
          </a:prstGeom>
          <a:solidFill>
            <a:schemeClr val="tx2">
              <a:lumMod val="75000"/>
            </a:schemeClr>
          </a:solidFill>
          <a:ln w="12700" cap="sq" cmpd="sng" algn="ctr">
            <a:solidFill>
              <a:schemeClr val="tx1"/>
            </a:solidFill>
            <a:prstDash val="solid"/>
            <a:round/>
            <a:headEnd type="none" w="sm" len="sm"/>
            <a:tailEnd type="none" w="sm" len="sm"/>
          </a:ln>
          <a:effectLst/>
        </p:spPr>
        <p:txBody>
          <a:bodyPr/>
          <a:lstStyle>
            <a:lvl1pPr>
              <a:defRPr sz="2400">
                <a:solidFill>
                  <a:schemeClr val="tx1"/>
                </a:solidFill>
                <a:latin typeface="Comic Sans MS" panose="030F0702030302020204" pitchFamily="66" charset="0"/>
              </a:defRPr>
            </a:lvl1pPr>
            <a:lvl2pPr marL="742950" indent="-285750">
              <a:defRPr sz="2400">
                <a:solidFill>
                  <a:schemeClr val="tx1"/>
                </a:solidFill>
                <a:latin typeface="Comic Sans MS" panose="030F0702030302020204" pitchFamily="66" charset="0"/>
              </a:defRPr>
            </a:lvl2pPr>
            <a:lvl3pPr marL="1143000" indent="-228600">
              <a:defRPr sz="2400">
                <a:solidFill>
                  <a:schemeClr val="tx1"/>
                </a:solidFill>
                <a:latin typeface="Comic Sans MS" panose="030F0702030302020204" pitchFamily="66" charset="0"/>
              </a:defRPr>
            </a:lvl3pPr>
            <a:lvl4pPr marL="1600200" indent="-228600">
              <a:defRPr sz="2400">
                <a:solidFill>
                  <a:schemeClr val="tx1"/>
                </a:solidFill>
                <a:latin typeface="Comic Sans MS" panose="030F0702030302020204" pitchFamily="66" charset="0"/>
              </a:defRPr>
            </a:lvl4pPr>
            <a:lvl5pPr marL="2057400" indent="-228600">
              <a:defRPr sz="24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10"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533400" y="1295400"/>
            <a:ext cx="7696200" cy="3382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69215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50000"/>
              </a:spcBef>
              <a:spcAft>
                <a:spcPct val="20000"/>
              </a:spcAft>
              <a:buSzPct val="80000"/>
            </a:pPr>
            <a:r>
              <a:rPr lang="en-US" altLang="en-US" sz="2300" b="1" dirty="0">
                <a:latin typeface="Liberation Sans" panose="020B0604020202020204" pitchFamily="34" charset="0"/>
              </a:rPr>
              <a:t>Credit terms</a:t>
            </a:r>
            <a:r>
              <a:rPr lang="en-US" altLang="en-US" sz="2300" dirty="0">
                <a:latin typeface="Liberation Sans" panose="020B0604020202020204" pitchFamily="34" charset="0"/>
              </a:rPr>
              <a:t> may permit buyer to claim a cash discount for prompt payment.</a:t>
            </a:r>
          </a:p>
          <a:p>
            <a:pPr algn="l">
              <a:lnSpc>
                <a:spcPct val="125000"/>
              </a:lnSpc>
              <a:spcBef>
                <a:spcPct val="50000"/>
              </a:spcBef>
              <a:spcAft>
                <a:spcPct val="20000"/>
              </a:spcAft>
              <a:buSzPct val="80000"/>
            </a:pPr>
            <a:r>
              <a:rPr lang="en-US" altLang="en-US" sz="2300" b="1" dirty="0">
                <a:latin typeface="Liberation Sans" panose="020B0604020202020204" pitchFamily="34" charset="0"/>
              </a:rPr>
              <a:t>Advantages:</a:t>
            </a:r>
          </a:p>
          <a:p>
            <a:pPr lvl="1" algn="l">
              <a:lnSpc>
                <a:spcPct val="125000"/>
              </a:lnSpc>
              <a:spcBef>
                <a:spcPct val="50000"/>
              </a:spcBef>
              <a:spcAft>
                <a:spcPct val="20000"/>
              </a:spcAft>
              <a:buClr>
                <a:srgbClr val="800000"/>
              </a:buClr>
              <a:buSzPct val="80000"/>
              <a:buFont typeface="Wingdings" panose="05000000000000000000" pitchFamily="2" charset="2"/>
              <a:buChar char="u"/>
            </a:pPr>
            <a:r>
              <a:rPr lang="en-US" altLang="en-US" sz="2100" dirty="0">
                <a:latin typeface="Liberation Sans" panose="020B0604020202020204" pitchFamily="34" charset="0"/>
              </a:rPr>
              <a:t>Purchaser saves money.</a:t>
            </a:r>
          </a:p>
          <a:p>
            <a:pPr lvl="1" algn="l">
              <a:lnSpc>
                <a:spcPct val="125000"/>
              </a:lnSpc>
              <a:spcBef>
                <a:spcPct val="50000"/>
              </a:spcBef>
              <a:spcAft>
                <a:spcPct val="20000"/>
              </a:spcAft>
              <a:buClr>
                <a:srgbClr val="800000"/>
              </a:buClr>
              <a:buSzPct val="80000"/>
              <a:buFont typeface="Wingdings" panose="05000000000000000000" pitchFamily="2" charset="2"/>
              <a:buChar char="u"/>
            </a:pPr>
            <a:r>
              <a:rPr lang="en-US" altLang="en-US" sz="2100" dirty="0">
                <a:latin typeface="Liberation Sans" panose="020B0604020202020204" pitchFamily="34" charset="0"/>
              </a:rPr>
              <a:t>Seller shortens the operating cycle by converting the accounts receivable into cash earlier.</a:t>
            </a:r>
          </a:p>
        </p:txBody>
      </p:sp>
      <p:sp>
        <p:nvSpPr>
          <p:cNvPr id="20484" name="Rectangle 5"/>
          <p:cNvSpPr>
            <a:spLocks noChangeArrowheads="1"/>
          </p:cNvSpPr>
          <p:nvPr/>
        </p:nvSpPr>
        <p:spPr bwMode="auto">
          <a:xfrm>
            <a:off x="5105400" y="2281237"/>
            <a:ext cx="2895600" cy="769938"/>
          </a:xfrm>
          <a:prstGeom prst="rect">
            <a:avLst/>
          </a:prstGeom>
          <a:solidFill>
            <a:srgbClr val="FAEFB6"/>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b="1" dirty="0">
                <a:solidFill>
                  <a:srgbClr val="800000"/>
                </a:solidFill>
                <a:latin typeface="Liberation Sans" panose="020B0604020202020204" pitchFamily="34" charset="0"/>
              </a:rPr>
              <a:t>Example: </a:t>
            </a:r>
            <a:r>
              <a:rPr lang="en-US" altLang="en-US" dirty="0">
                <a:latin typeface="Liberation Sans" panose="020B0604020202020204" pitchFamily="34" charset="0"/>
              </a:rPr>
              <a:t>Credit terms may read </a:t>
            </a:r>
            <a:r>
              <a:rPr lang="en-US" altLang="en-US" sz="2200" b="1" dirty="0">
                <a:solidFill>
                  <a:srgbClr val="800000"/>
                </a:solidFill>
                <a:latin typeface="Liberation Sans" panose="020B0604020202020204" pitchFamily="34" charset="0"/>
              </a:rPr>
              <a:t>2/10, n/30</a:t>
            </a:r>
            <a:r>
              <a:rPr lang="en-US" altLang="en-US" dirty="0">
                <a:latin typeface="Liberation Sans" panose="020B0604020202020204" pitchFamily="34" charset="0"/>
              </a:rPr>
              <a:t>.</a:t>
            </a:r>
          </a:p>
        </p:txBody>
      </p:sp>
      <p:sp>
        <p:nvSpPr>
          <p:cNvPr id="20486"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Purchase Discounts </a:t>
            </a:r>
          </a:p>
        </p:txBody>
      </p:sp>
      <p:sp>
        <p:nvSpPr>
          <p:cNvPr id="20487"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8"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609600" y="2516188"/>
            <a:ext cx="2438400" cy="2128837"/>
          </a:xfrm>
          <a:prstGeom prst="rect">
            <a:avLst/>
          </a:prstGeom>
          <a:solidFill>
            <a:srgbClr val="CCECFF"/>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nSpc>
                <a:spcPct val="120000"/>
              </a:lnSpc>
              <a:spcBef>
                <a:spcPct val="50000"/>
              </a:spcBef>
            </a:pPr>
            <a:r>
              <a:rPr lang="en-US" altLang="en-US" sz="2200" dirty="0">
                <a:solidFill>
                  <a:srgbClr val="000000"/>
                </a:solidFill>
                <a:latin typeface="Liberation Sans" panose="020B0604020202020204" pitchFamily="34" charset="0"/>
              </a:rPr>
              <a:t>2% discount if paid within 10 days, otherwise net amount due within 30 days.</a:t>
            </a:r>
          </a:p>
        </p:txBody>
      </p:sp>
      <p:sp>
        <p:nvSpPr>
          <p:cNvPr id="21507" name="Rectangle 5"/>
          <p:cNvSpPr>
            <a:spLocks noChangeArrowheads="1"/>
          </p:cNvSpPr>
          <p:nvPr/>
        </p:nvSpPr>
        <p:spPr bwMode="auto">
          <a:xfrm>
            <a:off x="3352800" y="2514600"/>
            <a:ext cx="2438400" cy="1727200"/>
          </a:xfrm>
          <a:prstGeom prst="rect">
            <a:avLst/>
          </a:prstGeom>
          <a:solidFill>
            <a:srgbClr val="CCECFF"/>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nSpc>
                <a:spcPct val="120000"/>
              </a:lnSpc>
              <a:spcBef>
                <a:spcPct val="50000"/>
              </a:spcBef>
            </a:pPr>
            <a:r>
              <a:rPr lang="en-US" altLang="en-US" sz="2200" dirty="0">
                <a:solidFill>
                  <a:srgbClr val="000000"/>
                </a:solidFill>
                <a:latin typeface="Liberation Sans" panose="020B0604020202020204" pitchFamily="34" charset="0"/>
              </a:rPr>
              <a:t>1% discount if paid within first 10 days of next month.</a:t>
            </a:r>
          </a:p>
        </p:txBody>
      </p:sp>
      <p:sp>
        <p:nvSpPr>
          <p:cNvPr id="21508" name="Rectangle 6"/>
          <p:cNvSpPr>
            <a:spLocks noChangeArrowheads="1"/>
          </p:cNvSpPr>
          <p:nvPr/>
        </p:nvSpPr>
        <p:spPr bwMode="auto">
          <a:xfrm>
            <a:off x="609600" y="1524000"/>
            <a:ext cx="2438400" cy="990600"/>
          </a:xfrm>
          <a:prstGeom prst="rect">
            <a:avLst/>
          </a:prstGeom>
          <a:solidFill>
            <a:srgbClr val="FFFF99"/>
          </a:solidFill>
          <a:ln w="381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2400" b="1" dirty="0">
                <a:latin typeface="Liberation Sans" panose="020B0604020202020204" pitchFamily="34" charset="0"/>
              </a:rPr>
              <a:t>2/10, n/30</a:t>
            </a:r>
          </a:p>
        </p:txBody>
      </p:sp>
      <p:sp>
        <p:nvSpPr>
          <p:cNvPr id="21509" name="Rectangle 7"/>
          <p:cNvSpPr>
            <a:spLocks noChangeArrowheads="1"/>
          </p:cNvSpPr>
          <p:nvPr/>
        </p:nvSpPr>
        <p:spPr bwMode="auto">
          <a:xfrm>
            <a:off x="3352800" y="1524000"/>
            <a:ext cx="2438400" cy="990600"/>
          </a:xfrm>
          <a:prstGeom prst="rect">
            <a:avLst/>
          </a:prstGeom>
          <a:solidFill>
            <a:srgbClr val="FFFF99"/>
          </a:solidFill>
          <a:ln w="381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2400" b="1" dirty="0">
                <a:latin typeface="Liberation Sans" panose="020B0604020202020204" pitchFamily="34" charset="0"/>
              </a:rPr>
              <a:t>1/10 EOM</a:t>
            </a:r>
          </a:p>
        </p:txBody>
      </p:sp>
      <p:sp>
        <p:nvSpPr>
          <p:cNvPr id="21510" name="Rectangle 8"/>
          <p:cNvSpPr>
            <a:spLocks noChangeArrowheads="1"/>
          </p:cNvSpPr>
          <p:nvPr/>
        </p:nvSpPr>
        <p:spPr bwMode="auto">
          <a:xfrm>
            <a:off x="6096000" y="2514600"/>
            <a:ext cx="2438400" cy="1727200"/>
          </a:xfrm>
          <a:prstGeom prst="rect">
            <a:avLst/>
          </a:prstGeom>
          <a:solidFill>
            <a:srgbClr val="CCECFF"/>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nSpc>
                <a:spcPct val="120000"/>
              </a:lnSpc>
              <a:spcBef>
                <a:spcPct val="50000"/>
              </a:spcBef>
            </a:pPr>
            <a:r>
              <a:rPr lang="en-US" altLang="en-US" sz="2200" dirty="0">
                <a:solidFill>
                  <a:srgbClr val="000000"/>
                </a:solidFill>
                <a:latin typeface="Liberation Sans" panose="020B0604020202020204" pitchFamily="34" charset="0"/>
              </a:rPr>
              <a:t>Net amount due within the first 10 days of the next month.</a:t>
            </a:r>
          </a:p>
        </p:txBody>
      </p:sp>
      <p:sp>
        <p:nvSpPr>
          <p:cNvPr id="21511" name="Rectangle 9"/>
          <p:cNvSpPr>
            <a:spLocks noChangeArrowheads="1"/>
          </p:cNvSpPr>
          <p:nvPr/>
        </p:nvSpPr>
        <p:spPr bwMode="auto">
          <a:xfrm>
            <a:off x="6096000" y="1524000"/>
            <a:ext cx="2438400" cy="990600"/>
          </a:xfrm>
          <a:prstGeom prst="rect">
            <a:avLst/>
          </a:prstGeom>
          <a:solidFill>
            <a:srgbClr val="FFFF99"/>
          </a:solidFill>
          <a:ln w="381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2400" b="1" dirty="0">
                <a:latin typeface="Liberation Sans" panose="020B0604020202020204" pitchFamily="34" charset="0"/>
              </a:rPr>
              <a:t>n/10 EOM</a:t>
            </a:r>
          </a:p>
        </p:txBody>
      </p:sp>
      <p:sp>
        <p:nvSpPr>
          <p:cNvPr id="21515"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2"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Purchase Discounts </a:t>
            </a:r>
          </a:p>
        </p:txBody>
      </p:sp>
      <p:sp>
        <p:nvSpPr>
          <p:cNvPr id="13"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Text Box 2"/>
          <p:cNvSpPr txBox="1">
            <a:spLocks noChangeArrowheads="1"/>
          </p:cNvSpPr>
          <p:nvPr/>
        </p:nvSpPr>
        <p:spPr bwMode="auto">
          <a:xfrm>
            <a:off x="1905000" y="3803650"/>
            <a:ext cx="6400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Accounts Payable	3,500</a:t>
            </a:r>
          </a:p>
        </p:txBody>
      </p:sp>
      <p:sp>
        <p:nvSpPr>
          <p:cNvPr id="22531" name="Text Box 3"/>
          <p:cNvSpPr txBox="1">
            <a:spLocks noChangeArrowheads="1"/>
          </p:cNvSpPr>
          <p:nvPr/>
        </p:nvSpPr>
        <p:spPr bwMode="auto">
          <a:xfrm>
            <a:off x="533400" y="3810000"/>
            <a:ext cx="11430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14</a:t>
            </a:r>
          </a:p>
        </p:txBody>
      </p:sp>
      <p:sp>
        <p:nvSpPr>
          <p:cNvPr id="872452" name="Text Box 4"/>
          <p:cNvSpPr txBox="1">
            <a:spLocks noChangeArrowheads="1"/>
          </p:cNvSpPr>
          <p:nvPr/>
        </p:nvSpPr>
        <p:spPr bwMode="auto">
          <a:xfrm>
            <a:off x="1905000" y="4794250"/>
            <a:ext cx="6400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5715000" algn="r"/>
              </a:tabLst>
              <a:defRPr sz="2000">
                <a:solidFill>
                  <a:schemeClr val="tx1"/>
                </a:solidFill>
                <a:latin typeface="Comic Sans MS" panose="030F0702030302020204" pitchFamily="66" charset="0"/>
              </a:defRPr>
            </a:lvl1pPr>
            <a:lvl2pPr marL="742950" indent="-285750">
              <a:tabLst>
                <a:tab pos="4744720" algn="r"/>
                <a:tab pos="5715000" algn="r"/>
              </a:tabLst>
              <a:defRPr sz="2000">
                <a:solidFill>
                  <a:schemeClr val="tx1"/>
                </a:solidFill>
                <a:latin typeface="Comic Sans MS" panose="030F0702030302020204" pitchFamily="66" charset="0"/>
              </a:defRPr>
            </a:lvl2pPr>
            <a:lvl3pPr marL="1143000" indent="-228600">
              <a:tabLst>
                <a:tab pos="4744720" algn="r"/>
                <a:tab pos="5715000" algn="r"/>
              </a:tabLst>
              <a:defRPr sz="2000">
                <a:solidFill>
                  <a:schemeClr val="tx1"/>
                </a:solidFill>
                <a:latin typeface="Comic Sans MS" panose="030F0702030302020204" pitchFamily="66" charset="0"/>
              </a:defRPr>
            </a:lvl3pPr>
            <a:lvl4pPr marL="1600200" indent="-228600">
              <a:tabLst>
                <a:tab pos="4744720" algn="r"/>
                <a:tab pos="5715000" algn="r"/>
              </a:tabLst>
              <a:defRPr sz="2000">
                <a:solidFill>
                  <a:schemeClr val="tx1"/>
                </a:solidFill>
                <a:latin typeface="Comic Sans MS" panose="030F0702030302020204" pitchFamily="66" charset="0"/>
              </a:defRPr>
            </a:lvl4pPr>
            <a:lvl5pPr marL="2057400" indent="-228600">
              <a:tabLst>
                <a:tab pos="4744720" algn="r"/>
                <a:tab pos="5715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Cash 	    	3,430</a:t>
            </a:r>
          </a:p>
        </p:txBody>
      </p:sp>
      <p:sp>
        <p:nvSpPr>
          <p:cNvPr id="872454" name="Text Box 6"/>
          <p:cNvSpPr txBox="1">
            <a:spLocks noChangeArrowheads="1"/>
          </p:cNvSpPr>
          <p:nvPr/>
        </p:nvSpPr>
        <p:spPr bwMode="auto">
          <a:xfrm>
            <a:off x="1905000" y="4308475"/>
            <a:ext cx="6400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5715000" algn="r"/>
              </a:tabLst>
              <a:defRPr sz="2000">
                <a:solidFill>
                  <a:schemeClr val="tx1"/>
                </a:solidFill>
                <a:latin typeface="Comic Sans MS" panose="030F0702030302020204" pitchFamily="66" charset="0"/>
              </a:defRPr>
            </a:lvl1pPr>
            <a:lvl2pPr marL="742950" indent="-285750">
              <a:tabLst>
                <a:tab pos="4744720" algn="r"/>
                <a:tab pos="5715000" algn="r"/>
              </a:tabLst>
              <a:defRPr sz="2000">
                <a:solidFill>
                  <a:schemeClr val="tx1"/>
                </a:solidFill>
                <a:latin typeface="Comic Sans MS" panose="030F0702030302020204" pitchFamily="66" charset="0"/>
              </a:defRPr>
            </a:lvl2pPr>
            <a:lvl3pPr marL="1143000" indent="-228600">
              <a:tabLst>
                <a:tab pos="4744720" algn="r"/>
                <a:tab pos="5715000" algn="r"/>
              </a:tabLst>
              <a:defRPr sz="2000">
                <a:solidFill>
                  <a:schemeClr val="tx1"/>
                </a:solidFill>
                <a:latin typeface="Comic Sans MS" panose="030F0702030302020204" pitchFamily="66" charset="0"/>
              </a:defRPr>
            </a:lvl3pPr>
            <a:lvl4pPr marL="1600200" indent="-228600">
              <a:tabLst>
                <a:tab pos="4744720" algn="r"/>
                <a:tab pos="5715000" algn="r"/>
              </a:tabLst>
              <a:defRPr sz="2000">
                <a:solidFill>
                  <a:schemeClr val="tx1"/>
                </a:solidFill>
                <a:latin typeface="Comic Sans MS" panose="030F0702030302020204" pitchFamily="66" charset="0"/>
              </a:defRPr>
            </a:lvl4pPr>
            <a:lvl5pPr marL="2057400" indent="-228600">
              <a:tabLst>
                <a:tab pos="4744720" algn="r"/>
                <a:tab pos="5715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Inventory 		70</a:t>
            </a:r>
          </a:p>
        </p:txBody>
      </p:sp>
      <p:sp>
        <p:nvSpPr>
          <p:cNvPr id="872455" name="Text Box 7"/>
          <p:cNvSpPr txBox="1">
            <a:spLocks noChangeArrowheads="1"/>
          </p:cNvSpPr>
          <p:nvPr/>
        </p:nvSpPr>
        <p:spPr bwMode="auto">
          <a:xfrm>
            <a:off x="457200" y="5602288"/>
            <a:ext cx="4038600" cy="36671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744720" algn="r"/>
              </a:tabLst>
              <a:defRPr sz="2000">
                <a:solidFill>
                  <a:schemeClr val="tx1"/>
                </a:solidFill>
                <a:latin typeface="Comic Sans MS" panose="030F0702030302020204" pitchFamily="66" charset="0"/>
              </a:defRPr>
            </a:lvl1pPr>
            <a:lvl2pPr marL="742950" indent="-285750">
              <a:tabLst>
                <a:tab pos="4744720" algn="r"/>
              </a:tabLst>
              <a:defRPr sz="2000">
                <a:solidFill>
                  <a:schemeClr val="tx1"/>
                </a:solidFill>
                <a:latin typeface="Comic Sans MS" panose="030F0702030302020204" pitchFamily="66" charset="0"/>
              </a:defRPr>
            </a:lvl2pPr>
            <a:lvl3pPr marL="1143000" indent="-228600">
              <a:tabLst>
                <a:tab pos="4744720" algn="r"/>
              </a:tabLst>
              <a:defRPr sz="2000">
                <a:solidFill>
                  <a:schemeClr val="tx1"/>
                </a:solidFill>
                <a:latin typeface="Comic Sans MS" panose="030F0702030302020204" pitchFamily="66" charset="0"/>
              </a:defRPr>
            </a:lvl3pPr>
            <a:lvl4pPr marL="1600200" indent="-228600">
              <a:tabLst>
                <a:tab pos="4744720" algn="r"/>
              </a:tabLst>
              <a:defRPr sz="2000">
                <a:solidFill>
                  <a:schemeClr val="tx1"/>
                </a:solidFill>
                <a:latin typeface="Comic Sans MS" panose="030F0702030302020204" pitchFamily="66" charset="0"/>
              </a:defRPr>
            </a:lvl4pPr>
            <a:lvl5pPr marL="2057400" indent="-228600">
              <a:tabLst>
                <a:tab pos="474472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9pPr>
          </a:lstStyle>
          <a:p>
            <a:pPr algn="r">
              <a:spcBef>
                <a:spcPct val="50000"/>
              </a:spcBef>
            </a:pPr>
            <a:r>
              <a:rPr lang="en-US" altLang="en-US" sz="1800" dirty="0">
                <a:latin typeface="Liberation Sans" panose="020B0604020202020204" pitchFamily="34" charset="0"/>
                <a:cs typeface="Arial" panose="020B0604020202020204" pitchFamily="34" charset="0"/>
              </a:rPr>
              <a:t>(Discount = $3,500 x 2% = </a:t>
            </a:r>
            <a:r>
              <a:rPr lang="en-US" altLang="en-US" sz="1800" b="1" dirty="0">
                <a:latin typeface="Liberation Sans" panose="020B0604020202020204" pitchFamily="34" charset="0"/>
                <a:cs typeface="Arial" panose="020B0604020202020204" pitchFamily="34" charset="0"/>
              </a:rPr>
              <a:t>$70</a:t>
            </a:r>
            <a:r>
              <a:rPr lang="en-US" altLang="en-US" sz="1800" dirty="0">
                <a:latin typeface="Liberation Sans" panose="020B0604020202020204" pitchFamily="34" charset="0"/>
                <a:cs typeface="Arial" panose="020B0604020202020204" pitchFamily="34" charset="0"/>
              </a:rPr>
              <a:t>)</a:t>
            </a:r>
          </a:p>
        </p:txBody>
      </p:sp>
      <p:sp>
        <p:nvSpPr>
          <p:cNvPr id="22536" name="Text Box 9"/>
          <p:cNvSpPr txBox="1">
            <a:spLocks noChangeArrowheads="1"/>
          </p:cNvSpPr>
          <p:nvPr/>
        </p:nvSpPr>
        <p:spPr bwMode="auto">
          <a:xfrm>
            <a:off x="533400" y="1295400"/>
            <a:ext cx="7848600" cy="218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70000"/>
              </a:spcBef>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Assume Sauk Stereo pays the balance due of $3,500 (gross invoice price of $3,800 less purchase returns and allowances of $300) on May 14, the last day of the discount period.  Prepare the journal entry Sauk Stereo makes on May 14 to record the payment.</a:t>
            </a:r>
          </a:p>
        </p:txBody>
      </p:sp>
      <p:sp>
        <p:nvSpPr>
          <p:cNvPr id="22538"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1"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Purchase Discounts </a:t>
            </a:r>
          </a:p>
        </p:txBody>
      </p:sp>
      <p:sp>
        <p:nvSpPr>
          <p:cNvPr id="12"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2450"/>
                                        </p:tgtEl>
                                        <p:attrNameLst>
                                          <p:attrName>style.visibility</p:attrName>
                                        </p:attrNameLst>
                                      </p:cBhvr>
                                      <p:to>
                                        <p:strVal val="visible"/>
                                      </p:to>
                                    </p:set>
                                    <p:animEffect transition="in" filter="wipe(left)">
                                      <p:cBhvr>
                                        <p:cTn id="7" dur="500"/>
                                        <p:tgtEl>
                                          <p:spTgt spid="8724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2454"/>
                                        </p:tgtEl>
                                        <p:attrNameLst>
                                          <p:attrName>style.visibility</p:attrName>
                                        </p:attrNameLst>
                                      </p:cBhvr>
                                      <p:to>
                                        <p:strVal val="visible"/>
                                      </p:to>
                                    </p:set>
                                    <p:animEffect transition="in" filter="wipe(left)">
                                      <p:cBhvr>
                                        <p:cTn id="12" dur="500"/>
                                        <p:tgtEl>
                                          <p:spTgt spid="87245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72455"/>
                                        </p:tgtEl>
                                        <p:attrNameLst>
                                          <p:attrName>style.visibility</p:attrName>
                                        </p:attrNameLst>
                                      </p:cBhvr>
                                      <p:to>
                                        <p:strVal val="visible"/>
                                      </p:to>
                                    </p:set>
                                    <p:animEffect transition="in" filter="wipe(left)">
                                      <p:cBhvr>
                                        <p:cTn id="16" dur="500"/>
                                        <p:tgtEl>
                                          <p:spTgt spid="87245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72452"/>
                                        </p:tgtEl>
                                        <p:attrNameLst>
                                          <p:attrName>style.visibility</p:attrName>
                                        </p:attrNameLst>
                                      </p:cBhvr>
                                      <p:to>
                                        <p:strVal val="visible"/>
                                      </p:to>
                                    </p:set>
                                    <p:animEffect transition="in" filter="wipe(left)">
                                      <p:cBhvr>
                                        <p:cTn id="21" dur="500"/>
                                        <p:tgtEl>
                                          <p:spTgt spid="872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0" grpId="0" autoUpdateAnimBg="0"/>
      <p:bldP spid="872452" grpId="0" autoUpdateAnimBg="0"/>
      <p:bldP spid="872454" grpId="0" autoUpdateAnimBg="0"/>
      <p:bldP spid="87245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Text Box 2"/>
          <p:cNvSpPr txBox="1">
            <a:spLocks noChangeArrowheads="1"/>
          </p:cNvSpPr>
          <p:nvPr/>
        </p:nvSpPr>
        <p:spPr bwMode="auto">
          <a:xfrm>
            <a:off x="1905000" y="2963863"/>
            <a:ext cx="6400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Accounts Payable	3,500</a:t>
            </a:r>
          </a:p>
        </p:txBody>
      </p:sp>
      <p:sp>
        <p:nvSpPr>
          <p:cNvPr id="23555" name="Text Box 3"/>
          <p:cNvSpPr txBox="1">
            <a:spLocks noChangeArrowheads="1"/>
          </p:cNvSpPr>
          <p:nvPr/>
        </p:nvSpPr>
        <p:spPr bwMode="auto">
          <a:xfrm>
            <a:off x="533400" y="2963863"/>
            <a:ext cx="1066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June 3</a:t>
            </a:r>
          </a:p>
        </p:txBody>
      </p:sp>
      <p:sp>
        <p:nvSpPr>
          <p:cNvPr id="874501" name="Text Box 5"/>
          <p:cNvSpPr txBox="1">
            <a:spLocks noChangeArrowheads="1"/>
          </p:cNvSpPr>
          <p:nvPr/>
        </p:nvSpPr>
        <p:spPr bwMode="auto">
          <a:xfrm>
            <a:off x="1905000" y="3468688"/>
            <a:ext cx="6400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5715000" algn="r"/>
              </a:tabLst>
              <a:defRPr sz="2000">
                <a:solidFill>
                  <a:schemeClr val="tx1"/>
                </a:solidFill>
                <a:latin typeface="Comic Sans MS" panose="030F0702030302020204" pitchFamily="66" charset="0"/>
              </a:defRPr>
            </a:lvl1pPr>
            <a:lvl2pPr marL="742950" indent="-285750">
              <a:tabLst>
                <a:tab pos="4744720" algn="r"/>
                <a:tab pos="5715000" algn="r"/>
              </a:tabLst>
              <a:defRPr sz="2000">
                <a:solidFill>
                  <a:schemeClr val="tx1"/>
                </a:solidFill>
                <a:latin typeface="Comic Sans MS" panose="030F0702030302020204" pitchFamily="66" charset="0"/>
              </a:defRPr>
            </a:lvl2pPr>
            <a:lvl3pPr marL="1143000" indent="-228600">
              <a:tabLst>
                <a:tab pos="4744720" algn="r"/>
                <a:tab pos="5715000" algn="r"/>
              </a:tabLst>
              <a:defRPr sz="2000">
                <a:solidFill>
                  <a:schemeClr val="tx1"/>
                </a:solidFill>
                <a:latin typeface="Comic Sans MS" panose="030F0702030302020204" pitchFamily="66" charset="0"/>
              </a:defRPr>
            </a:lvl3pPr>
            <a:lvl4pPr marL="1600200" indent="-228600">
              <a:tabLst>
                <a:tab pos="4744720" algn="r"/>
                <a:tab pos="5715000" algn="r"/>
              </a:tabLst>
              <a:defRPr sz="2000">
                <a:solidFill>
                  <a:schemeClr val="tx1"/>
                </a:solidFill>
                <a:latin typeface="Comic Sans MS" panose="030F0702030302020204" pitchFamily="66" charset="0"/>
              </a:defRPr>
            </a:lvl4pPr>
            <a:lvl5pPr marL="2057400" indent="-228600">
              <a:tabLst>
                <a:tab pos="4744720" algn="r"/>
                <a:tab pos="5715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Cash 		3,500</a:t>
            </a:r>
          </a:p>
        </p:txBody>
      </p:sp>
      <p:sp>
        <p:nvSpPr>
          <p:cNvPr id="23558" name="Text Box 9"/>
          <p:cNvSpPr txBox="1">
            <a:spLocks noChangeArrowheads="1"/>
          </p:cNvSpPr>
          <p:nvPr/>
        </p:nvSpPr>
        <p:spPr bwMode="auto">
          <a:xfrm>
            <a:off x="533400" y="1295400"/>
            <a:ext cx="8001000" cy="134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70000"/>
              </a:spcBef>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If Sauk Stereo failed to take the discount, and instead made full payment of $3,500 on June 3, the journal entry would be:</a:t>
            </a:r>
          </a:p>
        </p:txBody>
      </p:sp>
      <p:sp>
        <p:nvSpPr>
          <p:cNvPr id="23560"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9"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Purchase Discounts </a:t>
            </a:r>
          </a:p>
        </p:txBody>
      </p:sp>
      <p:sp>
        <p:nvSpPr>
          <p:cNvPr id="10"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4498"/>
                                        </p:tgtEl>
                                        <p:attrNameLst>
                                          <p:attrName>style.visibility</p:attrName>
                                        </p:attrNameLst>
                                      </p:cBhvr>
                                      <p:to>
                                        <p:strVal val="visible"/>
                                      </p:to>
                                    </p:set>
                                    <p:animEffect transition="in" filter="wipe(left)">
                                      <p:cBhvr>
                                        <p:cTn id="7" dur="500"/>
                                        <p:tgtEl>
                                          <p:spTgt spid="8744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4501"/>
                                        </p:tgtEl>
                                        <p:attrNameLst>
                                          <p:attrName>style.visibility</p:attrName>
                                        </p:attrNameLst>
                                      </p:cBhvr>
                                      <p:to>
                                        <p:strVal val="visible"/>
                                      </p:to>
                                    </p:set>
                                    <p:animEffect transition="in" filter="wipe(left)">
                                      <p:cBhvr>
                                        <p:cTn id="12" dur="500"/>
                                        <p:tgtEl>
                                          <p:spTgt spid="874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498" grpId="0" autoUpdateAnimBg="0"/>
      <p:bldP spid="87450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533400" y="1371600"/>
            <a:ext cx="8153400" cy="4670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10000"/>
              </a:lnSpc>
              <a:spcBef>
                <a:spcPct val="70000"/>
              </a:spcBef>
              <a:spcAft>
                <a:spcPct val="20000"/>
              </a:spcAft>
              <a:buSzPct val="80000"/>
            </a:pPr>
            <a:r>
              <a:rPr lang="en-US" altLang="en-US" sz="2400" b="1" dirty="0">
                <a:solidFill>
                  <a:srgbClr val="000000"/>
                </a:solidFill>
                <a:latin typeface="Liberation Sans" panose="020B0604020202020204" pitchFamily="34" charset="0"/>
              </a:rPr>
              <a:t>Should discounts be taken</a:t>
            </a:r>
            <a:r>
              <a:rPr lang="en-US" altLang="en-US" sz="2400" dirty="0">
                <a:solidFill>
                  <a:srgbClr val="000000"/>
                </a:solidFill>
                <a:latin typeface="Liberation Sans" panose="020B0604020202020204" pitchFamily="34" charset="0"/>
              </a:rPr>
              <a:t> when offered?</a:t>
            </a:r>
          </a:p>
        </p:txBody>
      </p:sp>
      <p:graphicFrame>
        <p:nvGraphicFramePr>
          <p:cNvPr id="24580" name="Object 5"/>
          <p:cNvGraphicFramePr>
            <a:graphicFrameLocks noChangeAspect="1"/>
          </p:cNvGraphicFramePr>
          <p:nvPr/>
        </p:nvGraphicFramePr>
        <p:xfrm>
          <a:off x="661988" y="1935163"/>
          <a:ext cx="7553325" cy="1720850"/>
        </p:xfrm>
        <a:graphic>
          <a:graphicData uri="http://schemas.openxmlformats.org/presentationml/2006/ole">
            <mc:AlternateContent xmlns:mc="http://schemas.openxmlformats.org/markup-compatibility/2006">
              <mc:Choice xmlns:v="urn:schemas-microsoft-com:vml" Requires="v">
                <p:oleObj spid="_x0000_s1026" name="Worksheet" r:id="rId4" imgW="6045200" imgH="1397000" progId="Excel.Sheet.8">
                  <p:embed/>
                </p:oleObj>
              </mc:Choice>
              <mc:Fallback>
                <p:oleObj name="Worksheet" r:id="rId4" imgW="6045200" imgH="1397000" progId="Excel.Sheet.8">
                  <p:embed/>
                  <p:pic>
                    <p:nvPicPr>
                      <p:cNvPr id="0" name="Object 5"/>
                      <p:cNvPicPr>
                        <a:picLocks noChangeAspect="1" noChangeArrowheads="1"/>
                      </p:cNvPicPr>
                      <p:nvPr/>
                    </p:nvPicPr>
                    <p:blipFill>
                      <a:blip r:embed="rId5"/>
                      <a:srcRect/>
                      <a:stretch>
                        <a:fillRect/>
                      </a:stretch>
                    </p:blipFill>
                    <p:spPr bwMode="auto">
                      <a:xfrm>
                        <a:off x="661988" y="1935163"/>
                        <a:ext cx="7553325" cy="1720850"/>
                      </a:xfrm>
                      <a:prstGeom prst="rect">
                        <a:avLst/>
                      </a:prstGeom>
                      <a:solidFill>
                        <a:schemeClr val="bg1"/>
                      </a:solidFill>
                      <a:ln>
                        <a:noFill/>
                      </a:ln>
                      <a:effectLst/>
                      <a:extLs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81" name="Rectangle 6"/>
          <p:cNvSpPr>
            <a:spLocks noChangeArrowheads="1"/>
          </p:cNvSpPr>
          <p:nvPr/>
        </p:nvSpPr>
        <p:spPr bwMode="auto">
          <a:xfrm>
            <a:off x="1052513" y="4144963"/>
            <a:ext cx="7010400" cy="985837"/>
          </a:xfrm>
          <a:prstGeom prst="rect">
            <a:avLst/>
          </a:prstGeom>
          <a:solidFill>
            <a:srgbClr val="FAEFB6"/>
          </a:solidFill>
          <a:ln w="285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nSpc>
                <a:spcPct val="115000"/>
              </a:lnSpc>
              <a:spcBef>
                <a:spcPct val="40000"/>
              </a:spcBef>
            </a:pPr>
            <a:r>
              <a:rPr lang="en-US" altLang="en-US" sz="2100" b="1" dirty="0">
                <a:solidFill>
                  <a:srgbClr val="800000"/>
                </a:solidFill>
                <a:latin typeface="Liberation Sans" panose="020B0604020202020204" pitchFamily="34" charset="0"/>
              </a:rPr>
              <a:t>Example:</a:t>
            </a:r>
            <a:r>
              <a:rPr lang="en-US" altLang="en-US" sz="2100" dirty="0">
                <a:latin typeface="Liberation Sans" panose="020B0604020202020204" pitchFamily="34" charset="0"/>
              </a:rPr>
              <a:t>  2% for 20 days = Annual rate of 36.5%</a:t>
            </a:r>
          </a:p>
          <a:p>
            <a:pPr>
              <a:lnSpc>
                <a:spcPct val="115000"/>
              </a:lnSpc>
              <a:spcBef>
                <a:spcPct val="40000"/>
              </a:spcBef>
            </a:pPr>
            <a:r>
              <a:rPr lang="en-US" altLang="en-US" sz="2100" dirty="0">
                <a:latin typeface="Liberation Sans" panose="020B0604020202020204" pitchFamily="34" charset="0"/>
              </a:rPr>
              <a:t>$3,500 x 36.5% x 20 </a:t>
            </a:r>
            <a:r>
              <a:rPr lang="en-US" altLang="en-US" sz="2100" dirty="0">
                <a:latin typeface="Liberation Sans" panose="020B0604020202020204" pitchFamily="34" charset="0"/>
                <a:cs typeface="Arial" panose="020B0604020202020204" pitchFamily="34" charset="0"/>
              </a:rPr>
              <a:t>÷ </a:t>
            </a:r>
            <a:r>
              <a:rPr lang="en-US" altLang="en-US" sz="2100" dirty="0">
                <a:latin typeface="Liberation Sans" panose="020B0604020202020204" pitchFamily="34" charset="0"/>
              </a:rPr>
              <a:t>365 = $70</a:t>
            </a:r>
          </a:p>
        </p:txBody>
      </p:sp>
      <p:sp>
        <p:nvSpPr>
          <p:cNvPr id="24584"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9"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Purchase Discounts </a:t>
            </a:r>
          </a:p>
        </p:txBody>
      </p:sp>
      <p:sp>
        <p:nvSpPr>
          <p:cNvPr id="10"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p:cNvGraphicFramePr>
            <a:graphicFrameLocks noChangeAspect="1"/>
          </p:cNvGraphicFramePr>
          <p:nvPr/>
        </p:nvGraphicFramePr>
        <p:xfrm>
          <a:off x="1676400" y="1219200"/>
          <a:ext cx="5867400" cy="4400550"/>
        </p:xfrm>
        <a:graphic>
          <a:graphicData uri="http://schemas.openxmlformats.org/presentationml/2006/ole">
            <mc:AlternateContent xmlns:mc="http://schemas.openxmlformats.org/markup-compatibility/2006">
              <mc:Choice xmlns:v="urn:schemas-microsoft-com:vml" Requires="v">
                <p:oleObj spid="_x0000_s2050" name="Slide" r:id="rId4" imgW="4517390" imgH="3388360" progId="PowerPoint.Slide.8">
                  <p:embed/>
                </p:oleObj>
              </mc:Choice>
              <mc:Fallback>
                <p:oleObj name="Slide" r:id="rId4" imgW="4517390" imgH="3388360" progId="PowerPoint.Slide.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1219200"/>
                        <a:ext cx="5867400"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3" name="Text Box 3"/>
          <p:cNvSpPr txBox="1">
            <a:spLocks noChangeArrowheads="1"/>
          </p:cNvSpPr>
          <p:nvPr/>
        </p:nvSpPr>
        <p:spPr bwMode="auto">
          <a:xfrm>
            <a:off x="2667000" y="2895600"/>
            <a:ext cx="1665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spcBef>
                <a:spcPct val="50000"/>
              </a:spcBef>
            </a:pPr>
            <a:r>
              <a:rPr lang="en-US" altLang="en-US" sz="2400" dirty="0">
                <a:latin typeface="Liberation Sans" panose="020B0604020202020204" pitchFamily="34" charset="0"/>
              </a:rPr>
              <a:t>3,800</a:t>
            </a:r>
          </a:p>
        </p:txBody>
      </p:sp>
      <p:sp>
        <p:nvSpPr>
          <p:cNvPr id="25604" name="Text Box 4"/>
          <p:cNvSpPr txBox="1">
            <a:spLocks noChangeArrowheads="1"/>
          </p:cNvSpPr>
          <p:nvPr/>
        </p:nvSpPr>
        <p:spPr bwMode="auto">
          <a:xfrm>
            <a:off x="6705600" y="2895600"/>
            <a:ext cx="2201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400" dirty="0">
                <a:latin typeface="Liberation Sans" panose="020B0604020202020204" pitchFamily="34" charset="0"/>
              </a:rPr>
              <a:t>8</a:t>
            </a:r>
            <a:r>
              <a:rPr lang="en-US" altLang="en-US" sz="2400" baseline="30000" dirty="0">
                <a:latin typeface="Liberation Sans" panose="020B0604020202020204" pitchFamily="34" charset="0"/>
              </a:rPr>
              <a:t>th</a:t>
            </a:r>
            <a:r>
              <a:rPr lang="en-US" altLang="en-US" sz="2400" dirty="0">
                <a:latin typeface="Liberation Sans" panose="020B0604020202020204" pitchFamily="34" charset="0"/>
              </a:rPr>
              <a:t> - Return</a:t>
            </a:r>
          </a:p>
        </p:txBody>
      </p:sp>
      <p:sp>
        <p:nvSpPr>
          <p:cNvPr id="25605" name="Text Box 5"/>
          <p:cNvSpPr txBox="1">
            <a:spLocks noChangeArrowheads="1"/>
          </p:cNvSpPr>
          <p:nvPr/>
        </p:nvSpPr>
        <p:spPr bwMode="auto">
          <a:xfrm>
            <a:off x="4953000" y="28956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spcBef>
                <a:spcPct val="50000"/>
              </a:spcBef>
            </a:pPr>
            <a:r>
              <a:rPr lang="en-US" altLang="en-US" sz="2400" dirty="0">
                <a:latin typeface="Liberation Sans" panose="020B0604020202020204" pitchFamily="34" charset="0"/>
              </a:rPr>
              <a:t>300</a:t>
            </a:r>
          </a:p>
        </p:txBody>
      </p:sp>
      <p:sp>
        <p:nvSpPr>
          <p:cNvPr id="25606" name="Text Box 6"/>
          <p:cNvSpPr txBox="1">
            <a:spLocks noChangeArrowheads="1"/>
          </p:cNvSpPr>
          <p:nvPr/>
        </p:nvSpPr>
        <p:spPr bwMode="auto">
          <a:xfrm>
            <a:off x="228600" y="4267200"/>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spcBef>
                <a:spcPct val="50000"/>
              </a:spcBef>
            </a:pPr>
            <a:r>
              <a:rPr lang="en-US" altLang="en-US" sz="2400" dirty="0">
                <a:latin typeface="Liberation Sans" panose="020B0604020202020204" pitchFamily="34" charset="0"/>
              </a:rPr>
              <a:t>Balance</a:t>
            </a:r>
          </a:p>
        </p:txBody>
      </p:sp>
      <p:sp>
        <p:nvSpPr>
          <p:cNvPr id="25607" name="Text Box 7"/>
          <p:cNvSpPr txBox="1">
            <a:spLocks noChangeArrowheads="1"/>
          </p:cNvSpPr>
          <p:nvPr/>
        </p:nvSpPr>
        <p:spPr bwMode="auto">
          <a:xfrm>
            <a:off x="152400" y="28956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spcBef>
                <a:spcPct val="50000"/>
              </a:spcBef>
            </a:pPr>
            <a:r>
              <a:rPr lang="en-US" altLang="en-US" sz="2400" dirty="0">
                <a:latin typeface="Liberation Sans" panose="020B0604020202020204" pitchFamily="34" charset="0"/>
              </a:rPr>
              <a:t>4</a:t>
            </a:r>
            <a:r>
              <a:rPr lang="en-US" altLang="en-US" sz="2400" baseline="30000" dirty="0">
                <a:latin typeface="Liberation Sans" panose="020B0604020202020204" pitchFamily="34" charset="0"/>
              </a:rPr>
              <a:t>th</a:t>
            </a:r>
            <a:r>
              <a:rPr lang="en-US" altLang="en-US" sz="2400" dirty="0">
                <a:latin typeface="Liberation Sans" panose="020B0604020202020204" pitchFamily="34" charset="0"/>
              </a:rPr>
              <a:t> - Purchase</a:t>
            </a:r>
          </a:p>
        </p:txBody>
      </p:sp>
      <p:sp>
        <p:nvSpPr>
          <p:cNvPr id="25608" name="Text Box 8"/>
          <p:cNvSpPr txBox="1">
            <a:spLocks noChangeArrowheads="1"/>
          </p:cNvSpPr>
          <p:nvPr/>
        </p:nvSpPr>
        <p:spPr bwMode="auto">
          <a:xfrm>
            <a:off x="2590800" y="4267200"/>
            <a:ext cx="1752600" cy="457200"/>
          </a:xfrm>
          <a:prstGeom prst="rect">
            <a:avLst/>
          </a:prstGeom>
          <a:noFill/>
          <a:ln>
            <a:noFill/>
          </a:ln>
          <a:effectLst/>
          <a:extLst>
            <a:ext uri="{909E8E84-426E-40DD-AFC4-6F175D3DCCD1}">
              <a14:hiddenFill xmlns:a14="http://schemas.microsoft.com/office/drawing/2010/main">
                <a:solidFill>
                  <a:srgbClr val="F7F48B"/>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1204595" algn="r"/>
              </a:tabLst>
              <a:defRPr sz="2000">
                <a:solidFill>
                  <a:schemeClr val="tx1"/>
                </a:solidFill>
                <a:latin typeface="Comic Sans MS" panose="030F0702030302020204" pitchFamily="66" charset="0"/>
              </a:defRPr>
            </a:lvl1pPr>
            <a:lvl2pPr marL="742950" indent="-285750">
              <a:tabLst>
                <a:tab pos="1204595" algn="r"/>
              </a:tabLst>
              <a:defRPr sz="2000">
                <a:solidFill>
                  <a:schemeClr val="tx1"/>
                </a:solidFill>
                <a:latin typeface="Comic Sans MS" panose="030F0702030302020204" pitchFamily="66" charset="0"/>
              </a:defRPr>
            </a:lvl2pPr>
            <a:lvl3pPr marL="1143000" indent="-228600">
              <a:tabLst>
                <a:tab pos="1204595" algn="r"/>
              </a:tabLst>
              <a:defRPr sz="2000">
                <a:solidFill>
                  <a:schemeClr val="tx1"/>
                </a:solidFill>
                <a:latin typeface="Comic Sans MS" panose="030F0702030302020204" pitchFamily="66" charset="0"/>
              </a:defRPr>
            </a:lvl3pPr>
            <a:lvl4pPr marL="1600200" indent="-228600">
              <a:tabLst>
                <a:tab pos="1204595" algn="r"/>
              </a:tabLst>
              <a:defRPr sz="2000">
                <a:solidFill>
                  <a:schemeClr val="tx1"/>
                </a:solidFill>
                <a:latin typeface="Comic Sans MS" panose="030F0702030302020204" pitchFamily="66" charset="0"/>
              </a:defRPr>
            </a:lvl4pPr>
            <a:lvl5pPr marL="2057400" indent="-228600">
              <a:tabLst>
                <a:tab pos="1204595"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1204595"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1204595"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1204595"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1204595" algn="r"/>
              </a:tabLst>
              <a:defRPr sz="2000">
                <a:solidFill>
                  <a:schemeClr val="tx1"/>
                </a:solidFill>
                <a:latin typeface="Comic Sans MS" panose="030F0702030302020204" pitchFamily="66" charset="0"/>
              </a:defRPr>
            </a:lvl9pPr>
          </a:lstStyle>
          <a:p>
            <a:pPr algn="r">
              <a:spcBef>
                <a:spcPct val="50000"/>
              </a:spcBef>
            </a:pPr>
            <a:r>
              <a:rPr lang="en-US" altLang="en-US" sz="2400" dirty="0">
                <a:latin typeface="Liberation Sans" panose="020B0604020202020204" pitchFamily="34" charset="0"/>
              </a:rPr>
              <a:t>	3,580</a:t>
            </a:r>
          </a:p>
        </p:txBody>
      </p:sp>
      <p:sp>
        <p:nvSpPr>
          <p:cNvPr id="25609" name="Text Box 9"/>
          <p:cNvSpPr txBox="1">
            <a:spLocks noChangeArrowheads="1"/>
          </p:cNvSpPr>
          <p:nvPr/>
        </p:nvSpPr>
        <p:spPr bwMode="auto">
          <a:xfrm>
            <a:off x="4953000" y="3336925"/>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spcBef>
                <a:spcPct val="50000"/>
              </a:spcBef>
            </a:pPr>
            <a:r>
              <a:rPr lang="en-US" altLang="en-US" sz="2400" dirty="0">
                <a:latin typeface="Liberation Sans" panose="020B0604020202020204" pitchFamily="34" charset="0"/>
              </a:rPr>
              <a:t>70</a:t>
            </a:r>
          </a:p>
        </p:txBody>
      </p:sp>
      <p:sp>
        <p:nvSpPr>
          <p:cNvPr id="25610" name="Text Box 10"/>
          <p:cNvSpPr txBox="1">
            <a:spLocks noChangeArrowheads="1"/>
          </p:cNvSpPr>
          <p:nvPr/>
        </p:nvSpPr>
        <p:spPr bwMode="auto">
          <a:xfrm>
            <a:off x="6705600" y="3336925"/>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400" dirty="0">
                <a:latin typeface="Liberation Sans" panose="020B0604020202020204" pitchFamily="34" charset="0"/>
              </a:rPr>
              <a:t>14</a:t>
            </a:r>
            <a:r>
              <a:rPr lang="en-US" altLang="en-US" sz="2400" baseline="30000" dirty="0">
                <a:latin typeface="Liberation Sans" panose="020B0604020202020204" pitchFamily="34" charset="0"/>
              </a:rPr>
              <a:t>th</a:t>
            </a:r>
            <a:r>
              <a:rPr lang="en-US" altLang="en-US" sz="2400" dirty="0">
                <a:latin typeface="Liberation Sans" panose="020B0604020202020204" pitchFamily="34" charset="0"/>
              </a:rPr>
              <a:t> - Discount</a:t>
            </a:r>
          </a:p>
        </p:txBody>
      </p:sp>
      <p:sp>
        <p:nvSpPr>
          <p:cNvPr id="25612" name="Text Box 13"/>
          <p:cNvSpPr txBox="1">
            <a:spLocks noChangeArrowheads="1"/>
          </p:cNvSpPr>
          <p:nvPr/>
        </p:nvSpPr>
        <p:spPr bwMode="auto">
          <a:xfrm>
            <a:off x="2667000" y="3336925"/>
            <a:ext cx="1665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spcBef>
                <a:spcPct val="50000"/>
              </a:spcBef>
            </a:pPr>
            <a:r>
              <a:rPr lang="en-US" altLang="en-US" sz="2400" dirty="0">
                <a:latin typeface="Liberation Sans" panose="020B0604020202020204" pitchFamily="34" charset="0"/>
              </a:rPr>
              <a:t>150</a:t>
            </a:r>
          </a:p>
        </p:txBody>
      </p:sp>
      <p:sp>
        <p:nvSpPr>
          <p:cNvPr id="25613" name="Text Box 14"/>
          <p:cNvSpPr txBox="1">
            <a:spLocks noChangeArrowheads="1"/>
          </p:cNvSpPr>
          <p:nvPr/>
        </p:nvSpPr>
        <p:spPr bwMode="auto">
          <a:xfrm>
            <a:off x="0" y="3336925"/>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spcBef>
                <a:spcPct val="50000"/>
              </a:spcBef>
            </a:pPr>
            <a:r>
              <a:rPr lang="en-US" altLang="en-US" sz="2400" dirty="0">
                <a:latin typeface="Liberation Sans" panose="020B0604020202020204" pitchFamily="34" charset="0"/>
              </a:rPr>
              <a:t>6</a:t>
            </a:r>
            <a:r>
              <a:rPr lang="en-US" altLang="en-US" sz="2400" baseline="30000" dirty="0">
                <a:latin typeface="Liberation Sans" panose="020B0604020202020204" pitchFamily="34" charset="0"/>
              </a:rPr>
              <a:t>th</a:t>
            </a:r>
            <a:r>
              <a:rPr lang="en-US" altLang="en-US" sz="2400" dirty="0">
                <a:latin typeface="Liberation Sans" panose="020B0604020202020204" pitchFamily="34" charset="0"/>
              </a:rPr>
              <a:t> – Freight-in</a:t>
            </a:r>
          </a:p>
        </p:txBody>
      </p:sp>
      <p:sp>
        <p:nvSpPr>
          <p:cNvPr id="25616"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7"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Summary of Purchasing Transactions </a:t>
            </a:r>
          </a:p>
        </p:txBody>
      </p:sp>
      <p:sp>
        <p:nvSpPr>
          <p:cNvPr id="18"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ChangeArrowheads="1"/>
          </p:cNvSpPr>
          <p:nvPr/>
        </p:nvSpPr>
        <p:spPr bwMode="auto">
          <a:xfrm>
            <a:off x="609600" y="1447800"/>
            <a:ext cx="8077200" cy="249254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20000"/>
              </a:spcBef>
              <a:buClr>
                <a:schemeClr val="accent2"/>
              </a:buClr>
              <a:buSzPct val="75000"/>
              <a:buFont typeface="Wingdings" panose="05000000000000000000" pitchFamily="2" charset="2"/>
              <a:buChar char="l"/>
              <a:tabLst>
                <a:tab pos="2057400" algn="l"/>
              </a:tabLst>
              <a:defRPr sz="2800" b="1">
                <a:solidFill>
                  <a:schemeClr val="bg2"/>
                </a:solidFill>
                <a:latin typeface="Arial" panose="020B0604020202020204" pitchFamily="34" charset="0"/>
              </a:defRPr>
            </a:lvl1pPr>
            <a:lvl2pPr marL="742950" indent="-285750" algn="l">
              <a:spcBef>
                <a:spcPct val="20000"/>
              </a:spcBef>
              <a:buClr>
                <a:schemeClr val="accent2"/>
              </a:buClr>
              <a:buSzPct val="75000"/>
              <a:buFont typeface="Wingdings" panose="05000000000000000000" pitchFamily="2" charset="2"/>
              <a:buChar char="l"/>
              <a:tabLst>
                <a:tab pos="2057400" algn="l"/>
              </a:tabLst>
              <a:defRPr sz="2400" b="1">
                <a:solidFill>
                  <a:schemeClr val="bg2"/>
                </a:solidFill>
                <a:latin typeface="Arial" panose="020B0604020202020204" pitchFamily="34" charset="0"/>
              </a:defRPr>
            </a:lvl2pPr>
            <a:lvl3pPr marL="11430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3pPr>
            <a:lvl4pPr marL="16002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4pPr>
            <a:lvl5pPr marL="20574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9pPr>
          </a:lstStyle>
          <a:p>
            <a:pPr>
              <a:lnSpc>
                <a:spcPct val="120000"/>
              </a:lnSpc>
              <a:spcBef>
                <a:spcPts val="1200"/>
              </a:spcBef>
              <a:buClrTx/>
              <a:buSzTx/>
              <a:buFontTx/>
              <a:buNone/>
            </a:pPr>
            <a:r>
              <a:rPr lang="en-US" sz="2200" b="0" dirty="0">
                <a:solidFill>
                  <a:schemeClr val="tx1"/>
                </a:solidFill>
                <a:latin typeface="Liberation Sans" panose="020B0604020202020204" pitchFamily="34" charset="0"/>
              </a:rPr>
              <a:t>On September 5, De La Hoya Company buys merchandise on account from Junot Diaz Company. The selling price of the goods is $1,500, and the cost to Diaz Company was $800. On September 8, De La Hoya returns defective goods with a selling price of $200. Record the transactions on the books of De La Hoya Company.</a:t>
            </a:r>
          </a:p>
        </p:txBody>
      </p:sp>
      <p:sp>
        <p:nvSpPr>
          <p:cNvPr id="18" name="Line 29"/>
          <p:cNvSpPr>
            <a:spLocks noChangeShapeType="1"/>
          </p:cNvSpPr>
          <p:nvPr/>
        </p:nvSpPr>
        <p:spPr bwMode="auto">
          <a:xfrm>
            <a:off x="290286" y="784324"/>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9"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71"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20"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286" y="357188"/>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21"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0857"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22"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3472" y="571501"/>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3" name="TextBox 22"/>
          <p:cNvSpPr txBox="1"/>
          <p:nvPr/>
        </p:nvSpPr>
        <p:spPr>
          <a:xfrm>
            <a:off x="2467428" y="428625"/>
            <a:ext cx="435429" cy="641336"/>
          </a:xfrm>
          <a:prstGeom prst="rect">
            <a:avLst/>
          </a:prstGeom>
          <a:noFill/>
        </p:spPr>
        <p:txBody>
          <a:bodyPr wrap="square" lIns="86493" tIns="43247" rIns="86493" bIns="43247" rtlCol="0">
            <a:spAutoFit/>
          </a:bodyPr>
          <a:lstStyle/>
          <a:p>
            <a:r>
              <a:rPr lang="en-US" sz="3600" b="1" dirty="0">
                <a:solidFill>
                  <a:srgbClr val="FF6600"/>
                </a:solidFill>
                <a:latin typeface="Liberation Sans" panose="020B0604020202020204" pitchFamily="34" charset="0"/>
              </a:rPr>
              <a:t>2</a:t>
            </a:r>
          </a:p>
        </p:txBody>
      </p:sp>
      <p:sp>
        <p:nvSpPr>
          <p:cNvPr id="24" name="TextBox 23"/>
          <p:cNvSpPr txBox="1"/>
          <p:nvPr/>
        </p:nvSpPr>
        <p:spPr>
          <a:xfrm>
            <a:off x="3262085" y="457200"/>
            <a:ext cx="5664201" cy="662464"/>
          </a:xfrm>
          <a:prstGeom prst="rect">
            <a:avLst/>
          </a:prstGeom>
          <a:solidFill>
            <a:srgbClr val="0027A4"/>
          </a:solidFill>
        </p:spPr>
        <p:txBody>
          <a:bodyPr wrap="square" lIns="86493" tIns="43247" rIns="86493" bIns="43247" rtlCol="0" anchor="ctr" anchorCtr="0">
            <a:noAutofit/>
          </a:bodyPr>
          <a:lstStyle/>
          <a:p>
            <a:pPr marL="111125" algn="l"/>
            <a:r>
              <a:rPr lang="en-US" sz="2800" b="1" dirty="0">
                <a:solidFill>
                  <a:schemeClr val="bg1"/>
                </a:solidFill>
                <a:latin typeface="Liberation Sans" panose="020B0604020202020204" pitchFamily="34" charset="0"/>
              </a:rPr>
              <a:t>Purchase Transactions</a:t>
            </a:r>
          </a:p>
        </p:txBody>
      </p:sp>
      <p:pic>
        <p:nvPicPr>
          <p:cNvPr id="25"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457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6" name="TextBox 25"/>
          <p:cNvSpPr txBox="1"/>
          <p:nvPr/>
        </p:nvSpPr>
        <p:spPr>
          <a:xfrm>
            <a:off x="152400" y="381000"/>
            <a:ext cx="2209800" cy="738664"/>
          </a:xfrm>
          <a:prstGeom prst="rect">
            <a:avLst/>
          </a:prstGeom>
          <a:noFill/>
        </p:spPr>
        <p:txBody>
          <a:bodyPr wrap="square" rtlCol="0">
            <a:spAutoFit/>
          </a:bodyPr>
          <a:lstStyle/>
          <a:p>
            <a:r>
              <a:rPr lang="en-US" sz="4200" b="1" dirty="0">
                <a:solidFill>
                  <a:srgbClr val="FF6600"/>
                </a:solidFill>
                <a:latin typeface="Liberation Sans" panose="020B0604020202020204" pitchFamily="34" charset="0"/>
              </a:rPr>
              <a:t>DO IT!</a:t>
            </a:r>
          </a:p>
        </p:txBody>
      </p:sp>
      <p:sp>
        <p:nvSpPr>
          <p:cNvPr id="17" name="Text Box 2"/>
          <p:cNvSpPr txBox="1">
            <a:spLocks noChangeArrowheads="1"/>
          </p:cNvSpPr>
          <p:nvPr/>
        </p:nvSpPr>
        <p:spPr bwMode="auto">
          <a:xfrm>
            <a:off x="1981200" y="4144963"/>
            <a:ext cx="6629400" cy="183127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Inventory 	1,500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Accounts Payable 		1,500</a:t>
            </a:r>
          </a:p>
          <a:p>
            <a:pPr marL="463550" indent="-463550" algn="l">
              <a:spcBef>
                <a:spcPts val="1800"/>
              </a:spcBef>
              <a:tabLst>
                <a:tab pos="4912995" algn="r"/>
                <a:tab pos="6223000" algn="r"/>
              </a:tabLst>
            </a:pPr>
            <a:r>
              <a:rPr lang="en-US" sz="2200" dirty="0">
                <a:latin typeface="Liberation Sans" panose="020B0604020202020204" pitchFamily="34" charset="0"/>
                <a:cs typeface="Arial" panose="020B0604020202020204" pitchFamily="34" charset="0"/>
              </a:rPr>
              <a:t>Accounts Payable 	200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Inventory 		200</a:t>
            </a:r>
            <a:endParaRPr lang="en-US" altLang="en-US" sz="2200" dirty="0">
              <a:latin typeface="Liberation Sans" panose="020B0604020202020204" pitchFamily="34" charset="0"/>
              <a:cs typeface="Arial" panose="020B0604020202020204" pitchFamily="34" charset="0"/>
            </a:endParaRPr>
          </a:p>
        </p:txBody>
      </p:sp>
      <p:sp>
        <p:nvSpPr>
          <p:cNvPr id="31" name="Text Box 3"/>
          <p:cNvSpPr txBox="1">
            <a:spLocks noChangeArrowheads="1"/>
          </p:cNvSpPr>
          <p:nvPr/>
        </p:nvSpPr>
        <p:spPr bwMode="auto">
          <a:xfrm>
            <a:off x="609600" y="4144963"/>
            <a:ext cx="1066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Sept. 5</a:t>
            </a:r>
          </a:p>
        </p:txBody>
      </p:sp>
      <p:sp>
        <p:nvSpPr>
          <p:cNvPr id="32" name="Text Box 3"/>
          <p:cNvSpPr txBox="1">
            <a:spLocks noChangeArrowheads="1"/>
          </p:cNvSpPr>
          <p:nvPr/>
        </p:nvSpPr>
        <p:spPr bwMode="auto">
          <a:xfrm>
            <a:off x="609600" y="5105400"/>
            <a:ext cx="1066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Sept. 8</a:t>
            </a:r>
          </a:p>
        </p:txBody>
      </p:sp>
      <p:sp>
        <p:nvSpPr>
          <p:cNvPr id="33"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2</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left)">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wipe(left)">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wipe(left)">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xEl>
                                              <p:pRg st="3" end="3"/>
                                            </p:txEl>
                                          </p:spTgt>
                                        </p:tgtEl>
                                        <p:attrNameLst>
                                          <p:attrName>style.visibility</p:attrName>
                                        </p:attrNameLst>
                                      </p:cBhvr>
                                      <p:to>
                                        <p:strVal val="visible"/>
                                      </p:to>
                                    </p:set>
                                    <p:animEffect transition="in" filter="wipe(left)">
                                      <p:cBhvr>
                                        <p:cTn id="22" dur="500"/>
                                        <p:tgtEl>
                                          <p:spTgt spid="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bldLvl="2"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9"/>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4902201" y="2207551"/>
            <a:ext cx="3860800" cy="4040849"/>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Lst>
        </p:spPr>
      </p:pic>
      <p:sp>
        <p:nvSpPr>
          <p:cNvPr id="26626" name="Text Box 2"/>
          <p:cNvSpPr txBox="1">
            <a:spLocks noChangeArrowheads="1"/>
          </p:cNvSpPr>
          <p:nvPr/>
        </p:nvSpPr>
        <p:spPr bwMode="auto">
          <a:xfrm>
            <a:off x="609600" y="1460500"/>
            <a:ext cx="6629400"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30000"/>
              </a:lnSpc>
              <a:spcBef>
                <a:spcPct val="40000"/>
              </a:spcBef>
              <a:spcAft>
                <a:spcPct val="20000"/>
              </a:spcAft>
              <a:buClr>
                <a:srgbClr val="800000"/>
              </a:buClr>
              <a:buSzPct val="80000"/>
              <a:buFont typeface="Wingdings" panose="05000000000000000000" pitchFamily="2" charset="2"/>
              <a:buChar char="u"/>
            </a:pPr>
            <a:r>
              <a:rPr lang="en-US" altLang="en-US" sz="2100" dirty="0">
                <a:latin typeface="Liberation Sans" panose="020B0604020202020204" pitchFamily="34" charset="0"/>
              </a:rPr>
              <a:t>Made using </a:t>
            </a:r>
            <a:r>
              <a:rPr lang="en-US" altLang="en-US" sz="2100" b="1" dirty="0">
                <a:latin typeface="Liberation Sans" panose="020B0604020202020204" pitchFamily="34" charset="0"/>
              </a:rPr>
              <a:t>cash or credit</a:t>
            </a:r>
            <a:r>
              <a:rPr lang="en-US" altLang="en-US" sz="2100" dirty="0">
                <a:latin typeface="Liberation Sans" panose="020B0604020202020204" pitchFamily="34" charset="0"/>
              </a:rPr>
              <a:t> (on account).</a:t>
            </a:r>
          </a:p>
        </p:txBody>
      </p:sp>
      <p:sp>
        <p:nvSpPr>
          <p:cNvPr id="26627" name="Text Box 6"/>
          <p:cNvSpPr txBox="1">
            <a:spLocks noChangeArrowheads="1"/>
          </p:cNvSpPr>
          <p:nvPr/>
        </p:nvSpPr>
        <p:spPr bwMode="auto">
          <a:xfrm>
            <a:off x="609600" y="2070100"/>
            <a:ext cx="3962400" cy="425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Sales revenue, like service revenue, is recorded when the performance obligation is satisfied.</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Performance obligation is satisfied when the goods are transferred from the seller to the buyer.</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Sales invoice should support each credit sale.</a:t>
            </a:r>
          </a:p>
        </p:txBody>
      </p:sp>
      <p:sp>
        <p:nvSpPr>
          <p:cNvPr id="26630" name="Text Box 13"/>
          <p:cNvSpPr txBox="1">
            <a:spLocks noChangeArrowheads="1"/>
          </p:cNvSpPr>
          <p:nvPr/>
        </p:nvSpPr>
        <p:spPr bwMode="auto">
          <a:xfrm>
            <a:off x="7467600" y="1858962"/>
            <a:ext cx="1371600" cy="2746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r>
              <a:rPr lang="en-US" altLang="en-US" sz="1200" b="1" dirty="0">
                <a:latin typeface="Liberation Sans" panose="020B0604020202020204" pitchFamily="34" charset="0"/>
              </a:rPr>
              <a:t>Illustration 5-6</a:t>
            </a:r>
          </a:p>
        </p:txBody>
      </p:sp>
      <p:sp>
        <p:nvSpPr>
          <p:cNvPr id="9" name="Rectangle 8"/>
          <p:cNvSpPr>
            <a:spLocks noChangeArrowheads="1"/>
          </p:cNvSpPr>
          <p:nvPr/>
        </p:nvSpPr>
        <p:spPr bwMode="auto">
          <a:xfrm>
            <a:off x="290286" y="405765"/>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solidFill>
                  <a:schemeClr val="tx1"/>
                </a:solidFill>
                <a:latin typeface="Liberation Sans" panose="020B0604020202020204" pitchFamily="34" charset="0"/>
              </a:rPr>
              <a:t>LEARNING</a:t>
            </a:r>
          </a:p>
          <a:p>
            <a:pPr algn="l"/>
            <a:r>
              <a:rPr lang="en-US" altLang="en-US" sz="1700" b="1" dirty="0">
                <a:solidFill>
                  <a:schemeClr val="tx1"/>
                </a:solidFill>
                <a:latin typeface="Liberation Sans" panose="020B0604020202020204" pitchFamily="34" charset="0"/>
              </a:rPr>
              <a:t>OBJECTIVE</a:t>
            </a:r>
          </a:p>
        </p:txBody>
      </p:sp>
      <p:sp>
        <p:nvSpPr>
          <p:cNvPr id="10" name="Rectangle 5"/>
          <p:cNvSpPr>
            <a:spLocks noChangeArrowheads="1"/>
          </p:cNvSpPr>
          <p:nvPr/>
        </p:nvSpPr>
        <p:spPr bwMode="auto">
          <a:xfrm>
            <a:off x="2540000" y="274320"/>
            <a:ext cx="6241143" cy="928688"/>
          </a:xfrm>
          <a:prstGeom prst="rect">
            <a:avLst/>
          </a:prstGeom>
          <a:solidFill>
            <a:srgbClr val="0027A4"/>
          </a:solidFill>
          <a:ln>
            <a:noFill/>
          </a:ln>
          <a:effectLst/>
        </p:spPr>
        <p:txBody>
          <a:bodyPr wrap="square" lIns="86493" tIns="27432" rIns="86493" bIns="43247" anchor="ctr"/>
          <a:lstStyle/>
          <a:p>
            <a:pPr marL="111125" algn="l"/>
            <a:r>
              <a:rPr lang="en-US" sz="2400" b="1" dirty="0">
                <a:solidFill>
                  <a:schemeClr val="accent3"/>
                </a:solidFill>
                <a:latin typeface="Liberation Sans" panose="020B0604020202020204" pitchFamily="34" charset="0"/>
              </a:rPr>
              <a:t>Record sales under a perpetual inventory system.</a:t>
            </a:r>
          </a:p>
        </p:txBody>
      </p:sp>
      <p:sp>
        <p:nvSpPr>
          <p:cNvPr id="11" name="Oval 10"/>
          <p:cNvSpPr/>
          <p:nvPr/>
        </p:nvSpPr>
        <p:spPr bwMode="auto">
          <a:xfrm>
            <a:off x="1872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3</a:t>
            </a:r>
          </a:p>
        </p:txBody>
      </p:sp>
      <p:sp>
        <p:nvSpPr>
          <p:cNvPr id="13"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533400" y="1295400"/>
            <a:ext cx="8458200"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10000"/>
              </a:lnSpc>
              <a:spcBef>
                <a:spcPct val="50000"/>
              </a:spcBef>
            </a:pPr>
            <a:r>
              <a:rPr lang="en-US" altLang="en-US" sz="2800" b="1" dirty="0">
                <a:latin typeface="Liberation Sans" panose="020B0604020202020204" pitchFamily="34" charset="0"/>
              </a:rPr>
              <a:t>Journal Entries to Record a Sale</a:t>
            </a:r>
          </a:p>
        </p:txBody>
      </p:sp>
      <p:sp>
        <p:nvSpPr>
          <p:cNvPr id="27651" name="Text Box 3"/>
          <p:cNvSpPr txBox="1">
            <a:spLocks noChangeArrowheads="1"/>
          </p:cNvSpPr>
          <p:nvPr/>
        </p:nvSpPr>
        <p:spPr bwMode="auto">
          <a:xfrm>
            <a:off x="1219200" y="2362200"/>
            <a:ext cx="7239000" cy="4429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5084445" algn="r"/>
              </a:tabLst>
              <a:defRPr sz="2000">
                <a:solidFill>
                  <a:schemeClr val="tx1"/>
                </a:solidFill>
                <a:latin typeface="Comic Sans MS" panose="030F0702030302020204" pitchFamily="66" charset="0"/>
              </a:defRPr>
            </a:lvl1pPr>
            <a:lvl2pPr marL="742950" indent="-285750">
              <a:tabLst>
                <a:tab pos="5084445" algn="r"/>
              </a:tabLst>
              <a:defRPr sz="2000">
                <a:solidFill>
                  <a:schemeClr val="tx1"/>
                </a:solidFill>
                <a:latin typeface="Comic Sans MS" panose="030F0702030302020204" pitchFamily="66" charset="0"/>
              </a:defRPr>
            </a:lvl2pPr>
            <a:lvl3pPr marL="1143000" indent="-228600">
              <a:tabLst>
                <a:tab pos="5084445" algn="r"/>
              </a:tabLst>
              <a:defRPr sz="2000">
                <a:solidFill>
                  <a:schemeClr val="tx1"/>
                </a:solidFill>
                <a:latin typeface="Comic Sans MS" panose="030F0702030302020204" pitchFamily="66" charset="0"/>
              </a:defRPr>
            </a:lvl3pPr>
            <a:lvl4pPr marL="1600200" indent="-228600">
              <a:tabLst>
                <a:tab pos="5084445" algn="r"/>
              </a:tabLst>
              <a:defRPr sz="2000">
                <a:solidFill>
                  <a:schemeClr val="tx1"/>
                </a:solidFill>
                <a:latin typeface="Comic Sans MS" panose="030F0702030302020204" pitchFamily="66" charset="0"/>
              </a:defRPr>
            </a:lvl4pPr>
            <a:lvl5pPr marL="2057400" indent="-228600">
              <a:tabLst>
                <a:tab pos="5084445"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084445"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084445"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084445"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084445" algn="r"/>
              </a:tabLst>
              <a:defRPr sz="2000">
                <a:solidFill>
                  <a:schemeClr val="tx1"/>
                </a:solidFill>
                <a:latin typeface="Comic Sans MS" panose="030F0702030302020204" pitchFamily="66" charset="0"/>
              </a:defRPr>
            </a:lvl9pPr>
          </a:lstStyle>
          <a:p>
            <a:pPr algn="l">
              <a:spcBef>
                <a:spcPct val="50000"/>
              </a:spcBef>
            </a:pPr>
            <a:r>
              <a:rPr lang="en-US" altLang="en-US" sz="2300" dirty="0">
                <a:latin typeface="Liberation Sans" panose="020B0604020202020204" pitchFamily="34" charset="0"/>
                <a:cs typeface="Arial" panose="020B0604020202020204" pitchFamily="34" charset="0"/>
              </a:rPr>
              <a:t>Cash </a:t>
            </a:r>
            <a:r>
              <a:rPr lang="en-US" altLang="en-US" sz="2300" b="1" dirty="0">
                <a:solidFill>
                  <a:srgbClr val="800000"/>
                </a:solidFill>
                <a:latin typeface="Liberation Sans" panose="020B0604020202020204" pitchFamily="34" charset="0"/>
                <a:cs typeface="Arial" panose="020B0604020202020204" pitchFamily="34" charset="0"/>
              </a:rPr>
              <a:t>or</a:t>
            </a:r>
            <a:r>
              <a:rPr lang="en-US" altLang="en-US" sz="2300" dirty="0">
                <a:latin typeface="Liberation Sans" panose="020B0604020202020204" pitchFamily="34" charset="0"/>
                <a:cs typeface="Arial" panose="020B0604020202020204" pitchFamily="34" charset="0"/>
              </a:rPr>
              <a:t> Accounts receivable	XXX</a:t>
            </a:r>
          </a:p>
        </p:txBody>
      </p:sp>
      <p:sp>
        <p:nvSpPr>
          <p:cNvPr id="27652" name="Text Box 4"/>
          <p:cNvSpPr txBox="1">
            <a:spLocks noChangeArrowheads="1"/>
          </p:cNvSpPr>
          <p:nvPr/>
        </p:nvSpPr>
        <p:spPr bwMode="auto">
          <a:xfrm>
            <a:off x="1219200" y="2819400"/>
            <a:ext cx="7239000" cy="4429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6054725" algn="r"/>
              </a:tabLst>
              <a:defRPr sz="2000">
                <a:solidFill>
                  <a:schemeClr val="tx1"/>
                </a:solidFill>
                <a:latin typeface="Comic Sans MS" panose="030F0702030302020204" pitchFamily="66" charset="0"/>
              </a:defRPr>
            </a:lvl1pPr>
            <a:lvl2pPr marL="742950" indent="-285750">
              <a:tabLst>
                <a:tab pos="4744720" algn="r"/>
                <a:tab pos="6054725" algn="r"/>
              </a:tabLst>
              <a:defRPr sz="2000">
                <a:solidFill>
                  <a:schemeClr val="tx1"/>
                </a:solidFill>
                <a:latin typeface="Comic Sans MS" panose="030F0702030302020204" pitchFamily="66" charset="0"/>
              </a:defRPr>
            </a:lvl2pPr>
            <a:lvl3pPr marL="1143000" indent="-228600">
              <a:tabLst>
                <a:tab pos="4744720" algn="r"/>
                <a:tab pos="6054725" algn="r"/>
              </a:tabLst>
              <a:defRPr sz="2000">
                <a:solidFill>
                  <a:schemeClr val="tx1"/>
                </a:solidFill>
                <a:latin typeface="Comic Sans MS" panose="030F0702030302020204" pitchFamily="66" charset="0"/>
              </a:defRPr>
            </a:lvl3pPr>
            <a:lvl4pPr marL="1600200" indent="-228600">
              <a:tabLst>
                <a:tab pos="4744720" algn="r"/>
                <a:tab pos="6054725" algn="r"/>
              </a:tabLst>
              <a:defRPr sz="2000">
                <a:solidFill>
                  <a:schemeClr val="tx1"/>
                </a:solidFill>
                <a:latin typeface="Comic Sans MS" panose="030F0702030302020204" pitchFamily="66" charset="0"/>
              </a:defRPr>
            </a:lvl4pPr>
            <a:lvl5pPr marL="2057400" indent="-228600">
              <a:tabLst>
                <a:tab pos="4744720" algn="r"/>
                <a:tab pos="6054725"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6054725"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6054725"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6054725"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6054725" algn="r"/>
              </a:tabLst>
              <a:defRPr sz="2000">
                <a:solidFill>
                  <a:schemeClr val="tx1"/>
                </a:solidFill>
                <a:latin typeface="Comic Sans MS" panose="030F0702030302020204" pitchFamily="66" charset="0"/>
              </a:defRPr>
            </a:lvl9pPr>
          </a:lstStyle>
          <a:p>
            <a:pPr algn="l">
              <a:spcBef>
                <a:spcPct val="50000"/>
              </a:spcBef>
            </a:pPr>
            <a:r>
              <a:rPr lang="en-US" altLang="en-US" sz="2300" dirty="0">
                <a:latin typeface="Liberation Sans" panose="020B0604020202020204" pitchFamily="34" charset="0"/>
                <a:cs typeface="Arial" panose="020B0604020202020204" pitchFamily="34" charset="0"/>
              </a:rPr>
              <a:t>Sales revenue 		XXX</a:t>
            </a:r>
          </a:p>
        </p:txBody>
      </p:sp>
      <p:sp>
        <p:nvSpPr>
          <p:cNvPr id="27654" name="Text Box 7"/>
          <p:cNvSpPr txBox="1">
            <a:spLocks noChangeArrowheads="1"/>
          </p:cNvSpPr>
          <p:nvPr/>
        </p:nvSpPr>
        <p:spPr bwMode="auto">
          <a:xfrm>
            <a:off x="304800" y="2362200"/>
            <a:ext cx="685800" cy="446276"/>
          </a:xfrm>
          <a:prstGeom prst="rect">
            <a:avLst/>
          </a:prstGeom>
          <a:solidFill>
            <a:srgbClr val="FFFF99"/>
          </a:solidFill>
          <a:ln w="28575">
            <a:solidFill>
              <a:srgbClr val="8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5597525" algn="r"/>
              </a:tabLst>
              <a:defRPr sz="2000">
                <a:solidFill>
                  <a:schemeClr val="tx1"/>
                </a:solidFill>
                <a:latin typeface="Comic Sans MS" panose="030F0702030302020204" pitchFamily="66" charset="0"/>
              </a:defRPr>
            </a:lvl1pPr>
            <a:lvl2pPr marL="742950" indent="-285750">
              <a:tabLst>
                <a:tab pos="5597525" algn="r"/>
              </a:tabLst>
              <a:defRPr sz="2000">
                <a:solidFill>
                  <a:schemeClr val="tx1"/>
                </a:solidFill>
                <a:latin typeface="Comic Sans MS" panose="030F0702030302020204" pitchFamily="66" charset="0"/>
              </a:defRPr>
            </a:lvl2pPr>
            <a:lvl3pPr marL="1143000" indent="-228600">
              <a:tabLst>
                <a:tab pos="5597525" algn="r"/>
              </a:tabLst>
              <a:defRPr sz="2000">
                <a:solidFill>
                  <a:schemeClr val="tx1"/>
                </a:solidFill>
                <a:latin typeface="Comic Sans MS" panose="030F0702030302020204" pitchFamily="66" charset="0"/>
              </a:defRPr>
            </a:lvl3pPr>
            <a:lvl4pPr marL="1600200" indent="-228600">
              <a:tabLst>
                <a:tab pos="5597525" algn="r"/>
              </a:tabLst>
              <a:defRPr sz="2000">
                <a:solidFill>
                  <a:schemeClr val="tx1"/>
                </a:solidFill>
                <a:latin typeface="Comic Sans MS" panose="030F0702030302020204" pitchFamily="66" charset="0"/>
              </a:defRPr>
            </a:lvl4pPr>
            <a:lvl5pPr marL="2057400" indent="-228600">
              <a:tabLst>
                <a:tab pos="5597525"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597525"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597525"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597525"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597525" algn="r"/>
              </a:tabLst>
              <a:defRPr sz="2000">
                <a:solidFill>
                  <a:schemeClr val="tx1"/>
                </a:solidFill>
                <a:latin typeface="Comic Sans MS" panose="030F0702030302020204" pitchFamily="66" charset="0"/>
              </a:defRPr>
            </a:lvl9pPr>
          </a:lstStyle>
          <a:p>
            <a:pPr>
              <a:spcBef>
                <a:spcPct val="50000"/>
              </a:spcBef>
            </a:pPr>
            <a:r>
              <a:rPr lang="en-US" altLang="en-US" sz="2300" b="1" dirty="0">
                <a:solidFill>
                  <a:srgbClr val="800000"/>
                </a:solidFill>
                <a:latin typeface="Liberation Sans" panose="020B0604020202020204" pitchFamily="34" charset="0"/>
                <a:cs typeface="Arial" panose="020B0604020202020204" pitchFamily="34" charset="0"/>
              </a:rPr>
              <a:t>#1</a:t>
            </a:r>
          </a:p>
        </p:txBody>
      </p:sp>
      <p:sp>
        <p:nvSpPr>
          <p:cNvPr id="27655" name="Text Box 8"/>
          <p:cNvSpPr txBox="1">
            <a:spLocks noChangeArrowheads="1"/>
          </p:cNvSpPr>
          <p:nvPr/>
        </p:nvSpPr>
        <p:spPr bwMode="auto">
          <a:xfrm>
            <a:off x="1219200" y="4038600"/>
            <a:ext cx="7239000" cy="4429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5084445" algn="r"/>
              </a:tabLst>
              <a:defRPr sz="2000">
                <a:solidFill>
                  <a:schemeClr val="tx1"/>
                </a:solidFill>
                <a:latin typeface="Comic Sans MS" panose="030F0702030302020204" pitchFamily="66" charset="0"/>
              </a:defRPr>
            </a:lvl1pPr>
            <a:lvl2pPr marL="742950" indent="-285750">
              <a:tabLst>
                <a:tab pos="5084445" algn="r"/>
              </a:tabLst>
              <a:defRPr sz="2000">
                <a:solidFill>
                  <a:schemeClr val="tx1"/>
                </a:solidFill>
                <a:latin typeface="Comic Sans MS" panose="030F0702030302020204" pitchFamily="66" charset="0"/>
              </a:defRPr>
            </a:lvl2pPr>
            <a:lvl3pPr marL="1143000" indent="-228600">
              <a:tabLst>
                <a:tab pos="5084445" algn="r"/>
              </a:tabLst>
              <a:defRPr sz="2000">
                <a:solidFill>
                  <a:schemeClr val="tx1"/>
                </a:solidFill>
                <a:latin typeface="Comic Sans MS" panose="030F0702030302020204" pitchFamily="66" charset="0"/>
              </a:defRPr>
            </a:lvl3pPr>
            <a:lvl4pPr marL="1600200" indent="-228600">
              <a:tabLst>
                <a:tab pos="5084445" algn="r"/>
              </a:tabLst>
              <a:defRPr sz="2000">
                <a:solidFill>
                  <a:schemeClr val="tx1"/>
                </a:solidFill>
                <a:latin typeface="Comic Sans MS" panose="030F0702030302020204" pitchFamily="66" charset="0"/>
              </a:defRPr>
            </a:lvl4pPr>
            <a:lvl5pPr marL="2057400" indent="-228600">
              <a:tabLst>
                <a:tab pos="5084445"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084445"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084445"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084445"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084445" algn="r"/>
              </a:tabLst>
              <a:defRPr sz="2000">
                <a:solidFill>
                  <a:schemeClr val="tx1"/>
                </a:solidFill>
                <a:latin typeface="Comic Sans MS" panose="030F0702030302020204" pitchFamily="66" charset="0"/>
              </a:defRPr>
            </a:lvl9pPr>
          </a:lstStyle>
          <a:p>
            <a:pPr algn="l">
              <a:spcBef>
                <a:spcPct val="50000"/>
              </a:spcBef>
            </a:pPr>
            <a:r>
              <a:rPr lang="en-US" altLang="en-US" sz="2300" dirty="0">
                <a:latin typeface="Liberation Sans" panose="020B0604020202020204" pitchFamily="34" charset="0"/>
                <a:cs typeface="Arial" panose="020B0604020202020204" pitchFamily="34" charset="0"/>
              </a:rPr>
              <a:t>Cost of goods sold	XXX</a:t>
            </a:r>
          </a:p>
        </p:txBody>
      </p:sp>
      <p:sp>
        <p:nvSpPr>
          <p:cNvPr id="27656" name="Text Box 9"/>
          <p:cNvSpPr txBox="1">
            <a:spLocks noChangeArrowheads="1"/>
          </p:cNvSpPr>
          <p:nvPr/>
        </p:nvSpPr>
        <p:spPr bwMode="auto">
          <a:xfrm>
            <a:off x="1219200" y="4495800"/>
            <a:ext cx="7239000" cy="4429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6054725" algn="r"/>
              </a:tabLst>
              <a:defRPr sz="2000">
                <a:solidFill>
                  <a:schemeClr val="tx1"/>
                </a:solidFill>
                <a:latin typeface="Comic Sans MS" panose="030F0702030302020204" pitchFamily="66" charset="0"/>
              </a:defRPr>
            </a:lvl1pPr>
            <a:lvl2pPr marL="742950" indent="-285750">
              <a:tabLst>
                <a:tab pos="4744720" algn="r"/>
                <a:tab pos="6054725" algn="r"/>
              </a:tabLst>
              <a:defRPr sz="2000">
                <a:solidFill>
                  <a:schemeClr val="tx1"/>
                </a:solidFill>
                <a:latin typeface="Comic Sans MS" panose="030F0702030302020204" pitchFamily="66" charset="0"/>
              </a:defRPr>
            </a:lvl2pPr>
            <a:lvl3pPr marL="1143000" indent="-228600">
              <a:tabLst>
                <a:tab pos="4744720" algn="r"/>
                <a:tab pos="6054725" algn="r"/>
              </a:tabLst>
              <a:defRPr sz="2000">
                <a:solidFill>
                  <a:schemeClr val="tx1"/>
                </a:solidFill>
                <a:latin typeface="Comic Sans MS" panose="030F0702030302020204" pitchFamily="66" charset="0"/>
              </a:defRPr>
            </a:lvl3pPr>
            <a:lvl4pPr marL="1600200" indent="-228600">
              <a:tabLst>
                <a:tab pos="4744720" algn="r"/>
                <a:tab pos="6054725" algn="r"/>
              </a:tabLst>
              <a:defRPr sz="2000">
                <a:solidFill>
                  <a:schemeClr val="tx1"/>
                </a:solidFill>
                <a:latin typeface="Comic Sans MS" panose="030F0702030302020204" pitchFamily="66" charset="0"/>
              </a:defRPr>
            </a:lvl4pPr>
            <a:lvl5pPr marL="2057400" indent="-228600">
              <a:tabLst>
                <a:tab pos="4744720" algn="r"/>
                <a:tab pos="6054725"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6054725"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6054725"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6054725"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6054725" algn="r"/>
              </a:tabLst>
              <a:defRPr sz="2000">
                <a:solidFill>
                  <a:schemeClr val="tx1"/>
                </a:solidFill>
                <a:latin typeface="Comic Sans MS" panose="030F0702030302020204" pitchFamily="66" charset="0"/>
              </a:defRPr>
            </a:lvl9pPr>
          </a:lstStyle>
          <a:p>
            <a:pPr algn="l">
              <a:spcBef>
                <a:spcPct val="50000"/>
              </a:spcBef>
            </a:pPr>
            <a:r>
              <a:rPr lang="en-US" altLang="en-US" sz="2300" dirty="0">
                <a:latin typeface="Liberation Sans" panose="020B0604020202020204" pitchFamily="34" charset="0"/>
                <a:cs typeface="Arial" panose="020B0604020202020204" pitchFamily="34" charset="0"/>
              </a:rPr>
              <a:t>Inventory  		XXX</a:t>
            </a:r>
          </a:p>
        </p:txBody>
      </p:sp>
      <p:sp>
        <p:nvSpPr>
          <p:cNvPr id="27657" name="Text Box 10"/>
          <p:cNvSpPr txBox="1">
            <a:spLocks noChangeArrowheads="1"/>
          </p:cNvSpPr>
          <p:nvPr/>
        </p:nvSpPr>
        <p:spPr bwMode="auto">
          <a:xfrm>
            <a:off x="304800" y="4024313"/>
            <a:ext cx="685800" cy="446276"/>
          </a:xfrm>
          <a:prstGeom prst="rect">
            <a:avLst/>
          </a:prstGeom>
          <a:solidFill>
            <a:srgbClr val="FFFF99"/>
          </a:solidFill>
          <a:ln w="28575">
            <a:solidFill>
              <a:srgbClr val="8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5597525" algn="r"/>
              </a:tabLst>
              <a:defRPr sz="2000">
                <a:solidFill>
                  <a:schemeClr val="tx1"/>
                </a:solidFill>
                <a:latin typeface="Comic Sans MS" panose="030F0702030302020204" pitchFamily="66" charset="0"/>
              </a:defRPr>
            </a:lvl1pPr>
            <a:lvl2pPr marL="742950" indent="-285750">
              <a:tabLst>
                <a:tab pos="5597525" algn="r"/>
              </a:tabLst>
              <a:defRPr sz="2000">
                <a:solidFill>
                  <a:schemeClr val="tx1"/>
                </a:solidFill>
                <a:latin typeface="Comic Sans MS" panose="030F0702030302020204" pitchFamily="66" charset="0"/>
              </a:defRPr>
            </a:lvl2pPr>
            <a:lvl3pPr marL="1143000" indent="-228600">
              <a:tabLst>
                <a:tab pos="5597525" algn="r"/>
              </a:tabLst>
              <a:defRPr sz="2000">
                <a:solidFill>
                  <a:schemeClr val="tx1"/>
                </a:solidFill>
                <a:latin typeface="Comic Sans MS" panose="030F0702030302020204" pitchFamily="66" charset="0"/>
              </a:defRPr>
            </a:lvl3pPr>
            <a:lvl4pPr marL="1600200" indent="-228600">
              <a:tabLst>
                <a:tab pos="5597525" algn="r"/>
              </a:tabLst>
              <a:defRPr sz="2000">
                <a:solidFill>
                  <a:schemeClr val="tx1"/>
                </a:solidFill>
                <a:latin typeface="Comic Sans MS" panose="030F0702030302020204" pitchFamily="66" charset="0"/>
              </a:defRPr>
            </a:lvl4pPr>
            <a:lvl5pPr marL="2057400" indent="-228600">
              <a:tabLst>
                <a:tab pos="5597525"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597525"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597525"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597525"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597525" algn="r"/>
              </a:tabLst>
              <a:defRPr sz="2000">
                <a:solidFill>
                  <a:schemeClr val="tx1"/>
                </a:solidFill>
                <a:latin typeface="Comic Sans MS" panose="030F0702030302020204" pitchFamily="66" charset="0"/>
              </a:defRPr>
            </a:lvl9pPr>
          </a:lstStyle>
          <a:p>
            <a:pPr>
              <a:spcBef>
                <a:spcPct val="50000"/>
              </a:spcBef>
            </a:pPr>
            <a:r>
              <a:rPr lang="en-US" altLang="en-US" sz="2300" b="1" dirty="0">
                <a:solidFill>
                  <a:srgbClr val="800000"/>
                </a:solidFill>
                <a:latin typeface="Liberation Sans" panose="020B0604020202020204" pitchFamily="34" charset="0"/>
                <a:cs typeface="Arial" panose="020B0604020202020204" pitchFamily="34" charset="0"/>
              </a:rPr>
              <a:t>#2</a:t>
            </a:r>
          </a:p>
        </p:txBody>
      </p:sp>
      <p:sp>
        <p:nvSpPr>
          <p:cNvPr id="27658" name="AutoShape 11"/>
          <p:cNvSpPr/>
          <p:nvPr/>
        </p:nvSpPr>
        <p:spPr bwMode="auto">
          <a:xfrm>
            <a:off x="7543800" y="2362200"/>
            <a:ext cx="304800" cy="1066800"/>
          </a:xfrm>
          <a:prstGeom prst="rightBrace">
            <a:avLst>
              <a:gd name="adj1" fmla="val 29167"/>
              <a:gd name="adj2" fmla="val 50000"/>
            </a:avLst>
          </a:prstGeom>
          <a:noFill/>
          <a:ln w="28575" cap="sq">
            <a:solidFill>
              <a:srgbClr val="8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27659" name="Text Box 12"/>
          <p:cNvSpPr txBox="1">
            <a:spLocks noChangeArrowheads="1"/>
          </p:cNvSpPr>
          <p:nvPr/>
        </p:nvSpPr>
        <p:spPr bwMode="auto">
          <a:xfrm>
            <a:off x="7848600" y="2514600"/>
            <a:ext cx="1066800"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2100" b="1" dirty="0">
                <a:solidFill>
                  <a:srgbClr val="800000"/>
                </a:solidFill>
                <a:latin typeface="Liberation Sans" panose="020B0604020202020204" pitchFamily="34" charset="0"/>
              </a:rPr>
              <a:t>Selling Price</a:t>
            </a:r>
          </a:p>
        </p:txBody>
      </p:sp>
      <p:sp>
        <p:nvSpPr>
          <p:cNvPr id="27660" name="AutoShape 13"/>
          <p:cNvSpPr/>
          <p:nvPr/>
        </p:nvSpPr>
        <p:spPr bwMode="auto">
          <a:xfrm>
            <a:off x="7543800" y="3962400"/>
            <a:ext cx="304800" cy="1066800"/>
          </a:xfrm>
          <a:prstGeom prst="rightBrace">
            <a:avLst>
              <a:gd name="adj1" fmla="val 29167"/>
              <a:gd name="adj2" fmla="val 50000"/>
            </a:avLst>
          </a:prstGeom>
          <a:noFill/>
          <a:ln w="28575" cap="sq">
            <a:solidFill>
              <a:srgbClr val="8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27661" name="Text Box 14"/>
          <p:cNvSpPr txBox="1">
            <a:spLocks noChangeArrowheads="1"/>
          </p:cNvSpPr>
          <p:nvPr/>
        </p:nvSpPr>
        <p:spPr bwMode="auto">
          <a:xfrm>
            <a:off x="7848600" y="4221163"/>
            <a:ext cx="10668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2100" b="1" dirty="0">
                <a:solidFill>
                  <a:srgbClr val="800000"/>
                </a:solidFill>
                <a:latin typeface="Liberation Sans" panose="020B0604020202020204" pitchFamily="34" charset="0"/>
              </a:rPr>
              <a:t>Cost</a:t>
            </a:r>
          </a:p>
        </p:txBody>
      </p:sp>
      <p:sp>
        <p:nvSpPr>
          <p:cNvPr id="27662" name="Rectangle 15"/>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latin typeface="Liberation Sans" panose="020B0604020202020204" pitchFamily="34" charset="0"/>
              </a:rPr>
              <a:t>Recording Sales of Merchandise</a:t>
            </a:r>
          </a:p>
        </p:txBody>
      </p:sp>
      <p:sp>
        <p:nvSpPr>
          <p:cNvPr id="27663"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6"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40" name="Text Box 4"/>
          <p:cNvSpPr txBox="1">
            <a:spLocks noChangeArrowheads="1"/>
          </p:cNvSpPr>
          <p:nvPr/>
        </p:nvSpPr>
        <p:spPr bwMode="auto">
          <a:xfrm>
            <a:off x="1905000" y="3411538"/>
            <a:ext cx="67056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Accounts Receivable	3,800</a:t>
            </a:r>
          </a:p>
        </p:txBody>
      </p:sp>
      <p:sp>
        <p:nvSpPr>
          <p:cNvPr id="28676" name="Text Box 5"/>
          <p:cNvSpPr txBox="1">
            <a:spLocks noChangeArrowheads="1"/>
          </p:cNvSpPr>
          <p:nvPr/>
        </p:nvSpPr>
        <p:spPr bwMode="auto">
          <a:xfrm>
            <a:off x="-76200" y="3411538"/>
            <a:ext cx="15240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spcBef>
                <a:spcPct val="50000"/>
              </a:spcBef>
            </a:pPr>
            <a:r>
              <a:rPr lang="en-US" altLang="en-US" sz="2200" dirty="0">
                <a:latin typeface="Liberation Sans" panose="020B0604020202020204" pitchFamily="34" charset="0"/>
                <a:cs typeface="Arial" panose="020B0604020202020204" pitchFamily="34" charset="0"/>
              </a:rPr>
              <a:t>May 4</a:t>
            </a:r>
          </a:p>
        </p:txBody>
      </p:sp>
      <p:sp>
        <p:nvSpPr>
          <p:cNvPr id="884742" name="Text Box 6"/>
          <p:cNvSpPr txBox="1">
            <a:spLocks noChangeArrowheads="1"/>
          </p:cNvSpPr>
          <p:nvPr/>
        </p:nvSpPr>
        <p:spPr bwMode="auto">
          <a:xfrm>
            <a:off x="1905000" y="3916363"/>
            <a:ext cx="67056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5715000" algn="r"/>
              </a:tabLst>
              <a:defRPr sz="2000">
                <a:solidFill>
                  <a:schemeClr val="tx1"/>
                </a:solidFill>
                <a:latin typeface="Comic Sans MS" panose="030F0702030302020204" pitchFamily="66" charset="0"/>
              </a:defRPr>
            </a:lvl1pPr>
            <a:lvl2pPr marL="742950" indent="-285750">
              <a:tabLst>
                <a:tab pos="4744720" algn="r"/>
                <a:tab pos="5715000" algn="r"/>
              </a:tabLst>
              <a:defRPr sz="2000">
                <a:solidFill>
                  <a:schemeClr val="tx1"/>
                </a:solidFill>
                <a:latin typeface="Comic Sans MS" panose="030F0702030302020204" pitchFamily="66" charset="0"/>
              </a:defRPr>
            </a:lvl2pPr>
            <a:lvl3pPr marL="1143000" indent="-228600">
              <a:tabLst>
                <a:tab pos="4744720" algn="r"/>
                <a:tab pos="5715000" algn="r"/>
              </a:tabLst>
              <a:defRPr sz="2000">
                <a:solidFill>
                  <a:schemeClr val="tx1"/>
                </a:solidFill>
                <a:latin typeface="Comic Sans MS" panose="030F0702030302020204" pitchFamily="66" charset="0"/>
              </a:defRPr>
            </a:lvl3pPr>
            <a:lvl4pPr marL="1600200" indent="-228600">
              <a:tabLst>
                <a:tab pos="4744720" algn="r"/>
                <a:tab pos="5715000" algn="r"/>
              </a:tabLst>
              <a:defRPr sz="2000">
                <a:solidFill>
                  <a:schemeClr val="tx1"/>
                </a:solidFill>
                <a:latin typeface="Comic Sans MS" panose="030F0702030302020204" pitchFamily="66" charset="0"/>
              </a:defRPr>
            </a:lvl4pPr>
            <a:lvl5pPr marL="2057400" indent="-228600">
              <a:tabLst>
                <a:tab pos="4744720" algn="r"/>
                <a:tab pos="5715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Sales Revenue 		3,800</a:t>
            </a:r>
          </a:p>
        </p:txBody>
      </p:sp>
      <p:sp>
        <p:nvSpPr>
          <p:cNvPr id="28678" name="Text Box 7"/>
          <p:cNvSpPr txBox="1">
            <a:spLocks noChangeArrowheads="1"/>
          </p:cNvSpPr>
          <p:nvPr/>
        </p:nvSpPr>
        <p:spPr bwMode="auto">
          <a:xfrm>
            <a:off x="533400" y="1295400"/>
            <a:ext cx="76962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70000"/>
              </a:spcBef>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PW Audio Supply records the sale of $3,800 on May 4 to Sauk Stereo on account (Illustration 5-6) as follows (assume the merchandise cost PW Audio Supply $2,400).</a:t>
            </a:r>
          </a:p>
        </p:txBody>
      </p:sp>
      <p:sp>
        <p:nvSpPr>
          <p:cNvPr id="884744" name="Text Box 8"/>
          <p:cNvSpPr txBox="1">
            <a:spLocks noChangeArrowheads="1"/>
          </p:cNvSpPr>
          <p:nvPr/>
        </p:nvSpPr>
        <p:spPr bwMode="auto">
          <a:xfrm>
            <a:off x="1905000" y="4783138"/>
            <a:ext cx="67056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Cost of Goods Sold	2,400</a:t>
            </a:r>
          </a:p>
        </p:txBody>
      </p:sp>
      <p:sp>
        <p:nvSpPr>
          <p:cNvPr id="28680" name="Text Box 9"/>
          <p:cNvSpPr txBox="1">
            <a:spLocks noChangeArrowheads="1"/>
          </p:cNvSpPr>
          <p:nvPr/>
        </p:nvSpPr>
        <p:spPr bwMode="auto">
          <a:xfrm>
            <a:off x="-76200" y="4783138"/>
            <a:ext cx="15240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spcBef>
                <a:spcPct val="50000"/>
              </a:spcBef>
            </a:pPr>
            <a:r>
              <a:rPr lang="en-US" altLang="en-US" sz="2200" dirty="0">
                <a:latin typeface="Liberation Sans" panose="020B0604020202020204" pitchFamily="34" charset="0"/>
                <a:cs typeface="Arial" panose="020B0604020202020204" pitchFamily="34" charset="0"/>
              </a:rPr>
              <a:t>4</a:t>
            </a:r>
          </a:p>
        </p:txBody>
      </p:sp>
      <p:sp>
        <p:nvSpPr>
          <p:cNvPr id="884746" name="Text Box 10"/>
          <p:cNvSpPr txBox="1">
            <a:spLocks noChangeArrowheads="1"/>
          </p:cNvSpPr>
          <p:nvPr/>
        </p:nvSpPr>
        <p:spPr bwMode="auto">
          <a:xfrm>
            <a:off x="1905000" y="5287963"/>
            <a:ext cx="67056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5715000" algn="r"/>
              </a:tabLst>
              <a:defRPr sz="2000">
                <a:solidFill>
                  <a:schemeClr val="tx1"/>
                </a:solidFill>
                <a:latin typeface="Comic Sans MS" panose="030F0702030302020204" pitchFamily="66" charset="0"/>
              </a:defRPr>
            </a:lvl1pPr>
            <a:lvl2pPr marL="742950" indent="-285750">
              <a:tabLst>
                <a:tab pos="4744720" algn="r"/>
                <a:tab pos="5715000" algn="r"/>
              </a:tabLst>
              <a:defRPr sz="2000">
                <a:solidFill>
                  <a:schemeClr val="tx1"/>
                </a:solidFill>
                <a:latin typeface="Comic Sans MS" panose="030F0702030302020204" pitchFamily="66" charset="0"/>
              </a:defRPr>
            </a:lvl2pPr>
            <a:lvl3pPr marL="1143000" indent="-228600">
              <a:tabLst>
                <a:tab pos="4744720" algn="r"/>
                <a:tab pos="5715000" algn="r"/>
              </a:tabLst>
              <a:defRPr sz="2000">
                <a:solidFill>
                  <a:schemeClr val="tx1"/>
                </a:solidFill>
                <a:latin typeface="Comic Sans MS" panose="030F0702030302020204" pitchFamily="66" charset="0"/>
              </a:defRPr>
            </a:lvl3pPr>
            <a:lvl4pPr marL="1600200" indent="-228600">
              <a:tabLst>
                <a:tab pos="4744720" algn="r"/>
                <a:tab pos="5715000" algn="r"/>
              </a:tabLst>
              <a:defRPr sz="2000">
                <a:solidFill>
                  <a:schemeClr val="tx1"/>
                </a:solidFill>
                <a:latin typeface="Comic Sans MS" panose="030F0702030302020204" pitchFamily="66" charset="0"/>
              </a:defRPr>
            </a:lvl4pPr>
            <a:lvl5pPr marL="2057400" indent="-228600">
              <a:tabLst>
                <a:tab pos="4744720" algn="r"/>
                <a:tab pos="5715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5715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Inventory 		2,400</a:t>
            </a:r>
          </a:p>
        </p:txBody>
      </p:sp>
      <p:sp>
        <p:nvSpPr>
          <p:cNvPr id="28682" name="Rectangle 11"/>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latin typeface="Liberation Sans" panose="020B0604020202020204" pitchFamily="34" charset="0"/>
              </a:rPr>
              <a:t>Recording Sales of Merchandise</a:t>
            </a:r>
          </a:p>
        </p:txBody>
      </p:sp>
      <p:sp>
        <p:nvSpPr>
          <p:cNvPr id="28683"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2"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4740"/>
                                        </p:tgtEl>
                                        <p:attrNameLst>
                                          <p:attrName>style.visibility</p:attrName>
                                        </p:attrNameLst>
                                      </p:cBhvr>
                                      <p:to>
                                        <p:strVal val="visible"/>
                                      </p:to>
                                    </p:set>
                                    <p:animEffect transition="in" filter="wipe(left)">
                                      <p:cBhvr>
                                        <p:cTn id="7" dur="500"/>
                                        <p:tgtEl>
                                          <p:spTgt spid="8847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4742"/>
                                        </p:tgtEl>
                                        <p:attrNameLst>
                                          <p:attrName>style.visibility</p:attrName>
                                        </p:attrNameLst>
                                      </p:cBhvr>
                                      <p:to>
                                        <p:strVal val="visible"/>
                                      </p:to>
                                    </p:set>
                                    <p:animEffect transition="in" filter="wipe(left)">
                                      <p:cBhvr>
                                        <p:cTn id="12" dur="500"/>
                                        <p:tgtEl>
                                          <p:spTgt spid="8847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4744"/>
                                        </p:tgtEl>
                                        <p:attrNameLst>
                                          <p:attrName>style.visibility</p:attrName>
                                        </p:attrNameLst>
                                      </p:cBhvr>
                                      <p:to>
                                        <p:strVal val="visible"/>
                                      </p:to>
                                    </p:set>
                                    <p:animEffect transition="in" filter="wipe(left)">
                                      <p:cBhvr>
                                        <p:cTn id="17" dur="500"/>
                                        <p:tgtEl>
                                          <p:spTgt spid="8847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4746"/>
                                        </p:tgtEl>
                                        <p:attrNameLst>
                                          <p:attrName>style.visibility</p:attrName>
                                        </p:attrNameLst>
                                      </p:cBhvr>
                                      <p:to>
                                        <p:strVal val="visible"/>
                                      </p:to>
                                    </p:set>
                                    <p:animEffect transition="in" filter="wipe(left)">
                                      <p:cBhvr>
                                        <p:cTn id="22" dur="500"/>
                                        <p:tgtEl>
                                          <p:spTgt spid="884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40" grpId="0" autoUpdateAnimBg="0"/>
      <p:bldP spid="884742" grpId="0" autoUpdateAnimBg="0"/>
      <p:bldP spid="884744" grpId="0" autoUpdateAnimBg="0"/>
      <p:bldP spid="88474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7"/>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457200" y="447675"/>
            <a:ext cx="8180388" cy="587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2510" name="Rectangle 14"/>
          <p:cNvSpPr>
            <a:spLocks noChangeArrowheads="1"/>
          </p:cNvSpPr>
          <p:nvPr/>
        </p:nvSpPr>
        <p:spPr bwMode="auto">
          <a:xfrm>
            <a:off x="609600" y="4038600"/>
            <a:ext cx="7924800" cy="1828800"/>
          </a:xfrm>
          <a:prstGeom prst="rect">
            <a:avLst/>
          </a:prstGeom>
          <a:solidFill>
            <a:schemeClr val="bg1"/>
          </a:solidFill>
          <a:ln w="1905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p>
        </p:txBody>
      </p:sp>
      <p:sp>
        <p:nvSpPr>
          <p:cNvPr id="5"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002510"/>
                                        </p:tgtEl>
                                      </p:cBhvr>
                                    </p:animEffect>
                                    <p:set>
                                      <p:cBhvr>
                                        <p:cTn id="7" dur="1" fill="hold">
                                          <p:stCondLst>
                                            <p:cond delay="499"/>
                                          </p:stCondLst>
                                        </p:cTn>
                                        <p:tgtEl>
                                          <p:spTgt spid="10025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5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685800" y="1295400"/>
            <a:ext cx="7924800" cy="3405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102870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65000"/>
              </a:spcBef>
              <a:buClr>
                <a:srgbClr val="800000"/>
              </a:buClr>
              <a:buSzPct val="80000"/>
              <a:buFont typeface="Wingdings" panose="05000000000000000000" pitchFamily="2" charset="2"/>
              <a:buChar char="u"/>
            </a:pPr>
            <a:r>
              <a:rPr lang="en-US" altLang="en-US" sz="2200" b="1" dirty="0">
                <a:latin typeface="Liberation Sans" panose="020B0604020202020204" pitchFamily="34" charset="0"/>
              </a:rPr>
              <a:t>“Flip side”</a:t>
            </a:r>
            <a:r>
              <a:rPr lang="en-US" altLang="en-US" sz="2200" dirty="0">
                <a:latin typeface="Liberation Sans" panose="020B0604020202020204" pitchFamily="34" charset="0"/>
              </a:rPr>
              <a:t> of purchase returns and allowances.</a:t>
            </a:r>
          </a:p>
          <a:p>
            <a:pPr algn="l">
              <a:lnSpc>
                <a:spcPct val="125000"/>
              </a:lnSpc>
              <a:spcBef>
                <a:spcPct val="65000"/>
              </a:spcBef>
              <a:buClr>
                <a:srgbClr val="800000"/>
              </a:buClr>
              <a:buSzPct val="80000"/>
              <a:buFont typeface="Wingdings" panose="05000000000000000000" pitchFamily="2" charset="2"/>
              <a:buChar char="u"/>
            </a:pPr>
            <a:r>
              <a:rPr lang="en-US" altLang="en-US" sz="2200" b="1" dirty="0">
                <a:latin typeface="Liberation Sans" panose="020B0604020202020204" pitchFamily="34" charset="0"/>
              </a:rPr>
              <a:t>Contra-revenue account</a:t>
            </a:r>
            <a:r>
              <a:rPr lang="en-US" altLang="en-US" sz="2200" dirty="0">
                <a:latin typeface="Liberation Sans" panose="020B0604020202020204" pitchFamily="34" charset="0"/>
              </a:rPr>
              <a:t> to Sales Revenue (debit).</a:t>
            </a:r>
          </a:p>
          <a:p>
            <a:pPr algn="l">
              <a:lnSpc>
                <a:spcPct val="125000"/>
              </a:lnSpc>
              <a:spcBef>
                <a:spcPct val="65000"/>
              </a:spcBef>
              <a:buClr>
                <a:srgbClr val="800000"/>
              </a:buClr>
              <a:buSzPct val="80000"/>
              <a:buFont typeface="Wingdings" panose="05000000000000000000" pitchFamily="2" charset="2"/>
              <a:buChar char="u"/>
            </a:pPr>
            <a:r>
              <a:rPr lang="en-US" altLang="en-US" sz="2200" b="1" dirty="0">
                <a:latin typeface="Liberation Sans" panose="020B0604020202020204" pitchFamily="34" charset="0"/>
              </a:rPr>
              <a:t>Sales not reduced</a:t>
            </a:r>
            <a:r>
              <a:rPr lang="en-US" altLang="en-US" sz="2200" dirty="0">
                <a:latin typeface="Liberation Sans" panose="020B0604020202020204" pitchFamily="34" charset="0"/>
              </a:rPr>
              <a:t> (debited) because:</a:t>
            </a:r>
          </a:p>
          <a:p>
            <a:pPr lvl="1" algn="l">
              <a:lnSpc>
                <a:spcPct val="125000"/>
              </a:lnSpc>
              <a:spcBef>
                <a:spcPct val="65000"/>
              </a:spcBef>
              <a:buClr>
                <a:srgbClr val="800000"/>
              </a:buClr>
              <a:buSzPct val="80000"/>
              <a:buFont typeface="Arial" panose="020B0604020202020204" pitchFamily="34" charset="0"/>
              <a:buChar char="►"/>
            </a:pPr>
            <a:r>
              <a:rPr lang="en-US" altLang="en-US" sz="2100" dirty="0">
                <a:latin typeface="Liberation Sans" panose="020B0604020202020204" pitchFamily="34" charset="0"/>
              </a:rPr>
              <a:t>Would obscure importance of sales returns and allowances as a percentage of sales. </a:t>
            </a:r>
          </a:p>
          <a:p>
            <a:pPr lvl="1" algn="l">
              <a:lnSpc>
                <a:spcPct val="125000"/>
              </a:lnSpc>
              <a:spcBef>
                <a:spcPct val="65000"/>
              </a:spcBef>
              <a:buClr>
                <a:srgbClr val="800000"/>
              </a:buClr>
              <a:buSzPct val="80000"/>
              <a:buFont typeface="Arial" panose="020B0604020202020204" pitchFamily="34" charset="0"/>
              <a:buChar char="►"/>
            </a:pPr>
            <a:r>
              <a:rPr lang="en-US" altLang="en-US" sz="2100" dirty="0">
                <a:latin typeface="Liberation Sans" panose="020B0604020202020204" pitchFamily="34" charset="0"/>
              </a:rPr>
              <a:t>Could distort comparisons.</a:t>
            </a:r>
          </a:p>
        </p:txBody>
      </p:sp>
      <p:sp>
        <p:nvSpPr>
          <p:cNvPr id="30725"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Sales Returns and Allowances </a:t>
            </a:r>
          </a:p>
        </p:txBody>
      </p:sp>
      <p:sp>
        <p:nvSpPr>
          <p:cNvPr id="30726"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7"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533400" y="1295400"/>
            <a:ext cx="79248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70000"/>
              </a:spcBef>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Prepare the entry PW Audio Supply would make to record the credit for returned goods that had a $300 selling price (assume a $140 cost).  Assume the </a:t>
            </a:r>
            <a:r>
              <a:rPr lang="en-US" altLang="en-US" sz="2200" b="1" dirty="0">
                <a:latin typeface="Liberation Sans" panose="020B0604020202020204" pitchFamily="34" charset="0"/>
              </a:rPr>
              <a:t>goods were not defective</a:t>
            </a:r>
            <a:r>
              <a:rPr lang="en-US" altLang="en-US" sz="2200" dirty="0">
                <a:latin typeface="Liberation Sans" panose="020B0604020202020204" pitchFamily="34" charset="0"/>
              </a:rPr>
              <a:t>.</a:t>
            </a:r>
          </a:p>
        </p:txBody>
      </p:sp>
      <p:sp>
        <p:nvSpPr>
          <p:cNvPr id="888837" name="Text Box 5"/>
          <p:cNvSpPr txBox="1">
            <a:spLocks noChangeArrowheads="1"/>
          </p:cNvSpPr>
          <p:nvPr/>
        </p:nvSpPr>
        <p:spPr bwMode="auto">
          <a:xfrm>
            <a:off x="1828800" y="3352800"/>
            <a:ext cx="6781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5029200" algn="r"/>
              </a:tabLst>
              <a:defRPr sz="2000">
                <a:solidFill>
                  <a:schemeClr val="tx1"/>
                </a:solidFill>
                <a:latin typeface="Comic Sans MS" panose="030F0702030302020204" pitchFamily="66" charset="0"/>
              </a:defRPr>
            </a:lvl1pPr>
            <a:lvl2pPr marL="742950" indent="-285750">
              <a:tabLst>
                <a:tab pos="5029200" algn="r"/>
              </a:tabLst>
              <a:defRPr sz="2000">
                <a:solidFill>
                  <a:schemeClr val="tx1"/>
                </a:solidFill>
                <a:latin typeface="Comic Sans MS" panose="030F0702030302020204" pitchFamily="66" charset="0"/>
              </a:defRPr>
            </a:lvl2pPr>
            <a:lvl3pPr marL="1143000" indent="-228600">
              <a:tabLst>
                <a:tab pos="5029200" algn="r"/>
              </a:tabLst>
              <a:defRPr sz="2000">
                <a:solidFill>
                  <a:schemeClr val="tx1"/>
                </a:solidFill>
                <a:latin typeface="Comic Sans MS" panose="030F0702030302020204" pitchFamily="66" charset="0"/>
              </a:defRPr>
            </a:lvl3pPr>
            <a:lvl4pPr marL="1600200" indent="-228600">
              <a:tabLst>
                <a:tab pos="5029200" algn="r"/>
              </a:tabLst>
              <a:defRPr sz="2000">
                <a:solidFill>
                  <a:schemeClr val="tx1"/>
                </a:solidFill>
                <a:latin typeface="Comic Sans MS" panose="030F0702030302020204" pitchFamily="66" charset="0"/>
              </a:defRPr>
            </a:lvl4pPr>
            <a:lvl5pPr marL="2057400" indent="-228600">
              <a:tabLst>
                <a:tab pos="50292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Sales Returns and Allowances  	300</a:t>
            </a:r>
          </a:p>
        </p:txBody>
      </p:sp>
      <p:sp>
        <p:nvSpPr>
          <p:cNvPr id="31749" name="Text Box 6"/>
          <p:cNvSpPr txBox="1">
            <a:spLocks noChangeArrowheads="1"/>
          </p:cNvSpPr>
          <p:nvPr/>
        </p:nvSpPr>
        <p:spPr bwMode="auto">
          <a:xfrm>
            <a:off x="533400" y="3352800"/>
            <a:ext cx="11430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8</a:t>
            </a:r>
          </a:p>
        </p:txBody>
      </p:sp>
      <p:sp>
        <p:nvSpPr>
          <p:cNvPr id="888839" name="Text Box 7"/>
          <p:cNvSpPr txBox="1">
            <a:spLocks noChangeArrowheads="1"/>
          </p:cNvSpPr>
          <p:nvPr/>
        </p:nvSpPr>
        <p:spPr bwMode="auto">
          <a:xfrm>
            <a:off x="1828800" y="3856038"/>
            <a:ext cx="6781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862195" algn="r"/>
                <a:tab pos="6057900" algn="r"/>
              </a:tabLst>
              <a:defRPr sz="2000">
                <a:solidFill>
                  <a:schemeClr val="tx1"/>
                </a:solidFill>
                <a:latin typeface="Comic Sans MS" panose="030F0702030302020204" pitchFamily="66" charset="0"/>
              </a:defRPr>
            </a:lvl1pPr>
            <a:lvl2pPr marL="742950" indent="-285750">
              <a:tabLst>
                <a:tab pos="4862195" algn="r"/>
                <a:tab pos="6057900" algn="r"/>
              </a:tabLst>
              <a:defRPr sz="2000">
                <a:solidFill>
                  <a:schemeClr val="tx1"/>
                </a:solidFill>
                <a:latin typeface="Comic Sans MS" panose="030F0702030302020204" pitchFamily="66" charset="0"/>
              </a:defRPr>
            </a:lvl2pPr>
            <a:lvl3pPr marL="1143000" indent="-228600">
              <a:tabLst>
                <a:tab pos="4862195" algn="r"/>
                <a:tab pos="6057900" algn="r"/>
              </a:tabLst>
              <a:defRPr sz="2000">
                <a:solidFill>
                  <a:schemeClr val="tx1"/>
                </a:solidFill>
                <a:latin typeface="Comic Sans MS" panose="030F0702030302020204" pitchFamily="66" charset="0"/>
              </a:defRPr>
            </a:lvl3pPr>
            <a:lvl4pPr marL="1600200" indent="-228600">
              <a:tabLst>
                <a:tab pos="4862195" algn="r"/>
                <a:tab pos="6057900" algn="r"/>
              </a:tabLst>
              <a:defRPr sz="2000">
                <a:solidFill>
                  <a:schemeClr val="tx1"/>
                </a:solidFill>
                <a:latin typeface="Comic Sans MS" panose="030F0702030302020204" pitchFamily="66" charset="0"/>
              </a:defRPr>
            </a:lvl4pPr>
            <a:lvl5pPr marL="2057400" indent="-228600">
              <a:tabLst>
                <a:tab pos="4862195" algn="r"/>
                <a:tab pos="60579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Accounts Receivable		300</a:t>
            </a:r>
          </a:p>
        </p:txBody>
      </p:sp>
      <p:sp>
        <p:nvSpPr>
          <p:cNvPr id="888840" name="Text Box 8"/>
          <p:cNvSpPr txBox="1">
            <a:spLocks noChangeArrowheads="1"/>
          </p:cNvSpPr>
          <p:nvPr/>
        </p:nvSpPr>
        <p:spPr bwMode="auto">
          <a:xfrm>
            <a:off x="1828800" y="4602163"/>
            <a:ext cx="6781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5029200" algn="r"/>
              </a:tabLst>
              <a:defRPr sz="2000">
                <a:solidFill>
                  <a:schemeClr val="tx1"/>
                </a:solidFill>
                <a:latin typeface="Comic Sans MS" panose="030F0702030302020204" pitchFamily="66" charset="0"/>
              </a:defRPr>
            </a:lvl1pPr>
            <a:lvl2pPr marL="742950" indent="-285750">
              <a:tabLst>
                <a:tab pos="5029200" algn="r"/>
              </a:tabLst>
              <a:defRPr sz="2000">
                <a:solidFill>
                  <a:schemeClr val="tx1"/>
                </a:solidFill>
                <a:latin typeface="Comic Sans MS" panose="030F0702030302020204" pitchFamily="66" charset="0"/>
              </a:defRPr>
            </a:lvl2pPr>
            <a:lvl3pPr marL="1143000" indent="-228600">
              <a:tabLst>
                <a:tab pos="5029200" algn="r"/>
              </a:tabLst>
              <a:defRPr sz="2000">
                <a:solidFill>
                  <a:schemeClr val="tx1"/>
                </a:solidFill>
                <a:latin typeface="Comic Sans MS" panose="030F0702030302020204" pitchFamily="66" charset="0"/>
              </a:defRPr>
            </a:lvl3pPr>
            <a:lvl4pPr marL="1600200" indent="-228600">
              <a:tabLst>
                <a:tab pos="5029200" algn="r"/>
              </a:tabLst>
              <a:defRPr sz="2000">
                <a:solidFill>
                  <a:schemeClr val="tx1"/>
                </a:solidFill>
                <a:latin typeface="Comic Sans MS" panose="030F0702030302020204" pitchFamily="66" charset="0"/>
              </a:defRPr>
            </a:lvl4pPr>
            <a:lvl5pPr marL="2057400" indent="-228600">
              <a:tabLst>
                <a:tab pos="50292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Inventory  	140</a:t>
            </a:r>
          </a:p>
        </p:txBody>
      </p:sp>
      <p:sp>
        <p:nvSpPr>
          <p:cNvPr id="31752" name="Text Box 9"/>
          <p:cNvSpPr txBox="1">
            <a:spLocks noChangeArrowheads="1"/>
          </p:cNvSpPr>
          <p:nvPr/>
        </p:nvSpPr>
        <p:spPr bwMode="auto">
          <a:xfrm>
            <a:off x="228600" y="4602163"/>
            <a:ext cx="11430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spcBef>
                <a:spcPct val="50000"/>
              </a:spcBef>
            </a:pPr>
            <a:r>
              <a:rPr lang="en-US" altLang="en-US" sz="2200" dirty="0">
                <a:latin typeface="Liberation Sans" panose="020B0604020202020204" pitchFamily="34" charset="0"/>
                <a:cs typeface="Arial" panose="020B0604020202020204" pitchFamily="34" charset="0"/>
              </a:rPr>
              <a:t>8</a:t>
            </a:r>
          </a:p>
        </p:txBody>
      </p:sp>
      <p:sp>
        <p:nvSpPr>
          <p:cNvPr id="888842" name="Text Box 10"/>
          <p:cNvSpPr txBox="1">
            <a:spLocks noChangeArrowheads="1"/>
          </p:cNvSpPr>
          <p:nvPr/>
        </p:nvSpPr>
        <p:spPr bwMode="auto">
          <a:xfrm>
            <a:off x="1828800" y="5105400"/>
            <a:ext cx="6781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862195" algn="r"/>
                <a:tab pos="6057900" algn="r"/>
              </a:tabLst>
              <a:defRPr sz="2000">
                <a:solidFill>
                  <a:schemeClr val="tx1"/>
                </a:solidFill>
                <a:latin typeface="Comic Sans MS" panose="030F0702030302020204" pitchFamily="66" charset="0"/>
              </a:defRPr>
            </a:lvl1pPr>
            <a:lvl2pPr marL="742950" indent="-285750">
              <a:tabLst>
                <a:tab pos="4862195" algn="r"/>
                <a:tab pos="6057900" algn="r"/>
              </a:tabLst>
              <a:defRPr sz="2000">
                <a:solidFill>
                  <a:schemeClr val="tx1"/>
                </a:solidFill>
                <a:latin typeface="Comic Sans MS" panose="030F0702030302020204" pitchFamily="66" charset="0"/>
              </a:defRPr>
            </a:lvl2pPr>
            <a:lvl3pPr marL="1143000" indent="-228600">
              <a:tabLst>
                <a:tab pos="4862195" algn="r"/>
                <a:tab pos="6057900" algn="r"/>
              </a:tabLst>
              <a:defRPr sz="2000">
                <a:solidFill>
                  <a:schemeClr val="tx1"/>
                </a:solidFill>
                <a:latin typeface="Comic Sans MS" panose="030F0702030302020204" pitchFamily="66" charset="0"/>
              </a:defRPr>
            </a:lvl3pPr>
            <a:lvl4pPr marL="1600200" indent="-228600">
              <a:tabLst>
                <a:tab pos="4862195" algn="r"/>
                <a:tab pos="6057900" algn="r"/>
              </a:tabLst>
              <a:defRPr sz="2000">
                <a:solidFill>
                  <a:schemeClr val="tx1"/>
                </a:solidFill>
                <a:latin typeface="Comic Sans MS" panose="030F0702030302020204" pitchFamily="66" charset="0"/>
              </a:defRPr>
            </a:lvl4pPr>
            <a:lvl5pPr marL="2057400" indent="-228600">
              <a:tabLst>
                <a:tab pos="4862195" algn="r"/>
                <a:tab pos="60579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Cost of Goods Sold		140</a:t>
            </a:r>
          </a:p>
        </p:txBody>
      </p:sp>
      <p:sp>
        <p:nvSpPr>
          <p:cNvPr id="31755"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2"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Sales Returns and Allowances </a:t>
            </a:r>
          </a:p>
        </p:txBody>
      </p:sp>
      <p:sp>
        <p:nvSpPr>
          <p:cNvPr id="13"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8837"/>
                                        </p:tgtEl>
                                        <p:attrNameLst>
                                          <p:attrName>style.visibility</p:attrName>
                                        </p:attrNameLst>
                                      </p:cBhvr>
                                      <p:to>
                                        <p:strVal val="visible"/>
                                      </p:to>
                                    </p:set>
                                    <p:animEffect transition="in" filter="wipe(left)">
                                      <p:cBhvr>
                                        <p:cTn id="7" dur="500"/>
                                        <p:tgtEl>
                                          <p:spTgt spid="8888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8839"/>
                                        </p:tgtEl>
                                        <p:attrNameLst>
                                          <p:attrName>style.visibility</p:attrName>
                                        </p:attrNameLst>
                                      </p:cBhvr>
                                      <p:to>
                                        <p:strVal val="visible"/>
                                      </p:to>
                                    </p:set>
                                    <p:animEffect transition="in" filter="wipe(left)">
                                      <p:cBhvr>
                                        <p:cTn id="12" dur="500"/>
                                        <p:tgtEl>
                                          <p:spTgt spid="8888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8840"/>
                                        </p:tgtEl>
                                        <p:attrNameLst>
                                          <p:attrName>style.visibility</p:attrName>
                                        </p:attrNameLst>
                                      </p:cBhvr>
                                      <p:to>
                                        <p:strVal val="visible"/>
                                      </p:to>
                                    </p:set>
                                    <p:animEffect transition="in" filter="wipe(left)">
                                      <p:cBhvr>
                                        <p:cTn id="17" dur="500"/>
                                        <p:tgtEl>
                                          <p:spTgt spid="8888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8842"/>
                                        </p:tgtEl>
                                        <p:attrNameLst>
                                          <p:attrName>style.visibility</p:attrName>
                                        </p:attrNameLst>
                                      </p:cBhvr>
                                      <p:to>
                                        <p:strVal val="visible"/>
                                      </p:to>
                                    </p:set>
                                    <p:animEffect transition="in" filter="wipe(left)">
                                      <p:cBhvr>
                                        <p:cTn id="22" dur="500"/>
                                        <p:tgtEl>
                                          <p:spTgt spid="888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8837" grpId="0" autoUpdateAnimBg="0"/>
      <p:bldP spid="888839" grpId="0" autoUpdateAnimBg="0"/>
      <p:bldP spid="888840" grpId="0" autoUpdateAnimBg="0"/>
      <p:bldP spid="88884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5"/>
          <p:cNvSpPr txBox="1">
            <a:spLocks noChangeArrowheads="1"/>
          </p:cNvSpPr>
          <p:nvPr/>
        </p:nvSpPr>
        <p:spPr bwMode="auto">
          <a:xfrm>
            <a:off x="1828800" y="2895600"/>
            <a:ext cx="6781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5029200" algn="r"/>
              </a:tabLst>
              <a:defRPr sz="2000">
                <a:solidFill>
                  <a:schemeClr val="tx1"/>
                </a:solidFill>
                <a:latin typeface="Comic Sans MS" panose="030F0702030302020204" pitchFamily="66" charset="0"/>
              </a:defRPr>
            </a:lvl1pPr>
            <a:lvl2pPr marL="742950" indent="-285750">
              <a:tabLst>
                <a:tab pos="5029200" algn="r"/>
              </a:tabLst>
              <a:defRPr sz="2000">
                <a:solidFill>
                  <a:schemeClr val="tx1"/>
                </a:solidFill>
                <a:latin typeface="Comic Sans MS" panose="030F0702030302020204" pitchFamily="66" charset="0"/>
              </a:defRPr>
            </a:lvl2pPr>
            <a:lvl3pPr marL="1143000" indent="-228600">
              <a:tabLst>
                <a:tab pos="5029200" algn="r"/>
              </a:tabLst>
              <a:defRPr sz="2000">
                <a:solidFill>
                  <a:schemeClr val="tx1"/>
                </a:solidFill>
                <a:latin typeface="Comic Sans MS" panose="030F0702030302020204" pitchFamily="66" charset="0"/>
              </a:defRPr>
            </a:lvl3pPr>
            <a:lvl4pPr marL="1600200" indent="-228600">
              <a:tabLst>
                <a:tab pos="5029200" algn="r"/>
              </a:tabLst>
              <a:defRPr sz="2000">
                <a:solidFill>
                  <a:schemeClr val="tx1"/>
                </a:solidFill>
                <a:latin typeface="Comic Sans MS" panose="030F0702030302020204" pitchFamily="66" charset="0"/>
              </a:defRPr>
            </a:lvl4pPr>
            <a:lvl5pPr marL="2057400" indent="-228600">
              <a:tabLst>
                <a:tab pos="50292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Sales Returns and Allowances  	300</a:t>
            </a:r>
          </a:p>
        </p:txBody>
      </p:sp>
      <p:sp>
        <p:nvSpPr>
          <p:cNvPr id="32772" name="Text Box 7"/>
          <p:cNvSpPr txBox="1">
            <a:spLocks noChangeArrowheads="1"/>
          </p:cNvSpPr>
          <p:nvPr/>
        </p:nvSpPr>
        <p:spPr bwMode="auto">
          <a:xfrm>
            <a:off x="1828800" y="3398838"/>
            <a:ext cx="6781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862195" algn="r"/>
                <a:tab pos="6057900" algn="r"/>
              </a:tabLst>
              <a:defRPr sz="2000">
                <a:solidFill>
                  <a:schemeClr val="tx1"/>
                </a:solidFill>
                <a:latin typeface="Comic Sans MS" panose="030F0702030302020204" pitchFamily="66" charset="0"/>
              </a:defRPr>
            </a:lvl1pPr>
            <a:lvl2pPr marL="742950" indent="-285750">
              <a:tabLst>
                <a:tab pos="4862195" algn="r"/>
                <a:tab pos="6057900" algn="r"/>
              </a:tabLst>
              <a:defRPr sz="2000">
                <a:solidFill>
                  <a:schemeClr val="tx1"/>
                </a:solidFill>
                <a:latin typeface="Comic Sans MS" panose="030F0702030302020204" pitchFamily="66" charset="0"/>
              </a:defRPr>
            </a:lvl2pPr>
            <a:lvl3pPr marL="1143000" indent="-228600">
              <a:tabLst>
                <a:tab pos="4862195" algn="r"/>
                <a:tab pos="6057900" algn="r"/>
              </a:tabLst>
              <a:defRPr sz="2000">
                <a:solidFill>
                  <a:schemeClr val="tx1"/>
                </a:solidFill>
                <a:latin typeface="Comic Sans MS" panose="030F0702030302020204" pitchFamily="66" charset="0"/>
              </a:defRPr>
            </a:lvl3pPr>
            <a:lvl4pPr marL="1600200" indent="-228600">
              <a:tabLst>
                <a:tab pos="4862195" algn="r"/>
                <a:tab pos="6057900" algn="r"/>
              </a:tabLst>
              <a:defRPr sz="2000">
                <a:solidFill>
                  <a:schemeClr val="tx1"/>
                </a:solidFill>
                <a:latin typeface="Comic Sans MS" panose="030F0702030302020204" pitchFamily="66" charset="0"/>
              </a:defRPr>
            </a:lvl4pPr>
            <a:lvl5pPr marL="2057400" indent="-228600">
              <a:tabLst>
                <a:tab pos="4862195" algn="r"/>
                <a:tab pos="60579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Accounts Receivable		300</a:t>
            </a:r>
          </a:p>
        </p:txBody>
      </p:sp>
      <p:sp>
        <p:nvSpPr>
          <p:cNvPr id="890888" name="Text Box 8"/>
          <p:cNvSpPr txBox="1">
            <a:spLocks noChangeArrowheads="1"/>
          </p:cNvSpPr>
          <p:nvPr/>
        </p:nvSpPr>
        <p:spPr bwMode="auto">
          <a:xfrm>
            <a:off x="1828800" y="4144963"/>
            <a:ext cx="6781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5029200" algn="r"/>
              </a:tabLst>
              <a:defRPr sz="2000">
                <a:solidFill>
                  <a:schemeClr val="tx1"/>
                </a:solidFill>
                <a:latin typeface="Comic Sans MS" panose="030F0702030302020204" pitchFamily="66" charset="0"/>
              </a:defRPr>
            </a:lvl1pPr>
            <a:lvl2pPr marL="742950" indent="-285750">
              <a:tabLst>
                <a:tab pos="5029200" algn="r"/>
              </a:tabLst>
              <a:defRPr sz="2000">
                <a:solidFill>
                  <a:schemeClr val="tx1"/>
                </a:solidFill>
                <a:latin typeface="Comic Sans MS" panose="030F0702030302020204" pitchFamily="66" charset="0"/>
              </a:defRPr>
            </a:lvl2pPr>
            <a:lvl3pPr marL="1143000" indent="-228600">
              <a:tabLst>
                <a:tab pos="5029200" algn="r"/>
              </a:tabLst>
              <a:defRPr sz="2000">
                <a:solidFill>
                  <a:schemeClr val="tx1"/>
                </a:solidFill>
                <a:latin typeface="Comic Sans MS" panose="030F0702030302020204" pitchFamily="66" charset="0"/>
              </a:defRPr>
            </a:lvl3pPr>
            <a:lvl4pPr marL="1600200" indent="-228600">
              <a:tabLst>
                <a:tab pos="5029200" algn="r"/>
              </a:tabLst>
              <a:defRPr sz="2000">
                <a:solidFill>
                  <a:schemeClr val="tx1"/>
                </a:solidFill>
                <a:latin typeface="Comic Sans MS" panose="030F0702030302020204" pitchFamily="66" charset="0"/>
              </a:defRPr>
            </a:lvl4pPr>
            <a:lvl5pPr marL="2057400" indent="-228600">
              <a:tabLst>
                <a:tab pos="50292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0292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Inventory  	50</a:t>
            </a:r>
          </a:p>
        </p:txBody>
      </p:sp>
      <p:sp>
        <p:nvSpPr>
          <p:cNvPr id="890890" name="Text Box 10"/>
          <p:cNvSpPr txBox="1">
            <a:spLocks noChangeArrowheads="1"/>
          </p:cNvSpPr>
          <p:nvPr/>
        </p:nvSpPr>
        <p:spPr bwMode="auto">
          <a:xfrm>
            <a:off x="1828800" y="4648200"/>
            <a:ext cx="6781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862195" algn="r"/>
                <a:tab pos="6057900" algn="r"/>
              </a:tabLst>
              <a:defRPr sz="2000">
                <a:solidFill>
                  <a:schemeClr val="tx1"/>
                </a:solidFill>
                <a:latin typeface="Comic Sans MS" panose="030F0702030302020204" pitchFamily="66" charset="0"/>
              </a:defRPr>
            </a:lvl1pPr>
            <a:lvl2pPr marL="742950" indent="-285750">
              <a:tabLst>
                <a:tab pos="4862195" algn="r"/>
                <a:tab pos="6057900" algn="r"/>
              </a:tabLst>
              <a:defRPr sz="2000">
                <a:solidFill>
                  <a:schemeClr val="tx1"/>
                </a:solidFill>
                <a:latin typeface="Comic Sans MS" panose="030F0702030302020204" pitchFamily="66" charset="0"/>
              </a:defRPr>
            </a:lvl2pPr>
            <a:lvl3pPr marL="1143000" indent="-228600">
              <a:tabLst>
                <a:tab pos="4862195" algn="r"/>
                <a:tab pos="6057900" algn="r"/>
              </a:tabLst>
              <a:defRPr sz="2000">
                <a:solidFill>
                  <a:schemeClr val="tx1"/>
                </a:solidFill>
                <a:latin typeface="Comic Sans MS" panose="030F0702030302020204" pitchFamily="66" charset="0"/>
              </a:defRPr>
            </a:lvl3pPr>
            <a:lvl4pPr marL="1600200" indent="-228600">
              <a:tabLst>
                <a:tab pos="4862195" algn="r"/>
                <a:tab pos="6057900" algn="r"/>
              </a:tabLst>
              <a:defRPr sz="2000">
                <a:solidFill>
                  <a:schemeClr val="tx1"/>
                </a:solidFill>
                <a:latin typeface="Comic Sans MS" panose="030F0702030302020204" pitchFamily="66" charset="0"/>
              </a:defRPr>
            </a:lvl4pPr>
            <a:lvl5pPr marL="2057400" indent="-228600">
              <a:tabLst>
                <a:tab pos="4862195" algn="r"/>
                <a:tab pos="60579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862195" algn="r"/>
                <a:tab pos="60579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Cost of Goods Sold		50</a:t>
            </a:r>
          </a:p>
        </p:txBody>
      </p:sp>
      <p:sp>
        <p:nvSpPr>
          <p:cNvPr id="32775" name="Text Box 11"/>
          <p:cNvSpPr txBox="1">
            <a:spLocks noChangeArrowheads="1"/>
          </p:cNvSpPr>
          <p:nvPr/>
        </p:nvSpPr>
        <p:spPr bwMode="auto">
          <a:xfrm>
            <a:off x="533400" y="1295400"/>
            <a:ext cx="7924800" cy="134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70000"/>
              </a:spcBef>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Assume the </a:t>
            </a:r>
            <a:r>
              <a:rPr lang="en-US" altLang="en-US" sz="2200" b="1" dirty="0">
                <a:latin typeface="Liberation Sans" panose="020B0604020202020204" pitchFamily="34" charset="0"/>
              </a:rPr>
              <a:t>returned goods were defective</a:t>
            </a:r>
            <a:r>
              <a:rPr lang="en-US" altLang="en-US" sz="2200" dirty="0">
                <a:latin typeface="Liberation Sans" panose="020B0604020202020204" pitchFamily="34" charset="0"/>
              </a:rPr>
              <a:t> and had a scrap value of $50, PW Audio would make the following entries:</a:t>
            </a:r>
          </a:p>
        </p:txBody>
      </p:sp>
      <p:sp>
        <p:nvSpPr>
          <p:cNvPr id="32776" name="Text Box 13"/>
          <p:cNvSpPr txBox="1">
            <a:spLocks noChangeArrowheads="1"/>
          </p:cNvSpPr>
          <p:nvPr/>
        </p:nvSpPr>
        <p:spPr bwMode="auto">
          <a:xfrm>
            <a:off x="533400" y="2895600"/>
            <a:ext cx="11430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8</a:t>
            </a:r>
          </a:p>
        </p:txBody>
      </p:sp>
      <p:sp>
        <p:nvSpPr>
          <p:cNvPr id="32777" name="Text Box 14"/>
          <p:cNvSpPr txBox="1">
            <a:spLocks noChangeArrowheads="1"/>
          </p:cNvSpPr>
          <p:nvPr/>
        </p:nvSpPr>
        <p:spPr bwMode="auto">
          <a:xfrm>
            <a:off x="228600" y="4144963"/>
            <a:ext cx="11430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spcBef>
                <a:spcPct val="50000"/>
              </a:spcBef>
            </a:pPr>
            <a:r>
              <a:rPr lang="en-US" altLang="en-US" sz="2200" dirty="0">
                <a:latin typeface="Liberation Sans" panose="020B0604020202020204" pitchFamily="34" charset="0"/>
                <a:cs typeface="Arial" panose="020B0604020202020204" pitchFamily="34" charset="0"/>
              </a:rPr>
              <a:t>8</a:t>
            </a:r>
          </a:p>
        </p:txBody>
      </p:sp>
      <p:sp>
        <p:nvSpPr>
          <p:cNvPr id="32779"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2"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Sales Returns and Allowances </a:t>
            </a:r>
          </a:p>
        </p:txBody>
      </p:sp>
      <p:sp>
        <p:nvSpPr>
          <p:cNvPr id="13"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0888"/>
                                        </p:tgtEl>
                                        <p:attrNameLst>
                                          <p:attrName>style.visibility</p:attrName>
                                        </p:attrNameLst>
                                      </p:cBhvr>
                                      <p:to>
                                        <p:strVal val="visible"/>
                                      </p:to>
                                    </p:set>
                                    <p:animEffect transition="in" filter="wipe(left)">
                                      <p:cBhvr>
                                        <p:cTn id="7" dur="500"/>
                                        <p:tgtEl>
                                          <p:spTgt spid="8908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0890"/>
                                        </p:tgtEl>
                                        <p:attrNameLst>
                                          <p:attrName>style.visibility</p:attrName>
                                        </p:attrNameLst>
                                      </p:cBhvr>
                                      <p:to>
                                        <p:strVal val="visible"/>
                                      </p:to>
                                    </p:set>
                                    <p:animEffect transition="in" filter="wipe(left)">
                                      <p:cBhvr>
                                        <p:cTn id="12" dur="500"/>
                                        <p:tgtEl>
                                          <p:spTgt spid="890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888" grpId="0" autoUpdateAnimBg="0"/>
      <p:bldP spid="890890"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8"/>
          <p:cNvSpPr>
            <a:spLocks noChangeArrowheads="1"/>
          </p:cNvSpPr>
          <p:nvPr/>
        </p:nvSpPr>
        <p:spPr bwMode="auto">
          <a:xfrm>
            <a:off x="457200" y="1890713"/>
            <a:ext cx="7696200" cy="39624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182562" tIns="46038" rIns="182562" bIns="46038"/>
          <a:lstStyle>
            <a:lvl1pPr>
              <a:defRPr sz="2000">
                <a:solidFill>
                  <a:schemeClr val="tx1"/>
                </a:solidFill>
                <a:latin typeface="Comic Sans MS" panose="030F0702030302020204" pitchFamily="66" charset="0"/>
              </a:defRPr>
            </a:lvl1pPr>
            <a:lvl2pPr marL="69215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40000"/>
              </a:spcBef>
              <a:buClr>
                <a:schemeClr val="tx1"/>
              </a:buClr>
              <a:buFont typeface="Wingdings" panose="05000000000000000000" pitchFamily="2" charset="2"/>
              <a:buNone/>
            </a:pPr>
            <a:r>
              <a:rPr lang="en-US" altLang="en-US" sz="2300" dirty="0">
                <a:latin typeface="Liberation Sans" panose="020B0604020202020204" pitchFamily="34" charset="0"/>
                <a:cs typeface="Times New Roman" panose="02020603050405020304" pitchFamily="18" charset="0"/>
              </a:rPr>
              <a:t>The cost of goods sold is determined and recorded each time a sale occurs in:  </a:t>
            </a:r>
          </a:p>
          <a:p>
            <a:pPr lvl="1" algn="l">
              <a:lnSpc>
                <a:spcPct val="120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periodic inventory system only.  </a:t>
            </a:r>
          </a:p>
          <a:p>
            <a:pPr lvl="1" algn="l">
              <a:lnSpc>
                <a:spcPct val="120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a perpetual inventory system only.  </a:t>
            </a:r>
          </a:p>
          <a:p>
            <a:pPr lvl="1" algn="l">
              <a:lnSpc>
                <a:spcPct val="120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both a periodic and perpetual inventory system.  </a:t>
            </a:r>
          </a:p>
          <a:p>
            <a:pPr lvl="1" algn="l">
              <a:lnSpc>
                <a:spcPct val="120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neither a periodic nor perpetual inventory system.</a:t>
            </a:r>
          </a:p>
        </p:txBody>
      </p:sp>
      <p:sp>
        <p:nvSpPr>
          <p:cNvPr id="33796" name="Text Box 10"/>
          <p:cNvSpPr txBox="1">
            <a:spLocks noChangeArrowheads="1"/>
          </p:cNvSpPr>
          <p:nvPr/>
        </p:nvSpPr>
        <p:spPr bwMode="auto">
          <a:xfrm>
            <a:off x="533400" y="1295400"/>
            <a:ext cx="6843713" cy="5539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000" b="1" dirty="0">
                <a:solidFill>
                  <a:schemeClr val="tx2">
                    <a:lumMod val="75000"/>
                  </a:schemeClr>
                </a:solidFill>
                <a:latin typeface="Liberation Sans" panose="020B0604020202020204" pitchFamily="34" charset="0"/>
              </a:rPr>
              <a:t>Question </a:t>
            </a:r>
          </a:p>
        </p:txBody>
      </p:sp>
      <p:sp>
        <p:nvSpPr>
          <p:cNvPr id="33798"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9"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Sales Returns and Allowances </a:t>
            </a:r>
          </a:p>
        </p:txBody>
      </p:sp>
      <p:sp>
        <p:nvSpPr>
          <p:cNvPr id="10" name="Notched Right Arrow 9"/>
          <p:cNvSpPr/>
          <p:nvPr/>
        </p:nvSpPr>
        <p:spPr bwMode="auto">
          <a:xfrm>
            <a:off x="152400" y="3483864"/>
            <a:ext cx="609600" cy="457200"/>
          </a:xfrm>
          <a:prstGeom prst="notchedRightArrow">
            <a:avLst/>
          </a:prstGeom>
          <a:solidFill>
            <a:schemeClr val="tx2">
              <a:lumMod val="75000"/>
            </a:schemeClr>
          </a:solidFill>
          <a:ln w="12700" cap="sq" cmpd="sng" algn="ctr">
            <a:solidFill>
              <a:schemeClr val="tx1"/>
            </a:solidFill>
            <a:prstDash val="solid"/>
            <a:round/>
            <a:headEnd type="none" w="sm" len="sm"/>
            <a:tailEnd type="none" w="sm" len="sm"/>
          </a:ln>
          <a:effectLst/>
        </p:spPr>
        <p:txBody>
          <a:bodyPr/>
          <a:lstStyle>
            <a:lvl1pPr>
              <a:defRPr sz="2400">
                <a:solidFill>
                  <a:schemeClr val="tx1"/>
                </a:solidFill>
                <a:latin typeface="Comic Sans MS" panose="030F0702030302020204" pitchFamily="66" charset="0"/>
              </a:defRPr>
            </a:lvl1pPr>
            <a:lvl2pPr marL="742950" indent="-285750">
              <a:defRPr sz="2400">
                <a:solidFill>
                  <a:schemeClr val="tx1"/>
                </a:solidFill>
                <a:latin typeface="Comic Sans MS" panose="030F0702030302020204" pitchFamily="66" charset="0"/>
              </a:defRPr>
            </a:lvl2pPr>
            <a:lvl3pPr marL="1143000" indent="-228600">
              <a:defRPr sz="2400">
                <a:solidFill>
                  <a:schemeClr val="tx1"/>
                </a:solidFill>
                <a:latin typeface="Comic Sans MS" panose="030F0702030302020204" pitchFamily="66" charset="0"/>
              </a:defRPr>
            </a:lvl3pPr>
            <a:lvl4pPr marL="1600200" indent="-228600">
              <a:defRPr sz="2400">
                <a:solidFill>
                  <a:schemeClr val="tx1"/>
                </a:solidFill>
                <a:latin typeface="Comic Sans MS" panose="030F0702030302020204" pitchFamily="66" charset="0"/>
              </a:defRPr>
            </a:lvl4pPr>
            <a:lvl5pPr marL="2057400" indent="-228600">
              <a:defRPr sz="24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11"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1" y="1355362"/>
            <a:ext cx="8508999" cy="4435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287" y="533400"/>
            <a:ext cx="7732713"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762000" y="1295400"/>
            <a:ext cx="7696200" cy="15650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40000"/>
              </a:spcBef>
              <a:spcAft>
                <a:spcPct val="20000"/>
              </a:spcAft>
              <a:buClr>
                <a:srgbClr val="800000"/>
              </a:buClr>
              <a:buSzPct val="80000"/>
              <a:buFont typeface="Wingdings" panose="05000000000000000000" pitchFamily="2" charset="2"/>
              <a:buChar char="u"/>
            </a:pPr>
            <a:r>
              <a:rPr lang="en-US" altLang="en-US" sz="2200" dirty="0">
                <a:latin typeface="Liberation Sans" panose="020B0604020202020204" pitchFamily="34" charset="0"/>
              </a:rPr>
              <a:t>Offered to customers to </a:t>
            </a:r>
            <a:r>
              <a:rPr lang="en-US" altLang="en-US" sz="2200" b="1" dirty="0">
                <a:latin typeface="Liberation Sans" panose="020B0604020202020204" pitchFamily="34" charset="0"/>
              </a:rPr>
              <a:t>promote prompt payment </a:t>
            </a:r>
            <a:r>
              <a:rPr lang="en-US" altLang="en-US" sz="2200" dirty="0">
                <a:latin typeface="Liberation Sans" panose="020B0604020202020204" pitchFamily="34" charset="0"/>
              </a:rPr>
              <a:t>of the balance due.</a:t>
            </a:r>
          </a:p>
          <a:p>
            <a:pPr algn="l">
              <a:lnSpc>
                <a:spcPct val="125000"/>
              </a:lnSpc>
              <a:spcBef>
                <a:spcPct val="40000"/>
              </a:spcBef>
              <a:spcAft>
                <a:spcPct val="20000"/>
              </a:spcAft>
              <a:buClr>
                <a:srgbClr val="800000"/>
              </a:buClr>
              <a:buSzPct val="80000"/>
              <a:buFont typeface="Wingdings" panose="05000000000000000000" pitchFamily="2" charset="2"/>
              <a:buChar char="u"/>
            </a:pPr>
            <a:r>
              <a:rPr lang="en-US" altLang="en-US" sz="2200" b="1" dirty="0">
                <a:latin typeface="Liberation Sans" panose="020B0604020202020204" pitchFamily="34" charset="0"/>
              </a:rPr>
              <a:t>Contra-revenue account</a:t>
            </a:r>
            <a:r>
              <a:rPr lang="en-US" altLang="en-US" sz="2200" dirty="0">
                <a:latin typeface="Liberation Sans" panose="020B0604020202020204" pitchFamily="34" charset="0"/>
              </a:rPr>
              <a:t> (debit) to Sales Revenue.</a:t>
            </a:r>
          </a:p>
        </p:txBody>
      </p:sp>
      <p:pic>
        <p:nvPicPr>
          <p:cNvPr id="35845" name="Picture 10"/>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457200" y="3219450"/>
            <a:ext cx="8305800" cy="1809750"/>
          </a:xfrm>
          <a:prstGeom prst="rect">
            <a:avLst/>
          </a:prstGeom>
          <a:noFill/>
          <a:ln w="19050" cap="sq" algn="ctr">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6"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Sales Discount </a:t>
            </a:r>
          </a:p>
        </p:txBody>
      </p:sp>
      <p:sp>
        <p:nvSpPr>
          <p:cNvPr id="35847"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8"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6" name="Text Box 4"/>
          <p:cNvSpPr txBox="1">
            <a:spLocks noChangeArrowheads="1"/>
          </p:cNvSpPr>
          <p:nvPr/>
        </p:nvSpPr>
        <p:spPr bwMode="auto">
          <a:xfrm>
            <a:off x="1981200" y="3810000"/>
            <a:ext cx="65532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Cash	3,430</a:t>
            </a:r>
          </a:p>
        </p:txBody>
      </p:sp>
      <p:sp>
        <p:nvSpPr>
          <p:cNvPr id="36868" name="Text Box 5"/>
          <p:cNvSpPr txBox="1">
            <a:spLocks noChangeArrowheads="1"/>
          </p:cNvSpPr>
          <p:nvPr/>
        </p:nvSpPr>
        <p:spPr bwMode="auto">
          <a:xfrm>
            <a:off x="609600" y="3810000"/>
            <a:ext cx="11430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14</a:t>
            </a:r>
          </a:p>
        </p:txBody>
      </p:sp>
      <p:sp>
        <p:nvSpPr>
          <p:cNvPr id="899078" name="Text Box 6"/>
          <p:cNvSpPr txBox="1">
            <a:spLocks noChangeArrowheads="1"/>
          </p:cNvSpPr>
          <p:nvPr/>
        </p:nvSpPr>
        <p:spPr bwMode="auto">
          <a:xfrm>
            <a:off x="1981200" y="4770438"/>
            <a:ext cx="65532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862195" algn="r"/>
                <a:tab pos="5715000" algn="r"/>
              </a:tabLst>
              <a:defRPr sz="2000">
                <a:solidFill>
                  <a:schemeClr val="tx1"/>
                </a:solidFill>
                <a:latin typeface="Comic Sans MS" panose="030F0702030302020204" pitchFamily="66" charset="0"/>
              </a:defRPr>
            </a:lvl1pPr>
            <a:lvl2pPr marL="742950" indent="-285750">
              <a:tabLst>
                <a:tab pos="4862195" algn="r"/>
                <a:tab pos="5715000" algn="r"/>
              </a:tabLst>
              <a:defRPr sz="2000">
                <a:solidFill>
                  <a:schemeClr val="tx1"/>
                </a:solidFill>
                <a:latin typeface="Comic Sans MS" panose="030F0702030302020204" pitchFamily="66" charset="0"/>
              </a:defRPr>
            </a:lvl2pPr>
            <a:lvl3pPr marL="1143000" indent="-228600">
              <a:tabLst>
                <a:tab pos="4862195" algn="r"/>
                <a:tab pos="5715000" algn="r"/>
              </a:tabLst>
              <a:defRPr sz="2000">
                <a:solidFill>
                  <a:schemeClr val="tx1"/>
                </a:solidFill>
                <a:latin typeface="Comic Sans MS" panose="030F0702030302020204" pitchFamily="66" charset="0"/>
              </a:defRPr>
            </a:lvl3pPr>
            <a:lvl4pPr marL="1600200" indent="-228600">
              <a:tabLst>
                <a:tab pos="4862195" algn="r"/>
                <a:tab pos="5715000" algn="r"/>
              </a:tabLst>
              <a:defRPr sz="2000">
                <a:solidFill>
                  <a:schemeClr val="tx1"/>
                </a:solidFill>
                <a:latin typeface="Comic Sans MS" panose="030F0702030302020204" pitchFamily="66" charset="0"/>
              </a:defRPr>
            </a:lvl4pPr>
            <a:lvl5pPr marL="2057400" indent="-228600">
              <a:tabLst>
                <a:tab pos="4862195" algn="r"/>
                <a:tab pos="5715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862195" algn="r"/>
                <a:tab pos="5715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862195" algn="r"/>
                <a:tab pos="5715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862195" algn="r"/>
                <a:tab pos="5715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862195" algn="r"/>
                <a:tab pos="5715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Accounts Receivable		3,500</a:t>
            </a:r>
          </a:p>
        </p:txBody>
      </p:sp>
      <p:sp>
        <p:nvSpPr>
          <p:cNvPr id="899079" name="Text Box 7"/>
          <p:cNvSpPr txBox="1">
            <a:spLocks noChangeArrowheads="1"/>
          </p:cNvSpPr>
          <p:nvPr/>
        </p:nvSpPr>
        <p:spPr bwMode="auto">
          <a:xfrm>
            <a:off x="1981200" y="4313238"/>
            <a:ext cx="65532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Sales Discounts	70</a:t>
            </a:r>
          </a:p>
        </p:txBody>
      </p:sp>
      <p:sp>
        <p:nvSpPr>
          <p:cNvPr id="899080" name="Rectangle 8"/>
          <p:cNvSpPr>
            <a:spLocks noChangeArrowheads="1"/>
          </p:cNvSpPr>
          <p:nvPr/>
        </p:nvSpPr>
        <p:spPr bwMode="auto">
          <a:xfrm>
            <a:off x="782638" y="5724525"/>
            <a:ext cx="2749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8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513080" indent="-51308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1800" dirty="0">
                <a:solidFill>
                  <a:srgbClr val="800000"/>
                </a:solidFill>
                <a:latin typeface="Liberation Sans" panose="020B0604020202020204" pitchFamily="34" charset="0"/>
              </a:rPr>
              <a:t>*  </a:t>
            </a:r>
            <a:r>
              <a:rPr lang="en-US" altLang="en-US" sz="1800" dirty="0">
                <a:latin typeface="Liberation Sans" panose="020B0604020202020204" pitchFamily="34" charset="0"/>
              </a:rPr>
              <a:t>[($3,800 – $300) X 2%]</a:t>
            </a:r>
          </a:p>
        </p:txBody>
      </p:sp>
      <p:sp>
        <p:nvSpPr>
          <p:cNvPr id="899081" name="Text Box 9"/>
          <p:cNvSpPr txBox="1">
            <a:spLocks noChangeArrowheads="1"/>
          </p:cNvSpPr>
          <p:nvPr/>
        </p:nvSpPr>
        <p:spPr bwMode="auto">
          <a:xfrm>
            <a:off x="6629400" y="4327525"/>
            <a:ext cx="304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dirty="0">
                <a:solidFill>
                  <a:srgbClr val="800000"/>
                </a:solidFill>
                <a:latin typeface="Liberation Sans" panose="020B0604020202020204" pitchFamily="34" charset="0"/>
              </a:rPr>
              <a:t>*</a:t>
            </a:r>
          </a:p>
        </p:txBody>
      </p:sp>
      <p:sp>
        <p:nvSpPr>
          <p:cNvPr id="36873" name="Text Box 10"/>
          <p:cNvSpPr txBox="1">
            <a:spLocks noChangeArrowheads="1"/>
          </p:cNvSpPr>
          <p:nvPr/>
        </p:nvSpPr>
        <p:spPr bwMode="auto">
          <a:xfrm>
            <a:off x="533400" y="1295400"/>
            <a:ext cx="8001000" cy="218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70000"/>
              </a:spcBef>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Assume Sauk Stereo pays the balance due of $3,500 (gross invoice price of $3,800 less purchase returns and allowances of $300) on May 14, the last day of the discount period.  Prepare the journal entry PW Audio Supply makes to record the receipt on May 14.</a:t>
            </a:r>
          </a:p>
        </p:txBody>
      </p:sp>
      <p:sp>
        <p:nvSpPr>
          <p:cNvPr id="36875" name="Line 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2"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Sales Discount </a:t>
            </a:r>
          </a:p>
        </p:txBody>
      </p:sp>
      <p:sp>
        <p:nvSpPr>
          <p:cNvPr id="13"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9078"/>
                                        </p:tgtEl>
                                        <p:attrNameLst>
                                          <p:attrName>style.visibility</p:attrName>
                                        </p:attrNameLst>
                                      </p:cBhvr>
                                      <p:to>
                                        <p:strVal val="visible"/>
                                      </p:to>
                                    </p:set>
                                    <p:animEffect transition="in" filter="wipe(left)">
                                      <p:cBhvr>
                                        <p:cTn id="7" dur="500"/>
                                        <p:tgtEl>
                                          <p:spTgt spid="8990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9079"/>
                                        </p:tgtEl>
                                        <p:attrNameLst>
                                          <p:attrName>style.visibility</p:attrName>
                                        </p:attrNameLst>
                                      </p:cBhvr>
                                      <p:to>
                                        <p:strVal val="visible"/>
                                      </p:to>
                                    </p:set>
                                    <p:animEffect transition="in" filter="wipe(left)">
                                      <p:cBhvr>
                                        <p:cTn id="12" dur="500"/>
                                        <p:tgtEl>
                                          <p:spTgt spid="89907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99080"/>
                                        </p:tgtEl>
                                        <p:attrNameLst>
                                          <p:attrName>style.visibility</p:attrName>
                                        </p:attrNameLst>
                                      </p:cBhvr>
                                      <p:to>
                                        <p:strVal val="visible"/>
                                      </p:to>
                                    </p:set>
                                    <p:animEffect transition="in" filter="wipe(left)">
                                      <p:cBhvr>
                                        <p:cTn id="16" dur="500"/>
                                        <p:tgtEl>
                                          <p:spTgt spid="899080"/>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899081"/>
                                        </p:tgtEl>
                                        <p:attrNameLst>
                                          <p:attrName>style.visibility</p:attrName>
                                        </p:attrNameLst>
                                      </p:cBhvr>
                                      <p:to>
                                        <p:strVal val="visible"/>
                                      </p:to>
                                    </p:set>
                                    <p:animEffect transition="in" filter="wipe(left)">
                                      <p:cBhvr>
                                        <p:cTn id="20" dur="500"/>
                                        <p:tgtEl>
                                          <p:spTgt spid="89908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99076"/>
                                        </p:tgtEl>
                                        <p:attrNameLst>
                                          <p:attrName>style.visibility</p:attrName>
                                        </p:attrNameLst>
                                      </p:cBhvr>
                                      <p:to>
                                        <p:strVal val="visible"/>
                                      </p:to>
                                    </p:set>
                                    <p:animEffect transition="in" filter="wipe(left)">
                                      <p:cBhvr>
                                        <p:cTn id="25" dur="500"/>
                                        <p:tgtEl>
                                          <p:spTgt spid="899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9076" grpId="0"/>
      <p:bldP spid="899078" grpId="0"/>
      <p:bldP spid="899079" grpId="0"/>
      <p:bldP spid="899080" grpId="0"/>
      <p:bldP spid="89908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ChangeArrowheads="1"/>
          </p:cNvSpPr>
          <p:nvPr/>
        </p:nvSpPr>
        <p:spPr bwMode="auto">
          <a:xfrm>
            <a:off x="609600" y="1447800"/>
            <a:ext cx="8077200" cy="252992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20000"/>
              </a:spcBef>
              <a:buClr>
                <a:schemeClr val="accent2"/>
              </a:buClr>
              <a:buSzPct val="75000"/>
              <a:buFont typeface="Wingdings" panose="05000000000000000000" pitchFamily="2" charset="2"/>
              <a:buChar char="l"/>
              <a:tabLst>
                <a:tab pos="2057400" algn="l"/>
              </a:tabLst>
              <a:defRPr sz="2800" b="1">
                <a:solidFill>
                  <a:schemeClr val="bg2"/>
                </a:solidFill>
                <a:latin typeface="Arial" panose="020B0604020202020204" pitchFamily="34" charset="0"/>
              </a:defRPr>
            </a:lvl1pPr>
            <a:lvl2pPr marL="742950" indent="-285750" algn="l">
              <a:spcBef>
                <a:spcPct val="20000"/>
              </a:spcBef>
              <a:buClr>
                <a:schemeClr val="accent2"/>
              </a:buClr>
              <a:buSzPct val="75000"/>
              <a:buFont typeface="Wingdings" panose="05000000000000000000" pitchFamily="2" charset="2"/>
              <a:buChar char="l"/>
              <a:tabLst>
                <a:tab pos="2057400" algn="l"/>
              </a:tabLst>
              <a:defRPr sz="2400" b="1">
                <a:solidFill>
                  <a:schemeClr val="bg2"/>
                </a:solidFill>
                <a:latin typeface="Arial" panose="020B0604020202020204" pitchFamily="34" charset="0"/>
              </a:defRPr>
            </a:lvl2pPr>
            <a:lvl3pPr marL="11430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3pPr>
            <a:lvl4pPr marL="16002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4pPr>
            <a:lvl5pPr marL="20574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9pPr>
          </a:lstStyle>
          <a:p>
            <a:pPr>
              <a:lnSpc>
                <a:spcPct val="120000"/>
              </a:lnSpc>
              <a:spcBef>
                <a:spcPts val="1200"/>
              </a:spcBef>
              <a:buClrTx/>
              <a:buSzTx/>
              <a:buFontTx/>
              <a:buNone/>
            </a:pPr>
            <a:r>
              <a:rPr lang="en-US" sz="2200" b="0" dirty="0">
                <a:solidFill>
                  <a:schemeClr val="tx1"/>
                </a:solidFill>
                <a:latin typeface="Liberation Sans" panose="020B0604020202020204" pitchFamily="34" charset="0"/>
              </a:rPr>
              <a:t>On September 5, De La Hoya Company buys merchandise on account from Junot Diaz Company. The selling price of the goods is $1,500, and the cost to Diaz Company was $800. On September 8, De La Hoya returns defective goods with a selling price of $200 and a fair value of $30. Record the transactions on the books of Junot Diaz Company.</a:t>
            </a:r>
          </a:p>
        </p:txBody>
      </p:sp>
      <p:sp>
        <p:nvSpPr>
          <p:cNvPr id="18" name="Line 29"/>
          <p:cNvSpPr>
            <a:spLocks noChangeShapeType="1"/>
          </p:cNvSpPr>
          <p:nvPr/>
        </p:nvSpPr>
        <p:spPr bwMode="auto">
          <a:xfrm>
            <a:off x="290286" y="784324"/>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9"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71"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20"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286" y="357188"/>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21"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0857"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22"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3472" y="571501"/>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3" name="TextBox 22"/>
          <p:cNvSpPr txBox="1"/>
          <p:nvPr/>
        </p:nvSpPr>
        <p:spPr>
          <a:xfrm>
            <a:off x="2467428" y="428625"/>
            <a:ext cx="435429" cy="641336"/>
          </a:xfrm>
          <a:prstGeom prst="rect">
            <a:avLst/>
          </a:prstGeom>
          <a:noFill/>
        </p:spPr>
        <p:txBody>
          <a:bodyPr wrap="square" lIns="86493" tIns="43247" rIns="86493" bIns="43247" rtlCol="0">
            <a:spAutoFit/>
          </a:bodyPr>
          <a:lstStyle/>
          <a:p>
            <a:r>
              <a:rPr lang="en-US" sz="3600" b="1" dirty="0">
                <a:solidFill>
                  <a:srgbClr val="FF6600"/>
                </a:solidFill>
                <a:latin typeface="Liberation Sans" panose="020B0604020202020204" pitchFamily="34" charset="0"/>
              </a:rPr>
              <a:t>3</a:t>
            </a:r>
          </a:p>
        </p:txBody>
      </p:sp>
      <p:sp>
        <p:nvSpPr>
          <p:cNvPr id="24" name="TextBox 23"/>
          <p:cNvSpPr txBox="1"/>
          <p:nvPr/>
        </p:nvSpPr>
        <p:spPr>
          <a:xfrm>
            <a:off x="3276600" y="457199"/>
            <a:ext cx="5649686" cy="662465"/>
          </a:xfrm>
          <a:prstGeom prst="rect">
            <a:avLst/>
          </a:prstGeom>
          <a:solidFill>
            <a:srgbClr val="0027A4"/>
          </a:solidFill>
        </p:spPr>
        <p:txBody>
          <a:bodyPr wrap="square" lIns="86493" tIns="43247" rIns="86493" bIns="43247" rtlCol="0" anchor="ctr" anchorCtr="0">
            <a:noAutofit/>
          </a:bodyPr>
          <a:lstStyle>
            <a:defPPr>
              <a:defRPr lang="en-US"/>
            </a:defPPr>
            <a:lvl1pPr marL="111125" algn="l">
              <a:defRPr sz="2800" b="1">
                <a:solidFill>
                  <a:schemeClr val="bg1"/>
                </a:solidFill>
                <a:latin typeface="Liberation Sans" panose="020B0604020202020204" pitchFamily="34" charset="0"/>
              </a:defRPr>
            </a:lvl1pPr>
          </a:lstStyle>
          <a:p>
            <a:r>
              <a:rPr lang="en-US" dirty="0"/>
              <a:t>Sales Transactions</a:t>
            </a:r>
          </a:p>
        </p:txBody>
      </p:sp>
      <p:pic>
        <p:nvPicPr>
          <p:cNvPr id="25"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457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6" name="TextBox 25"/>
          <p:cNvSpPr txBox="1"/>
          <p:nvPr/>
        </p:nvSpPr>
        <p:spPr>
          <a:xfrm>
            <a:off x="152400" y="381000"/>
            <a:ext cx="2209800" cy="738664"/>
          </a:xfrm>
          <a:prstGeom prst="rect">
            <a:avLst/>
          </a:prstGeom>
          <a:noFill/>
        </p:spPr>
        <p:txBody>
          <a:bodyPr wrap="square" rtlCol="0">
            <a:spAutoFit/>
          </a:bodyPr>
          <a:lstStyle/>
          <a:p>
            <a:r>
              <a:rPr lang="en-US" sz="4200" b="1" dirty="0">
                <a:solidFill>
                  <a:srgbClr val="FF6600"/>
                </a:solidFill>
                <a:latin typeface="Liberation Sans" panose="020B0604020202020204" pitchFamily="34" charset="0"/>
              </a:rPr>
              <a:t>DO IT!</a:t>
            </a:r>
          </a:p>
        </p:txBody>
      </p:sp>
      <p:sp>
        <p:nvSpPr>
          <p:cNvPr id="17" name="Text Box 2"/>
          <p:cNvSpPr txBox="1">
            <a:spLocks noChangeArrowheads="1"/>
          </p:cNvSpPr>
          <p:nvPr/>
        </p:nvSpPr>
        <p:spPr bwMode="auto">
          <a:xfrm>
            <a:off x="1981200" y="4144963"/>
            <a:ext cx="6629400" cy="183127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Accounts Receivable 	1,500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Sales Revenue 		1,500</a:t>
            </a:r>
          </a:p>
          <a:p>
            <a:pPr marL="463550" indent="-463550" algn="l">
              <a:spcBef>
                <a:spcPts val="1800"/>
              </a:spcBef>
              <a:tabLst>
                <a:tab pos="4912995" algn="r"/>
                <a:tab pos="6223000" algn="r"/>
              </a:tabLst>
            </a:pPr>
            <a:r>
              <a:rPr lang="en-US" sz="2200" dirty="0">
                <a:latin typeface="Liberation Sans" panose="020B0604020202020204" pitchFamily="34" charset="0"/>
                <a:cs typeface="Arial" panose="020B0604020202020204" pitchFamily="34" charset="0"/>
              </a:rPr>
              <a:t>Cost of Goods Sold 	800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Inventory 		800</a:t>
            </a:r>
            <a:endParaRPr lang="en-US" altLang="en-US" sz="2200" dirty="0">
              <a:latin typeface="Liberation Sans" panose="020B0604020202020204" pitchFamily="34" charset="0"/>
              <a:cs typeface="Arial" panose="020B0604020202020204" pitchFamily="34" charset="0"/>
            </a:endParaRPr>
          </a:p>
        </p:txBody>
      </p:sp>
      <p:sp>
        <p:nvSpPr>
          <p:cNvPr id="31" name="Text Box 3"/>
          <p:cNvSpPr txBox="1">
            <a:spLocks noChangeArrowheads="1"/>
          </p:cNvSpPr>
          <p:nvPr/>
        </p:nvSpPr>
        <p:spPr bwMode="auto">
          <a:xfrm>
            <a:off x="609600" y="4144963"/>
            <a:ext cx="1066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Sept. 5</a:t>
            </a:r>
          </a:p>
        </p:txBody>
      </p:sp>
      <p:sp>
        <p:nvSpPr>
          <p:cNvPr id="32" name="Text Box 3"/>
          <p:cNvSpPr txBox="1">
            <a:spLocks noChangeArrowheads="1"/>
          </p:cNvSpPr>
          <p:nvPr/>
        </p:nvSpPr>
        <p:spPr bwMode="auto">
          <a:xfrm>
            <a:off x="609600" y="5111496"/>
            <a:ext cx="1066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Sept. 5</a:t>
            </a:r>
          </a:p>
        </p:txBody>
      </p:sp>
      <p:sp>
        <p:nvSpPr>
          <p:cNvPr id="16"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left)">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wipe(left)">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wipe(left)">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xEl>
                                              <p:pRg st="3" end="3"/>
                                            </p:txEl>
                                          </p:spTgt>
                                        </p:tgtEl>
                                        <p:attrNameLst>
                                          <p:attrName>style.visibility</p:attrName>
                                        </p:attrNameLst>
                                      </p:cBhvr>
                                      <p:to>
                                        <p:strVal val="visible"/>
                                      </p:to>
                                    </p:set>
                                    <p:animEffect transition="in" filter="wipe(left)">
                                      <p:cBhvr>
                                        <p:cTn id="22" dur="500"/>
                                        <p:tgtEl>
                                          <p:spTgt spid="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bldLvl="2"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ChangeArrowheads="1"/>
          </p:cNvSpPr>
          <p:nvPr/>
        </p:nvSpPr>
        <p:spPr bwMode="auto">
          <a:xfrm>
            <a:off x="609600" y="1447800"/>
            <a:ext cx="8077200" cy="252992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20000"/>
              </a:spcBef>
              <a:buClr>
                <a:schemeClr val="accent2"/>
              </a:buClr>
              <a:buSzPct val="75000"/>
              <a:buFont typeface="Wingdings" panose="05000000000000000000" pitchFamily="2" charset="2"/>
              <a:buChar char="l"/>
              <a:tabLst>
                <a:tab pos="2057400" algn="l"/>
              </a:tabLst>
              <a:defRPr sz="2800" b="1">
                <a:solidFill>
                  <a:schemeClr val="bg2"/>
                </a:solidFill>
                <a:latin typeface="Arial" panose="020B0604020202020204" pitchFamily="34" charset="0"/>
              </a:defRPr>
            </a:lvl1pPr>
            <a:lvl2pPr marL="742950" indent="-285750" algn="l">
              <a:spcBef>
                <a:spcPct val="20000"/>
              </a:spcBef>
              <a:buClr>
                <a:schemeClr val="accent2"/>
              </a:buClr>
              <a:buSzPct val="75000"/>
              <a:buFont typeface="Wingdings" panose="05000000000000000000" pitchFamily="2" charset="2"/>
              <a:buChar char="l"/>
              <a:tabLst>
                <a:tab pos="2057400" algn="l"/>
              </a:tabLst>
              <a:defRPr sz="2400" b="1">
                <a:solidFill>
                  <a:schemeClr val="bg2"/>
                </a:solidFill>
                <a:latin typeface="Arial" panose="020B0604020202020204" pitchFamily="34" charset="0"/>
              </a:defRPr>
            </a:lvl2pPr>
            <a:lvl3pPr marL="11430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3pPr>
            <a:lvl4pPr marL="16002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4pPr>
            <a:lvl5pPr marL="20574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9pPr>
          </a:lstStyle>
          <a:p>
            <a:pPr>
              <a:lnSpc>
                <a:spcPct val="120000"/>
              </a:lnSpc>
              <a:spcBef>
                <a:spcPts val="1200"/>
              </a:spcBef>
              <a:buClrTx/>
              <a:buSzTx/>
              <a:buFontTx/>
              <a:buNone/>
            </a:pPr>
            <a:r>
              <a:rPr lang="en-US" sz="2200" b="0" dirty="0">
                <a:solidFill>
                  <a:schemeClr val="tx1"/>
                </a:solidFill>
                <a:latin typeface="Liberation Sans" panose="020B0604020202020204" pitchFamily="34" charset="0"/>
              </a:rPr>
              <a:t>On September 5, De La Hoya Company buys merchandise on account from Junot Diaz Company. The selling price of the goods is $1,500, and the cost to Diaz Company was $800. On September 8, De La Hoya returns defective goods with a selling price of $200 and a fair value of $30. Record the transactions on the books of Junot Diaz Company.</a:t>
            </a:r>
          </a:p>
        </p:txBody>
      </p:sp>
      <p:sp>
        <p:nvSpPr>
          <p:cNvPr id="18" name="Line 29"/>
          <p:cNvSpPr>
            <a:spLocks noChangeShapeType="1"/>
          </p:cNvSpPr>
          <p:nvPr/>
        </p:nvSpPr>
        <p:spPr bwMode="auto">
          <a:xfrm>
            <a:off x="290286" y="784324"/>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9"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71"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20"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286" y="357188"/>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21"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0857"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22"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3472" y="571501"/>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3" name="TextBox 22"/>
          <p:cNvSpPr txBox="1"/>
          <p:nvPr/>
        </p:nvSpPr>
        <p:spPr>
          <a:xfrm>
            <a:off x="2467428" y="428625"/>
            <a:ext cx="435429" cy="641336"/>
          </a:xfrm>
          <a:prstGeom prst="rect">
            <a:avLst/>
          </a:prstGeom>
          <a:noFill/>
        </p:spPr>
        <p:txBody>
          <a:bodyPr wrap="square" lIns="86493" tIns="43247" rIns="86493" bIns="43247" rtlCol="0">
            <a:spAutoFit/>
          </a:bodyPr>
          <a:lstStyle/>
          <a:p>
            <a:r>
              <a:rPr lang="en-US" sz="3600" b="1" dirty="0">
                <a:solidFill>
                  <a:srgbClr val="FF6600"/>
                </a:solidFill>
                <a:latin typeface="Liberation Sans" panose="020B0604020202020204" pitchFamily="34" charset="0"/>
              </a:rPr>
              <a:t>3</a:t>
            </a:r>
          </a:p>
        </p:txBody>
      </p:sp>
      <p:pic>
        <p:nvPicPr>
          <p:cNvPr id="25"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457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6" name="TextBox 25"/>
          <p:cNvSpPr txBox="1"/>
          <p:nvPr/>
        </p:nvSpPr>
        <p:spPr>
          <a:xfrm>
            <a:off x="152400" y="381000"/>
            <a:ext cx="2209800" cy="738664"/>
          </a:xfrm>
          <a:prstGeom prst="rect">
            <a:avLst/>
          </a:prstGeom>
          <a:noFill/>
        </p:spPr>
        <p:txBody>
          <a:bodyPr wrap="square" rtlCol="0">
            <a:spAutoFit/>
          </a:bodyPr>
          <a:lstStyle/>
          <a:p>
            <a:r>
              <a:rPr lang="en-US" sz="4200" b="1" dirty="0">
                <a:solidFill>
                  <a:srgbClr val="FF6600"/>
                </a:solidFill>
                <a:latin typeface="Liberation Sans" panose="020B0604020202020204" pitchFamily="34" charset="0"/>
              </a:rPr>
              <a:t>DO IT!</a:t>
            </a:r>
          </a:p>
        </p:txBody>
      </p:sp>
      <p:sp>
        <p:nvSpPr>
          <p:cNvPr id="17" name="Text Box 2"/>
          <p:cNvSpPr txBox="1">
            <a:spLocks noChangeArrowheads="1"/>
          </p:cNvSpPr>
          <p:nvPr/>
        </p:nvSpPr>
        <p:spPr bwMode="auto">
          <a:xfrm>
            <a:off x="1981200" y="4144963"/>
            <a:ext cx="6629400" cy="183127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Sales Returns and Allowances 	200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Accounts Receivable 		200</a:t>
            </a:r>
          </a:p>
          <a:p>
            <a:pPr marL="463550" indent="-463550" algn="l">
              <a:spcBef>
                <a:spcPts val="1800"/>
              </a:spcBef>
              <a:tabLst>
                <a:tab pos="4912995" algn="r"/>
                <a:tab pos="6223000" algn="r"/>
              </a:tabLst>
            </a:pPr>
            <a:r>
              <a:rPr lang="en-US" sz="2200" dirty="0">
                <a:latin typeface="Liberation Sans" panose="020B0604020202020204" pitchFamily="34" charset="0"/>
                <a:cs typeface="Arial" panose="020B0604020202020204" pitchFamily="34" charset="0"/>
              </a:rPr>
              <a:t>Inventory 	30</a:t>
            </a:r>
          </a:p>
          <a:p>
            <a:pPr marL="463550" indent="-463550" algn="l">
              <a:spcBef>
                <a:spcPts val="600"/>
              </a:spcBef>
              <a:tabLst>
                <a:tab pos="4912995" algn="r"/>
                <a:tab pos="6223000" algn="r"/>
              </a:tabLst>
            </a:pPr>
            <a:r>
              <a:rPr lang="en-US" altLang="en-US" sz="2200" dirty="0">
                <a:latin typeface="Liberation Sans" panose="020B0604020202020204" pitchFamily="34" charset="0"/>
                <a:cs typeface="Arial" panose="020B0604020202020204" pitchFamily="34" charset="0"/>
              </a:rPr>
              <a:t>	Cost of Goods Sold		30</a:t>
            </a:r>
          </a:p>
        </p:txBody>
      </p:sp>
      <p:sp>
        <p:nvSpPr>
          <p:cNvPr id="31" name="Text Box 3"/>
          <p:cNvSpPr txBox="1">
            <a:spLocks noChangeArrowheads="1"/>
          </p:cNvSpPr>
          <p:nvPr/>
        </p:nvSpPr>
        <p:spPr bwMode="auto">
          <a:xfrm>
            <a:off x="609600" y="4144963"/>
            <a:ext cx="1066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Sept. 8</a:t>
            </a:r>
          </a:p>
        </p:txBody>
      </p:sp>
      <p:sp>
        <p:nvSpPr>
          <p:cNvPr id="32" name="Text Box 3"/>
          <p:cNvSpPr txBox="1">
            <a:spLocks noChangeArrowheads="1"/>
          </p:cNvSpPr>
          <p:nvPr/>
        </p:nvSpPr>
        <p:spPr bwMode="auto">
          <a:xfrm>
            <a:off x="609600" y="5111496"/>
            <a:ext cx="1066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Sept. 8</a:t>
            </a:r>
          </a:p>
        </p:txBody>
      </p:sp>
      <p:sp>
        <p:nvSpPr>
          <p:cNvPr id="16"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3</a:t>
            </a:r>
          </a:p>
        </p:txBody>
      </p:sp>
      <p:sp>
        <p:nvSpPr>
          <p:cNvPr id="27" name="TextBox 26"/>
          <p:cNvSpPr txBox="1"/>
          <p:nvPr/>
        </p:nvSpPr>
        <p:spPr>
          <a:xfrm>
            <a:off x="3276600" y="457199"/>
            <a:ext cx="5649686" cy="662465"/>
          </a:xfrm>
          <a:prstGeom prst="rect">
            <a:avLst/>
          </a:prstGeom>
          <a:solidFill>
            <a:srgbClr val="0027A4"/>
          </a:solidFill>
        </p:spPr>
        <p:txBody>
          <a:bodyPr wrap="square" lIns="86493" tIns="43247" rIns="86493" bIns="43247" rtlCol="0" anchor="ctr" anchorCtr="0">
            <a:noAutofit/>
          </a:bodyPr>
          <a:lstStyle>
            <a:defPPr>
              <a:defRPr lang="en-US"/>
            </a:defPPr>
            <a:lvl1pPr marL="111125" algn="l">
              <a:defRPr sz="2800" b="1">
                <a:solidFill>
                  <a:schemeClr val="bg1"/>
                </a:solidFill>
                <a:latin typeface="Liberation Sans" panose="020B0604020202020204" pitchFamily="34" charset="0"/>
              </a:defRPr>
            </a:lvl1pPr>
          </a:lstStyle>
          <a:p>
            <a:r>
              <a:rPr lang="en-US" dirty="0"/>
              <a:t>Sales Transactions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left)">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wipe(left)">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wipe(left)">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xEl>
                                              <p:pRg st="3" end="3"/>
                                            </p:txEl>
                                          </p:spTgt>
                                        </p:tgtEl>
                                        <p:attrNameLst>
                                          <p:attrName>style.visibility</p:attrName>
                                        </p:attrNameLst>
                                      </p:cBhvr>
                                      <p:to>
                                        <p:strVal val="visible"/>
                                      </p:to>
                                    </p:set>
                                    <p:animEffect transition="in" filter="wipe(left)">
                                      <p:cBhvr>
                                        <p:cTn id="22" dur="500"/>
                                        <p:tgtEl>
                                          <p:spTgt spid="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bldLvl="2"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762000" y="2089150"/>
            <a:ext cx="7924800" cy="28176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40000"/>
              </a:spcBef>
              <a:spcAft>
                <a:spcPct val="20000"/>
              </a:spcAft>
              <a:buClr>
                <a:srgbClr val="800000"/>
              </a:buClr>
              <a:buSzPct val="80000"/>
              <a:buFont typeface="Wingdings" panose="05000000000000000000" pitchFamily="2" charset="2"/>
              <a:buChar char="u"/>
            </a:pPr>
            <a:r>
              <a:rPr lang="en-US" altLang="en-US" sz="2200" dirty="0">
                <a:solidFill>
                  <a:srgbClr val="000000"/>
                </a:solidFill>
                <a:latin typeface="Liberation Sans" panose="020B0604020202020204" pitchFamily="34" charset="0"/>
              </a:rPr>
              <a:t>Generally the same as a service company. </a:t>
            </a:r>
          </a:p>
          <a:p>
            <a:pPr algn="l">
              <a:lnSpc>
                <a:spcPct val="125000"/>
              </a:lnSpc>
              <a:spcBef>
                <a:spcPct val="40000"/>
              </a:spcBef>
              <a:spcAft>
                <a:spcPct val="20000"/>
              </a:spcAft>
              <a:buClr>
                <a:srgbClr val="800000"/>
              </a:buClr>
              <a:buSzPct val="80000"/>
              <a:buFont typeface="Wingdings" panose="05000000000000000000" pitchFamily="2" charset="2"/>
              <a:buChar char="u"/>
            </a:pPr>
            <a:r>
              <a:rPr lang="en-US" altLang="en-US" sz="2200" dirty="0">
                <a:solidFill>
                  <a:srgbClr val="000000"/>
                </a:solidFill>
                <a:latin typeface="Liberation Sans" panose="020B0604020202020204" pitchFamily="34" charset="0"/>
              </a:rPr>
              <a:t>One additional adjustment to make the records agree with the actual inventory on hand.</a:t>
            </a:r>
          </a:p>
          <a:p>
            <a:pPr algn="l">
              <a:lnSpc>
                <a:spcPct val="125000"/>
              </a:lnSpc>
              <a:spcBef>
                <a:spcPct val="40000"/>
              </a:spcBef>
              <a:spcAft>
                <a:spcPct val="20000"/>
              </a:spcAft>
              <a:buClr>
                <a:srgbClr val="800000"/>
              </a:buClr>
              <a:buSzPct val="80000"/>
              <a:buFont typeface="Wingdings" panose="05000000000000000000" pitchFamily="2" charset="2"/>
              <a:buChar char="u"/>
            </a:pPr>
            <a:r>
              <a:rPr lang="en-US" altLang="en-US" sz="2200" dirty="0">
                <a:solidFill>
                  <a:srgbClr val="000000"/>
                </a:solidFill>
                <a:latin typeface="Liberation Sans" panose="020B0604020202020204" pitchFamily="34" charset="0"/>
              </a:rPr>
              <a:t>Involves adjusting Inventory and Cost of Goods Sold.</a:t>
            </a:r>
          </a:p>
          <a:p>
            <a:pPr algn="l">
              <a:lnSpc>
                <a:spcPct val="125000"/>
              </a:lnSpc>
              <a:spcBef>
                <a:spcPct val="40000"/>
              </a:spcBef>
              <a:spcAft>
                <a:spcPct val="20000"/>
              </a:spcAft>
              <a:buClr>
                <a:srgbClr val="800000"/>
              </a:buClr>
              <a:buSzPct val="80000"/>
              <a:buFont typeface="Wingdings" panose="05000000000000000000" pitchFamily="2" charset="2"/>
              <a:buChar char="u"/>
            </a:pPr>
            <a:endParaRPr lang="en-US" altLang="en-US" sz="2200" dirty="0">
              <a:solidFill>
                <a:srgbClr val="000000"/>
              </a:solidFill>
              <a:latin typeface="Liberation Sans" panose="020B0604020202020204" pitchFamily="34" charset="0"/>
            </a:endParaRPr>
          </a:p>
        </p:txBody>
      </p:sp>
      <p:sp>
        <p:nvSpPr>
          <p:cNvPr id="37894" name="Text Box 9"/>
          <p:cNvSpPr txBox="1">
            <a:spLocks noChangeArrowheads="1"/>
          </p:cNvSpPr>
          <p:nvPr/>
        </p:nvSpPr>
        <p:spPr bwMode="auto">
          <a:xfrm>
            <a:off x="533400" y="1447800"/>
            <a:ext cx="68437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2800" b="1" dirty="0">
                <a:solidFill>
                  <a:schemeClr val="tx2">
                    <a:lumMod val="75000"/>
                  </a:schemeClr>
                </a:solidFill>
                <a:latin typeface="Liberation Sans" panose="020B0604020202020204" pitchFamily="34" charset="0"/>
              </a:rPr>
              <a:t>Adjusting Entries </a:t>
            </a:r>
          </a:p>
        </p:txBody>
      </p:sp>
      <p:sp>
        <p:nvSpPr>
          <p:cNvPr id="7" name="Rectangle 6"/>
          <p:cNvSpPr>
            <a:spLocks noChangeArrowheads="1"/>
          </p:cNvSpPr>
          <p:nvPr/>
        </p:nvSpPr>
        <p:spPr bwMode="auto">
          <a:xfrm>
            <a:off x="290286" y="405765"/>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solidFill>
                  <a:schemeClr val="tx1"/>
                </a:solidFill>
                <a:latin typeface="Liberation Sans" panose="020B0604020202020204" pitchFamily="34" charset="0"/>
              </a:rPr>
              <a:t>LEARNING</a:t>
            </a:r>
          </a:p>
          <a:p>
            <a:pPr algn="l"/>
            <a:r>
              <a:rPr lang="en-US" altLang="en-US" sz="1700" b="1" dirty="0">
                <a:solidFill>
                  <a:schemeClr val="tx1"/>
                </a:solidFill>
                <a:latin typeface="Liberation Sans" panose="020B0604020202020204" pitchFamily="34" charset="0"/>
              </a:rPr>
              <a:t>OBJECTIVE</a:t>
            </a:r>
          </a:p>
        </p:txBody>
      </p:sp>
      <p:sp>
        <p:nvSpPr>
          <p:cNvPr id="8" name="Rectangle 5"/>
          <p:cNvSpPr>
            <a:spLocks noChangeArrowheads="1"/>
          </p:cNvSpPr>
          <p:nvPr/>
        </p:nvSpPr>
        <p:spPr bwMode="auto">
          <a:xfrm>
            <a:off x="2540000" y="274320"/>
            <a:ext cx="6241143" cy="928688"/>
          </a:xfrm>
          <a:prstGeom prst="rect">
            <a:avLst/>
          </a:prstGeom>
          <a:solidFill>
            <a:srgbClr val="0027A4"/>
          </a:solidFill>
          <a:ln>
            <a:noFill/>
          </a:ln>
          <a:effectLst/>
        </p:spPr>
        <p:txBody>
          <a:bodyPr wrap="square" lIns="86493" tIns="27432" rIns="86493" bIns="43247" anchor="ctr"/>
          <a:lstStyle/>
          <a:p>
            <a:pPr marL="109855" algn="l"/>
            <a:r>
              <a:rPr lang="en-US" sz="2400" b="1" dirty="0">
                <a:solidFill>
                  <a:schemeClr val="accent3"/>
                </a:solidFill>
                <a:latin typeface="Liberation Sans" panose="020B0604020202020204" pitchFamily="34" charset="0"/>
              </a:rPr>
              <a:t>Apply the steps in the accounting cycle to a merchandising company.</a:t>
            </a:r>
          </a:p>
        </p:txBody>
      </p:sp>
      <p:sp>
        <p:nvSpPr>
          <p:cNvPr id="9" name="Oval 8"/>
          <p:cNvSpPr/>
          <p:nvPr/>
        </p:nvSpPr>
        <p:spPr bwMode="auto">
          <a:xfrm>
            <a:off x="1872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4</a:t>
            </a:r>
          </a:p>
        </p:txBody>
      </p:sp>
      <p:sp>
        <p:nvSpPr>
          <p:cNvPr id="10"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4</a:t>
            </a:r>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11"/>
          <p:cNvSpPr txBox="1">
            <a:spLocks noChangeArrowheads="1"/>
          </p:cNvSpPr>
          <p:nvPr/>
        </p:nvSpPr>
        <p:spPr bwMode="auto">
          <a:xfrm>
            <a:off x="533400" y="1295400"/>
            <a:ext cx="83820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Suppose that PW Audio Supply has an unadjusted balance of $40,500 in Merchandise Inventory. Through a physical count, PW Audio determines that its actual merchandise inventory at year-end is $40,000. The company would make an adjusting entry as follows.</a:t>
            </a:r>
          </a:p>
        </p:txBody>
      </p:sp>
      <p:sp>
        <p:nvSpPr>
          <p:cNvPr id="781324" name="Text Box 12"/>
          <p:cNvSpPr txBox="1">
            <a:spLocks noChangeArrowheads="1"/>
          </p:cNvSpPr>
          <p:nvPr/>
        </p:nvSpPr>
        <p:spPr bwMode="auto">
          <a:xfrm>
            <a:off x="1295400" y="3757613"/>
            <a:ext cx="6781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5541645" algn="r"/>
              </a:tabLst>
              <a:defRPr sz="2000">
                <a:solidFill>
                  <a:schemeClr val="tx1"/>
                </a:solidFill>
                <a:latin typeface="Comic Sans MS" panose="030F0702030302020204" pitchFamily="66" charset="0"/>
              </a:defRPr>
            </a:lvl1pPr>
            <a:lvl2pPr marL="742950" indent="-285750">
              <a:tabLst>
                <a:tab pos="5541645" algn="r"/>
              </a:tabLst>
              <a:defRPr sz="2000">
                <a:solidFill>
                  <a:schemeClr val="tx1"/>
                </a:solidFill>
                <a:latin typeface="Comic Sans MS" panose="030F0702030302020204" pitchFamily="66" charset="0"/>
              </a:defRPr>
            </a:lvl2pPr>
            <a:lvl3pPr marL="1143000" indent="-228600">
              <a:tabLst>
                <a:tab pos="5541645" algn="r"/>
              </a:tabLst>
              <a:defRPr sz="2000">
                <a:solidFill>
                  <a:schemeClr val="tx1"/>
                </a:solidFill>
                <a:latin typeface="Comic Sans MS" panose="030F0702030302020204" pitchFamily="66" charset="0"/>
              </a:defRPr>
            </a:lvl3pPr>
            <a:lvl4pPr marL="1600200" indent="-228600">
              <a:tabLst>
                <a:tab pos="5541645" algn="r"/>
              </a:tabLst>
              <a:defRPr sz="2000">
                <a:solidFill>
                  <a:schemeClr val="tx1"/>
                </a:solidFill>
                <a:latin typeface="Comic Sans MS" panose="030F0702030302020204" pitchFamily="66" charset="0"/>
              </a:defRPr>
            </a:lvl4pPr>
            <a:lvl5pPr marL="2057400" indent="-228600">
              <a:tabLst>
                <a:tab pos="5541645"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5541645"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5541645"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5541645"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5541645"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Cost of Goods Sold  	500</a:t>
            </a:r>
          </a:p>
        </p:txBody>
      </p:sp>
      <p:sp>
        <p:nvSpPr>
          <p:cNvPr id="781326" name="Text Box 14"/>
          <p:cNvSpPr txBox="1">
            <a:spLocks noChangeArrowheads="1"/>
          </p:cNvSpPr>
          <p:nvPr/>
        </p:nvSpPr>
        <p:spPr bwMode="auto">
          <a:xfrm>
            <a:off x="1295400" y="4260850"/>
            <a:ext cx="6781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862195" algn="r"/>
                <a:tab pos="6511925" algn="r"/>
              </a:tabLst>
              <a:defRPr sz="2000">
                <a:solidFill>
                  <a:schemeClr val="tx1"/>
                </a:solidFill>
                <a:latin typeface="Comic Sans MS" panose="030F0702030302020204" pitchFamily="66" charset="0"/>
              </a:defRPr>
            </a:lvl1pPr>
            <a:lvl2pPr marL="742950" indent="-285750">
              <a:tabLst>
                <a:tab pos="4862195" algn="r"/>
                <a:tab pos="6511925" algn="r"/>
              </a:tabLst>
              <a:defRPr sz="2000">
                <a:solidFill>
                  <a:schemeClr val="tx1"/>
                </a:solidFill>
                <a:latin typeface="Comic Sans MS" panose="030F0702030302020204" pitchFamily="66" charset="0"/>
              </a:defRPr>
            </a:lvl2pPr>
            <a:lvl3pPr marL="1143000" indent="-228600">
              <a:tabLst>
                <a:tab pos="4862195" algn="r"/>
                <a:tab pos="6511925" algn="r"/>
              </a:tabLst>
              <a:defRPr sz="2000">
                <a:solidFill>
                  <a:schemeClr val="tx1"/>
                </a:solidFill>
                <a:latin typeface="Comic Sans MS" panose="030F0702030302020204" pitchFamily="66" charset="0"/>
              </a:defRPr>
            </a:lvl3pPr>
            <a:lvl4pPr marL="1600200" indent="-228600">
              <a:tabLst>
                <a:tab pos="4862195" algn="r"/>
                <a:tab pos="6511925" algn="r"/>
              </a:tabLst>
              <a:defRPr sz="2000">
                <a:solidFill>
                  <a:schemeClr val="tx1"/>
                </a:solidFill>
                <a:latin typeface="Comic Sans MS" panose="030F0702030302020204" pitchFamily="66" charset="0"/>
              </a:defRPr>
            </a:lvl4pPr>
            <a:lvl5pPr marL="2057400" indent="-228600">
              <a:tabLst>
                <a:tab pos="4862195" algn="r"/>
                <a:tab pos="6511925"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862195" algn="r"/>
                <a:tab pos="6511925"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862195" algn="r"/>
                <a:tab pos="6511925"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862195" algn="r"/>
                <a:tab pos="6511925"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862195" algn="r"/>
                <a:tab pos="6511925"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Inventory		500</a:t>
            </a:r>
          </a:p>
        </p:txBody>
      </p:sp>
      <p:sp>
        <p:nvSpPr>
          <p:cNvPr id="38918"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solidFill>
                  <a:schemeClr val="tx2">
                    <a:lumMod val="75000"/>
                  </a:schemeClr>
                </a:solidFill>
                <a:latin typeface="Liberation Sans" panose="020B0604020202020204" pitchFamily="34" charset="0"/>
              </a:rPr>
              <a:t>Adjusting Entries</a:t>
            </a:r>
          </a:p>
        </p:txBody>
      </p:sp>
      <p:sp>
        <p:nvSpPr>
          <p:cNvPr id="38919" name="Line 1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8"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4</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1324"/>
                                        </p:tgtEl>
                                        <p:attrNameLst>
                                          <p:attrName>style.visibility</p:attrName>
                                        </p:attrNameLst>
                                      </p:cBhvr>
                                      <p:to>
                                        <p:strVal val="visible"/>
                                      </p:to>
                                    </p:set>
                                    <p:animEffect transition="in" filter="wipe(left)">
                                      <p:cBhvr>
                                        <p:cTn id="7" dur="500"/>
                                        <p:tgtEl>
                                          <p:spTgt spid="7813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81326"/>
                                        </p:tgtEl>
                                        <p:attrNameLst>
                                          <p:attrName>style.visibility</p:attrName>
                                        </p:attrNameLst>
                                      </p:cBhvr>
                                      <p:to>
                                        <p:strVal val="visible"/>
                                      </p:to>
                                    </p:set>
                                    <p:animEffect transition="in" filter="wipe(left)">
                                      <p:cBhvr>
                                        <p:cTn id="12" dur="500"/>
                                        <p:tgtEl>
                                          <p:spTgt spid="781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324" grpId="0" autoUpdateAnimBg="0"/>
      <p:bldP spid="781326"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667000"/>
            <a:ext cx="8839200" cy="32653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939" name="Line 27"/>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7"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solidFill>
                  <a:schemeClr val="tx2">
                    <a:lumMod val="75000"/>
                  </a:schemeClr>
                </a:solidFill>
                <a:latin typeface="Liberation Sans" panose="020B0604020202020204" pitchFamily="34" charset="0"/>
              </a:rPr>
              <a:t>Closing Entries</a:t>
            </a:r>
          </a:p>
        </p:txBody>
      </p:sp>
      <p:sp>
        <p:nvSpPr>
          <p:cNvPr id="9"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4</a:t>
            </a:r>
          </a:p>
        </p:txBody>
      </p:sp>
      <p:pic>
        <p:nvPicPr>
          <p:cNvPr id="266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355" y="1295400"/>
            <a:ext cx="8786044" cy="11694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Line 3"/>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7"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200" b="1" dirty="0">
                <a:solidFill>
                  <a:schemeClr val="tx2">
                    <a:lumMod val="75000"/>
                  </a:schemeClr>
                </a:solidFill>
                <a:latin typeface="Liberation Sans" panose="020B0604020202020204" pitchFamily="34" charset="0"/>
              </a:rPr>
              <a:t>Closing Entries</a:t>
            </a:r>
          </a:p>
        </p:txBody>
      </p:sp>
      <p:sp>
        <p:nvSpPr>
          <p:cNvPr id="9"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4</a:t>
            </a:r>
          </a:p>
        </p:txBody>
      </p:sp>
      <p:pic>
        <p:nvPicPr>
          <p:cNvPr id="1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799" y="1295399"/>
            <a:ext cx="8670599" cy="19119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ChangeArrowheads="1"/>
          </p:cNvSpPr>
          <p:nvPr/>
        </p:nvSpPr>
        <p:spPr bwMode="auto">
          <a:xfrm>
            <a:off x="609600" y="1447800"/>
            <a:ext cx="8077200" cy="293618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20000"/>
              </a:spcBef>
              <a:buClr>
                <a:schemeClr val="accent2"/>
              </a:buClr>
              <a:buSzPct val="75000"/>
              <a:buFont typeface="Wingdings" panose="05000000000000000000" pitchFamily="2" charset="2"/>
              <a:buChar char="l"/>
              <a:tabLst>
                <a:tab pos="2057400" algn="l"/>
              </a:tabLst>
              <a:defRPr sz="2800" b="1">
                <a:solidFill>
                  <a:schemeClr val="bg2"/>
                </a:solidFill>
                <a:latin typeface="Arial" panose="020B0604020202020204" pitchFamily="34" charset="0"/>
              </a:defRPr>
            </a:lvl1pPr>
            <a:lvl2pPr marL="742950" indent="-285750" algn="l">
              <a:spcBef>
                <a:spcPct val="20000"/>
              </a:spcBef>
              <a:buClr>
                <a:schemeClr val="accent2"/>
              </a:buClr>
              <a:buSzPct val="75000"/>
              <a:buFont typeface="Wingdings" panose="05000000000000000000" pitchFamily="2" charset="2"/>
              <a:buChar char="l"/>
              <a:tabLst>
                <a:tab pos="2057400" algn="l"/>
              </a:tabLst>
              <a:defRPr sz="2400" b="1">
                <a:solidFill>
                  <a:schemeClr val="bg2"/>
                </a:solidFill>
                <a:latin typeface="Arial" panose="020B0604020202020204" pitchFamily="34" charset="0"/>
              </a:defRPr>
            </a:lvl2pPr>
            <a:lvl3pPr marL="11430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3pPr>
            <a:lvl4pPr marL="16002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4pPr>
            <a:lvl5pPr marL="20574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9pPr>
          </a:lstStyle>
          <a:p>
            <a:pPr>
              <a:lnSpc>
                <a:spcPct val="120000"/>
              </a:lnSpc>
              <a:spcBef>
                <a:spcPts val="1200"/>
              </a:spcBef>
              <a:buClrTx/>
              <a:buSzTx/>
              <a:buFontTx/>
              <a:buNone/>
            </a:pPr>
            <a:r>
              <a:rPr lang="en-US" sz="2200" b="0" dirty="0">
                <a:solidFill>
                  <a:schemeClr val="tx1"/>
                </a:solidFill>
                <a:latin typeface="Liberation Sans" panose="020B0604020202020204" pitchFamily="34" charset="0"/>
              </a:rPr>
              <a:t>The trial balance of Celine’s Sports Wear Shop at December 31 shows Inventory $25,000, Sales Revenue $162,400, Sales Returns and Allowances $4,800, Sales Discounts $3,600, Cost of Goods Sold $110,000, Rent Revenue $6,000, Freight-Out $1,800, Rent Expense $8,800, and Salaries and Wages Expense $22,000. Prepare the closing entries for the above accounts.</a:t>
            </a:r>
          </a:p>
        </p:txBody>
      </p:sp>
      <p:sp>
        <p:nvSpPr>
          <p:cNvPr id="18" name="Line 29"/>
          <p:cNvSpPr>
            <a:spLocks noChangeShapeType="1"/>
          </p:cNvSpPr>
          <p:nvPr/>
        </p:nvSpPr>
        <p:spPr bwMode="auto">
          <a:xfrm>
            <a:off x="290286" y="784324"/>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9"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71"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20"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286" y="357188"/>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21"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0857"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22"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3472" y="571501"/>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3" name="TextBox 22"/>
          <p:cNvSpPr txBox="1"/>
          <p:nvPr/>
        </p:nvSpPr>
        <p:spPr>
          <a:xfrm>
            <a:off x="2467428" y="428625"/>
            <a:ext cx="435429" cy="641336"/>
          </a:xfrm>
          <a:prstGeom prst="rect">
            <a:avLst/>
          </a:prstGeom>
          <a:noFill/>
        </p:spPr>
        <p:txBody>
          <a:bodyPr wrap="square" lIns="86493" tIns="43247" rIns="86493" bIns="43247" rtlCol="0">
            <a:spAutoFit/>
          </a:bodyPr>
          <a:lstStyle/>
          <a:p>
            <a:r>
              <a:rPr lang="en-US" sz="3600" b="1" dirty="0">
                <a:solidFill>
                  <a:srgbClr val="800000"/>
                </a:solidFill>
                <a:latin typeface="Liberation Sans" panose="020B0604020202020204" pitchFamily="34" charset="0"/>
              </a:rPr>
              <a:t>4</a:t>
            </a:r>
          </a:p>
        </p:txBody>
      </p:sp>
      <p:pic>
        <p:nvPicPr>
          <p:cNvPr id="25"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457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6" name="TextBox 25"/>
          <p:cNvSpPr txBox="1"/>
          <p:nvPr/>
        </p:nvSpPr>
        <p:spPr>
          <a:xfrm>
            <a:off x="152400" y="381000"/>
            <a:ext cx="2209800" cy="738664"/>
          </a:xfrm>
          <a:prstGeom prst="rect">
            <a:avLst/>
          </a:prstGeom>
          <a:noFill/>
        </p:spPr>
        <p:txBody>
          <a:bodyPr wrap="square" rtlCol="0">
            <a:spAutoFit/>
          </a:bodyPr>
          <a:lstStyle/>
          <a:p>
            <a:r>
              <a:rPr lang="en-US" sz="4200" b="1" dirty="0">
                <a:solidFill>
                  <a:srgbClr val="A50021"/>
                </a:solidFill>
                <a:latin typeface="Liberation Sans" panose="020B0604020202020204" pitchFamily="34" charset="0"/>
              </a:rPr>
              <a:t>DO IT!</a:t>
            </a:r>
          </a:p>
        </p:txBody>
      </p:sp>
      <p:sp>
        <p:nvSpPr>
          <p:cNvPr id="17" name="Text Box 2"/>
          <p:cNvSpPr txBox="1">
            <a:spLocks noChangeArrowheads="1"/>
          </p:cNvSpPr>
          <p:nvPr/>
        </p:nvSpPr>
        <p:spPr bwMode="auto">
          <a:xfrm>
            <a:off x="1981200" y="4493329"/>
            <a:ext cx="6629400" cy="1261884"/>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Sales Revenue 	162,400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Rent Revenue 	6,000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Income Summary 		168,400</a:t>
            </a:r>
            <a:endParaRPr lang="en-US" altLang="en-US" sz="2200" dirty="0">
              <a:latin typeface="Liberation Sans" panose="020B0604020202020204" pitchFamily="34" charset="0"/>
              <a:cs typeface="Arial" panose="020B0604020202020204" pitchFamily="34" charset="0"/>
            </a:endParaRPr>
          </a:p>
        </p:txBody>
      </p:sp>
      <p:sp>
        <p:nvSpPr>
          <p:cNvPr id="31" name="Text Box 3"/>
          <p:cNvSpPr txBox="1">
            <a:spLocks noChangeArrowheads="1"/>
          </p:cNvSpPr>
          <p:nvPr/>
        </p:nvSpPr>
        <p:spPr bwMode="auto">
          <a:xfrm>
            <a:off x="609600" y="4493329"/>
            <a:ext cx="1066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Dec. 31</a:t>
            </a:r>
          </a:p>
        </p:txBody>
      </p:sp>
      <p:sp>
        <p:nvSpPr>
          <p:cNvPr id="16"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4</a:t>
            </a:r>
          </a:p>
        </p:txBody>
      </p:sp>
      <p:sp>
        <p:nvSpPr>
          <p:cNvPr id="15" name="TextBox 14"/>
          <p:cNvSpPr txBox="1"/>
          <p:nvPr/>
        </p:nvSpPr>
        <p:spPr>
          <a:xfrm>
            <a:off x="3276600" y="457199"/>
            <a:ext cx="5649686" cy="662465"/>
          </a:xfrm>
          <a:prstGeom prst="rect">
            <a:avLst/>
          </a:prstGeom>
          <a:solidFill>
            <a:srgbClr val="0027A4"/>
          </a:solidFill>
        </p:spPr>
        <p:txBody>
          <a:bodyPr wrap="square" lIns="86493" tIns="43247" rIns="86493" bIns="43247" rtlCol="0" anchor="ctr" anchorCtr="0">
            <a:noAutofit/>
          </a:bodyPr>
          <a:lstStyle>
            <a:defPPr>
              <a:defRPr lang="en-US"/>
            </a:defPPr>
            <a:lvl1pPr marL="111125" algn="l">
              <a:defRPr sz="2800" b="1">
                <a:solidFill>
                  <a:schemeClr val="bg1"/>
                </a:solidFill>
                <a:latin typeface="Liberation Sans" panose="020B0604020202020204" pitchFamily="34" charset="0"/>
              </a:defRPr>
            </a:lvl1pPr>
          </a:lstStyle>
          <a:p>
            <a:r>
              <a:rPr lang="en-US" dirty="0"/>
              <a:t>Closing Entries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left)">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wipe(left)">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wipe(left)">
                                      <p:cBhvr>
                                        <p:cTn id="17" dur="5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bldLvl="2"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ChangeArrowheads="1"/>
          </p:cNvSpPr>
          <p:nvPr/>
        </p:nvSpPr>
        <p:spPr bwMode="auto">
          <a:xfrm>
            <a:off x="609600" y="457200"/>
            <a:ext cx="8077200" cy="293618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20000"/>
              </a:spcBef>
              <a:buClr>
                <a:schemeClr val="accent2"/>
              </a:buClr>
              <a:buSzPct val="75000"/>
              <a:buFont typeface="Wingdings" panose="05000000000000000000" pitchFamily="2" charset="2"/>
              <a:buChar char="l"/>
              <a:tabLst>
                <a:tab pos="2057400" algn="l"/>
              </a:tabLst>
              <a:defRPr sz="2800" b="1">
                <a:solidFill>
                  <a:schemeClr val="bg2"/>
                </a:solidFill>
                <a:latin typeface="Arial" panose="020B0604020202020204" pitchFamily="34" charset="0"/>
              </a:defRPr>
            </a:lvl1pPr>
            <a:lvl2pPr marL="742950" indent="-285750" algn="l">
              <a:spcBef>
                <a:spcPct val="20000"/>
              </a:spcBef>
              <a:buClr>
                <a:schemeClr val="accent2"/>
              </a:buClr>
              <a:buSzPct val="75000"/>
              <a:buFont typeface="Wingdings" panose="05000000000000000000" pitchFamily="2" charset="2"/>
              <a:buChar char="l"/>
              <a:tabLst>
                <a:tab pos="2057400" algn="l"/>
              </a:tabLst>
              <a:defRPr sz="2400" b="1">
                <a:solidFill>
                  <a:schemeClr val="bg2"/>
                </a:solidFill>
                <a:latin typeface="Arial" panose="020B0604020202020204" pitchFamily="34" charset="0"/>
              </a:defRPr>
            </a:lvl2pPr>
            <a:lvl3pPr marL="11430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3pPr>
            <a:lvl4pPr marL="16002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4pPr>
            <a:lvl5pPr marL="20574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9pPr>
          </a:lstStyle>
          <a:p>
            <a:pPr>
              <a:lnSpc>
                <a:spcPct val="120000"/>
              </a:lnSpc>
              <a:spcBef>
                <a:spcPts val="1200"/>
              </a:spcBef>
              <a:buClrTx/>
              <a:buSzTx/>
              <a:buFontTx/>
              <a:buNone/>
            </a:pPr>
            <a:r>
              <a:rPr lang="en-US" sz="2200" b="0" dirty="0">
                <a:solidFill>
                  <a:schemeClr val="tx1"/>
                </a:solidFill>
                <a:latin typeface="Liberation Sans" panose="020B0604020202020204" pitchFamily="34" charset="0"/>
              </a:rPr>
              <a:t>The trial balance of Celine’s Sports Wear Shop at December 31 shows Inventory $25,000, Sales Revenue $162,400, Sales Returns and Allowances $4,800, Sales Discounts $3,600, Cost of Goods Sold $110,000, Rent Revenue $6,000, Freight-Out $1,800, Rent Expense $8,800, and Salaries and Wages Expense $22,000. Prepare the closing entries for the above accounts.</a:t>
            </a:r>
          </a:p>
        </p:txBody>
      </p:sp>
      <p:sp>
        <p:nvSpPr>
          <p:cNvPr id="17" name="Text Box 2"/>
          <p:cNvSpPr txBox="1">
            <a:spLocks noChangeArrowheads="1"/>
          </p:cNvSpPr>
          <p:nvPr/>
        </p:nvSpPr>
        <p:spPr bwMode="auto">
          <a:xfrm>
            <a:off x="1981200" y="3502729"/>
            <a:ext cx="6629400" cy="292387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Income Summary 	151,000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Cost of Goods Sold 		110,000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Sales Returns and Allowances 		4,800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Sales Discounts 		3,600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Freight-Out 		1,800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Rent Expense 		8,800</a:t>
            </a:r>
          </a:p>
          <a:p>
            <a:pPr marL="463550" indent="-463550" algn="l">
              <a:spcBef>
                <a:spcPts val="600"/>
              </a:spcBef>
              <a:tabLst>
                <a:tab pos="4912995" algn="r"/>
                <a:tab pos="6223000" algn="r"/>
              </a:tabLst>
            </a:pPr>
            <a:r>
              <a:rPr lang="en-US" sz="2200" dirty="0">
                <a:latin typeface="Liberation Sans" panose="020B0604020202020204" pitchFamily="34" charset="0"/>
                <a:cs typeface="Arial" panose="020B0604020202020204" pitchFamily="34" charset="0"/>
              </a:rPr>
              <a:t>	Salaries and Wages Expense 		22,000</a:t>
            </a:r>
            <a:endParaRPr lang="en-US" altLang="en-US" sz="2200" dirty="0">
              <a:latin typeface="Liberation Sans" panose="020B0604020202020204" pitchFamily="34" charset="0"/>
              <a:cs typeface="Arial" panose="020B0604020202020204" pitchFamily="34" charset="0"/>
            </a:endParaRPr>
          </a:p>
        </p:txBody>
      </p:sp>
      <p:sp>
        <p:nvSpPr>
          <p:cNvPr id="31" name="Text Box 3"/>
          <p:cNvSpPr txBox="1">
            <a:spLocks noChangeArrowheads="1"/>
          </p:cNvSpPr>
          <p:nvPr/>
        </p:nvSpPr>
        <p:spPr bwMode="auto">
          <a:xfrm>
            <a:off x="609600" y="3502729"/>
            <a:ext cx="1066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Dec. 31</a:t>
            </a:r>
          </a:p>
        </p:txBody>
      </p:sp>
      <p:sp>
        <p:nvSpPr>
          <p:cNvPr id="15"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4</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left)">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wipe(left)">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wipe(left)">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xEl>
                                              <p:pRg st="3" end="3"/>
                                            </p:txEl>
                                          </p:spTgt>
                                        </p:tgtEl>
                                        <p:attrNameLst>
                                          <p:attrName>style.visibility</p:attrName>
                                        </p:attrNameLst>
                                      </p:cBhvr>
                                      <p:to>
                                        <p:strVal val="visible"/>
                                      </p:to>
                                    </p:set>
                                    <p:animEffect transition="in" filter="wipe(left)">
                                      <p:cBhvr>
                                        <p:cTn id="22" dur="500"/>
                                        <p:tgtEl>
                                          <p:spTgt spid="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
                                            <p:txEl>
                                              <p:pRg st="4" end="4"/>
                                            </p:txEl>
                                          </p:spTgt>
                                        </p:tgtEl>
                                        <p:attrNameLst>
                                          <p:attrName>style.visibility</p:attrName>
                                        </p:attrNameLst>
                                      </p:cBhvr>
                                      <p:to>
                                        <p:strVal val="visible"/>
                                      </p:to>
                                    </p:set>
                                    <p:animEffect transition="in" filter="wipe(left)">
                                      <p:cBhvr>
                                        <p:cTn id="27" dur="500"/>
                                        <p:tgtEl>
                                          <p:spTgt spid="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
                                            <p:txEl>
                                              <p:pRg st="5" end="5"/>
                                            </p:txEl>
                                          </p:spTgt>
                                        </p:tgtEl>
                                        <p:attrNameLst>
                                          <p:attrName>style.visibility</p:attrName>
                                        </p:attrNameLst>
                                      </p:cBhvr>
                                      <p:to>
                                        <p:strVal val="visible"/>
                                      </p:to>
                                    </p:set>
                                    <p:animEffect transition="in" filter="wipe(left)">
                                      <p:cBhvr>
                                        <p:cTn id="32" dur="500"/>
                                        <p:tgtEl>
                                          <p:spTgt spid="1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
                                            <p:txEl>
                                              <p:pRg st="6" end="6"/>
                                            </p:txEl>
                                          </p:spTgt>
                                        </p:tgtEl>
                                        <p:attrNameLst>
                                          <p:attrName>style.visibility</p:attrName>
                                        </p:attrNameLst>
                                      </p:cBhvr>
                                      <p:to>
                                        <p:strVal val="visible"/>
                                      </p:to>
                                    </p:set>
                                    <p:animEffect transition="in" filter="wipe(left)">
                                      <p:cBhvr>
                                        <p:cTn id="37" dur="500"/>
                                        <p:tgtEl>
                                          <p:spTgt spid="1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bldLvl="2"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9"/>
          <p:cNvSpPr txBox="1">
            <a:spLocks noChangeArrowheads="1"/>
          </p:cNvSpPr>
          <p:nvPr/>
        </p:nvSpPr>
        <p:spPr bwMode="auto">
          <a:xfrm>
            <a:off x="547688" y="1447800"/>
            <a:ext cx="6843712"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2800" b="1" dirty="0">
                <a:solidFill>
                  <a:schemeClr val="tx2">
                    <a:lumMod val="75000"/>
                  </a:schemeClr>
                </a:solidFill>
                <a:latin typeface="Liberation Sans" panose="020B0604020202020204" pitchFamily="34" charset="0"/>
              </a:rPr>
              <a:t>Multiple-Step Income Statement</a:t>
            </a:r>
          </a:p>
        </p:txBody>
      </p:sp>
      <p:sp>
        <p:nvSpPr>
          <p:cNvPr id="41989" name="Text Box 2"/>
          <p:cNvSpPr txBox="1">
            <a:spLocks noChangeArrowheads="1"/>
          </p:cNvSpPr>
          <p:nvPr/>
        </p:nvSpPr>
        <p:spPr bwMode="auto">
          <a:xfrm>
            <a:off x="762000" y="2098675"/>
            <a:ext cx="7924800" cy="21913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40000"/>
              </a:spcBef>
              <a:spcAft>
                <a:spcPct val="20000"/>
              </a:spcAft>
              <a:buClr>
                <a:srgbClr val="800000"/>
              </a:buClr>
              <a:buSzPct val="80000"/>
              <a:buFont typeface="Wingdings" panose="05000000000000000000" pitchFamily="2" charset="2"/>
              <a:buChar char="u"/>
            </a:pPr>
            <a:r>
              <a:rPr lang="en-US" altLang="en-US" sz="2200" dirty="0">
                <a:solidFill>
                  <a:srgbClr val="000000"/>
                </a:solidFill>
                <a:latin typeface="Liberation Sans" panose="020B0604020202020204" pitchFamily="34" charset="0"/>
              </a:rPr>
              <a:t>Shows several steps in determining net income.</a:t>
            </a:r>
          </a:p>
          <a:p>
            <a:pPr algn="l">
              <a:lnSpc>
                <a:spcPct val="125000"/>
              </a:lnSpc>
              <a:spcBef>
                <a:spcPct val="40000"/>
              </a:spcBef>
              <a:spcAft>
                <a:spcPct val="20000"/>
              </a:spcAft>
              <a:buClr>
                <a:srgbClr val="800000"/>
              </a:buClr>
              <a:buSzPct val="80000"/>
              <a:buFont typeface="Wingdings" panose="05000000000000000000" pitchFamily="2" charset="2"/>
              <a:buChar char="u"/>
            </a:pPr>
            <a:r>
              <a:rPr lang="en-US" altLang="en-US" sz="2200" dirty="0">
                <a:solidFill>
                  <a:srgbClr val="000000"/>
                </a:solidFill>
                <a:latin typeface="Liberation Sans" panose="020B0604020202020204" pitchFamily="34" charset="0"/>
              </a:rPr>
              <a:t>Two steps relate to principal operating activities. </a:t>
            </a:r>
          </a:p>
          <a:p>
            <a:pPr algn="l">
              <a:lnSpc>
                <a:spcPct val="125000"/>
              </a:lnSpc>
              <a:spcBef>
                <a:spcPct val="40000"/>
              </a:spcBef>
              <a:spcAft>
                <a:spcPct val="20000"/>
              </a:spcAft>
              <a:buClr>
                <a:srgbClr val="800000"/>
              </a:buClr>
              <a:buSzPct val="80000"/>
              <a:buFont typeface="Wingdings" panose="05000000000000000000" pitchFamily="2" charset="2"/>
              <a:buChar char="u"/>
            </a:pPr>
            <a:r>
              <a:rPr lang="en-US" altLang="en-US" sz="2200" dirty="0">
                <a:solidFill>
                  <a:srgbClr val="000000"/>
                </a:solidFill>
                <a:latin typeface="Liberation Sans" panose="020B0604020202020204" pitchFamily="34" charset="0"/>
              </a:rPr>
              <a:t>Distinguishes between operating and non-operating activities.</a:t>
            </a:r>
          </a:p>
        </p:txBody>
      </p:sp>
      <p:sp>
        <p:nvSpPr>
          <p:cNvPr id="7" name="Rectangle 6"/>
          <p:cNvSpPr>
            <a:spLocks noChangeArrowheads="1"/>
          </p:cNvSpPr>
          <p:nvPr/>
        </p:nvSpPr>
        <p:spPr bwMode="auto">
          <a:xfrm>
            <a:off x="290286" y="405765"/>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solidFill>
                  <a:schemeClr val="tx1"/>
                </a:solidFill>
                <a:latin typeface="Liberation Sans" panose="020B0604020202020204" pitchFamily="34" charset="0"/>
              </a:rPr>
              <a:t>LEARNING</a:t>
            </a:r>
          </a:p>
          <a:p>
            <a:pPr algn="l"/>
            <a:r>
              <a:rPr lang="en-US" altLang="en-US" sz="1700" b="1" dirty="0">
                <a:solidFill>
                  <a:schemeClr val="tx1"/>
                </a:solidFill>
                <a:latin typeface="Liberation Sans" panose="020B0604020202020204" pitchFamily="34" charset="0"/>
              </a:rPr>
              <a:t>OBJECTIVE</a:t>
            </a:r>
          </a:p>
        </p:txBody>
      </p:sp>
      <p:sp>
        <p:nvSpPr>
          <p:cNvPr id="8" name="Rectangle 5"/>
          <p:cNvSpPr>
            <a:spLocks noChangeArrowheads="1"/>
          </p:cNvSpPr>
          <p:nvPr/>
        </p:nvSpPr>
        <p:spPr bwMode="auto">
          <a:xfrm>
            <a:off x="2540000" y="274320"/>
            <a:ext cx="6241143" cy="928688"/>
          </a:xfrm>
          <a:prstGeom prst="rect">
            <a:avLst/>
          </a:prstGeom>
          <a:solidFill>
            <a:srgbClr val="0027A4"/>
          </a:solidFill>
          <a:ln>
            <a:noFill/>
          </a:ln>
          <a:effectLst/>
        </p:spPr>
        <p:txBody>
          <a:bodyPr wrap="square" lIns="86493" tIns="27432" rIns="86493" bIns="43247" anchor="ctr"/>
          <a:lstStyle/>
          <a:p>
            <a:pPr marL="109855" algn="l"/>
            <a:r>
              <a:rPr lang="en-US" sz="2400" b="1" dirty="0">
                <a:solidFill>
                  <a:schemeClr val="accent3"/>
                </a:solidFill>
                <a:latin typeface="Liberation Sans" panose="020B0604020202020204" pitchFamily="34" charset="0"/>
              </a:rPr>
              <a:t>Compare a multiple-step with a single-step income statement.</a:t>
            </a:r>
          </a:p>
        </p:txBody>
      </p:sp>
      <p:sp>
        <p:nvSpPr>
          <p:cNvPr id="9" name="Oval 8"/>
          <p:cNvSpPr/>
          <p:nvPr/>
        </p:nvSpPr>
        <p:spPr bwMode="auto">
          <a:xfrm>
            <a:off x="1872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5</a:t>
            </a:r>
          </a:p>
        </p:txBody>
      </p:sp>
      <p:sp>
        <p:nvSpPr>
          <p:cNvPr id="10"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spTree>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Line 3"/>
          <p:cNvSpPr>
            <a:spLocks noChangeShapeType="1"/>
          </p:cNvSpPr>
          <p:nvPr/>
        </p:nvSpPr>
        <p:spPr bwMode="auto">
          <a:xfrm>
            <a:off x="304800" y="1524000"/>
            <a:ext cx="26670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3011" name="AutoShape 10"/>
          <p:cNvSpPr/>
          <p:nvPr/>
        </p:nvSpPr>
        <p:spPr bwMode="auto">
          <a:xfrm>
            <a:off x="3124200" y="1143000"/>
            <a:ext cx="76200" cy="990600"/>
          </a:xfrm>
          <a:prstGeom prst="leftBracket">
            <a:avLst>
              <a:gd name="adj" fmla="val 108333"/>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3012" name="Line 11"/>
          <p:cNvSpPr>
            <a:spLocks noChangeShapeType="1"/>
          </p:cNvSpPr>
          <p:nvPr/>
        </p:nvSpPr>
        <p:spPr bwMode="auto">
          <a:xfrm flipV="1">
            <a:off x="1981200" y="1676400"/>
            <a:ext cx="1143000" cy="91440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056782" name="Rectangle 14"/>
          <p:cNvSpPr>
            <a:spLocks noGrp="1" noChangeArrowheads="1"/>
          </p:cNvSpPr>
          <p:nvPr>
            <p:ph type="title" idx="4294967295"/>
          </p:nvPr>
        </p:nvSpPr>
        <p:spPr>
          <a:xfrm>
            <a:off x="381000" y="328613"/>
            <a:ext cx="2209800" cy="1074737"/>
          </a:xfrm>
          <a:noFill/>
          <a:ln>
            <a:noFill/>
          </a:ln>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p>
            <a:pPr algn="l">
              <a:defRPr/>
            </a:pPr>
            <a:r>
              <a:rPr lang="en-US" sz="3200" i="0" kern="1200" dirty="0">
                <a:solidFill>
                  <a:schemeClr val="tx2">
                    <a:lumMod val="75000"/>
                  </a:schemeClr>
                </a:solidFill>
                <a:effectLst/>
                <a:latin typeface="Liberation Sans" panose="020B0604020202020204" pitchFamily="34" charset="0"/>
                <a:ea typeface="+mn-ea"/>
                <a:cs typeface="+mn-cs"/>
              </a:rPr>
              <a:t>Multiple- Step</a:t>
            </a:r>
          </a:p>
        </p:txBody>
      </p:sp>
      <p:sp>
        <p:nvSpPr>
          <p:cNvPr id="1056784" name="Text Box 16"/>
          <p:cNvSpPr txBox="1">
            <a:spLocks noChangeArrowheads="1"/>
          </p:cNvSpPr>
          <p:nvPr/>
        </p:nvSpPr>
        <p:spPr bwMode="auto">
          <a:xfrm>
            <a:off x="7640638" y="228600"/>
            <a:ext cx="1371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sz="1200" b="1" dirty="0">
                <a:solidFill>
                  <a:schemeClr val="accent3"/>
                </a:solidFill>
                <a:latin typeface="Liberation Sans" panose="020B0604020202020204" pitchFamily="34" charset="0"/>
              </a:rPr>
              <a:t>Illustration 5-14</a:t>
            </a:r>
          </a:p>
        </p:txBody>
      </p:sp>
      <p:pic>
        <p:nvPicPr>
          <p:cNvPr id="43016"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34963"/>
            <a:ext cx="5257800" cy="6065837"/>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7" name="Picture 20"/>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3276600" y="1123950"/>
            <a:ext cx="5238750" cy="528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18" name="Text Box 3"/>
          <p:cNvSpPr txBox="1">
            <a:spLocks noChangeArrowheads="1"/>
          </p:cNvSpPr>
          <p:nvPr/>
        </p:nvSpPr>
        <p:spPr bwMode="auto">
          <a:xfrm>
            <a:off x="228600" y="1819275"/>
            <a:ext cx="2590800" cy="1047750"/>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50000"/>
              </a:spcBef>
              <a:buSzPct val="80000"/>
            </a:pPr>
            <a:r>
              <a:rPr lang="en-US" altLang="en-US" sz="2200" b="1" dirty="0">
                <a:latin typeface="Liberation Sans" panose="020B0604020202020204" pitchFamily="34" charset="0"/>
              </a:rPr>
              <a:t>Key Items:</a:t>
            </a:r>
          </a:p>
          <a:p>
            <a:pPr algn="l">
              <a:lnSpc>
                <a:spcPct val="120000"/>
              </a:lnSpc>
              <a:spcBef>
                <a:spcPct val="50000"/>
              </a:spcBef>
              <a:buClr>
                <a:srgbClr val="800000"/>
              </a:buClr>
              <a:buSzPct val="80000"/>
              <a:buFont typeface="Wingdings" panose="05000000000000000000" pitchFamily="2" charset="2"/>
              <a:buChar char="u"/>
            </a:pPr>
            <a:r>
              <a:rPr lang="en-US" altLang="en-US" sz="2100" b="1" dirty="0">
                <a:solidFill>
                  <a:srgbClr val="800000"/>
                </a:solidFill>
                <a:latin typeface="Liberation Sans" panose="020B0604020202020204" pitchFamily="34" charset="0"/>
              </a:rPr>
              <a:t>Net sales</a:t>
            </a:r>
          </a:p>
        </p:txBody>
      </p:sp>
      <p:sp>
        <p:nvSpPr>
          <p:cNvPr id="43019" name="Text Box 17"/>
          <p:cNvSpPr txBox="1">
            <a:spLocks noChangeArrowheads="1"/>
          </p:cNvSpPr>
          <p:nvPr/>
        </p:nvSpPr>
        <p:spPr bwMode="auto">
          <a:xfrm>
            <a:off x="1676400" y="6126163"/>
            <a:ext cx="1371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200" b="1" dirty="0">
                <a:latin typeface="Liberation Sans" panose="020B0604020202020204" pitchFamily="34" charset="0"/>
              </a:rPr>
              <a:t>Illustration 5-14</a:t>
            </a:r>
          </a:p>
        </p:txBody>
      </p:sp>
      <p:pic>
        <p:nvPicPr>
          <p:cNvPr id="43020" name="Picture 12"/>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4114800" y="356888"/>
            <a:ext cx="3617119" cy="72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13" name="Text Box 9"/>
          <p:cNvSpPr txBox="1">
            <a:spLocks noChangeArrowheads="1"/>
          </p:cNvSpPr>
          <p:nvPr/>
        </p:nvSpPr>
        <p:spPr bwMode="auto">
          <a:xfrm>
            <a:off x="8229600" y="6443246"/>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pic>
        <p:nvPicPr>
          <p:cNvPr id="2867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338328"/>
            <a:ext cx="5257800" cy="755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17"/>
          <p:cNvSpPr txBox="1">
            <a:spLocks noChangeArrowheads="1"/>
          </p:cNvSpPr>
          <p:nvPr/>
        </p:nvSpPr>
        <p:spPr bwMode="auto">
          <a:xfrm>
            <a:off x="1676400" y="6126163"/>
            <a:ext cx="1371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200" b="1" dirty="0">
                <a:latin typeface="Liberation Sans" panose="020B0604020202020204" pitchFamily="34" charset="0"/>
              </a:rPr>
              <a:t>Illustration 5-14</a:t>
            </a:r>
          </a:p>
        </p:txBody>
      </p:sp>
      <p:sp>
        <p:nvSpPr>
          <p:cNvPr id="10" name="Rectangle 14"/>
          <p:cNvSpPr txBox="1">
            <a:spLocks noChangeArrowheads="1"/>
          </p:cNvSpPr>
          <p:nvPr/>
        </p:nvSpPr>
        <p:spPr bwMode="auto">
          <a:xfrm>
            <a:off x="381000" y="328613"/>
            <a:ext cx="2209800" cy="1074737"/>
          </a:xfrm>
          <a:prstGeom prst="rect">
            <a:avLst/>
          </a:prstGeom>
          <a:noFill/>
          <a:ln w="63500">
            <a:noFill/>
            <a:miter lim="800000"/>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vert="horz" wrap="square" lIns="90488" tIns="44450" rIns="90488" bIns="44450" numCol="1" anchor="ctr" anchorCtr="0" compatLnSpc="1"/>
          <a:lstStyle>
            <a:lvl1pPr algn="l">
              <a:defRPr sz="3200" b="1" i="0">
                <a:solidFill>
                  <a:schemeClr val="tx2">
                    <a:lumMod val="75000"/>
                  </a:schemeClr>
                </a:solidFill>
                <a:effectLst/>
                <a:latin typeface="Arial" panose="020B0604020202020204" pitchFamily="34" charset="0"/>
              </a:defRPr>
            </a:lvl1pPr>
            <a:lvl2pPr>
              <a:defRPr sz="3000" b="1" i="1">
                <a:effectLst>
                  <a:outerShdw blurRad="38100" dist="38100" dir="2700000" algn="tl">
                    <a:srgbClr val="FFFFFF"/>
                  </a:outerShdw>
                </a:effectLst>
              </a:defRPr>
            </a:lvl2pPr>
            <a:lvl3pPr>
              <a:defRPr sz="3000" b="1" i="1">
                <a:effectLst>
                  <a:outerShdw blurRad="38100" dist="38100" dir="2700000" algn="tl">
                    <a:srgbClr val="FFFFFF"/>
                  </a:outerShdw>
                </a:effectLst>
              </a:defRPr>
            </a:lvl3pPr>
            <a:lvl4pPr>
              <a:defRPr sz="3000" b="1" i="1">
                <a:effectLst>
                  <a:outerShdw blurRad="38100" dist="38100" dir="2700000" algn="tl">
                    <a:srgbClr val="FFFFFF"/>
                  </a:outerShdw>
                </a:effectLst>
              </a:defRPr>
            </a:lvl4pPr>
            <a:lvl5pPr>
              <a:defRPr sz="3000" b="1" i="1">
                <a:effectLst>
                  <a:outerShdw blurRad="38100" dist="38100" dir="2700000" algn="tl">
                    <a:srgbClr val="FFFFFF"/>
                  </a:outerShdw>
                </a:effectLst>
              </a:defRPr>
            </a:lvl5pPr>
            <a:lvl6pPr marL="457200" algn="ctr" eaLnBrk="0" fontAlgn="base" hangingPunct="0">
              <a:spcBef>
                <a:spcPct val="0"/>
              </a:spcBef>
              <a:spcAft>
                <a:spcPct val="0"/>
              </a:spcAft>
              <a:defRPr sz="3000" b="1" i="1">
                <a:effectLst>
                  <a:outerShdw blurRad="38100" dist="38100" dir="2700000" algn="tl">
                    <a:srgbClr val="FFFFFF"/>
                  </a:outerShdw>
                </a:effectLst>
              </a:defRPr>
            </a:lvl6pPr>
            <a:lvl7pPr marL="914400" algn="ctr" eaLnBrk="0" fontAlgn="base" hangingPunct="0">
              <a:spcBef>
                <a:spcPct val="0"/>
              </a:spcBef>
              <a:spcAft>
                <a:spcPct val="0"/>
              </a:spcAft>
              <a:defRPr sz="3000" b="1" i="1">
                <a:effectLst>
                  <a:outerShdw blurRad="38100" dist="38100" dir="2700000" algn="tl">
                    <a:srgbClr val="FFFFFF"/>
                  </a:outerShdw>
                </a:effectLst>
              </a:defRPr>
            </a:lvl7pPr>
            <a:lvl8pPr marL="1371600" algn="ctr" eaLnBrk="0" fontAlgn="base" hangingPunct="0">
              <a:spcBef>
                <a:spcPct val="0"/>
              </a:spcBef>
              <a:spcAft>
                <a:spcPct val="0"/>
              </a:spcAft>
              <a:defRPr sz="3000" b="1" i="1">
                <a:effectLst>
                  <a:outerShdw blurRad="38100" dist="38100" dir="2700000" algn="tl">
                    <a:srgbClr val="FFFFFF"/>
                  </a:outerShdw>
                </a:effectLst>
              </a:defRPr>
            </a:lvl8pPr>
            <a:lvl9pPr marL="1828800" algn="ctr" eaLnBrk="0" fontAlgn="base" hangingPunct="0">
              <a:spcBef>
                <a:spcPct val="0"/>
              </a:spcBef>
              <a:spcAft>
                <a:spcPct val="0"/>
              </a:spcAft>
              <a:defRPr sz="3000" b="1" i="1">
                <a:effectLst>
                  <a:outerShdw blurRad="38100" dist="38100" dir="2700000" algn="tl">
                    <a:srgbClr val="FFFFFF"/>
                  </a:outerShdw>
                </a:effectLst>
              </a:defRPr>
            </a:lvl9pPr>
          </a:lstStyle>
          <a:p>
            <a:r>
              <a:rPr lang="en-US" dirty="0">
                <a:latin typeface="Liberation Sans" panose="020B0604020202020204" pitchFamily="34" charset="0"/>
              </a:rPr>
              <a:t>Multiple- Step</a:t>
            </a:r>
          </a:p>
        </p:txBody>
      </p:sp>
      <p:sp>
        <p:nvSpPr>
          <p:cNvPr id="11" name="Text Box 16"/>
          <p:cNvSpPr txBox="1">
            <a:spLocks noChangeArrowheads="1"/>
          </p:cNvSpPr>
          <p:nvPr/>
        </p:nvSpPr>
        <p:spPr bwMode="auto">
          <a:xfrm>
            <a:off x="7640638" y="228600"/>
            <a:ext cx="1371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sz="1200" b="1" dirty="0">
                <a:solidFill>
                  <a:schemeClr val="accent3"/>
                </a:solidFill>
                <a:latin typeface="Liberation Sans" panose="020B0604020202020204" pitchFamily="34" charset="0"/>
              </a:rPr>
              <a:t>Illustration 5-14</a:t>
            </a:r>
          </a:p>
        </p:txBody>
      </p:sp>
      <p:sp>
        <p:nvSpPr>
          <p:cNvPr id="44038" name="Line 3"/>
          <p:cNvSpPr>
            <a:spLocks noChangeShapeType="1"/>
          </p:cNvSpPr>
          <p:nvPr/>
        </p:nvSpPr>
        <p:spPr bwMode="auto">
          <a:xfrm>
            <a:off x="304800" y="1524000"/>
            <a:ext cx="26670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44039"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34963"/>
            <a:ext cx="5257800" cy="6065837"/>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40" name="Picture 20"/>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3276600" y="1123950"/>
            <a:ext cx="5238750" cy="528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041" name="AutoShape 5"/>
          <p:cNvSpPr/>
          <p:nvPr/>
        </p:nvSpPr>
        <p:spPr bwMode="auto">
          <a:xfrm>
            <a:off x="3124200" y="1143000"/>
            <a:ext cx="46038" cy="1524000"/>
          </a:xfrm>
          <a:prstGeom prst="leftBracket">
            <a:avLst>
              <a:gd name="adj" fmla="val 148964"/>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4042" name="Line 6"/>
          <p:cNvSpPr>
            <a:spLocks noChangeShapeType="1"/>
          </p:cNvSpPr>
          <p:nvPr/>
        </p:nvSpPr>
        <p:spPr bwMode="auto">
          <a:xfrm flipV="1">
            <a:off x="2362200" y="1787525"/>
            <a:ext cx="762000" cy="1184275"/>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4043" name="Text Box 3"/>
          <p:cNvSpPr txBox="1">
            <a:spLocks noChangeArrowheads="1"/>
          </p:cNvSpPr>
          <p:nvPr/>
        </p:nvSpPr>
        <p:spPr bwMode="auto">
          <a:xfrm>
            <a:off x="228600" y="1819275"/>
            <a:ext cx="2590800" cy="1597025"/>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50000"/>
              </a:spcBef>
              <a:buSzPct val="80000"/>
            </a:pPr>
            <a:r>
              <a:rPr lang="en-US" altLang="en-US" sz="2200" b="1" dirty="0">
                <a:latin typeface="Liberation Sans" panose="020B0604020202020204" pitchFamily="34" charset="0"/>
              </a:rPr>
              <a:t>Key Items:</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Net sales</a:t>
            </a:r>
          </a:p>
          <a:p>
            <a:pPr algn="l">
              <a:lnSpc>
                <a:spcPct val="120000"/>
              </a:lnSpc>
              <a:spcBef>
                <a:spcPct val="50000"/>
              </a:spcBef>
              <a:buClr>
                <a:srgbClr val="800000"/>
              </a:buClr>
              <a:buSzPct val="80000"/>
              <a:buFont typeface="Wingdings" panose="05000000000000000000" pitchFamily="2" charset="2"/>
              <a:buChar char="u"/>
            </a:pPr>
            <a:r>
              <a:rPr lang="en-US" altLang="en-US" sz="2100" b="1" dirty="0">
                <a:solidFill>
                  <a:srgbClr val="800000"/>
                </a:solidFill>
                <a:latin typeface="Liberation Sans" panose="020B0604020202020204" pitchFamily="34" charset="0"/>
              </a:rPr>
              <a:t>Gross profit</a:t>
            </a:r>
          </a:p>
        </p:txBody>
      </p:sp>
      <p:pic>
        <p:nvPicPr>
          <p:cNvPr id="12" name="Picture 12"/>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4114800" y="356888"/>
            <a:ext cx="3617119" cy="72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13" name="Text Box 9"/>
          <p:cNvSpPr txBox="1">
            <a:spLocks noChangeArrowheads="1"/>
          </p:cNvSpPr>
          <p:nvPr/>
        </p:nvSpPr>
        <p:spPr bwMode="auto">
          <a:xfrm>
            <a:off x="8229600" y="6443246"/>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pic>
        <p:nvPicPr>
          <p:cNvPr id="1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338328"/>
            <a:ext cx="5257800" cy="755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3"/>
          <p:cNvSpPr txBox="1">
            <a:spLocks noChangeArrowheads="1"/>
          </p:cNvSpPr>
          <p:nvPr/>
        </p:nvSpPr>
        <p:spPr bwMode="auto">
          <a:xfrm>
            <a:off x="228600" y="1819275"/>
            <a:ext cx="2590800" cy="3600450"/>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50000"/>
              </a:spcBef>
              <a:buSzPct val="80000"/>
            </a:pPr>
            <a:r>
              <a:rPr lang="en-US" altLang="en-US" sz="2200" b="1" dirty="0">
                <a:latin typeface="Liberation Sans" panose="020B0604020202020204" pitchFamily="34" charset="0"/>
              </a:rPr>
              <a:t>Key Items:</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Net sales</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Gross profit</a:t>
            </a:r>
          </a:p>
          <a:p>
            <a:pPr algn="l">
              <a:lnSpc>
                <a:spcPct val="120000"/>
              </a:lnSpc>
              <a:spcBef>
                <a:spcPct val="50000"/>
              </a:spcBef>
              <a:buClr>
                <a:srgbClr val="800000"/>
              </a:buClr>
              <a:buSzPct val="80000"/>
              <a:buFont typeface="Wingdings" panose="05000000000000000000" pitchFamily="2" charset="2"/>
              <a:buChar char="u"/>
            </a:pPr>
            <a:r>
              <a:rPr lang="en-US" altLang="en-US" sz="2100" b="1" dirty="0">
                <a:solidFill>
                  <a:srgbClr val="800000"/>
                </a:solidFill>
                <a:latin typeface="Liberation Sans" panose="020B0604020202020204" pitchFamily="34" charset="0"/>
              </a:rPr>
              <a:t>Operating expenses</a:t>
            </a:r>
          </a:p>
          <a:p>
            <a:pPr algn="l">
              <a:lnSpc>
                <a:spcPct val="120000"/>
              </a:lnSpc>
              <a:spcBef>
                <a:spcPct val="50000"/>
              </a:spcBef>
              <a:buClr>
                <a:srgbClr val="800000"/>
              </a:buClr>
              <a:buSzPct val="80000"/>
              <a:buFont typeface="Wingdings" panose="05000000000000000000" pitchFamily="2" charset="2"/>
              <a:buChar char="u"/>
            </a:pPr>
            <a:endParaRPr lang="en-US" altLang="en-US" sz="2100" b="1" dirty="0">
              <a:solidFill>
                <a:schemeClr val="hlink"/>
              </a:solidFill>
              <a:latin typeface="Liberation Sans" panose="020B0604020202020204" pitchFamily="34" charset="0"/>
            </a:endParaRPr>
          </a:p>
          <a:p>
            <a:pPr algn="l">
              <a:lnSpc>
                <a:spcPct val="120000"/>
              </a:lnSpc>
              <a:spcBef>
                <a:spcPct val="50000"/>
              </a:spcBef>
              <a:buClr>
                <a:srgbClr val="800000"/>
              </a:buClr>
              <a:buSzPct val="80000"/>
              <a:buFont typeface="Wingdings" panose="05000000000000000000" pitchFamily="2" charset="2"/>
              <a:buChar char="u"/>
            </a:pPr>
            <a:endParaRPr lang="en-US" altLang="en-US" sz="2100" b="1" dirty="0">
              <a:solidFill>
                <a:schemeClr val="hlink"/>
              </a:solidFill>
              <a:latin typeface="Liberation Sans" panose="020B0604020202020204" pitchFamily="34" charset="0"/>
            </a:endParaRPr>
          </a:p>
        </p:txBody>
      </p:sp>
      <p:sp>
        <p:nvSpPr>
          <p:cNvPr id="45059" name="AutoShape 5"/>
          <p:cNvSpPr/>
          <p:nvPr/>
        </p:nvSpPr>
        <p:spPr bwMode="auto">
          <a:xfrm>
            <a:off x="3124200" y="1143000"/>
            <a:ext cx="46038" cy="1524000"/>
          </a:xfrm>
          <a:prstGeom prst="leftBracket">
            <a:avLst>
              <a:gd name="adj" fmla="val 148964"/>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5060" name="Line 6"/>
          <p:cNvSpPr>
            <a:spLocks noChangeShapeType="1"/>
          </p:cNvSpPr>
          <p:nvPr/>
        </p:nvSpPr>
        <p:spPr bwMode="auto">
          <a:xfrm flipV="1">
            <a:off x="2362200" y="1787525"/>
            <a:ext cx="762000" cy="1184275"/>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5061" name="AutoShape 9"/>
          <p:cNvSpPr/>
          <p:nvPr/>
        </p:nvSpPr>
        <p:spPr bwMode="auto">
          <a:xfrm>
            <a:off x="3124200" y="2667000"/>
            <a:ext cx="76200" cy="1524000"/>
          </a:xfrm>
          <a:prstGeom prst="leftBracket">
            <a:avLst>
              <a:gd name="adj" fmla="val 166667"/>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5062" name="Line 10"/>
          <p:cNvSpPr>
            <a:spLocks noChangeShapeType="1"/>
          </p:cNvSpPr>
          <p:nvPr/>
        </p:nvSpPr>
        <p:spPr bwMode="auto">
          <a:xfrm flipV="1">
            <a:off x="2133600" y="3200400"/>
            <a:ext cx="990600" cy="60960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2" name="Rectangle 14"/>
          <p:cNvSpPr txBox="1">
            <a:spLocks noChangeArrowheads="1"/>
          </p:cNvSpPr>
          <p:nvPr/>
        </p:nvSpPr>
        <p:spPr bwMode="auto">
          <a:xfrm>
            <a:off x="381000" y="328613"/>
            <a:ext cx="2209800" cy="1074737"/>
          </a:xfrm>
          <a:prstGeom prst="rect">
            <a:avLst/>
          </a:prstGeom>
          <a:noFill/>
          <a:ln w="63500">
            <a:noFill/>
            <a:miter lim="800000"/>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vert="horz" wrap="square" lIns="90488" tIns="44450" rIns="90488" bIns="44450" numCol="1" anchor="ctr" anchorCtr="0" compatLnSpc="1"/>
          <a:lstStyle>
            <a:lvl1pPr algn="l">
              <a:defRPr sz="3200" b="1" i="0">
                <a:solidFill>
                  <a:schemeClr val="tx2">
                    <a:lumMod val="75000"/>
                  </a:schemeClr>
                </a:solidFill>
                <a:effectLst/>
                <a:latin typeface="Arial" panose="020B0604020202020204" pitchFamily="34" charset="0"/>
              </a:defRPr>
            </a:lvl1pPr>
            <a:lvl2pPr>
              <a:defRPr sz="3000" b="1" i="1">
                <a:effectLst>
                  <a:outerShdw blurRad="38100" dist="38100" dir="2700000" algn="tl">
                    <a:srgbClr val="FFFFFF"/>
                  </a:outerShdw>
                </a:effectLst>
              </a:defRPr>
            </a:lvl2pPr>
            <a:lvl3pPr>
              <a:defRPr sz="3000" b="1" i="1">
                <a:effectLst>
                  <a:outerShdw blurRad="38100" dist="38100" dir="2700000" algn="tl">
                    <a:srgbClr val="FFFFFF"/>
                  </a:outerShdw>
                </a:effectLst>
              </a:defRPr>
            </a:lvl3pPr>
            <a:lvl4pPr>
              <a:defRPr sz="3000" b="1" i="1">
                <a:effectLst>
                  <a:outerShdw blurRad="38100" dist="38100" dir="2700000" algn="tl">
                    <a:srgbClr val="FFFFFF"/>
                  </a:outerShdw>
                </a:effectLst>
              </a:defRPr>
            </a:lvl4pPr>
            <a:lvl5pPr>
              <a:defRPr sz="3000" b="1" i="1">
                <a:effectLst>
                  <a:outerShdw blurRad="38100" dist="38100" dir="2700000" algn="tl">
                    <a:srgbClr val="FFFFFF"/>
                  </a:outerShdw>
                </a:effectLst>
              </a:defRPr>
            </a:lvl5pPr>
            <a:lvl6pPr marL="457200" algn="ctr" eaLnBrk="0" fontAlgn="base" hangingPunct="0">
              <a:spcBef>
                <a:spcPct val="0"/>
              </a:spcBef>
              <a:spcAft>
                <a:spcPct val="0"/>
              </a:spcAft>
              <a:defRPr sz="3000" b="1" i="1">
                <a:effectLst>
                  <a:outerShdw blurRad="38100" dist="38100" dir="2700000" algn="tl">
                    <a:srgbClr val="FFFFFF"/>
                  </a:outerShdw>
                </a:effectLst>
              </a:defRPr>
            </a:lvl6pPr>
            <a:lvl7pPr marL="914400" algn="ctr" eaLnBrk="0" fontAlgn="base" hangingPunct="0">
              <a:spcBef>
                <a:spcPct val="0"/>
              </a:spcBef>
              <a:spcAft>
                <a:spcPct val="0"/>
              </a:spcAft>
              <a:defRPr sz="3000" b="1" i="1">
                <a:effectLst>
                  <a:outerShdw blurRad="38100" dist="38100" dir="2700000" algn="tl">
                    <a:srgbClr val="FFFFFF"/>
                  </a:outerShdw>
                </a:effectLst>
              </a:defRPr>
            </a:lvl7pPr>
            <a:lvl8pPr marL="1371600" algn="ctr" eaLnBrk="0" fontAlgn="base" hangingPunct="0">
              <a:spcBef>
                <a:spcPct val="0"/>
              </a:spcBef>
              <a:spcAft>
                <a:spcPct val="0"/>
              </a:spcAft>
              <a:defRPr sz="3000" b="1" i="1">
                <a:effectLst>
                  <a:outerShdw blurRad="38100" dist="38100" dir="2700000" algn="tl">
                    <a:srgbClr val="FFFFFF"/>
                  </a:outerShdw>
                </a:effectLst>
              </a:defRPr>
            </a:lvl8pPr>
            <a:lvl9pPr marL="1828800" algn="ctr" eaLnBrk="0" fontAlgn="base" hangingPunct="0">
              <a:spcBef>
                <a:spcPct val="0"/>
              </a:spcBef>
              <a:spcAft>
                <a:spcPct val="0"/>
              </a:spcAft>
              <a:defRPr sz="3000" b="1" i="1">
                <a:effectLst>
                  <a:outerShdw blurRad="38100" dist="38100" dir="2700000" algn="tl">
                    <a:srgbClr val="FFFFFF"/>
                  </a:outerShdw>
                </a:effectLst>
              </a:defRPr>
            </a:lvl9pPr>
          </a:lstStyle>
          <a:p>
            <a:r>
              <a:rPr lang="en-US" dirty="0">
                <a:latin typeface="Liberation Sans" panose="020B0604020202020204" pitchFamily="34" charset="0"/>
              </a:rPr>
              <a:t>Multiple- Step</a:t>
            </a:r>
          </a:p>
        </p:txBody>
      </p:sp>
      <p:sp>
        <p:nvSpPr>
          <p:cNvPr id="13" name="Text Box 16"/>
          <p:cNvSpPr txBox="1">
            <a:spLocks noChangeArrowheads="1"/>
          </p:cNvSpPr>
          <p:nvPr/>
        </p:nvSpPr>
        <p:spPr bwMode="auto">
          <a:xfrm>
            <a:off x="7640638" y="228600"/>
            <a:ext cx="1371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sz="1200" b="1" dirty="0">
                <a:solidFill>
                  <a:schemeClr val="accent3"/>
                </a:solidFill>
                <a:latin typeface="Liberation Sans" panose="020B0604020202020204" pitchFamily="34" charset="0"/>
              </a:rPr>
              <a:t>Illustration 5-14</a:t>
            </a:r>
          </a:p>
        </p:txBody>
      </p:sp>
      <p:sp>
        <p:nvSpPr>
          <p:cNvPr id="45066" name="Line 3"/>
          <p:cNvSpPr>
            <a:spLocks noChangeShapeType="1"/>
          </p:cNvSpPr>
          <p:nvPr/>
        </p:nvSpPr>
        <p:spPr bwMode="auto">
          <a:xfrm>
            <a:off x="304800" y="1524000"/>
            <a:ext cx="26670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45067"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34963"/>
            <a:ext cx="5257800" cy="6065837"/>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68" name="Text Box 17"/>
          <p:cNvSpPr txBox="1">
            <a:spLocks noChangeArrowheads="1"/>
          </p:cNvSpPr>
          <p:nvPr/>
        </p:nvSpPr>
        <p:spPr bwMode="auto">
          <a:xfrm>
            <a:off x="1676400" y="6126163"/>
            <a:ext cx="1371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200" b="1" dirty="0">
                <a:latin typeface="Liberation Sans" panose="020B0604020202020204" pitchFamily="34" charset="0"/>
              </a:rPr>
              <a:t>Illustration 5-14</a:t>
            </a:r>
          </a:p>
        </p:txBody>
      </p:sp>
      <p:pic>
        <p:nvPicPr>
          <p:cNvPr id="45069" name="Picture 20"/>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3276600" y="1123950"/>
            <a:ext cx="5238750" cy="528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12"/>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4114800" y="356888"/>
            <a:ext cx="3617119" cy="72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15" name="Text Box 9"/>
          <p:cNvSpPr txBox="1">
            <a:spLocks noChangeArrowheads="1"/>
          </p:cNvSpPr>
          <p:nvPr/>
        </p:nvSpPr>
        <p:spPr bwMode="auto">
          <a:xfrm>
            <a:off x="8229600" y="6443246"/>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pic>
        <p:nvPicPr>
          <p:cNvPr id="1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338328"/>
            <a:ext cx="5257800" cy="755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3"/>
          <p:cNvSpPr txBox="1">
            <a:spLocks noChangeArrowheads="1"/>
          </p:cNvSpPr>
          <p:nvPr/>
        </p:nvSpPr>
        <p:spPr bwMode="auto">
          <a:xfrm>
            <a:off x="228600" y="1819275"/>
            <a:ext cx="2590800" cy="4529138"/>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50000"/>
              </a:spcBef>
              <a:buSzPct val="80000"/>
            </a:pPr>
            <a:r>
              <a:rPr lang="en-US" altLang="en-US" sz="2200" b="1" dirty="0">
                <a:latin typeface="Liberation Sans" panose="020B0604020202020204" pitchFamily="34" charset="0"/>
              </a:rPr>
              <a:t>Key Items:</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Net sales</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Gross profit</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Operating expenses</a:t>
            </a:r>
          </a:p>
          <a:p>
            <a:pPr algn="l">
              <a:lnSpc>
                <a:spcPct val="120000"/>
              </a:lnSpc>
              <a:spcBef>
                <a:spcPct val="50000"/>
              </a:spcBef>
              <a:buClr>
                <a:srgbClr val="800000"/>
              </a:buClr>
              <a:buSzPct val="80000"/>
              <a:buFont typeface="Wingdings" panose="05000000000000000000" pitchFamily="2" charset="2"/>
              <a:buChar char="u"/>
            </a:pPr>
            <a:r>
              <a:rPr lang="en-US" altLang="en-US" sz="2100" b="1" dirty="0">
                <a:solidFill>
                  <a:srgbClr val="800000"/>
                </a:solidFill>
                <a:latin typeface="Liberation Sans" panose="020B0604020202020204" pitchFamily="34" charset="0"/>
              </a:rPr>
              <a:t>Nonoperating activities</a:t>
            </a:r>
          </a:p>
          <a:p>
            <a:pPr algn="l">
              <a:lnSpc>
                <a:spcPct val="120000"/>
              </a:lnSpc>
              <a:spcBef>
                <a:spcPct val="50000"/>
              </a:spcBef>
              <a:buClr>
                <a:srgbClr val="800000"/>
              </a:buClr>
              <a:buSzPct val="80000"/>
              <a:buFont typeface="Wingdings" panose="05000000000000000000" pitchFamily="2" charset="2"/>
              <a:buChar char="u"/>
            </a:pPr>
            <a:endParaRPr lang="en-US" altLang="en-US" sz="2100" b="1" dirty="0">
              <a:solidFill>
                <a:schemeClr val="hlink"/>
              </a:solidFill>
              <a:latin typeface="Liberation Sans" panose="020B0604020202020204" pitchFamily="34" charset="0"/>
            </a:endParaRPr>
          </a:p>
          <a:p>
            <a:pPr algn="l">
              <a:lnSpc>
                <a:spcPct val="120000"/>
              </a:lnSpc>
              <a:spcBef>
                <a:spcPct val="50000"/>
              </a:spcBef>
              <a:buClr>
                <a:srgbClr val="800000"/>
              </a:buClr>
              <a:buSzPct val="80000"/>
              <a:buFont typeface="Wingdings" panose="05000000000000000000" pitchFamily="2" charset="2"/>
              <a:buChar char="u"/>
            </a:pPr>
            <a:endParaRPr lang="en-US" altLang="en-US" sz="2100" b="1" dirty="0">
              <a:solidFill>
                <a:schemeClr val="hlink"/>
              </a:solidFill>
              <a:latin typeface="Liberation Sans" panose="020B0604020202020204" pitchFamily="34" charset="0"/>
            </a:endParaRPr>
          </a:p>
        </p:txBody>
      </p:sp>
      <p:sp>
        <p:nvSpPr>
          <p:cNvPr id="46083" name="AutoShape 10"/>
          <p:cNvSpPr/>
          <p:nvPr/>
        </p:nvSpPr>
        <p:spPr bwMode="auto">
          <a:xfrm>
            <a:off x="3124200" y="4267200"/>
            <a:ext cx="76200" cy="1676400"/>
          </a:xfrm>
          <a:prstGeom prst="leftBracket">
            <a:avLst>
              <a:gd name="adj" fmla="val 133324"/>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6084" name="Line 11"/>
          <p:cNvSpPr>
            <a:spLocks noChangeShapeType="1"/>
          </p:cNvSpPr>
          <p:nvPr/>
        </p:nvSpPr>
        <p:spPr bwMode="auto">
          <a:xfrm>
            <a:off x="2590800" y="4800600"/>
            <a:ext cx="533400" cy="7620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4" name="Rectangle 14"/>
          <p:cNvSpPr txBox="1">
            <a:spLocks noChangeArrowheads="1"/>
          </p:cNvSpPr>
          <p:nvPr/>
        </p:nvSpPr>
        <p:spPr bwMode="auto">
          <a:xfrm>
            <a:off x="381000" y="328613"/>
            <a:ext cx="2209800" cy="1074737"/>
          </a:xfrm>
          <a:prstGeom prst="rect">
            <a:avLst/>
          </a:prstGeom>
          <a:noFill/>
          <a:ln w="63500">
            <a:noFill/>
            <a:miter lim="800000"/>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vert="horz" wrap="square" lIns="90488" tIns="44450" rIns="90488" bIns="44450" numCol="1" anchor="ctr" anchorCtr="0" compatLnSpc="1"/>
          <a:lstStyle>
            <a:lvl1pPr algn="l">
              <a:defRPr sz="3200" b="1" i="0">
                <a:solidFill>
                  <a:schemeClr val="tx2">
                    <a:lumMod val="75000"/>
                  </a:schemeClr>
                </a:solidFill>
                <a:effectLst/>
                <a:latin typeface="Arial" panose="020B0604020202020204" pitchFamily="34" charset="0"/>
              </a:defRPr>
            </a:lvl1pPr>
            <a:lvl2pPr>
              <a:defRPr sz="3000" b="1" i="1">
                <a:effectLst>
                  <a:outerShdw blurRad="38100" dist="38100" dir="2700000" algn="tl">
                    <a:srgbClr val="FFFFFF"/>
                  </a:outerShdw>
                </a:effectLst>
              </a:defRPr>
            </a:lvl2pPr>
            <a:lvl3pPr>
              <a:defRPr sz="3000" b="1" i="1">
                <a:effectLst>
                  <a:outerShdw blurRad="38100" dist="38100" dir="2700000" algn="tl">
                    <a:srgbClr val="FFFFFF"/>
                  </a:outerShdw>
                </a:effectLst>
              </a:defRPr>
            </a:lvl3pPr>
            <a:lvl4pPr>
              <a:defRPr sz="3000" b="1" i="1">
                <a:effectLst>
                  <a:outerShdw blurRad="38100" dist="38100" dir="2700000" algn="tl">
                    <a:srgbClr val="FFFFFF"/>
                  </a:outerShdw>
                </a:effectLst>
              </a:defRPr>
            </a:lvl4pPr>
            <a:lvl5pPr>
              <a:defRPr sz="3000" b="1" i="1">
                <a:effectLst>
                  <a:outerShdw blurRad="38100" dist="38100" dir="2700000" algn="tl">
                    <a:srgbClr val="FFFFFF"/>
                  </a:outerShdw>
                </a:effectLst>
              </a:defRPr>
            </a:lvl5pPr>
            <a:lvl6pPr marL="457200" algn="ctr" eaLnBrk="0" fontAlgn="base" hangingPunct="0">
              <a:spcBef>
                <a:spcPct val="0"/>
              </a:spcBef>
              <a:spcAft>
                <a:spcPct val="0"/>
              </a:spcAft>
              <a:defRPr sz="3000" b="1" i="1">
                <a:effectLst>
                  <a:outerShdw blurRad="38100" dist="38100" dir="2700000" algn="tl">
                    <a:srgbClr val="FFFFFF"/>
                  </a:outerShdw>
                </a:effectLst>
              </a:defRPr>
            </a:lvl6pPr>
            <a:lvl7pPr marL="914400" algn="ctr" eaLnBrk="0" fontAlgn="base" hangingPunct="0">
              <a:spcBef>
                <a:spcPct val="0"/>
              </a:spcBef>
              <a:spcAft>
                <a:spcPct val="0"/>
              </a:spcAft>
              <a:defRPr sz="3000" b="1" i="1">
                <a:effectLst>
                  <a:outerShdw blurRad="38100" dist="38100" dir="2700000" algn="tl">
                    <a:srgbClr val="FFFFFF"/>
                  </a:outerShdw>
                </a:effectLst>
              </a:defRPr>
            </a:lvl7pPr>
            <a:lvl8pPr marL="1371600" algn="ctr" eaLnBrk="0" fontAlgn="base" hangingPunct="0">
              <a:spcBef>
                <a:spcPct val="0"/>
              </a:spcBef>
              <a:spcAft>
                <a:spcPct val="0"/>
              </a:spcAft>
              <a:defRPr sz="3000" b="1" i="1">
                <a:effectLst>
                  <a:outerShdw blurRad="38100" dist="38100" dir="2700000" algn="tl">
                    <a:srgbClr val="FFFFFF"/>
                  </a:outerShdw>
                </a:effectLst>
              </a:defRPr>
            </a:lvl8pPr>
            <a:lvl9pPr marL="1828800" algn="ctr" eaLnBrk="0" fontAlgn="base" hangingPunct="0">
              <a:spcBef>
                <a:spcPct val="0"/>
              </a:spcBef>
              <a:spcAft>
                <a:spcPct val="0"/>
              </a:spcAft>
              <a:defRPr sz="3000" b="1" i="1">
                <a:effectLst>
                  <a:outerShdw blurRad="38100" dist="38100" dir="2700000" algn="tl">
                    <a:srgbClr val="FFFFFF"/>
                  </a:outerShdw>
                </a:effectLst>
              </a:defRPr>
            </a:lvl9pPr>
          </a:lstStyle>
          <a:p>
            <a:r>
              <a:rPr lang="en-US" dirty="0">
                <a:latin typeface="Liberation Sans" panose="020B0604020202020204" pitchFamily="34" charset="0"/>
              </a:rPr>
              <a:t>Multiple- Step</a:t>
            </a:r>
          </a:p>
        </p:txBody>
      </p:sp>
      <p:sp>
        <p:nvSpPr>
          <p:cNvPr id="46087" name="Line 3"/>
          <p:cNvSpPr>
            <a:spLocks noChangeShapeType="1"/>
          </p:cNvSpPr>
          <p:nvPr/>
        </p:nvSpPr>
        <p:spPr bwMode="auto">
          <a:xfrm>
            <a:off x="304800" y="1524000"/>
            <a:ext cx="26670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46088"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34963"/>
            <a:ext cx="5257800" cy="6065837"/>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9" name="AutoShape 5"/>
          <p:cNvSpPr/>
          <p:nvPr/>
        </p:nvSpPr>
        <p:spPr bwMode="auto">
          <a:xfrm>
            <a:off x="3124200" y="1143000"/>
            <a:ext cx="46038" cy="1524000"/>
          </a:xfrm>
          <a:prstGeom prst="leftBracket">
            <a:avLst>
              <a:gd name="adj" fmla="val 148964"/>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6090" name="Line 6"/>
          <p:cNvSpPr>
            <a:spLocks noChangeShapeType="1"/>
          </p:cNvSpPr>
          <p:nvPr/>
        </p:nvSpPr>
        <p:spPr bwMode="auto">
          <a:xfrm flipV="1">
            <a:off x="2362200" y="1787525"/>
            <a:ext cx="762000" cy="1184275"/>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6091" name="AutoShape 9"/>
          <p:cNvSpPr/>
          <p:nvPr/>
        </p:nvSpPr>
        <p:spPr bwMode="auto">
          <a:xfrm>
            <a:off x="3124200" y="2667000"/>
            <a:ext cx="76200" cy="1524000"/>
          </a:xfrm>
          <a:prstGeom prst="leftBracket">
            <a:avLst>
              <a:gd name="adj" fmla="val 166667"/>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6092" name="Line 10"/>
          <p:cNvSpPr>
            <a:spLocks noChangeShapeType="1"/>
          </p:cNvSpPr>
          <p:nvPr/>
        </p:nvSpPr>
        <p:spPr bwMode="auto">
          <a:xfrm flipV="1">
            <a:off x="2133600" y="3200400"/>
            <a:ext cx="990600" cy="60960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6093" name="Text Box 17"/>
          <p:cNvSpPr txBox="1">
            <a:spLocks noChangeArrowheads="1"/>
          </p:cNvSpPr>
          <p:nvPr/>
        </p:nvSpPr>
        <p:spPr bwMode="auto">
          <a:xfrm>
            <a:off x="1676400" y="6126163"/>
            <a:ext cx="1371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200" b="1" dirty="0">
                <a:latin typeface="Liberation Sans" panose="020B0604020202020204" pitchFamily="34" charset="0"/>
              </a:rPr>
              <a:t>Illustration 5-14</a:t>
            </a:r>
          </a:p>
        </p:txBody>
      </p:sp>
      <p:pic>
        <p:nvPicPr>
          <p:cNvPr id="46094" name="Picture 20"/>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3276600" y="1123950"/>
            <a:ext cx="5238750" cy="528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12"/>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4114800" y="356888"/>
            <a:ext cx="3617119" cy="72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16" name="Text Box 9"/>
          <p:cNvSpPr txBox="1">
            <a:spLocks noChangeArrowheads="1"/>
          </p:cNvSpPr>
          <p:nvPr/>
        </p:nvSpPr>
        <p:spPr bwMode="auto">
          <a:xfrm>
            <a:off x="8229600" y="6443246"/>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pic>
        <p:nvPicPr>
          <p:cNvPr id="17"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338328"/>
            <a:ext cx="5257800" cy="755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34963"/>
            <a:ext cx="5257800" cy="6065837"/>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07" name="Picture 20"/>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3276600" y="1123950"/>
            <a:ext cx="5238750" cy="528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08" name="Text Box 3"/>
          <p:cNvSpPr txBox="1">
            <a:spLocks noChangeArrowheads="1"/>
          </p:cNvSpPr>
          <p:nvPr/>
        </p:nvSpPr>
        <p:spPr bwMode="auto">
          <a:xfrm>
            <a:off x="228600" y="1819275"/>
            <a:ext cx="2590800" cy="4529138"/>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50000"/>
              </a:spcBef>
              <a:buSzPct val="80000"/>
            </a:pPr>
            <a:r>
              <a:rPr lang="en-US" altLang="en-US" sz="2200" b="1" dirty="0">
                <a:latin typeface="Liberation Sans" panose="020B0604020202020204" pitchFamily="34" charset="0"/>
              </a:rPr>
              <a:t>Key Items:</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Net sales</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Gross profit</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Operating expenses</a:t>
            </a:r>
          </a:p>
          <a:p>
            <a:pPr algn="l">
              <a:lnSpc>
                <a:spcPct val="120000"/>
              </a:lnSpc>
              <a:spcBef>
                <a:spcPct val="50000"/>
              </a:spcBef>
              <a:buClr>
                <a:srgbClr val="800000"/>
              </a:buClr>
              <a:buSzPct val="80000"/>
              <a:buFont typeface="Wingdings" panose="05000000000000000000" pitchFamily="2" charset="2"/>
              <a:buChar char="u"/>
            </a:pPr>
            <a:r>
              <a:rPr lang="en-US" altLang="en-US" sz="2100" b="1" dirty="0">
                <a:solidFill>
                  <a:srgbClr val="800000"/>
                </a:solidFill>
                <a:latin typeface="Liberation Sans" panose="020B0604020202020204" pitchFamily="34" charset="0"/>
              </a:rPr>
              <a:t>Nonoperating activities</a:t>
            </a:r>
          </a:p>
          <a:p>
            <a:pPr algn="l">
              <a:lnSpc>
                <a:spcPct val="120000"/>
              </a:lnSpc>
              <a:spcBef>
                <a:spcPct val="50000"/>
              </a:spcBef>
              <a:buClr>
                <a:srgbClr val="800000"/>
              </a:buClr>
              <a:buSzPct val="80000"/>
              <a:buFont typeface="Wingdings" panose="05000000000000000000" pitchFamily="2" charset="2"/>
              <a:buChar char="u"/>
            </a:pPr>
            <a:endParaRPr lang="en-US" altLang="en-US" sz="2100" b="1" dirty="0">
              <a:solidFill>
                <a:schemeClr val="hlink"/>
              </a:solidFill>
              <a:latin typeface="Liberation Sans" panose="020B0604020202020204" pitchFamily="34" charset="0"/>
            </a:endParaRPr>
          </a:p>
          <a:p>
            <a:pPr algn="l">
              <a:lnSpc>
                <a:spcPct val="120000"/>
              </a:lnSpc>
              <a:spcBef>
                <a:spcPct val="50000"/>
              </a:spcBef>
              <a:buClr>
                <a:srgbClr val="800000"/>
              </a:buClr>
              <a:buSzPct val="80000"/>
              <a:buFont typeface="Wingdings" panose="05000000000000000000" pitchFamily="2" charset="2"/>
              <a:buChar char="u"/>
            </a:pPr>
            <a:endParaRPr lang="en-US" altLang="en-US" sz="2100" b="1" dirty="0">
              <a:solidFill>
                <a:schemeClr val="hlink"/>
              </a:solidFill>
              <a:latin typeface="Liberation Sans" panose="020B0604020202020204" pitchFamily="34" charset="0"/>
            </a:endParaRPr>
          </a:p>
        </p:txBody>
      </p:sp>
      <p:sp>
        <p:nvSpPr>
          <p:cNvPr id="47109" name="AutoShape 5"/>
          <p:cNvSpPr/>
          <p:nvPr/>
        </p:nvSpPr>
        <p:spPr bwMode="auto">
          <a:xfrm>
            <a:off x="3124200" y="1143000"/>
            <a:ext cx="76200" cy="1371600"/>
          </a:xfrm>
          <a:prstGeom prst="leftBracket">
            <a:avLst>
              <a:gd name="adj" fmla="val 150000"/>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7110" name="Line 6"/>
          <p:cNvSpPr>
            <a:spLocks noChangeShapeType="1"/>
          </p:cNvSpPr>
          <p:nvPr/>
        </p:nvSpPr>
        <p:spPr bwMode="auto">
          <a:xfrm flipV="1">
            <a:off x="2362200" y="1787525"/>
            <a:ext cx="762000" cy="1184275"/>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7111" name="AutoShape 8"/>
          <p:cNvSpPr/>
          <p:nvPr/>
        </p:nvSpPr>
        <p:spPr bwMode="auto">
          <a:xfrm>
            <a:off x="3124200" y="2514600"/>
            <a:ext cx="76200" cy="1524000"/>
          </a:xfrm>
          <a:prstGeom prst="leftBracket">
            <a:avLst>
              <a:gd name="adj" fmla="val 166667"/>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7112" name="Line 9"/>
          <p:cNvSpPr>
            <a:spLocks noChangeShapeType="1"/>
          </p:cNvSpPr>
          <p:nvPr/>
        </p:nvSpPr>
        <p:spPr bwMode="auto">
          <a:xfrm flipV="1">
            <a:off x="2133600" y="3200400"/>
            <a:ext cx="990600" cy="60960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5" name="Rectangle 14"/>
          <p:cNvSpPr txBox="1">
            <a:spLocks noChangeArrowheads="1"/>
          </p:cNvSpPr>
          <p:nvPr/>
        </p:nvSpPr>
        <p:spPr bwMode="auto">
          <a:xfrm>
            <a:off x="381000" y="328613"/>
            <a:ext cx="2209800" cy="1074737"/>
          </a:xfrm>
          <a:prstGeom prst="rect">
            <a:avLst/>
          </a:prstGeom>
          <a:noFill/>
          <a:ln w="63500">
            <a:noFill/>
            <a:miter lim="800000"/>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vert="horz" wrap="square" lIns="90488" tIns="44450" rIns="90488" bIns="44450" numCol="1" anchor="ctr" anchorCtr="0" compatLnSpc="1"/>
          <a:lstStyle>
            <a:lvl1pPr algn="l">
              <a:defRPr sz="3200" b="1" i="0">
                <a:solidFill>
                  <a:schemeClr val="tx2">
                    <a:lumMod val="75000"/>
                  </a:schemeClr>
                </a:solidFill>
                <a:effectLst/>
                <a:latin typeface="Arial" panose="020B0604020202020204" pitchFamily="34" charset="0"/>
              </a:defRPr>
            </a:lvl1pPr>
            <a:lvl2pPr>
              <a:defRPr sz="3000" b="1" i="1">
                <a:effectLst>
                  <a:outerShdw blurRad="38100" dist="38100" dir="2700000" algn="tl">
                    <a:srgbClr val="FFFFFF"/>
                  </a:outerShdw>
                </a:effectLst>
              </a:defRPr>
            </a:lvl2pPr>
            <a:lvl3pPr>
              <a:defRPr sz="3000" b="1" i="1">
                <a:effectLst>
                  <a:outerShdw blurRad="38100" dist="38100" dir="2700000" algn="tl">
                    <a:srgbClr val="FFFFFF"/>
                  </a:outerShdw>
                </a:effectLst>
              </a:defRPr>
            </a:lvl3pPr>
            <a:lvl4pPr>
              <a:defRPr sz="3000" b="1" i="1">
                <a:effectLst>
                  <a:outerShdw blurRad="38100" dist="38100" dir="2700000" algn="tl">
                    <a:srgbClr val="FFFFFF"/>
                  </a:outerShdw>
                </a:effectLst>
              </a:defRPr>
            </a:lvl4pPr>
            <a:lvl5pPr>
              <a:defRPr sz="3000" b="1" i="1">
                <a:effectLst>
                  <a:outerShdw blurRad="38100" dist="38100" dir="2700000" algn="tl">
                    <a:srgbClr val="FFFFFF"/>
                  </a:outerShdw>
                </a:effectLst>
              </a:defRPr>
            </a:lvl5pPr>
            <a:lvl6pPr marL="457200" algn="ctr" eaLnBrk="0" fontAlgn="base" hangingPunct="0">
              <a:spcBef>
                <a:spcPct val="0"/>
              </a:spcBef>
              <a:spcAft>
                <a:spcPct val="0"/>
              </a:spcAft>
              <a:defRPr sz="3000" b="1" i="1">
                <a:effectLst>
                  <a:outerShdw blurRad="38100" dist="38100" dir="2700000" algn="tl">
                    <a:srgbClr val="FFFFFF"/>
                  </a:outerShdw>
                </a:effectLst>
              </a:defRPr>
            </a:lvl6pPr>
            <a:lvl7pPr marL="914400" algn="ctr" eaLnBrk="0" fontAlgn="base" hangingPunct="0">
              <a:spcBef>
                <a:spcPct val="0"/>
              </a:spcBef>
              <a:spcAft>
                <a:spcPct val="0"/>
              </a:spcAft>
              <a:defRPr sz="3000" b="1" i="1">
                <a:effectLst>
                  <a:outerShdw blurRad="38100" dist="38100" dir="2700000" algn="tl">
                    <a:srgbClr val="FFFFFF"/>
                  </a:outerShdw>
                </a:effectLst>
              </a:defRPr>
            </a:lvl7pPr>
            <a:lvl8pPr marL="1371600" algn="ctr" eaLnBrk="0" fontAlgn="base" hangingPunct="0">
              <a:spcBef>
                <a:spcPct val="0"/>
              </a:spcBef>
              <a:spcAft>
                <a:spcPct val="0"/>
              </a:spcAft>
              <a:defRPr sz="3000" b="1" i="1">
                <a:effectLst>
                  <a:outerShdw blurRad="38100" dist="38100" dir="2700000" algn="tl">
                    <a:srgbClr val="FFFFFF"/>
                  </a:outerShdw>
                </a:effectLst>
              </a:defRPr>
            </a:lvl8pPr>
            <a:lvl9pPr marL="1828800" algn="ctr" eaLnBrk="0" fontAlgn="base" hangingPunct="0">
              <a:spcBef>
                <a:spcPct val="0"/>
              </a:spcBef>
              <a:spcAft>
                <a:spcPct val="0"/>
              </a:spcAft>
              <a:defRPr sz="3000" b="1" i="1">
                <a:effectLst>
                  <a:outerShdw blurRad="38100" dist="38100" dir="2700000" algn="tl">
                    <a:srgbClr val="FFFFFF"/>
                  </a:outerShdw>
                </a:effectLst>
              </a:defRPr>
            </a:lvl9pPr>
          </a:lstStyle>
          <a:p>
            <a:r>
              <a:rPr lang="en-US" dirty="0">
                <a:latin typeface="Liberation Sans" panose="020B0604020202020204" pitchFamily="34" charset="0"/>
              </a:rPr>
              <a:t>Multiple- Step</a:t>
            </a:r>
          </a:p>
        </p:txBody>
      </p:sp>
      <p:sp>
        <p:nvSpPr>
          <p:cNvPr id="47115" name="Line 3"/>
          <p:cNvSpPr>
            <a:spLocks noChangeShapeType="1"/>
          </p:cNvSpPr>
          <p:nvPr/>
        </p:nvSpPr>
        <p:spPr bwMode="auto">
          <a:xfrm>
            <a:off x="304800" y="1524000"/>
            <a:ext cx="26670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47116" name="Picture 12"/>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3292475" y="4270375"/>
            <a:ext cx="5241925" cy="2130425"/>
          </a:xfrm>
          <a:prstGeom prst="rect">
            <a:avLst/>
          </a:prstGeom>
          <a:noFill/>
          <a:ln w="190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17" name="AutoShape 10"/>
          <p:cNvSpPr/>
          <p:nvPr/>
        </p:nvSpPr>
        <p:spPr bwMode="auto">
          <a:xfrm>
            <a:off x="3124200" y="4267200"/>
            <a:ext cx="76200" cy="1676400"/>
          </a:xfrm>
          <a:prstGeom prst="leftBracket">
            <a:avLst>
              <a:gd name="adj" fmla="val 133324"/>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7118" name="Line 11"/>
          <p:cNvSpPr>
            <a:spLocks noChangeShapeType="1"/>
          </p:cNvSpPr>
          <p:nvPr/>
        </p:nvSpPr>
        <p:spPr bwMode="auto">
          <a:xfrm>
            <a:off x="2590800" y="4800600"/>
            <a:ext cx="533400" cy="7620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7119" name="Text Box 17"/>
          <p:cNvSpPr txBox="1">
            <a:spLocks noChangeArrowheads="1"/>
          </p:cNvSpPr>
          <p:nvPr/>
        </p:nvSpPr>
        <p:spPr bwMode="auto">
          <a:xfrm>
            <a:off x="1676400" y="6126163"/>
            <a:ext cx="1371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200" b="1" dirty="0">
                <a:latin typeface="Liberation Sans" panose="020B0604020202020204" pitchFamily="34" charset="0"/>
              </a:rPr>
              <a:t>Illustration 5-14</a:t>
            </a:r>
          </a:p>
        </p:txBody>
      </p:sp>
      <p:pic>
        <p:nvPicPr>
          <p:cNvPr id="16" name="Picture 12"/>
          <p:cNvPicPr>
            <a:picLocks noChangeAspect="1" noChangeArrowheads="1"/>
          </p:cNvPicPr>
          <p:nvPr/>
        </p:nvPicPr>
        <p:blipFill>
          <a:blip r:embed="rId8">
            <a:extLst>
              <a:ext uri="{BEBA8EAE-BF5A-486C-A8C5-ECC9F3942E4B}">
                <a14:imgProps xmlns:a14="http://schemas.microsoft.com/office/drawing/2010/main">
                  <a14:imgLayer r:embed="rId9">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4114800" y="356888"/>
            <a:ext cx="3617119" cy="72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17" name="Text Box 9"/>
          <p:cNvSpPr txBox="1">
            <a:spLocks noChangeArrowheads="1"/>
          </p:cNvSpPr>
          <p:nvPr/>
        </p:nvSpPr>
        <p:spPr bwMode="auto">
          <a:xfrm>
            <a:off x="8229600" y="6443246"/>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pic>
        <p:nvPicPr>
          <p:cNvPr id="18"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6600" y="338328"/>
            <a:ext cx="5257800" cy="755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txBox="1">
            <a:spLocks noChangeArrowheads="1"/>
          </p:cNvSpPr>
          <p:nvPr/>
        </p:nvSpPr>
        <p:spPr bwMode="auto">
          <a:xfrm>
            <a:off x="381000" y="328613"/>
            <a:ext cx="2209800" cy="1074737"/>
          </a:xfrm>
          <a:prstGeom prst="rect">
            <a:avLst/>
          </a:prstGeom>
          <a:noFill/>
          <a:ln w="63500">
            <a:noFill/>
            <a:miter lim="800000"/>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vert="horz" wrap="square" lIns="90488" tIns="44450" rIns="90488" bIns="44450" numCol="1" anchor="ctr" anchorCtr="0" compatLnSpc="1"/>
          <a:lstStyle>
            <a:lvl1pPr algn="l">
              <a:defRPr sz="3200" b="1" i="0">
                <a:solidFill>
                  <a:schemeClr val="tx2">
                    <a:lumMod val="75000"/>
                  </a:schemeClr>
                </a:solidFill>
                <a:effectLst/>
                <a:latin typeface="Arial" panose="020B0604020202020204" pitchFamily="34" charset="0"/>
              </a:defRPr>
            </a:lvl1pPr>
            <a:lvl2pPr>
              <a:defRPr sz="3000" b="1" i="1">
                <a:effectLst>
                  <a:outerShdw blurRad="38100" dist="38100" dir="2700000" algn="tl">
                    <a:srgbClr val="FFFFFF"/>
                  </a:outerShdw>
                </a:effectLst>
              </a:defRPr>
            </a:lvl2pPr>
            <a:lvl3pPr>
              <a:defRPr sz="3000" b="1" i="1">
                <a:effectLst>
                  <a:outerShdw blurRad="38100" dist="38100" dir="2700000" algn="tl">
                    <a:srgbClr val="FFFFFF"/>
                  </a:outerShdw>
                </a:effectLst>
              </a:defRPr>
            </a:lvl3pPr>
            <a:lvl4pPr>
              <a:defRPr sz="3000" b="1" i="1">
                <a:effectLst>
                  <a:outerShdw blurRad="38100" dist="38100" dir="2700000" algn="tl">
                    <a:srgbClr val="FFFFFF"/>
                  </a:outerShdw>
                </a:effectLst>
              </a:defRPr>
            </a:lvl4pPr>
            <a:lvl5pPr>
              <a:defRPr sz="3000" b="1" i="1">
                <a:effectLst>
                  <a:outerShdw blurRad="38100" dist="38100" dir="2700000" algn="tl">
                    <a:srgbClr val="FFFFFF"/>
                  </a:outerShdw>
                </a:effectLst>
              </a:defRPr>
            </a:lvl5pPr>
            <a:lvl6pPr marL="457200" algn="ctr" eaLnBrk="0" fontAlgn="base" hangingPunct="0">
              <a:spcBef>
                <a:spcPct val="0"/>
              </a:spcBef>
              <a:spcAft>
                <a:spcPct val="0"/>
              </a:spcAft>
              <a:defRPr sz="3000" b="1" i="1">
                <a:effectLst>
                  <a:outerShdw blurRad="38100" dist="38100" dir="2700000" algn="tl">
                    <a:srgbClr val="FFFFFF"/>
                  </a:outerShdw>
                </a:effectLst>
              </a:defRPr>
            </a:lvl6pPr>
            <a:lvl7pPr marL="914400" algn="ctr" eaLnBrk="0" fontAlgn="base" hangingPunct="0">
              <a:spcBef>
                <a:spcPct val="0"/>
              </a:spcBef>
              <a:spcAft>
                <a:spcPct val="0"/>
              </a:spcAft>
              <a:defRPr sz="3000" b="1" i="1">
                <a:effectLst>
                  <a:outerShdw blurRad="38100" dist="38100" dir="2700000" algn="tl">
                    <a:srgbClr val="FFFFFF"/>
                  </a:outerShdw>
                </a:effectLst>
              </a:defRPr>
            </a:lvl7pPr>
            <a:lvl8pPr marL="1371600" algn="ctr" eaLnBrk="0" fontAlgn="base" hangingPunct="0">
              <a:spcBef>
                <a:spcPct val="0"/>
              </a:spcBef>
              <a:spcAft>
                <a:spcPct val="0"/>
              </a:spcAft>
              <a:defRPr sz="3000" b="1" i="1">
                <a:effectLst>
                  <a:outerShdw blurRad="38100" dist="38100" dir="2700000" algn="tl">
                    <a:srgbClr val="FFFFFF"/>
                  </a:outerShdw>
                </a:effectLst>
              </a:defRPr>
            </a:lvl8pPr>
            <a:lvl9pPr marL="1828800" algn="ctr" eaLnBrk="0" fontAlgn="base" hangingPunct="0">
              <a:spcBef>
                <a:spcPct val="0"/>
              </a:spcBef>
              <a:spcAft>
                <a:spcPct val="0"/>
              </a:spcAft>
              <a:defRPr sz="3000" b="1" i="1">
                <a:effectLst>
                  <a:outerShdw blurRad="38100" dist="38100" dir="2700000" algn="tl">
                    <a:srgbClr val="FFFFFF"/>
                  </a:outerShdw>
                </a:effectLst>
              </a:defRPr>
            </a:lvl9pPr>
          </a:lstStyle>
          <a:p>
            <a:r>
              <a:rPr lang="en-US" dirty="0">
                <a:latin typeface="Liberation Sans" panose="020B0604020202020204" pitchFamily="34" charset="0"/>
              </a:rPr>
              <a:t>Multiple- Step</a:t>
            </a:r>
          </a:p>
        </p:txBody>
      </p:sp>
      <p:sp>
        <p:nvSpPr>
          <p:cNvPr id="48131" name="Text Box 3"/>
          <p:cNvSpPr txBox="1">
            <a:spLocks noChangeArrowheads="1"/>
          </p:cNvSpPr>
          <p:nvPr/>
        </p:nvSpPr>
        <p:spPr bwMode="auto">
          <a:xfrm>
            <a:off x="228600" y="1819275"/>
            <a:ext cx="2590800" cy="3984625"/>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50000"/>
              </a:spcBef>
              <a:buSzPct val="80000"/>
            </a:pPr>
            <a:r>
              <a:rPr lang="en-US" altLang="en-US" sz="2200" b="1" dirty="0">
                <a:latin typeface="Liberation Sans" panose="020B0604020202020204" pitchFamily="34" charset="0"/>
              </a:rPr>
              <a:t>Key Items:</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Net sales</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Gross profit</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Operating expenses</a:t>
            </a:r>
          </a:p>
          <a:p>
            <a:pPr algn="l">
              <a:lnSpc>
                <a:spcPct val="120000"/>
              </a:lnSpc>
              <a:spcBef>
                <a:spcPct val="50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Nonoperating activities</a:t>
            </a:r>
          </a:p>
          <a:p>
            <a:pPr algn="l">
              <a:lnSpc>
                <a:spcPct val="120000"/>
              </a:lnSpc>
              <a:spcBef>
                <a:spcPct val="50000"/>
              </a:spcBef>
              <a:buClr>
                <a:srgbClr val="800000"/>
              </a:buClr>
              <a:buSzPct val="80000"/>
              <a:buFont typeface="Wingdings" panose="05000000000000000000" pitchFamily="2" charset="2"/>
              <a:buChar char="u"/>
            </a:pPr>
            <a:r>
              <a:rPr lang="en-US" altLang="en-US" sz="2100" b="1" dirty="0">
                <a:solidFill>
                  <a:srgbClr val="800000"/>
                </a:solidFill>
                <a:latin typeface="Liberation Sans" panose="020B0604020202020204" pitchFamily="34" charset="0"/>
              </a:rPr>
              <a:t>Net income</a:t>
            </a:r>
          </a:p>
        </p:txBody>
      </p:sp>
      <p:sp>
        <p:nvSpPr>
          <p:cNvPr id="48132" name="Line 13"/>
          <p:cNvSpPr>
            <a:spLocks noChangeShapeType="1"/>
          </p:cNvSpPr>
          <p:nvPr/>
        </p:nvSpPr>
        <p:spPr bwMode="auto">
          <a:xfrm>
            <a:off x="2362200" y="5638800"/>
            <a:ext cx="762000" cy="45720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8134" name="Line 3"/>
          <p:cNvSpPr>
            <a:spLocks noChangeShapeType="1"/>
          </p:cNvSpPr>
          <p:nvPr/>
        </p:nvSpPr>
        <p:spPr bwMode="auto">
          <a:xfrm>
            <a:off x="304800" y="1524000"/>
            <a:ext cx="26670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pic>
        <p:nvPicPr>
          <p:cNvPr id="48135"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34963"/>
            <a:ext cx="5257800" cy="6065837"/>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36" name="AutoShape 5"/>
          <p:cNvSpPr/>
          <p:nvPr/>
        </p:nvSpPr>
        <p:spPr bwMode="auto">
          <a:xfrm>
            <a:off x="3124200" y="1143000"/>
            <a:ext cx="76200" cy="1371600"/>
          </a:xfrm>
          <a:prstGeom prst="leftBracket">
            <a:avLst>
              <a:gd name="adj" fmla="val 150000"/>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8137" name="Line 6"/>
          <p:cNvSpPr>
            <a:spLocks noChangeShapeType="1"/>
          </p:cNvSpPr>
          <p:nvPr/>
        </p:nvSpPr>
        <p:spPr bwMode="auto">
          <a:xfrm flipV="1">
            <a:off x="2362200" y="1787525"/>
            <a:ext cx="762000" cy="1184275"/>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8138" name="AutoShape 8"/>
          <p:cNvSpPr/>
          <p:nvPr/>
        </p:nvSpPr>
        <p:spPr bwMode="auto">
          <a:xfrm>
            <a:off x="3124200" y="2514600"/>
            <a:ext cx="76200" cy="1524000"/>
          </a:xfrm>
          <a:prstGeom prst="leftBracket">
            <a:avLst>
              <a:gd name="adj" fmla="val 166667"/>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8139" name="Line 9"/>
          <p:cNvSpPr>
            <a:spLocks noChangeShapeType="1"/>
          </p:cNvSpPr>
          <p:nvPr/>
        </p:nvSpPr>
        <p:spPr bwMode="auto">
          <a:xfrm flipV="1">
            <a:off x="2133600" y="3200400"/>
            <a:ext cx="990600" cy="60960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8140" name="AutoShape 10"/>
          <p:cNvSpPr/>
          <p:nvPr/>
        </p:nvSpPr>
        <p:spPr bwMode="auto">
          <a:xfrm>
            <a:off x="3124200" y="4267200"/>
            <a:ext cx="76200" cy="1676400"/>
          </a:xfrm>
          <a:prstGeom prst="leftBracket">
            <a:avLst>
              <a:gd name="adj" fmla="val 133324"/>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48141" name="Line 11"/>
          <p:cNvSpPr>
            <a:spLocks noChangeShapeType="1"/>
          </p:cNvSpPr>
          <p:nvPr/>
        </p:nvSpPr>
        <p:spPr bwMode="auto">
          <a:xfrm>
            <a:off x="2590800" y="4800600"/>
            <a:ext cx="533400" cy="7620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48142" name="Text Box 17"/>
          <p:cNvSpPr txBox="1">
            <a:spLocks noChangeArrowheads="1"/>
          </p:cNvSpPr>
          <p:nvPr/>
        </p:nvSpPr>
        <p:spPr bwMode="auto">
          <a:xfrm>
            <a:off x="1676400" y="6126163"/>
            <a:ext cx="1371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sz="1200" b="1" dirty="0">
                <a:latin typeface="Liberation Sans" panose="020B0604020202020204" pitchFamily="34" charset="0"/>
              </a:rPr>
              <a:t>Illustration 5-14</a:t>
            </a:r>
          </a:p>
        </p:txBody>
      </p:sp>
      <p:pic>
        <p:nvPicPr>
          <p:cNvPr id="48143" name="Picture 20"/>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3276600" y="1123950"/>
            <a:ext cx="5238750" cy="528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12"/>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35000"/>
                    </a14:imgEffect>
                  </a14:imgLayer>
                </a14:imgProps>
              </a:ext>
              <a:ext uri="{28A0092B-C50C-407E-A947-70E740481C1C}">
                <a14:useLocalDpi xmlns:a14="http://schemas.microsoft.com/office/drawing/2010/main" val="0"/>
              </a:ext>
            </a:extLst>
          </a:blip>
          <a:srcRect/>
          <a:stretch>
            <a:fillRect/>
          </a:stretch>
        </p:blipFill>
        <p:spPr bwMode="auto">
          <a:xfrm>
            <a:off x="4114800" y="356888"/>
            <a:ext cx="3617119" cy="72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17" name="Text Box 9"/>
          <p:cNvSpPr txBox="1">
            <a:spLocks noChangeArrowheads="1"/>
          </p:cNvSpPr>
          <p:nvPr/>
        </p:nvSpPr>
        <p:spPr bwMode="auto">
          <a:xfrm>
            <a:off x="8229600" y="6443246"/>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pic>
        <p:nvPicPr>
          <p:cNvPr id="18"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338328"/>
            <a:ext cx="5257800" cy="755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457200" y="1890713"/>
            <a:ext cx="8001000" cy="36576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182562" tIns="46038" rIns="182562" bIns="46038"/>
          <a:lstStyle>
            <a:lvl1pPr>
              <a:defRPr sz="2000">
                <a:solidFill>
                  <a:schemeClr val="tx1"/>
                </a:solidFill>
                <a:latin typeface="Comic Sans MS" panose="030F0702030302020204" pitchFamily="66" charset="0"/>
              </a:defRPr>
            </a:lvl1pPr>
            <a:lvl2pPr marL="69215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40000"/>
              </a:spcBef>
              <a:buClr>
                <a:schemeClr val="tx1"/>
              </a:buClr>
              <a:buFont typeface="Wingdings" panose="05000000000000000000" pitchFamily="2" charset="2"/>
              <a:buNone/>
            </a:pPr>
            <a:r>
              <a:rPr lang="en-US" altLang="en-US" sz="2300" dirty="0">
                <a:latin typeface="Liberation Sans" panose="020B0604020202020204" pitchFamily="34" charset="0"/>
                <a:cs typeface="Times New Roman" panose="02020603050405020304" pitchFamily="18" charset="0"/>
              </a:rPr>
              <a:t>The multiple-step income statement for a merchandiser shows each of the following features except:  </a:t>
            </a:r>
          </a:p>
          <a:p>
            <a:pPr marL="802005" lvl="1" algn="l">
              <a:lnSpc>
                <a:spcPct val="125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gross profit.  </a:t>
            </a:r>
          </a:p>
          <a:p>
            <a:pPr marL="802005" lvl="1" algn="l">
              <a:lnSpc>
                <a:spcPct val="125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cost of goods sold.  </a:t>
            </a:r>
          </a:p>
          <a:p>
            <a:pPr marL="802005" lvl="1" algn="l">
              <a:lnSpc>
                <a:spcPct val="125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a sales revenue section.</a:t>
            </a:r>
          </a:p>
          <a:p>
            <a:pPr marL="802005" lvl="1" algn="l">
              <a:lnSpc>
                <a:spcPct val="125000"/>
              </a:lnSpc>
              <a:spcBef>
                <a:spcPct val="40000"/>
              </a:spcBef>
              <a:buClr>
                <a:schemeClr val="tx1"/>
              </a:buClr>
              <a:buFont typeface="Wingdings" panose="05000000000000000000" pitchFamily="2" charset="2"/>
              <a:buAutoNum type="alphaLcPeriod"/>
            </a:pPr>
            <a:r>
              <a:rPr lang="en-US" altLang="en-US" sz="2300" dirty="0">
                <a:latin typeface="Liberation Sans" panose="020B0604020202020204" pitchFamily="34" charset="0"/>
                <a:cs typeface="Times New Roman" panose="02020603050405020304" pitchFamily="18" charset="0"/>
              </a:rPr>
              <a:t>investing activities section.</a:t>
            </a:r>
          </a:p>
        </p:txBody>
      </p:sp>
      <p:sp>
        <p:nvSpPr>
          <p:cNvPr id="49155" name="Text Box 11"/>
          <p:cNvSpPr txBox="1">
            <a:spLocks noChangeArrowheads="1"/>
          </p:cNvSpPr>
          <p:nvPr/>
        </p:nvSpPr>
        <p:spPr bwMode="auto">
          <a:xfrm>
            <a:off x="547688" y="1295400"/>
            <a:ext cx="6843712" cy="5539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000" b="1" dirty="0">
                <a:solidFill>
                  <a:schemeClr val="tx2">
                    <a:lumMod val="75000"/>
                  </a:schemeClr>
                </a:solidFill>
                <a:latin typeface="Liberation Sans" panose="020B0604020202020204" pitchFamily="34" charset="0"/>
              </a:rPr>
              <a:t>Question </a:t>
            </a:r>
          </a:p>
        </p:txBody>
      </p:sp>
      <p:sp>
        <p:nvSpPr>
          <p:cNvPr id="49157" name="Line 3"/>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9" name="Notched Right Arrow 8"/>
          <p:cNvSpPr/>
          <p:nvPr/>
        </p:nvSpPr>
        <p:spPr bwMode="auto">
          <a:xfrm>
            <a:off x="228600" y="4709160"/>
            <a:ext cx="609600" cy="457200"/>
          </a:xfrm>
          <a:prstGeom prst="notchedRightArrow">
            <a:avLst/>
          </a:prstGeom>
          <a:solidFill>
            <a:schemeClr val="tx2">
              <a:lumMod val="75000"/>
            </a:schemeClr>
          </a:solidFill>
          <a:ln w="12700" cap="sq" cmpd="sng" algn="ctr">
            <a:solidFill>
              <a:schemeClr val="tx1"/>
            </a:solidFill>
            <a:prstDash val="solid"/>
            <a:round/>
            <a:headEnd type="none" w="sm" len="sm"/>
            <a:tailEnd type="none" w="sm" len="sm"/>
          </a:ln>
          <a:effectLst/>
        </p:spPr>
        <p:txBody>
          <a:bodyPr/>
          <a:lstStyle>
            <a:lvl1pPr>
              <a:defRPr sz="2400">
                <a:solidFill>
                  <a:schemeClr val="tx1"/>
                </a:solidFill>
                <a:latin typeface="Comic Sans MS" panose="030F0702030302020204" pitchFamily="66" charset="0"/>
              </a:defRPr>
            </a:lvl1pPr>
            <a:lvl2pPr marL="742950" indent="-285750">
              <a:defRPr sz="2400">
                <a:solidFill>
                  <a:schemeClr val="tx1"/>
                </a:solidFill>
                <a:latin typeface="Comic Sans MS" panose="030F0702030302020204" pitchFamily="66" charset="0"/>
              </a:defRPr>
            </a:lvl2pPr>
            <a:lvl3pPr marL="1143000" indent="-228600">
              <a:defRPr sz="2400">
                <a:solidFill>
                  <a:schemeClr val="tx1"/>
                </a:solidFill>
                <a:latin typeface="Comic Sans MS" panose="030F0702030302020204" pitchFamily="66" charset="0"/>
              </a:defRPr>
            </a:lvl3pPr>
            <a:lvl4pPr marL="1600200" indent="-228600">
              <a:defRPr sz="2400">
                <a:solidFill>
                  <a:schemeClr val="tx1"/>
                </a:solidFill>
                <a:latin typeface="Comic Sans MS" panose="030F0702030302020204" pitchFamily="66" charset="0"/>
              </a:defRPr>
            </a:lvl4pPr>
            <a:lvl5pPr marL="2057400" indent="-228600">
              <a:defRPr sz="24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10"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Multiple-Step Income Statement</a:t>
            </a:r>
          </a:p>
        </p:txBody>
      </p:sp>
      <p:sp>
        <p:nvSpPr>
          <p:cNvPr id="11"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1" y="1121419"/>
            <a:ext cx="8610600" cy="52722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6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016" y="381000"/>
            <a:ext cx="5667375" cy="714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762000" y="1295400"/>
            <a:ext cx="7924800" cy="278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102870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40000"/>
              </a:spcBef>
              <a:spcAft>
                <a:spcPct val="20000"/>
              </a:spcAft>
              <a:buClr>
                <a:srgbClr val="800000"/>
              </a:buClr>
              <a:buSzPct val="80000"/>
              <a:buFont typeface="Wingdings" panose="05000000000000000000" pitchFamily="2" charset="2"/>
              <a:buChar char="u"/>
            </a:pPr>
            <a:r>
              <a:rPr lang="en-US" altLang="en-US" sz="2200" dirty="0">
                <a:solidFill>
                  <a:srgbClr val="000000"/>
                </a:solidFill>
                <a:latin typeface="Liberation Sans" panose="020B0604020202020204" pitchFamily="34" charset="0"/>
              </a:rPr>
              <a:t>Subtract total expenses from total revenues</a:t>
            </a:r>
          </a:p>
          <a:p>
            <a:pPr algn="l">
              <a:lnSpc>
                <a:spcPct val="125000"/>
              </a:lnSpc>
              <a:spcBef>
                <a:spcPct val="40000"/>
              </a:spcBef>
              <a:spcAft>
                <a:spcPct val="20000"/>
              </a:spcAft>
              <a:buClr>
                <a:srgbClr val="800000"/>
              </a:buClr>
              <a:buSzPct val="80000"/>
              <a:buFont typeface="Wingdings" panose="05000000000000000000" pitchFamily="2" charset="2"/>
              <a:buChar char="u"/>
            </a:pPr>
            <a:r>
              <a:rPr lang="en-US" altLang="en-US" sz="2200" dirty="0">
                <a:solidFill>
                  <a:srgbClr val="000000"/>
                </a:solidFill>
                <a:latin typeface="Liberation Sans" panose="020B0604020202020204" pitchFamily="34" charset="0"/>
              </a:rPr>
              <a:t>Two reasons for using the single-step format: </a:t>
            </a:r>
          </a:p>
          <a:p>
            <a:pPr lvl="1" algn="l">
              <a:lnSpc>
                <a:spcPct val="125000"/>
              </a:lnSpc>
              <a:spcBef>
                <a:spcPct val="40000"/>
              </a:spcBef>
              <a:spcAft>
                <a:spcPct val="20000"/>
              </a:spcAft>
              <a:buClr>
                <a:srgbClr val="800000"/>
              </a:buClr>
              <a:buFont typeface="Wingdings" panose="05000000000000000000" pitchFamily="2" charset="2"/>
              <a:buAutoNum type="arabicPeriod"/>
            </a:pPr>
            <a:r>
              <a:rPr lang="en-US" altLang="en-US" sz="2200" dirty="0">
                <a:solidFill>
                  <a:srgbClr val="000000"/>
                </a:solidFill>
                <a:latin typeface="Liberation Sans" panose="020B0604020202020204" pitchFamily="34" charset="0"/>
              </a:rPr>
              <a:t>Company does not realize any profit until total revenues exceed total expenses. </a:t>
            </a:r>
          </a:p>
          <a:p>
            <a:pPr lvl="1" algn="l">
              <a:lnSpc>
                <a:spcPct val="125000"/>
              </a:lnSpc>
              <a:spcBef>
                <a:spcPct val="40000"/>
              </a:spcBef>
              <a:spcAft>
                <a:spcPct val="20000"/>
              </a:spcAft>
              <a:buClr>
                <a:srgbClr val="800000"/>
              </a:buClr>
              <a:buFont typeface="Wingdings" panose="05000000000000000000" pitchFamily="2" charset="2"/>
              <a:buAutoNum type="arabicPeriod"/>
            </a:pPr>
            <a:r>
              <a:rPr lang="en-US" altLang="en-US" sz="2200" dirty="0">
                <a:solidFill>
                  <a:srgbClr val="000000"/>
                </a:solidFill>
                <a:latin typeface="Liberation Sans" panose="020B0604020202020204" pitchFamily="34" charset="0"/>
              </a:rPr>
              <a:t>Format is simpler and easier to read.</a:t>
            </a:r>
          </a:p>
        </p:txBody>
      </p:sp>
      <p:sp>
        <p:nvSpPr>
          <p:cNvPr id="51203" name="Line 9"/>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51205"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Single-Step Income Statement</a:t>
            </a:r>
          </a:p>
        </p:txBody>
      </p:sp>
      <p:sp>
        <p:nvSpPr>
          <p:cNvPr id="7"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4906"/>
            <a:ext cx="8006992" cy="4873494"/>
          </a:xfrm>
          <a:prstGeom prst="rect">
            <a:avLst/>
          </a:prstGeom>
          <a:noFill/>
          <a:ln w="12700" cap="sq" cmpd="sng">
            <a:solidFill>
              <a:schemeClr val="tx1"/>
            </a:solidFill>
            <a:prstDash val="solid"/>
            <a:miter lim="800000"/>
            <a:headEnd type="none" w="sm" len="sm"/>
            <a:tailEnd type="none" w="sm" len="sm"/>
          </a:ln>
          <a:extLst>
            <a:ext uri="{909E8E84-426E-40DD-AFC4-6F175D3DCCD1}">
              <a14:hiddenFill xmlns:a14="http://schemas.microsoft.com/office/drawing/2010/main">
                <a:solidFill>
                  <a:schemeClr val="accent1"/>
                </a:solidFill>
              </a14:hiddenFill>
            </a:ext>
          </a:extLst>
        </p:spPr>
      </p:pic>
      <p:sp>
        <p:nvSpPr>
          <p:cNvPr id="52228" name="Line 2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8"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Single-Step Income Statement</a:t>
            </a:r>
          </a:p>
        </p:txBody>
      </p:sp>
      <p:sp>
        <p:nvSpPr>
          <p:cNvPr id="11"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sp>
        <p:nvSpPr>
          <p:cNvPr id="2" name="Rectangle 1"/>
          <p:cNvSpPr/>
          <p:nvPr/>
        </p:nvSpPr>
        <p:spPr>
          <a:xfrm>
            <a:off x="7135402" y="1447800"/>
            <a:ext cx="1322798" cy="276999"/>
          </a:xfrm>
          <a:prstGeom prst="rect">
            <a:avLst/>
          </a:prstGeom>
          <a:noFill/>
        </p:spPr>
        <p:txBody>
          <a:bodyPr wrap="none">
            <a:spAutoFit/>
          </a:bodyPr>
          <a:lstStyle/>
          <a:p>
            <a:r>
              <a:rPr lang="en-US" sz="1200" b="1" dirty="0">
                <a:solidFill>
                  <a:schemeClr val="accent3"/>
                </a:solidFill>
                <a:latin typeface="Liberation Sans" panose="020B0604020202020204" pitchFamily="34" charset="0"/>
              </a:rPr>
              <a:t>Illustration 5-15</a:t>
            </a:r>
            <a:endParaRPr lang="en-US" sz="1200" dirty="0">
              <a:solidFill>
                <a:schemeClr val="accent3"/>
              </a:solidFill>
              <a:latin typeface="Liberation Sans" panose="020B0604020202020204" pitchFamily="34" charset="0"/>
            </a:endParaRPr>
          </a:p>
        </p:txBody>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845" y="1371600"/>
            <a:ext cx="8273955" cy="4070980"/>
          </a:xfrm>
          <a:prstGeom prst="rect">
            <a:avLst/>
          </a:prstGeom>
          <a:noFill/>
          <a:ln w="12700" cap="sq" cmpd="sng">
            <a:solidFill>
              <a:schemeClr val="tx1"/>
            </a:solidFill>
            <a:prstDash val="solid"/>
            <a:miter lim="800000"/>
            <a:headEnd type="none" w="sm" len="sm"/>
            <a:tailEnd type="none" w="sm" len="sm"/>
          </a:ln>
          <a:extLst>
            <a:ext uri="{909E8E84-426E-40DD-AFC4-6F175D3DCCD1}">
              <a14:hiddenFill xmlns:a14="http://schemas.microsoft.com/office/drawing/2010/main">
                <a:solidFill>
                  <a:schemeClr val="accent1"/>
                </a:solidFill>
              </a14:hiddenFill>
            </a:ext>
          </a:extLst>
        </p:spPr>
      </p:pic>
      <p:sp>
        <p:nvSpPr>
          <p:cNvPr id="53251" name="Line 19"/>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53254" name="Rectangle 7"/>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Arial" panose="020B0604020202020204" pitchFamily="34" charset="0"/>
              </a:rPr>
              <a:t>Classified Balance Sheet</a:t>
            </a:r>
          </a:p>
        </p:txBody>
      </p:sp>
      <p:sp>
        <p:nvSpPr>
          <p:cNvPr id="12"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sp>
        <p:nvSpPr>
          <p:cNvPr id="8" name="Rectangle 7"/>
          <p:cNvSpPr/>
          <p:nvPr/>
        </p:nvSpPr>
        <p:spPr>
          <a:xfrm>
            <a:off x="7287801" y="1447800"/>
            <a:ext cx="1322799" cy="276999"/>
          </a:xfrm>
          <a:prstGeom prst="rect">
            <a:avLst/>
          </a:prstGeom>
          <a:noFill/>
        </p:spPr>
        <p:txBody>
          <a:bodyPr wrap="none">
            <a:spAutoFit/>
          </a:bodyPr>
          <a:lstStyle/>
          <a:p>
            <a:r>
              <a:rPr lang="en-US" sz="1200" b="1" dirty="0">
                <a:solidFill>
                  <a:schemeClr val="accent3"/>
                </a:solidFill>
                <a:latin typeface="Liberation Sans" panose="020B0604020202020204" pitchFamily="34" charset="0"/>
              </a:rPr>
              <a:t>Illustration 5-16</a:t>
            </a:r>
            <a:endParaRPr lang="en-US" sz="1200" dirty="0">
              <a:solidFill>
                <a:schemeClr val="accent3"/>
              </a:solidFill>
              <a:latin typeface="Liberation Sans" panose="020B0604020202020204" pitchFamily="34" charset="0"/>
            </a:endParaRPr>
          </a:p>
        </p:txBody>
      </p:sp>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286" y="2480814"/>
            <a:ext cx="8656836" cy="3310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458" name="Rectangle 3"/>
          <p:cNvSpPr>
            <a:spLocks noChangeArrowheads="1"/>
          </p:cNvSpPr>
          <p:nvPr/>
        </p:nvSpPr>
        <p:spPr bwMode="auto">
          <a:xfrm>
            <a:off x="609600" y="1447800"/>
            <a:ext cx="8077200" cy="90486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20000"/>
              </a:spcBef>
              <a:buClr>
                <a:schemeClr val="accent2"/>
              </a:buClr>
              <a:buSzPct val="75000"/>
              <a:buFont typeface="Wingdings" panose="05000000000000000000" pitchFamily="2" charset="2"/>
              <a:buChar char="l"/>
              <a:tabLst>
                <a:tab pos="2057400" algn="l"/>
              </a:tabLst>
              <a:defRPr sz="2800" b="1">
                <a:solidFill>
                  <a:schemeClr val="bg2"/>
                </a:solidFill>
                <a:latin typeface="Arial" panose="020B0604020202020204" pitchFamily="34" charset="0"/>
              </a:defRPr>
            </a:lvl1pPr>
            <a:lvl2pPr marL="742950" indent="-285750" algn="l">
              <a:spcBef>
                <a:spcPct val="20000"/>
              </a:spcBef>
              <a:buClr>
                <a:schemeClr val="accent2"/>
              </a:buClr>
              <a:buSzPct val="75000"/>
              <a:buFont typeface="Wingdings" panose="05000000000000000000" pitchFamily="2" charset="2"/>
              <a:buChar char="l"/>
              <a:tabLst>
                <a:tab pos="2057400" algn="l"/>
              </a:tabLst>
              <a:defRPr sz="2400" b="1">
                <a:solidFill>
                  <a:schemeClr val="bg2"/>
                </a:solidFill>
                <a:latin typeface="Arial" panose="020B0604020202020204" pitchFamily="34" charset="0"/>
              </a:defRPr>
            </a:lvl2pPr>
            <a:lvl3pPr marL="11430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3pPr>
            <a:lvl4pPr marL="16002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4pPr>
            <a:lvl5pPr marL="2057400" indent="-228600" algn="l">
              <a:spcBef>
                <a:spcPct val="20000"/>
              </a:spcBef>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tabLst>
                <a:tab pos="2057400" algn="l"/>
              </a:tabLst>
              <a:defRPr sz="2000" b="1">
                <a:solidFill>
                  <a:schemeClr val="bg2"/>
                </a:solidFill>
                <a:latin typeface="Arial" panose="020B0604020202020204" pitchFamily="34" charset="0"/>
              </a:defRPr>
            </a:lvl9pPr>
          </a:lstStyle>
          <a:p>
            <a:pPr>
              <a:lnSpc>
                <a:spcPct val="120000"/>
              </a:lnSpc>
              <a:spcBef>
                <a:spcPts val="1200"/>
              </a:spcBef>
              <a:buClrTx/>
              <a:buSzTx/>
              <a:buFontTx/>
              <a:buNone/>
            </a:pPr>
            <a:r>
              <a:rPr lang="en-US" sz="2200" b="0" dirty="0">
                <a:solidFill>
                  <a:schemeClr val="tx1"/>
                </a:solidFill>
                <a:latin typeface="Liberation Sans" panose="020B0604020202020204" pitchFamily="34" charset="0"/>
              </a:rPr>
              <a:t>Indicate in which financial statement and under what classification each of the following accounts would be reported.</a:t>
            </a:r>
          </a:p>
        </p:txBody>
      </p:sp>
      <p:sp>
        <p:nvSpPr>
          <p:cNvPr id="18" name="Line 29"/>
          <p:cNvSpPr>
            <a:spLocks noChangeShapeType="1"/>
          </p:cNvSpPr>
          <p:nvPr/>
        </p:nvSpPr>
        <p:spPr bwMode="auto">
          <a:xfrm>
            <a:off x="290286" y="784324"/>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9"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571"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20" name="Picture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286" y="357188"/>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21" name="Picture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0857"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22" name="Picture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3472" y="571501"/>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3" name="TextBox 22"/>
          <p:cNvSpPr txBox="1"/>
          <p:nvPr/>
        </p:nvSpPr>
        <p:spPr>
          <a:xfrm>
            <a:off x="2467428" y="428625"/>
            <a:ext cx="435429" cy="641336"/>
          </a:xfrm>
          <a:prstGeom prst="rect">
            <a:avLst/>
          </a:prstGeom>
          <a:noFill/>
        </p:spPr>
        <p:txBody>
          <a:bodyPr wrap="square" lIns="86493" tIns="43247" rIns="86493" bIns="43247" rtlCol="0">
            <a:spAutoFit/>
          </a:bodyPr>
          <a:lstStyle/>
          <a:p>
            <a:r>
              <a:rPr lang="en-US" sz="3600" b="1" dirty="0">
                <a:solidFill>
                  <a:srgbClr val="FF6600"/>
                </a:solidFill>
                <a:latin typeface="Liberation Sans" panose="020B0604020202020204" pitchFamily="34" charset="0"/>
              </a:rPr>
              <a:t>5</a:t>
            </a:r>
          </a:p>
        </p:txBody>
      </p:sp>
      <p:sp>
        <p:nvSpPr>
          <p:cNvPr id="24" name="TextBox 23"/>
          <p:cNvSpPr txBox="1"/>
          <p:nvPr/>
        </p:nvSpPr>
        <p:spPr>
          <a:xfrm>
            <a:off x="3276600" y="457200"/>
            <a:ext cx="5649686" cy="662464"/>
          </a:xfrm>
          <a:prstGeom prst="rect">
            <a:avLst/>
          </a:prstGeom>
          <a:solidFill>
            <a:srgbClr val="0027A4"/>
          </a:solidFill>
        </p:spPr>
        <p:txBody>
          <a:bodyPr wrap="square" lIns="86493" tIns="43247" rIns="86493" bIns="43247" rtlCol="0" anchor="ctr" anchorCtr="0">
            <a:noAutofit/>
          </a:bodyPr>
          <a:lstStyle/>
          <a:p>
            <a:pPr marL="53975" algn="l"/>
            <a:r>
              <a:rPr lang="en-US" sz="2400" b="1" dirty="0">
                <a:solidFill>
                  <a:schemeClr val="bg1"/>
                </a:solidFill>
                <a:latin typeface="Liberation Sans" panose="020B0604020202020204" pitchFamily="34" charset="0"/>
              </a:rPr>
              <a:t>Financial Statement Classifications</a:t>
            </a:r>
          </a:p>
        </p:txBody>
      </p:sp>
      <p:pic>
        <p:nvPicPr>
          <p:cNvPr id="25"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flipV="1">
            <a:off x="457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6" name="TextBox 25"/>
          <p:cNvSpPr txBox="1"/>
          <p:nvPr/>
        </p:nvSpPr>
        <p:spPr>
          <a:xfrm>
            <a:off x="152400" y="381000"/>
            <a:ext cx="2209800" cy="738664"/>
          </a:xfrm>
          <a:prstGeom prst="rect">
            <a:avLst/>
          </a:prstGeom>
          <a:noFill/>
        </p:spPr>
        <p:txBody>
          <a:bodyPr wrap="square" rtlCol="0">
            <a:spAutoFit/>
          </a:bodyPr>
          <a:lstStyle/>
          <a:p>
            <a:r>
              <a:rPr lang="en-US" sz="4200" b="1" dirty="0">
                <a:solidFill>
                  <a:srgbClr val="FF6600"/>
                </a:solidFill>
                <a:latin typeface="Liberation Sans" panose="020B0604020202020204" pitchFamily="34" charset="0"/>
              </a:rPr>
              <a:t>DO IT!</a:t>
            </a:r>
          </a:p>
        </p:txBody>
      </p:sp>
      <p:sp>
        <p:nvSpPr>
          <p:cNvPr id="3" name="Rectangle 2"/>
          <p:cNvSpPr/>
          <p:nvPr/>
        </p:nvSpPr>
        <p:spPr bwMode="auto">
          <a:xfrm>
            <a:off x="3505200" y="3124200"/>
            <a:ext cx="5348515" cy="2286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29" name="Rectangle 28"/>
          <p:cNvSpPr/>
          <p:nvPr/>
        </p:nvSpPr>
        <p:spPr bwMode="auto">
          <a:xfrm>
            <a:off x="3505200" y="3429000"/>
            <a:ext cx="5348515" cy="2286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30" name="Rectangle 29"/>
          <p:cNvSpPr/>
          <p:nvPr/>
        </p:nvSpPr>
        <p:spPr bwMode="auto">
          <a:xfrm>
            <a:off x="3505200" y="3657599"/>
            <a:ext cx="5348515" cy="533401"/>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32" name="Rectangle 31"/>
          <p:cNvSpPr/>
          <p:nvPr/>
        </p:nvSpPr>
        <p:spPr bwMode="auto">
          <a:xfrm>
            <a:off x="3505200" y="4191000"/>
            <a:ext cx="5348515" cy="5334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33" name="Rectangle 32"/>
          <p:cNvSpPr/>
          <p:nvPr/>
        </p:nvSpPr>
        <p:spPr bwMode="auto">
          <a:xfrm>
            <a:off x="3505200" y="4724400"/>
            <a:ext cx="5348515" cy="2286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34" name="Rectangle 33"/>
          <p:cNvSpPr/>
          <p:nvPr/>
        </p:nvSpPr>
        <p:spPr bwMode="auto">
          <a:xfrm>
            <a:off x="3505200" y="4953000"/>
            <a:ext cx="5348515" cy="5334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36" name="Rectangle 35"/>
          <p:cNvSpPr/>
          <p:nvPr/>
        </p:nvSpPr>
        <p:spPr bwMode="auto">
          <a:xfrm>
            <a:off x="3505200" y="5486400"/>
            <a:ext cx="5348515" cy="3048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39"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29"/>
                                        </p:tgtEl>
                                      </p:cBhvr>
                                    </p:animEffect>
                                    <p:set>
                                      <p:cBhvr>
                                        <p:cTn id="12" dur="1" fill="hold">
                                          <p:stCondLst>
                                            <p:cond delay="499"/>
                                          </p:stCondLst>
                                        </p:cTn>
                                        <p:tgtEl>
                                          <p:spTgt spid="2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30"/>
                                        </p:tgtEl>
                                      </p:cBhvr>
                                    </p:animEffect>
                                    <p:set>
                                      <p:cBhvr>
                                        <p:cTn id="17" dur="1" fill="hold">
                                          <p:stCondLst>
                                            <p:cond delay="499"/>
                                          </p:stCondLst>
                                        </p:cTn>
                                        <p:tgtEl>
                                          <p:spTgt spid="3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32"/>
                                        </p:tgtEl>
                                      </p:cBhvr>
                                    </p:animEffect>
                                    <p:set>
                                      <p:cBhvr>
                                        <p:cTn id="22" dur="1" fill="hold">
                                          <p:stCondLst>
                                            <p:cond delay="499"/>
                                          </p:stCondLst>
                                        </p:cTn>
                                        <p:tgtEl>
                                          <p:spTgt spid="3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33"/>
                                        </p:tgtEl>
                                      </p:cBhvr>
                                    </p:animEffect>
                                    <p:set>
                                      <p:cBhvr>
                                        <p:cTn id="27" dur="1" fill="hold">
                                          <p:stCondLst>
                                            <p:cond delay="499"/>
                                          </p:stCondLst>
                                        </p:cTn>
                                        <p:tgtEl>
                                          <p:spTgt spid="3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500"/>
                                        <p:tgtEl>
                                          <p:spTgt spid="34"/>
                                        </p:tgtEl>
                                      </p:cBhvr>
                                    </p:animEffect>
                                    <p:set>
                                      <p:cBhvr>
                                        <p:cTn id="32" dur="1" fill="hold">
                                          <p:stCondLst>
                                            <p:cond delay="499"/>
                                          </p:stCondLst>
                                        </p:cTn>
                                        <p:tgtEl>
                                          <p:spTgt spid="3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500"/>
                                        <p:tgtEl>
                                          <p:spTgt spid="36"/>
                                        </p:tgtEl>
                                      </p:cBhvr>
                                    </p:animEffect>
                                    <p:set>
                                      <p:cBhvr>
                                        <p:cTn id="37" dur="1" fill="hold">
                                          <p:stCondLst>
                                            <p:cond delay="4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 grpId="0" animBg="1"/>
      <p:bldP spid="30" grpId="0" animBg="1"/>
      <p:bldP spid="32" grpId="0" animBg="1"/>
      <p:bldP spid="33" grpId="0" animBg="1"/>
      <p:bldP spid="34" grpId="0" animBg="1"/>
      <p:bldP spid="3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286" y="381000"/>
            <a:ext cx="8656836" cy="3310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7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286" y="1064962"/>
            <a:ext cx="8636000" cy="3735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Rectangle 27"/>
          <p:cNvSpPr/>
          <p:nvPr/>
        </p:nvSpPr>
        <p:spPr bwMode="auto">
          <a:xfrm>
            <a:off x="3505200" y="1066800"/>
            <a:ext cx="5348515" cy="2667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31" name="Rectangle 30"/>
          <p:cNvSpPr/>
          <p:nvPr/>
        </p:nvSpPr>
        <p:spPr bwMode="auto">
          <a:xfrm>
            <a:off x="3505200" y="1371600"/>
            <a:ext cx="5421086" cy="5334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38" name="Rectangle 37"/>
          <p:cNvSpPr/>
          <p:nvPr/>
        </p:nvSpPr>
        <p:spPr bwMode="auto">
          <a:xfrm>
            <a:off x="3505200" y="1905000"/>
            <a:ext cx="5348515" cy="3048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39" name="Rectangle 38"/>
          <p:cNvSpPr/>
          <p:nvPr/>
        </p:nvSpPr>
        <p:spPr bwMode="auto">
          <a:xfrm>
            <a:off x="3505200" y="2186940"/>
            <a:ext cx="5348515" cy="50292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40" name="Rectangle 39"/>
          <p:cNvSpPr/>
          <p:nvPr/>
        </p:nvSpPr>
        <p:spPr bwMode="auto">
          <a:xfrm>
            <a:off x="3505200" y="2667000"/>
            <a:ext cx="5348515" cy="3048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41" name="Rectangle 40"/>
          <p:cNvSpPr/>
          <p:nvPr/>
        </p:nvSpPr>
        <p:spPr bwMode="auto">
          <a:xfrm>
            <a:off x="3505200" y="2971800"/>
            <a:ext cx="5348515" cy="4572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43" name="Rectangle 42"/>
          <p:cNvSpPr/>
          <p:nvPr/>
        </p:nvSpPr>
        <p:spPr bwMode="auto">
          <a:xfrm>
            <a:off x="3505200" y="3442648"/>
            <a:ext cx="5348515" cy="2286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44" name="Rectangle 43"/>
          <p:cNvSpPr/>
          <p:nvPr/>
        </p:nvSpPr>
        <p:spPr bwMode="auto">
          <a:xfrm>
            <a:off x="3505200" y="3733800"/>
            <a:ext cx="5421086" cy="2286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45" name="Rectangle 44"/>
          <p:cNvSpPr/>
          <p:nvPr/>
        </p:nvSpPr>
        <p:spPr bwMode="auto">
          <a:xfrm>
            <a:off x="3505200" y="4011304"/>
            <a:ext cx="5348515" cy="484496"/>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47" name="Rectangle 46"/>
          <p:cNvSpPr/>
          <p:nvPr/>
        </p:nvSpPr>
        <p:spPr bwMode="auto">
          <a:xfrm>
            <a:off x="3505200" y="4495800"/>
            <a:ext cx="5348515" cy="3048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52"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28"/>
                                        </p:tgtEl>
                                      </p:cBhvr>
                                    </p:animEffect>
                                    <p:set>
                                      <p:cBhvr>
                                        <p:cTn id="7" dur="1" fill="hold">
                                          <p:stCondLst>
                                            <p:cond delay="499"/>
                                          </p:stCondLst>
                                        </p:cTn>
                                        <p:tgtEl>
                                          <p:spTgt spid="2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31"/>
                                        </p:tgtEl>
                                      </p:cBhvr>
                                    </p:animEffect>
                                    <p:set>
                                      <p:cBhvr>
                                        <p:cTn id="12" dur="1" fill="hold">
                                          <p:stCondLst>
                                            <p:cond delay="499"/>
                                          </p:stCondLst>
                                        </p:cTn>
                                        <p:tgtEl>
                                          <p:spTgt spid="3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38"/>
                                        </p:tgtEl>
                                      </p:cBhvr>
                                    </p:animEffect>
                                    <p:set>
                                      <p:cBhvr>
                                        <p:cTn id="17" dur="1" fill="hold">
                                          <p:stCondLst>
                                            <p:cond delay="499"/>
                                          </p:stCondLst>
                                        </p:cTn>
                                        <p:tgtEl>
                                          <p:spTgt spid="3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39"/>
                                        </p:tgtEl>
                                      </p:cBhvr>
                                    </p:animEffect>
                                    <p:set>
                                      <p:cBhvr>
                                        <p:cTn id="22" dur="1" fill="hold">
                                          <p:stCondLst>
                                            <p:cond delay="499"/>
                                          </p:stCondLst>
                                        </p:cTn>
                                        <p:tgtEl>
                                          <p:spTgt spid="3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40"/>
                                        </p:tgtEl>
                                      </p:cBhvr>
                                    </p:animEffect>
                                    <p:set>
                                      <p:cBhvr>
                                        <p:cTn id="27" dur="1" fill="hold">
                                          <p:stCondLst>
                                            <p:cond delay="499"/>
                                          </p:stCondLst>
                                        </p:cTn>
                                        <p:tgtEl>
                                          <p:spTgt spid="4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500"/>
                                        <p:tgtEl>
                                          <p:spTgt spid="41"/>
                                        </p:tgtEl>
                                      </p:cBhvr>
                                    </p:animEffect>
                                    <p:set>
                                      <p:cBhvr>
                                        <p:cTn id="32" dur="1" fill="hold">
                                          <p:stCondLst>
                                            <p:cond delay="499"/>
                                          </p:stCondLst>
                                        </p:cTn>
                                        <p:tgtEl>
                                          <p:spTgt spid="4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500"/>
                                        <p:tgtEl>
                                          <p:spTgt spid="43"/>
                                        </p:tgtEl>
                                      </p:cBhvr>
                                    </p:animEffect>
                                    <p:set>
                                      <p:cBhvr>
                                        <p:cTn id="37" dur="1" fill="hold">
                                          <p:stCondLst>
                                            <p:cond delay="499"/>
                                          </p:stCondLst>
                                        </p:cTn>
                                        <p:tgtEl>
                                          <p:spTgt spid="4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grpId="0" nodeType="clickEffect">
                                  <p:stCondLst>
                                    <p:cond delay="0"/>
                                  </p:stCondLst>
                                  <p:childTnLst>
                                    <p:animEffect transition="out" filter="wipe(left)">
                                      <p:cBhvr>
                                        <p:cTn id="41" dur="500"/>
                                        <p:tgtEl>
                                          <p:spTgt spid="44"/>
                                        </p:tgtEl>
                                      </p:cBhvr>
                                    </p:animEffect>
                                    <p:set>
                                      <p:cBhvr>
                                        <p:cTn id="42" dur="1" fill="hold">
                                          <p:stCondLst>
                                            <p:cond delay="499"/>
                                          </p:stCondLst>
                                        </p:cTn>
                                        <p:tgtEl>
                                          <p:spTgt spid="4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8" fill="hold" grpId="0" nodeType="clickEffect">
                                  <p:stCondLst>
                                    <p:cond delay="0"/>
                                  </p:stCondLst>
                                  <p:childTnLst>
                                    <p:animEffect transition="out" filter="wipe(left)">
                                      <p:cBhvr>
                                        <p:cTn id="46" dur="500"/>
                                        <p:tgtEl>
                                          <p:spTgt spid="45"/>
                                        </p:tgtEl>
                                      </p:cBhvr>
                                    </p:animEffect>
                                    <p:set>
                                      <p:cBhvr>
                                        <p:cTn id="47" dur="1" fill="hold">
                                          <p:stCondLst>
                                            <p:cond delay="499"/>
                                          </p:stCondLst>
                                        </p:cTn>
                                        <p:tgtEl>
                                          <p:spTgt spid="4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8" fill="hold" grpId="0" nodeType="clickEffect">
                                  <p:stCondLst>
                                    <p:cond delay="0"/>
                                  </p:stCondLst>
                                  <p:childTnLst>
                                    <p:animEffect transition="out" filter="wipe(left)">
                                      <p:cBhvr>
                                        <p:cTn id="51" dur="500"/>
                                        <p:tgtEl>
                                          <p:spTgt spid="47"/>
                                        </p:tgtEl>
                                      </p:cBhvr>
                                    </p:animEffect>
                                    <p:set>
                                      <p:cBhvr>
                                        <p:cTn id="52" dur="1" fill="hold">
                                          <p:stCondLst>
                                            <p:cond delay="499"/>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1" grpId="0" animBg="1"/>
      <p:bldP spid="38" grpId="0" animBg="1"/>
      <p:bldP spid="39" grpId="0" animBg="1"/>
      <p:bldP spid="40" grpId="0" animBg="1"/>
      <p:bldP spid="41" grpId="0" animBg="1"/>
      <p:bldP spid="43" grpId="0" animBg="1"/>
      <p:bldP spid="44" grpId="0" animBg="1"/>
      <p:bldP spid="45" grpId="0" animBg="1"/>
      <p:bldP spid="4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286" y="381000"/>
            <a:ext cx="8656836" cy="3310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Rectangle 27"/>
          <p:cNvSpPr/>
          <p:nvPr/>
        </p:nvSpPr>
        <p:spPr bwMode="auto">
          <a:xfrm>
            <a:off x="3505200" y="1066800"/>
            <a:ext cx="5348515" cy="5334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31" name="Rectangle 30"/>
          <p:cNvSpPr/>
          <p:nvPr/>
        </p:nvSpPr>
        <p:spPr bwMode="auto">
          <a:xfrm>
            <a:off x="3505200" y="1600200"/>
            <a:ext cx="5421086" cy="53340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39" name="Rectangle 38"/>
          <p:cNvSpPr/>
          <p:nvPr/>
        </p:nvSpPr>
        <p:spPr bwMode="auto">
          <a:xfrm>
            <a:off x="3505200" y="2133600"/>
            <a:ext cx="5348515" cy="226563"/>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40" name="Rectangle 39"/>
          <p:cNvSpPr/>
          <p:nvPr/>
        </p:nvSpPr>
        <p:spPr bwMode="auto">
          <a:xfrm>
            <a:off x="3505200" y="2449694"/>
            <a:ext cx="5348515" cy="184404"/>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43" name="Rectangle 42"/>
          <p:cNvSpPr/>
          <p:nvPr/>
        </p:nvSpPr>
        <p:spPr bwMode="auto">
          <a:xfrm>
            <a:off x="3505200" y="2591875"/>
            <a:ext cx="5348515" cy="276606"/>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52"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5</a:t>
            </a:r>
          </a:p>
        </p:txBody>
      </p:sp>
      <p:sp>
        <p:nvSpPr>
          <p:cNvPr id="16" name="Rectangle 15"/>
          <p:cNvSpPr/>
          <p:nvPr/>
        </p:nvSpPr>
        <p:spPr bwMode="auto">
          <a:xfrm>
            <a:off x="3505200" y="2895600"/>
            <a:ext cx="5348515" cy="25146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17" name="Rectangle 16"/>
          <p:cNvSpPr/>
          <p:nvPr/>
        </p:nvSpPr>
        <p:spPr bwMode="auto">
          <a:xfrm>
            <a:off x="3505200" y="3177540"/>
            <a:ext cx="5348515" cy="25146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
        <p:nvSpPr>
          <p:cNvPr id="18" name="Rectangle 17"/>
          <p:cNvSpPr/>
          <p:nvPr/>
        </p:nvSpPr>
        <p:spPr bwMode="auto">
          <a:xfrm>
            <a:off x="3505200" y="3482340"/>
            <a:ext cx="5348515" cy="25146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pic>
        <p:nvPicPr>
          <p:cNvPr id="348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286" y="1066800"/>
            <a:ext cx="8636000" cy="26934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bwMode="auto">
          <a:xfrm>
            <a:off x="2164080" y="2971800"/>
            <a:ext cx="91440" cy="102870"/>
          </a:xfrm>
          <a:prstGeom prst="rect">
            <a:avLst/>
          </a:prstGeom>
          <a:solidFill>
            <a:schemeClr val="accent3"/>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Comic Sans MS" panose="030F0702030302020204" pitchFamily="66"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28"/>
                                        </p:tgtEl>
                                      </p:cBhvr>
                                    </p:animEffect>
                                    <p:set>
                                      <p:cBhvr>
                                        <p:cTn id="7" dur="1" fill="hold">
                                          <p:stCondLst>
                                            <p:cond delay="499"/>
                                          </p:stCondLst>
                                        </p:cTn>
                                        <p:tgtEl>
                                          <p:spTgt spid="2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31"/>
                                        </p:tgtEl>
                                      </p:cBhvr>
                                    </p:animEffect>
                                    <p:set>
                                      <p:cBhvr>
                                        <p:cTn id="12" dur="1" fill="hold">
                                          <p:stCondLst>
                                            <p:cond delay="499"/>
                                          </p:stCondLst>
                                        </p:cTn>
                                        <p:tgtEl>
                                          <p:spTgt spid="3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39"/>
                                        </p:tgtEl>
                                      </p:cBhvr>
                                    </p:animEffect>
                                    <p:set>
                                      <p:cBhvr>
                                        <p:cTn id="17" dur="1" fill="hold">
                                          <p:stCondLst>
                                            <p:cond delay="499"/>
                                          </p:stCondLst>
                                        </p:cTn>
                                        <p:tgtEl>
                                          <p:spTgt spid="3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40"/>
                                        </p:tgtEl>
                                      </p:cBhvr>
                                    </p:animEffect>
                                    <p:set>
                                      <p:cBhvr>
                                        <p:cTn id="22" dur="1" fill="hold">
                                          <p:stCondLst>
                                            <p:cond delay="499"/>
                                          </p:stCondLst>
                                        </p:cTn>
                                        <p:tgtEl>
                                          <p:spTgt spid="4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43"/>
                                        </p:tgtEl>
                                      </p:cBhvr>
                                    </p:animEffect>
                                    <p:set>
                                      <p:cBhvr>
                                        <p:cTn id="27" dur="1" fill="hold">
                                          <p:stCondLst>
                                            <p:cond delay="499"/>
                                          </p:stCondLst>
                                        </p:cTn>
                                        <p:tgtEl>
                                          <p:spTgt spid="4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500"/>
                                        <p:tgtEl>
                                          <p:spTgt spid="16"/>
                                        </p:tgtEl>
                                      </p:cBhvr>
                                    </p:animEffect>
                                    <p:set>
                                      <p:cBhvr>
                                        <p:cTn id="32" dur="1" fill="hold">
                                          <p:stCondLst>
                                            <p:cond delay="499"/>
                                          </p:stCondLst>
                                        </p:cTn>
                                        <p:tgtEl>
                                          <p:spTgt spid="1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500"/>
                                        <p:tgtEl>
                                          <p:spTgt spid="17"/>
                                        </p:tgtEl>
                                      </p:cBhvr>
                                    </p:animEffect>
                                    <p:set>
                                      <p:cBhvr>
                                        <p:cTn id="37" dur="1" fill="hold">
                                          <p:stCondLst>
                                            <p:cond delay="499"/>
                                          </p:stCondLst>
                                        </p:cTn>
                                        <p:tgtEl>
                                          <p:spTgt spid="17"/>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grpId="0" nodeType="clickEffect">
                                  <p:stCondLst>
                                    <p:cond delay="0"/>
                                  </p:stCondLst>
                                  <p:childTnLst>
                                    <p:animEffect transition="out" filter="wipe(left)">
                                      <p:cBhvr>
                                        <p:cTn id="41" dur="500"/>
                                        <p:tgtEl>
                                          <p:spTgt spid="18"/>
                                        </p:tgtEl>
                                      </p:cBhvr>
                                    </p:animEffect>
                                    <p:set>
                                      <p:cBhvr>
                                        <p:cTn id="42"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1" grpId="0" animBg="1"/>
      <p:bldP spid="39" grpId="0" animBg="1"/>
      <p:bldP spid="40" grpId="0" animBg="1"/>
      <p:bldP spid="43" grpId="0" animBg="1"/>
      <p:bldP spid="16" grpId="0" animBg="1"/>
      <p:bldP spid="17" grpId="0" animBg="1"/>
      <p:bldP spid="1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4"/>
          <p:cNvSpPr txBox="1">
            <a:spLocks noChangeArrowheads="1"/>
          </p:cNvSpPr>
          <p:nvPr/>
        </p:nvSpPr>
        <p:spPr bwMode="auto">
          <a:xfrm>
            <a:off x="1219200" y="6469063"/>
            <a:ext cx="7620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endParaRPr lang="en-US" altLang="en-US" dirty="0">
              <a:latin typeface="Liberation Sans" panose="020B0604020202020204" pitchFamily="34" charset="0"/>
            </a:endParaRPr>
          </a:p>
        </p:txBody>
      </p:sp>
      <p:sp>
        <p:nvSpPr>
          <p:cNvPr id="11" name="Rectangle 10"/>
          <p:cNvSpPr>
            <a:spLocks noChangeArrowheads="1"/>
          </p:cNvSpPr>
          <p:nvPr/>
        </p:nvSpPr>
        <p:spPr bwMode="auto">
          <a:xfrm>
            <a:off x="290286" y="405765"/>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solidFill>
                  <a:schemeClr val="tx1"/>
                </a:solidFill>
                <a:latin typeface="Liberation Sans" panose="020B0604020202020204" pitchFamily="34" charset="0"/>
              </a:rPr>
              <a:t>LEARNING</a:t>
            </a:r>
          </a:p>
          <a:p>
            <a:pPr algn="l"/>
            <a:r>
              <a:rPr lang="en-US" altLang="en-US" sz="1700" b="1" dirty="0">
                <a:solidFill>
                  <a:schemeClr val="tx1"/>
                </a:solidFill>
                <a:latin typeface="Liberation Sans" panose="020B0604020202020204" pitchFamily="34" charset="0"/>
              </a:rPr>
              <a:t>OBJECTIVE</a:t>
            </a:r>
          </a:p>
        </p:txBody>
      </p:sp>
      <p:sp>
        <p:nvSpPr>
          <p:cNvPr id="12" name="Rectangle 5"/>
          <p:cNvSpPr>
            <a:spLocks noChangeArrowheads="1"/>
          </p:cNvSpPr>
          <p:nvPr/>
        </p:nvSpPr>
        <p:spPr bwMode="auto">
          <a:xfrm>
            <a:off x="2540000" y="274320"/>
            <a:ext cx="6241143" cy="928688"/>
          </a:xfrm>
          <a:prstGeom prst="rect">
            <a:avLst/>
          </a:prstGeom>
          <a:solidFill>
            <a:srgbClr val="0027A4"/>
          </a:solidFill>
          <a:ln>
            <a:noFill/>
          </a:ln>
          <a:effectLst/>
        </p:spPr>
        <p:txBody>
          <a:bodyPr wrap="square" lIns="86493" tIns="27432" rIns="86493" bIns="43247" anchor="ctr"/>
          <a:lstStyle/>
          <a:p>
            <a:pPr marL="109855" algn="l"/>
            <a:r>
              <a:rPr lang="en-US" sz="2400" b="1" dirty="0">
                <a:solidFill>
                  <a:schemeClr val="accent3"/>
                </a:solidFill>
                <a:latin typeface="Liberation Sans" panose="020B0604020202020204" pitchFamily="34" charset="0"/>
              </a:rPr>
              <a:t>APPENDIX 5A: Prepare a worksheet for </a:t>
            </a:r>
          </a:p>
          <a:p>
            <a:pPr marL="109855" algn="l"/>
            <a:r>
              <a:rPr lang="en-US" sz="2400" b="1" dirty="0">
                <a:solidFill>
                  <a:schemeClr val="accent3"/>
                </a:solidFill>
                <a:latin typeface="Liberation Sans" panose="020B0604020202020204" pitchFamily="34" charset="0"/>
              </a:rPr>
              <a:t>a merchandising company.</a:t>
            </a:r>
          </a:p>
        </p:txBody>
      </p:sp>
      <p:sp>
        <p:nvSpPr>
          <p:cNvPr id="13" name="Oval 12"/>
          <p:cNvSpPr/>
          <p:nvPr/>
        </p:nvSpPr>
        <p:spPr bwMode="auto">
          <a:xfrm>
            <a:off x="1872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6</a:t>
            </a:r>
          </a:p>
        </p:txBody>
      </p:sp>
      <p:sp>
        <p:nvSpPr>
          <p:cNvPr id="14" name="Rectangle 7"/>
          <p:cNvSpPr>
            <a:spLocks noChangeArrowheads="1"/>
          </p:cNvSpPr>
          <p:nvPr/>
        </p:nvSpPr>
        <p:spPr bwMode="auto">
          <a:xfrm>
            <a:off x="533400" y="1447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3000" b="1" dirty="0">
                <a:solidFill>
                  <a:schemeClr val="tx2">
                    <a:lumMod val="75000"/>
                  </a:schemeClr>
                </a:solidFill>
                <a:latin typeface="Liberation Sans" panose="020B0604020202020204" pitchFamily="34" charset="0"/>
              </a:rPr>
              <a:t>Using a Worksheet</a:t>
            </a:r>
          </a:p>
        </p:txBody>
      </p:sp>
      <p:sp>
        <p:nvSpPr>
          <p:cNvPr id="2" name="Rectangle 1"/>
          <p:cNvSpPr/>
          <p:nvPr/>
        </p:nvSpPr>
        <p:spPr>
          <a:xfrm>
            <a:off x="533400" y="2081748"/>
            <a:ext cx="8153400" cy="3342453"/>
          </a:xfrm>
          <a:prstGeom prst="rect">
            <a:avLst/>
          </a:prstGeom>
        </p:spPr>
        <p:txBody>
          <a:bodyPr wrap="square">
            <a:spAutoFit/>
          </a:bodyPr>
          <a:lstStyle/>
          <a:p>
            <a:pPr algn="l">
              <a:lnSpc>
                <a:spcPct val="120000"/>
              </a:lnSpc>
              <a:spcBef>
                <a:spcPts val="1200"/>
              </a:spcBef>
            </a:pPr>
            <a:r>
              <a:rPr lang="en-US" sz="2200" dirty="0">
                <a:latin typeface="Liberation Sans" panose="020B0604020202020204" pitchFamily="34" charset="0"/>
              </a:rPr>
              <a:t>As indicated in Chapter 4, a worksheet enables companies to prepare financial statements before they journalize and post adjusting entries. The steps in preparing a worksheet for a merchandising company are the same as for a service company. Illustration 5A-1 shows the worksheet for PW Audio Supply, Inc. (excluding nonoperating items). The unique accounts for a merchandiser using a </a:t>
            </a:r>
            <a:r>
              <a:rPr lang="en-US" sz="2200" b="1" dirty="0">
                <a:latin typeface="Liberation Sans" panose="020B0604020202020204" pitchFamily="34" charset="0"/>
              </a:rPr>
              <a:t>perpetual inventory system </a:t>
            </a:r>
            <a:r>
              <a:rPr lang="en-US" sz="2200" dirty="0">
                <a:latin typeface="Liberation Sans" panose="020B0604020202020204" pitchFamily="34" charset="0"/>
              </a:rPr>
              <a:t>are in </a:t>
            </a:r>
            <a:r>
              <a:rPr lang="en-US" sz="2200" b="1" dirty="0">
                <a:solidFill>
                  <a:schemeClr val="accent6">
                    <a:lumMod val="75000"/>
                  </a:schemeClr>
                </a:solidFill>
                <a:latin typeface="Liberation Sans" panose="020B0604020202020204" pitchFamily="34" charset="0"/>
              </a:rPr>
              <a:t>red</a:t>
            </a:r>
            <a:r>
              <a:rPr lang="en-US" sz="2200" dirty="0">
                <a:latin typeface="Liberation Sans" panose="020B0604020202020204" pitchFamily="34" charset="0"/>
              </a:rPr>
              <a:t>.</a:t>
            </a:r>
          </a:p>
        </p:txBody>
      </p:sp>
      <p:sp>
        <p:nvSpPr>
          <p:cNvPr id="16"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6</a:t>
            </a:r>
          </a:p>
        </p:txBody>
      </p:sp>
    </p:spTree>
  </p:cSld>
  <p:clrMapOvr>
    <a:masterClrMapping/>
  </p:clrMapOvr>
  <p:transition>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6</a:t>
            </a:r>
          </a:p>
        </p:txBody>
      </p:sp>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81000"/>
            <a:ext cx="7508665" cy="6128328"/>
          </a:xfrm>
          <a:prstGeom prst="rect">
            <a:avLst/>
          </a:prstGeom>
          <a:noFill/>
          <a:ln w="12700" cap="sq" cmpd="sng">
            <a:solidFill>
              <a:schemeClr val="tx1"/>
            </a:solidFill>
            <a:prstDash val="solid"/>
            <a:miter lim="800000"/>
            <a:headEnd type="none" w="sm" len="sm"/>
            <a:tailEnd type="none" w="sm" len="sm"/>
          </a:ln>
          <a:extLst>
            <a:ext uri="{909E8E84-426E-40DD-AFC4-6F175D3DCCD1}">
              <a14:hiddenFill xmlns:a14="http://schemas.microsoft.com/office/drawing/2010/main">
                <a:solidFill>
                  <a:schemeClr val="accent1"/>
                </a:solidFill>
              </a14:hiddenFill>
            </a:ext>
          </a:extLst>
        </p:spPr>
      </p:pic>
      <p:sp>
        <p:nvSpPr>
          <p:cNvPr id="54274" name="Text Box 4"/>
          <p:cNvSpPr txBox="1">
            <a:spLocks noChangeArrowheads="1"/>
          </p:cNvSpPr>
          <p:nvPr/>
        </p:nvSpPr>
        <p:spPr bwMode="auto">
          <a:xfrm>
            <a:off x="1219200" y="6469063"/>
            <a:ext cx="7620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endParaRPr lang="en-US" altLang="en-US" dirty="0">
              <a:latin typeface="Liberation Sans" panose="020B0604020202020204" pitchFamily="34" charset="0"/>
            </a:endParaRPr>
          </a:p>
        </p:txBody>
      </p:sp>
      <p:sp>
        <p:nvSpPr>
          <p:cNvPr id="54275" name="Text Box 7"/>
          <p:cNvSpPr txBox="1">
            <a:spLocks noChangeArrowheads="1"/>
          </p:cNvSpPr>
          <p:nvPr/>
        </p:nvSpPr>
        <p:spPr bwMode="auto">
          <a:xfrm>
            <a:off x="7391400" y="762000"/>
            <a:ext cx="1447800" cy="274637"/>
          </a:xfrm>
          <a:prstGeom prst="rect">
            <a:avLst/>
          </a:prstGeom>
          <a:solidFill>
            <a:schemeClr val="bg1"/>
          </a:solidFill>
          <a:ln>
            <a:noFill/>
          </a:ln>
          <a:effectLst/>
          <a:extLs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r>
              <a:rPr lang="en-US" altLang="en-US" sz="1200" b="1" dirty="0">
                <a:latin typeface="Liberation Sans" panose="020B0604020202020204" pitchFamily="34" charset="0"/>
              </a:rPr>
              <a:t>Illustration 5A-1</a:t>
            </a:r>
          </a:p>
        </p:txBody>
      </p:sp>
    </p:spTree>
  </p:cSld>
  <p:clrMapOvr>
    <a:masterClrMapping/>
  </p:clrMapOvr>
  <p:transition>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914400" y="2514600"/>
            <a:ext cx="7467600" cy="2123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0000"/>
              </a:lnSpc>
              <a:spcBef>
                <a:spcPct val="40000"/>
              </a:spcBef>
              <a:spcAft>
                <a:spcPct val="20000"/>
              </a:spcAft>
              <a:buClr>
                <a:srgbClr val="800000"/>
              </a:buClr>
              <a:buSzPct val="80000"/>
              <a:buFont typeface="Wingdings" panose="05000000000000000000" pitchFamily="2" charset="2"/>
              <a:buChar char="u"/>
            </a:pPr>
            <a:r>
              <a:rPr lang="en-US" altLang="en-US" sz="2200" dirty="0">
                <a:solidFill>
                  <a:srgbClr val="000000"/>
                </a:solidFill>
                <a:latin typeface="Liberation Sans" panose="020B0604020202020204" pitchFamily="34" charset="0"/>
              </a:rPr>
              <a:t>No running account of changes in inventory.</a:t>
            </a:r>
          </a:p>
          <a:p>
            <a:pPr algn="l">
              <a:lnSpc>
                <a:spcPct val="120000"/>
              </a:lnSpc>
              <a:spcBef>
                <a:spcPct val="40000"/>
              </a:spcBef>
              <a:spcAft>
                <a:spcPct val="20000"/>
              </a:spcAft>
              <a:buClr>
                <a:srgbClr val="800000"/>
              </a:buClr>
              <a:buSzPct val="80000"/>
              <a:buFont typeface="Wingdings" panose="05000000000000000000" pitchFamily="2" charset="2"/>
              <a:buChar char="u"/>
            </a:pPr>
            <a:r>
              <a:rPr lang="en-US" altLang="en-US" sz="2200" dirty="0">
                <a:solidFill>
                  <a:srgbClr val="000000"/>
                </a:solidFill>
                <a:latin typeface="Liberation Sans" panose="020B0604020202020204" pitchFamily="34" charset="0"/>
              </a:rPr>
              <a:t>Ending inventory determined by physical count.</a:t>
            </a:r>
          </a:p>
          <a:p>
            <a:pPr algn="l">
              <a:lnSpc>
                <a:spcPct val="120000"/>
              </a:lnSpc>
              <a:spcBef>
                <a:spcPct val="40000"/>
              </a:spcBef>
              <a:spcAft>
                <a:spcPct val="20000"/>
              </a:spcAft>
              <a:buClr>
                <a:srgbClr val="800000"/>
              </a:buClr>
              <a:buSzPct val="80000"/>
              <a:buFont typeface="Wingdings" panose="05000000000000000000" pitchFamily="2" charset="2"/>
              <a:buChar char="u"/>
            </a:pPr>
            <a:r>
              <a:rPr lang="en-US" altLang="en-US" sz="2200" dirty="0">
                <a:solidFill>
                  <a:srgbClr val="000000"/>
                </a:solidFill>
                <a:latin typeface="Liberation Sans" panose="020B0604020202020204" pitchFamily="34" charset="0"/>
              </a:rPr>
              <a:t>Cost of goods sold not determined until the end of the period.</a:t>
            </a:r>
          </a:p>
        </p:txBody>
      </p:sp>
      <p:sp>
        <p:nvSpPr>
          <p:cNvPr id="925702" name="Text Box 6"/>
          <p:cNvSpPr txBox="1">
            <a:spLocks noChangeArrowheads="1"/>
          </p:cNvSpPr>
          <p:nvPr/>
        </p:nvSpPr>
        <p:spPr bwMode="auto">
          <a:xfrm>
            <a:off x="685800" y="1447800"/>
            <a:ext cx="83058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buSzPct val="80000"/>
              <a:defRPr/>
            </a:pPr>
            <a:r>
              <a:rPr lang="en-US" sz="2800" b="1" dirty="0">
                <a:solidFill>
                  <a:schemeClr val="tx2">
                    <a:lumMod val="75000"/>
                  </a:schemeClr>
                </a:solidFill>
                <a:latin typeface="Liberation Sans" panose="020B0604020202020204" pitchFamily="34" charset="0"/>
              </a:rPr>
              <a:t>Determining Cost of Goods Sold Under a Periodic System</a:t>
            </a:r>
          </a:p>
        </p:txBody>
      </p:sp>
      <p:sp>
        <p:nvSpPr>
          <p:cNvPr id="9" name="Rectangle 8"/>
          <p:cNvSpPr>
            <a:spLocks noChangeArrowheads="1"/>
          </p:cNvSpPr>
          <p:nvPr/>
        </p:nvSpPr>
        <p:spPr bwMode="auto">
          <a:xfrm>
            <a:off x="290286" y="405765"/>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solidFill>
                  <a:schemeClr val="tx1"/>
                </a:solidFill>
                <a:latin typeface="Liberation Sans" panose="020B0604020202020204" pitchFamily="34" charset="0"/>
              </a:rPr>
              <a:t>LEARNING</a:t>
            </a:r>
          </a:p>
          <a:p>
            <a:pPr algn="l"/>
            <a:r>
              <a:rPr lang="en-US" altLang="en-US" sz="1700" b="1" dirty="0">
                <a:solidFill>
                  <a:schemeClr val="tx1"/>
                </a:solidFill>
                <a:latin typeface="Liberation Sans" panose="020B0604020202020204" pitchFamily="34" charset="0"/>
              </a:rPr>
              <a:t>OBJECTIVE</a:t>
            </a:r>
          </a:p>
        </p:txBody>
      </p:sp>
      <p:sp>
        <p:nvSpPr>
          <p:cNvPr id="10" name="Rectangle 5"/>
          <p:cNvSpPr>
            <a:spLocks noChangeArrowheads="1"/>
          </p:cNvSpPr>
          <p:nvPr/>
        </p:nvSpPr>
        <p:spPr bwMode="auto">
          <a:xfrm>
            <a:off x="2540000" y="274320"/>
            <a:ext cx="6241143" cy="928688"/>
          </a:xfrm>
          <a:prstGeom prst="rect">
            <a:avLst/>
          </a:prstGeom>
          <a:solidFill>
            <a:srgbClr val="0027A4"/>
          </a:solidFill>
          <a:ln>
            <a:noFill/>
          </a:ln>
          <a:effectLst/>
        </p:spPr>
        <p:txBody>
          <a:bodyPr wrap="square" lIns="86493" tIns="27432" rIns="86493" bIns="43247" anchor="ctr"/>
          <a:lstStyle/>
          <a:p>
            <a:pPr marL="109855" algn="l"/>
            <a:r>
              <a:rPr lang="en-US" sz="2300" b="1" dirty="0">
                <a:solidFill>
                  <a:schemeClr val="accent3"/>
                </a:solidFill>
                <a:latin typeface="Liberation Sans" panose="020B0604020202020204" pitchFamily="34" charset="0"/>
              </a:rPr>
              <a:t>APPENDIX 5B: Record purchases and sales under a periodic inventory system.</a:t>
            </a:r>
          </a:p>
        </p:txBody>
      </p:sp>
      <p:sp>
        <p:nvSpPr>
          <p:cNvPr id="11" name="Oval 10"/>
          <p:cNvSpPr/>
          <p:nvPr/>
        </p:nvSpPr>
        <p:spPr bwMode="auto">
          <a:xfrm>
            <a:off x="1872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7</a:t>
            </a:r>
          </a:p>
        </p:txBody>
      </p:sp>
      <p:sp>
        <p:nvSpPr>
          <p:cNvPr id="12"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spTree>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7"/>
          <p:cNvSpPr>
            <a:spLocks noChangeArrowheads="1"/>
          </p:cNvSpPr>
          <p:nvPr/>
        </p:nvSpPr>
        <p:spPr bwMode="auto">
          <a:xfrm>
            <a:off x="6019800" y="2184400"/>
            <a:ext cx="2133600" cy="274638"/>
          </a:xfrm>
          <a:prstGeom prst="rect">
            <a:avLst/>
          </a:prstGeom>
          <a:solidFill>
            <a:schemeClr val="bg1"/>
          </a:solidFill>
          <a:ln>
            <a:noFill/>
          </a:ln>
          <a:effectLst/>
          <a:extLst>
            <a:ext uri="{91240B29-F687-4F45-9708-019B960494DF}">
              <a14:hiddenLine xmlns:a14="http://schemas.microsoft.com/office/drawing/2010/main" w="28575">
                <a:solidFill>
                  <a:srgbClr val="8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r>
              <a:rPr lang="en-US" altLang="en-US" sz="1200" b="1" dirty="0">
                <a:latin typeface="Arial" panose="020B0604020202020204" pitchFamily="34" charset="0"/>
              </a:rPr>
              <a:t>Illustration 5B-2 </a:t>
            </a:r>
          </a:p>
        </p:txBody>
      </p:sp>
      <p:sp>
        <p:nvSpPr>
          <p:cNvPr id="8" name="Line 22"/>
          <p:cNvSpPr>
            <a:spLocks noChangeShapeType="1"/>
          </p:cNvSpPr>
          <p:nvPr/>
        </p:nvSpPr>
        <p:spPr bwMode="auto">
          <a:xfrm>
            <a:off x="304800" y="14478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9"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defRPr/>
            </a:pPr>
            <a:r>
              <a:rPr lang="en-US" sz="3200" b="1" dirty="0">
                <a:solidFill>
                  <a:schemeClr val="tx2">
                    <a:lumMod val="75000"/>
                  </a:schemeClr>
                </a:solidFill>
                <a:latin typeface="Arial" panose="020B0604020202020204" pitchFamily="34" charset="0"/>
              </a:rPr>
              <a:t>Determining Cost of Goods Sold Under a Periodic System</a:t>
            </a:r>
          </a:p>
        </p:txBody>
      </p:sp>
      <p:sp>
        <p:nvSpPr>
          <p:cNvPr id="2" name="Rectangle 1"/>
          <p:cNvSpPr/>
          <p:nvPr/>
        </p:nvSpPr>
        <p:spPr>
          <a:xfrm>
            <a:off x="6705600" y="865188"/>
            <a:ext cx="2286000" cy="830997"/>
          </a:xfrm>
          <a:prstGeom prst="rect">
            <a:avLst/>
          </a:prstGeom>
          <a:solidFill>
            <a:schemeClr val="accent3"/>
          </a:solidFill>
        </p:spPr>
        <p:txBody>
          <a:bodyPr wrap="square">
            <a:spAutoFit/>
          </a:bodyPr>
          <a:lstStyle/>
          <a:p>
            <a:pPr algn="l"/>
            <a:r>
              <a:rPr lang="en-US" sz="1200" b="1" dirty="0">
                <a:latin typeface="Liberation Sans" panose="020B0604020202020204" pitchFamily="34" charset="0"/>
              </a:rPr>
              <a:t>Illustration 5B-2</a:t>
            </a:r>
          </a:p>
          <a:p>
            <a:pPr algn="l"/>
            <a:r>
              <a:rPr lang="en-US" sz="1200" dirty="0">
                <a:latin typeface="Liberation Sans" panose="020B0604020202020204" pitchFamily="34" charset="0"/>
              </a:rPr>
              <a:t>Cost of goods sold for a</a:t>
            </a:r>
          </a:p>
          <a:p>
            <a:pPr algn="l"/>
            <a:r>
              <a:rPr lang="en-US" sz="1200" dirty="0">
                <a:latin typeface="Liberation Sans" panose="020B0604020202020204" pitchFamily="34" charset="0"/>
              </a:rPr>
              <a:t>merchandiser using a periodic</a:t>
            </a:r>
          </a:p>
          <a:p>
            <a:pPr algn="l"/>
            <a:r>
              <a:rPr lang="en-US" sz="1200" dirty="0">
                <a:latin typeface="Liberation Sans" panose="020B0604020202020204" pitchFamily="34" charset="0"/>
              </a:rPr>
              <a:t>inventory system</a:t>
            </a:r>
          </a:p>
        </p:txBody>
      </p:sp>
      <p:sp>
        <p:nvSpPr>
          <p:cNvPr id="15"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31925"/>
            <a:ext cx="8329587" cy="4492675"/>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Lst>
        </p:spPr>
      </p:pic>
    </p:spTree>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Text Box 4"/>
          <p:cNvSpPr txBox="1">
            <a:spLocks noChangeArrowheads="1"/>
          </p:cNvSpPr>
          <p:nvPr/>
        </p:nvSpPr>
        <p:spPr bwMode="auto">
          <a:xfrm>
            <a:off x="533400" y="1295400"/>
            <a:ext cx="7772400" cy="4404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chemeClr val="tx1"/>
                </a:solidFill>
                <a:latin typeface="Comic Sans MS" panose="030F0702030302020204" pitchFamily="66" charset="0"/>
              </a:defRPr>
            </a:lvl1pPr>
            <a:lvl2pPr marL="114300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marL="682625" indent="-450850" algn="l">
              <a:lnSpc>
                <a:spcPct val="120000"/>
              </a:lnSpc>
              <a:spcBef>
                <a:spcPct val="45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Record revenues when sales are made.</a:t>
            </a:r>
          </a:p>
          <a:p>
            <a:pPr marL="682625" indent="-450850" algn="l">
              <a:lnSpc>
                <a:spcPct val="120000"/>
              </a:lnSpc>
              <a:spcBef>
                <a:spcPct val="45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Do not record cost of merchandise sold on the date of sale. </a:t>
            </a:r>
          </a:p>
          <a:p>
            <a:pPr marL="682625" indent="-450850" algn="l">
              <a:lnSpc>
                <a:spcPct val="120000"/>
              </a:lnSpc>
              <a:spcBef>
                <a:spcPct val="45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Physical inventory count determines: </a:t>
            </a:r>
          </a:p>
          <a:p>
            <a:pPr marL="1377950" lvl="1" indent="-463550" algn="l">
              <a:lnSpc>
                <a:spcPct val="120000"/>
              </a:lnSpc>
              <a:spcBef>
                <a:spcPct val="45000"/>
              </a:spcBef>
              <a:buClr>
                <a:srgbClr val="800000"/>
              </a:buClr>
              <a:buSzPct val="80000"/>
              <a:buFont typeface="Arial" panose="020B0604020202020204" pitchFamily="34" charset="0"/>
              <a:buChar char="►"/>
            </a:pPr>
            <a:r>
              <a:rPr lang="en-US" altLang="en-US" dirty="0">
                <a:latin typeface="Liberation Sans" panose="020B0604020202020204" pitchFamily="34" charset="0"/>
              </a:rPr>
              <a:t>Cost of merchandise </a:t>
            </a:r>
            <a:r>
              <a:rPr lang="en-US" altLang="en-US" b="1" dirty="0">
                <a:latin typeface="Liberation Sans" panose="020B0604020202020204" pitchFamily="34" charset="0"/>
              </a:rPr>
              <a:t>on hand</a:t>
            </a:r>
            <a:r>
              <a:rPr lang="en-US" altLang="en-US" dirty="0">
                <a:latin typeface="Liberation Sans" panose="020B0604020202020204" pitchFamily="34" charset="0"/>
              </a:rPr>
              <a:t> and </a:t>
            </a:r>
          </a:p>
          <a:p>
            <a:pPr marL="1377950" lvl="1" indent="-463550" algn="l">
              <a:lnSpc>
                <a:spcPct val="120000"/>
              </a:lnSpc>
              <a:spcBef>
                <a:spcPct val="45000"/>
              </a:spcBef>
              <a:buClr>
                <a:srgbClr val="800000"/>
              </a:buClr>
              <a:buSzPct val="80000"/>
              <a:buFont typeface="Arial" panose="020B0604020202020204" pitchFamily="34" charset="0"/>
              <a:buChar char="►"/>
            </a:pPr>
            <a:r>
              <a:rPr lang="en-US" altLang="en-US" dirty="0">
                <a:latin typeface="Liberation Sans" panose="020B0604020202020204" pitchFamily="34" charset="0"/>
              </a:rPr>
              <a:t>Cost of merchandise </a:t>
            </a:r>
            <a:r>
              <a:rPr lang="en-US" altLang="en-US" b="1" dirty="0">
                <a:latin typeface="Liberation Sans" panose="020B0604020202020204" pitchFamily="34" charset="0"/>
              </a:rPr>
              <a:t>sold</a:t>
            </a:r>
            <a:r>
              <a:rPr lang="en-US" altLang="en-US" dirty="0">
                <a:latin typeface="Liberation Sans" panose="020B0604020202020204" pitchFamily="34" charset="0"/>
              </a:rPr>
              <a:t> during the period. </a:t>
            </a:r>
          </a:p>
          <a:p>
            <a:pPr marL="682625" indent="-450850" algn="l">
              <a:lnSpc>
                <a:spcPct val="120000"/>
              </a:lnSpc>
              <a:spcBef>
                <a:spcPct val="45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Record purchases in Purchases account. </a:t>
            </a:r>
          </a:p>
          <a:p>
            <a:pPr marL="682625" indent="-450850" algn="l">
              <a:lnSpc>
                <a:spcPct val="120000"/>
              </a:lnSpc>
              <a:spcBef>
                <a:spcPct val="45000"/>
              </a:spcBef>
              <a:buClr>
                <a:srgbClr val="800000"/>
              </a:buClr>
              <a:buSzPct val="80000"/>
              <a:buFont typeface="Wingdings" panose="05000000000000000000" pitchFamily="2" charset="2"/>
              <a:buChar char="u"/>
            </a:pPr>
            <a:r>
              <a:rPr lang="en-US" altLang="en-US" sz="2100" dirty="0">
                <a:latin typeface="Liberation Sans" panose="020B0604020202020204" pitchFamily="34" charset="0"/>
              </a:rPr>
              <a:t>Purchase returns and allowances, Purchase discounts, and Freight costs are recorded in separate accounts.</a:t>
            </a:r>
          </a:p>
        </p:txBody>
      </p:sp>
      <p:sp>
        <p:nvSpPr>
          <p:cNvPr id="7" name="Line 2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8"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Recording Merchandise Transactions</a:t>
            </a:r>
          </a:p>
        </p:txBody>
      </p:sp>
      <p:sp>
        <p:nvSpPr>
          <p:cNvPr id="11"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spTree>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ext Box 3"/>
          <p:cNvSpPr txBox="1">
            <a:spLocks noChangeArrowheads="1"/>
          </p:cNvSpPr>
          <p:nvPr/>
        </p:nvSpPr>
        <p:spPr bwMode="auto">
          <a:xfrm>
            <a:off x="533400" y="1295400"/>
            <a:ext cx="8077200" cy="134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On the basis of the sales invoice (Illustration 5-6) and receipt of the merchandise ordered from PW Audio Supply, Sauk Stereo records the $3,800 purchase as follows.</a:t>
            </a:r>
          </a:p>
        </p:txBody>
      </p:sp>
      <p:sp>
        <p:nvSpPr>
          <p:cNvPr id="990212" name="Text Box 4"/>
          <p:cNvSpPr txBox="1">
            <a:spLocks noChangeArrowheads="1"/>
          </p:cNvSpPr>
          <p:nvPr/>
        </p:nvSpPr>
        <p:spPr bwMode="auto">
          <a:xfrm>
            <a:off x="1752600" y="3055938"/>
            <a:ext cx="6400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744720" algn="r"/>
              </a:tabLst>
              <a:defRPr sz="2000">
                <a:solidFill>
                  <a:schemeClr val="tx1"/>
                </a:solidFill>
                <a:latin typeface="Comic Sans MS" panose="030F0702030302020204" pitchFamily="66" charset="0"/>
              </a:defRPr>
            </a:lvl1pPr>
            <a:lvl2pPr marL="742950" indent="-285750">
              <a:tabLst>
                <a:tab pos="4744720" algn="r"/>
              </a:tabLst>
              <a:defRPr sz="2000">
                <a:solidFill>
                  <a:schemeClr val="tx1"/>
                </a:solidFill>
                <a:latin typeface="Comic Sans MS" panose="030F0702030302020204" pitchFamily="66" charset="0"/>
              </a:defRPr>
            </a:lvl2pPr>
            <a:lvl3pPr marL="1143000" indent="-228600">
              <a:tabLst>
                <a:tab pos="4744720" algn="r"/>
              </a:tabLst>
              <a:defRPr sz="2000">
                <a:solidFill>
                  <a:schemeClr val="tx1"/>
                </a:solidFill>
                <a:latin typeface="Comic Sans MS" panose="030F0702030302020204" pitchFamily="66" charset="0"/>
              </a:defRPr>
            </a:lvl3pPr>
            <a:lvl4pPr marL="1600200" indent="-228600">
              <a:tabLst>
                <a:tab pos="4744720" algn="r"/>
              </a:tabLst>
              <a:defRPr sz="2000">
                <a:solidFill>
                  <a:schemeClr val="tx1"/>
                </a:solidFill>
                <a:latin typeface="Comic Sans MS" panose="030F0702030302020204" pitchFamily="66" charset="0"/>
              </a:defRPr>
            </a:lvl4pPr>
            <a:lvl5pPr marL="2057400" indent="-228600">
              <a:tabLst>
                <a:tab pos="474472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Purchases	3,800</a:t>
            </a:r>
          </a:p>
        </p:txBody>
      </p:sp>
      <p:sp>
        <p:nvSpPr>
          <p:cNvPr id="58373" name="Text Box 5"/>
          <p:cNvSpPr txBox="1">
            <a:spLocks noChangeArrowheads="1"/>
          </p:cNvSpPr>
          <p:nvPr/>
        </p:nvSpPr>
        <p:spPr bwMode="auto">
          <a:xfrm>
            <a:off x="533400" y="3055938"/>
            <a:ext cx="15240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4</a:t>
            </a:r>
          </a:p>
        </p:txBody>
      </p:sp>
      <p:sp>
        <p:nvSpPr>
          <p:cNvPr id="990214" name="Text Box 6"/>
          <p:cNvSpPr txBox="1">
            <a:spLocks noChangeArrowheads="1"/>
          </p:cNvSpPr>
          <p:nvPr/>
        </p:nvSpPr>
        <p:spPr bwMode="auto">
          <a:xfrm>
            <a:off x="1752600" y="3589338"/>
            <a:ext cx="6400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6109970" algn="r"/>
              </a:tabLst>
              <a:defRPr sz="2000">
                <a:solidFill>
                  <a:schemeClr val="tx1"/>
                </a:solidFill>
                <a:latin typeface="Comic Sans MS" panose="030F0702030302020204" pitchFamily="66" charset="0"/>
              </a:defRPr>
            </a:lvl1pPr>
            <a:lvl2pPr marL="742950" indent="-285750">
              <a:tabLst>
                <a:tab pos="4744720" algn="r"/>
                <a:tab pos="6109970" algn="r"/>
              </a:tabLst>
              <a:defRPr sz="2000">
                <a:solidFill>
                  <a:schemeClr val="tx1"/>
                </a:solidFill>
                <a:latin typeface="Comic Sans MS" panose="030F0702030302020204" pitchFamily="66" charset="0"/>
              </a:defRPr>
            </a:lvl2pPr>
            <a:lvl3pPr marL="1143000" indent="-228600">
              <a:tabLst>
                <a:tab pos="4744720" algn="r"/>
                <a:tab pos="6109970" algn="r"/>
              </a:tabLst>
              <a:defRPr sz="2000">
                <a:solidFill>
                  <a:schemeClr val="tx1"/>
                </a:solidFill>
                <a:latin typeface="Comic Sans MS" panose="030F0702030302020204" pitchFamily="66" charset="0"/>
              </a:defRPr>
            </a:lvl3pPr>
            <a:lvl4pPr marL="1600200" indent="-228600">
              <a:tabLst>
                <a:tab pos="4744720" algn="r"/>
                <a:tab pos="6109970" algn="r"/>
              </a:tabLst>
              <a:defRPr sz="2000">
                <a:solidFill>
                  <a:schemeClr val="tx1"/>
                </a:solidFill>
                <a:latin typeface="Comic Sans MS" panose="030F0702030302020204" pitchFamily="66" charset="0"/>
              </a:defRPr>
            </a:lvl4pPr>
            <a:lvl5pPr marL="2057400" indent="-228600">
              <a:tabLst>
                <a:tab pos="4744720" algn="r"/>
                <a:tab pos="610997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Accounts Payable  		3,800</a:t>
            </a:r>
          </a:p>
        </p:txBody>
      </p:sp>
      <p:sp>
        <p:nvSpPr>
          <p:cNvPr id="12" name="Line 2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3"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Recording Purchases of Merchandise</a:t>
            </a:r>
          </a:p>
        </p:txBody>
      </p:sp>
      <p:sp>
        <p:nvSpPr>
          <p:cNvPr id="14"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0212"/>
                                        </p:tgtEl>
                                        <p:attrNameLst>
                                          <p:attrName>style.visibility</p:attrName>
                                        </p:attrNameLst>
                                      </p:cBhvr>
                                      <p:to>
                                        <p:strVal val="visible"/>
                                      </p:to>
                                    </p:set>
                                    <p:animEffect transition="in" filter="wipe(left)">
                                      <p:cBhvr>
                                        <p:cTn id="7" dur="500"/>
                                        <p:tgtEl>
                                          <p:spTgt spid="9902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0214"/>
                                        </p:tgtEl>
                                        <p:attrNameLst>
                                          <p:attrName>style.visibility</p:attrName>
                                        </p:attrNameLst>
                                      </p:cBhvr>
                                      <p:to>
                                        <p:strVal val="visible"/>
                                      </p:to>
                                    </p:set>
                                    <p:animEffect transition="in" filter="wipe(left)">
                                      <p:cBhvr>
                                        <p:cTn id="12" dur="500"/>
                                        <p:tgtEl>
                                          <p:spTgt spid="990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0212" grpId="0" autoUpdateAnimBg="0"/>
      <p:bldP spid="990214"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4"/>
          <p:cNvSpPr txBox="1">
            <a:spLocks noChangeArrowheads="1"/>
          </p:cNvSpPr>
          <p:nvPr/>
        </p:nvSpPr>
        <p:spPr bwMode="auto">
          <a:xfrm>
            <a:off x="533400" y="1905000"/>
            <a:ext cx="7924800" cy="134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If Sauk pays Public Freight Company $150</a:t>
            </a:r>
          </a:p>
          <a:p>
            <a:pPr algn="l">
              <a:lnSpc>
                <a:spcPct val="125000"/>
              </a:lnSpc>
            </a:pPr>
            <a:r>
              <a:rPr lang="en-US" altLang="en-US" sz="2200" dirty="0">
                <a:latin typeface="Liberation Sans" panose="020B0604020202020204" pitchFamily="34" charset="0"/>
              </a:rPr>
              <a:t>for freight charges on its purchase from PW Audio Supply on May 6, the entry on Sauk’s books is:</a:t>
            </a:r>
          </a:p>
        </p:txBody>
      </p:sp>
      <p:sp>
        <p:nvSpPr>
          <p:cNvPr id="931845" name="Text Box 5"/>
          <p:cNvSpPr txBox="1">
            <a:spLocks noChangeArrowheads="1"/>
          </p:cNvSpPr>
          <p:nvPr/>
        </p:nvSpPr>
        <p:spPr bwMode="auto">
          <a:xfrm>
            <a:off x="1752600" y="3673475"/>
            <a:ext cx="6400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914900" algn="r"/>
              </a:tabLst>
              <a:defRPr sz="2000">
                <a:solidFill>
                  <a:schemeClr val="tx1"/>
                </a:solidFill>
                <a:latin typeface="Comic Sans MS" panose="030F0702030302020204" pitchFamily="66" charset="0"/>
              </a:defRPr>
            </a:lvl1pPr>
            <a:lvl2pPr marL="742950" indent="-285750">
              <a:tabLst>
                <a:tab pos="4914900" algn="r"/>
              </a:tabLst>
              <a:defRPr sz="2000">
                <a:solidFill>
                  <a:schemeClr val="tx1"/>
                </a:solidFill>
                <a:latin typeface="Comic Sans MS" panose="030F0702030302020204" pitchFamily="66" charset="0"/>
              </a:defRPr>
            </a:lvl2pPr>
            <a:lvl3pPr marL="1143000" indent="-228600">
              <a:tabLst>
                <a:tab pos="4914900" algn="r"/>
              </a:tabLst>
              <a:defRPr sz="2000">
                <a:solidFill>
                  <a:schemeClr val="tx1"/>
                </a:solidFill>
                <a:latin typeface="Comic Sans MS" panose="030F0702030302020204" pitchFamily="66" charset="0"/>
              </a:defRPr>
            </a:lvl3pPr>
            <a:lvl4pPr marL="1600200" indent="-228600">
              <a:tabLst>
                <a:tab pos="4914900" algn="r"/>
              </a:tabLst>
              <a:defRPr sz="2000">
                <a:solidFill>
                  <a:schemeClr val="tx1"/>
                </a:solidFill>
                <a:latin typeface="Comic Sans MS" panose="030F0702030302020204" pitchFamily="66" charset="0"/>
              </a:defRPr>
            </a:lvl4pPr>
            <a:lvl5pPr marL="2057400" indent="-228600">
              <a:tabLst>
                <a:tab pos="49149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rPr>
              <a:t>Freight-In (Transportation-In)</a:t>
            </a:r>
            <a:r>
              <a:rPr lang="en-US" altLang="en-US" sz="2200" dirty="0">
                <a:latin typeface="Liberation Sans" panose="020B0604020202020204" pitchFamily="34" charset="0"/>
                <a:cs typeface="Arial" panose="020B0604020202020204" pitchFamily="34" charset="0"/>
              </a:rPr>
              <a:t>	150</a:t>
            </a:r>
          </a:p>
        </p:txBody>
      </p:sp>
      <p:sp>
        <p:nvSpPr>
          <p:cNvPr id="59396" name="Text Box 6"/>
          <p:cNvSpPr txBox="1">
            <a:spLocks noChangeArrowheads="1"/>
          </p:cNvSpPr>
          <p:nvPr/>
        </p:nvSpPr>
        <p:spPr bwMode="auto">
          <a:xfrm>
            <a:off x="533400" y="3673475"/>
            <a:ext cx="15240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6</a:t>
            </a:r>
          </a:p>
        </p:txBody>
      </p:sp>
      <p:sp>
        <p:nvSpPr>
          <p:cNvPr id="931847" name="Text Box 7"/>
          <p:cNvSpPr txBox="1">
            <a:spLocks noChangeArrowheads="1"/>
          </p:cNvSpPr>
          <p:nvPr/>
        </p:nvSpPr>
        <p:spPr bwMode="auto">
          <a:xfrm>
            <a:off x="1752600" y="4206875"/>
            <a:ext cx="6400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6109970" algn="r"/>
              </a:tabLst>
              <a:defRPr sz="2000">
                <a:solidFill>
                  <a:schemeClr val="tx1"/>
                </a:solidFill>
                <a:latin typeface="Comic Sans MS" panose="030F0702030302020204" pitchFamily="66" charset="0"/>
              </a:defRPr>
            </a:lvl1pPr>
            <a:lvl2pPr marL="742950" indent="-285750">
              <a:tabLst>
                <a:tab pos="4744720" algn="r"/>
                <a:tab pos="6109970" algn="r"/>
              </a:tabLst>
              <a:defRPr sz="2000">
                <a:solidFill>
                  <a:schemeClr val="tx1"/>
                </a:solidFill>
                <a:latin typeface="Comic Sans MS" panose="030F0702030302020204" pitchFamily="66" charset="0"/>
              </a:defRPr>
            </a:lvl2pPr>
            <a:lvl3pPr marL="1143000" indent="-228600">
              <a:tabLst>
                <a:tab pos="4744720" algn="r"/>
                <a:tab pos="6109970" algn="r"/>
              </a:tabLst>
              <a:defRPr sz="2000">
                <a:solidFill>
                  <a:schemeClr val="tx1"/>
                </a:solidFill>
                <a:latin typeface="Comic Sans MS" panose="030F0702030302020204" pitchFamily="66" charset="0"/>
              </a:defRPr>
            </a:lvl3pPr>
            <a:lvl4pPr marL="1600200" indent="-228600">
              <a:tabLst>
                <a:tab pos="4744720" algn="r"/>
                <a:tab pos="6109970" algn="r"/>
              </a:tabLst>
              <a:defRPr sz="2000">
                <a:solidFill>
                  <a:schemeClr val="tx1"/>
                </a:solidFill>
                <a:latin typeface="Comic Sans MS" panose="030F0702030302020204" pitchFamily="66" charset="0"/>
              </a:defRPr>
            </a:lvl4pPr>
            <a:lvl5pPr marL="2057400" indent="-228600">
              <a:tabLst>
                <a:tab pos="4744720" algn="r"/>
                <a:tab pos="610997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Cash  		150</a:t>
            </a:r>
          </a:p>
        </p:txBody>
      </p:sp>
      <p:sp>
        <p:nvSpPr>
          <p:cNvPr id="59399" name="Text Box 12"/>
          <p:cNvSpPr txBox="1">
            <a:spLocks noChangeArrowheads="1"/>
          </p:cNvSpPr>
          <p:nvPr/>
        </p:nvSpPr>
        <p:spPr bwMode="auto">
          <a:xfrm>
            <a:off x="533400" y="1295400"/>
            <a:ext cx="79248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2800" b="1" dirty="0">
                <a:latin typeface="Liberation Sans" panose="020B0604020202020204" pitchFamily="34" charset="0"/>
              </a:rPr>
              <a:t>FREIGHT COSTS</a:t>
            </a:r>
          </a:p>
        </p:txBody>
      </p:sp>
      <p:sp>
        <p:nvSpPr>
          <p:cNvPr id="12" name="Line 2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3"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Recording Purchases of Merchandise</a:t>
            </a:r>
          </a:p>
        </p:txBody>
      </p:sp>
      <p:sp>
        <p:nvSpPr>
          <p:cNvPr id="14"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1845"/>
                                        </p:tgtEl>
                                        <p:attrNameLst>
                                          <p:attrName>style.visibility</p:attrName>
                                        </p:attrNameLst>
                                      </p:cBhvr>
                                      <p:to>
                                        <p:strVal val="visible"/>
                                      </p:to>
                                    </p:set>
                                    <p:animEffect transition="in" filter="wipe(left)">
                                      <p:cBhvr>
                                        <p:cTn id="7" dur="500"/>
                                        <p:tgtEl>
                                          <p:spTgt spid="9318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1847"/>
                                        </p:tgtEl>
                                        <p:attrNameLst>
                                          <p:attrName>style.visibility</p:attrName>
                                        </p:attrNameLst>
                                      </p:cBhvr>
                                      <p:to>
                                        <p:strVal val="visible"/>
                                      </p:to>
                                    </p:set>
                                    <p:animEffect transition="in" filter="wipe(left)">
                                      <p:cBhvr>
                                        <p:cTn id="12" dur="500"/>
                                        <p:tgtEl>
                                          <p:spTgt spid="931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45" grpId="0" autoUpdateAnimBg="0"/>
      <p:bldP spid="931847"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3" name="Text Box 5"/>
          <p:cNvSpPr txBox="1">
            <a:spLocks noChangeArrowheads="1"/>
          </p:cNvSpPr>
          <p:nvPr/>
        </p:nvSpPr>
        <p:spPr bwMode="auto">
          <a:xfrm>
            <a:off x="1752600" y="3663950"/>
            <a:ext cx="6400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914900" algn="r"/>
              </a:tabLst>
              <a:defRPr sz="2000">
                <a:solidFill>
                  <a:schemeClr val="tx1"/>
                </a:solidFill>
                <a:latin typeface="Comic Sans MS" panose="030F0702030302020204" pitchFamily="66" charset="0"/>
              </a:defRPr>
            </a:lvl1pPr>
            <a:lvl2pPr marL="742950" indent="-285750">
              <a:tabLst>
                <a:tab pos="4914900" algn="r"/>
              </a:tabLst>
              <a:defRPr sz="2000">
                <a:solidFill>
                  <a:schemeClr val="tx1"/>
                </a:solidFill>
                <a:latin typeface="Comic Sans MS" panose="030F0702030302020204" pitchFamily="66" charset="0"/>
              </a:defRPr>
            </a:lvl2pPr>
            <a:lvl3pPr marL="1143000" indent="-228600">
              <a:tabLst>
                <a:tab pos="4914900" algn="r"/>
              </a:tabLst>
              <a:defRPr sz="2000">
                <a:solidFill>
                  <a:schemeClr val="tx1"/>
                </a:solidFill>
                <a:latin typeface="Comic Sans MS" panose="030F0702030302020204" pitchFamily="66" charset="0"/>
              </a:defRPr>
            </a:lvl3pPr>
            <a:lvl4pPr marL="1600200" indent="-228600">
              <a:tabLst>
                <a:tab pos="4914900" algn="r"/>
              </a:tabLst>
              <a:defRPr sz="2000">
                <a:solidFill>
                  <a:schemeClr val="tx1"/>
                </a:solidFill>
                <a:latin typeface="Comic Sans MS" panose="030F0702030302020204" pitchFamily="66" charset="0"/>
              </a:defRPr>
            </a:lvl4pPr>
            <a:lvl5pPr marL="2057400" indent="-228600">
              <a:tabLst>
                <a:tab pos="49149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rPr>
              <a:t>Accounts payable</a:t>
            </a:r>
            <a:r>
              <a:rPr lang="en-US" altLang="en-US" sz="2200" dirty="0">
                <a:latin typeface="Liberation Sans" panose="020B0604020202020204" pitchFamily="34" charset="0"/>
                <a:cs typeface="Arial" panose="020B0604020202020204" pitchFamily="34" charset="0"/>
              </a:rPr>
              <a:t>	300</a:t>
            </a:r>
          </a:p>
        </p:txBody>
      </p:sp>
      <p:sp>
        <p:nvSpPr>
          <p:cNvPr id="60419" name="Text Box 6"/>
          <p:cNvSpPr txBox="1">
            <a:spLocks noChangeArrowheads="1"/>
          </p:cNvSpPr>
          <p:nvPr/>
        </p:nvSpPr>
        <p:spPr bwMode="auto">
          <a:xfrm>
            <a:off x="533400" y="3663950"/>
            <a:ext cx="15240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8</a:t>
            </a:r>
          </a:p>
        </p:txBody>
      </p:sp>
      <p:sp>
        <p:nvSpPr>
          <p:cNvPr id="933895" name="Text Box 7"/>
          <p:cNvSpPr txBox="1">
            <a:spLocks noChangeArrowheads="1"/>
          </p:cNvSpPr>
          <p:nvPr/>
        </p:nvSpPr>
        <p:spPr bwMode="auto">
          <a:xfrm>
            <a:off x="1752600" y="4197350"/>
            <a:ext cx="6934200" cy="43021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6109970" algn="r"/>
              </a:tabLst>
              <a:defRPr sz="2000">
                <a:solidFill>
                  <a:schemeClr val="tx1"/>
                </a:solidFill>
                <a:latin typeface="Comic Sans MS" panose="030F0702030302020204" pitchFamily="66" charset="0"/>
              </a:defRPr>
            </a:lvl1pPr>
            <a:lvl2pPr marL="742950" indent="-285750">
              <a:tabLst>
                <a:tab pos="4744720" algn="r"/>
                <a:tab pos="6109970" algn="r"/>
              </a:tabLst>
              <a:defRPr sz="2000">
                <a:solidFill>
                  <a:schemeClr val="tx1"/>
                </a:solidFill>
                <a:latin typeface="Comic Sans MS" panose="030F0702030302020204" pitchFamily="66" charset="0"/>
              </a:defRPr>
            </a:lvl2pPr>
            <a:lvl3pPr marL="1143000" indent="-228600">
              <a:tabLst>
                <a:tab pos="4744720" algn="r"/>
                <a:tab pos="6109970" algn="r"/>
              </a:tabLst>
              <a:defRPr sz="2000">
                <a:solidFill>
                  <a:schemeClr val="tx1"/>
                </a:solidFill>
                <a:latin typeface="Comic Sans MS" panose="030F0702030302020204" pitchFamily="66" charset="0"/>
              </a:defRPr>
            </a:lvl3pPr>
            <a:lvl4pPr marL="1600200" indent="-228600">
              <a:tabLst>
                <a:tab pos="4744720" algn="r"/>
                <a:tab pos="6109970" algn="r"/>
              </a:tabLst>
              <a:defRPr sz="2000">
                <a:solidFill>
                  <a:schemeClr val="tx1"/>
                </a:solidFill>
                <a:latin typeface="Comic Sans MS" panose="030F0702030302020204" pitchFamily="66" charset="0"/>
              </a:defRPr>
            </a:lvl4pPr>
            <a:lvl5pPr marL="2057400" indent="-228600">
              <a:tabLst>
                <a:tab pos="4744720" algn="r"/>
                <a:tab pos="610997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rPr>
              <a:t>Purchase Returns and Allowances</a:t>
            </a:r>
            <a:r>
              <a:rPr lang="en-US" altLang="en-US" sz="2200" dirty="0">
                <a:latin typeface="Liberation Sans" panose="020B0604020202020204" pitchFamily="34" charset="0"/>
                <a:cs typeface="Arial" panose="020B0604020202020204" pitchFamily="34" charset="0"/>
              </a:rPr>
              <a:t> 	300</a:t>
            </a:r>
          </a:p>
        </p:txBody>
      </p:sp>
      <p:sp>
        <p:nvSpPr>
          <p:cNvPr id="60421" name="Text Box 8"/>
          <p:cNvSpPr txBox="1">
            <a:spLocks noChangeArrowheads="1"/>
          </p:cNvSpPr>
          <p:nvPr/>
        </p:nvSpPr>
        <p:spPr bwMode="auto">
          <a:xfrm>
            <a:off x="533400" y="1295400"/>
            <a:ext cx="7467600" cy="483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05000"/>
              </a:lnSpc>
              <a:spcBef>
                <a:spcPct val="30000"/>
              </a:spcBef>
              <a:buSzPct val="80000"/>
            </a:pPr>
            <a:r>
              <a:rPr lang="en-US" altLang="en-US" sz="2600" b="1" dirty="0">
                <a:latin typeface="Liberation Sans" panose="020B0604020202020204" pitchFamily="34" charset="0"/>
              </a:rPr>
              <a:t>PURCHASE RETURNS AND ALLOWANCES</a:t>
            </a:r>
          </a:p>
        </p:txBody>
      </p:sp>
      <p:sp>
        <p:nvSpPr>
          <p:cNvPr id="60423" name="Text Box 13"/>
          <p:cNvSpPr txBox="1">
            <a:spLocks noChangeArrowheads="1"/>
          </p:cNvSpPr>
          <p:nvPr/>
        </p:nvSpPr>
        <p:spPr bwMode="auto">
          <a:xfrm>
            <a:off x="533400" y="1903412"/>
            <a:ext cx="7924800" cy="134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Sauk Stereo returns $300 of goods to PW Audio Supply and prepares the following entry to recognize the return.</a:t>
            </a:r>
          </a:p>
        </p:txBody>
      </p:sp>
      <p:sp>
        <p:nvSpPr>
          <p:cNvPr id="12" name="Line 2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3"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Recording Purchases of Merchandise</a:t>
            </a:r>
          </a:p>
        </p:txBody>
      </p:sp>
      <p:sp>
        <p:nvSpPr>
          <p:cNvPr id="14"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3893"/>
                                        </p:tgtEl>
                                        <p:attrNameLst>
                                          <p:attrName>style.visibility</p:attrName>
                                        </p:attrNameLst>
                                      </p:cBhvr>
                                      <p:to>
                                        <p:strVal val="visible"/>
                                      </p:to>
                                    </p:set>
                                    <p:animEffect transition="in" filter="wipe(left)">
                                      <p:cBhvr>
                                        <p:cTn id="7" dur="500"/>
                                        <p:tgtEl>
                                          <p:spTgt spid="9338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3895"/>
                                        </p:tgtEl>
                                        <p:attrNameLst>
                                          <p:attrName>style.visibility</p:attrName>
                                        </p:attrNameLst>
                                      </p:cBhvr>
                                      <p:to>
                                        <p:strVal val="visible"/>
                                      </p:to>
                                    </p:set>
                                    <p:animEffect transition="in" filter="wipe(left)">
                                      <p:cBhvr>
                                        <p:cTn id="12" dur="500"/>
                                        <p:tgtEl>
                                          <p:spTgt spid="933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893" grpId="0" autoUpdateAnimBg="0"/>
      <p:bldP spid="933895"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41" name="Text Box 5"/>
          <p:cNvSpPr txBox="1">
            <a:spLocks noChangeArrowheads="1"/>
          </p:cNvSpPr>
          <p:nvPr/>
        </p:nvSpPr>
        <p:spPr bwMode="auto">
          <a:xfrm>
            <a:off x="1828800" y="3922712"/>
            <a:ext cx="6400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914900" algn="r"/>
              </a:tabLst>
              <a:defRPr sz="2000">
                <a:solidFill>
                  <a:schemeClr val="tx1"/>
                </a:solidFill>
                <a:latin typeface="Comic Sans MS" panose="030F0702030302020204" pitchFamily="66" charset="0"/>
              </a:defRPr>
            </a:lvl1pPr>
            <a:lvl2pPr marL="742950" indent="-285750">
              <a:tabLst>
                <a:tab pos="4914900" algn="r"/>
              </a:tabLst>
              <a:defRPr sz="2000">
                <a:solidFill>
                  <a:schemeClr val="tx1"/>
                </a:solidFill>
                <a:latin typeface="Comic Sans MS" panose="030F0702030302020204" pitchFamily="66" charset="0"/>
              </a:defRPr>
            </a:lvl2pPr>
            <a:lvl3pPr marL="1143000" indent="-228600">
              <a:tabLst>
                <a:tab pos="4914900" algn="r"/>
              </a:tabLst>
              <a:defRPr sz="2000">
                <a:solidFill>
                  <a:schemeClr val="tx1"/>
                </a:solidFill>
                <a:latin typeface="Comic Sans MS" panose="030F0702030302020204" pitchFamily="66" charset="0"/>
              </a:defRPr>
            </a:lvl3pPr>
            <a:lvl4pPr marL="1600200" indent="-228600">
              <a:tabLst>
                <a:tab pos="4914900" algn="r"/>
              </a:tabLst>
              <a:defRPr sz="2000">
                <a:solidFill>
                  <a:schemeClr val="tx1"/>
                </a:solidFill>
                <a:latin typeface="Comic Sans MS" panose="030F0702030302020204" pitchFamily="66" charset="0"/>
              </a:defRPr>
            </a:lvl4pPr>
            <a:lvl5pPr marL="2057400" indent="-228600">
              <a:tabLst>
                <a:tab pos="49149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rPr>
              <a:t>Accounts Payable</a:t>
            </a:r>
            <a:r>
              <a:rPr lang="en-US" altLang="en-US" sz="2200" dirty="0">
                <a:latin typeface="Liberation Sans" panose="020B0604020202020204" pitchFamily="34" charset="0"/>
                <a:cs typeface="Arial" panose="020B0604020202020204" pitchFamily="34" charset="0"/>
              </a:rPr>
              <a:t>	3,500</a:t>
            </a:r>
          </a:p>
        </p:txBody>
      </p:sp>
      <p:sp>
        <p:nvSpPr>
          <p:cNvPr id="61443" name="Text Box 6"/>
          <p:cNvSpPr txBox="1">
            <a:spLocks noChangeArrowheads="1"/>
          </p:cNvSpPr>
          <p:nvPr/>
        </p:nvSpPr>
        <p:spPr bwMode="auto">
          <a:xfrm>
            <a:off x="533400" y="3922712"/>
            <a:ext cx="15240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14</a:t>
            </a:r>
          </a:p>
        </p:txBody>
      </p:sp>
      <p:sp>
        <p:nvSpPr>
          <p:cNvPr id="935943" name="Text Box 7"/>
          <p:cNvSpPr txBox="1">
            <a:spLocks noChangeArrowheads="1"/>
          </p:cNvSpPr>
          <p:nvPr/>
        </p:nvSpPr>
        <p:spPr bwMode="auto">
          <a:xfrm>
            <a:off x="1828800" y="4456112"/>
            <a:ext cx="6400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6109970" algn="r"/>
              </a:tabLst>
              <a:defRPr sz="2000">
                <a:solidFill>
                  <a:schemeClr val="tx1"/>
                </a:solidFill>
                <a:latin typeface="Comic Sans MS" panose="030F0702030302020204" pitchFamily="66" charset="0"/>
              </a:defRPr>
            </a:lvl1pPr>
            <a:lvl2pPr marL="742950" indent="-285750">
              <a:tabLst>
                <a:tab pos="4744720" algn="r"/>
                <a:tab pos="6109970" algn="r"/>
              </a:tabLst>
              <a:defRPr sz="2000">
                <a:solidFill>
                  <a:schemeClr val="tx1"/>
                </a:solidFill>
                <a:latin typeface="Comic Sans MS" panose="030F0702030302020204" pitchFamily="66" charset="0"/>
              </a:defRPr>
            </a:lvl2pPr>
            <a:lvl3pPr marL="1143000" indent="-228600">
              <a:tabLst>
                <a:tab pos="4744720" algn="r"/>
                <a:tab pos="6109970" algn="r"/>
              </a:tabLst>
              <a:defRPr sz="2000">
                <a:solidFill>
                  <a:schemeClr val="tx1"/>
                </a:solidFill>
                <a:latin typeface="Comic Sans MS" panose="030F0702030302020204" pitchFamily="66" charset="0"/>
              </a:defRPr>
            </a:lvl3pPr>
            <a:lvl4pPr marL="1600200" indent="-228600">
              <a:tabLst>
                <a:tab pos="4744720" algn="r"/>
                <a:tab pos="6109970" algn="r"/>
              </a:tabLst>
              <a:defRPr sz="2000">
                <a:solidFill>
                  <a:schemeClr val="tx1"/>
                </a:solidFill>
                <a:latin typeface="Comic Sans MS" panose="030F0702030302020204" pitchFamily="66" charset="0"/>
              </a:defRPr>
            </a:lvl4pPr>
            <a:lvl5pPr marL="2057400" indent="-228600">
              <a:tabLst>
                <a:tab pos="4744720" algn="r"/>
                <a:tab pos="610997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rPr>
              <a:t>Purchase Discounts</a:t>
            </a:r>
            <a:r>
              <a:rPr lang="en-US" altLang="en-US" sz="2200" dirty="0">
                <a:latin typeface="Liberation Sans" panose="020B0604020202020204" pitchFamily="34" charset="0"/>
                <a:cs typeface="Arial" panose="020B0604020202020204" pitchFamily="34" charset="0"/>
              </a:rPr>
              <a:t> 		70</a:t>
            </a:r>
          </a:p>
        </p:txBody>
      </p:sp>
      <p:sp>
        <p:nvSpPr>
          <p:cNvPr id="61445" name="Text Box 8"/>
          <p:cNvSpPr txBox="1">
            <a:spLocks noChangeArrowheads="1"/>
          </p:cNvSpPr>
          <p:nvPr/>
        </p:nvSpPr>
        <p:spPr bwMode="auto">
          <a:xfrm>
            <a:off x="533400" y="1295400"/>
            <a:ext cx="6248400" cy="483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05000"/>
              </a:lnSpc>
              <a:spcBef>
                <a:spcPct val="30000"/>
              </a:spcBef>
              <a:buSzPct val="80000"/>
            </a:pPr>
            <a:r>
              <a:rPr lang="en-US" altLang="en-US" sz="2600" b="1" dirty="0">
                <a:latin typeface="Liberation Sans" panose="020B0604020202020204" pitchFamily="34" charset="0"/>
              </a:rPr>
              <a:t>PURCHASE DISCOUNTS</a:t>
            </a:r>
          </a:p>
        </p:txBody>
      </p:sp>
      <p:sp>
        <p:nvSpPr>
          <p:cNvPr id="935945" name="Text Box 9"/>
          <p:cNvSpPr txBox="1">
            <a:spLocks noChangeArrowheads="1"/>
          </p:cNvSpPr>
          <p:nvPr/>
        </p:nvSpPr>
        <p:spPr bwMode="auto">
          <a:xfrm>
            <a:off x="1828800" y="4959350"/>
            <a:ext cx="6400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6109970" algn="r"/>
              </a:tabLst>
              <a:defRPr sz="2000">
                <a:solidFill>
                  <a:schemeClr val="tx1"/>
                </a:solidFill>
                <a:latin typeface="Comic Sans MS" panose="030F0702030302020204" pitchFamily="66" charset="0"/>
              </a:defRPr>
            </a:lvl1pPr>
            <a:lvl2pPr marL="742950" indent="-285750">
              <a:tabLst>
                <a:tab pos="4744720" algn="r"/>
                <a:tab pos="6109970" algn="r"/>
              </a:tabLst>
              <a:defRPr sz="2000">
                <a:solidFill>
                  <a:schemeClr val="tx1"/>
                </a:solidFill>
                <a:latin typeface="Comic Sans MS" panose="030F0702030302020204" pitchFamily="66" charset="0"/>
              </a:defRPr>
            </a:lvl2pPr>
            <a:lvl3pPr marL="1143000" indent="-228600">
              <a:tabLst>
                <a:tab pos="4744720" algn="r"/>
                <a:tab pos="6109970" algn="r"/>
              </a:tabLst>
              <a:defRPr sz="2000">
                <a:solidFill>
                  <a:schemeClr val="tx1"/>
                </a:solidFill>
                <a:latin typeface="Comic Sans MS" panose="030F0702030302020204" pitchFamily="66" charset="0"/>
              </a:defRPr>
            </a:lvl3pPr>
            <a:lvl4pPr marL="1600200" indent="-228600">
              <a:tabLst>
                <a:tab pos="4744720" algn="r"/>
                <a:tab pos="6109970" algn="r"/>
              </a:tabLst>
              <a:defRPr sz="2000">
                <a:solidFill>
                  <a:schemeClr val="tx1"/>
                </a:solidFill>
                <a:latin typeface="Comic Sans MS" panose="030F0702030302020204" pitchFamily="66" charset="0"/>
              </a:defRPr>
            </a:lvl4pPr>
            <a:lvl5pPr marL="2057400" indent="-228600">
              <a:tabLst>
                <a:tab pos="4744720" algn="r"/>
                <a:tab pos="610997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rPr>
              <a:t>Cash	</a:t>
            </a:r>
            <a:r>
              <a:rPr lang="en-US" altLang="en-US" sz="2200" dirty="0">
                <a:latin typeface="Liberation Sans" panose="020B0604020202020204" pitchFamily="34" charset="0"/>
                <a:cs typeface="Arial" panose="020B0604020202020204" pitchFamily="34" charset="0"/>
              </a:rPr>
              <a:t> 	3,430</a:t>
            </a:r>
          </a:p>
        </p:txBody>
      </p:sp>
      <p:sp>
        <p:nvSpPr>
          <p:cNvPr id="61448" name="Text Box 13"/>
          <p:cNvSpPr txBox="1">
            <a:spLocks noChangeArrowheads="1"/>
          </p:cNvSpPr>
          <p:nvPr/>
        </p:nvSpPr>
        <p:spPr bwMode="auto">
          <a:xfrm>
            <a:off x="533400" y="1903412"/>
            <a:ext cx="79248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On May 14 Sauk Stereo pays the balance due on account to PW Audio Supply, taking the 2% cash discount allowed by PW Audio for payment within 10 days. Sauk</a:t>
            </a:r>
          </a:p>
          <a:p>
            <a:pPr algn="l">
              <a:lnSpc>
                <a:spcPct val="125000"/>
              </a:lnSpc>
            </a:pPr>
            <a:r>
              <a:rPr lang="en-US" altLang="en-US" sz="2200" dirty="0">
                <a:latin typeface="Liberation Sans" panose="020B0604020202020204" pitchFamily="34" charset="0"/>
              </a:rPr>
              <a:t>Stereo records the payment and discount as follows.</a:t>
            </a:r>
          </a:p>
        </p:txBody>
      </p:sp>
      <p:sp>
        <p:nvSpPr>
          <p:cNvPr id="13" name="Line 2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4"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Recording Purchases of Merchandise</a:t>
            </a:r>
          </a:p>
        </p:txBody>
      </p:sp>
      <p:sp>
        <p:nvSpPr>
          <p:cNvPr id="15"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5941"/>
                                        </p:tgtEl>
                                        <p:attrNameLst>
                                          <p:attrName>style.visibility</p:attrName>
                                        </p:attrNameLst>
                                      </p:cBhvr>
                                      <p:to>
                                        <p:strVal val="visible"/>
                                      </p:to>
                                    </p:set>
                                    <p:animEffect transition="in" filter="wipe(left)">
                                      <p:cBhvr>
                                        <p:cTn id="7" dur="500"/>
                                        <p:tgtEl>
                                          <p:spTgt spid="9359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5943"/>
                                        </p:tgtEl>
                                        <p:attrNameLst>
                                          <p:attrName>style.visibility</p:attrName>
                                        </p:attrNameLst>
                                      </p:cBhvr>
                                      <p:to>
                                        <p:strVal val="visible"/>
                                      </p:to>
                                    </p:set>
                                    <p:animEffect transition="in" filter="wipe(left)">
                                      <p:cBhvr>
                                        <p:cTn id="12" dur="500"/>
                                        <p:tgtEl>
                                          <p:spTgt spid="9359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5945"/>
                                        </p:tgtEl>
                                        <p:attrNameLst>
                                          <p:attrName>style.visibility</p:attrName>
                                        </p:attrNameLst>
                                      </p:cBhvr>
                                      <p:to>
                                        <p:strVal val="visible"/>
                                      </p:to>
                                    </p:set>
                                    <p:animEffect transition="in" filter="wipe(left)">
                                      <p:cBhvr>
                                        <p:cTn id="17" dur="500"/>
                                        <p:tgtEl>
                                          <p:spTgt spid="9359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5941" grpId="0" autoUpdateAnimBg="0"/>
      <p:bldP spid="935943" grpId="0" autoUpdateAnimBg="0"/>
      <p:bldP spid="935945"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685800" y="4381500"/>
            <a:ext cx="7543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spcBef>
                <a:spcPct val="50000"/>
              </a:spcBef>
            </a:pPr>
            <a:r>
              <a:rPr lang="en-US" altLang="en-US" b="1" dirty="0">
                <a:solidFill>
                  <a:srgbClr val="800000"/>
                </a:solidFill>
                <a:latin typeface="Liberation Sans" panose="020B0604020202020204" pitchFamily="34" charset="0"/>
              </a:rPr>
              <a:t>No entry is recorded for cost of goods sold at the time of the sale under a periodic system.</a:t>
            </a:r>
          </a:p>
        </p:txBody>
      </p:sp>
      <p:sp>
        <p:nvSpPr>
          <p:cNvPr id="62467" name="Text Box 5"/>
          <p:cNvSpPr txBox="1">
            <a:spLocks noChangeArrowheads="1"/>
          </p:cNvSpPr>
          <p:nvPr/>
        </p:nvSpPr>
        <p:spPr bwMode="auto">
          <a:xfrm>
            <a:off x="533400" y="1295400"/>
            <a:ext cx="8153400" cy="134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PW Audio Supply, records the sale of $3,800 of merchandise to Sauk Stereo on May 4 (sales invoice No. 731, Illustration 5-6) as follows.</a:t>
            </a:r>
          </a:p>
        </p:txBody>
      </p:sp>
      <p:sp>
        <p:nvSpPr>
          <p:cNvPr id="937990" name="Text Box 6"/>
          <p:cNvSpPr txBox="1">
            <a:spLocks noChangeArrowheads="1"/>
          </p:cNvSpPr>
          <p:nvPr/>
        </p:nvSpPr>
        <p:spPr bwMode="auto">
          <a:xfrm>
            <a:off x="1828800" y="3040063"/>
            <a:ext cx="6400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744720" algn="r"/>
              </a:tabLst>
              <a:defRPr sz="2000">
                <a:solidFill>
                  <a:schemeClr val="tx1"/>
                </a:solidFill>
                <a:latin typeface="Comic Sans MS" panose="030F0702030302020204" pitchFamily="66" charset="0"/>
              </a:defRPr>
            </a:lvl1pPr>
            <a:lvl2pPr marL="742950" indent="-285750">
              <a:tabLst>
                <a:tab pos="4744720" algn="r"/>
              </a:tabLst>
              <a:defRPr sz="2000">
                <a:solidFill>
                  <a:schemeClr val="tx1"/>
                </a:solidFill>
                <a:latin typeface="Comic Sans MS" panose="030F0702030302020204" pitchFamily="66" charset="0"/>
              </a:defRPr>
            </a:lvl2pPr>
            <a:lvl3pPr marL="1143000" indent="-228600">
              <a:tabLst>
                <a:tab pos="4744720" algn="r"/>
              </a:tabLst>
              <a:defRPr sz="2000">
                <a:solidFill>
                  <a:schemeClr val="tx1"/>
                </a:solidFill>
                <a:latin typeface="Comic Sans MS" panose="030F0702030302020204" pitchFamily="66" charset="0"/>
              </a:defRPr>
            </a:lvl3pPr>
            <a:lvl4pPr marL="1600200" indent="-228600">
              <a:tabLst>
                <a:tab pos="4744720" algn="r"/>
              </a:tabLst>
              <a:defRPr sz="2000">
                <a:solidFill>
                  <a:schemeClr val="tx1"/>
                </a:solidFill>
                <a:latin typeface="Comic Sans MS" panose="030F0702030302020204" pitchFamily="66" charset="0"/>
              </a:defRPr>
            </a:lvl4pPr>
            <a:lvl5pPr marL="2057400" indent="-228600">
              <a:tabLst>
                <a:tab pos="474472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Accounts Receivable	3,800</a:t>
            </a:r>
          </a:p>
        </p:txBody>
      </p:sp>
      <p:sp>
        <p:nvSpPr>
          <p:cNvPr id="62469" name="Text Box 7"/>
          <p:cNvSpPr txBox="1">
            <a:spLocks noChangeArrowheads="1"/>
          </p:cNvSpPr>
          <p:nvPr/>
        </p:nvSpPr>
        <p:spPr bwMode="auto">
          <a:xfrm>
            <a:off x="533400" y="3040063"/>
            <a:ext cx="15240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4</a:t>
            </a:r>
          </a:p>
        </p:txBody>
      </p:sp>
      <p:sp>
        <p:nvSpPr>
          <p:cNvPr id="937992" name="Text Box 8"/>
          <p:cNvSpPr txBox="1">
            <a:spLocks noChangeArrowheads="1"/>
          </p:cNvSpPr>
          <p:nvPr/>
        </p:nvSpPr>
        <p:spPr bwMode="auto">
          <a:xfrm>
            <a:off x="1828800" y="3573463"/>
            <a:ext cx="6400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6109970" algn="r"/>
              </a:tabLst>
              <a:defRPr sz="2000">
                <a:solidFill>
                  <a:schemeClr val="tx1"/>
                </a:solidFill>
                <a:latin typeface="Comic Sans MS" panose="030F0702030302020204" pitchFamily="66" charset="0"/>
              </a:defRPr>
            </a:lvl1pPr>
            <a:lvl2pPr marL="742950" indent="-285750">
              <a:tabLst>
                <a:tab pos="4744720" algn="r"/>
                <a:tab pos="6109970" algn="r"/>
              </a:tabLst>
              <a:defRPr sz="2000">
                <a:solidFill>
                  <a:schemeClr val="tx1"/>
                </a:solidFill>
                <a:latin typeface="Comic Sans MS" panose="030F0702030302020204" pitchFamily="66" charset="0"/>
              </a:defRPr>
            </a:lvl2pPr>
            <a:lvl3pPr marL="1143000" indent="-228600">
              <a:tabLst>
                <a:tab pos="4744720" algn="r"/>
                <a:tab pos="6109970" algn="r"/>
              </a:tabLst>
              <a:defRPr sz="2000">
                <a:solidFill>
                  <a:schemeClr val="tx1"/>
                </a:solidFill>
                <a:latin typeface="Comic Sans MS" panose="030F0702030302020204" pitchFamily="66" charset="0"/>
              </a:defRPr>
            </a:lvl3pPr>
            <a:lvl4pPr marL="1600200" indent="-228600">
              <a:tabLst>
                <a:tab pos="4744720" algn="r"/>
                <a:tab pos="6109970" algn="r"/>
              </a:tabLst>
              <a:defRPr sz="2000">
                <a:solidFill>
                  <a:schemeClr val="tx1"/>
                </a:solidFill>
                <a:latin typeface="Comic Sans MS" panose="030F0702030302020204" pitchFamily="66" charset="0"/>
              </a:defRPr>
            </a:lvl4pPr>
            <a:lvl5pPr marL="2057400" indent="-228600">
              <a:tabLst>
                <a:tab pos="4744720" algn="r"/>
                <a:tab pos="610997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Sales Revenue  		3,800</a:t>
            </a:r>
          </a:p>
        </p:txBody>
      </p:sp>
      <p:sp>
        <p:nvSpPr>
          <p:cNvPr id="13" name="Line 2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4"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Recording Sales of Merchandise</a:t>
            </a:r>
          </a:p>
        </p:txBody>
      </p:sp>
      <p:sp>
        <p:nvSpPr>
          <p:cNvPr id="15"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7990"/>
                                        </p:tgtEl>
                                        <p:attrNameLst>
                                          <p:attrName>style.visibility</p:attrName>
                                        </p:attrNameLst>
                                      </p:cBhvr>
                                      <p:to>
                                        <p:strVal val="visible"/>
                                      </p:to>
                                    </p:set>
                                    <p:animEffect transition="in" filter="wipe(left)">
                                      <p:cBhvr>
                                        <p:cTn id="7" dur="500"/>
                                        <p:tgtEl>
                                          <p:spTgt spid="9379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7992"/>
                                        </p:tgtEl>
                                        <p:attrNameLst>
                                          <p:attrName>style.visibility</p:attrName>
                                        </p:attrNameLst>
                                      </p:cBhvr>
                                      <p:to>
                                        <p:strVal val="visible"/>
                                      </p:to>
                                    </p:set>
                                    <p:animEffect transition="in" filter="wipe(left)">
                                      <p:cBhvr>
                                        <p:cTn id="12" dur="500"/>
                                        <p:tgtEl>
                                          <p:spTgt spid="937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7990" grpId="0" autoUpdateAnimBg="0"/>
      <p:bldP spid="937992"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3"/>
          <p:cNvSpPr txBox="1">
            <a:spLocks noChangeArrowheads="1"/>
          </p:cNvSpPr>
          <p:nvPr/>
        </p:nvSpPr>
        <p:spPr bwMode="auto">
          <a:xfrm>
            <a:off x="533400" y="1903412"/>
            <a:ext cx="8001000" cy="134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pPr>
            <a:r>
              <a:rPr lang="en-US" altLang="en-US" sz="2200" b="1" dirty="0">
                <a:latin typeface="Liberation Sans" panose="020B0604020202020204" pitchFamily="34" charset="0"/>
              </a:rPr>
              <a:t>Illustration:</a:t>
            </a:r>
            <a:r>
              <a:rPr lang="en-US" altLang="en-US" sz="2200" dirty="0">
                <a:latin typeface="Liberation Sans" panose="020B0604020202020204" pitchFamily="34" charset="0"/>
              </a:rPr>
              <a:t>  To record the returned goods received from Sauk Stereo on May 8, PW Audio Supply records the $300 sales return as follows.</a:t>
            </a:r>
          </a:p>
        </p:txBody>
      </p:sp>
      <p:sp>
        <p:nvSpPr>
          <p:cNvPr id="940036" name="Text Box 4"/>
          <p:cNvSpPr txBox="1">
            <a:spLocks noChangeArrowheads="1"/>
          </p:cNvSpPr>
          <p:nvPr/>
        </p:nvSpPr>
        <p:spPr bwMode="auto">
          <a:xfrm>
            <a:off x="1828800" y="3557587"/>
            <a:ext cx="64008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914900" algn="r"/>
              </a:tabLst>
              <a:defRPr sz="2000">
                <a:solidFill>
                  <a:schemeClr val="tx1"/>
                </a:solidFill>
                <a:latin typeface="Comic Sans MS" panose="030F0702030302020204" pitchFamily="66" charset="0"/>
              </a:defRPr>
            </a:lvl1pPr>
            <a:lvl2pPr marL="742950" indent="-285750">
              <a:tabLst>
                <a:tab pos="4914900" algn="r"/>
              </a:tabLst>
              <a:defRPr sz="2000">
                <a:solidFill>
                  <a:schemeClr val="tx1"/>
                </a:solidFill>
                <a:latin typeface="Comic Sans MS" panose="030F0702030302020204" pitchFamily="66" charset="0"/>
              </a:defRPr>
            </a:lvl2pPr>
            <a:lvl3pPr marL="1143000" indent="-228600">
              <a:tabLst>
                <a:tab pos="4914900" algn="r"/>
              </a:tabLst>
              <a:defRPr sz="2000">
                <a:solidFill>
                  <a:schemeClr val="tx1"/>
                </a:solidFill>
                <a:latin typeface="Comic Sans MS" panose="030F0702030302020204" pitchFamily="66" charset="0"/>
              </a:defRPr>
            </a:lvl3pPr>
            <a:lvl4pPr marL="1600200" indent="-228600">
              <a:tabLst>
                <a:tab pos="4914900" algn="r"/>
              </a:tabLst>
              <a:defRPr sz="2000">
                <a:solidFill>
                  <a:schemeClr val="tx1"/>
                </a:solidFill>
                <a:latin typeface="Comic Sans MS" panose="030F0702030302020204" pitchFamily="66" charset="0"/>
              </a:defRPr>
            </a:lvl4pPr>
            <a:lvl5pPr marL="2057400" indent="-228600">
              <a:tabLst>
                <a:tab pos="49149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9149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rPr>
              <a:t>Sales Returns and Allowances</a:t>
            </a:r>
            <a:r>
              <a:rPr lang="en-US" altLang="en-US" sz="2200" dirty="0">
                <a:latin typeface="Liberation Sans" panose="020B0604020202020204" pitchFamily="34" charset="0"/>
                <a:cs typeface="Arial" panose="020B0604020202020204" pitchFamily="34" charset="0"/>
              </a:rPr>
              <a:t>	300</a:t>
            </a:r>
          </a:p>
        </p:txBody>
      </p:sp>
      <p:sp>
        <p:nvSpPr>
          <p:cNvPr id="63492" name="Text Box 5"/>
          <p:cNvSpPr txBox="1">
            <a:spLocks noChangeArrowheads="1"/>
          </p:cNvSpPr>
          <p:nvPr/>
        </p:nvSpPr>
        <p:spPr bwMode="auto">
          <a:xfrm>
            <a:off x="533400" y="3557587"/>
            <a:ext cx="15240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8</a:t>
            </a:r>
          </a:p>
        </p:txBody>
      </p:sp>
      <p:sp>
        <p:nvSpPr>
          <p:cNvPr id="940038" name="Text Box 6"/>
          <p:cNvSpPr txBox="1">
            <a:spLocks noChangeArrowheads="1"/>
          </p:cNvSpPr>
          <p:nvPr/>
        </p:nvSpPr>
        <p:spPr bwMode="auto">
          <a:xfrm>
            <a:off x="1828800" y="4121150"/>
            <a:ext cx="64008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744720" algn="r"/>
                <a:tab pos="6109970" algn="r"/>
              </a:tabLst>
              <a:defRPr sz="2000">
                <a:solidFill>
                  <a:schemeClr val="tx1"/>
                </a:solidFill>
                <a:latin typeface="Comic Sans MS" panose="030F0702030302020204" pitchFamily="66" charset="0"/>
              </a:defRPr>
            </a:lvl1pPr>
            <a:lvl2pPr marL="742950" indent="-285750">
              <a:tabLst>
                <a:tab pos="4744720" algn="r"/>
                <a:tab pos="6109970" algn="r"/>
              </a:tabLst>
              <a:defRPr sz="2000">
                <a:solidFill>
                  <a:schemeClr val="tx1"/>
                </a:solidFill>
                <a:latin typeface="Comic Sans MS" panose="030F0702030302020204" pitchFamily="66" charset="0"/>
              </a:defRPr>
            </a:lvl2pPr>
            <a:lvl3pPr marL="1143000" indent="-228600">
              <a:tabLst>
                <a:tab pos="4744720" algn="r"/>
                <a:tab pos="6109970" algn="r"/>
              </a:tabLst>
              <a:defRPr sz="2000">
                <a:solidFill>
                  <a:schemeClr val="tx1"/>
                </a:solidFill>
                <a:latin typeface="Comic Sans MS" panose="030F0702030302020204" pitchFamily="66" charset="0"/>
              </a:defRPr>
            </a:lvl3pPr>
            <a:lvl4pPr marL="1600200" indent="-228600">
              <a:tabLst>
                <a:tab pos="4744720" algn="r"/>
                <a:tab pos="6109970" algn="r"/>
              </a:tabLst>
              <a:defRPr sz="2000">
                <a:solidFill>
                  <a:schemeClr val="tx1"/>
                </a:solidFill>
                <a:latin typeface="Comic Sans MS" panose="030F0702030302020204" pitchFamily="66" charset="0"/>
              </a:defRPr>
            </a:lvl4pPr>
            <a:lvl5pPr marL="2057400" indent="-228600">
              <a:tabLst>
                <a:tab pos="4744720" algn="r"/>
                <a:tab pos="610997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744720" algn="r"/>
                <a:tab pos="610997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rPr>
              <a:t>Accounts Receivable</a:t>
            </a:r>
            <a:r>
              <a:rPr lang="en-US" altLang="en-US" sz="2200" dirty="0">
                <a:latin typeface="Liberation Sans" panose="020B0604020202020204" pitchFamily="34" charset="0"/>
                <a:cs typeface="Arial" panose="020B0604020202020204" pitchFamily="34" charset="0"/>
              </a:rPr>
              <a:t> 		300</a:t>
            </a:r>
          </a:p>
        </p:txBody>
      </p:sp>
      <p:sp>
        <p:nvSpPr>
          <p:cNvPr id="63494" name="Text Box 7"/>
          <p:cNvSpPr txBox="1">
            <a:spLocks noChangeArrowheads="1"/>
          </p:cNvSpPr>
          <p:nvPr/>
        </p:nvSpPr>
        <p:spPr bwMode="auto">
          <a:xfrm>
            <a:off x="533400" y="1295400"/>
            <a:ext cx="6248400" cy="483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05000"/>
              </a:lnSpc>
              <a:spcBef>
                <a:spcPct val="30000"/>
              </a:spcBef>
              <a:buSzPct val="80000"/>
            </a:pPr>
            <a:r>
              <a:rPr lang="en-US" altLang="en-US" sz="2600" b="1" dirty="0">
                <a:latin typeface="Liberation Sans" panose="020B0604020202020204" pitchFamily="34" charset="0"/>
              </a:rPr>
              <a:t>SALES RETURNS AND ALLOWANCES</a:t>
            </a:r>
          </a:p>
        </p:txBody>
      </p:sp>
      <p:sp>
        <p:nvSpPr>
          <p:cNvPr id="12" name="Line 2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3"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Recording Sales of Merchandise</a:t>
            </a:r>
          </a:p>
        </p:txBody>
      </p:sp>
      <p:sp>
        <p:nvSpPr>
          <p:cNvPr id="14"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0036"/>
                                        </p:tgtEl>
                                        <p:attrNameLst>
                                          <p:attrName>style.visibility</p:attrName>
                                        </p:attrNameLst>
                                      </p:cBhvr>
                                      <p:to>
                                        <p:strVal val="visible"/>
                                      </p:to>
                                    </p:set>
                                    <p:animEffect transition="in" filter="wipe(left)">
                                      <p:cBhvr>
                                        <p:cTn id="7" dur="500"/>
                                        <p:tgtEl>
                                          <p:spTgt spid="9400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0038"/>
                                        </p:tgtEl>
                                        <p:attrNameLst>
                                          <p:attrName>style.visibility</p:attrName>
                                        </p:attrNameLst>
                                      </p:cBhvr>
                                      <p:to>
                                        <p:strVal val="visible"/>
                                      </p:to>
                                    </p:set>
                                    <p:animEffect transition="in" filter="wipe(left)">
                                      <p:cBhvr>
                                        <p:cTn id="12" dur="500"/>
                                        <p:tgtEl>
                                          <p:spTgt spid="940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0036" grpId="0" autoUpdateAnimBg="0"/>
      <p:bldP spid="940038"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6" name="Text Box 6"/>
          <p:cNvSpPr txBox="1">
            <a:spLocks noChangeArrowheads="1"/>
          </p:cNvSpPr>
          <p:nvPr/>
        </p:nvSpPr>
        <p:spPr bwMode="auto">
          <a:xfrm>
            <a:off x="1905000" y="3898900"/>
            <a:ext cx="65532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Cash	3,430</a:t>
            </a:r>
          </a:p>
        </p:txBody>
      </p:sp>
      <p:sp>
        <p:nvSpPr>
          <p:cNvPr id="64515" name="Text Box 7"/>
          <p:cNvSpPr txBox="1">
            <a:spLocks noChangeArrowheads="1"/>
          </p:cNvSpPr>
          <p:nvPr/>
        </p:nvSpPr>
        <p:spPr bwMode="auto">
          <a:xfrm>
            <a:off x="533400" y="3898900"/>
            <a:ext cx="11430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May 14</a:t>
            </a:r>
          </a:p>
        </p:txBody>
      </p:sp>
      <p:sp>
        <p:nvSpPr>
          <p:cNvPr id="942088" name="Text Box 8"/>
          <p:cNvSpPr txBox="1">
            <a:spLocks noChangeArrowheads="1"/>
          </p:cNvSpPr>
          <p:nvPr/>
        </p:nvSpPr>
        <p:spPr bwMode="auto">
          <a:xfrm>
            <a:off x="1905000" y="4981575"/>
            <a:ext cx="6553200" cy="42703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0375">
              <a:tabLst>
                <a:tab pos="4862195" algn="r"/>
                <a:tab pos="5715000" algn="r"/>
              </a:tabLst>
              <a:defRPr sz="2000">
                <a:solidFill>
                  <a:schemeClr val="tx1"/>
                </a:solidFill>
                <a:latin typeface="Comic Sans MS" panose="030F0702030302020204" pitchFamily="66" charset="0"/>
              </a:defRPr>
            </a:lvl1pPr>
            <a:lvl2pPr marL="742950" indent="-285750">
              <a:tabLst>
                <a:tab pos="4862195" algn="r"/>
                <a:tab pos="5715000" algn="r"/>
              </a:tabLst>
              <a:defRPr sz="2000">
                <a:solidFill>
                  <a:schemeClr val="tx1"/>
                </a:solidFill>
                <a:latin typeface="Comic Sans MS" panose="030F0702030302020204" pitchFamily="66" charset="0"/>
              </a:defRPr>
            </a:lvl2pPr>
            <a:lvl3pPr marL="1143000" indent="-228600">
              <a:tabLst>
                <a:tab pos="4862195" algn="r"/>
                <a:tab pos="5715000" algn="r"/>
              </a:tabLst>
              <a:defRPr sz="2000">
                <a:solidFill>
                  <a:schemeClr val="tx1"/>
                </a:solidFill>
                <a:latin typeface="Comic Sans MS" panose="030F0702030302020204" pitchFamily="66" charset="0"/>
              </a:defRPr>
            </a:lvl3pPr>
            <a:lvl4pPr marL="1600200" indent="-228600">
              <a:tabLst>
                <a:tab pos="4862195" algn="r"/>
                <a:tab pos="5715000" algn="r"/>
              </a:tabLst>
              <a:defRPr sz="2000">
                <a:solidFill>
                  <a:schemeClr val="tx1"/>
                </a:solidFill>
                <a:latin typeface="Comic Sans MS" panose="030F0702030302020204" pitchFamily="66" charset="0"/>
              </a:defRPr>
            </a:lvl4pPr>
            <a:lvl5pPr marL="2057400" indent="-228600">
              <a:tabLst>
                <a:tab pos="4862195" algn="r"/>
                <a:tab pos="5715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862195" algn="r"/>
                <a:tab pos="5715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862195" algn="r"/>
                <a:tab pos="5715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862195" algn="r"/>
                <a:tab pos="5715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862195" algn="r"/>
                <a:tab pos="5715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Accounts Receivable		3,500</a:t>
            </a:r>
          </a:p>
        </p:txBody>
      </p:sp>
      <p:sp>
        <p:nvSpPr>
          <p:cNvPr id="942089" name="Text Box 9"/>
          <p:cNvSpPr txBox="1">
            <a:spLocks noChangeArrowheads="1"/>
          </p:cNvSpPr>
          <p:nvPr/>
        </p:nvSpPr>
        <p:spPr bwMode="auto">
          <a:xfrm>
            <a:off x="1905000" y="4449762"/>
            <a:ext cx="6553200" cy="4270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0" algn="r"/>
              </a:tabLst>
              <a:defRPr sz="2000">
                <a:solidFill>
                  <a:schemeClr val="tx1"/>
                </a:solidFill>
                <a:latin typeface="Comic Sans MS" panose="030F0702030302020204" pitchFamily="66" charset="0"/>
              </a:defRPr>
            </a:lvl1pPr>
            <a:lvl2pPr marL="742950" indent="-285750">
              <a:tabLst>
                <a:tab pos="4572000" algn="r"/>
              </a:tabLst>
              <a:defRPr sz="2000">
                <a:solidFill>
                  <a:schemeClr val="tx1"/>
                </a:solidFill>
                <a:latin typeface="Comic Sans MS" panose="030F0702030302020204" pitchFamily="66" charset="0"/>
              </a:defRPr>
            </a:lvl2pPr>
            <a:lvl3pPr marL="1143000" indent="-228600">
              <a:tabLst>
                <a:tab pos="4572000" algn="r"/>
              </a:tabLst>
              <a:defRPr sz="2000">
                <a:solidFill>
                  <a:schemeClr val="tx1"/>
                </a:solidFill>
                <a:latin typeface="Comic Sans MS" panose="030F0702030302020204" pitchFamily="66" charset="0"/>
              </a:defRPr>
            </a:lvl3pPr>
            <a:lvl4pPr marL="1600200" indent="-228600">
              <a:tabLst>
                <a:tab pos="4572000" algn="r"/>
              </a:tabLst>
              <a:defRPr sz="2000">
                <a:solidFill>
                  <a:schemeClr val="tx1"/>
                </a:solidFill>
                <a:latin typeface="Comic Sans MS" panose="030F0702030302020204" pitchFamily="66" charset="0"/>
              </a:defRPr>
            </a:lvl4pPr>
            <a:lvl5pPr marL="2057400" indent="-228600">
              <a:tabLst>
                <a:tab pos="4572000" algn="r"/>
              </a:tabLst>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4572000" algn="r"/>
              </a:tabLst>
              <a:defRPr sz="2000">
                <a:solidFill>
                  <a:schemeClr val="tx1"/>
                </a:solidFill>
                <a:latin typeface="Comic Sans MS" panose="030F0702030302020204" pitchFamily="66" charset="0"/>
              </a:defRPr>
            </a:lvl9pPr>
          </a:lstStyle>
          <a:p>
            <a:pPr algn="l">
              <a:spcBef>
                <a:spcPct val="50000"/>
              </a:spcBef>
            </a:pPr>
            <a:r>
              <a:rPr lang="en-US" altLang="en-US" sz="2200" dirty="0">
                <a:latin typeface="Liberation Sans" panose="020B0604020202020204" pitchFamily="34" charset="0"/>
                <a:cs typeface="Arial" panose="020B0604020202020204" pitchFamily="34" charset="0"/>
              </a:rPr>
              <a:t>Sales Discounts	70</a:t>
            </a:r>
          </a:p>
        </p:txBody>
      </p:sp>
      <p:sp>
        <p:nvSpPr>
          <p:cNvPr id="64519" name="Text Box 20"/>
          <p:cNvSpPr txBox="1">
            <a:spLocks noChangeArrowheads="1"/>
          </p:cNvSpPr>
          <p:nvPr/>
        </p:nvSpPr>
        <p:spPr bwMode="auto">
          <a:xfrm>
            <a:off x="533400" y="1295400"/>
            <a:ext cx="6248400" cy="483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a:lnSpc>
                <a:spcPct val="105000"/>
              </a:lnSpc>
              <a:spcBef>
                <a:spcPct val="30000"/>
              </a:spcBef>
              <a:buSzPct val="80000"/>
              <a:defRPr sz="2600" b="1">
                <a:latin typeface="Liberation Sans" panose="020B0604020202020204" pitchFamily="34" charset="0"/>
              </a:defRPr>
            </a:lvl1pPr>
            <a:lvl2pPr marL="742950" indent="-285750"/>
            <a:lvl3pPr marL="1143000" indent="-228600"/>
            <a:lvl4pPr marL="1600200" indent="-228600"/>
            <a:lvl5pPr marL="2057400" indent="-228600"/>
            <a:lvl6pPr marL="2514600" indent="-228600" algn="ctr" eaLnBrk="0" fontAlgn="base" hangingPunct="0">
              <a:spcBef>
                <a:spcPct val="0"/>
              </a:spcBef>
              <a:spcAft>
                <a:spcPct val="0"/>
              </a:spcAft>
            </a:lvl6pPr>
            <a:lvl7pPr marL="2971800" indent="-228600" algn="ctr" eaLnBrk="0" fontAlgn="base" hangingPunct="0">
              <a:spcBef>
                <a:spcPct val="0"/>
              </a:spcBef>
              <a:spcAft>
                <a:spcPct val="0"/>
              </a:spcAft>
            </a:lvl7pPr>
            <a:lvl8pPr marL="3429000" indent="-228600" algn="ctr" eaLnBrk="0" fontAlgn="base" hangingPunct="0">
              <a:spcBef>
                <a:spcPct val="0"/>
              </a:spcBef>
              <a:spcAft>
                <a:spcPct val="0"/>
              </a:spcAft>
            </a:lvl8pPr>
            <a:lvl9pPr marL="3886200" indent="-228600" algn="ctr" eaLnBrk="0" fontAlgn="base" hangingPunct="0">
              <a:spcBef>
                <a:spcPct val="0"/>
              </a:spcBef>
              <a:spcAft>
                <a:spcPct val="0"/>
              </a:spcAft>
            </a:lvl9pPr>
          </a:lstStyle>
          <a:p>
            <a:r>
              <a:rPr lang="en-US" altLang="en-US" dirty="0"/>
              <a:t>SALES DISCOUNTS</a:t>
            </a:r>
          </a:p>
        </p:txBody>
      </p:sp>
      <p:sp>
        <p:nvSpPr>
          <p:cNvPr id="64520" name="Text Box 21"/>
          <p:cNvSpPr txBox="1">
            <a:spLocks noChangeArrowheads="1"/>
          </p:cNvSpPr>
          <p:nvPr/>
        </p:nvSpPr>
        <p:spPr bwMode="auto">
          <a:xfrm>
            <a:off x="533400" y="1903412"/>
            <a:ext cx="80010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pPr>
            <a:r>
              <a:rPr lang="en-US" altLang="en-US" sz="2200" b="1" dirty="0">
                <a:latin typeface="Liberation Sans" panose="020B0604020202020204" pitchFamily="34" charset="0"/>
              </a:rPr>
              <a:t>Illustration:  </a:t>
            </a:r>
            <a:r>
              <a:rPr lang="en-US" altLang="en-US" sz="2200" dirty="0">
                <a:latin typeface="Liberation Sans" panose="020B0604020202020204" pitchFamily="34" charset="0"/>
              </a:rPr>
              <a:t>On May 14, PW Audio Supply receives payment of $3,430 on account from Sauk Stereo. PW Audio honors the 2% cash discount and records the payment of Sauk’s account receivable in full as follows.</a:t>
            </a:r>
          </a:p>
        </p:txBody>
      </p:sp>
      <p:sp>
        <p:nvSpPr>
          <p:cNvPr id="13" name="Line 2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4"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Recording Sales of Merchandise</a:t>
            </a:r>
          </a:p>
        </p:txBody>
      </p:sp>
      <p:sp>
        <p:nvSpPr>
          <p:cNvPr id="15"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2086"/>
                                        </p:tgtEl>
                                        <p:attrNameLst>
                                          <p:attrName>style.visibility</p:attrName>
                                        </p:attrNameLst>
                                      </p:cBhvr>
                                      <p:to>
                                        <p:strVal val="visible"/>
                                      </p:to>
                                    </p:set>
                                    <p:animEffect transition="in" filter="wipe(left)">
                                      <p:cBhvr>
                                        <p:cTn id="7" dur="500"/>
                                        <p:tgtEl>
                                          <p:spTgt spid="9420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2089"/>
                                        </p:tgtEl>
                                        <p:attrNameLst>
                                          <p:attrName>style.visibility</p:attrName>
                                        </p:attrNameLst>
                                      </p:cBhvr>
                                      <p:to>
                                        <p:strVal val="visible"/>
                                      </p:to>
                                    </p:set>
                                    <p:animEffect transition="in" filter="wipe(left)">
                                      <p:cBhvr>
                                        <p:cTn id="12" dur="500"/>
                                        <p:tgtEl>
                                          <p:spTgt spid="9420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2088"/>
                                        </p:tgtEl>
                                        <p:attrNameLst>
                                          <p:attrName>style.visibility</p:attrName>
                                        </p:attrNameLst>
                                      </p:cBhvr>
                                      <p:to>
                                        <p:strVal val="visible"/>
                                      </p:to>
                                    </p:set>
                                    <p:animEffect transition="in" filter="wipe(left)">
                                      <p:cBhvr>
                                        <p:cTn id="17" dur="500"/>
                                        <p:tgtEl>
                                          <p:spTgt spid="942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086" grpId="0"/>
      <p:bldP spid="942088" grpId="0"/>
      <p:bldP spid="94208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Text Box 11"/>
          <p:cNvSpPr txBox="1">
            <a:spLocks noChangeArrowheads="1"/>
          </p:cNvSpPr>
          <p:nvPr/>
        </p:nvSpPr>
        <p:spPr bwMode="auto">
          <a:xfrm>
            <a:off x="533400" y="1295400"/>
            <a:ext cx="6248400" cy="483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a:lnSpc>
                <a:spcPct val="105000"/>
              </a:lnSpc>
              <a:spcBef>
                <a:spcPct val="30000"/>
              </a:spcBef>
              <a:buSzPct val="80000"/>
              <a:defRPr sz="2600" b="1">
                <a:latin typeface="Liberation Sans" panose="020B0604020202020204" pitchFamily="34" charset="0"/>
              </a:defRPr>
            </a:lvl1pPr>
            <a:lvl2pPr marL="742950" indent="-285750"/>
            <a:lvl3pPr marL="1143000" indent="-228600"/>
            <a:lvl4pPr marL="1600200" indent="-228600"/>
            <a:lvl5pPr marL="2057400" indent="-228600"/>
            <a:lvl6pPr marL="2514600" indent="-228600" algn="ctr" eaLnBrk="0" fontAlgn="base" hangingPunct="0">
              <a:spcBef>
                <a:spcPct val="0"/>
              </a:spcBef>
              <a:spcAft>
                <a:spcPct val="0"/>
              </a:spcAft>
            </a:lvl6pPr>
            <a:lvl7pPr marL="2971800" indent="-228600" algn="ctr" eaLnBrk="0" fontAlgn="base" hangingPunct="0">
              <a:spcBef>
                <a:spcPct val="0"/>
              </a:spcBef>
              <a:spcAft>
                <a:spcPct val="0"/>
              </a:spcAft>
            </a:lvl7pPr>
            <a:lvl8pPr marL="3429000" indent="-228600" algn="ctr" eaLnBrk="0" fontAlgn="base" hangingPunct="0">
              <a:spcBef>
                <a:spcPct val="0"/>
              </a:spcBef>
              <a:spcAft>
                <a:spcPct val="0"/>
              </a:spcAft>
            </a:lvl8pPr>
            <a:lvl9pPr marL="3886200" indent="-228600" algn="ctr" eaLnBrk="0" fontAlgn="base" hangingPunct="0">
              <a:spcBef>
                <a:spcPct val="0"/>
              </a:spcBef>
              <a:spcAft>
                <a:spcPct val="0"/>
              </a:spcAft>
            </a:lvl9pPr>
          </a:lstStyle>
          <a:p>
            <a:r>
              <a:rPr lang="en-US" altLang="en-US" dirty="0"/>
              <a:t>COMPARISON OF ENTRIES</a:t>
            </a:r>
          </a:p>
        </p:txBody>
      </p:sp>
      <p:sp>
        <p:nvSpPr>
          <p:cNvPr id="65543" name="Rectangle 7"/>
          <p:cNvSpPr>
            <a:spLocks noChangeArrowheads="1"/>
          </p:cNvSpPr>
          <p:nvPr/>
        </p:nvSpPr>
        <p:spPr bwMode="auto">
          <a:xfrm>
            <a:off x="6781800" y="1782763"/>
            <a:ext cx="2133600" cy="274637"/>
          </a:xfrm>
          <a:prstGeom prst="rect">
            <a:avLst/>
          </a:prstGeom>
          <a:solidFill>
            <a:schemeClr val="bg1"/>
          </a:solidFill>
          <a:ln>
            <a:noFill/>
          </a:ln>
          <a:effectLst/>
          <a:extLst>
            <a:ext uri="{91240B29-F687-4F45-9708-019B960494DF}">
              <a14:hiddenLine xmlns:a14="http://schemas.microsoft.com/office/drawing/2010/main" w="28575">
                <a:solidFill>
                  <a:srgbClr val="8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r>
              <a:rPr lang="en-US" altLang="en-US" sz="1200" b="1" dirty="0">
                <a:latin typeface="Arial" panose="020B0604020202020204" pitchFamily="34" charset="0"/>
              </a:rPr>
              <a:t>Illustration 5B-3 </a:t>
            </a:r>
          </a:p>
        </p:txBody>
      </p:sp>
      <p:sp>
        <p:nvSpPr>
          <p:cNvPr id="9" name="Line 2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0"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Recording Sales of Merchandise</a:t>
            </a:r>
          </a:p>
        </p:txBody>
      </p:sp>
      <p:sp>
        <p:nvSpPr>
          <p:cNvPr id="11"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pic>
        <p:nvPicPr>
          <p:cNvPr id="378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2133600"/>
            <a:ext cx="8782050" cy="307371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7" name="Rectangle 7"/>
          <p:cNvSpPr>
            <a:spLocks noChangeArrowheads="1"/>
          </p:cNvSpPr>
          <p:nvPr/>
        </p:nvSpPr>
        <p:spPr bwMode="auto">
          <a:xfrm>
            <a:off x="6781800" y="1782763"/>
            <a:ext cx="2133600" cy="274637"/>
          </a:xfrm>
          <a:prstGeom prst="rect">
            <a:avLst/>
          </a:prstGeom>
          <a:solidFill>
            <a:schemeClr val="bg1"/>
          </a:solidFill>
          <a:ln>
            <a:noFill/>
          </a:ln>
          <a:effectLst/>
          <a:extLst>
            <a:ext uri="{91240B29-F687-4F45-9708-019B960494DF}">
              <a14:hiddenLine xmlns:a14="http://schemas.microsoft.com/office/drawing/2010/main" w="28575">
                <a:solidFill>
                  <a:srgbClr val="8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r"/>
            <a:r>
              <a:rPr lang="en-US" altLang="en-US" sz="1200" b="1" dirty="0">
                <a:latin typeface="Arial" panose="020B0604020202020204" pitchFamily="34" charset="0"/>
              </a:rPr>
              <a:t>Illustration 5B-3 </a:t>
            </a:r>
          </a:p>
        </p:txBody>
      </p:sp>
      <p:sp>
        <p:nvSpPr>
          <p:cNvPr id="9" name="Line 22"/>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10" name="Rectangle 6"/>
          <p:cNvSpPr>
            <a:spLocks noChangeArrowheads="1"/>
          </p:cNvSpPr>
          <p:nvPr/>
        </p:nvSpPr>
        <p:spPr bwMode="auto">
          <a:xfrm>
            <a:off x="533400" y="304800"/>
            <a:ext cx="7620000" cy="560388"/>
          </a:xfrm>
          <a:prstGeom prst="rect">
            <a:avLst/>
          </a:prstGeom>
          <a:noFill/>
          <a:ln>
            <a:noFill/>
          </a:ln>
          <a:effectLst/>
          <a:extLst>
            <a:ext uri="{909E8E84-426E-40DD-AFC4-6F175D3DCCD1}">
              <a14:hiddenFill xmlns:a14="http://schemas.microsoft.com/office/drawing/2010/main">
                <a:solidFill>
                  <a:srgbClr val="9900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buSzPct val="80000"/>
            </a:pPr>
            <a:r>
              <a:rPr lang="en-US" altLang="en-US" sz="3200" b="1" dirty="0">
                <a:solidFill>
                  <a:schemeClr val="tx2">
                    <a:lumMod val="75000"/>
                  </a:schemeClr>
                </a:solidFill>
                <a:latin typeface="Liberation Sans" panose="020B0604020202020204" pitchFamily="34" charset="0"/>
              </a:rPr>
              <a:t>Recording Sales of Merchandise</a:t>
            </a:r>
          </a:p>
        </p:txBody>
      </p:sp>
      <p:sp>
        <p:nvSpPr>
          <p:cNvPr id="11" name="Text Box 11"/>
          <p:cNvSpPr txBox="1">
            <a:spLocks noChangeArrowheads="1"/>
          </p:cNvSpPr>
          <p:nvPr/>
        </p:nvSpPr>
        <p:spPr bwMode="auto">
          <a:xfrm>
            <a:off x="533400" y="1295400"/>
            <a:ext cx="6248400" cy="483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a:lnSpc>
                <a:spcPct val="105000"/>
              </a:lnSpc>
              <a:spcBef>
                <a:spcPct val="30000"/>
              </a:spcBef>
              <a:buSzPct val="80000"/>
              <a:defRPr sz="2600" b="1">
                <a:latin typeface="Liberation Sans" panose="020B0604020202020204" pitchFamily="34" charset="0"/>
              </a:defRPr>
            </a:lvl1pPr>
            <a:lvl2pPr marL="742950" indent="-285750"/>
            <a:lvl3pPr marL="1143000" indent="-228600"/>
            <a:lvl4pPr marL="1600200" indent="-228600"/>
            <a:lvl5pPr marL="2057400" indent="-228600"/>
            <a:lvl6pPr marL="2514600" indent="-228600" algn="ctr" eaLnBrk="0" fontAlgn="base" hangingPunct="0">
              <a:spcBef>
                <a:spcPct val="0"/>
              </a:spcBef>
              <a:spcAft>
                <a:spcPct val="0"/>
              </a:spcAft>
            </a:lvl6pPr>
            <a:lvl7pPr marL="2971800" indent="-228600" algn="ctr" eaLnBrk="0" fontAlgn="base" hangingPunct="0">
              <a:spcBef>
                <a:spcPct val="0"/>
              </a:spcBef>
              <a:spcAft>
                <a:spcPct val="0"/>
              </a:spcAft>
            </a:lvl7pPr>
            <a:lvl8pPr marL="3429000" indent="-228600" algn="ctr" eaLnBrk="0" fontAlgn="base" hangingPunct="0">
              <a:spcBef>
                <a:spcPct val="0"/>
              </a:spcBef>
              <a:spcAft>
                <a:spcPct val="0"/>
              </a:spcAft>
            </a:lvl8pPr>
            <a:lvl9pPr marL="3886200" indent="-228600" algn="ctr" eaLnBrk="0" fontAlgn="base" hangingPunct="0">
              <a:spcBef>
                <a:spcPct val="0"/>
              </a:spcBef>
              <a:spcAft>
                <a:spcPct val="0"/>
              </a:spcAft>
            </a:lvl9pPr>
          </a:lstStyle>
          <a:p>
            <a:r>
              <a:rPr lang="en-US" altLang="en-US" dirty="0"/>
              <a:t>COMPARISON OF ENTRIES</a:t>
            </a:r>
          </a:p>
        </p:txBody>
      </p:sp>
      <p:sp>
        <p:nvSpPr>
          <p:cNvPr id="12"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7</a:t>
            </a:r>
          </a:p>
        </p:txBody>
      </p:sp>
      <p:pic>
        <p:nvPicPr>
          <p:cNvPr id="389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133600"/>
            <a:ext cx="8705850" cy="352864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93" name="Text Box 17"/>
          <p:cNvSpPr txBox="1">
            <a:spLocks noChangeArrowheads="1"/>
          </p:cNvSpPr>
          <p:nvPr/>
        </p:nvSpPr>
        <p:spPr bwMode="auto">
          <a:xfrm>
            <a:off x="228600" y="432137"/>
            <a:ext cx="1524000"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2000">
                <a:solidFill>
                  <a:schemeClr val="tx1"/>
                </a:solidFill>
                <a:latin typeface="Comic Sans MS" panose="030F0702030302020204" pitchFamily="66" charset="0"/>
              </a:defRPr>
            </a:lvl1pPr>
            <a:lvl2pPr marL="742950" indent="-28575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r>
              <a:rPr lang="en-US" altLang="en-US" sz="1200" b="1" dirty="0">
                <a:latin typeface="Liberation Sans" panose="020B0604020202020204" pitchFamily="34" charset="0"/>
              </a:rPr>
              <a:t>Illustration 5B-5</a:t>
            </a:r>
          </a:p>
          <a:p>
            <a:pPr algn="l"/>
            <a:r>
              <a:rPr lang="en-US" altLang="en-US" sz="1200" dirty="0">
                <a:latin typeface="Liberation Sans" panose="020B0604020202020204" pitchFamily="34" charset="0"/>
              </a:rPr>
              <a:t>Worksheet for merchandising</a:t>
            </a:r>
          </a:p>
          <a:p>
            <a:pPr algn="l"/>
            <a:r>
              <a:rPr lang="en-US" altLang="en-US" sz="1200" dirty="0">
                <a:latin typeface="Liberation Sans" panose="020B0604020202020204" pitchFamily="34" charset="0"/>
              </a:rPr>
              <a:t>company—periodic inventory system</a:t>
            </a:r>
            <a:endParaRPr lang="en-US" altLang="en-US" sz="1200" b="1" dirty="0">
              <a:latin typeface="Liberation Sans" panose="020B0604020202020204" pitchFamily="34" charset="0"/>
            </a:endParaRPr>
          </a:p>
        </p:txBody>
      </p:sp>
      <p:pic>
        <p:nvPicPr>
          <p:cNvPr id="399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110" y="304800"/>
            <a:ext cx="6845490" cy="6356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ChangeArrowheads="1"/>
          </p:cNvSpPr>
          <p:nvPr/>
        </p:nvSpPr>
        <p:spPr bwMode="auto">
          <a:xfrm>
            <a:off x="533400" y="2895600"/>
            <a:ext cx="8153400" cy="2884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685800" indent="-457200" algn="l">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257300" indent="-4572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marL="0" lvl="1" indent="0">
              <a:lnSpc>
                <a:spcPct val="115000"/>
              </a:lnSpc>
              <a:spcBef>
                <a:spcPct val="50000"/>
              </a:spcBef>
              <a:buClr>
                <a:srgbClr val="800000"/>
              </a:buClr>
              <a:buSzPct val="80000"/>
              <a:buNone/>
            </a:pPr>
            <a:r>
              <a:rPr lang="en-US" altLang="en-US" sz="1900" dirty="0">
                <a:solidFill>
                  <a:schemeClr val="tx1"/>
                </a:solidFill>
                <a:latin typeface="Liberation Sans" panose="020B0604020202020204" pitchFamily="34" charset="0"/>
              </a:rPr>
              <a:t>Similarities</a:t>
            </a: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Under both GAAP and IFRS, a company can choose to use either a perpetual or a periodic inventory system.</a:t>
            </a: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The definition of inventories is basically the same under GAAP and IFRS.</a:t>
            </a: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As indicated above, the basic accounting entries for merchandising are the same under both GAAP and IFRS.</a:t>
            </a:r>
          </a:p>
        </p:txBody>
      </p:sp>
      <p:sp>
        <p:nvSpPr>
          <p:cNvPr id="62467" name="Rectangle 2"/>
          <p:cNvSpPr>
            <a:spLocks noChangeArrowheads="1"/>
          </p:cNvSpPr>
          <p:nvPr/>
        </p:nvSpPr>
        <p:spPr bwMode="auto">
          <a:xfrm>
            <a:off x="533400" y="2362200"/>
            <a:ext cx="259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l">
              <a:defRPr/>
            </a:pPr>
            <a:r>
              <a:rPr lang="en-US" altLang="en-US" sz="2400" b="1" dirty="0">
                <a:solidFill>
                  <a:schemeClr val="accent6">
                    <a:lumMod val="75000"/>
                  </a:schemeClr>
                </a:solidFill>
                <a:latin typeface="Liberation Sans" panose="020B0604020202020204" pitchFamily="34" charset="0"/>
              </a:rPr>
              <a:t>Key Points</a:t>
            </a:r>
          </a:p>
        </p:txBody>
      </p:sp>
      <p:sp>
        <p:nvSpPr>
          <p:cNvPr id="8" name="Rectangle 7"/>
          <p:cNvSpPr>
            <a:spLocks noChangeArrowheads="1"/>
          </p:cNvSpPr>
          <p:nvPr/>
        </p:nvSpPr>
        <p:spPr bwMode="auto">
          <a:xfrm>
            <a:off x="290286" y="1488757"/>
            <a:ext cx="2249714" cy="677228"/>
          </a:xfrm>
          <a:prstGeom prst="rect">
            <a:avLst/>
          </a:prstGeom>
          <a:solidFill>
            <a:schemeClr val="bg1">
              <a:lumMod val="85000"/>
            </a:schemeClr>
          </a:solidFill>
          <a:ln>
            <a:noFill/>
          </a:ln>
          <a:effectLst/>
        </p:spPr>
        <p:txBody>
          <a:bodyPr wrap="none" lIns="86493" tIns="43247" rIns="86493" bIns="43247" anchor="ctr"/>
          <a:lstStyle/>
          <a:p>
            <a:pPr algn="l"/>
            <a:r>
              <a:rPr lang="en-US" altLang="en-US" sz="1700" b="1" dirty="0">
                <a:solidFill>
                  <a:schemeClr val="tx1"/>
                </a:solidFill>
                <a:latin typeface="Liberation Sans" panose="020B0604020202020204" pitchFamily="34" charset="0"/>
              </a:rPr>
              <a:t>LEARNING</a:t>
            </a:r>
          </a:p>
          <a:p>
            <a:pPr algn="l"/>
            <a:r>
              <a:rPr lang="en-US" altLang="en-US" sz="1700" b="1" dirty="0">
                <a:solidFill>
                  <a:schemeClr val="tx1"/>
                </a:solidFill>
                <a:latin typeface="Liberation Sans" panose="020B0604020202020204" pitchFamily="34" charset="0"/>
              </a:rPr>
              <a:t>OBJECTIVE</a:t>
            </a:r>
          </a:p>
        </p:txBody>
      </p:sp>
      <p:sp>
        <p:nvSpPr>
          <p:cNvPr id="9" name="Rectangle 5"/>
          <p:cNvSpPr>
            <a:spLocks noChangeArrowheads="1"/>
          </p:cNvSpPr>
          <p:nvPr/>
        </p:nvSpPr>
        <p:spPr bwMode="auto">
          <a:xfrm>
            <a:off x="2540000" y="1488757"/>
            <a:ext cx="6241143" cy="677228"/>
          </a:xfrm>
          <a:prstGeom prst="rect">
            <a:avLst/>
          </a:prstGeom>
          <a:solidFill>
            <a:srgbClr val="0027A4"/>
          </a:solidFill>
          <a:ln>
            <a:noFill/>
          </a:ln>
          <a:effectLst/>
        </p:spPr>
        <p:txBody>
          <a:bodyPr wrap="square" lIns="86493" tIns="27432" rIns="86493" bIns="43247" anchor="ctr"/>
          <a:lstStyle/>
          <a:p>
            <a:pPr marL="111125" algn="l"/>
            <a:r>
              <a:rPr lang="en-US" b="1" dirty="0">
                <a:solidFill>
                  <a:schemeClr val="bg1"/>
                </a:solidFill>
                <a:latin typeface="Liberation Sans" panose="020B0604020202020204" pitchFamily="34" charset="0"/>
              </a:rPr>
              <a:t>Compare the accounting for merchandising under GAAP and IFRS.</a:t>
            </a:r>
          </a:p>
        </p:txBody>
      </p:sp>
      <p:sp>
        <p:nvSpPr>
          <p:cNvPr id="10" name="Oval 9"/>
          <p:cNvSpPr/>
          <p:nvPr/>
        </p:nvSpPr>
        <p:spPr bwMode="auto">
          <a:xfrm>
            <a:off x="1872343" y="1568767"/>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8</a:t>
            </a:r>
          </a:p>
        </p:txBody>
      </p:sp>
      <p:sp>
        <p:nvSpPr>
          <p:cNvPr id="12"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8</a:t>
            </a:r>
          </a:p>
        </p:txBody>
      </p:sp>
      <p:sp>
        <p:nvSpPr>
          <p:cNvPr id="11" name="Rectangle 4"/>
          <p:cNvSpPr>
            <a:spLocks noChangeArrowheads="1"/>
          </p:cNvSpPr>
          <p:nvPr/>
        </p:nvSpPr>
        <p:spPr bwMode="auto">
          <a:xfrm>
            <a:off x="0"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3" name="Rectangle 5"/>
          <p:cNvSpPr>
            <a:spLocks noChangeArrowheads="1"/>
          </p:cNvSpPr>
          <p:nvPr/>
        </p:nvSpPr>
        <p:spPr bwMode="auto">
          <a:xfrm>
            <a:off x="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1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5" name="Text Box 8"/>
          <p:cNvSpPr txBox="1">
            <a:spLocks noChangeArrowheads="1"/>
          </p:cNvSpPr>
          <p:nvPr/>
        </p:nvSpPr>
        <p:spPr bwMode="auto">
          <a:xfrm>
            <a:off x="1905000" y="414338"/>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l">
              <a:spcBef>
                <a:spcPct val="50000"/>
              </a:spcBef>
            </a:pPr>
            <a:r>
              <a:rPr lang="en-US" altLang="en-US" sz="3200" dirty="0">
                <a:latin typeface="Liberation Sans" panose="020B0604020202020204" pitchFamily="34" charset="0"/>
              </a:rPr>
              <a:t>A Look at IFRS</a:t>
            </a:r>
          </a:p>
        </p:txBody>
      </p:sp>
    </p:spTree>
  </p:cSld>
  <p:clrMapOvr>
    <a:masterClrMapping/>
  </p:clrMapOvr>
  <p:transition>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533400" y="1981200"/>
            <a:ext cx="8229600" cy="4565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685800" indent="-457200" algn="l">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marL="0" lvl="1" indent="0">
              <a:lnSpc>
                <a:spcPct val="115000"/>
              </a:lnSpc>
              <a:spcBef>
                <a:spcPct val="50000"/>
              </a:spcBef>
              <a:buClr>
                <a:srgbClr val="800000"/>
              </a:buClr>
              <a:buSzPct val="80000"/>
              <a:buNone/>
            </a:pPr>
            <a:r>
              <a:rPr lang="en-US" altLang="en-US" sz="1900" dirty="0">
                <a:solidFill>
                  <a:schemeClr val="tx1"/>
                </a:solidFill>
                <a:latin typeface="Liberation Sans" panose="020B0604020202020204" pitchFamily="34" charset="0"/>
              </a:rPr>
              <a:t>Similarities</a:t>
            </a: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IFRS requires that 2 years of income statement information be presented, whereas GAAP requires 3 years.</a:t>
            </a:r>
          </a:p>
          <a:p>
            <a:pPr marL="0" lvl="1" indent="0">
              <a:lnSpc>
                <a:spcPct val="115000"/>
              </a:lnSpc>
              <a:spcBef>
                <a:spcPct val="50000"/>
              </a:spcBef>
              <a:buClr>
                <a:srgbClr val="800000"/>
              </a:buClr>
              <a:buSzPct val="80000"/>
              <a:buNone/>
            </a:pPr>
            <a:r>
              <a:rPr lang="en-US" altLang="en-US" sz="1900" dirty="0">
                <a:solidFill>
                  <a:schemeClr val="tx1"/>
                </a:solidFill>
                <a:latin typeface="Liberation Sans" panose="020B0604020202020204" pitchFamily="34" charset="0"/>
              </a:rPr>
              <a:t>Differences</a:t>
            </a: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Under GAAP, companies generally classify income statement items by function. Classification by function leads to descriptions like administration, distribution, and manufacturing. Under IFRS, companies must classify expenses either by nature or by function. Classification by nature leads to descriptions such as the following: salaries, depreciation expense, and utilities expense. If a company uses the functional-expense method on the income statement, disclosure by nature is required in the notes.</a:t>
            </a:r>
            <a:endParaRPr lang="en-US" altLang="en-US" sz="1900" b="0" dirty="0">
              <a:solidFill>
                <a:schemeClr val="tx1"/>
              </a:solidFill>
              <a:latin typeface="Liberation Sans" panose="020B0604020202020204" pitchFamily="34" charset="0"/>
            </a:endParaRPr>
          </a:p>
        </p:txBody>
      </p:sp>
      <p:sp>
        <p:nvSpPr>
          <p:cNvPr id="63491" name="Rectangle 2"/>
          <p:cNvSpPr>
            <a:spLocks noChangeArrowheads="1"/>
          </p:cNvSpPr>
          <p:nvPr/>
        </p:nvSpPr>
        <p:spPr bwMode="auto">
          <a:xfrm>
            <a:off x="533400" y="1447800"/>
            <a:ext cx="259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l"/>
            <a:r>
              <a:rPr lang="en-US" altLang="en-US" sz="2400" b="1" dirty="0">
                <a:solidFill>
                  <a:schemeClr val="accent6">
                    <a:lumMod val="75000"/>
                  </a:schemeClr>
                </a:solidFill>
                <a:latin typeface="Liberation Sans" panose="020B0604020202020204" pitchFamily="34" charset="0"/>
              </a:rPr>
              <a:t>Key Points</a:t>
            </a:r>
          </a:p>
        </p:txBody>
      </p:sp>
      <p:sp>
        <p:nvSpPr>
          <p:cNvPr id="8"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8</a:t>
            </a:r>
          </a:p>
        </p:txBody>
      </p:sp>
      <p:sp>
        <p:nvSpPr>
          <p:cNvPr id="6" name="Rectangle 4"/>
          <p:cNvSpPr>
            <a:spLocks noChangeArrowheads="1"/>
          </p:cNvSpPr>
          <p:nvPr/>
        </p:nvSpPr>
        <p:spPr bwMode="auto">
          <a:xfrm>
            <a:off x="0"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7" name="Rectangle 5"/>
          <p:cNvSpPr>
            <a:spLocks noChangeArrowheads="1"/>
          </p:cNvSpPr>
          <p:nvPr/>
        </p:nvSpPr>
        <p:spPr bwMode="auto">
          <a:xfrm>
            <a:off x="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0" name="Text Box 8"/>
          <p:cNvSpPr txBox="1">
            <a:spLocks noChangeArrowheads="1"/>
          </p:cNvSpPr>
          <p:nvPr/>
        </p:nvSpPr>
        <p:spPr bwMode="auto">
          <a:xfrm>
            <a:off x="1905000" y="414338"/>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l">
              <a:spcBef>
                <a:spcPct val="50000"/>
              </a:spcBef>
            </a:pPr>
            <a:r>
              <a:rPr lang="en-US" altLang="en-US" sz="3200" dirty="0">
                <a:latin typeface="Liberation Sans" panose="020B0604020202020204" pitchFamily="34" charset="0"/>
              </a:rPr>
              <a:t>A Look at IFRS</a:t>
            </a:r>
          </a:p>
        </p:txBody>
      </p:sp>
    </p:spTree>
  </p:cSld>
  <p:clrMapOvr>
    <a:masterClrMapping/>
  </p:clrMapOvr>
  <p:transition>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533400" y="1981200"/>
            <a:ext cx="7924800" cy="4083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685800" indent="-457200" algn="l">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marL="0" lvl="1" indent="0">
              <a:lnSpc>
                <a:spcPct val="115000"/>
              </a:lnSpc>
              <a:spcBef>
                <a:spcPct val="50000"/>
              </a:spcBef>
              <a:buClr>
                <a:srgbClr val="800000"/>
              </a:buClr>
              <a:buSzPct val="80000"/>
              <a:buNone/>
            </a:pPr>
            <a:r>
              <a:rPr lang="en-US" altLang="en-US" sz="1900" dirty="0">
                <a:solidFill>
                  <a:schemeClr val="tx1"/>
                </a:solidFill>
                <a:latin typeface="Liberation Sans" panose="020B0604020202020204" pitchFamily="34" charset="0"/>
              </a:rPr>
              <a:t>Differences</a:t>
            </a: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Presentation of the income statement under GAAP follows either a single-step or multiple-step format. IFRS does not mention a single-step or multiple-step approach.</a:t>
            </a: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Under IFRS, revaluation of land, buildings, and intangible assets is permitted. The initial gains and losses resulting from this revaluation are reported as adjustments to equity, often referred to as </a:t>
            </a:r>
            <a:r>
              <a:rPr lang="en-US" sz="1900" dirty="0">
                <a:solidFill>
                  <a:schemeClr val="tx1"/>
                </a:solidFill>
                <a:latin typeface="Liberation Sans" panose="020B0604020202020204" pitchFamily="34" charset="0"/>
              </a:rPr>
              <a:t>other comprehensive income </a:t>
            </a:r>
            <a:r>
              <a:rPr lang="en-US" sz="1900" b="0" dirty="0">
                <a:solidFill>
                  <a:schemeClr val="tx1"/>
                </a:solidFill>
                <a:latin typeface="Liberation Sans" panose="020B0604020202020204" pitchFamily="34" charset="0"/>
              </a:rPr>
              <a:t>. The effect of this difference is that the use of IFRS result in more transactions affecting equity (other comprehensive income) but not net income.</a:t>
            </a:r>
          </a:p>
        </p:txBody>
      </p:sp>
      <p:sp>
        <p:nvSpPr>
          <p:cNvPr id="63491" name="Rectangle 2"/>
          <p:cNvSpPr>
            <a:spLocks noChangeArrowheads="1"/>
          </p:cNvSpPr>
          <p:nvPr/>
        </p:nvSpPr>
        <p:spPr bwMode="auto">
          <a:xfrm>
            <a:off x="533400" y="1447800"/>
            <a:ext cx="259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l"/>
            <a:r>
              <a:rPr lang="en-US" altLang="en-US" sz="2400" b="1" dirty="0">
                <a:solidFill>
                  <a:schemeClr val="accent6">
                    <a:lumMod val="75000"/>
                  </a:schemeClr>
                </a:solidFill>
                <a:latin typeface="Liberation Sans" panose="020B0604020202020204" pitchFamily="34" charset="0"/>
              </a:rPr>
              <a:t>Key Points</a:t>
            </a:r>
          </a:p>
        </p:txBody>
      </p:sp>
      <p:sp>
        <p:nvSpPr>
          <p:cNvPr id="7"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8</a:t>
            </a:r>
          </a:p>
        </p:txBody>
      </p:sp>
      <p:sp>
        <p:nvSpPr>
          <p:cNvPr id="6" name="Rectangle 4"/>
          <p:cNvSpPr>
            <a:spLocks noChangeArrowheads="1"/>
          </p:cNvSpPr>
          <p:nvPr/>
        </p:nvSpPr>
        <p:spPr bwMode="auto">
          <a:xfrm>
            <a:off x="0"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8" name="Rectangle 5"/>
          <p:cNvSpPr>
            <a:spLocks noChangeArrowheads="1"/>
          </p:cNvSpPr>
          <p:nvPr/>
        </p:nvSpPr>
        <p:spPr bwMode="auto">
          <a:xfrm>
            <a:off x="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0" name="Text Box 8"/>
          <p:cNvSpPr txBox="1">
            <a:spLocks noChangeArrowheads="1"/>
          </p:cNvSpPr>
          <p:nvPr/>
        </p:nvSpPr>
        <p:spPr bwMode="auto">
          <a:xfrm>
            <a:off x="1905000" y="414338"/>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l">
              <a:spcBef>
                <a:spcPct val="50000"/>
              </a:spcBef>
            </a:pPr>
            <a:r>
              <a:rPr lang="en-US" altLang="en-US" sz="3200" dirty="0">
                <a:latin typeface="Liberation Sans" panose="020B0604020202020204" pitchFamily="34" charset="0"/>
              </a:rPr>
              <a:t>A Look at IFRS</a:t>
            </a:r>
          </a:p>
        </p:txBody>
      </p:sp>
    </p:spTree>
  </p:cSld>
  <p:clrMapOvr>
    <a:masterClrMapping/>
  </p:clrMapOvr>
  <p:transition>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533400" y="1447800"/>
            <a:ext cx="381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l"/>
            <a:r>
              <a:rPr lang="en-US" altLang="en-US" sz="2400" b="1" dirty="0">
                <a:solidFill>
                  <a:schemeClr val="accent6">
                    <a:lumMod val="75000"/>
                  </a:schemeClr>
                </a:solidFill>
                <a:latin typeface="Liberation Sans" panose="020B0604020202020204" pitchFamily="34" charset="0"/>
              </a:rPr>
              <a:t>Looking to the Future</a:t>
            </a:r>
          </a:p>
        </p:txBody>
      </p:sp>
      <p:sp>
        <p:nvSpPr>
          <p:cNvPr id="65539" name="Rectangle 3"/>
          <p:cNvSpPr>
            <a:spLocks noChangeArrowheads="1"/>
          </p:cNvSpPr>
          <p:nvPr/>
        </p:nvSpPr>
        <p:spPr bwMode="auto">
          <a:xfrm>
            <a:off x="533400" y="1981200"/>
            <a:ext cx="8077200" cy="4552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lgn="l">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lgn="l">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nSpc>
                <a:spcPct val="115000"/>
              </a:lnSpc>
              <a:spcBef>
                <a:spcPct val="50000"/>
              </a:spcBef>
              <a:buClr>
                <a:srgbClr val="800000"/>
              </a:buClr>
              <a:buSzPct val="80000"/>
              <a:buFont typeface="Wingdings" panose="05000000000000000000" pitchFamily="2" charset="2"/>
              <a:buNone/>
            </a:pPr>
            <a:r>
              <a:rPr lang="en-US" sz="1800" b="0" dirty="0">
                <a:latin typeface="Liberation Sans" panose="020B0604020202020204" pitchFamily="34" charset="0"/>
              </a:rPr>
              <a:t>The IASB and FASB are working on a project that would rework the structure of financial statements. Specifically, this project will address the issue of how to classify various items in the income statement. A main goal of this new approach is to provide information that better represents how businesses are run. In addition, this approach draws attention away from just one number—net income. It will adopt major groupings similar to those currently used by the statement of cash flows (operating, investing, and financing), so that numbers can be more readily traced across statements. For example, the amount of income that is generated by operations would be traceable to the assets and liabilities used to generate the income. Finally, this approach would also provide detail, beyond that currently seen in most statements (either GAAP or IFRS), by requiring that line items be presented both by function and by nature. The new financial statement format was heavily influenced by suggestions from financial statement analysts.</a:t>
            </a:r>
            <a:endParaRPr lang="en-US" altLang="en-US" sz="1800" b="0" dirty="0">
              <a:latin typeface="Liberation Sans" panose="020B0604020202020204" pitchFamily="34" charset="0"/>
            </a:endParaRPr>
          </a:p>
        </p:txBody>
      </p:sp>
      <p:sp>
        <p:nvSpPr>
          <p:cNvPr id="7"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8</a:t>
            </a:r>
          </a:p>
        </p:txBody>
      </p:sp>
      <p:sp>
        <p:nvSpPr>
          <p:cNvPr id="6" name="Rectangle 4"/>
          <p:cNvSpPr>
            <a:spLocks noChangeArrowheads="1"/>
          </p:cNvSpPr>
          <p:nvPr/>
        </p:nvSpPr>
        <p:spPr bwMode="auto">
          <a:xfrm>
            <a:off x="0"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8" name="Rectangle 5"/>
          <p:cNvSpPr>
            <a:spLocks noChangeArrowheads="1"/>
          </p:cNvSpPr>
          <p:nvPr/>
        </p:nvSpPr>
        <p:spPr bwMode="auto">
          <a:xfrm>
            <a:off x="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0" name="Text Box 8"/>
          <p:cNvSpPr txBox="1">
            <a:spLocks noChangeArrowheads="1"/>
          </p:cNvSpPr>
          <p:nvPr/>
        </p:nvSpPr>
        <p:spPr bwMode="auto">
          <a:xfrm>
            <a:off x="1905000" y="414338"/>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l">
              <a:spcBef>
                <a:spcPct val="50000"/>
              </a:spcBef>
            </a:pPr>
            <a:r>
              <a:rPr lang="en-US" altLang="en-US" sz="3200" dirty="0">
                <a:latin typeface="Liberation Sans" panose="020B0604020202020204" pitchFamily="34" charset="0"/>
              </a:rPr>
              <a:t>A Look at IFRS</a:t>
            </a:r>
          </a:p>
        </p:txBody>
      </p:sp>
    </p:spTree>
  </p:cSld>
  <p:clrMapOvr>
    <a:masterClrMapping/>
  </p:clrMapOvr>
  <p:transition>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533400" y="1447800"/>
            <a:ext cx="419100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l"/>
            <a:r>
              <a:rPr lang="en-US" altLang="en-US" sz="2400" b="1" dirty="0">
                <a:solidFill>
                  <a:schemeClr val="tx1">
                    <a:lumMod val="75000"/>
                    <a:lumOff val="25000"/>
                  </a:schemeClr>
                </a:solidFill>
                <a:latin typeface="Liberation Sans" panose="020B0604020202020204" pitchFamily="34" charset="0"/>
              </a:rPr>
              <a:t>IFRS Self-Test Questions</a:t>
            </a:r>
          </a:p>
        </p:txBody>
      </p:sp>
      <p:sp>
        <p:nvSpPr>
          <p:cNvPr id="73736" name="Rectangle 9"/>
          <p:cNvSpPr>
            <a:spLocks noChangeArrowheads="1"/>
          </p:cNvSpPr>
          <p:nvPr/>
        </p:nvSpPr>
        <p:spPr bwMode="auto">
          <a:xfrm>
            <a:off x="533400" y="1981200"/>
            <a:ext cx="7924800" cy="336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68580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50000"/>
              </a:spcBef>
              <a:buClr>
                <a:srgbClr val="800000"/>
              </a:buClr>
              <a:buSzPct val="80000"/>
              <a:buFont typeface="Wingdings" panose="05000000000000000000" pitchFamily="2" charset="2"/>
              <a:buNone/>
            </a:pPr>
            <a:r>
              <a:rPr lang="en-US" altLang="en-US" dirty="0">
                <a:latin typeface="Liberation Sans" panose="020B0604020202020204" pitchFamily="34" charset="0"/>
              </a:rPr>
              <a:t>Which of the following would not be included in the definition of inventory under IFRS?</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Photocopy paper held for sale by an office-supply store.</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Stereo equipment held for sale by an electronics store.</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Used office equipment held for sale by the human relations department of a plastics company.</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All of the above would meet the definition.</a:t>
            </a:r>
          </a:p>
        </p:txBody>
      </p:sp>
      <p:sp>
        <p:nvSpPr>
          <p:cNvPr id="14" name="Notched Right Arrow 13"/>
          <p:cNvSpPr/>
          <p:nvPr/>
        </p:nvSpPr>
        <p:spPr bwMode="auto">
          <a:xfrm>
            <a:off x="152400" y="4038600"/>
            <a:ext cx="609600" cy="457200"/>
          </a:xfrm>
          <a:prstGeom prst="notchedRightArrow">
            <a:avLst/>
          </a:prstGeom>
          <a:solidFill>
            <a:schemeClr val="tx2">
              <a:lumMod val="75000"/>
            </a:schemeClr>
          </a:solidFill>
          <a:ln w="12700" cap="sq" cmpd="sng" algn="ctr">
            <a:solidFill>
              <a:schemeClr val="tx1"/>
            </a:solidFill>
            <a:prstDash val="solid"/>
            <a:round/>
            <a:headEnd type="none" w="sm" len="sm"/>
            <a:tailEnd type="none" w="sm" len="sm"/>
          </a:ln>
          <a:effectLst/>
        </p:spPr>
        <p:txBody>
          <a:bodyPr/>
          <a:lstStyle>
            <a:lvl1pPr>
              <a:defRPr sz="2400">
                <a:solidFill>
                  <a:schemeClr val="tx1"/>
                </a:solidFill>
                <a:latin typeface="Comic Sans MS" panose="030F0702030302020204" pitchFamily="66" charset="0"/>
              </a:defRPr>
            </a:lvl1pPr>
            <a:lvl2pPr marL="742950" indent="-285750">
              <a:defRPr sz="2400">
                <a:solidFill>
                  <a:schemeClr val="tx1"/>
                </a:solidFill>
                <a:latin typeface="Comic Sans MS" panose="030F0702030302020204" pitchFamily="66" charset="0"/>
              </a:defRPr>
            </a:lvl2pPr>
            <a:lvl3pPr marL="1143000" indent="-228600">
              <a:defRPr sz="2400">
                <a:solidFill>
                  <a:schemeClr val="tx1"/>
                </a:solidFill>
                <a:latin typeface="Comic Sans MS" panose="030F0702030302020204" pitchFamily="66" charset="0"/>
              </a:defRPr>
            </a:lvl3pPr>
            <a:lvl4pPr marL="1600200" indent="-228600">
              <a:defRPr sz="2400">
                <a:solidFill>
                  <a:schemeClr val="tx1"/>
                </a:solidFill>
                <a:latin typeface="Comic Sans MS" panose="030F0702030302020204" pitchFamily="66" charset="0"/>
              </a:defRPr>
            </a:lvl4pPr>
            <a:lvl5pPr marL="2057400" indent="-228600">
              <a:defRPr sz="24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15"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8</a:t>
            </a:r>
          </a:p>
        </p:txBody>
      </p:sp>
      <p:sp>
        <p:nvSpPr>
          <p:cNvPr id="7" name="Rectangle 4"/>
          <p:cNvSpPr>
            <a:spLocks noChangeArrowheads="1"/>
          </p:cNvSpPr>
          <p:nvPr/>
        </p:nvSpPr>
        <p:spPr bwMode="auto">
          <a:xfrm>
            <a:off x="0"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8" name="Rectangle 5"/>
          <p:cNvSpPr>
            <a:spLocks noChangeArrowheads="1"/>
          </p:cNvSpPr>
          <p:nvPr/>
        </p:nvSpPr>
        <p:spPr bwMode="auto">
          <a:xfrm>
            <a:off x="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0" name="Text Box 8"/>
          <p:cNvSpPr txBox="1">
            <a:spLocks noChangeArrowheads="1"/>
          </p:cNvSpPr>
          <p:nvPr/>
        </p:nvSpPr>
        <p:spPr bwMode="auto">
          <a:xfrm>
            <a:off x="1905000" y="414338"/>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l">
              <a:spcBef>
                <a:spcPct val="50000"/>
              </a:spcBef>
            </a:pPr>
            <a:r>
              <a:rPr lang="en-US" altLang="en-US" sz="3200" dirty="0">
                <a:latin typeface="Liberation Sans" panose="020B0604020202020204" pitchFamily="34" charset="0"/>
              </a:rPr>
              <a:t>A Look at IFRS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533400" y="1447800"/>
            <a:ext cx="419100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l"/>
            <a:r>
              <a:rPr lang="en-US" altLang="en-US" sz="2400" b="1" dirty="0">
                <a:solidFill>
                  <a:schemeClr val="tx1">
                    <a:lumMod val="75000"/>
                    <a:lumOff val="25000"/>
                  </a:schemeClr>
                </a:solidFill>
                <a:latin typeface="Liberation Sans" panose="020B0604020202020204" pitchFamily="34" charset="0"/>
              </a:rPr>
              <a:t>IFRS Self-Test Questions</a:t>
            </a:r>
          </a:p>
        </p:txBody>
      </p:sp>
      <p:sp>
        <p:nvSpPr>
          <p:cNvPr id="74760" name="Rectangle 9"/>
          <p:cNvSpPr>
            <a:spLocks noChangeArrowheads="1"/>
          </p:cNvSpPr>
          <p:nvPr/>
        </p:nvSpPr>
        <p:spPr bwMode="auto">
          <a:xfrm>
            <a:off x="533400" y="1981200"/>
            <a:ext cx="7924800" cy="298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68580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50000"/>
              </a:spcBef>
              <a:buClr>
                <a:srgbClr val="800000"/>
              </a:buClr>
              <a:buSzPct val="80000"/>
              <a:buFont typeface="Wingdings" panose="05000000000000000000" pitchFamily="2" charset="2"/>
              <a:buNone/>
            </a:pPr>
            <a:r>
              <a:rPr lang="en-US" altLang="en-US" dirty="0">
                <a:latin typeface="Liberation Sans" panose="020B0604020202020204" pitchFamily="34" charset="0"/>
              </a:rPr>
              <a:t>Which of the following would not be a line item of a company reporting costs by nature?</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Depreciation expense.</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Salaries expense.</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Interest expense.</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Manufacturing expense.</a:t>
            </a:r>
          </a:p>
        </p:txBody>
      </p:sp>
      <p:sp>
        <p:nvSpPr>
          <p:cNvPr id="12" name="Notched Right Arrow 11"/>
          <p:cNvSpPr/>
          <p:nvPr/>
        </p:nvSpPr>
        <p:spPr bwMode="auto">
          <a:xfrm>
            <a:off x="152400" y="4495800"/>
            <a:ext cx="609600" cy="457200"/>
          </a:xfrm>
          <a:prstGeom prst="notchedRightArrow">
            <a:avLst/>
          </a:prstGeom>
          <a:solidFill>
            <a:schemeClr val="tx2">
              <a:lumMod val="75000"/>
            </a:schemeClr>
          </a:solidFill>
          <a:ln w="12700" cap="sq" cmpd="sng" algn="ctr">
            <a:solidFill>
              <a:schemeClr val="tx1"/>
            </a:solidFill>
            <a:prstDash val="solid"/>
            <a:round/>
            <a:headEnd type="none" w="sm" len="sm"/>
            <a:tailEnd type="none" w="sm" len="sm"/>
          </a:ln>
          <a:effectLst/>
        </p:spPr>
        <p:txBody>
          <a:bodyPr/>
          <a:lstStyle>
            <a:lvl1pPr>
              <a:defRPr sz="2400">
                <a:solidFill>
                  <a:schemeClr val="tx1"/>
                </a:solidFill>
                <a:latin typeface="Comic Sans MS" panose="030F0702030302020204" pitchFamily="66" charset="0"/>
              </a:defRPr>
            </a:lvl1pPr>
            <a:lvl2pPr marL="742950" indent="-285750">
              <a:defRPr sz="2400">
                <a:solidFill>
                  <a:schemeClr val="tx1"/>
                </a:solidFill>
                <a:latin typeface="Comic Sans MS" panose="030F0702030302020204" pitchFamily="66" charset="0"/>
              </a:defRPr>
            </a:lvl2pPr>
            <a:lvl3pPr marL="1143000" indent="-228600">
              <a:defRPr sz="2400">
                <a:solidFill>
                  <a:schemeClr val="tx1"/>
                </a:solidFill>
                <a:latin typeface="Comic Sans MS" panose="030F0702030302020204" pitchFamily="66" charset="0"/>
              </a:defRPr>
            </a:lvl3pPr>
            <a:lvl4pPr marL="1600200" indent="-228600">
              <a:defRPr sz="2400">
                <a:solidFill>
                  <a:schemeClr val="tx1"/>
                </a:solidFill>
                <a:latin typeface="Comic Sans MS" panose="030F0702030302020204" pitchFamily="66" charset="0"/>
              </a:defRPr>
            </a:lvl4pPr>
            <a:lvl5pPr marL="2057400" indent="-228600">
              <a:defRPr sz="24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13"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8</a:t>
            </a:r>
          </a:p>
        </p:txBody>
      </p:sp>
      <p:sp>
        <p:nvSpPr>
          <p:cNvPr id="7" name="Rectangle 4"/>
          <p:cNvSpPr>
            <a:spLocks noChangeArrowheads="1"/>
          </p:cNvSpPr>
          <p:nvPr/>
        </p:nvSpPr>
        <p:spPr bwMode="auto">
          <a:xfrm>
            <a:off x="0"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8" name="Rectangle 5"/>
          <p:cNvSpPr>
            <a:spLocks noChangeArrowheads="1"/>
          </p:cNvSpPr>
          <p:nvPr/>
        </p:nvSpPr>
        <p:spPr bwMode="auto">
          <a:xfrm>
            <a:off x="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0" name="Text Box 8"/>
          <p:cNvSpPr txBox="1">
            <a:spLocks noChangeArrowheads="1"/>
          </p:cNvSpPr>
          <p:nvPr/>
        </p:nvSpPr>
        <p:spPr bwMode="auto">
          <a:xfrm>
            <a:off x="1905000" y="414338"/>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l">
              <a:spcBef>
                <a:spcPct val="50000"/>
              </a:spcBef>
            </a:pPr>
            <a:r>
              <a:rPr lang="en-US" altLang="en-US" sz="3200" dirty="0">
                <a:latin typeface="Liberation Sans" panose="020B0604020202020204" pitchFamily="34" charset="0"/>
              </a:rPr>
              <a:t>A Look at IFRS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533400" y="1447800"/>
            <a:ext cx="419100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l"/>
            <a:r>
              <a:rPr lang="en-US" altLang="en-US" sz="2400" b="1" dirty="0">
                <a:solidFill>
                  <a:schemeClr val="tx1">
                    <a:lumMod val="75000"/>
                    <a:lumOff val="25000"/>
                  </a:schemeClr>
                </a:solidFill>
                <a:latin typeface="Liberation Sans" panose="020B0604020202020204" pitchFamily="34" charset="0"/>
              </a:rPr>
              <a:t>IFRS Self-Test Questions</a:t>
            </a:r>
          </a:p>
        </p:txBody>
      </p:sp>
      <p:sp>
        <p:nvSpPr>
          <p:cNvPr id="75784" name="Rectangle 9"/>
          <p:cNvSpPr>
            <a:spLocks noChangeArrowheads="1"/>
          </p:cNvSpPr>
          <p:nvPr/>
        </p:nvSpPr>
        <p:spPr bwMode="auto">
          <a:xfrm>
            <a:off x="533400" y="1981200"/>
            <a:ext cx="7924800" cy="298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chemeClr val="tx1"/>
                </a:solidFill>
                <a:latin typeface="Comic Sans MS" panose="030F0702030302020204" pitchFamily="66" charset="0"/>
              </a:defRPr>
            </a:lvl1pPr>
            <a:lvl2pPr marL="685800" indent="-457200">
              <a:defRPr sz="2000">
                <a:solidFill>
                  <a:schemeClr val="tx1"/>
                </a:solidFill>
                <a:latin typeface="Comic Sans MS" panose="030F0702030302020204" pitchFamily="66" charset="0"/>
              </a:defRPr>
            </a:lvl2pPr>
            <a:lvl3pPr marL="1143000" indent="-228600">
              <a:defRPr sz="2000">
                <a:solidFill>
                  <a:schemeClr val="tx1"/>
                </a:solidFill>
                <a:latin typeface="Comic Sans MS" panose="030F0702030302020204" pitchFamily="66" charset="0"/>
              </a:defRPr>
            </a:lvl3pPr>
            <a:lvl4pPr marL="1600200" indent="-228600">
              <a:defRPr sz="2000">
                <a:solidFill>
                  <a:schemeClr val="tx1"/>
                </a:solidFill>
                <a:latin typeface="Comic Sans MS" panose="030F0702030302020204" pitchFamily="66" charset="0"/>
              </a:defRPr>
            </a:lvl4pPr>
            <a:lvl5pPr marL="2057400" indent="-228600">
              <a:defRPr sz="20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0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0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0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000">
                <a:solidFill>
                  <a:schemeClr val="tx1"/>
                </a:solidFill>
                <a:latin typeface="Comic Sans MS" panose="030F0702030302020204" pitchFamily="66" charset="0"/>
              </a:defRPr>
            </a:lvl9pPr>
          </a:lstStyle>
          <a:p>
            <a:pPr algn="l">
              <a:lnSpc>
                <a:spcPct val="125000"/>
              </a:lnSpc>
              <a:spcBef>
                <a:spcPct val="50000"/>
              </a:spcBef>
              <a:buClr>
                <a:srgbClr val="800000"/>
              </a:buClr>
              <a:buSzPct val="80000"/>
              <a:buFont typeface="Wingdings" panose="05000000000000000000" pitchFamily="2" charset="2"/>
              <a:buNone/>
            </a:pPr>
            <a:r>
              <a:rPr lang="en-US" altLang="en-US" dirty="0">
                <a:latin typeface="Liberation Sans" panose="020B0604020202020204" pitchFamily="34" charset="0"/>
              </a:rPr>
              <a:t>Which of the following would not be a line item of a company reporting costs by function?</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Administration.</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Manufacturing.</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Utilities expense.</a:t>
            </a:r>
          </a:p>
          <a:p>
            <a:pPr lvl="1" algn="l">
              <a:lnSpc>
                <a:spcPct val="125000"/>
              </a:lnSpc>
              <a:spcBef>
                <a:spcPct val="50000"/>
              </a:spcBef>
              <a:buClr>
                <a:schemeClr val="tx1"/>
              </a:buClr>
              <a:buFont typeface="Wingdings" panose="05000000000000000000" pitchFamily="2" charset="2"/>
              <a:buAutoNum type="alphaLcParenR"/>
            </a:pPr>
            <a:r>
              <a:rPr lang="en-US" altLang="en-US" dirty="0">
                <a:latin typeface="Liberation Sans" panose="020B0604020202020204" pitchFamily="34" charset="0"/>
              </a:rPr>
              <a:t>Distribution.</a:t>
            </a:r>
          </a:p>
        </p:txBody>
      </p:sp>
      <p:sp>
        <p:nvSpPr>
          <p:cNvPr id="12" name="Notched Right Arrow 11"/>
          <p:cNvSpPr/>
          <p:nvPr/>
        </p:nvSpPr>
        <p:spPr bwMode="auto">
          <a:xfrm>
            <a:off x="152400" y="3977640"/>
            <a:ext cx="609600" cy="457200"/>
          </a:xfrm>
          <a:prstGeom prst="notchedRightArrow">
            <a:avLst/>
          </a:prstGeom>
          <a:solidFill>
            <a:schemeClr val="tx2">
              <a:lumMod val="75000"/>
            </a:schemeClr>
          </a:solidFill>
          <a:ln w="12700" cap="sq" cmpd="sng" algn="ctr">
            <a:solidFill>
              <a:schemeClr val="tx1"/>
            </a:solidFill>
            <a:prstDash val="solid"/>
            <a:round/>
            <a:headEnd type="none" w="sm" len="sm"/>
            <a:tailEnd type="none" w="sm" len="sm"/>
          </a:ln>
          <a:effectLst/>
        </p:spPr>
        <p:txBody>
          <a:bodyPr/>
          <a:lstStyle>
            <a:lvl1pPr>
              <a:defRPr sz="2400">
                <a:solidFill>
                  <a:schemeClr val="tx1"/>
                </a:solidFill>
                <a:latin typeface="Comic Sans MS" panose="030F0702030302020204" pitchFamily="66" charset="0"/>
              </a:defRPr>
            </a:lvl1pPr>
            <a:lvl2pPr marL="742950" indent="-285750">
              <a:defRPr sz="2400">
                <a:solidFill>
                  <a:schemeClr val="tx1"/>
                </a:solidFill>
                <a:latin typeface="Comic Sans MS" panose="030F0702030302020204" pitchFamily="66" charset="0"/>
              </a:defRPr>
            </a:lvl2pPr>
            <a:lvl3pPr marL="1143000" indent="-228600">
              <a:defRPr sz="2400">
                <a:solidFill>
                  <a:schemeClr val="tx1"/>
                </a:solidFill>
                <a:latin typeface="Comic Sans MS" panose="030F0702030302020204" pitchFamily="66" charset="0"/>
              </a:defRPr>
            </a:lvl3pPr>
            <a:lvl4pPr marL="1600200" indent="-228600">
              <a:defRPr sz="2400">
                <a:solidFill>
                  <a:schemeClr val="tx1"/>
                </a:solidFill>
                <a:latin typeface="Comic Sans MS" panose="030F0702030302020204" pitchFamily="66" charset="0"/>
              </a:defRPr>
            </a:lvl4pPr>
            <a:lvl5pPr marL="2057400" indent="-228600">
              <a:defRPr sz="24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tx1"/>
                </a:solidFill>
                <a:latin typeface="Comic Sans MS" panose="030F0702030302020204" pitchFamily="66" charset="0"/>
              </a:defRPr>
            </a:lvl9pPr>
          </a:lstStyle>
          <a:p>
            <a:endParaRPr lang="en-US" altLang="en-US" dirty="0">
              <a:latin typeface="Liberation Sans" panose="020B0604020202020204" pitchFamily="34" charset="0"/>
            </a:endParaRPr>
          </a:p>
        </p:txBody>
      </p:sp>
      <p:sp>
        <p:nvSpPr>
          <p:cNvPr id="13" name="Text Box 9"/>
          <p:cNvSpPr txBox="1">
            <a:spLocks noChangeArrowheads="1"/>
          </p:cNvSpPr>
          <p:nvPr/>
        </p:nvSpPr>
        <p:spPr bwMode="auto">
          <a:xfrm>
            <a:off x="8229600" y="6369050"/>
            <a:ext cx="762000" cy="338554"/>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lr>
                <a:schemeClr val="accent2"/>
              </a:buClr>
              <a:buSzPct val="75000"/>
              <a:buFont typeface="Wingdings" panose="05000000000000000000" pitchFamily="2" charset="2"/>
              <a:buChar char="l"/>
              <a:defRPr sz="2800" b="1">
                <a:solidFill>
                  <a:schemeClr val="bg2"/>
                </a:solidFill>
                <a:latin typeface="Arial" panose="020B0604020202020204" pitchFamily="34" charset="0"/>
              </a:defRPr>
            </a:lvl1pPr>
            <a:lvl2pPr marL="742950" indent="-285750">
              <a:spcBef>
                <a:spcPct val="20000"/>
              </a:spcBef>
              <a:buClr>
                <a:schemeClr val="accent2"/>
              </a:buClr>
              <a:buSzPct val="75000"/>
              <a:buFont typeface="Wingdings" panose="05000000000000000000" pitchFamily="2" charset="2"/>
              <a:buChar char="l"/>
              <a:defRPr sz="2400" b="1">
                <a:solidFill>
                  <a:schemeClr val="bg2"/>
                </a:solidFill>
                <a:latin typeface="Arial" panose="020B0604020202020204" pitchFamily="34" charset="0"/>
              </a:defRPr>
            </a:lvl2pPr>
            <a:lvl3pPr marL="11430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3pPr>
            <a:lvl4pPr marL="16002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4pPr>
            <a:lvl5pPr marL="2057400" indent="-228600">
              <a:spcBef>
                <a:spcPct val="20000"/>
              </a:spcBef>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latin typeface="Arial" panose="020B0604020202020204" pitchFamily="34" charset="0"/>
              </a:defRPr>
            </a:lvl9pPr>
          </a:lstStyle>
          <a:p>
            <a:pPr algn="r">
              <a:spcBef>
                <a:spcPct val="50000"/>
              </a:spcBef>
              <a:buClrTx/>
              <a:buSzTx/>
              <a:buFontTx/>
              <a:buNone/>
            </a:pPr>
            <a:r>
              <a:rPr lang="en-US" altLang="en-US" sz="1600" i="1" dirty="0">
                <a:latin typeface="Liberation Sans" panose="020B0604020202020204" pitchFamily="34" charset="0"/>
              </a:rPr>
              <a:t>LO 8</a:t>
            </a:r>
          </a:p>
        </p:txBody>
      </p:sp>
      <p:sp>
        <p:nvSpPr>
          <p:cNvPr id="7" name="Rectangle 4"/>
          <p:cNvSpPr>
            <a:spLocks noChangeArrowheads="1"/>
          </p:cNvSpPr>
          <p:nvPr/>
        </p:nvSpPr>
        <p:spPr bwMode="auto">
          <a:xfrm>
            <a:off x="0"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8" name="Rectangle 5"/>
          <p:cNvSpPr>
            <a:spLocks noChangeArrowheads="1"/>
          </p:cNvSpPr>
          <p:nvPr/>
        </p:nvSpPr>
        <p:spPr bwMode="auto">
          <a:xfrm>
            <a:off x="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0" name="Text Box 8"/>
          <p:cNvSpPr txBox="1">
            <a:spLocks noChangeArrowheads="1"/>
          </p:cNvSpPr>
          <p:nvPr/>
        </p:nvSpPr>
        <p:spPr bwMode="auto">
          <a:xfrm>
            <a:off x="1905000" y="414338"/>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l">
              <a:spcBef>
                <a:spcPct val="50000"/>
              </a:spcBef>
            </a:pPr>
            <a:r>
              <a:rPr lang="en-US" altLang="en-US" sz="3200" dirty="0">
                <a:latin typeface="Liberation Sans" panose="020B0604020202020204" pitchFamily="34" charset="0"/>
              </a:rPr>
              <a:t>A Look at IFRS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838200" y="1371600"/>
            <a:ext cx="7772400"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2400">
                <a:solidFill>
                  <a:schemeClr val="tx1"/>
                </a:solidFill>
                <a:latin typeface="Comic Sans MS" panose="030F0702030302020204" pitchFamily="66" charset="0"/>
              </a:defRPr>
            </a:lvl1pPr>
            <a:lvl2pPr marL="742950" indent="-285750">
              <a:defRPr sz="2400">
                <a:solidFill>
                  <a:schemeClr val="tx1"/>
                </a:solidFill>
                <a:latin typeface="Comic Sans MS" panose="030F0702030302020204" pitchFamily="66" charset="0"/>
              </a:defRPr>
            </a:lvl2pPr>
            <a:lvl3pPr marL="1143000" indent="-228600">
              <a:defRPr sz="2400">
                <a:solidFill>
                  <a:schemeClr val="tx1"/>
                </a:solidFill>
                <a:latin typeface="Comic Sans MS" panose="030F0702030302020204" pitchFamily="66" charset="0"/>
              </a:defRPr>
            </a:lvl3pPr>
            <a:lvl4pPr marL="1600200" indent="-228600">
              <a:defRPr sz="2400">
                <a:solidFill>
                  <a:schemeClr val="tx1"/>
                </a:solidFill>
                <a:latin typeface="Comic Sans MS" panose="030F0702030302020204" pitchFamily="66" charset="0"/>
              </a:defRPr>
            </a:lvl4pPr>
            <a:lvl5pPr marL="2057400" indent="-228600">
              <a:defRPr sz="24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tx1"/>
                </a:solidFill>
                <a:latin typeface="Comic Sans MS" panose="030F0702030302020204" pitchFamily="66" charset="0"/>
              </a:defRPr>
            </a:lvl9pPr>
          </a:lstStyle>
          <a:p>
            <a:pPr algn="l">
              <a:lnSpc>
                <a:spcPct val="130000"/>
              </a:lnSpc>
            </a:pPr>
            <a:r>
              <a:rPr lang="en-US" altLang="en-US" sz="2000" dirty="0">
                <a:latin typeface="Liberation Sans" panose="020B0604020202020204" pitchFamily="34" charset="0"/>
              </a:rPr>
              <a:t>“Copyright © 2015 John Wiley &amp; Sons, Inc. 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p>
        </p:txBody>
      </p:sp>
      <p:sp>
        <p:nvSpPr>
          <p:cNvPr id="54275" name="Line 3"/>
          <p:cNvSpPr>
            <a:spLocks noChangeShapeType="1"/>
          </p:cNvSpPr>
          <p:nvPr/>
        </p:nvSpPr>
        <p:spPr bwMode="auto">
          <a:xfrm>
            <a:off x="304800" y="990600"/>
            <a:ext cx="8534400" cy="0"/>
          </a:xfrm>
          <a:prstGeom prst="line">
            <a:avLst/>
          </a:prstGeom>
          <a:noFill/>
          <a:ln w="5715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Liberation Sans" panose="020B0604020202020204" pitchFamily="34" charset="0"/>
            </a:endParaRPr>
          </a:p>
        </p:txBody>
      </p:sp>
      <p:sp>
        <p:nvSpPr>
          <p:cNvPr id="5" name="Rectangle 7"/>
          <p:cNvSpPr>
            <a:spLocks noChangeArrowheads="1"/>
          </p:cNvSpPr>
          <p:nvPr/>
        </p:nvSpPr>
        <p:spPr bwMode="auto">
          <a:xfrm>
            <a:off x="533400" y="304800"/>
            <a:ext cx="7620000" cy="560388"/>
          </a:xfrm>
          <a:prstGeom prst="rect">
            <a:avLst/>
          </a:prstGeom>
          <a:noFill/>
          <a:ln w="63500">
            <a:noFill/>
            <a:miter lim="800000"/>
          </a:ln>
          <a:effectLst/>
        </p:spPr>
        <p:txBody>
          <a:bodyPr vert="horz" wrap="square" lIns="90488" tIns="44450" rIns="90488" bIns="44450" numCol="1" anchor="ctr" anchorCtr="0" compatLnSpc="1"/>
          <a:lstStyle/>
          <a:p>
            <a:pPr algn="l"/>
            <a:r>
              <a:rPr lang="en-US" altLang="en-US" sz="3200" b="1" dirty="0">
                <a:solidFill>
                  <a:schemeClr val="tx2">
                    <a:lumMod val="75000"/>
                  </a:schemeClr>
                </a:solidFill>
                <a:latin typeface="Liberation Sans" panose="020B0604020202020204" pitchFamily="34" charset="0"/>
              </a:rPr>
              <a:t>Copyright</a:t>
            </a:r>
          </a:p>
        </p:txBody>
      </p:sp>
    </p:spTree>
  </p:cSld>
  <p:clrMapOvr>
    <a:masterClrMapping/>
  </p:clrMapOvr>
  <p:transition>
    <p:wipe dir="r"/>
  </p:transition>
</p:sld>
</file>

<file path=ppt/theme/theme1.xml><?xml version="1.0" encoding="utf-8"?>
<a:theme xmlns:a="http://schemas.openxmlformats.org/drawingml/2006/main" name="movnglnc">
  <a:themeElements>
    <a:clrScheme name="">
      <a:dk1>
        <a:srgbClr val="000000"/>
      </a:dk1>
      <a:lt1>
        <a:srgbClr val="FFFFFF"/>
      </a:lt1>
      <a:dk2>
        <a:srgbClr val="0000FF"/>
      </a:dk2>
      <a:lt2>
        <a:srgbClr val="000000"/>
      </a:lt2>
      <a:accent1>
        <a:srgbClr val="00FFFF"/>
      </a:accent1>
      <a:accent2>
        <a:srgbClr val="FF0000"/>
      </a:accent2>
      <a:accent3>
        <a:srgbClr val="FFFFFF"/>
      </a:accent3>
      <a:accent4>
        <a:srgbClr val="000000"/>
      </a:accent4>
      <a:accent5>
        <a:srgbClr val="AAFFFF"/>
      </a:accent5>
      <a:accent6>
        <a:srgbClr val="E70000"/>
      </a:accent6>
      <a:hlink>
        <a:srgbClr val="000099"/>
      </a:hlink>
      <a:folHlink>
        <a:srgbClr val="000000"/>
      </a:folHlink>
    </a:clrScheme>
    <a:fontScheme name="movnglnc">
      <a:majorFont>
        <a:latin typeface="Comic Sans M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000" b="0" i="0" u="none" strike="noStrike" cap="none" normalizeH="0" baseline="0" smtClean="0">
            <a:ln>
              <a:noFill/>
            </a:ln>
            <a:solidFill>
              <a:schemeClr val="tx1"/>
            </a:solidFill>
            <a:effectLst/>
            <a:latin typeface="Comic Sans MS" panose="030F0702030302020204" pitchFamily="66"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000" b="0" i="0" u="none" strike="noStrike" cap="none" normalizeH="0" baseline="0" smtClean="0">
            <a:ln>
              <a:noFill/>
            </a:ln>
            <a:solidFill>
              <a:schemeClr val="tx1"/>
            </a:solidFill>
            <a:effectLst/>
            <a:latin typeface="Comic Sans MS" panose="030F0702030302020204" pitchFamily="66" charset="0"/>
          </a:defRPr>
        </a:defPPr>
      </a:lstStyle>
    </a:lnDef>
  </a:objectDefaults>
  <a:extraClrSchemeLst>
    <a:extraClrScheme>
      <a:clrScheme name="movngln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ovngln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ovngln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ovngln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ovngln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ovngln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ovngln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FF"/>
    </a:dk2>
    <a:lt2>
      <a:srgbClr val="000000"/>
    </a:lt2>
    <a:accent1>
      <a:srgbClr val="000000"/>
    </a:accent1>
    <a:accent2>
      <a:srgbClr val="FF0000"/>
    </a:accent2>
    <a:accent3>
      <a:srgbClr val="FFFFFF"/>
    </a:accent3>
    <a:accent4>
      <a:srgbClr val="000000"/>
    </a:accent4>
    <a:accent5>
      <a:srgbClr val="AAAAAA"/>
    </a:accent5>
    <a:accent6>
      <a:srgbClr val="E70000"/>
    </a:accent6>
    <a:hlink>
      <a:srgbClr val="00FF00"/>
    </a:hlink>
    <a:folHlink>
      <a:srgbClr val="000000"/>
    </a:folHlink>
  </a:clrScheme>
</a:themeOverride>
</file>

<file path=docProps/app.xml><?xml version="1.0" encoding="utf-8"?>
<Properties xmlns="http://schemas.openxmlformats.org/officeDocument/2006/extended-properties" xmlns:vt="http://schemas.openxmlformats.org/officeDocument/2006/docPropsVTypes">
  <Template>C:\Program Files\Microsoft Office\Templates\1033\Company Handbook.pot</Template>
  <TotalTime>21</TotalTime>
  <Pages>43</Pages>
  <Words>3603</Words>
  <Application>Microsoft Office PowerPoint</Application>
  <PresentationFormat>On-screen Show (4:3)</PresentationFormat>
  <Paragraphs>563</Paragraphs>
  <Slides>80</Slides>
  <Notes>80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80</vt:i4>
      </vt:variant>
    </vt:vector>
  </HeadingPairs>
  <TitlesOfParts>
    <vt:vector size="88" baseType="lpstr">
      <vt:lpstr>Liberation Sans</vt:lpstr>
      <vt:lpstr>Arial</vt:lpstr>
      <vt:lpstr>Comic Sans MS</vt:lpstr>
      <vt:lpstr>Times New Roman</vt:lpstr>
      <vt:lpstr>Wingdings</vt:lpstr>
      <vt:lpstr>movnglnc</vt:lpstr>
      <vt:lpstr>Worksheet</vt:lpstr>
      <vt:lpstr>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Multiple- Step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and Accounting Standards</dc:title>
  <dc:creator>Coby Harmon</dc:creator>
  <cp:lastModifiedBy>HP</cp:lastModifiedBy>
  <cp:revision>2104</cp:revision>
  <cp:lastPrinted>1999-09-16T17:08:00Z</cp:lastPrinted>
  <dcterms:created xsi:type="dcterms:W3CDTF">1997-03-28T18:03:00Z</dcterms:created>
  <dcterms:modified xsi:type="dcterms:W3CDTF">2025-03-29T21:45:44Z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0FED7FFE856947829B3B83A5BA855DC5_12</vt:lpwstr>
  </property>
  <property fmtid="{D5CDD505-2E9C-101B-9397-08002B2CF9AE}" pid="3" name="KSOProductBuildVer">
    <vt:lpwstr>1033-12.2.0.16731</vt:lpwstr>
  </property>
</Properties>
</file>