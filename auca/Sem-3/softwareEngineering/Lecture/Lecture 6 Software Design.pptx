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8" r:id="rId15"/>
    <p:sldId id="279" r:id="rId16"/>
    <p:sldId id="280" r:id="rId17"/>
    <p:sldId id="269" r:id="rId18"/>
    <p:sldId id="270" r:id="rId19"/>
    <p:sldId id="271" r:id="rId20"/>
    <p:sldId id="272" r:id="rId21"/>
    <p:sldId id="273" r:id="rId22"/>
    <p:sldId id="274" r:id="rId23"/>
    <p:sldId id="275" r:id="rId24"/>
    <p:sldId id="276" r:id="rId25"/>
    <p:sldId id="277" r:id="rId26"/>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B59A7F19-EF41-4387-8BDD-2687E0C090F1}" type="datetimeFigureOut">
              <a:rPr lang="en-US" smtClean="0"/>
              <a:t>16-Nov-25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80F051E-984F-45BD-B37C-F66F23E00B3B}" type="slidenum">
              <a:rPr lang="en-US" smtClean="0"/>
              <a:t>‹#›</a:t>
            </a:fld>
            <a:endParaRPr lang="en-US"/>
          </a:p>
        </p:txBody>
      </p:sp>
    </p:spTree>
    <p:extLst>
      <p:ext uri="{BB962C8B-B14F-4D97-AF65-F5344CB8AC3E}">
        <p14:creationId xmlns:p14="http://schemas.microsoft.com/office/powerpoint/2010/main" val="2557773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Actors in a diagram </a:t>
            </a:r>
            <a:r>
              <a:rPr lang="en-US" dirty="0"/>
              <a:t>represent a </a:t>
            </a:r>
            <a:r>
              <a:rPr lang="en-US" b="1" dirty="0">
                <a:effectLst/>
              </a:rPr>
              <a:t>role played by a user, system, or organization that interacts with the system being modeled</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Use cases are </a:t>
            </a:r>
            <a:r>
              <a:rPr lang="en-US" dirty="0"/>
              <a:t>descriptions of how users or other systems interact with a product or system to achieve a specific goal, serving as a way to define requirements and plan development.</a:t>
            </a:r>
          </a:p>
          <a:p>
            <a:r>
              <a:rPr lang="en-US" sz="1200" b="0" i="0" kern="1200" dirty="0">
                <a:solidFill>
                  <a:schemeClr val="tx1"/>
                </a:solidFill>
                <a:effectLst/>
                <a:latin typeface="+mn-lt"/>
                <a:ea typeface="+mn-ea"/>
                <a:cs typeface="+mn-cs"/>
              </a:rPr>
              <a:t>A use case diagram is </a:t>
            </a:r>
            <a:r>
              <a:rPr lang="en-US" dirty="0"/>
              <a:t>a visual representation of a system's users and their interactions with the system's functionality</a:t>
            </a:r>
            <a:r>
              <a:rPr lang="en-US" sz="1200" b="0" i="0" kern="1200" dirty="0">
                <a:solidFill>
                  <a:schemeClr val="tx1"/>
                </a:solidFill>
                <a:effectLst/>
                <a:latin typeface="+mn-lt"/>
                <a:ea typeface="+mn-ea"/>
                <a:cs typeface="+mn-cs"/>
              </a:rPr>
              <a:t>. It shows </a:t>
            </a:r>
            <a:r>
              <a:rPr lang="en-US" sz="1200" b="0" i="1" kern="1200" dirty="0">
                <a:solidFill>
                  <a:schemeClr val="tx1"/>
                </a:solidFill>
                <a:effectLst/>
                <a:latin typeface="+mn-lt"/>
                <a:ea typeface="+mn-ea"/>
                <a:cs typeface="+mn-cs"/>
              </a:rPr>
              <a:t>what</a:t>
            </a:r>
            <a:r>
              <a:rPr lang="en-US" sz="1200" b="0" i="0" kern="1200" dirty="0">
                <a:solidFill>
                  <a:schemeClr val="tx1"/>
                </a:solidFill>
                <a:effectLst/>
                <a:latin typeface="+mn-lt"/>
                <a:ea typeface="+mn-ea"/>
                <a:cs typeface="+mn-cs"/>
              </a:rPr>
              <a:t> a system does from the user's perspective, not </a:t>
            </a:r>
            <a:r>
              <a:rPr lang="en-US" sz="1200" b="0" i="1" kern="1200" dirty="0">
                <a:solidFill>
                  <a:schemeClr val="tx1"/>
                </a:solidFill>
                <a:effectLst/>
                <a:latin typeface="+mn-lt"/>
                <a:ea typeface="+mn-ea"/>
                <a:cs typeface="+mn-cs"/>
              </a:rPr>
              <a:t>how</a:t>
            </a:r>
            <a:r>
              <a:rPr lang="en-US" sz="1200" b="0" i="0" kern="1200" dirty="0">
                <a:solidFill>
                  <a:schemeClr val="tx1"/>
                </a:solidFill>
                <a:effectLst/>
                <a:latin typeface="+mn-lt"/>
                <a:ea typeface="+mn-ea"/>
                <a:cs typeface="+mn-cs"/>
              </a:rPr>
              <a:t> it does it. The key components are </a:t>
            </a:r>
            <a:r>
              <a:rPr lang="en-US" sz="1200" b="1" i="0" kern="1200" dirty="0">
                <a:solidFill>
                  <a:schemeClr val="tx1"/>
                </a:solidFill>
                <a:effectLst/>
                <a:latin typeface="+mn-lt"/>
                <a:ea typeface="+mn-ea"/>
                <a:cs typeface="+mn-cs"/>
              </a:rPr>
              <a:t>actors</a:t>
            </a:r>
            <a:r>
              <a:rPr lang="en-US" sz="1200" b="0" i="0" kern="1200" dirty="0">
                <a:solidFill>
                  <a:schemeClr val="tx1"/>
                </a:solidFill>
                <a:effectLst/>
                <a:latin typeface="+mn-lt"/>
                <a:ea typeface="+mn-ea"/>
                <a:cs typeface="+mn-cs"/>
              </a:rPr>
              <a:t> (users or external systems), </a:t>
            </a:r>
            <a:r>
              <a:rPr lang="en-US" sz="1200" b="1" i="0" kern="1200" dirty="0">
                <a:solidFill>
                  <a:schemeClr val="tx1"/>
                </a:solidFill>
                <a:effectLst/>
                <a:latin typeface="+mn-lt"/>
                <a:ea typeface="+mn-ea"/>
                <a:cs typeface="+mn-cs"/>
              </a:rPr>
              <a:t>use cases</a:t>
            </a:r>
            <a:r>
              <a:rPr lang="en-US" sz="1200" b="0" i="0" kern="1200" dirty="0">
                <a:solidFill>
                  <a:schemeClr val="tx1"/>
                </a:solidFill>
                <a:effectLst/>
                <a:latin typeface="+mn-lt"/>
                <a:ea typeface="+mn-ea"/>
                <a:cs typeface="+mn-cs"/>
              </a:rPr>
              <a:t> (functions or goals), and the </a:t>
            </a:r>
            <a:r>
              <a:rPr lang="en-US" sz="1200" b="1" i="0" kern="1200" dirty="0">
                <a:solidFill>
                  <a:schemeClr val="tx1"/>
                </a:solidFill>
                <a:effectLst/>
                <a:latin typeface="+mn-lt"/>
                <a:ea typeface="+mn-ea"/>
                <a:cs typeface="+mn-cs"/>
              </a:rPr>
              <a:t>relationships</a:t>
            </a:r>
            <a:r>
              <a:rPr lang="en-US" sz="1200" b="0" i="0" kern="1200" dirty="0">
                <a:solidFill>
                  <a:schemeClr val="tx1"/>
                </a:solidFill>
                <a:effectLst/>
                <a:latin typeface="+mn-lt"/>
                <a:ea typeface="+mn-ea"/>
                <a:cs typeface="+mn-cs"/>
              </a:rPr>
              <a:t> between them. </a:t>
            </a:r>
            <a:endParaRPr lang="en-US" dirty="0"/>
          </a:p>
        </p:txBody>
      </p:sp>
      <p:sp>
        <p:nvSpPr>
          <p:cNvPr id="4" name="Slide Number Placeholder 3"/>
          <p:cNvSpPr>
            <a:spLocks noGrp="1"/>
          </p:cNvSpPr>
          <p:nvPr>
            <p:ph type="sldNum" sz="quarter" idx="5"/>
          </p:nvPr>
        </p:nvSpPr>
        <p:spPr/>
        <p:txBody>
          <a:bodyPr/>
          <a:lstStyle/>
          <a:p>
            <a:fld id="{D80F051E-984F-45BD-B37C-F66F23E00B3B}" type="slidenum">
              <a:rPr lang="en-US" smtClean="0"/>
              <a:t>9</a:t>
            </a:fld>
            <a:endParaRPr lang="en-US"/>
          </a:p>
        </p:txBody>
      </p:sp>
    </p:spTree>
    <p:extLst>
      <p:ext uri="{BB962C8B-B14F-4D97-AF65-F5344CB8AC3E}">
        <p14:creationId xmlns:p14="http://schemas.microsoft.com/office/powerpoint/2010/main" val="2510956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200" b="0" i="0">
                <a:solidFill>
                  <a:srgbClr val="FF0000"/>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30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16-Nov-25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FF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0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16-Nov-25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FF0000"/>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16-Nov-25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16-Nov-25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16-Nov-25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74649" y="-67563"/>
            <a:ext cx="7994700" cy="1389125"/>
          </a:xfrm>
          <a:prstGeom prst="rect">
            <a:avLst/>
          </a:prstGeom>
        </p:spPr>
        <p:txBody>
          <a:bodyPr wrap="square" lIns="0" tIns="0" rIns="0" bIns="0">
            <a:spAutoFit/>
          </a:bodyPr>
          <a:lstStyle>
            <a:lvl1pPr>
              <a:defRPr sz="3200" b="0" i="0">
                <a:solidFill>
                  <a:srgbClr val="FF0000"/>
                </a:solidFill>
                <a:latin typeface="Calibri"/>
                <a:cs typeface="Calibri"/>
              </a:defRPr>
            </a:lvl1pPr>
          </a:lstStyle>
          <a:p>
            <a:endParaRPr/>
          </a:p>
        </p:txBody>
      </p:sp>
      <p:sp>
        <p:nvSpPr>
          <p:cNvPr id="3" name="Holder 3"/>
          <p:cNvSpPr>
            <a:spLocks noGrp="1"/>
          </p:cNvSpPr>
          <p:nvPr>
            <p:ph type="body" idx="1"/>
          </p:nvPr>
        </p:nvSpPr>
        <p:spPr>
          <a:xfrm>
            <a:off x="535940" y="1029970"/>
            <a:ext cx="8074659" cy="4049395"/>
          </a:xfrm>
          <a:prstGeom prst="rect">
            <a:avLst/>
          </a:prstGeom>
        </p:spPr>
        <p:txBody>
          <a:bodyPr wrap="square" lIns="0" tIns="0" rIns="0" bIns="0">
            <a:spAutoFit/>
          </a:bodyPr>
          <a:lstStyle>
            <a:lvl1pPr>
              <a:defRPr sz="30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16-Nov-25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9410" y="2481452"/>
            <a:ext cx="3345179" cy="696595"/>
          </a:xfrm>
          <a:prstGeom prst="rect">
            <a:avLst/>
          </a:prstGeom>
        </p:spPr>
        <p:txBody>
          <a:bodyPr vert="horz" wrap="square" lIns="0" tIns="13335" rIns="0" bIns="0" rtlCol="0">
            <a:spAutoFit/>
          </a:bodyPr>
          <a:lstStyle/>
          <a:p>
            <a:pPr marL="12700">
              <a:lnSpc>
                <a:spcPct val="100000"/>
              </a:lnSpc>
              <a:spcBef>
                <a:spcPts val="105"/>
              </a:spcBef>
            </a:pPr>
            <a:r>
              <a:rPr sz="4400" dirty="0"/>
              <a:t>UML</a:t>
            </a:r>
            <a:r>
              <a:rPr sz="4400" spc="-15" dirty="0"/>
              <a:t> </a:t>
            </a:r>
            <a:r>
              <a:rPr sz="4400" spc="-10" dirty="0"/>
              <a:t>Diagrams</a:t>
            </a:r>
            <a:endParaRPr sz="4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33522" y="245110"/>
            <a:ext cx="3077845" cy="635000"/>
          </a:xfrm>
          <a:prstGeom prst="rect">
            <a:avLst/>
          </a:prstGeom>
        </p:spPr>
        <p:txBody>
          <a:bodyPr vert="horz" wrap="square" lIns="0" tIns="12065" rIns="0" bIns="0" rtlCol="0">
            <a:spAutoFit/>
          </a:bodyPr>
          <a:lstStyle/>
          <a:p>
            <a:pPr marL="12700">
              <a:lnSpc>
                <a:spcPct val="100000"/>
              </a:lnSpc>
              <a:spcBef>
                <a:spcPts val="95"/>
              </a:spcBef>
            </a:pPr>
            <a:r>
              <a:rPr sz="4000" b="1" dirty="0">
                <a:solidFill>
                  <a:srgbClr val="C00000"/>
                </a:solidFill>
                <a:latin typeface="Calibri"/>
                <a:cs typeface="Calibri"/>
              </a:rPr>
              <a:t>What</a:t>
            </a:r>
            <a:r>
              <a:rPr sz="4000" b="1" spc="-80" dirty="0">
                <a:solidFill>
                  <a:srgbClr val="C00000"/>
                </a:solidFill>
                <a:latin typeface="Calibri"/>
                <a:cs typeface="Calibri"/>
              </a:rPr>
              <a:t> </a:t>
            </a:r>
            <a:r>
              <a:rPr sz="4000" b="1" dirty="0">
                <a:solidFill>
                  <a:srgbClr val="C00000"/>
                </a:solidFill>
                <a:latin typeface="Calibri"/>
                <a:cs typeface="Calibri"/>
              </a:rPr>
              <a:t>is</a:t>
            </a:r>
            <a:r>
              <a:rPr sz="4000" b="1" spc="-70" dirty="0">
                <a:solidFill>
                  <a:srgbClr val="C00000"/>
                </a:solidFill>
                <a:latin typeface="Calibri"/>
                <a:cs typeface="Calibri"/>
              </a:rPr>
              <a:t> </a:t>
            </a:r>
            <a:r>
              <a:rPr sz="4000" b="1" dirty="0">
                <a:solidFill>
                  <a:srgbClr val="C00000"/>
                </a:solidFill>
                <a:latin typeface="Calibri"/>
                <a:cs typeface="Calibri"/>
              </a:rPr>
              <a:t>UML</a:t>
            </a:r>
            <a:r>
              <a:rPr sz="4000" b="1" spc="-85" dirty="0">
                <a:solidFill>
                  <a:srgbClr val="C00000"/>
                </a:solidFill>
                <a:latin typeface="Calibri"/>
                <a:cs typeface="Calibri"/>
              </a:rPr>
              <a:t> </a:t>
            </a:r>
            <a:r>
              <a:rPr sz="4000" b="1" spc="-50" dirty="0">
                <a:solidFill>
                  <a:srgbClr val="C00000"/>
                </a:solidFill>
                <a:latin typeface="Calibri"/>
                <a:cs typeface="Calibri"/>
              </a:rPr>
              <a:t>?</a:t>
            </a:r>
            <a:endParaRPr sz="4000">
              <a:latin typeface="Calibri"/>
              <a:cs typeface="Calibri"/>
            </a:endParaRPr>
          </a:p>
        </p:txBody>
      </p:sp>
      <p:sp>
        <p:nvSpPr>
          <p:cNvPr id="3" name="object 3"/>
          <p:cNvSpPr txBox="1"/>
          <p:nvPr/>
        </p:nvSpPr>
        <p:spPr>
          <a:xfrm>
            <a:off x="0" y="1053816"/>
            <a:ext cx="8991600" cy="5589351"/>
          </a:xfrm>
          <a:prstGeom prst="rect">
            <a:avLst/>
          </a:prstGeom>
        </p:spPr>
        <p:txBody>
          <a:bodyPr vert="horz" wrap="square" lIns="0" tIns="109855" rIns="0" bIns="0" rtlCol="0">
            <a:spAutoFit/>
          </a:bodyPr>
          <a:lstStyle/>
          <a:p>
            <a:pPr marL="400050" indent="-387350" algn="just">
              <a:lnSpc>
                <a:spcPct val="100000"/>
              </a:lnSpc>
              <a:spcBef>
                <a:spcPts val="865"/>
              </a:spcBef>
              <a:buChar char="•"/>
              <a:tabLst>
                <a:tab pos="400050" algn="l"/>
              </a:tabLst>
            </a:pPr>
            <a:r>
              <a:rPr sz="2800" dirty="0">
                <a:latin typeface="Calibri" panose="020F0502020204030204" pitchFamily="34" charset="0"/>
                <a:ea typeface="Calibri" panose="020F0502020204030204" pitchFamily="34" charset="0"/>
                <a:cs typeface="Calibri" panose="020F0502020204030204" pitchFamily="34" charset="0"/>
              </a:rPr>
              <a:t>UML</a:t>
            </a:r>
            <a:r>
              <a:rPr sz="2800" spc="-55" dirty="0">
                <a:latin typeface="Calibri" panose="020F0502020204030204" pitchFamily="34" charset="0"/>
                <a:ea typeface="Calibri" panose="020F0502020204030204" pitchFamily="34" charset="0"/>
                <a:cs typeface="Calibri" panose="020F0502020204030204" pitchFamily="34" charset="0"/>
              </a:rPr>
              <a:t> </a:t>
            </a:r>
            <a:r>
              <a:rPr sz="2800" dirty="0">
                <a:latin typeface="Calibri" panose="020F0502020204030204" pitchFamily="34" charset="0"/>
                <a:ea typeface="Calibri" panose="020F0502020204030204" pitchFamily="34" charset="0"/>
                <a:cs typeface="Calibri" panose="020F0502020204030204" pitchFamily="34" charset="0"/>
              </a:rPr>
              <a:t>stands</a:t>
            </a:r>
            <a:r>
              <a:rPr sz="2800" spc="-35" dirty="0">
                <a:latin typeface="Calibri" panose="020F0502020204030204" pitchFamily="34" charset="0"/>
                <a:ea typeface="Calibri" panose="020F0502020204030204" pitchFamily="34" charset="0"/>
                <a:cs typeface="Calibri" panose="020F0502020204030204" pitchFamily="34" charset="0"/>
              </a:rPr>
              <a:t> </a:t>
            </a:r>
            <a:r>
              <a:rPr sz="2800" dirty="0">
                <a:latin typeface="Calibri" panose="020F0502020204030204" pitchFamily="34" charset="0"/>
                <a:ea typeface="Calibri" panose="020F0502020204030204" pitchFamily="34" charset="0"/>
                <a:cs typeface="Calibri" panose="020F0502020204030204" pitchFamily="34" charset="0"/>
              </a:rPr>
              <a:t>for</a:t>
            </a:r>
            <a:r>
              <a:rPr sz="2800" spc="-55" dirty="0">
                <a:latin typeface="Calibri" panose="020F0502020204030204" pitchFamily="34" charset="0"/>
                <a:ea typeface="Calibri" panose="020F0502020204030204" pitchFamily="34" charset="0"/>
                <a:cs typeface="Calibri" panose="020F0502020204030204" pitchFamily="34" charset="0"/>
              </a:rPr>
              <a:t> </a:t>
            </a:r>
            <a:r>
              <a:rPr sz="2800" dirty="0">
                <a:latin typeface="Calibri" panose="020F0502020204030204" pitchFamily="34" charset="0"/>
                <a:ea typeface="Calibri" panose="020F0502020204030204" pitchFamily="34" charset="0"/>
                <a:cs typeface="Calibri" panose="020F0502020204030204" pitchFamily="34" charset="0"/>
              </a:rPr>
              <a:t>“</a:t>
            </a:r>
            <a:r>
              <a:rPr sz="2800" b="1" dirty="0">
                <a:latin typeface="Calibri" panose="020F0502020204030204" pitchFamily="34" charset="0"/>
                <a:ea typeface="Calibri" panose="020F0502020204030204" pitchFamily="34" charset="0"/>
                <a:cs typeface="Calibri" panose="020F0502020204030204" pitchFamily="34" charset="0"/>
              </a:rPr>
              <a:t>Unified</a:t>
            </a:r>
            <a:r>
              <a:rPr sz="2800" b="1" spc="-85"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Modeling</a:t>
            </a:r>
            <a:r>
              <a:rPr sz="2800" b="1" spc="-80" dirty="0">
                <a:latin typeface="Calibri" panose="020F0502020204030204" pitchFamily="34" charset="0"/>
                <a:ea typeface="Calibri" panose="020F0502020204030204" pitchFamily="34" charset="0"/>
                <a:cs typeface="Calibri" panose="020F0502020204030204" pitchFamily="34" charset="0"/>
              </a:rPr>
              <a:t> </a:t>
            </a:r>
            <a:r>
              <a:rPr sz="2800" b="1" spc="-10" dirty="0">
                <a:latin typeface="Calibri" panose="020F0502020204030204" pitchFamily="34" charset="0"/>
                <a:ea typeface="Calibri" panose="020F0502020204030204" pitchFamily="34" charset="0"/>
                <a:cs typeface="Calibri" panose="020F0502020204030204" pitchFamily="34" charset="0"/>
              </a:rPr>
              <a:t>Language”</a:t>
            </a:r>
            <a:endParaRPr sz="2800" dirty="0">
              <a:latin typeface="Calibri" panose="020F0502020204030204" pitchFamily="34" charset="0"/>
              <a:ea typeface="Calibri" panose="020F0502020204030204" pitchFamily="34" charset="0"/>
              <a:cs typeface="Calibri" panose="020F0502020204030204" pitchFamily="34" charset="0"/>
            </a:endParaRPr>
          </a:p>
          <a:p>
            <a:pPr marL="417830" marR="5080" indent="-405765" algn="just">
              <a:lnSpc>
                <a:spcPct val="100000"/>
              </a:lnSpc>
              <a:spcBef>
                <a:spcPts val="765"/>
              </a:spcBef>
              <a:buChar char="•"/>
              <a:tabLst>
                <a:tab pos="417830" algn="l"/>
                <a:tab pos="550545" algn="l"/>
              </a:tabLst>
            </a:pPr>
            <a:r>
              <a:rPr sz="2800" dirty="0">
                <a:latin typeface="Calibri" panose="020F0502020204030204" pitchFamily="34" charset="0"/>
                <a:ea typeface="Calibri" panose="020F0502020204030204" pitchFamily="34" charset="0"/>
                <a:cs typeface="Calibri" panose="020F0502020204030204" pitchFamily="34" charset="0"/>
              </a:rPr>
              <a:t>	It</a:t>
            </a:r>
            <a:r>
              <a:rPr sz="2800" spc="530" dirty="0">
                <a:latin typeface="Calibri" panose="020F0502020204030204" pitchFamily="34" charset="0"/>
                <a:ea typeface="Calibri" panose="020F0502020204030204" pitchFamily="34" charset="0"/>
                <a:cs typeface="Calibri" panose="020F0502020204030204" pitchFamily="34" charset="0"/>
              </a:rPr>
              <a:t> </a:t>
            </a:r>
            <a:r>
              <a:rPr sz="2800" dirty="0">
                <a:latin typeface="Calibri" panose="020F0502020204030204" pitchFamily="34" charset="0"/>
                <a:ea typeface="Calibri" panose="020F0502020204030204" pitchFamily="34" charset="0"/>
                <a:cs typeface="Calibri" panose="020F0502020204030204" pitchFamily="34" charset="0"/>
              </a:rPr>
              <a:t>is</a:t>
            </a:r>
            <a:r>
              <a:rPr sz="2800" spc="535" dirty="0">
                <a:latin typeface="Calibri" panose="020F0502020204030204" pitchFamily="34" charset="0"/>
                <a:ea typeface="Calibri" panose="020F0502020204030204" pitchFamily="34" charset="0"/>
                <a:cs typeface="Calibri" panose="020F0502020204030204" pitchFamily="34" charset="0"/>
              </a:rPr>
              <a:t> </a:t>
            </a:r>
            <a:r>
              <a:rPr sz="2800" dirty="0">
                <a:latin typeface="Calibri" panose="020F0502020204030204" pitchFamily="34" charset="0"/>
                <a:ea typeface="Calibri" panose="020F0502020204030204" pitchFamily="34" charset="0"/>
                <a:cs typeface="Calibri" panose="020F0502020204030204" pitchFamily="34" charset="0"/>
              </a:rPr>
              <a:t>a</a:t>
            </a:r>
            <a:r>
              <a:rPr sz="2800" spc="520" dirty="0">
                <a:latin typeface="Calibri" panose="020F0502020204030204" pitchFamily="34" charset="0"/>
                <a:ea typeface="Calibri" panose="020F0502020204030204" pitchFamily="34" charset="0"/>
                <a:cs typeface="Calibri" panose="020F0502020204030204" pitchFamily="34" charset="0"/>
              </a:rPr>
              <a:t> </a:t>
            </a:r>
            <a:r>
              <a:rPr sz="2800" spc="-20" dirty="0">
                <a:latin typeface="Calibri" panose="020F0502020204030204" pitchFamily="34" charset="0"/>
                <a:ea typeface="Calibri" panose="020F0502020204030204" pitchFamily="34" charset="0"/>
                <a:cs typeface="Calibri" panose="020F0502020204030204" pitchFamily="34" charset="0"/>
              </a:rPr>
              <a:t>industry-</a:t>
            </a:r>
            <a:r>
              <a:rPr sz="2800" dirty="0">
                <a:latin typeface="Calibri" panose="020F0502020204030204" pitchFamily="34" charset="0"/>
                <a:ea typeface="Calibri" panose="020F0502020204030204" pitchFamily="34" charset="0"/>
                <a:cs typeface="Calibri" panose="020F0502020204030204" pitchFamily="34" charset="0"/>
              </a:rPr>
              <a:t>standard</a:t>
            </a:r>
            <a:r>
              <a:rPr sz="2800" spc="505"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graphical</a:t>
            </a:r>
            <a:r>
              <a:rPr sz="2800" b="1" spc="530" dirty="0">
                <a:latin typeface="Calibri" panose="020F0502020204030204" pitchFamily="34" charset="0"/>
                <a:ea typeface="Calibri" panose="020F0502020204030204" pitchFamily="34" charset="0"/>
                <a:cs typeface="Calibri" panose="020F0502020204030204" pitchFamily="34" charset="0"/>
              </a:rPr>
              <a:t> </a:t>
            </a:r>
            <a:r>
              <a:rPr sz="2800" b="1" spc="-10" dirty="0">
                <a:latin typeface="Calibri" panose="020F0502020204030204" pitchFamily="34" charset="0"/>
                <a:ea typeface="Calibri" panose="020F0502020204030204" pitchFamily="34" charset="0"/>
                <a:cs typeface="Calibri" panose="020F0502020204030204" pitchFamily="34" charset="0"/>
              </a:rPr>
              <a:t>language </a:t>
            </a:r>
            <a:r>
              <a:rPr lang="en-US" sz="2800" dirty="0"/>
              <a:t>since it provides a common, standardized way to visualize, specify, construct, and document software systems, improving communication and collaboration between diverse stakeholders.</a:t>
            </a:r>
            <a:endParaRPr lang="en-US" sz="2800" b="1" spc="-10" dirty="0">
              <a:latin typeface="Calibri" panose="020F0502020204030204" pitchFamily="34" charset="0"/>
              <a:ea typeface="Calibri" panose="020F0502020204030204" pitchFamily="34" charset="0"/>
              <a:cs typeface="Calibri" panose="020F0502020204030204" pitchFamily="34" charset="0"/>
            </a:endParaRPr>
          </a:p>
          <a:p>
            <a:pPr marL="355600" marR="9525" indent="-342900" algn="just">
              <a:lnSpc>
                <a:spcPct val="100000"/>
              </a:lnSpc>
              <a:spcBef>
                <a:spcPts val="775"/>
              </a:spcBef>
              <a:buChar char="•"/>
              <a:tabLst>
                <a:tab pos="355600" algn="l"/>
                <a:tab pos="374015" algn="l"/>
              </a:tabLst>
            </a:pPr>
            <a:r>
              <a:rPr sz="2800" dirty="0">
                <a:latin typeface="Calibri" panose="020F0502020204030204" pitchFamily="34" charset="0"/>
                <a:ea typeface="Calibri" panose="020F0502020204030204" pitchFamily="34" charset="0"/>
                <a:cs typeface="Calibri" panose="020F0502020204030204" pitchFamily="34" charset="0"/>
              </a:rPr>
              <a:t>	The</a:t>
            </a:r>
            <a:r>
              <a:rPr sz="2800" spc="455" dirty="0">
                <a:latin typeface="Calibri" panose="020F0502020204030204" pitchFamily="34" charset="0"/>
                <a:ea typeface="Calibri" panose="020F0502020204030204" pitchFamily="34" charset="0"/>
                <a:cs typeface="Calibri" panose="020F0502020204030204" pitchFamily="34" charset="0"/>
              </a:rPr>
              <a:t> </a:t>
            </a:r>
            <a:r>
              <a:rPr sz="2800" dirty="0">
                <a:latin typeface="Calibri" panose="020F0502020204030204" pitchFamily="34" charset="0"/>
                <a:ea typeface="Calibri" panose="020F0502020204030204" pitchFamily="34" charset="0"/>
                <a:cs typeface="Calibri" panose="020F0502020204030204" pitchFamily="34" charset="0"/>
              </a:rPr>
              <a:t>UML</a:t>
            </a:r>
            <a:r>
              <a:rPr sz="2800" spc="455" dirty="0">
                <a:latin typeface="Calibri" panose="020F0502020204030204" pitchFamily="34" charset="0"/>
                <a:ea typeface="Calibri" panose="020F0502020204030204" pitchFamily="34" charset="0"/>
                <a:cs typeface="Calibri" panose="020F0502020204030204" pitchFamily="34" charset="0"/>
              </a:rPr>
              <a:t> </a:t>
            </a:r>
            <a:r>
              <a:rPr sz="2800" dirty="0">
                <a:latin typeface="Calibri" panose="020F0502020204030204" pitchFamily="34" charset="0"/>
                <a:ea typeface="Calibri" panose="020F0502020204030204" pitchFamily="34" charset="0"/>
                <a:cs typeface="Calibri" panose="020F0502020204030204" pitchFamily="34" charset="0"/>
              </a:rPr>
              <a:t>uses</a:t>
            </a:r>
            <a:r>
              <a:rPr sz="2800" spc="465" dirty="0">
                <a:latin typeface="Calibri" panose="020F0502020204030204" pitchFamily="34" charset="0"/>
                <a:ea typeface="Calibri" panose="020F0502020204030204" pitchFamily="34" charset="0"/>
                <a:cs typeface="Calibri" panose="020F0502020204030204" pitchFamily="34" charset="0"/>
              </a:rPr>
              <a:t> </a:t>
            </a:r>
            <a:r>
              <a:rPr sz="2800" dirty="0">
                <a:latin typeface="Calibri" panose="020F0502020204030204" pitchFamily="34" charset="0"/>
                <a:ea typeface="Calibri" panose="020F0502020204030204" pitchFamily="34" charset="0"/>
                <a:cs typeface="Calibri" panose="020F0502020204030204" pitchFamily="34" charset="0"/>
              </a:rPr>
              <a:t>mostly</a:t>
            </a:r>
            <a:r>
              <a:rPr sz="2800" spc="475"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graphical</a:t>
            </a:r>
            <a:r>
              <a:rPr sz="2800" b="1" spc="459"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notations</a:t>
            </a:r>
            <a:r>
              <a:rPr sz="2800" b="1" spc="470" dirty="0">
                <a:latin typeface="Calibri" panose="020F0502020204030204" pitchFamily="34" charset="0"/>
                <a:ea typeface="Calibri" panose="020F0502020204030204" pitchFamily="34" charset="0"/>
                <a:cs typeface="Calibri" panose="020F0502020204030204" pitchFamily="34" charset="0"/>
              </a:rPr>
              <a:t> </a:t>
            </a:r>
            <a:r>
              <a:rPr sz="2800" b="1" spc="-25" dirty="0">
                <a:latin typeface="Calibri" panose="020F0502020204030204" pitchFamily="34" charset="0"/>
                <a:ea typeface="Calibri" panose="020F0502020204030204" pitchFamily="34" charset="0"/>
                <a:cs typeface="Calibri" panose="020F0502020204030204" pitchFamily="34" charset="0"/>
              </a:rPr>
              <a:t>to </a:t>
            </a:r>
            <a:r>
              <a:rPr sz="2800" b="1" dirty="0">
                <a:latin typeface="Calibri" panose="020F0502020204030204" pitchFamily="34" charset="0"/>
                <a:ea typeface="Calibri" panose="020F0502020204030204" pitchFamily="34" charset="0"/>
                <a:cs typeface="Calibri" panose="020F0502020204030204" pitchFamily="34" charset="0"/>
              </a:rPr>
              <a:t>express</a:t>
            </a:r>
            <a:r>
              <a:rPr sz="2800" b="1" spc="500"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the</a:t>
            </a:r>
            <a:r>
              <a:rPr sz="2800" b="1" spc="520"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OO</a:t>
            </a:r>
            <a:r>
              <a:rPr sz="2800" b="1" spc="515"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analysis</a:t>
            </a:r>
            <a:r>
              <a:rPr sz="2800" b="1" spc="509"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and</a:t>
            </a:r>
            <a:r>
              <a:rPr sz="2800" b="1" spc="505"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design</a:t>
            </a:r>
            <a:r>
              <a:rPr lang="en-US" sz="2800" b="1" dirty="0">
                <a:latin typeface="Calibri" panose="020F0502020204030204" pitchFamily="34" charset="0"/>
                <a:ea typeface="Calibri" panose="020F0502020204030204" pitchFamily="34" charset="0"/>
                <a:cs typeface="Calibri" panose="020F0502020204030204" pitchFamily="34" charset="0"/>
              </a:rPr>
              <a:t> (</a:t>
            </a:r>
            <a:r>
              <a:rPr lang="en-US" sz="2800" dirty="0">
                <a:latin typeface="Calibri" panose="020F0502020204030204" pitchFamily="34" charset="0"/>
                <a:ea typeface="Calibri" panose="020F0502020204030204" pitchFamily="34" charset="0"/>
                <a:cs typeface="Calibri" panose="020F0502020204030204" pitchFamily="34" charset="0"/>
              </a:rPr>
              <a:t>a software engineering approach that models systems as interacting objects to improve design quality and maintainability)</a:t>
            </a:r>
            <a:r>
              <a:rPr sz="2800" b="1" spc="505" dirty="0">
                <a:latin typeface="Calibri" panose="020F0502020204030204" pitchFamily="34" charset="0"/>
                <a:ea typeface="Calibri" panose="020F0502020204030204" pitchFamily="34" charset="0"/>
                <a:cs typeface="Calibri" panose="020F0502020204030204" pitchFamily="34" charset="0"/>
              </a:rPr>
              <a:t>  </a:t>
            </a:r>
            <a:r>
              <a:rPr sz="2800" b="1" spc="-25" dirty="0">
                <a:latin typeface="Calibri" panose="020F0502020204030204" pitchFamily="34" charset="0"/>
                <a:ea typeface="Calibri" panose="020F0502020204030204" pitchFamily="34" charset="0"/>
                <a:cs typeface="Calibri" panose="020F0502020204030204" pitchFamily="34" charset="0"/>
              </a:rPr>
              <a:t>of </a:t>
            </a:r>
            <a:r>
              <a:rPr sz="2800" dirty="0">
                <a:latin typeface="Calibri" panose="020F0502020204030204" pitchFamily="34" charset="0"/>
                <a:ea typeface="Calibri" panose="020F0502020204030204" pitchFamily="34" charset="0"/>
                <a:cs typeface="Calibri" panose="020F0502020204030204" pitchFamily="34" charset="0"/>
              </a:rPr>
              <a:t>software</a:t>
            </a:r>
            <a:r>
              <a:rPr sz="2800" spc="-114" dirty="0">
                <a:latin typeface="Calibri" panose="020F0502020204030204" pitchFamily="34" charset="0"/>
                <a:ea typeface="Calibri" panose="020F0502020204030204" pitchFamily="34" charset="0"/>
                <a:cs typeface="Calibri" panose="020F0502020204030204" pitchFamily="34" charset="0"/>
              </a:rPr>
              <a:t> </a:t>
            </a:r>
            <a:r>
              <a:rPr sz="2800" spc="-10" dirty="0">
                <a:latin typeface="Calibri" panose="020F0502020204030204" pitchFamily="34" charset="0"/>
                <a:ea typeface="Calibri" panose="020F0502020204030204" pitchFamily="34" charset="0"/>
                <a:cs typeface="Calibri" panose="020F0502020204030204" pitchFamily="34" charset="0"/>
              </a:rPr>
              <a:t>projects.</a:t>
            </a:r>
            <a:endParaRPr sz="2800" dirty="0">
              <a:latin typeface="Calibri" panose="020F0502020204030204" pitchFamily="34" charset="0"/>
              <a:ea typeface="Calibri" panose="020F0502020204030204" pitchFamily="34" charset="0"/>
              <a:cs typeface="Calibri" panose="020F0502020204030204" pitchFamily="34" charset="0"/>
            </a:endParaRPr>
          </a:p>
          <a:p>
            <a:pPr marL="355600" marR="6985" indent="-342900" algn="just">
              <a:lnSpc>
                <a:spcPct val="100000"/>
              </a:lnSpc>
              <a:spcBef>
                <a:spcPts val="770"/>
              </a:spcBef>
              <a:buFont typeface="Calibri"/>
              <a:buChar char="•"/>
              <a:tabLst>
                <a:tab pos="355600" algn="l"/>
                <a:tab pos="400050" algn="l"/>
              </a:tabLst>
            </a:pPr>
            <a:r>
              <a:rPr sz="2800"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Simplifies</a:t>
            </a:r>
            <a:r>
              <a:rPr sz="2800" b="1" spc="665"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the</a:t>
            </a:r>
            <a:r>
              <a:rPr sz="2800" b="1" spc="680"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complex</a:t>
            </a:r>
            <a:r>
              <a:rPr sz="2800" b="1" spc="690"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process</a:t>
            </a:r>
            <a:r>
              <a:rPr sz="2800" b="1" spc="680" dirty="0">
                <a:latin typeface="Calibri" panose="020F0502020204030204" pitchFamily="34" charset="0"/>
                <a:ea typeface="Calibri" panose="020F0502020204030204" pitchFamily="34" charset="0"/>
                <a:cs typeface="Calibri" panose="020F0502020204030204" pitchFamily="34" charset="0"/>
              </a:rPr>
              <a:t> </a:t>
            </a:r>
            <a:r>
              <a:rPr sz="2800" b="1" dirty="0">
                <a:latin typeface="Calibri" panose="020F0502020204030204" pitchFamily="34" charset="0"/>
                <a:ea typeface="Calibri" panose="020F0502020204030204" pitchFamily="34" charset="0"/>
                <a:cs typeface="Calibri" panose="020F0502020204030204" pitchFamily="34" charset="0"/>
              </a:rPr>
              <a:t>of</a:t>
            </a:r>
            <a:r>
              <a:rPr sz="2800" b="1" spc="685" dirty="0">
                <a:latin typeface="Calibri" panose="020F0502020204030204" pitchFamily="34" charset="0"/>
                <a:ea typeface="Calibri" panose="020F0502020204030204" pitchFamily="34" charset="0"/>
                <a:cs typeface="Calibri" panose="020F0502020204030204" pitchFamily="34" charset="0"/>
              </a:rPr>
              <a:t> </a:t>
            </a:r>
            <a:r>
              <a:rPr sz="2800" b="1" spc="-10" dirty="0">
                <a:latin typeface="Calibri" panose="020F0502020204030204" pitchFamily="34" charset="0"/>
                <a:ea typeface="Calibri" panose="020F0502020204030204" pitchFamily="34" charset="0"/>
                <a:cs typeface="Calibri" panose="020F0502020204030204" pitchFamily="34" charset="0"/>
              </a:rPr>
              <a:t>software design.</a:t>
            </a:r>
            <a:endParaRPr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1882" y="1210491"/>
            <a:ext cx="8349141" cy="41590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464565"/>
            <a:ext cx="8074025" cy="5977255"/>
          </a:xfrm>
          <a:prstGeom prst="rect">
            <a:avLst/>
          </a:prstGeom>
        </p:spPr>
        <p:txBody>
          <a:bodyPr vert="horz" wrap="square" lIns="0" tIns="13335" rIns="0" bIns="0" rtlCol="0">
            <a:spAutoFit/>
          </a:bodyPr>
          <a:lstStyle/>
          <a:p>
            <a:pPr marL="355600" marR="5080" indent="-342900" algn="just">
              <a:lnSpc>
                <a:spcPct val="100000"/>
              </a:lnSpc>
              <a:spcBef>
                <a:spcPts val="105"/>
              </a:spcBef>
              <a:buFont typeface="Arial MT"/>
              <a:buChar char="•"/>
              <a:tabLst>
                <a:tab pos="355600" algn="l"/>
              </a:tabLst>
            </a:pPr>
            <a:r>
              <a:rPr sz="3200" b="1" i="1" dirty="0">
                <a:latin typeface="Calibri"/>
                <a:cs typeface="Calibri"/>
              </a:rPr>
              <a:t>Behavior</a:t>
            </a:r>
            <a:r>
              <a:rPr sz="3200" b="1" i="1" spc="750" dirty="0">
                <a:latin typeface="Calibri"/>
                <a:cs typeface="Calibri"/>
              </a:rPr>
              <a:t>  </a:t>
            </a:r>
            <a:r>
              <a:rPr sz="3200" b="1" i="1" dirty="0">
                <a:latin typeface="Calibri"/>
                <a:cs typeface="Calibri"/>
              </a:rPr>
              <a:t>diagrams</a:t>
            </a:r>
            <a:r>
              <a:rPr sz="3200" b="1" i="1" spc="755" dirty="0">
                <a:latin typeface="Calibri"/>
                <a:cs typeface="Calibri"/>
              </a:rPr>
              <a:t>  </a:t>
            </a:r>
            <a:r>
              <a:rPr sz="3200" b="1" i="1" dirty="0">
                <a:latin typeface="Calibri"/>
                <a:cs typeface="Calibri"/>
              </a:rPr>
              <a:t>:</a:t>
            </a:r>
            <a:r>
              <a:rPr sz="3200" b="1" i="1" spc="765" dirty="0">
                <a:latin typeface="Calibri"/>
                <a:cs typeface="Calibri"/>
              </a:rPr>
              <a:t>  </a:t>
            </a:r>
            <a:r>
              <a:rPr sz="3200" dirty="0">
                <a:latin typeface="Calibri"/>
                <a:cs typeface="Calibri"/>
              </a:rPr>
              <a:t>Behavior</a:t>
            </a:r>
            <a:r>
              <a:rPr sz="3200" spc="755" dirty="0">
                <a:latin typeface="Calibri"/>
                <a:cs typeface="Calibri"/>
              </a:rPr>
              <a:t>  </a:t>
            </a:r>
            <a:r>
              <a:rPr sz="3200" spc="-10" dirty="0">
                <a:latin typeface="Calibri"/>
                <a:cs typeface="Calibri"/>
              </a:rPr>
              <a:t>diagrams </a:t>
            </a:r>
            <a:r>
              <a:rPr sz="3200" dirty="0">
                <a:latin typeface="Calibri"/>
                <a:cs typeface="Calibri"/>
              </a:rPr>
              <a:t>emphasize</a:t>
            </a:r>
            <a:r>
              <a:rPr sz="3200" spc="509" dirty="0">
                <a:latin typeface="Calibri"/>
                <a:cs typeface="Calibri"/>
              </a:rPr>
              <a:t> </a:t>
            </a:r>
            <a:r>
              <a:rPr sz="3200" dirty="0">
                <a:solidFill>
                  <a:srgbClr val="0000FF"/>
                </a:solidFill>
                <a:latin typeface="Calibri"/>
                <a:cs typeface="Calibri"/>
              </a:rPr>
              <a:t>what</a:t>
            </a:r>
            <a:r>
              <a:rPr sz="3200" spc="540" dirty="0">
                <a:solidFill>
                  <a:srgbClr val="0000FF"/>
                </a:solidFill>
                <a:latin typeface="Calibri"/>
                <a:cs typeface="Calibri"/>
              </a:rPr>
              <a:t> </a:t>
            </a:r>
            <a:r>
              <a:rPr sz="3200" dirty="0">
                <a:solidFill>
                  <a:srgbClr val="0000FF"/>
                </a:solidFill>
                <a:latin typeface="Calibri"/>
                <a:cs typeface="Calibri"/>
              </a:rPr>
              <a:t>must</a:t>
            </a:r>
            <a:r>
              <a:rPr sz="3200" spc="525" dirty="0">
                <a:solidFill>
                  <a:srgbClr val="0000FF"/>
                </a:solidFill>
                <a:latin typeface="Calibri"/>
                <a:cs typeface="Calibri"/>
              </a:rPr>
              <a:t> </a:t>
            </a:r>
            <a:r>
              <a:rPr sz="3200" dirty="0">
                <a:solidFill>
                  <a:srgbClr val="0000FF"/>
                </a:solidFill>
                <a:latin typeface="Calibri"/>
                <a:cs typeface="Calibri"/>
              </a:rPr>
              <a:t>happen</a:t>
            </a:r>
            <a:r>
              <a:rPr sz="3200" spc="540" dirty="0">
                <a:solidFill>
                  <a:srgbClr val="0000FF"/>
                </a:solidFill>
                <a:latin typeface="Calibri"/>
                <a:cs typeface="Calibri"/>
              </a:rPr>
              <a:t> </a:t>
            </a:r>
            <a:r>
              <a:rPr sz="3200" dirty="0">
                <a:solidFill>
                  <a:srgbClr val="0000FF"/>
                </a:solidFill>
                <a:latin typeface="Calibri"/>
                <a:cs typeface="Calibri"/>
              </a:rPr>
              <a:t>in</a:t>
            </a:r>
            <a:r>
              <a:rPr sz="3200" spc="540" dirty="0">
                <a:solidFill>
                  <a:srgbClr val="0000FF"/>
                </a:solidFill>
                <a:latin typeface="Calibri"/>
                <a:cs typeface="Calibri"/>
              </a:rPr>
              <a:t> </a:t>
            </a:r>
            <a:r>
              <a:rPr sz="3200" dirty="0">
                <a:solidFill>
                  <a:srgbClr val="0000FF"/>
                </a:solidFill>
                <a:latin typeface="Calibri"/>
                <a:cs typeface="Calibri"/>
              </a:rPr>
              <a:t>the</a:t>
            </a:r>
            <a:r>
              <a:rPr sz="3200" spc="530" dirty="0">
                <a:solidFill>
                  <a:srgbClr val="0000FF"/>
                </a:solidFill>
                <a:latin typeface="Calibri"/>
                <a:cs typeface="Calibri"/>
              </a:rPr>
              <a:t> </a:t>
            </a:r>
            <a:r>
              <a:rPr sz="3200" spc="-10" dirty="0">
                <a:solidFill>
                  <a:srgbClr val="0000FF"/>
                </a:solidFill>
                <a:latin typeface="Calibri"/>
                <a:cs typeface="Calibri"/>
              </a:rPr>
              <a:t>system </a:t>
            </a:r>
            <a:r>
              <a:rPr sz="3200" dirty="0">
                <a:latin typeface="Calibri"/>
                <a:cs typeface="Calibri"/>
              </a:rPr>
              <a:t>being</a:t>
            </a:r>
            <a:r>
              <a:rPr sz="3200" spc="615" dirty="0">
                <a:latin typeface="Calibri"/>
                <a:cs typeface="Calibri"/>
              </a:rPr>
              <a:t>  </a:t>
            </a:r>
            <a:r>
              <a:rPr sz="3200" dirty="0">
                <a:latin typeface="Calibri"/>
                <a:cs typeface="Calibri"/>
              </a:rPr>
              <a:t>modeled.</a:t>
            </a:r>
            <a:r>
              <a:rPr sz="3200" spc="610" dirty="0">
                <a:latin typeface="Calibri"/>
                <a:cs typeface="Calibri"/>
              </a:rPr>
              <a:t>  </a:t>
            </a:r>
            <a:r>
              <a:rPr sz="3200" dirty="0">
                <a:latin typeface="Calibri"/>
                <a:cs typeface="Calibri"/>
              </a:rPr>
              <a:t>Since</a:t>
            </a:r>
            <a:r>
              <a:rPr sz="3200" spc="605" dirty="0">
                <a:latin typeface="Calibri"/>
                <a:cs typeface="Calibri"/>
              </a:rPr>
              <a:t>  </a:t>
            </a:r>
            <a:r>
              <a:rPr sz="3200" dirty="0">
                <a:latin typeface="Calibri"/>
                <a:cs typeface="Calibri"/>
              </a:rPr>
              <a:t>behavior</a:t>
            </a:r>
            <a:r>
              <a:rPr sz="3200" spc="615" dirty="0">
                <a:latin typeface="Calibri"/>
                <a:cs typeface="Calibri"/>
              </a:rPr>
              <a:t>  </a:t>
            </a:r>
            <a:r>
              <a:rPr sz="3200" spc="-10" dirty="0">
                <a:latin typeface="Calibri"/>
                <a:cs typeface="Calibri"/>
              </a:rPr>
              <a:t>diagrams </a:t>
            </a:r>
            <a:r>
              <a:rPr sz="3200" dirty="0">
                <a:latin typeface="Calibri"/>
                <a:cs typeface="Calibri"/>
              </a:rPr>
              <a:t>illustrate</a:t>
            </a:r>
            <a:r>
              <a:rPr sz="3200" spc="535" dirty="0">
                <a:latin typeface="Calibri"/>
                <a:cs typeface="Calibri"/>
              </a:rPr>
              <a:t> </a:t>
            </a:r>
            <a:r>
              <a:rPr sz="3200" dirty="0">
                <a:latin typeface="Calibri"/>
                <a:cs typeface="Calibri"/>
              </a:rPr>
              <a:t>the</a:t>
            </a:r>
            <a:r>
              <a:rPr sz="3200" spc="540" dirty="0">
                <a:latin typeface="Calibri"/>
                <a:cs typeface="Calibri"/>
              </a:rPr>
              <a:t> </a:t>
            </a:r>
            <a:r>
              <a:rPr sz="3200" dirty="0">
                <a:solidFill>
                  <a:srgbClr val="0000FF"/>
                </a:solidFill>
                <a:latin typeface="Calibri"/>
                <a:cs typeface="Calibri"/>
              </a:rPr>
              <a:t>behavior</a:t>
            </a:r>
            <a:r>
              <a:rPr sz="3200" spc="545" dirty="0">
                <a:solidFill>
                  <a:srgbClr val="0000FF"/>
                </a:solidFill>
                <a:latin typeface="Calibri"/>
                <a:cs typeface="Calibri"/>
              </a:rPr>
              <a:t> </a:t>
            </a:r>
            <a:r>
              <a:rPr sz="3200" dirty="0">
                <a:solidFill>
                  <a:srgbClr val="0000FF"/>
                </a:solidFill>
                <a:latin typeface="Calibri"/>
                <a:cs typeface="Calibri"/>
              </a:rPr>
              <a:t>of</a:t>
            </a:r>
            <a:r>
              <a:rPr sz="3200" spc="530" dirty="0">
                <a:solidFill>
                  <a:srgbClr val="0000FF"/>
                </a:solidFill>
                <a:latin typeface="Calibri"/>
                <a:cs typeface="Calibri"/>
              </a:rPr>
              <a:t> </a:t>
            </a:r>
            <a:r>
              <a:rPr sz="3200" dirty="0">
                <a:solidFill>
                  <a:srgbClr val="0000FF"/>
                </a:solidFill>
                <a:latin typeface="Calibri"/>
                <a:cs typeface="Calibri"/>
              </a:rPr>
              <a:t>a</a:t>
            </a:r>
            <a:r>
              <a:rPr sz="3200" spc="550" dirty="0">
                <a:solidFill>
                  <a:srgbClr val="0000FF"/>
                </a:solidFill>
                <a:latin typeface="Calibri"/>
                <a:cs typeface="Calibri"/>
              </a:rPr>
              <a:t> </a:t>
            </a:r>
            <a:r>
              <a:rPr sz="3200" dirty="0">
                <a:solidFill>
                  <a:srgbClr val="0000FF"/>
                </a:solidFill>
                <a:latin typeface="Calibri"/>
                <a:cs typeface="Calibri"/>
              </a:rPr>
              <a:t>system</a:t>
            </a:r>
            <a:r>
              <a:rPr sz="3200" dirty="0">
                <a:latin typeface="Calibri"/>
                <a:cs typeface="Calibri"/>
              </a:rPr>
              <a:t>,</a:t>
            </a:r>
            <a:r>
              <a:rPr sz="3200" spc="555" dirty="0">
                <a:latin typeface="Calibri"/>
                <a:cs typeface="Calibri"/>
              </a:rPr>
              <a:t> </a:t>
            </a:r>
            <a:r>
              <a:rPr sz="3200" dirty="0">
                <a:latin typeface="Calibri"/>
                <a:cs typeface="Calibri"/>
              </a:rPr>
              <a:t>they</a:t>
            </a:r>
            <a:r>
              <a:rPr sz="3200" spc="545" dirty="0">
                <a:latin typeface="Calibri"/>
                <a:cs typeface="Calibri"/>
              </a:rPr>
              <a:t> </a:t>
            </a:r>
            <a:r>
              <a:rPr sz="3200" spc="-25" dirty="0">
                <a:latin typeface="Calibri"/>
                <a:cs typeface="Calibri"/>
              </a:rPr>
              <a:t>are </a:t>
            </a:r>
            <a:r>
              <a:rPr sz="3200" dirty="0">
                <a:solidFill>
                  <a:srgbClr val="0000FF"/>
                </a:solidFill>
                <a:latin typeface="Calibri"/>
                <a:cs typeface="Calibri"/>
              </a:rPr>
              <a:t>used</a:t>
            </a:r>
            <a:r>
              <a:rPr sz="3200" spc="320" dirty="0">
                <a:solidFill>
                  <a:srgbClr val="0000FF"/>
                </a:solidFill>
                <a:latin typeface="Calibri"/>
                <a:cs typeface="Calibri"/>
              </a:rPr>
              <a:t> </a:t>
            </a:r>
            <a:r>
              <a:rPr sz="3200" dirty="0">
                <a:latin typeface="Calibri"/>
                <a:cs typeface="Calibri"/>
              </a:rPr>
              <a:t>extensively</a:t>
            </a:r>
            <a:r>
              <a:rPr sz="3200" spc="335" dirty="0">
                <a:latin typeface="Calibri"/>
                <a:cs typeface="Calibri"/>
              </a:rPr>
              <a:t> </a:t>
            </a:r>
            <a:r>
              <a:rPr sz="3200" dirty="0">
                <a:latin typeface="Calibri"/>
                <a:cs typeface="Calibri"/>
              </a:rPr>
              <a:t>to</a:t>
            </a:r>
            <a:r>
              <a:rPr sz="3200" spc="340" dirty="0">
                <a:latin typeface="Calibri"/>
                <a:cs typeface="Calibri"/>
              </a:rPr>
              <a:t> </a:t>
            </a:r>
            <a:r>
              <a:rPr sz="3200" dirty="0">
                <a:solidFill>
                  <a:srgbClr val="0000FF"/>
                </a:solidFill>
                <a:latin typeface="Calibri"/>
                <a:cs typeface="Calibri"/>
              </a:rPr>
              <a:t>describe</a:t>
            </a:r>
            <a:r>
              <a:rPr sz="3200" spc="315" dirty="0">
                <a:solidFill>
                  <a:srgbClr val="0000FF"/>
                </a:solidFill>
                <a:latin typeface="Calibri"/>
                <a:cs typeface="Calibri"/>
              </a:rPr>
              <a:t> </a:t>
            </a:r>
            <a:r>
              <a:rPr sz="3200" dirty="0">
                <a:solidFill>
                  <a:srgbClr val="0000FF"/>
                </a:solidFill>
                <a:latin typeface="Calibri"/>
                <a:cs typeface="Calibri"/>
              </a:rPr>
              <a:t>the</a:t>
            </a:r>
            <a:r>
              <a:rPr sz="3200" spc="325" dirty="0">
                <a:solidFill>
                  <a:srgbClr val="0000FF"/>
                </a:solidFill>
                <a:latin typeface="Calibri"/>
                <a:cs typeface="Calibri"/>
              </a:rPr>
              <a:t> </a:t>
            </a:r>
            <a:r>
              <a:rPr sz="3200" spc="-10" dirty="0">
                <a:solidFill>
                  <a:srgbClr val="0000FF"/>
                </a:solidFill>
                <a:latin typeface="Calibri"/>
                <a:cs typeface="Calibri"/>
              </a:rPr>
              <a:t>functionality </a:t>
            </a:r>
            <a:r>
              <a:rPr sz="3200" dirty="0">
                <a:latin typeface="Calibri"/>
                <a:cs typeface="Calibri"/>
              </a:rPr>
              <a:t>of</a:t>
            </a:r>
            <a:r>
              <a:rPr sz="3200" spc="-70" dirty="0">
                <a:latin typeface="Calibri"/>
                <a:cs typeface="Calibri"/>
              </a:rPr>
              <a:t> </a:t>
            </a:r>
            <a:r>
              <a:rPr sz="3200" dirty="0">
                <a:latin typeface="Calibri"/>
                <a:cs typeface="Calibri"/>
              </a:rPr>
              <a:t>software</a:t>
            </a:r>
            <a:r>
              <a:rPr sz="3200" spc="-45" dirty="0">
                <a:latin typeface="Calibri"/>
                <a:cs typeface="Calibri"/>
              </a:rPr>
              <a:t> </a:t>
            </a:r>
            <a:r>
              <a:rPr sz="3200" spc="-10" dirty="0">
                <a:latin typeface="Calibri"/>
                <a:cs typeface="Calibri"/>
              </a:rPr>
              <a:t>systems.</a:t>
            </a:r>
            <a:endParaRPr sz="3200" dirty="0">
              <a:latin typeface="Calibri"/>
              <a:cs typeface="Calibri"/>
            </a:endParaRPr>
          </a:p>
          <a:p>
            <a:pPr marL="355600" marR="5080" indent="-342900" algn="just">
              <a:lnSpc>
                <a:spcPct val="100000"/>
              </a:lnSpc>
              <a:spcBef>
                <a:spcPts val="770"/>
              </a:spcBef>
              <a:buFont typeface="Arial MT"/>
              <a:buChar char="•"/>
              <a:tabLst>
                <a:tab pos="355600" algn="l"/>
              </a:tabLst>
            </a:pPr>
            <a:r>
              <a:rPr sz="3200" b="1" i="1" dirty="0">
                <a:latin typeface="Calibri"/>
                <a:cs typeface="Calibri"/>
              </a:rPr>
              <a:t>Structure</a:t>
            </a:r>
            <a:r>
              <a:rPr sz="3200" b="1" i="1" spc="475" dirty="0">
                <a:latin typeface="Calibri"/>
                <a:cs typeface="Calibri"/>
              </a:rPr>
              <a:t>   </a:t>
            </a:r>
            <a:r>
              <a:rPr sz="3200" b="1" i="1" dirty="0">
                <a:latin typeface="Calibri"/>
                <a:cs typeface="Calibri"/>
              </a:rPr>
              <a:t>diagrams</a:t>
            </a:r>
            <a:r>
              <a:rPr sz="3200" b="1" i="1" spc="475" dirty="0">
                <a:latin typeface="Calibri"/>
                <a:cs typeface="Calibri"/>
              </a:rPr>
              <a:t>   </a:t>
            </a:r>
            <a:r>
              <a:rPr sz="3200" b="1" i="1" dirty="0">
                <a:latin typeface="Calibri"/>
                <a:cs typeface="Calibri"/>
              </a:rPr>
              <a:t>:</a:t>
            </a:r>
            <a:r>
              <a:rPr sz="3200" dirty="0">
                <a:latin typeface="Calibri"/>
                <a:cs typeface="Calibri"/>
              </a:rPr>
              <a:t>Structure</a:t>
            </a:r>
            <a:r>
              <a:rPr sz="3200" spc="475" dirty="0">
                <a:latin typeface="Calibri"/>
                <a:cs typeface="Calibri"/>
              </a:rPr>
              <a:t>   </a:t>
            </a:r>
            <a:r>
              <a:rPr sz="3200" spc="-10" dirty="0">
                <a:latin typeface="Calibri"/>
                <a:cs typeface="Calibri"/>
              </a:rPr>
              <a:t>diagrams </a:t>
            </a:r>
            <a:r>
              <a:rPr sz="3200" dirty="0">
                <a:latin typeface="Calibri"/>
                <a:cs typeface="Calibri"/>
              </a:rPr>
              <a:t>emphasize</a:t>
            </a:r>
            <a:r>
              <a:rPr sz="3200" spc="180" dirty="0">
                <a:latin typeface="Calibri"/>
                <a:cs typeface="Calibri"/>
              </a:rPr>
              <a:t> </a:t>
            </a:r>
            <a:r>
              <a:rPr sz="3200" dirty="0">
                <a:latin typeface="Calibri"/>
                <a:cs typeface="Calibri"/>
              </a:rPr>
              <a:t>the</a:t>
            </a:r>
            <a:r>
              <a:rPr sz="3200" spc="195" dirty="0">
                <a:latin typeface="Calibri"/>
                <a:cs typeface="Calibri"/>
              </a:rPr>
              <a:t> </a:t>
            </a:r>
            <a:r>
              <a:rPr sz="3200" dirty="0">
                <a:solidFill>
                  <a:srgbClr val="E36C09"/>
                </a:solidFill>
                <a:latin typeface="Calibri"/>
                <a:cs typeface="Calibri"/>
              </a:rPr>
              <a:t>things</a:t>
            </a:r>
            <a:r>
              <a:rPr sz="3200" spc="195" dirty="0">
                <a:solidFill>
                  <a:srgbClr val="E36C09"/>
                </a:solidFill>
                <a:latin typeface="Calibri"/>
                <a:cs typeface="Calibri"/>
              </a:rPr>
              <a:t> </a:t>
            </a:r>
            <a:r>
              <a:rPr sz="3200" dirty="0">
                <a:solidFill>
                  <a:srgbClr val="E36C09"/>
                </a:solidFill>
                <a:latin typeface="Calibri"/>
                <a:cs typeface="Calibri"/>
              </a:rPr>
              <a:t>that</a:t>
            </a:r>
            <a:r>
              <a:rPr sz="3200" spc="200" dirty="0">
                <a:solidFill>
                  <a:srgbClr val="E36C09"/>
                </a:solidFill>
                <a:latin typeface="Calibri"/>
                <a:cs typeface="Calibri"/>
              </a:rPr>
              <a:t> </a:t>
            </a:r>
            <a:r>
              <a:rPr sz="3200" dirty="0">
                <a:solidFill>
                  <a:srgbClr val="E36C09"/>
                </a:solidFill>
                <a:latin typeface="Calibri"/>
                <a:cs typeface="Calibri"/>
              </a:rPr>
              <a:t>must</a:t>
            </a:r>
            <a:r>
              <a:rPr sz="3200" spc="195" dirty="0">
                <a:solidFill>
                  <a:srgbClr val="E36C09"/>
                </a:solidFill>
                <a:latin typeface="Calibri"/>
                <a:cs typeface="Calibri"/>
              </a:rPr>
              <a:t> </a:t>
            </a:r>
            <a:r>
              <a:rPr sz="3200" dirty="0">
                <a:solidFill>
                  <a:srgbClr val="E36C09"/>
                </a:solidFill>
                <a:latin typeface="Calibri"/>
                <a:cs typeface="Calibri"/>
              </a:rPr>
              <a:t>be</a:t>
            </a:r>
            <a:r>
              <a:rPr sz="3200" spc="200" dirty="0">
                <a:solidFill>
                  <a:srgbClr val="E36C09"/>
                </a:solidFill>
                <a:latin typeface="Calibri"/>
                <a:cs typeface="Calibri"/>
              </a:rPr>
              <a:t> </a:t>
            </a:r>
            <a:r>
              <a:rPr sz="3200" dirty="0">
                <a:solidFill>
                  <a:srgbClr val="E36C09"/>
                </a:solidFill>
                <a:latin typeface="Calibri"/>
                <a:cs typeface="Calibri"/>
              </a:rPr>
              <a:t>present</a:t>
            </a:r>
            <a:r>
              <a:rPr sz="3200" spc="180" dirty="0">
                <a:solidFill>
                  <a:srgbClr val="E36C09"/>
                </a:solidFill>
                <a:latin typeface="Calibri"/>
                <a:cs typeface="Calibri"/>
              </a:rPr>
              <a:t> </a:t>
            </a:r>
            <a:r>
              <a:rPr sz="3200" spc="-25" dirty="0">
                <a:latin typeface="Calibri"/>
                <a:cs typeface="Calibri"/>
              </a:rPr>
              <a:t>in </a:t>
            </a:r>
            <a:r>
              <a:rPr sz="3200" dirty="0">
                <a:latin typeface="Calibri"/>
                <a:cs typeface="Calibri"/>
              </a:rPr>
              <a:t>the</a:t>
            </a:r>
            <a:r>
              <a:rPr sz="3200" spc="140" dirty="0">
                <a:latin typeface="Calibri"/>
                <a:cs typeface="Calibri"/>
              </a:rPr>
              <a:t>  </a:t>
            </a:r>
            <a:r>
              <a:rPr sz="3200" dirty="0">
                <a:latin typeface="Calibri"/>
                <a:cs typeface="Calibri"/>
              </a:rPr>
              <a:t>system</a:t>
            </a:r>
            <a:r>
              <a:rPr sz="3200" spc="145" dirty="0">
                <a:latin typeface="Calibri"/>
                <a:cs typeface="Calibri"/>
              </a:rPr>
              <a:t>  </a:t>
            </a:r>
            <a:r>
              <a:rPr sz="3200" dirty="0">
                <a:latin typeface="Calibri"/>
                <a:cs typeface="Calibri"/>
              </a:rPr>
              <a:t>being</a:t>
            </a:r>
            <a:r>
              <a:rPr sz="3200" spc="150" dirty="0">
                <a:latin typeface="Calibri"/>
                <a:cs typeface="Calibri"/>
              </a:rPr>
              <a:t>  </a:t>
            </a:r>
            <a:r>
              <a:rPr sz="3200" dirty="0">
                <a:latin typeface="Calibri"/>
                <a:cs typeface="Calibri"/>
              </a:rPr>
              <a:t>modeled.</a:t>
            </a:r>
            <a:r>
              <a:rPr sz="3200" spc="145" dirty="0">
                <a:latin typeface="Calibri"/>
                <a:cs typeface="Calibri"/>
              </a:rPr>
              <a:t>  </a:t>
            </a:r>
            <a:r>
              <a:rPr sz="3200" dirty="0">
                <a:latin typeface="Calibri"/>
                <a:cs typeface="Calibri"/>
              </a:rPr>
              <a:t>Since</a:t>
            </a:r>
            <a:r>
              <a:rPr sz="3200" spc="145" dirty="0">
                <a:latin typeface="Calibri"/>
                <a:cs typeface="Calibri"/>
              </a:rPr>
              <a:t>  </a:t>
            </a:r>
            <a:r>
              <a:rPr sz="3200" spc="-10" dirty="0">
                <a:latin typeface="Calibri"/>
                <a:cs typeface="Calibri"/>
              </a:rPr>
              <a:t>structure </a:t>
            </a:r>
            <a:r>
              <a:rPr sz="3200" dirty="0">
                <a:latin typeface="Calibri"/>
                <a:cs typeface="Calibri"/>
              </a:rPr>
              <a:t>diagrams</a:t>
            </a:r>
            <a:r>
              <a:rPr sz="3200" spc="145" dirty="0">
                <a:latin typeface="Calibri"/>
                <a:cs typeface="Calibri"/>
              </a:rPr>
              <a:t>  </a:t>
            </a:r>
            <a:r>
              <a:rPr sz="3200" dirty="0">
                <a:solidFill>
                  <a:srgbClr val="E36C09"/>
                </a:solidFill>
                <a:latin typeface="Calibri"/>
                <a:cs typeface="Calibri"/>
              </a:rPr>
              <a:t>represent</a:t>
            </a:r>
            <a:r>
              <a:rPr sz="3200" spc="155" dirty="0">
                <a:solidFill>
                  <a:srgbClr val="E36C09"/>
                </a:solidFill>
                <a:latin typeface="Calibri"/>
                <a:cs typeface="Calibri"/>
              </a:rPr>
              <a:t>  </a:t>
            </a:r>
            <a:r>
              <a:rPr sz="3200" dirty="0">
                <a:solidFill>
                  <a:srgbClr val="E36C09"/>
                </a:solidFill>
                <a:latin typeface="Calibri"/>
                <a:cs typeface="Calibri"/>
              </a:rPr>
              <a:t>the</a:t>
            </a:r>
            <a:r>
              <a:rPr sz="3200" spc="150" dirty="0">
                <a:solidFill>
                  <a:srgbClr val="E36C09"/>
                </a:solidFill>
                <a:latin typeface="Calibri"/>
                <a:cs typeface="Calibri"/>
              </a:rPr>
              <a:t>  </a:t>
            </a:r>
            <a:r>
              <a:rPr sz="3200" dirty="0">
                <a:solidFill>
                  <a:srgbClr val="E36C09"/>
                </a:solidFill>
                <a:latin typeface="Calibri"/>
                <a:cs typeface="Calibri"/>
              </a:rPr>
              <a:t>structure</a:t>
            </a:r>
            <a:r>
              <a:rPr sz="3200" dirty="0">
                <a:latin typeface="Calibri"/>
                <a:cs typeface="Calibri"/>
              </a:rPr>
              <a:t>,</a:t>
            </a:r>
            <a:r>
              <a:rPr sz="3200" spc="150" dirty="0">
                <a:latin typeface="Calibri"/>
                <a:cs typeface="Calibri"/>
              </a:rPr>
              <a:t>  </a:t>
            </a:r>
            <a:r>
              <a:rPr sz="3200" dirty="0">
                <a:latin typeface="Calibri"/>
                <a:cs typeface="Calibri"/>
              </a:rPr>
              <a:t>they</a:t>
            </a:r>
            <a:r>
              <a:rPr sz="3200" spc="145" dirty="0">
                <a:latin typeface="Calibri"/>
                <a:cs typeface="Calibri"/>
              </a:rPr>
              <a:t>  </a:t>
            </a:r>
            <a:r>
              <a:rPr sz="3200" spc="-25" dirty="0">
                <a:latin typeface="Calibri"/>
                <a:cs typeface="Calibri"/>
              </a:rPr>
              <a:t>are </a:t>
            </a:r>
            <a:r>
              <a:rPr sz="3200" dirty="0">
                <a:solidFill>
                  <a:srgbClr val="E36C09"/>
                </a:solidFill>
                <a:latin typeface="Calibri"/>
                <a:cs typeface="Calibri"/>
              </a:rPr>
              <a:t>used</a:t>
            </a:r>
            <a:r>
              <a:rPr sz="3200" spc="95" dirty="0">
                <a:solidFill>
                  <a:srgbClr val="E36C09"/>
                </a:solidFill>
                <a:latin typeface="Calibri"/>
                <a:cs typeface="Calibri"/>
              </a:rPr>
              <a:t> </a:t>
            </a:r>
            <a:r>
              <a:rPr sz="3200" dirty="0">
                <a:latin typeface="Calibri"/>
                <a:cs typeface="Calibri"/>
              </a:rPr>
              <a:t>extensively</a:t>
            </a:r>
            <a:r>
              <a:rPr sz="3200" spc="105" dirty="0">
                <a:latin typeface="Calibri"/>
                <a:cs typeface="Calibri"/>
              </a:rPr>
              <a:t> </a:t>
            </a:r>
            <a:r>
              <a:rPr sz="3200" dirty="0">
                <a:latin typeface="Calibri"/>
                <a:cs typeface="Calibri"/>
              </a:rPr>
              <a:t>in</a:t>
            </a:r>
            <a:r>
              <a:rPr sz="3200" spc="100" dirty="0">
                <a:latin typeface="Calibri"/>
                <a:cs typeface="Calibri"/>
              </a:rPr>
              <a:t> </a:t>
            </a:r>
            <a:r>
              <a:rPr sz="3200" dirty="0">
                <a:solidFill>
                  <a:srgbClr val="E36C09"/>
                </a:solidFill>
                <a:latin typeface="Calibri"/>
                <a:cs typeface="Calibri"/>
              </a:rPr>
              <a:t>documenting</a:t>
            </a:r>
            <a:r>
              <a:rPr sz="3200" spc="125" dirty="0">
                <a:solidFill>
                  <a:srgbClr val="E36C09"/>
                </a:solidFill>
                <a:latin typeface="Calibri"/>
                <a:cs typeface="Calibri"/>
              </a:rPr>
              <a:t> </a:t>
            </a:r>
            <a:r>
              <a:rPr sz="3200" dirty="0">
                <a:solidFill>
                  <a:srgbClr val="E36C09"/>
                </a:solidFill>
                <a:latin typeface="Calibri"/>
                <a:cs typeface="Calibri"/>
              </a:rPr>
              <a:t>the</a:t>
            </a:r>
            <a:r>
              <a:rPr sz="3200" spc="105" dirty="0">
                <a:solidFill>
                  <a:srgbClr val="E36C09"/>
                </a:solidFill>
                <a:latin typeface="Calibri"/>
                <a:cs typeface="Calibri"/>
              </a:rPr>
              <a:t> </a:t>
            </a:r>
            <a:r>
              <a:rPr sz="3200" spc="-10" dirty="0">
                <a:solidFill>
                  <a:srgbClr val="E36C09"/>
                </a:solidFill>
                <a:latin typeface="Calibri"/>
                <a:cs typeface="Calibri"/>
              </a:rPr>
              <a:t>software architecture</a:t>
            </a:r>
            <a:r>
              <a:rPr sz="3200" spc="-75" dirty="0">
                <a:solidFill>
                  <a:srgbClr val="E36C09"/>
                </a:solidFill>
                <a:latin typeface="Calibri"/>
                <a:cs typeface="Calibri"/>
              </a:rPr>
              <a:t> </a:t>
            </a:r>
            <a:r>
              <a:rPr sz="3200" dirty="0">
                <a:latin typeface="Calibri"/>
                <a:cs typeface="Calibri"/>
              </a:rPr>
              <a:t>of</a:t>
            </a:r>
            <a:r>
              <a:rPr sz="3200" spc="-55" dirty="0">
                <a:latin typeface="Calibri"/>
                <a:cs typeface="Calibri"/>
              </a:rPr>
              <a:t> </a:t>
            </a:r>
            <a:r>
              <a:rPr sz="3200" dirty="0">
                <a:latin typeface="Calibri"/>
                <a:cs typeface="Calibri"/>
              </a:rPr>
              <a:t>software</a:t>
            </a:r>
            <a:r>
              <a:rPr sz="3200" spc="-50" dirty="0">
                <a:latin typeface="Calibri"/>
                <a:cs typeface="Calibri"/>
              </a:rPr>
              <a:t> </a:t>
            </a:r>
            <a:r>
              <a:rPr sz="3200" spc="-10" dirty="0">
                <a:latin typeface="Calibri"/>
                <a:cs typeface="Calibri"/>
              </a:rPr>
              <a:t>systems</a:t>
            </a:r>
            <a:endParaRPr sz="32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19368" y="287345"/>
            <a:ext cx="7071183" cy="64782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885" y="637428"/>
            <a:ext cx="7394619" cy="60433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01637" y="770530"/>
            <a:ext cx="7232034" cy="54935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48052" y="286257"/>
            <a:ext cx="5246370" cy="696595"/>
          </a:xfrm>
          <a:prstGeom prst="rect">
            <a:avLst/>
          </a:prstGeom>
        </p:spPr>
        <p:txBody>
          <a:bodyPr vert="horz" wrap="square" lIns="0" tIns="12700" rIns="0" bIns="0" rtlCol="0">
            <a:spAutoFit/>
          </a:bodyPr>
          <a:lstStyle/>
          <a:p>
            <a:pPr marL="12700">
              <a:lnSpc>
                <a:spcPct val="100000"/>
              </a:lnSpc>
              <a:spcBef>
                <a:spcPts val="100"/>
              </a:spcBef>
            </a:pPr>
            <a:r>
              <a:rPr sz="4400" b="1" dirty="0">
                <a:solidFill>
                  <a:srgbClr val="C00000"/>
                </a:solidFill>
                <a:latin typeface="Calibri"/>
                <a:cs typeface="Calibri"/>
              </a:rPr>
              <a:t>Types</a:t>
            </a:r>
            <a:r>
              <a:rPr sz="4400" b="1" spc="-105" dirty="0">
                <a:solidFill>
                  <a:srgbClr val="C00000"/>
                </a:solidFill>
                <a:latin typeface="Calibri"/>
                <a:cs typeface="Calibri"/>
              </a:rPr>
              <a:t> </a:t>
            </a:r>
            <a:r>
              <a:rPr sz="4400" b="1" dirty="0">
                <a:solidFill>
                  <a:srgbClr val="C00000"/>
                </a:solidFill>
                <a:latin typeface="Calibri"/>
                <a:cs typeface="Calibri"/>
              </a:rPr>
              <a:t>of</a:t>
            </a:r>
            <a:r>
              <a:rPr sz="4400" b="1" spc="-90" dirty="0">
                <a:solidFill>
                  <a:srgbClr val="C00000"/>
                </a:solidFill>
                <a:latin typeface="Calibri"/>
                <a:cs typeface="Calibri"/>
              </a:rPr>
              <a:t> </a:t>
            </a:r>
            <a:r>
              <a:rPr sz="4400" b="1" dirty="0">
                <a:solidFill>
                  <a:srgbClr val="C00000"/>
                </a:solidFill>
                <a:latin typeface="Calibri"/>
                <a:cs typeface="Calibri"/>
              </a:rPr>
              <a:t>UML</a:t>
            </a:r>
            <a:r>
              <a:rPr sz="4400" b="1" spc="-80" dirty="0">
                <a:solidFill>
                  <a:srgbClr val="C00000"/>
                </a:solidFill>
                <a:latin typeface="Calibri"/>
                <a:cs typeface="Calibri"/>
              </a:rPr>
              <a:t> </a:t>
            </a:r>
            <a:r>
              <a:rPr sz="4400" b="1" spc="-10" dirty="0">
                <a:solidFill>
                  <a:srgbClr val="C00000"/>
                </a:solidFill>
                <a:latin typeface="Calibri"/>
                <a:cs typeface="Calibri"/>
              </a:rPr>
              <a:t>Diagram</a:t>
            </a:r>
            <a:endParaRPr sz="4400">
              <a:latin typeface="Calibri"/>
              <a:cs typeface="Calibri"/>
            </a:endParaRPr>
          </a:p>
        </p:txBody>
      </p:sp>
      <p:sp>
        <p:nvSpPr>
          <p:cNvPr id="3" name="object 3"/>
          <p:cNvSpPr txBox="1"/>
          <p:nvPr/>
        </p:nvSpPr>
        <p:spPr>
          <a:xfrm>
            <a:off x="535940" y="977616"/>
            <a:ext cx="4164329" cy="4707890"/>
          </a:xfrm>
          <a:prstGeom prst="rect">
            <a:avLst/>
          </a:prstGeom>
        </p:spPr>
        <p:txBody>
          <a:bodyPr vert="horz" wrap="square" lIns="0" tIns="109855" rIns="0" bIns="0" rtlCol="0">
            <a:spAutoFit/>
          </a:bodyPr>
          <a:lstStyle/>
          <a:p>
            <a:pPr marL="354965" indent="-342265">
              <a:lnSpc>
                <a:spcPct val="100000"/>
              </a:lnSpc>
              <a:spcBef>
                <a:spcPts val="865"/>
              </a:spcBef>
              <a:buFont typeface="Arial MT"/>
              <a:buChar char="•"/>
              <a:tabLst>
                <a:tab pos="354965" algn="l"/>
              </a:tabLst>
            </a:pPr>
            <a:r>
              <a:rPr sz="3200" b="1" dirty="0">
                <a:latin typeface="Calibri"/>
                <a:cs typeface="Calibri"/>
              </a:rPr>
              <a:t>Use</a:t>
            </a:r>
            <a:r>
              <a:rPr sz="3200" b="1" spc="-30" dirty="0">
                <a:latin typeface="Calibri"/>
                <a:cs typeface="Calibri"/>
              </a:rPr>
              <a:t> </a:t>
            </a:r>
            <a:r>
              <a:rPr sz="3200" b="1" dirty="0">
                <a:latin typeface="Calibri"/>
                <a:cs typeface="Calibri"/>
              </a:rPr>
              <a:t>Case</a:t>
            </a:r>
            <a:r>
              <a:rPr sz="3200" b="1" spc="-10" dirty="0">
                <a:latin typeface="Calibri"/>
                <a:cs typeface="Calibri"/>
              </a:rPr>
              <a:t> Diagram</a:t>
            </a:r>
            <a:endParaRPr sz="3200">
              <a:latin typeface="Calibri"/>
              <a:cs typeface="Calibri"/>
            </a:endParaRPr>
          </a:p>
          <a:p>
            <a:pPr marL="354965" indent="-342265">
              <a:lnSpc>
                <a:spcPct val="100000"/>
              </a:lnSpc>
              <a:spcBef>
                <a:spcPts val="765"/>
              </a:spcBef>
              <a:buFont typeface="Arial MT"/>
              <a:buChar char="•"/>
              <a:tabLst>
                <a:tab pos="354965" algn="l"/>
              </a:tabLst>
            </a:pPr>
            <a:r>
              <a:rPr sz="3200" b="1" dirty="0">
                <a:latin typeface="Calibri"/>
                <a:cs typeface="Calibri"/>
              </a:rPr>
              <a:t>Class</a:t>
            </a:r>
            <a:r>
              <a:rPr sz="3200" b="1" spc="-15" dirty="0">
                <a:latin typeface="Calibri"/>
                <a:cs typeface="Calibri"/>
              </a:rPr>
              <a:t> </a:t>
            </a:r>
            <a:r>
              <a:rPr sz="3200" b="1" spc="-10" dirty="0">
                <a:latin typeface="Calibri"/>
                <a:cs typeface="Calibri"/>
              </a:rPr>
              <a:t>Diagram</a:t>
            </a:r>
            <a:endParaRPr sz="3200">
              <a:latin typeface="Calibri"/>
              <a:cs typeface="Calibri"/>
            </a:endParaRPr>
          </a:p>
          <a:p>
            <a:pPr marL="354965" indent="-342265">
              <a:lnSpc>
                <a:spcPct val="100000"/>
              </a:lnSpc>
              <a:spcBef>
                <a:spcPts val="770"/>
              </a:spcBef>
              <a:buFont typeface="Arial MT"/>
              <a:buChar char="•"/>
              <a:tabLst>
                <a:tab pos="354965" algn="l"/>
              </a:tabLst>
            </a:pPr>
            <a:r>
              <a:rPr sz="3200" b="1" dirty="0">
                <a:latin typeface="Calibri"/>
                <a:cs typeface="Calibri"/>
              </a:rPr>
              <a:t>Sequence</a:t>
            </a:r>
            <a:r>
              <a:rPr sz="3200" b="1" spc="-20" dirty="0">
                <a:latin typeface="Calibri"/>
                <a:cs typeface="Calibri"/>
              </a:rPr>
              <a:t> </a:t>
            </a:r>
            <a:r>
              <a:rPr sz="3200" b="1" spc="-10" dirty="0">
                <a:latin typeface="Calibri"/>
                <a:cs typeface="Calibri"/>
              </a:rPr>
              <a:t>Diagram</a:t>
            </a:r>
            <a:endParaRPr sz="3200">
              <a:latin typeface="Calibri"/>
              <a:cs typeface="Calibri"/>
            </a:endParaRPr>
          </a:p>
          <a:p>
            <a:pPr marL="354965" indent="-342265">
              <a:lnSpc>
                <a:spcPct val="100000"/>
              </a:lnSpc>
              <a:spcBef>
                <a:spcPts val="770"/>
              </a:spcBef>
              <a:buFont typeface="Arial MT"/>
              <a:buChar char="•"/>
              <a:tabLst>
                <a:tab pos="354965" algn="l"/>
              </a:tabLst>
            </a:pPr>
            <a:r>
              <a:rPr sz="3200" b="1" dirty="0">
                <a:latin typeface="Calibri"/>
                <a:cs typeface="Calibri"/>
              </a:rPr>
              <a:t>Collaboration</a:t>
            </a:r>
            <a:r>
              <a:rPr sz="3200" b="1" spc="-165" dirty="0">
                <a:latin typeface="Calibri"/>
                <a:cs typeface="Calibri"/>
              </a:rPr>
              <a:t> </a:t>
            </a:r>
            <a:r>
              <a:rPr sz="3200" b="1" spc="-10" dirty="0">
                <a:latin typeface="Calibri"/>
                <a:cs typeface="Calibri"/>
              </a:rPr>
              <a:t>Diagram</a:t>
            </a:r>
            <a:endParaRPr sz="3200">
              <a:latin typeface="Calibri"/>
              <a:cs typeface="Calibri"/>
            </a:endParaRPr>
          </a:p>
          <a:p>
            <a:pPr marL="354965" indent="-342265">
              <a:lnSpc>
                <a:spcPct val="100000"/>
              </a:lnSpc>
              <a:spcBef>
                <a:spcPts val="770"/>
              </a:spcBef>
              <a:buFont typeface="Arial MT"/>
              <a:buChar char="•"/>
              <a:tabLst>
                <a:tab pos="354965" algn="l"/>
              </a:tabLst>
            </a:pPr>
            <a:r>
              <a:rPr sz="3200" b="1" dirty="0">
                <a:latin typeface="Calibri"/>
                <a:cs typeface="Calibri"/>
              </a:rPr>
              <a:t>State</a:t>
            </a:r>
            <a:r>
              <a:rPr sz="3200" b="1" spc="-125" dirty="0">
                <a:latin typeface="Calibri"/>
                <a:cs typeface="Calibri"/>
              </a:rPr>
              <a:t> </a:t>
            </a:r>
            <a:r>
              <a:rPr sz="3200" b="1" spc="-10" dirty="0">
                <a:latin typeface="Calibri"/>
                <a:cs typeface="Calibri"/>
              </a:rPr>
              <a:t>Diagram</a:t>
            </a:r>
            <a:endParaRPr sz="3200">
              <a:latin typeface="Calibri"/>
              <a:cs typeface="Calibri"/>
            </a:endParaRPr>
          </a:p>
          <a:p>
            <a:pPr marL="354965" indent="-342265">
              <a:lnSpc>
                <a:spcPct val="100000"/>
              </a:lnSpc>
              <a:spcBef>
                <a:spcPts val="770"/>
              </a:spcBef>
              <a:buFont typeface="Arial MT"/>
              <a:buChar char="•"/>
              <a:tabLst>
                <a:tab pos="354965" algn="l"/>
              </a:tabLst>
            </a:pPr>
            <a:r>
              <a:rPr sz="3200" b="1" dirty="0">
                <a:latin typeface="Calibri"/>
                <a:cs typeface="Calibri"/>
              </a:rPr>
              <a:t>Activity</a:t>
            </a:r>
            <a:r>
              <a:rPr sz="3200" b="1" spc="-30" dirty="0">
                <a:latin typeface="Calibri"/>
                <a:cs typeface="Calibri"/>
              </a:rPr>
              <a:t> </a:t>
            </a:r>
            <a:r>
              <a:rPr sz="3200" b="1" spc="-10" dirty="0">
                <a:latin typeface="Calibri"/>
                <a:cs typeface="Calibri"/>
              </a:rPr>
              <a:t>Diagram</a:t>
            </a:r>
            <a:endParaRPr sz="3200">
              <a:latin typeface="Calibri"/>
              <a:cs typeface="Calibri"/>
            </a:endParaRPr>
          </a:p>
          <a:p>
            <a:pPr marL="354965" indent="-342265">
              <a:lnSpc>
                <a:spcPct val="100000"/>
              </a:lnSpc>
              <a:spcBef>
                <a:spcPts val="765"/>
              </a:spcBef>
              <a:buFont typeface="Arial MT"/>
              <a:buChar char="•"/>
              <a:tabLst>
                <a:tab pos="354965" algn="l"/>
              </a:tabLst>
            </a:pPr>
            <a:r>
              <a:rPr sz="3200" b="1" dirty="0">
                <a:latin typeface="Calibri"/>
                <a:cs typeface="Calibri"/>
              </a:rPr>
              <a:t>Component</a:t>
            </a:r>
            <a:r>
              <a:rPr sz="3200" b="1" spc="-35" dirty="0">
                <a:latin typeface="Calibri"/>
                <a:cs typeface="Calibri"/>
              </a:rPr>
              <a:t> </a:t>
            </a:r>
            <a:r>
              <a:rPr sz="3200" b="1" spc="-10" dirty="0">
                <a:latin typeface="Calibri"/>
                <a:cs typeface="Calibri"/>
              </a:rPr>
              <a:t>Diagram</a:t>
            </a:r>
            <a:endParaRPr sz="3200">
              <a:latin typeface="Calibri"/>
              <a:cs typeface="Calibri"/>
            </a:endParaRPr>
          </a:p>
          <a:p>
            <a:pPr marL="354965" indent="-342265">
              <a:lnSpc>
                <a:spcPct val="100000"/>
              </a:lnSpc>
              <a:spcBef>
                <a:spcPts val="770"/>
              </a:spcBef>
              <a:buFont typeface="Arial MT"/>
              <a:buChar char="•"/>
              <a:tabLst>
                <a:tab pos="354965" algn="l"/>
              </a:tabLst>
            </a:pPr>
            <a:r>
              <a:rPr sz="3200" b="1" dirty="0">
                <a:latin typeface="Calibri"/>
                <a:cs typeface="Calibri"/>
              </a:rPr>
              <a:t>Deployment</a:t>
            </a:r>
            <a:r>
              <a:rPr sz="3200" b="1" spc="-60" dirty="0">
                <a:latin typeface="Calibri"/>
                <a:cs typeface="Calibri"/>
              </a:rPr>
              <a:t> </a:t>
            </a:r>
            <a:r>
              <a:rPr sz="3200" b="1" spc="-10" dirty="0">
                <a:latin typeface="Calibri"/>
                <a:cs typeface="Calibri"/>
              </a:rPr>
              <a:t>Diagram</a:t>
            </a:r>
            <a:endParaRPr sz="32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0597" y="168910"/>
            <a:ext cx="4161790" cy="635000"/>
          </a:xfrm>
          <a:prstGeom prst="rect">
            <a:avLst/>
          </a:prstGeom>
        </p:spPr>
        <p:txBody>
          <a:bodyPr vert="horz" wrap="square" lIns="0" tIns="12065" rIns="0" bIns="0" rtlCol="0">
            <a:spAutoFit/>
          </a:bodyPr>
          <a:lstStyle/>
          <a:p>
            <a:pPr marL="12700">
              <a:lnSpc>
                <a:spcPct val="100000"/>
              </a:lnSpc>
              <a:spcBef>
                <a:spcPts val="95"/>
              </a:spcBef>
            </a:pPr>
            <a:r>
              <a:rPr sz="4000" dirty="0">
                <a:solidFill>
                  <a:srgbClr val="C00000"/>
                </a:solidFill>
              </a:rPr>
              <a:t>USE</a:t>
            </a:r>
            <a:r>
              <a:rPr sz="4000" spc="-70" dirty="0">
                <a:solidFill>
                  <a:srgbClr val="C00000"/>
                </a:solidFill>
              </a:rPr>
              <a:t> </a:t>
            </a:r>
            <a:r>
              <a:rPr sz="4000" dirty="0">
                <a:solidFill>
                  <a:srgbClr val="C00000"/>
                </a:solidFill>
              </a:rPr>
              <a:t>CASE</a:t>
            </a:r>
            <a:r>
              <a:rPr sz="4000" spc="-50" dirty="0">
                <a:solidFill>
                  <a:srgbClr val="C00000"/>
                </a:solidFill>
              </a:rPr>
              <a:t> </a:t>
            </a:r>
            <a:r>
              <a:rPr sz="4000" spc="-10" dirty="0">
                <a:solidFill>
                  <a:srgbClr val="C00000"/>
                </a:solidFill>
              </a:rPr>
              <a:t>DIAGRAM</a:t>
            </a:r>
            <a:endParaRPr sz="4000"/>
          </a:p>
        </p:txBody>
      </p:sp>
      <p:sp>
        <p:nvSpPr>
          <p:cNvPr id="3" name="object 3"/>
          <p:cNvSpPr txBox="1"/>
          <p:nvPr/>
        </p:nvSpPr>
        <p:spPr>
          <a:xfrm>
            <a:off x="144054" y="580963"/>
            <a:ext cx="8989060" cy="5722720"/>
          </a:xfrm>
          <a:prstGeom prst="rect">
            <a:avLst/>
          </a:prstGeom>
        </p:spPr>
        <p:txBody>
          <a:bodyPr vert="horz" wrap="square" lIns="0" tIns="13335" rIns="0" bIns="0" rtlCol="0">
            <a:spAutoFit/>
          </a:bodyPr>
          <a:lstStyle/>
          <a:p>
            <a:pPr marL="355600" marR="5080" indent="-342900" algn="just">
              <a:lnSpc>
                <a:spcPct val="100000"/>
              </a:lnSpc>
              <a:spcBef>
                <a:spcPts val="105"/>
              </a:spcBef>
              <a:buFont typeface="Arial MT"/>
              <a:buChar char="•"/>
              <a:tabLst>
                <a:tab pos="355600" algn="l"/>
              </a:tabLst>
            </a:pPr>
            <a:r>
              <a:rPr sz="2400" dirty="0">
                <a:latin typeface="Calibri" panose="020F0502020204030204" pitchFamily="34" charset="0"/>
                <a:ea typeface="Calibri" panose="020F0502020204030204" pitchFamily="34" charset="0"/>
                <a:cs typeface="Calibri" panose="020F0502020204030204" pitchFamily="34" charset="0"/>
              </a:rPr>
              <a:t>Use</a:t>
            </a:r>
            <a:r>
              <a:rPr sz="2400" spc="220"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case</a:t>
            </a:r>
            <a:r>
              <a:rPr sz="2400" spc="200"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diagrams</a:t>
            </a:r>
            <a:r>
              <a:rPr sz="2400" spc="229"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consist</a:t>
            </a:r>
            <a:r>
              <a:rPr sz="2400" spc="220"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of</a:t>
            </a:r>
            <a:r>
              <a:rPr sz="2400" spc="210" dirty="0">
                <a:latin typeface="Calibri" panose="020F0502020204030204" pitchFamily="34" charset="0"/>
                <a:ea typeface="Calibri" panose="020F0502020204030204" pitchFamily="34" charset="0"/>
                <a:cs typeface="Calibri" panose="020F0502020204030204" pitchFamily="34" charset="0"/>
              </a:rPr>
              <a:t> </a:t>
            </a:r>
            <a:r>
              <a:rPr sz="2400" dirty="0">
                <a:solidFill>
                  <a:srgbClr val="0000FF"/>
                </a:solidFill>
                <a:latin typeface="Calibri" panose="020F0502020204030204" pitchFamily="34" charset="0"/>
                <a:ea typeface="Calibri" panose="020F0502020204030204" pitchFamily="34" charset="0"/>
                <a:cs typeface="Calibri" panose="020F0502020204030204" pitchFamily="34" charset="0"/>
              </a:rPr>
              <a:t>actors,</a:t>
            </a:r>
            <a:r>
              <a:rPr sz="2400" spc="220" dirty="0">
                <a:solidFill>
                  <a:srgbClr val="0000FF"/>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0000FF"/>
                </a:solidFill>
                <a:latin typeface="Calibri" panose="020F0502020204030204" pitchFamily="34" charset="0"/>
                <a:ea typeface="Calibri" panose="020F0502020204030204" pitchFamily="34" charset="0"/>
                <a:cs typeface="Calibri" panose="020F0502020204030204" pitchFamily="34" charset="0"/>
              </a:rPr>
              <a:t>use</a:t>
            </a:r>
            <a:r>
              <a:rPr sz="2400" spc="220" dirty="0">
                <a:solidFill>
                  <a:srgbClr val="0000FF"/>
                </a:solidFill>
                <a:latin typeface="Calibri" panose="020F0502020204030204" pitchFamily="34" charset="0"/>
                <a:ea typeface="Calibri" panose="020F0502020204030204" pitchFamily="34" charset="0"/>
                <a:cs typeface="Calibri" panose="020F0502020204030204" pitchFamily="34" charset="0"/>
              </a:rPr>
              <a:t> </a:t>
            </a:r>
            <a:r>
              <a:rPr sz="2400" spc="-10" dirty="0">
                <a:solidFill>
                  <a:srgbClr val="0000FF"/>
                </a:solidFill>
                <a:latin typeface="Calibri" panose="020F0502020204030204" pitchFamily="34" charset="0"/>
                <a:ea typeface="Calibri" panose="020F0502020204030204" pitchFamily="34" charset="0"/>
                <a:cs typeface="Calibri" panose="020F0502020204030204" pitchFamily="34" charset="0"/>
              </a:rPr>
              <a:t>cases </a:t>
            </a:r>
            <a:r>
              <a:rPr sz="2400" dirty="0">
                <a:solidFill>
                  <a:srgbClr val="0000FF"/>
                </a:solidFill>
                <a:latin typeface="Calibri" panose="020F0502020204030204" pitchFamily="34" charset="0"/>
                <a:ea typeface="Calibri" panose="020F0502020204030204" pitchFamily="34" charset="0"/>
                <a:cs typeface="Calibri" panose="020F0502020204030204" pitchFamily="34" charset="0"/>
              </a:rPr>
              <a:t>and</a:t>
            </a:r>
            <a:r>
              <a:rPr sz="2400" spc="165" dirty="0">
                <a:solidFill>
                  <a:srgbClr val="0000FF"/>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0000FF"/>
                </a:solidFill>
                <a:latin typeface="Calibri" panose="020F0502020204030204" pitchFamily="34" charset="0"/>
                <a:ea typeface="Calibri" panose="020F0502020204030204" pitchFamily="34" charset="0"/>
                <a:cs typeface="Calibri" panose="020F0502020204030204" pitchFamily="34" charset="0"/>
              </a:rPr>
              <a:t>their</a:t>
            </a:r>
            <a:r>
              <a:rPr sz="2400" spc="155" dirty="0">
                <a:solidFill>
                  <a:srgbClr val="0000FF"/>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0000FF"/>
                </a:solidFill>
                <a:latin typeface="Calibri" panose="020F0502020204030204" pitchFamily="34" charset="0"/>
                <a:ea typeface="Calibri" panose="020F0502020204030204" pitchFamily="34" charset="0"/>
                <a:cs typeface="Calibri" panose="020F0502020204030204" pitchFamily="34" charset="0"/>
              </a:rPr>
              <a:t>relationships.</a:t>
            </a:r>
            <a:r>
              <a:rPr sz="2400" spc="165" dirty="0">
                <a:solidFill>
                  <a:srgbClr val="0000FF"/>
                </a:solidFill>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The</a:t>
            </a:r>
            <a:r>
              <a:rPr sz="2400" spc="155"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diagram</a:t>
            </a:r>
            <a:r>
              <a:rPr sz="2400" spc="155"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is</a:t>
            </a:r>
            <a:r>
              <a:rPr sz="2400" spc="160"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used</a:t>
            </a:r>
            <a:r>
              <a:rPr sz="2400" spc="165" dirty="0">
                <a:latin typeface="Calibri" panose="020F0502020204030204" pitchFamily="34" charset="0"/>
                <a:ea typeface="Calibri" panose="020F0502020204030204" pitchFamily="34" charset="0"/>
                <a:cs typeface="Calibri" panose="020F0502020204030204" pitchFamily="34" charset="0"/>
              </a:rPr>
              <a:t>  </a:t>
            </a:r>
            <a:r>
              <a:rPr sz="2400" spc="-25" dirty="0">
                <a:latin typeface="Calibri" panose="020F0502020204030204" pitchFamily="34" charset="0"/>
                <a:ea typeface="Calibri" panose="020F0502020204030204" pitchFamily="34" charset="0"/>
                <a:cs typeface="Calibri" panose="020F0502020204030204" pitchFamily="34" charset="0"/>
              </a:rPr>
              <a:t>to </a:t>
            </a:r>
            <a:r>
              <a:rPr sz="2400" dirty="0">
                <a:latin typeface="Calibri" panose="020F0502020204030204" pitchFamily="34" charset="0"/>
                <a:ea typeface="Calibri" panose="020F0502020204030204" pitchFamily="34" charset="0"/>
                <a:cs typeface="Calibri" panose="020F0502020204030204" pitchFamily="34" charset="0"/>
              </a:rPr>
              <a:t>model</a:t>
            </a:r>
            <a:r>
              <a:rPr sz="2400" spc="-65"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the</a:t>
            </a:r>
            <a:r>
              <a:rPr sz="2400" spc="-55" dirty="0">
                <a:latin typeface="Calibri" panose="020F0502020204030204" pitchFamily="34" charset="0"/>
                <a:ea typeface="Calibri" panose="020F0502020204030204" pitchFamily="34" charset="0"/>
                <a:cs typeface="Calibri" panose="020F0502020204030204" pitchFamily="34" charset="0"/>
              </a:rPr>
              <a:t> </a:t>
            </a:r>
            <a:r>
              <a:rPr sz="2400" spc="-10" dirty="0">
                <a:latin typeface="Calibri" panose="020F0502020204030204" pitchFamily="34" charset="0"/>
                <a:ea typeface="Calibri" panose="020F0502020204030204" pitchFamily="34" charset="0"/>
                <a:cs typeface="Calibri" panose="020F0502020204030204" pitchFamily="34" charset="0"/>
              </a:rPr>
              <a:t>system</a:t>
            </a:r>
            <a:r>
              <a:rPr sz="2400" spc="-45"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of</a:t>
            </a:r>
            <a:r>
              <a:rPr sz="2400" spc="-55"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an</a:t>
            </a:r>
            <a:r>
              <a:rPr sz="2400" spc="-45" dirty="0">
                <a:latin typeface="Calibri" panose="020F0502020204030204" pitchFamily="34" charset="0"/>
                <a:ea typeface="Calibri" panose="020F0502020204030204" pitchFamily="34" charset="0"/>
                <a:cs typeface="Calibri" panose="020F0502020204030204" pitchFamily="34" charset="0"/>
              </a:rPr>
              <a:t> </a:t>
            </a:r>
            <a:r>
              <a:rPr sz="2400" spc="-10" dirty="0">
                <a:latin typeface="Calibri" panose="020F0502020204030204" pitchFamily="34" charset="0"/>
                <a:ea typeface="Calibri" panose="020F0502020204030204" pitchFamily="34" charset="0"/>
                <a:cs typeface="Calibri" panose="020F0502020204030204" pitchFamily="34" charset="0"/>
              </a:rPr>
              <a:t>application.</a:t>
            </a:r>
            <a:endParaRPr lang="en-US" sz="2400" spc="-10" dirty="0">
              <a:latin typeface="Calibri" panose="020F0502020204030204" pitchFamily="34" charset="0"/>
              <a:ea typeface="Calibri" panose="020F0502020204030204" pitchFamily="34" charset="0"/>
              <a:cs typeface="Calibri" panose="020F0502020204030204" pitchFamily="34" charset="0"/>
            </a:endParaRPr>
          </a:p>
          <a:p>
            <a:pPr marL="355600" marR="5080" indent="-342900" algn="just">
              <a:spcBef>
                <a:spcPts val="105"/>
              </a:spcBef>
              <a:buFont typeface="Arial MT"/>
              <a:buChar char="•"/>
              <a:tabLst>
                <a:tab pos="355600" algn="l"/>
              </a:tabLst>
            </a:pPr>
            <a:r>
              <a:rPr lang="en-US" sz="2400" kern="1200" dirty="0">
                <a:solidFill>
                  <a:schemeClr val="tx1"/>
                </a:solidFill>
                <a:latin typeface="Calibri" panose="020F0502020204030204" pitchFamily="34" charset="0"/>
                <a:ea typeface="Calibri" panose="020F0502020204030204" pitchFamily="34" charset="0"/>
                <a:cs typeface="Calibri" panose="020F0502020204030204" pitchFamily="34" charset="0"/>
              </a:rPr>
              <a:t>Actors in a diagram </a:t>
            </a:r>
            <a:r>
              <a:rPr lang="en-US" sz="2400" dirty="0">
                <a:latin typeface="Calibri" panose="020F0502020204030204" pitchFamily="34" charset="0"/>
                <a:ea typeface="Calibri" panose="020F0502020204030204" pitchFamily="34" charset="0"/>
                <a:cs typeface="Calibri" panose="020F0502020204030204" pitchFamily="34" charset="0"/>
              </a:rPr>
              <a:t>represent a </a:t>
            </a:r>
            <a:r>
              <a:rPr lang="en-US" sz="2400" b="1" dirty="0">
                <a:effectLst/>
                <a:latin typeface="Calibri" panose="020F0502020204030204" pitchFamily="34" charset="0"/>
                <a:ea typeface="Calibri" panose="020F0502020204030204" pitchFamily="34" charset="0"/>
                <a:cs typeface="Calibri" panose="020F0502020204030204" pitchFamily="34" charset="0"/>
              </a:rPr>
              <a:t>role played by a user, system, or organization that interacts with the system being modeled</a:t>
            </a:r>
            <a:r>
              <a:rPr lang="en-US" sz="2400" kern="12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en-US" sz="2400" spc="-10" dirty="0">
              <a:latin typeface="Calibri" panose="020F0502020204030204" pitchFamily="34" charset="0"/>
              <a:ea typeface="Calibri" panose="020F0502020204030204" pitchFamily="34" charset="0"/>
              <a:cs typeface="Calibri" panose="020F0502020204030204" pitchFamily="34" charset="0"/>
            </a:endParaRPr>
          </a:p>
          <a:p>
            <a:pPr marL="355600" marR="5080" indent="-342900" algn="just">
              <a:spcBef>
                <a:spcPts val="105"/>
              </a:spcBef>
              <a:buFont typeface="Arial MT"/>
              <a:buChar char="•"/>
              <a:tabLst>
                <a:tab pos="355600" algn="l"/>
              </a:tabLst>
            </a:pPr>
            <a:r>
              <a:rPr lang="en-US" sz="2400" kern="1200" dirty="0">
                <a:solidFill>
                  <a:schemeClr val="tx1"/>
                </a:solidFill>
                <a:latin typeface="Calibri" panose="020F0502020204030204" pitchFamily="34" charset="0"/>
                <a:ea typeface="Calibri" panose="020F0502020204030204" pitchFamily="34" charset="0"/>
                <a:cs typeface="Calibri" panose="020F0502020204030204" pitchFamily="34" charset="0"/>
              </a:rPr>
              <a:t>Use cases are </a:t>
            </a:r>
            <a:r>
              <a:rPr lang="en-US" sz="2400" dirty="0">
                <a:latin typeface="Calibri" panose="020F0502020204030204" pitchFamily="34" charset="0"/>
                <a:ea typeface="Calibri" panose="020F0502020204030204" pitchFamily="34" charset="0"/>
                <a:cs typeface="Calibri" panose="020F0502020204030204" pitchFamily="34" charset="0"/>
              </a:rPr>
              <a:t>descriptions of how users or other systems interact with a product or system to achieve a specific goal, serving as a way to define requirements and plan development.</a:t>
            </a:r>
            <a:endParaRPr sz="2400" dirty="0">
              <a:latin typeface="Calibri" panose="020F0502020204030204" pitchFamily="34" charset="0"/>
              <a:ea typeface="Calibri" panose="020F0502020204030204" pitchFamily="34" charset="0"/>
              <a:cs typeface="Calibri" panose="020F0502020204030204" pitchFamily="34" charset="0"/>
            </a:endParaRPr>
          </a:p>
          <a:p>
            <a:pPr marL="355600" marR="7620" indent="-342900" algn="just">
              <a:lnSpc>
                <a:spcPct val="100000"/>
              </a:lnSpc>
              <a:spcBef>
                <a:spcPts val="770"/>
              </a:spcBef>
              <a:buFont typeface="Arial MT"/>
              <a:buChar char="•"/>
              <a:tabLst>
                <a:tab pos="355600" algn="l"/>
              </a:tabLst>
            </a:pPr>
            <a:r>
              <a:rPr sz="2400" dirty="0">
                <a:latin typeface="Calibri" panose="020F0502020204030204" pitchFamily="34" charset="0"/>
                <a:ea typeface="Calibri" panose="020F0502020204030204" pitchFamily="34" charset="0"/>
                <a:cs typeface="Calibri" panose="020F0502020204030204" pitchFamily="34" charset="0"/>
              </a:rPr>
              <a:t>A</a:t>
            </a:r>
            <a:r>
              <a:rPr sz="2400" spc="114"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single</a:t>
            </a:r>
            <a:r>
              <a:rPr sz="2400" spc="120" dirty="0">
                <a:latin typeface="Calibri" panose="020F0502020204030204" pitchFamily="34" charset="0"/>
                <a:ea typeface="Calibri" panose="020F0502020204030204" pitchFamily="34" charset="0"/>
                <a:cs typeface="Calibri" panose="020F0502020204030204" pitchFamily="34" charset="0"/>
              </a:rPr>
              <a:t>  </a:t>
            </a:r>
            <a:r>
              <a:rPr sz="2400" dirty="0">
                <a:solidFill>
                  <a:srgbClr val="0000FF"/>
                </a:solidFill>
                <a:latin typeface="Calibri" panose="020F0502020204030204" pitchFamily="34" charset="0"/>
                <a:ea typeface="Calibri" panose="020F0502020204030204" pitchFamily="34" charset="0"/>
                <a:cs typeface="Calibri" panose="020F0502020204030204" pitchFamily="34" charset="0"/>
              </a:rPr>
              <a:t>use</a:t>
            </a:r>
            <a:r>
              <a:rPr sz="2400" spc="125" dirty="0">
                <a:solidFill>
                  <a:srgbClr val="0000FF"/>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0000FF"/>
                </a:solidFill>
                <a:latin typeface="Calibri" panose="020F0502020204030204" pitchFamily="34" charset="0"/>
                <a:ea typeface="Calibri" panose="020F0502020204030204" pitchFamily="34" charset="0"/>
                <a:cs typeface="Calibri" panose="020F0502020204030204" pitchFamily="34" charset="0"/>
              </a:rPr>
              <a:t>case</a:t>
            </a:r>
            <a:r>
              <a:rPr sz="2400" spc="120" dirty="0">
                <a:solidFill>
                  <a:srgbClr val="0000FF"/>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0000FF"/>
                </a:solidFill>
                <a:latin typeface="Calibri" panose="020F0502020204030204" pitchFamily="34" charset="0"/>
                <a:ea typeface="Calibri" panose="020F0502020204030204" pitchFamily="34" charset="0"/>
                <a:cs typeface="Calibri" panose="020F0502020204030204" pitchFamily="34" charset="0"/>
              </a:rPr>
              <a:t>diagram</a:t>
            </a:r>
            <a:r>
              <a:rPr sz="2400" spc="125" dirty="0">
                <a:solidFill>
                  <a:srgbClr val="0000FF"/>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0000FF"/>
                </a:solidFill>
                <a:latin typeface="Calibri" panose="020F0502020204030204" pitchFamily="34" charset="0"/>
                <a:ea typeface="Calibri" panose="020F0502020204030204" pitchFamily="34" charset="0"/>
                <a:cs typeface="Calibri" panose="020F0502020204030204" pitchFamily="34" charset="0"/>
              </a:rPr>
              <a:t>captures</a:t>
            </a:r>
            <a:r>
              <a:rPr sz="2400" spc="114" dirty="0">
                <a:solidFill>
                  <a:srgbClr val="0000FF"/>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0000FF"/>
                </a:solidFill>
                <a:latin typeface="Calibri" panose="020F0502020204030204" pitchFamily="34" charset="0"/>
                <a:ea typeface="Calibri" panose="020F0502020204030204" pitchFamily="34" charset="0"/>
                <a:cs typeface="Calibri" panose="020F0502020204030204" pitchFamily="34" charset="0"/>
              </a:rPr>
              <a:t>a</a:t>
            </a:r>
            <a:r>
              <a:rPr sz="2400" spc="135" dirty="0">
                <a:solidFill>
                  <a:srgbClr val="0000FF"/>
                </a:solidFill>
                <a:latin typeface="Calibri" panose="020F0502020204030204" pitchFamily="34" charset="0"/>
                <a:ea typeface="Calibri" panose="020F0502020204030204" pitchFamily="34" charset="0"/>
                <a:cs typeface="Calibri" panose="020F0502020204030204" pitchFamily="34" charset="0"/>
              </a:rPr>
              <a:t>  </a:t>
            </a:r>
            <a:r>
              <a:rPr sz="2400" spc="-10" dirty="0">
                <a:solidFill>
                  <a:srgbClr val="0000FF"/>
                </a:solidFill>
                <a:latin typeface="Calibri" panose="020F0502020204030204" pitchFamily="34" charset="0"/>
                <a:ea typeface="Calibri" panose="020F0502020204030204" pitchFamily="34" charset="0"/>
                <a:cs typeface="Calibri" panose="020F0502020204030204" pitchFamily="34" charset="0"/>
              </a:rPr>
              <a:t>particular </a:t>
            </a:r>
            <a:r>
              <a:rPr sz="2400" dirty="0">
                <a:solidFill>
                  <a:srgbClr val="0000FF"/>
                </a:solidFill>
                <a:latin typeface="Calibri" panose="020F0502020204030204" pitchFamily="34" charset="0"/>
                <a:ea typeface="Calibri" panose="020F0502020204030204" pitchFamily="34" charset="0"/>
                <a:cs typeface="Calibri" panose="020F0502020204030204" pitchFamily="34" charset="0"/>
              </a:rPr>
              <a:t>functionality</a:t>
            </a:r>
            <a:r>
              <a:rPr sz="2400" spc="-45" dirty="0">
                <a:solidFill>
                  <a:srgbClr val="0000FF"/>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0000FF"/>
                </a:solidFill>
                <a:latin typeface="Calibri" panose="020F0502020204030204" pitchFamily="34" charset="0"/>
                <a:ea typeface="Calibri" panose="020F0502020204030204" pitchFamily="34" charset="0"/>
                <a:cs typeface="Calibri" panose="020F0502020204030204" pitchFamily="34" charset="0"/>
              </a:rPr>
              <a:t>of</a:t>
            </a:r>
            <a:r>
              <a:rPr sz="2400" spc="-80" dirty="0">
                <a:solidFill>
                  <a:srgbClr val="0000FF"/>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0000FF"/>
                </a:solidFill>
                <a:latin typeface="Calibri" panose="020F0502020204030204" pitchFamily="34" charset="0"/>
                <a:ea typeface="Calibri" panose="020F0502020204030204" pitchFamily="34" charset="0"/>
                <a:cs typeface="Calibri" panose="020F0502020204030204" pitchFamily="34" charset="0"/>
              </a:rPr>
              <a:t>a</a:t>
            </a:r>
            <a:r>
              <a:rPr sz="2400" spc="-60" dirty="0">
                <a:solidFill>
                  <a:srgbClr val="0000FF"/>
                </a:solidFill>
                <a:latin typeface="Calibri" panose="020F0502020204030204" pitchFamily="34" charset="0"/>
                <a:ea typeface="Calibri" panose="020F0502020204030204" pitchFamily="34" charset="0"/>
                <a:cs typeface="Calibri" panose="020F0502020204030204" pitchFamily="34" charset="0"/>
              </a:rPr>
              <a:t> </a:t>
            </a:r>
            <a:r>
              <a:rPr sz="2400" spc="-10" dirty="0">
                <a:solidFill>
                  <a:srgbClr val="0000FF"/>
                </a:solidFill>
                <a:latin typeface="Calibri" panose="020F0502020204030204" pitchFamily="34" charset="0"/>
                <a:ea typeface="Calibri" panose="020F0502020204030204" pitchFamily="34" charset="0"/>
                <a:cs typeface="Calibri" panose="020F0502020204030204" pitchFamily="34" charset="0"/>
              </a:rPr>
              <a:t>system.</a:t>
            </a:r>
            <a:endParaRPr sz="2400" dirty="0">
              <a:latin typeface="Calibri" panose="020F0502020204030204" pitchFamily="34" charset="0"/>
              <a:ea typeface="Calibri" panose="020F0502020204030204" pitchFamily="34" charset="0"/>
              <a:cs typeface="Calibri" panose="020F0502020204030204" pitchFamily="34" charset="0"/>
            </a:endParaRPr>
          </a:p>
          <a:p>
            <a:pPr marL="12700" algn="just">
              <a:lnSpc>
                <a:spcPct val="100000"/>
              </a:lnSpc>
              <a:spcBef>
                <a:spcPts val="770"/>
              </a:spcBef>
            </a:pPr>
            <a:r>
              <a:rPr sz="2400" dirty="0">
                <a:solidFill>
                  <a:srgbClr val="FF0000"/>
                </a:solidFill>
                <a:latin typeface="Calibri" panose="020F0502020204030204" pitchFamily="34" charset="0"/>
                <a:ea typeface="Calibri" panose="020F0502020204030204" pitchFamily="34" charset="0"/>
                <a:cs typeface="Calibri" panose="020F0502020204030204" pitchFamily="34" charset="0"/>
              </a:rPr>
              <a:t>The</a:t>
            </a:r>
            <a:r>
              <a:rPr sz="2400" spc="-35"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FF0000"/>
                </a:solidFill>
                <a:latin typeface="Calibri" panose="020F0502020204030204" pitchFamily="34" charset="0"/>
                <a:ea typeface="Calibri" panose="020F0502020204030204" pitchFamily="34" charset="0"/>
                <a:cs typeface="Calibri" panose="020F0502020204030204" pitchFamily="34" charset="0"/>
              </a:rPr>
              <a:t>purposes</a:t>
            </a:r>
            <a:r>
              <a:rPr sz="2400" spc="-35"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FF0000"/>
                </a:solidFill>
                <a:latin typeface="Calibri" panose="020F0502020204030204" pitchFamily="34" charset="0"/>
                <a:ea typeface="Calibri" panose="020F0502020204030204" pitchFamily="34" charset="0"/>
                <a:cs typeface="Calibri" panose="020F0502020204030204" pitchFamily="34" charset="0"/>
              </a:rPr>
              <a:t>of</a:t>
            </a:r>
            <a:r>
              <a:rPr sz="2400" spc="-35"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FF0000"/>
                </a:solidFill>
                <a:latin typeface="Calibri" panose="020F0502020204030204" pitchFamily="34" charset="0"/>
                <a:ea typeface="Calibri" panose="020F0502020204030204" pitchFamily="34" charset="0"/>
                <a:cs typeface="Calibri" panose="020F0502020204030204" pitchFamily="34" charset="0"/>
              </a:rPr>
              <a:t>use</a:t>
            </a:r>
            <a:r>
              <a:rPr sz="2400" spc="-3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FF0000"/>
                </a:solidFill>
                <a:latin typeface="Calibri" panose="020F0502020204030204" pitchFamily="34" charset="0"/>
                <a:ea typeface="Calibri" panose="020F0502020204030204" pitchFamily="34" charset="0"/>
                <a:cs typeface="Calibri" panose="020F0502020204030204" pitchFamily="34" charset="0"/>
              </a:rPr>
              <a:t>case</a:t>
            </a:r>
            <a:r>
              <a:rPr sz="2400" spc="-55"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sz="2400" spc="-10" dirty="0">
                <a:solidFill>
                  <a:srgbClr val="FF0000"/>
                </a:solidFill>
                <a:latin typeface="Calibri" panose="020F0502020204030204" pitchFamily="34" charset="0"/>
                <a:ea typeface="Calibri" panose="020F0502020204030204" pitchFamily="34" charset="0"/>
                <a:cs typeface="Calibri" panose="020F0502020204030204" pitchFamily="34" charset="0"/>
              </a:rPr>
              <a:t>diagrams</a:t>
            </a:r>
            <a:r>
              <a:rPr sz="2400" spc="-25"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FF0000"/>
                </a:solidFill>
                <a:latin typeface="Calibri" panose="020F0502020204030204" pitchFamily="34" charset="0"/>
                <a:ea typeface="Calibri" panose="020F0502020204030204" pitchFamily="34" charset="0"/>
                <a:cs typeface="Calibri" panose="020F0502020204030204" pitchFamily="34" charset="0"/>
              </a:rPr>
              <a:t>can</a:t>
            </a:r>
            <a:r>
              <a:rPr sz="2400" spc="-4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FF0000"/>
                </a:solidFill>
                <a:latin typeface="Calibri" panose="020F0502020204030204" pitchFamily="34" charset="0"/>
                <a:ea typeface="Calibri" panose="020F0502020204030204" pitchFamily="34" charset="0"/>
                <a:cs typeface="Calibri" panose="020F0502020204030204" pitchFamily="34" charset="0"/>
              </a:rPr>
              <a:t>be</a:t>
            </a:r>
            <a:r>
              <a:rPr sz="2400" spc="-4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sz="2400" dirty="0">
                <a:solidFill>
                  <a:srgbClr val="FF0000"/>
                </a:solidFill>
                <a:latin typeface="Calibri" panose="020F0502020204030204" pitchFamily="34" charset="0"/>
                <a:ea typeface="Calibri" panose="020F0502020204030204" pitchFamily="34" charset="0"/>
                <a:cs typeface="Calibri" panose="020F0502020204030204" pitchFamily="34" charset="0"/>
              </a:rPr>
              <a:t>as</a:t>
            </a:r>
            <a:r>
              <a:rPr sz="2400" spc="-3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sz="2400" spc="-10" dirty="0">
                <a:solidFill>
                  <a:srgbClr val="FF0000"/>
                </a:solidFill>
                <a:latin typeface="Calibri" panose="020F0502020204030204" pitchFamily="34" charset="0"/>
                <a:ea typeface="Calibri" panose="020F0502020204030204" pitchFamily="34" charset="0"/>
                <a:cs typeface="Calibri" panose="020F0502020204030204" pitchFamily="34" charset="0"/>
              </a:rPr>
              <a:t>follows:</a:t>
            </a:r>
            <a:endParaRPr sz="2400" dirty="0">
              <a:latin typeface="Calibri" panose="020F0502020204030204" pitchFamily="34" charset="0"/>
              <a:ea typeface="Calibri" panose="020F0502020204030204" pitchFamily="34" charset="0"/>
              <a:cs typeface="Calibri" panose="020F0502020204030204" pitchFamily="34" charset="0"/>
            </a:endParaRPr>
          </a:p>
          <a:p>
            <a:pPr marL="354965" indent="-342265" algn="just">
              <a:lnSpc>
                <a:spcPct val="100000"/>
              </a:lnSpc>
              <a:spcBef>
                <a:spcPts val="765"/>
              </a:spcBef>
              <a:buFont typeface="Arial MT"/>
              <a:buChar char="•"/>
              <a:tabLst>
                <a:tab pos="354965" algn="l"/>
              </a:tabLst>
            </a:pPr>
            <a:r>
              <a:rPr sz="2400" dirty="0">
                <a:latin typeface="Calibri" panose="020F0502020204030204" pitchFamily="34" charset="0"/>
                <a:ea typeface="Calibri" panose="020F0502020204030204" pitchFamily="34" charset="0"/>
                <a:cs typeface="Calibri" panose="020F0502020204030204" pitchFamily="34" charset="0"/>
              </a:rPr>
              <a:t>Use</a:t>
            </a:r>
            <a:r>
              <a:rPr sz="2400" spc="-65"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to</a:t>
            </a:r>
            <a:r>
              <a:rPr sz="2400" spc="-55"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gather</a:t>
            </a:r>
            <a:r>
              <a:rPr sz="2400" spc="-60"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requirements</a:t>
            </a:r>
            <a:r>
              <a:rPr sz="2400" spc="-70"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of</a:t>
            </a:r>
            <a:r>
              <a:rPr sz="2400" spc="-70"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a</a:t>
            </a:r>
            <a:r>
              <a:rPr sz="2400" spc="-60" dirty="0">
                <a:latin typeface="Calibri" panose="020F0502020204030204" pitchFamily="34" charset="0"/>
                <a:ea typeface="Calibri" panose="020F0502020204030204" pitchFamily="34" charset="0"/>
                <a:cs typeface="Calibri" panose="020F0502020204030204" pitchFamily="34" charset="0"/>
              </a:rPr>
              <a:t> </a:t>
            </a:r>
            <a:r>
              <a:rPr sz="2400" spc="-10" dirty="0">
                <a:latin typeface="Calibri" panose="020F0502020204030204" pitchFamily="34" charset="0"/>
                <a:ea typeface="Calibri" panose="020F0502020204030204" pitchFamily="34" charset="0"/>
                <a:cs typeface="Calibri" panose="020F0502020204030204" pitchFamily="34" charset="0"/>
              </a:rPr>
              <a:t>system.</a:t>
            </a:r>
            <a:endParaRPr sz="2400" dirty="0">
              <a:latin typeface="Calibri" panose="020F0502020204030204" pitchFamily="34" charset="0"/>
              <a:ea typeface="Calibri" panose="020F0502020204030204" pitchFamily="34" charset="0"/>
              <a:cs typeface="Calibri" panose="020F0502020204030204" pitchFamily="34" charset="0"/>
            </a:endParaRPr>
          </a:p>
          <a:p>
            <a:pPr marL="354330" indent="-341630" algn="just">
              <a:lnSpc>
                <a:spcPct val="100000"/>
              </a:lnSpc>
              <a:spcBef>
                <a:spcPts val="770"/>
              </a:spcBef>
              <a:buFont typeface="Arial MT"/>
              <a:buChar char="•"/>
              <a:tabLst>
                <a:tab pos="354330" algn="l"/>
              </a:tabLst>
            </a:pPr>
            <a:r>
              <a:rPr sz="2400" dirty="0">
                <a:latin typeface="Calibri" panose="020F0502020204030204" pitchFamily="34" charset="0"/>
                <a:ea typeface="Calibri" panose="020F0502020204030204" pitchFamily="34" charset="0"/>
                <a:cs typeface="Calibri" panose="020F0502020204030204" pitchFamily="34" charset="0"/>
              </a:rPr>
              <a:t>Use</a:t>
            </a:r>
            <a:r>
              <a:rPr sz="2400" spc="-30"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to</a:t>
            </a:r>
            <a:r>
              <a:rPr sz="2400" spc="-30"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get</a:t>
            </a:r>
            <a:r>
              <a:rPr sz="2400" spc="-40"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an</a:t>
            </a:r>
            <a:r>
              <a:rPr sz="2400" spc="-30"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outside</a:t>
            </a:r>
            <a:r>
              <a:rPr sz="2400" spc="-15"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view</a:t>
            </a:r>
            <a:r>
              <a:rPr sz="2400" spc="-45"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of</a:t>
            </a:r>
            <a:r>
              <a:rPr sz="2400" spc="-25"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a</a:t>
            </a:r>
            <a:r>
              <a:rPr sz="2400" spc="-30" dirty="0">
                <a:latin typeface="Calibri" panose="020F0502020204030204" pitchFamily="34" charset="0"/>
                <a:ea typeface="Calibri" panose="020F0502020204030204" pitchFamily="34" charset="0"/>
                <a:cs typeface="Calibri" panose="020F0502020204030204" pitchFamily="34" charset="0"/>
              </a:rPr>
              <a:t> </a:t>
            </a:r>
            <a:r>
              <a:rPr sz="2400" spc="-10" dirty="0">
                <a:latin typeface="Calibri" panose="020F0502020204030204" pitchFamily="34" charset="0"/>
                <a:ea typeface="Calibri" panose="020F0502020204030204" pitchFamily="34" charset="0"/>
                <a:cs typeface="Calibri" panose="020F0502020204030204" pitchFamily="34" charset="0"/>
              </a:rPr>
              <a:t>system.</a:t>
            </a:r>
            <a:endParaRPr sz="2400" dirty="0">
              <a:latin typeface="Calibri" panose="020F0502020204030204" pitchFamily="34" charset="0"/>
              <a:ea typeface="Calibri" panose="020F0502020204030204" pitchFamily="34" charset="0"/>
              <a:cs typeface="Calibri" panose="020F0502020204030204" pitchFamily="34" charset="0"/>
            </a:endParaRPr>
          </a:p>
          <a:p>
            <a:pPr marL="355600" marR="271780" indent="-342900" algn="just">
              <a:lnSpc>
                <a:spcPct val="100000"/>
              </a:lnSpc>
              <a:spcBef>
                <a:spcPts val="770"/>
              </a:spcBef>
              <a:buFont typeface="Arial MT"/>
              <a:buChar char="•"/>
              <a:tabLst>
                <a:tab pos="355600" algn="l"/>
              </a:tabLst>
            </a:pPr>
            <a:r>
              <a:rPr sz="2400" dirty="0">
                <a:latin typeface="Calibri" panose="020F0502020204030204" pitchFamily="34" charset="0"/>
                <a:ea typeface="Calibri" panose="020F0502020204030204" pitchFamily="34" charset="0"/>
                <a:cs typeface="Calibri" panose="020F0502020204030204" pitchFamily="34" charset="0"/>
              </a:rPr>
              <a:t>Show</a:t>
            </a:r>
            <a:r>
              <a:rPr sz="2400" spc="-95"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the</a:t>
            </a:r>
            <a:r>
              <a:rPr sz="2400" spc="-85" dirty="0">
                <a:latin typeface="Calibri" panose="020F0502020204030204" pitchFamily="34" charset="0"/>
                <a:ea typeface="Calibri" panose="020F0502020204030204" pitchFamily="34" charset="0"/>
                <a:cs typeface="Calibri" panose="020F0502020204030204" pitchFamily="34" charset="0"/>
              </a:rPr>
              <a:t> </a:t>
            </a:r>
            <a:r>
              <a:rPr sz="2400" spc="-10" dirty="0">
                <a:latin typeface="Calibri" panose="020F0502020204030204" pitchFamily="34" charset="0"/>
                <a:ea typeface="Calibri" panose="020F0502020204030204" pitchFamily="34" charset="0"/>
                <a:cs typeface="Calibri" panose="020F0502020204030204" pitchFamily="34" charset="0"/>
              </a:rPr>
              <a:t>interaction</a:t>
            </a:r>
            <a:r>
              <a:rPr sz="2400" spc="-75"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among</a:t>
            </a:r>
            <a:r>
              <a:rPr sz="2400" spc="-60"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the</a:t>
            </a:r>
            <a:r>
              <a:rPr sz="2400" spc="-80" dirty="0">
                <a:latin typeface="Calibri" panose="020F0502020204030204" pitchFamily="34" charset="0"/>
                <a:ea typeface="Calibri" panose="020F0502020204030204" pitchFamily="34" charset="0"/>
                <a:cs typeface="Calibri" panose="020F0502020204030204" pitchFamily="34" charset="0"/>
              </a:rPr>
              <a:t> </a:t>
            </a:r>
            <a:r>
              <a:rPr sz="2400" dirty="0">
                <a:latin typeface="Calibri" panose="020F0502020204030204" pitchFamily="34" charset="0"/>
                <a:ea typeface="Calibri" panose="020F0502020204030204" pitchFamily="34" charset="0"/>
                <a:cs typeface="Calibri" panose="020F0502020204030204" pitchFamily="34" charset="0"/>
              </a:rPr>
              <a:t>requirements</a:t>
            </a:r>
            <a:r>
              <a:rPr sz="2400" spc="-105" dirty="0">
                <a:latin typeface="Calibri" panose="020F0502020204030204" pitchFamily="34" charset="0"/>
                <a:ea typeface="Calibri" panose="020F0502020204030204" pitchFamily="34" charset="0"/>
                <a:cs typeface="Calibri" panose="020F0502020204030204" pitchFamily="34" charset="0"/>
              </a:rPr>
              <a:t> </a:t>
            </a:r>
            <a:r>
              <a:rPr sz="2400" spc="-25" dirty="0">
                <a:latin typeface="Calibri" panose="020F0502020204030204" pitchFamily="34" charset="0"/>
                <a:ea typeface="Calibri" panose="020F0502020204030204" pitchFamily="34" charset="0"/>
                <a:cs typeface="Calibri" panose="020F0502020204030204" pitchFamily="34" charset="0"/>
              </a:rPr>
              <a:t>and </a:t>
            </a:r>
            <a:r>
              <a:rPr sz="2400" spc="-10" dirty="0">
                <a:latin typeface="Calibri" panose="020F0502020204030204" pitchFamily="34" charset="0"/>
                <a:ea typeface="Calibri" panose="020F0502020204030204" pitchFamily="34" charset="0"/>
                <a:cs typeface="Calibri" panose="020F0502020204030204" pitchFamily="34" charset="0"/>
              </a:rPr>
              <a:t>actors.</a:t>
            </a:r>
            <a:endParaRPr sz="24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388365"/>
            <a:ext cx="8227059" cy="5489575"/>
          </a:xfrm>
          <a:prstGeom prst="rect">
            <a:avLst/>
          </a:prstGeom>
        </p:spPr>
        <p:txBody>
          <a:bodyPr vert="horz" wrap="square" lIns="0" tIns="13335" rIns="0" bIns="0" rtlCol="0">
            <a:spAutoFit/>
          </a:bodyPr>
          <a:lstStyle/>
          <a:p>
            <a:pPr marL="12700" marR="5080" algn="just">
              <a:lnSpc>
                <a:spcPct val="100000"/>
              </a:lnSpc>
              <a:spcBef>
                <a:spcPts val="105"/>
              </a:spcBef>
            </a:pPr>
            <a:r>
              <a:rPr sz="3200" dirty="0">
                <a:solidFill>
                  <a:srgbClr val="FF0000"/>
                </a:solidFill>
                <a:latin typeface="Calibri"/>
                <a:cs typeface="Calibri"/>
              </a:rPr>
              <a:t>When</a:t>
            </a:r>
            <a:r>
              <a:rPr sz="3200" spc="165" dirty="0">
                <a:solidFill>
                  <a:srgbClr val="FF0000"/>
                </a:solidFill>
                <a:latin typeface="Calibri"/>
                <a:cs typeface="Calibri"/>
              </a:rPr>
              <a:t>  </a:t>
            </a:r>
            <a:r>
              <a:rPr sz="3200" dirty="0">
                <a:solidFill>
                  <a:srgbClr val="FF0000"/>
                </a:solidFill>
                <a:latin typeface="Calibri"/>
                <a:cs typeface="Calibri"/>
              </a:rPr>
              <a:t>we</a:t>
            </a:r>
            <a:r>
              <a:rPr sz="3200" spc="165" dirty="0">
                <a:solidFill>
                  <a:srgbClr val="FF0000"/>
                </a:solidFill>
                <a:latin typeface="Calibri"/>
                <a:cs typeface="Calibri"/>
              </a:rPr>
              <a:t>  </a:t>
            </a:r>
            <a:r>
              <a:rPr sz="3200" dirty="0">
                <a:solidFill>
                  <a:srgbClr val="FF0000"/>
                </a:solidFill>
                <a:latin typeface="Calibri"/>
                <a:cs typeface="Calibri"/>
              </a:rPr>
              <a:t>are</a:t>
            </a:r>
            <a:r>
              <a:rPr sz="3200" spc="165" dirty="0">
                <a:solidFill>
                  <a:srgbClr val="FF0000"/>
                </a:solidFill>
                <a:latin typeface="Calibri"/>
                <a:cs typeface="Calibri"/>
              </a:rPr>
              <a:t>  </a:t>
            </a:r>
            <a:r>
              <a:rPr sz="3200" dirty="0">
                <a:solidFill>
                  <a:srgbClr val="FF0000"/>
                </a:solidFill>
                <a:latin typeface="Calibri"/>
                <a:cs typeface="Calibri"/>
              </a:rPr>
              <a:t>planning</a:t>
            </a:r>
            <a:r>
              <a:rPr sz="3200" spc="175" dirty="0">
                <a:solidFill>
                  <a:srgbClr val="FF0000"/>
                </a:solidFill>
                <a:latin typeface="Calibri"/>
                <a:cs typeface="Calibri"/>
              </a:rPr>
              <a:t>  </a:t>
            </a:r>
            <a:r>
              <a:rPr sz="3200" dirty="0">
                <a:solidFill>
                  <a:srgbClr val="FF0000"/>
                </a:solidFill>
                <a:latin typeface="Calibri"/>
                <a:cs typeface="Calibri"/>
              </a:rPr>
              <a:t>to</a:t>
            </a:r>
            <a:r>
              <a:rPr sz="3200" spc="165" dirty="0">
                <a:solidFill>
                  <a:srgbClr val="FF0000"/>
                </a:solidFill>
                <a:latin typeface="Calibri"/>
                <a:cs typeface="Calibri"/>
              </a:rPr>
              <a:t>  </a:t>
            </a:r>
            <a:r>
              <a:rPr sz="3200" dirty="0">
                <a:solidFill>
                  <a:srgbClr val="FF0000"/>
                </a:solidFill>
                <a:latin typeface="Calibri"/>
                <a:cs typeface="Calibri"/>
              </a:rPr>
              <a:t>draw</a:t>
            </a:r>
            <a:r>
              <a:rPr sz="3200" spc="165" dirty="0">
                <a:solidFill>
                  <a:srgbClr val="FF0000"/>
                </a:solidFill>
                <a:latin typeface="Calibri"/>
                <a:cs typeface="Calibri"/>
              </a:rPr>
              <a:t>  </a:t>
            </a:r>
            <a:r>
              <a:rPr sz="3200" dirty="0">
                <a:solidFill>
                  <a:srgbClr val="FF0000"/>
                </a:solidFill>
                <a:latin typeface="Calibri"/>
                <a:cs typeface="Calibri"/>
              </a:rPr>
              <a:t>an</a:t>
            </a:r>
            <a:r>
              <a:rPr sz="3200" spc="165" dirty="0">
                <a:solidFill>
                  <a:srgbClr val="FF0000"/>
                </a:solidFill>
                <a:latin typeface="Calibri"/>
                <a:cs typeface="Calibri"/>
              </a:rPr>
              <a:t>  </a:t>
            </a:r>
            <a:r>
              <a:rPr sz="3200" dirty="0">
                <a:solidFill>
                  <a:srgbClr val="FF0000"/>
                </a:solidFill>
                <a:latin typeface="Calibri"/>
                <a:cs typeface="Calibri"/>
              </a:rPr>
              <a:t>use</a:t>
            </a:r>
            <a:r>
              <a:rPr sz="3200" spc="160" dirty="0">
                <a:solidFill>
                  <a:srgbClr val="FF0000"/>
                </a:solidFill>
                <a:latin typeface="Calibri"/>
                <a:cs typeface="Calibri"/>
              </a:rPr>
              <a:t>  </a:t>
            </a:r>
            <a:r>
              <a:rPr sz="3200" spc="-20" dirty="0">
                <a:solidFill>
                  <a:srgbClr val="FF0000"/>
                </a:solidFill>
                <a:latin typeface="Calibri"/>
                <a:cs typeface="Calibri"/>
              </a:rPr>
              <a:t>case </a:t>
            </a:r>
            <a:r>
              <a:rPr sz="3200" dirty="0">
                <a:solidFill>
                  <a:srgbClr val="FF0000"/>
                </a:solidFill>
                <a:latin typeface="Calibri"/>
                <a:cs typeface="Calibri"/>
              </a:rPr>
              <a:t>diagram</a:t>
            </a:r>
            <a:r>
              <a:rPr sz="3200" spc="195" dirty="0">
                <a:solidFill>
                  <a:srgbClr val="FF0000"/>
                </a:solidFill>
                <a:latin typeface="Calibri"/>
                <a:cs typeface="Calibri"/>
              </a:rPr>
              <a:t>  </a:t>
            </a:r>
            <a:r>
              <a:rPr sz="3200" dirty="0">
                <a:solidFill>
                  <a:srgbClr val="0000FF"/>
                </a:solidFill>
                <a:latin typeface="Calibri"/>
                <a:cs typeface="Calibri"/>
              </a:rPr>
              <a:t>we</a:t>
            </a:r>
            <a:r>
              <a:rPr sz="3200" spc="195" dirty="0">
                <a:solidFill>
                  <a:srgbClr val="0000FF"/>
                </a:solidFill>
                <a:latin typeface="Calibri"/>
                <a:cs typeface="Calibri"/>
              </a:rPr>
              <a:t>  </a:t>
            </a:r>
            <a:r>
              <a:rPr sz="3200" dirty="0">
                <a:solidFill>
                  <a:srgbClr val="0000FF"/>
                </a:solidFill>
                <a:latin typeface="Calibri"/>
                <a:cs typeface="Calibri"/>
              </a:rPr>
              <a:t>should</a:t>
            </a:r>
            <a:r>
              <a:rPr sz="3200" spc="195" dirty="0">
                <a:solidFill>
                  <a:srgbClr val="0000FF"/>
                </a:solidFill>
                <a:latin typeface="Calibri"/>
                <a:cs typeface="Calibri"/>
              </a:rPr>
              <a:t>  </a:t>
            </a:r>
            <a:r>
              <a:rPr sz="3200" dirty="0">
                <a:solidFill>
                  <a:srgbClr val="0000FF"/>
                </a:solidFill>
                <a:latin typeface="Calibri"/>
                <a:cs typeface="Calibri"/>
              </a:rPr>
              <a:t>have</a:t>
            </a:r>
            <a:r>
              <a:rPr sz="3200" spc="195" dirty="0">
                <a:solidFill>
                  <a:srgbClr val="0000FF"/>
                </a:solidFill>
                <a:latin typeface="Calibri"/>
                <a:cs typeface="Calibri"/>
              </a:rPr>
              <a:t>  </a:t>
            </a:r>
            <a:r>
              <a:rPr sz="3200" dirty="0">
                <a:solidFill>
                  <a:srgbClr val="0000FF"/>
                </a:solidFill>
                <a:latin typeface="Calibri"/>
                <a:cs typeface="Calibri"/>
              </a:rPr>
              <a:t>the</a:t>
            </a:r>
            <a:r>
              <a:rPr sz="3200" spc="185" dirty="0">
                <a:solidFill>
                  <a:srgbClr val="0000FF"/>
                </a:solidFill>
                <a:latin typeface="Calibri"/>
                <a:cs typeface="Calibri"/>
              </a:rPr>
              <a:t>  </a:t>
            </a:r>
            <a:r>
              <a:rPr sz="3200" dirty="0">
                <a:solidFill>
                  <a:srgbClr val="0000FF"/>
                </a:solidFill>
                <a:latin typeface="Calibri"/>
                <a:cs typeface="Calibri"/>
              </a:rPr>
              <a:t>following</a:t>
            </a:r>
            <a:r>
              <a:rPr sz="3200" spc="204" dirty="0">
                <a:solidFill>
                  <a:srgbClr val="0000FF"/>
                </a:solidFill>
                <a:latin typeface="Calibri"/>
                <a:cs typeface="Calibri"/>
              </a:rPr>
              <a:t>  </a:t>
            </a:r>
            <a:r>
              <a:rPr sz="3200" spc="-10" dirty="0">
                <a:solidFill>
                  <a:srgbClr val="0000FF"/>
                </a:solidFill>
                <a:latin typeface="Calibri"/>
                <a:cs typeface="Calibri"/>
              </a:rPr>
              <a:t>items identified.</a:t>
            </a:r>
            <a:endParaRPr sz="3200">
              <a:latin typeface="Calibri"/>
              <a:cs typeface="Calibri"/>
            </a:endParaRPr>
          </a:p>
          <a:p>
            <a:pPr marL="354965" indent="-342265">
              <a:lnSpc>
                <a:spcPct val="100000"/>
              </a:lnSpc>
              <a:spcBef>
                <a:spcPts val="770"/>
              </a:spcBef>
              <a:buFont typeface="Arial MT"/>
              <a:buChar char="•"/>
              <a:tabLst>
                <a:tab pos="354965" algn="l"/>
              </a:tabLst>
            </a:pPr>
            <a:r>
              <a:rPr sz="3200" spc="-10" dirty="0">
                <a:latin typeface="Calibri"/>
                <a:cs typeface="Calibri"/>
              </a:rPr>
              <a:t>Functionalities</a:t>
            </a:r>
            <a:r>
              <a:rPr sz="3200" spc="-35" dirty="0">
                <a:latin typeface="Calibri"/>
                <a:cs typeface="Calibri"/>
              </a:rPr>
              <a:t> </a:t>
            </a:r>
            <a:r>
              <a:rPr sz="3200" dirty="0">
                <a:latin typeface="Calibri"/>
                <a:cs typeface="Calibri"/>
              </a:rPr>
              <a:t>to</a:t>
            </a:r>
            <a:r>
              <a:rPr sz="3200" spc="-40" dirty="0">
                <a:latin typeface="Calibri"/>
                <a:cs typeface="Calibri"/>
              </a:rPr>
              <a:t> </a:t>
            </a:r>
            <a:r>
              <a:rPr sz="3200" dirty="0">
                <a:latin typeface="Calibri"/>
                <a:cs typeface="Calibri"/>
              </a:rPr>
              <a:t>be</a:t>
            </a:r>
            <a:r>
              <a:rPr sz="3200" spc="-45" dirty="0">
                <a:latin typeface="Calibri"/>
                <a:cs typeface="Calibri"/>
              </a:rPr>
              <a:t> </a:t>
            </a:r>
            <a:r>
              <a:rPr sz="3200" spc="-10" dirty="0">
                <a:latin typeface="Calibri"/>
                <a:cs typeface="Calibri"/>
              </a:rPr>
              <a:t>represented</a:t>
            </a:r>
            <a:r>
              <a:rPr sz="3200" spc="-65" dirty="0">
                <a:latin typeface="Calibri"/>
                <a:cs typeface="Calibri"/>
              </a:rPr>
              <a:t> </a:t>
            </a:r>
            <a:r>
              <a:rPr sz="3200" dirty="0">
                <a:latin typeface="Calibri"/>
                <a:cs typeface="Calibri"/>
              </a:rPr>
              <a:t>as</a:t>
            </a:r>
            <a:r>
              <a:rPr sz="3200" spc="-40" dirty="0">
                <a:latin typeface="Calibri"/>
                <a:cs typeface="Calibri"/>
              </a:rPr>
              <a:t> </a:t>
            </a:r>
            <a:r>
              <a:rPr sz="3200" dirty="0">
                <a:latin typeface="Calibri"/>
                <a:cs typeface="Calibri"/>
              </a:rPr>
              <a:t>an</a:t>
            </a:r>
            <a:r>
              <a:rPr sz="3200" spc="-35" dirty="0">
                <a:latin typeface="Calibri"/>
                <a:cs typeface="Calibri"/>
              </a:rPr>
              <a:t> </a:t>
            </a:r>
            <a:r>
              <a:rPr sz="3200" spc="-10" dirty="0">
                <a:latin typeface="Calibri"/>
                <a:cs typeface="Calibri"/>
              </a:rPr>
              <a:t>usecase</a:t>
            </a:r>
            <a:endParaRPr sz="3200">
              <a:latin typeface="Calibri"/>
              <a:cs typeface="Calibri"/>
            </a:endParaRPr>
          </a:p>
          <a:p>
            <a:pPr marL="354965" indent="-342265">
              <a:lnSpc>
                <a:spcPct val="100000"/>
              </a:lnSpc>
              <a:spcBef>
                <a:spcPts val="765"/>
              </a:spcBef>
              <a:buFont typeface="Arial MT"/>
              <a:buChar char="•"/>
              <a:tabLst>
                <a:tab pos="354965" algn="l"/>
              </a:tabLst>
            </a:pPr>
            <a:r>
              <a:rPr sz="3200" spc="-10" dirty="0">
                <a:latin typeface="Calibri"/>
                <a:cs typeface="Calibri"/>
              </a:rPr>
              <a:t>Actors</a:t>
            </a:r>
            <a:endParaRPr sz="3200">
              <a:latin typeface="Calibri"/>
              <a:cs typeface="Calibri"/>
            </a:endParaRPr>
          </a:p>
          <a:p>
            <a:pPr marL="354965" indent="-342265">
              <a:lnSpc>
                <a:spcPct val="100000"/>
              </a:lnSpc>
              <a:spcBef>
                <a:spcPts val="770"/>
              </a:spcBef>
              <a:buFont typeface="Arial MT"/>
              <a:buChar char="•"/>
              <a:tabLst>
                <a:tab pos="354965" algn="l"/>
              </a:tabLst>
            </a:pPr>
            <a:r>
              <a:rPr sz="3200" spc="-10" dirty="0">
                <a:latin typeface="Calibri"/>
                <a:cs typeface="Calibri"/>
              </a:rPr>
              <a:t>Relationships</a:t>
            </a:r>
            <a:r>
              <a:rPr sz="3200" spc="-25" dirty="0">
                <a:latin typeface="Calibri"/>
                <a:cs typeface="Calibri"/>
              </a:rPr>
              <a:t> </a:t>
            </a:r>
            <a:r>
              <a:rPr sz="3200" dirty="0">
                <a:latin typeface="Calibri"/>
                <a:cs typeface="Calibri"/>
              </a:rPr>
              <a:t>among</a:t>
            </a:r>
            <a:r>
              <a:rPr sz="3200" spc="-30" dirty="0">
                <a:latin typeface="Calibri"/>
                <a:cs typeface="Calibri"/>
              </a:rPr>
              <a:t> </a:t>
            </a:r>
            <a:r>
              <a:rPr sz="3200" dirty="0">
                <a:latin typeface="Calibri"/>
                <a:cs typeface="Calibri"/>
              </a:rPr>
              <a:t>the</a:t>
            </a:r>
            <a:r>
              <a:rPr sz="3200" spc="-45" dirty="0">
                <a:latin typeface="Calibri"/>
                <a:cs typeface="Calibri"/>
              </a:rPr>
              <a:t> </a:t>
            </a:r>
            <a:r>
              <a:rPr sz="3200" dirty="0">
                <a:latin typeface="Calibri"/>
                <a:cs typeface="Calibri"/>
              </a:rPr>
              <a:t>use</a:t>
            </a:r>
            <a:r>
              <a:rPr sz="3200" spc="-35" dirty="0">
                <a:latin typeface="Calibri"/>
                <a:cs typeface="Calibri"/>
              </a:rPr>
              <a:t> </a:t>
            </a:r>
            <a:r>
              <a:rPr sz="3200" dirty="0">
                <a:latin typeface="Calibri"/>
                <a:cs typeface="Calibri"/>
              </a:rPr>
              <a:t>cases</a:t>
            </a:r>
            <a:r>
              <a:rPr sz="3200" spc="-65" dirty="0">
                <a:latin typeface="Calibri"/>
                <a:cs typeface="Calibri"/>
              </a:rPr>
              <a:t> </a:t>
            </a:r>
            <a:r>
              <a:rPr sz="3200" dirty="0">
                <a:latin typeface="Calibri"/>
                <a:cs typeface="Calibri"/>
              </a:rPr>
              <a:t>and</a:t>
            </a:r>
            <a:r>
              <a:rPr sz="3200" spc="-30" dirty="0">
                <a:latin typeface="Calibri"/>
                <a:cs typeface="Calibri"/>
              </a:rPr>
              <a:t> </a:t>
            </a:r>
            <a:r>
              <a:rPr sz="3200" spc="-10" dirty="0">
                <a:latin typeface="Calibri"/>
                <a:cs typeface="Calibri"/>
              </a:rPr>
              <a:t>actors.</a:t>
            </a:r>
            <a:endParaRPr sz="3200">
              <a:latin typeface="Calibri"/>
              <a:cs typeface="Calibri"/>
            </a:endParaRPr>
          </a:p>
          <a:p>
            <a:pPr marL="12700" marR="6350">
              <a:lnSpc>
                <a:spcPct val="100000"/>
              </a:lnSpc>
              <a:spcBef>
                <a:spcPts val="770"/>
              </a:spcBef>
              <a:tabLst>
                <a:tab pos="855344" algn="l"/>
                <a:tab pos="2603500" algn="l"/>
                <a:tab pos="3365500" algn="l"/>
                <a:tab pos="4145915" algn="l"/>
                <a:tab pos="5409565" algn="l"/>
                <a:tab pos="6684009" algn="l"/>
                <a:tab pos="7486015" algn="l"/>
              </a:tabLst>
            </a:pPr>
            <a:r>
              <a:rPr sz="3200" spc="-25" dirty="0">
                <a:solidFill>
                  <a:srgbClr val="FF0000"/>
                </a:solidFill>
                <a:latin typeface="Calibri"/>
                <a:cs typeface="Calibri"/>
              </a:rPr>
              <a:t>The</a:t>
            </a:r>
            <a:r>
              <a:rPr sz="3200" dirty="0">
                <a:solidFill>
                  <a:srgbClr val="FF0000"/>
                </a:solidFill>
                <a:latin typeface="Calibri"/>
                <a:cs typeface="Calibri"/>
              </a:rPr>
              <a:t>	</a:t>
            </a:r>
            <a:r>
              <a:rPr sz="3200" spc="-10" dirty="0">
                <a:solidFill>
                  <a:srgbClr val="FF0000"/>
                </a:solidFill>
                <a:latin typeface="Calibri"/>
                <a:cs typeface="Calibri"/>
              </a:rPr>
              <a:t>following</a:t>
            </a:r>
            <a:r>
              <a:rPr sz="3200" dirty="0">
                <a:solidFill>
                  <a:srgbClr val="FF0000"/>
                </a:solidFill>
                <a:latin typeface="Calibri"/>
                <a:cs typeface="Calibri"/>
              </a:rPr>
              <a:t>	</a:t>
            </a:r>
            <a:r>
              <a:rPr sz="3200" spc="-25" dirty="0">
                <a:solidFill>
                  <a:srgbClr val="FF0000"/>
                </a:solidFill>
                <a:latin typeface="Calibri"/>
                <a:cs typeface="Calibri"/>
              </a:rPr>
              <a:t>are</a:t>
            </a:r>
            <a:r>
              <a:rPr sz="3200" dirty="0">
                <a:solidFill>
                  <a:srgbClr val="FF0000"/>
                </a:solidFill>
                <a:latin typeface="Calibri"/>
                <a:cs typeface="Calibri"/>
              </a:rPr>
              <a:t>	</a:t>
            </a:r>
            <a:r>
              <a:rPr sz="3200" spc="-25" dirty="0">
                <a:solidFill>
                  <a:srgbClr val="FF0000"/>
                </a:solidFill>
                <a:latin typeface="Calibri"/>
                <a:cs typeface="Calibri"/>
              </a:rPr>
              <a:t>the</a:t>
            </a:r>
            <a:r>
              <a:rPr sz="3200" dirty="0">
                <a:solidFill>
                  <a:srgbClr val="FF0000"/>
                </a:solidFill>
                <a:latin typeface="Calibri"/>
                <a:cs typeface="Calibri"/>
              </a:rPr>
              <a:t>	</a:t>
            </a:r>
            <a:r>
              <a:rPr sz="3200" spc="-10" dirty="0">
                <a:solidFill>
                  <a:srgbClr val="FF0000"/>
                </a:solidFill>
                <a:latin typeface="Calibri"/>
                <a:cs typeface="Calibri"/>
              </a:rPr>
              <a:t>places</a:t>
            </a:r>
            <a:r>
              <a:rPr sz="3200" dirty="0">
                <a:solidFill>
                  <a:srgbClr val="FF0000"/>
                </a:solidFill>
                <a:latin typeface="Calibri"/>
                <a:cs typeface="Calibri"/>
              </a:rPr>
              <a:t>	</a:t>
            </a:r>
            <a:r>
              <a:rPr sz="3200" spc="-10" dirty="0">
                <a:solidFill>
                  <a:srgbClr val="FF0000"/>
                </a:solidFill>
                <a:latin typeface="Calibri"/>
                <a:cs typeface="Calibri"/>
              </a:rPr>
              <a:t>where</a:t>
            </a:r>
            <a:r>
              <a:rPr sz="3200" dirty="0">
                <a:solidFill>
                  <a:srgbClr val="FF0000"/>
                </a:solidFill>
                <a:latin typeface="Calibri"/>
                <a:cs typeface="Calibri"/>
              </a:rPr>
              <a:t>	</a:t>
            </a:r>
            <a:r>
              <a:rPr sz="3200" spc="-25" dirty="0">
                <a:solidFill>
                  <a:srgbClr val="FF0000"/>
                </a:solidFill>
                <a:latin typeface="Calibri"/>
                <a:cs typeface="Calibri"/>
              </a:rPr>
              <a:t>use</a:t>
            </a:r>
            <a:r>
              <a:rPr sz="3200" dirty="0">
                <a:solidFill>
                  <a:srgbClr val="FF0000"/>
                </a:solidFill>
                <a:latin typeface="Calibri"/>
                <a:cs typeface="Calibri"/>
              </a:rPr>
              <a:t>	</a:t>
            </a:r>
            <a:r>
              <a:rPr sz="3200" spc="-20" dirty="0">
                <a:solidFill>
                  <a:srgbClr val="FF0000"/>
                </a:solidFill>
                <a:latin typeface="Calibri"/>
                <a:cs typeface="Calibri"/>
              </a:rPr>
              <a:t>case </a:t>
            </a:r>
            <a:r>
              <a:rPr sz="3200" spc="-10" dirty="0">
                <a:solidFill>
                  <a:srgbClr val="FF0000"/>
                </a:solidFill>
                <a:latin typeface="Calibri"/>
                <a:cs typeface="Calibri"/>
              </a:rPr>
              <a:t>diagrams</a:t>
            </a:r>
            <a:r>
              <a:rPr sz="3200" spc="-70" dirty="0">
                <a:solidFill>
                  <a:srgbClr val="FF0000"/>
                </a:solidFill>
                <a:latin typeface="Calibri"/>
                <a:cs typeface="Calibri"/>
              </a:rPr>
              <a:t> </a:t>
            </a:r>
            <a:r>
              <a:rPr sz="3200" dirty="0">
                <a:solidFill>
                  <a:srgbClr val="FF0000"/>
                </a:solidFill>
                <a:latin typeface="Calibri"/>
                <a:cs typeface="Calibri"/>
              </a:rPr>
              <a:t>are</a:t>
            </a:r>
            <a:r>
              <a:rPr sz="3200" spc="-90" dirty="0">
                <a:solidFill>
                  <a:srgbClr val="FF0000"/>
                </a:solidFill>
                <a:latin typeface="Calibri"/>
                <a:cs typeface="Calibri"/>
              </a:rPr>
              <a:t> </a:t>
            </a:r>
            <a:r>
              <a:rPr sz="3200" spc="-10" dirty="0">
                <a:solidFill>
                  <a:srgbClr val="FF0000"/>
                </a:solidFill>
                <a:latin typeface="Calibri"/>
                <a:cs typeface="Calibri"/>
              </a:rPr>
              <a:t>used:</a:t>
            </a:r>
            <a:endParaRPr sz="3200">
              <a:latin typeface="Calibri"/>
              <a:cs typeface="Calibri"/>
            </a:endParaRPr>
          </a:p>
          <a:p>
            <a:pPr marL="354965" indent="-342265">
              <a:lnSpc>
                <a:spcPct val="100000"/>
              </a:lnSpc>
              <a:spcBef>
                <a:spcPts val="770"/>
              </a:spcBef>
              <a:buFont typeface="Arial MT"/>
              <a:buChar char="•"/>
              <a:tabLst>
                <a:tab pos="354965" algn="l"/>
              </a:tabLst>
            </a:pPr>
            <a:r>
              <a:rPr sz="3200" dirty="0">
                <a:latin typeface="Calibri"/>
                <a:cs typeface="Calibri"/>
              </a:rPr>
              <a:t>Requirement</a:t>
            </a:r>
            <a:r>
              <a:rPr sz="3200" spc="-114" dirty="0">
                <a:latin typeface="Calibri"/>
                <a:cs typeface="Calibri"/>
              </a:rPr>
              <a:t> </a:t>
            </a:r>
            <a:r>
              <a:rPr sz="3200" dirty="0">
                <a:latin typeface="Calibri"/>
                <a:cs typeface="Calibri"/>
              </a:rPr>
              <a:t>analysis</a:t>
            </a:r>
            <a:r>
              <a:rPr sz="3200" spc="-90" dirty="0">
                <a:latin typeface="Calibri"/>
                <a:cs typeface="Calibri"/>
              </a:rPr>
              <a:t> </a:t>
            </a:r>
            <a:r>
              <a:rPr sz="3200" dirty="0">
                <a:latin typeface="Calibri"/>
                <a:cs typeface="Calibri"/>
              </a:rPr>
              <a:t>and</a:t>
            </a:r>
            <a:r>
              <a:rPr sz="3200" spc="-95" dirty="0">
                <a:latin typeface="Calibri"/>
                <a:cs typeface="Calibri"/>
              </a:rPr>
              <a:t> </a:t>
            </a:r>
            <a:r>
              <a:rPr sz="3200" dirty="0">
                <a:latin typeface="Calibri"/>
                <a:cs typeface="Calibri"/>
              </a:rPr>
              <a:t>high</a:t>
            </a:r>
            <a:r>
              <a:rPr sz="3200" spc="-85" dirty="0">
                <a:latin typeface="Calibri"/>
                <a:cs typeface="Calibri"/>
              </a:rPr>
              <a:t> </a:t>
            </a:r>
            <a:r>
              <a:rPr sz="3200" dirty="0">
                <a:latin typeface="Calibri"/>
                <a:cs typeface="Calibri"/>
              </a:rPr>
              <a:t>level</a:t>
            </a:r>
            <a:r>
              <a:rPr sz="3200" spc="-105" dirty="0">
                <a:latin typeface="Calibri"/>
                <a:cs typeface="Calibri"/>
              </a:rPr>
              <a:t> </a:t>
            </a:r>
            <a:r>
              <a:rPr sz="3200" spc="-10" dirty="0">
                <a:latin typeface="Calibri"/>
                <a:cs typeface="Calibri"/>
              </a:rPr>
              <a:t>design.</a:t>
            </a:r>
            <a:endParaRPr sz="3200">
              <a:latin typeface="Calibri"/>
              <a:cs typeface="Calibri"/>
            </a:endParaRPr>
          </a:p>
          <a:p>
            <a:pPr marL="354965" indent="-342265">
              <a:lnSpc>
                <a:spcPct val="100000"/>
              </a:lnSpc>
              <a:spcBef>
                <a:spcPts val="770"/>
              </a:spcBef>
              <a:buFont typeface="Arial MT"/>
              <a:buChar char="•"/>
              <a:tabLst>
                <a:tab pos="354965" algn="l"/>
              </a:tabLst>
            </a:pPr>
            <a:r>
              <a:rPr sz="3200" dirty="0">
                <a:latin typeface="Calibri"/>
                <a:cs typeface="Calibri"/>
              </a:rPr>
              <a:t>Model</a:t>
            </a:r>
            <a:r>
              <a:rPr sz="3200" spc="-35" dirty="0">
                <a:latin typeface="Calibri"/>
                <a:cs typeface="Calibri"/>
              </a:rPr>
              <a:t> </a:t>
            </a:r>
            <a:r>
              <a:rPr sz="3200" dirty="0">
                <a:latin typeface="Calibri"/>
                <a:cs typeface="Calibri"/>
              </a:rPr>
              <a:t>the</a:t>
            </a:r>
            <a:r>
              <a:rPr sz="3200" spc="-45" dirty="0">
                <a:latin typeface="Calibri"/>
                <a:cs typeface="Calibri"/>
              </a:rPr>
              <a:t> </a:t>
            </a:r>
            <a:r>
              <a:rPr sz="3200" spc="-10" dirty="0">
                <a:latin typeface="Calibri"/>
                <a:cs typeface="Calibri"/>
              </a:rPr>
              <a:t>context</a:t>
            </a:r>
            <a:r>
              <a:rPr sz="3200" spc="-30" dirty="0">
                <a:latin typeface="Calibri"/>
                <a:cs typeface="Calibri"/>
              </a:rPr>
              <a:t> </a:t>
            </a:r>
            <a:r>
              <a:rPr sz="3200" dirty="0">
                <a:latin typeface="Calibri"/>
                <a:cs typeface="Calibri"/>
              </a:rPr>
              <a:t>of</a:t>
            </a:r>
            <a:r>
              <a:rPr sz="3200" spc="-40" dirty="0">
                <a:latin typeface="Calibri"/>
                <a:cs typeface="Calibri"/>
              </a:rPr>
              <a:t> </a:t>
            </a:r>
            <a:r>
              <a:rPr sz="3200" dirty="0">
                <a:latin typeface="Calibri"/>
                <a:cs typeface="Calibri"/>
              </a:rPr>
              <a:t>a</a:t>
            </a:r>
            <a:r>
              <a:rPr sz="3200" spc="-25" dirty="0">
                <a:latin typeface="Calibri"/>
                <a:cs typeface="Calibri"/>
              </a:rPr>
              <a:t> </a:t>
            </a:r>
            <a:r>
              <a:rPr sz="3200" spc="-10" dirty="0">
                <a:latin typeface="Calibri"/>
                <a:cs typeface="Calibri"/>
              </a:rPr>
              <a:t>system.</a:t>
            </a:r>
            <a:endParaRPr sz="32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466090"/>
            <a:ext cx="8075295" cy="5421630"/>
          </a:xfrm>
          <a:prstGeom prst="rect">
            <a:avLst/>
          </a:prstGeom>
        </p:spPr>
        <p:txBody>
          <a:bodyPr vert="horz" wrap="square" lIns="0" tIns="12700" rIns="0" bIns="0" rtlCol="0">
            <a:spAutoFit/>
          </a:bodyPr>
          <a:lstStyle/>
          <a:p>
            <a:pPr marL="12700" marR="238125" algn="just">
              <a:lnSpc>
                <a:spcPct val="100000"/>
              </a:lnSpc>
              <a:spcBef>
                <a:spcPts val="100"/>
              </a:spcBef>
            </a:pPr>
            <a:r>
              <a:rPr lang="en-US" sz="3000" dirty="0">
                <a:solidFill>
                  <a:srgbClr val="FF0000"/>
                </a:solidFill>
                <a:latin typeface="Calibri"/>
                <a:cs typeface="Calibri"/>
              </a:rPr>
              <a:t>F</a:t>
            </a:r>
            <a:r>
              <a:rPr sz="3000" dirty="0">
                <a:solidFill>
                  <a:srgbClr val="FF0000"/>
                </a:solidFill>
                <a:latin typeface="Calibri"/>
                <a:cs typeface="Calibri"/>
              </a:rPr>
              <a:t>ollow</a:t>
            </a:r>
            <a:r>
              <a:rPr sz="3000" spc="-70" dirty="0">
                <a:solidFill>
                  <a:srgbClr val="FF0000"/>
                </a:solidFill>
                <a:latin typeface="Calibri"/>
                <a:cs typeface="Calibri"/>
              </a:rPr>
              <a:t> </a:t>
            </a:r>
            <a:r>
              <a:rPr sz="3000" dirty="0">
                <a:solidFill>
                  <a:srgbClr val="FF0000"/>
                </a:solidFill>
                <a:latin typeface="Calibri"/>
                <a:cs typeface="Calibri"/>
              </a:rPr>
              <a:t>the</a:t>
            </a:r>
            <a:r>
              <a:rPr sz="3000" spc="-85" dirty="0">
                <a:solidFill>
                  <a:srgbClr val="FF0000"/>
                </a:solidFill>
                <a:latin typeface="Calibri"/>
                <a:cs typeface="Calibri"/>
              </a:rPr>
              <a:t> </a:t>
            </a:r>
            <a:r>
              <a:rPr sz="3000" spc="-10" dirty="0">
                <a:solidFill>
                  <a:srgbClr val="FF0000"/>
                </a:solidFill>
                <a:latin typeface="Calibri"/>
                <a:cs typeface="Calibri"/>
              </a:rPr>
              <a:t>following</a:t>
            </a:r>
            <a:r>
              <a:rPr sz="3000" spc="-65" dirty="0">
                <a:solidFill>
                  <a:srgbClr val="FF0000"/>
                </a:solidFill>
                <a:latin typeface="Calibri"/>
                <a:cs typeface="Calibri"/>
              </a:rPr>
              <a:t> </a:t>
            </a:r>
            <a:r>
              <a:rPr sz="3000" dirty="0">
                <a:solidFill>
                  <a:srgbClr val="FF0000"/>
                </a:solidFill>
                <a:latin typeface="Calibri"/>
                <a:cs typeface="Calibri"/>
              </a:rPr>
              <a:t>guidelines</a:t>
            </a:r>
            <a:r>
              <a:rPr sz="3000" spc="-65" dirty="0">
                <a:solidFill>
                  <a:srgbClr val="FF0000"/>
                </a:solidFill>
                <a:latin typeface="Calibri"/>
                <a:cs typeface="Calibri"/>
              </a:rPr>
              <a:t> </a:t>
            </a:r>
            <a:r>
              <a:rPr sz="3000" dirty="0">
                <a:solidFill>
                  <a:srgbClr val="FF0000"/>
                </a:solidFill>
                <a:latin typeface="Calibri"/>
                <a:cs typeface="Calibri"/>
              </a:rPr>
              <a:t>to</a:t>
            </a:r>
            <a:r>
              <a:rPr sz="3000" spc="-80" dirty="0">
                <a:solidFill>
                  <a:srgbClr val="FF0000"/>
                </a:solidFill>
                <a:latin typeface="Calibri"/>
                <a:cs typeface="Calibri"/>
              </a:rPr>
              <a:t> </a:t>
            </a:r>
            <a:r>
              <a:rPr sz="3000" dirty="0">
                <a:solidFill>
                  <a:srgbClr val="FF0000"/>
                </a:solidFill>
                <a:latin typeface="Calibri"/>
                <a:cs typeface="Calibri"/>
              </a:rPr>
              <a:t>draw</a:t>
            </a:r>
            <a:r>
              <a:rPr sz="3000" spc="-65" dirty="0">
                <a:solidFill>
                  <a:srgbClr val="FF0000"/>
                </a:solidFill>
                <a:latin typeface="Calibri"/>
                <a:cs typeface="Calibri"/>
              </a:rPr>
              <a:t> </a:t>
            </a:r>
            <a:r>
              <a:rPr sz="3000" dirty="0">
                <a:solidFill>
                  <a:srgbClr val="FF0000"/>
                </a:solidFill>
                <a:latin typeface="Calibri"/>
                <a:cs typeface="Calibri"/>
              </a:rPr>
              <a:t>an</a:t>
            </a:r>
            <a:r>
              <a:rPr sz="3000" spc="-80" dirty="0">
                <a:solidFill>
                  <a:srgbClr val="FF0000"/>
                </a:solidFill>
                <a:latin typeface="Calibri"/>
                <a:cs typeface="Calibri"/>
              </a:rPr>
              <a:t> </a:t>
            </a:r>
            <a:r>
              <a:rPr sz="3000" spc="-10" dirty="0">
                <a:solidFill>
                  <a:srgbClr val="FF0000"/>
                </a:solidFill>
                <a:latin typeface="Calibri"/>
                <a:cs typeface="Calibri"/>
              </a:rPr>
              <a:t>efficient </a:t>
            </a:r>
            <a:r>
              <a:rPr sz="3000" dirty="0">
                <a:solidFill>
                  <a:srgbClr val="FF0000"/>
                </a:solidFill>
                <a:latin typeface="Calibri"/>
                <a:cs typeface="Calibri"/>
              </a:rPr>
              <a:t>use</a:t>
            </a:r>
            <a:r>
              <a:rPr sz="3000" spc="-30" dirty="0">
                <a:solidFill>
                  <a:srgbClr val="FF0000"/>
                </a:solidFill>
                <a:latin typeface="Calibri"/>
                <a:cs typeface="Calibri"/>
              </a:rPr>
              <a:t> </a:t>
            </a:r>
            <a:r>
              <a:rPr sz="3000" dirty="0">
                <a:solidFill>
                  <a:srgbClr val="FF0000"/>
                </a:solidFill>
                <a:latin typeface="Calibri"/>
                <a:cs typeface="Calibri"/>
              </a:rPr>
              <a:t>case</a:t>
            </a:r>
            <a:r>
              <a:rPr sz="3000" spc="-30" dirty="0">
                <a:solidFill>
                  <a:srgbClr val="FF0000"/>
                </a:solidFill>
                <a:latin typeface="Calibri"/>
                <a:cs typeface="Calibri"/>
              </a:rPr>
              <a:t> </a:t>
            </a:r>
            <a:r>
              <a:rPr sz="3000" spc="-10" dirty="0">
                <a:solidFill>
                  <a:srgbClr val="FF0000"/>
                </a:solidFill>
                <a:latin typeface="Calibri"/>
                <a:cs typeface="Calibri"/>
              </a:rPr>
              <a:t>diagram.</a:t>
            </a:r>
            <a:endParaRPr sz="3000" dirty="0">
              <a:latin typeface="Calibri"/>
              <a:cs typeface="Calibri"/>
            </a:endParaRPr>
          </a:p>
          <a:p>
            <a:pPr marL="355600" marR="5080" indent="-342900" algn="just">
              <a:lnSpc>
                <a:spcPct val="100000"/>
              </a:lnSpc>
              <a:spcBef>
                <a:spcPts val="720"/>
              </a:spcBef>
              <a:buFont typeface="Arial MT"/>
              <a:buChar char="•"/>
              <a:tabLst>
                <a:tab pos="355600" algn="l"/>
              </a:tabLst>
            </a:pPr>
            <a:r>
              <a:rPr sz="3000" dirty="0">
                <a:latin typeface="Calibri"/>
                <a:cs typeface="Calibri"/>
              </a:rPr>
              <a:t>The</a:t>
            </a:r>
            <a:r>
              <a:rPr sz="3000" spc="140" dirty="0">
                <a:latin typeface="Calibri"/>
                <a:cs typeface="Calibri"/>
              </a:rPr>
              <a:t> </a:t>
            </a:r>
            <a:r>
              <a:rPr sz="3000" dirty="0">
                <a:solidFill>
                  <a:srgbClr val="0000FF"/>
                </a:solidFill>
                <a:latin typeface="Calibri"/>
                <a:cs typeface="Calibri"/>
              </a:rPr>
              <a:t>name</a:t>
            </a:r>
            <a:r>
              <a:rPr sz="3000" spc="140" dirty="0">
                <a:solidFill>
                  <a:srgbClr val="0000FF"/>
                </a:solidFill>
                <a:latin typeface="Calibri"/>
                <a:cs typeface="Calibri"/>
              </a:rPr>
              <a:t> </a:t>
            </a:r>
            <a:r>
              <a:rPr sz="3000" dirty="0">
                <a:solidFill>
                  <a:srgbClr val="0000FF"/>
                </a:solidFill>
                <a:latin typeface="Calibri"/>
                <a:cs typeface="Calibri"/>
              </a:rPr>
              <a:t>of</a:t>
            </a:r>
            <a:r>
              <a:rPr sz="3000" spc="145" dirty="0">
                <a:solidFill>
                  <a:srgbClr val="0000FF"/>
                </a:solidFill>
                <a:latin typeface="Calibri"/>
                <a:cs typeface="Calibri"/>
              </a:rPr>
              <a:t> </a:t>
            </a:r>
            <a:r>
              <a:rPr sz="3000" dirty="0">
                <a:solidFill>
                  <a:srgbClr val="0000FF"/>
                </a:solidFill>
                <a:latin typeface="Calibri"/>
                <a:cs typeface="Calibri"/>
              </a:rPr>
              <a:t>a</a:t>
            </a:r>
            <a:r>
              <a:rPr sz="3000" spc="155" dirty="0">
                <a:solidFill>
                  <a:srgbClr val="0000FF"/>
                </a:solidFill>
                <a:latin typeface="Calibri"/>
                <a:cs typeface="Calibri"/>
              </a:rPr>
              <a:t> </a:t>
            </a:r>
            <a:r>
              <a:rPr sz="3000" dirty="0">
                <a:solidFill>
                  <a:srgbClr val="0000FF"/>
                </a:solidFill>
                <a:latin typeface="Calibri"/>
                <a:cs typeface="Calibri"/>
              </a:rPr>
              <a:t>use</a:t>
            </a:r>
            <a:r>
              <a:rPr sz="3000" spc="125" dirty="0">
                <a:solidFill>
                  <a:srgbClr val="0000FF"/>
                </a:solidFill>
                <a:latin typeface="Calibri"/>
                <a:cs typeface="Calibri"/>
              </a:rPr>
              <a:t> </a:t>
            </a:r>
            <a:r>
              <a:rPr sz="3000" dirty="0">
                <a:solidFill>
                  <a:srgbClr val="0000FF"/>
                </a:solidFill>
                <a:latin typeface="Calibri"/>
                <a:cs typeface="Calibri"/>
              </a:rPr>
              <a:t>case</a:t>
            </a:r>
            <a:r>
              <a:rPr sz="3000" spc="150" dirty="0">
                <a:solidFill>
                  <a:srgbClr val="0000FF"/>
                </a:solidFill>
                <a:latin typeface="Calibri"/>
                <a:cs typeface="Calibri"/>
              </a:rPr>
              <a:t> </a:t>
            </a:r>
            <a:r>
              <a:rPr sz="3000" dirty="0">
                <a:solidFill>
                  <a:srgbClr val="0000FF"/>
                </a:solidFill>
                <a:latin typeface="Calibri"/>
                <a:cs typeface="Calibri"/>
              </a:rPr>
              <a:t>is</a:t>
            </a:r>
            <a:r>
              <a:rPr sz="3000" spc="140" dirty="0">
                <a:solidFill>
                  <a:srgbClr val="0000FF"/>
                </a:solidFill>
                <a:latin typeface="Calibri"/>
                <a:cs typeface="Calibri"/>
              </a:rPr>
              <a:t> </a:t>
            </a:r>
            <a:r>
              <a:rPr sz="3000" dirty="0">
                <a:solidFill>
                  <a:srgbClr val="0000FF"/>
                </a:solidFill>
                <a:latin typeface="Calibri"/>
                <a:cs typeface="Calibri"/>
              </a:rPr>
              <a:t>very</a:t>
            </a:r>
            <a:r>
              <a:rPr sz="3000" spc="150" dirty="0">
                <a:solidFill>
                  <a:srgbClr val="0000FF"/>
                </a:solidFill>
                <a:latin typeface="Calibri"/>
                <a:cs typeface="Calibri"/>
              </a:rPr>
              <a:t> </a:t>
            </a:r>
            <a:r>
              <a:rPr sz="3000" dirty="0">
                <a:solidFill>
                  <a:srgbClr val="0000FF"/>
                </a:solidFill>
                <a:latin typeface="Calibri"/>
                <a:cs typeface="Calibri"/>
              </a:rPr>
              <a:t>important</a:t>
            </a:r>
            <a:r>
              <a:rPr sz="3000" dirty="0">
                <a:latin typeface="Calibri"/>
                <a:cs typeface="Calibri"/>
              </a:rPr>
              <a:t>.</a:t>
            </a:r>
            <a:r>
              <a:rPr sz="3000" spc="145" dirty="0">
                <a:latin typeface="Calibri"/>
                <a:cs typeface="Calibri"/>
              </a:rPr>
              <a:t> </a:t>
            </a:r>
            <a:r>
              <a:rPr sz="3000" dirty="0">
                <a:latin typeface="Calibri"/>
                <a:cs typeface="Calibri"/>
              </a:rPr>
              <a:t>So</a:t>
            </a:r>
            <a:r>
              <a:rPr sz="3000" spc="140" dirty="0">
                <a:latin typeface="Calibri"/>
                <a:cs typeface="Calibri"/>
              </a:rPr>
              <a:t> </a:t>
            </a:r>
            <a:r>
              <a:rPr sz="3000" spc="-25" dirty="0">
                <a:latin typeface="Calibri"/>
                <a:cs typeface="Calibri"/>
              </a:rPr>
              <a:t>the </a:t>
            </a:r>
            <a:r>
              <a:rPr sz="3000" dirty="0">
                <a:latin typeface="Calibri"/>
                <a:cs typeface="Calibri"/>
              </a:rPr>
              <a:t>name</a:t>
            </a:r>
            <a:r>
              <a:rPr sz="3000" spc="295" dirty="0">
                <a:latin typeface="Calibri"/>
                <a:cs typeface="Calibri"/>
              </a:rPr>
              <a:t> </a:t>
            </a:r>
            <a:r>
              <a:rPr sz="3000" dirty="0">
                <a:latin typeface="Calibri"/>
                <a:cs typeface="Calibri"/>
              </a:rPr>
              <a:t>should</a:t>
            </a:r>
            <a:r>
              <a:rPr sz="3000" spc="300" dirty="0">
                <a:latin typeface="Calibri"/>
                <a:cs typeface="Calibri"/>
              </a:rPr>
              <a:t> </a:t>
            </a:r>
            <a:r>
              <a:rPr sz="3000" dirty="0">
                <a:latin typeface="Calibri"/>
                <a:cs typeface="Calibri"/>
              </a:rPr>
              <a:t>be</a:t>
            </a:r>
            <a:r>
              <a:rPr sz="3000" spc="295" dirty="0">
                <a:latin typeface="Calibri"/>
                <a:cs typeface="Calibri"/>
              </a:rPr>
              <a:t> </a:t>
            </a:r>
            <a:r>
              <a:rPr sz="3000" dirty="0">
                <a:solidFill>
                  <a:srgbClr val="0000FF"/>
                </a:solidFill>
                <a:latin typeface="Calibri"/>
                <a:cs typeface="Calibri"/>
              </a:rPr>
              <a:t>chosen</a:t>
            </a:r>
            <a:r>
              <a:rPr sz="3000" spc="305" dirty="0">
                <a:solidFill>
                  <a:srgbClr val="0000FF"/>
                </a:solidFill>
                <a:latin typeface="Calibri"/>
                <a:cs typeface="Calibri"/>
              </a:rPr>
              <a:t> </a:t>
            </a:r>
            <a:r>
              <a:rPr sz="3000" dirty="0">
                <a:latin typeface="Calibri"/>
                <a:cs typeface="Calibri"/>
              </a:rPr>
              <a:t>in</a:t>
            </a:r>
            <a:r>
              <a:rPr sz="3000" spc="305" dirty="0">
                <a:latin typeface="Calibri"/>
                <a:cs typeface="Calibri"/>
              </a:rPr>
              <a:t> </a:t>
            </a:r>
            <a:r>
              <a:rPr sz="3000" dirty="0">
                <a:latin typeface="Calibri"/>
                <a:cs typeface="Calibri"/>
              </a:rPr>
              <a:t>such</a:t>
            </a:r>
            <a:r>
              <a:rPr sz="3000" spc="305" dirty="0">
                <a:latin typeface="Calibri"/>
                <a:cs typeface="Calibri"/>
              </a:rPr>
              <a:t> </a:t>
            </a:r>
            <a:r>
              <a:rPr sz="3000" dirty="0">
                <a:latin typeface="Calibri"/>
                <a:cs typeface="Calibri"/>
              </a:rPr>
              <a:t>a</a:t>
            </a:r>
            <a:r>
              <a:rPr sz="3000" spc="310" dirty="0">
                <a:latin typeface="Calibri"/>
                <a:cs typeface="Calibri"/>
              </a:rPr>
              <a:t> </a:t>
            </a:r>
            <a:r>
              <a:rPr sz="3000" dirty="0">
                <a:latin typeface="Calibri"/>
                <a:cs typeface="Calibri"/>
              </a:rPr>
              <a:t>way</a:t>
            </a:r>
            <a:r>
              <a:rPr sz="3000" spc="305" dirty="0">
                <a:latin typeface="Calibri"/>
                <a:cs typeface="Calibri"/>
              </a:rPr>
              <a:t> </a:t>
            </a:r>
            <a:r>
              <a:rPr sz="3000" dirty="0">
                <a:latin typeface="Calibri"/>
                <a:cs typeface="Calibri"/>
              </a:rPr>
              <a:t>so</a:t>
            </a:r>
            <a:r>
              <a:rPr sz="3000" spc="305" dirty="0">
                <a:latin typeface="Calibri"/>
                <a:cs typeface="Calibri"/>
              </a:rPr>
              <a:t> </a:t>
            </a:r>
            <a:r>
              <a:rPr sz="3000" dirty="0">
                <a:latin typeface="Calibri"/>
                <a:cs typeface="Calibri"/>
              </a:rPr>
              <a:t>that</a:t>
            </a:r>
            <a:r>
              <a:rPr sz="3000" spc="295" dirty="0">
                <a:latin typeface="Calibri"/>
                <a:cs typeface="Calibri"/>
              </a:rPr>
              <a:t> </a:t>
            </a:r>
            <a:r>
              <a:rPr sz="3000" spc="-25" dirty="0">
                <a:latin typeface="Calibri"/>
                <a:cs typeface="Calibri"/>
              </a:rPr>
              <a:t>it </a:t>
            </a:r>
            <a:r>
              <a:rPr sz="3000" dirty="0">
                <a:latin typeface="Calibri"/>
                <a:cs typeface="Calibri"/>
              </a:rPr>
              <a:t>can</a:t>
            </a:r>
            <a:r>
              <a:rPr sz="3000" spc="-55" dirty="0">
                <a:latin typeface="Calibri"/>
                <a:cs typeface="Calibri"/>
              </a:rPr>
              <a:t> </a:t>
            </a:r>
            <a:r>
              <a:rPr sz="3000" dirty="0">
                <a:solidFill>
                  <a:srgbClr val="0000FF"/>
                </a:solidFill>
                <a:latin typeface="Calibri"/>
                <a:cs typeface="Calibri"/>
              </a:rPr>
              <a:t>identify</a:t>
            </a:r>
            <a:r>
              <a:rPr sz="3000" spc="-20" dirty="0">
                <a:solidFill>
                  <a:srgbClr val="0000FF"/>
                </a:solidFill>
                <a:latin typeface="Calibri"/>
                <a:cs typeface="Calibri"/>
              </a:rPr>
              <a:t> </a:t>
            </a:r>
            <a:r>
              <a:rPr sz="3000" dirty="0">
                <a:solidFill>
                  <a:srgbClr val="0000FF"/>
                </a:solidFill>
                <a:latin typeface="Calibri"/>
                <a:cs typeface="Calibri"/>
              </a:rPr>
              <a:t>the</a:t>
            </a:r>
            <a:r>
              <a:rPr sz="3000" spc="-60" dirty="0">
                <a:solidFill>
                  <a:srgbClr val="0000FF"/>
                </a:solidFill>
                <a:latin typeface="Calibri"/>
                <a:cs typeface="Calibri"/>
              </a:rPr>
              <a:t> </a:t>
            </a:r>
            <a:r>
              <a:rPr sz="3000" dirty="0">
                <a:solidFill>
                  <a:srgbClr val="0000FF"/>
                </a:solidFill>
                <a:latin typeface="Calibri"/>
                <a:cs typeface="Calibri"/>
              </a:rPr>
              <a:t>functionalities</a:t>
            </a:r>
            <a:r>
              <a:rPr sz="3000" spc="-50" dirty="0">
                <a:solidFill>
                  <a:srgbClr val="0000FF"/>
                </a:solidFill>
                <a:latin typeface="Calibri"/>
                <a:cs typeface="Calibri"/>
              </a:rPr>
              <a:t> </a:t>
            </a:r>
            <a:r>
              <a:rPr sz="3000" spc="-10" dirty="0">
                <a:solidFill>
                  <a:srgbClr val="0000FF"/>
                </a:solidFill>
                <a:latin typeface="Calibri"/>
                <a:cs typeface="Calibri"/>
              </a:rPr>
              <a:t>performed</a:t>
            </a:r>
            <a:r>
              <a:rPr sz="3000" spc="-10" dirty="0">
                <a:latin typeface="Calibri"/>
                <a:cs typeface="Calibri"/>
              </a:rPr>
              <a:t>.</a:t>
            </a:r>
            <a:endParaRPr sz="3000" dirty="0">
              <a:latin typeface="Calibri"/>
              <a:cs typeface="Calibri"/>
            </a:endParaRPr>
          </a:p>
          <a:p>
            <a:pPr marL="356235" indent="-343535" algn="just">
              <a:lnSpc>
                <a:spcPct val="100000"/>
              </a:lnSpc>
              <a:spcBef>
                <a:spcPts val="720"/>
              </a:spcBef>
              <a:buFont typeface="Arial MT"/>
              <a:buChar char="•"/>
              <a:tabLst>
                <a:tab pos="356235" algn="l"/>
              </a:tabLst>
            </a:pPr>
            <a:r>
              <a:rPr sz="3000" dirty="0">
                <a:latin typeface="Calibri"/>
                <a:cs typeface="Calibri"/>
              </a:rPr>
              <a:t>Give</a:t>
            </a:r>
            <a:r>
              <a:rPr sz="3000" spc="-65" dirty="0">
                <a:latin typeface="Calibri"/>
                <a:cs typeface="Calibri"/>
              </a:rPr>
              <a:t> </a:t>
            </a:r>
            <a:r>
              <a:rPr sz="3000" dirty="0">
                <a:latin typeface="Calibri"/>
                <a:cs typeface="Calibri"/>
              </a:rPr>
              <a:t>a</a:t>
            </a:r>
            <a:r>
              <a:rPr sz="3000" spc="-40" dirty="0">
                <a:latin typeface="Calibri"/>
                <a:cs typeface="Calibri"/>
              </a:rPr>
              <a:t> </a:t>
            </a:r>
            <a:r>
              <a:rPr sz="3000" dirty="0">
                <a:solidFill>
                  <a:srgbClr val="E36C09"/>
                </a:solidFill>
                <a:latin typeface="Calibri"/>
                <a:cs typeface="Calibri"/>
              </a:rPr>
              <a:t>suitable</a:t>
            </a:r>
            <a:r>
              <a:rPr sz="3000" spc="-50" dirty="0">
                <a:solidFill>
                  <a:srgbClr val="E36C09"/>
                </a:solidFill>
                <a:latin typeface="Calibri"/>
                <a:cs typeface="Calibri"/>
              </a:rPr>
              <a:t> </a:t>
            </a:r>
            <a:r>
              <a:rPr sz="3000" dirty="0">
                <a:solidFill>
                  <a:srgbClr val="E36C09"/>
                </a:solidFill>
                <a:latin typeface="Calibri"/>
                <a:cs typeface="Calibri"/>
              </a:rPr>
              <a:t>name</a:t>
            </a:r>
            <a:r>
              <a:rPr sz="3000" spc="-50" dirty="0">
                <a:solidFill>
                  <a:srgbClr val="E36C09"/>
                </a:solidFill>
                <a:latin typeface="Calibri"/>
                <a:cs typeface="Calibri"/>
              </a:rPr>
              <a:t> </a:t>
            </a:r>
            <a:r>
              <a:rPr sz="3000" dirty="0">
                <a:solidFill>
                  <a:srgbClr val="E36C09"/>
                </a:solidFill>
                <a:latin typeface="Calibri"/>
                <a:cs typeface="Calibri"/>
              </a:rPr>
              <a:t>for</a:t>
            </a:r>
            <a:r>
              <a:rPr sz="3000" spc="-35" dirty="0">
                <a:solidFill>
                  <a:srgbClr val="E36C09"/>
                </a:solidFill>
                <a:latin typeface="Calibri"/>
                <a:cs typeface="Calibri"/>
              </a:rPr>
              <a:t> </a:t>
            </a:r>
            <a:r>
              <a:rPr sz="3000" spc="-10" dirty="0">
                <a:solidFill>
                  <a:srgbClr val="E36C09"/>
                </a:solidFill>
                <a:latin typeface="Calibri"/>
                <a:cs typeface="Calibri"/>
              </a:rPr>
              <a:t>actors</a:t>
            </a:r>
            <a:r>
              <a:rPr sz="3000" spc="-10" dirty="0">
                <a:latin typeface="Calibri"/>
                <a:cs typeface="Calibri"/>
              </a:rPr>
              <a:t>.</a:t>
            </a:r>
            <a:endParaRPr sz="3000" dirty="0">
              <a:latin typeface="Calibri"/>
              <a:cs typeface="Calibri"/>
            </a:endParaRPr>
          </a:p>
          <a:p>
            <a:pPr marL="355600" marR="10160" indent="-342900" algn="just">
              <a:lnSpc>
                <a:spcPct val="100000"/>
              </a:lnSpc>
              <a:spcBef>
                <a:spcPts val="725"/>
              </a:spcBef>
              <a:buFont typeface="Arial MT"/>
              <a:buChar char="•"/>
              <a:tabLst>
                <a:tab pos="355600" algn="l"/>
              </a:tabLst>
            </a:pPr>
            <a:r>
              <a:rPr sz="3000" dirty="0">
                <a:latin typeface="Calibri"/>
                <a:cs typeface="Calibri"/>
              </a:rPr>
              <a:t>Show</a:t>
            </a:r>
            <a:r>
              <a:rPr sz="3000" spc="570" dirty="0">
                <a:latin typeface="Calibri"/>
                <a:cs typeface="Calibri"/>
              </a:rPr>
              <a:t> </a:t>
            </a:r>
            <a:r>
              <a:rPr sz="3000" dirty="0">
                <a:solidFill>
                  <a:srgbClr val="00AF50"/>
                </a:solidFill>
                <a:latin typeface="Calibri"/>
                <a:cs typeface="Calibri"/>
              </a:rPr>
              <a:t>relationships</a:t>
            </a:r>
            <a:r>
              <a:rPr sz="3000" spc="575" dirty="0">
                <a:solidFill>
                  <a:srgbClr val="00AF50"/>
                </a:solidFill>
                <a:latin typeface="Calibri"/>
                <a:cs typeface="Calibri"/>
              </a:rPr>
              <a:t> </a:t>
            </a:r>
            <a:r>
              <a:rPr sz="3000" dirty="0">
                <a:solidFill>
                  <a:srgbClr val="00AF50"/>
                </a:solidFill>
                <a:latin typeface="Calibri"/>
                <a:cs typeface="Calibri"/>
              </a:rPr>
              <a:t>and</a:t>
            </a:r>
            <a:r>
              <a:rPr sz="3000" spc="575" dirty="0">
                <a:solidFill>
                  <a:srgbClr val="00AF50"/>
                </a:solidFill>
                <a:latin typeface="Calibri"/>
                <a:cs typeface="Calibri"/>
              </a:rPr>
              <a:t> </a:t>
            </a:r>
            <a:r>
              <a:rPr sz="3000" dirty="0">
                <a:solidFill>
                  <a:srgbClr val="00AF50"/>
                </a:solidFill>
                <a:latin typeface="Calibri"/>
                <a:cs typeface="Calibri"/>
              </a:rPr>
              <a:t>dependencies</a:t>
            </a:r>
            <a:r>
              <a:rPr sz="3000" spc="575" dirty="0">
                <a:solidFill>
                  <a:srgbClr val="00AF50"/>
                </a:solidFill>
                <a:latin typeface="Calibri"/>
                <a:cs typeface="Calibri"/>
              </a:rPr>
              <a:t> </a:t>
            </a:r>
            <a:r>
              <a:rPr sz="3000" dirty="0">
                <a:latin typeface="Calibri"/>
                <a:cs typeface="Calibri"/>
              </a:rPr>
              <a:t>clearly</a:t>
            </a:r>
            <a:r>
              <a:rPr sz="3000" spc="560" dirty="0">
                <a:latin typeface="Calibri"/>
                <a:cs typeface="Calibri"/>
              </a:rPr>
              <a:t> </a:t>
            </a:r>
            <a:r>
              <a:rPr sz="3000" spc="-25" dirty="0">
                <a:latin typeface="Calibri"/>
                <a:cs typeface="Calibri"/>
              </a:rPr>
              <a:t>in </a:t>
            </a:r>
            <a:r>
              <a:rPr sz="3000" dirty="0">
                <a:latin typeface="Calibri"/>
                <a:cs typeface="Calibri"/>
              </a:rPr>
              <a:t>the</a:t>
            </a:r>
            <a:r>
              <a:rPr sz="3000" spc="-15" dirty="0">
                <a:latin typeface="Calibri"/>
                <a:cs typeface="Calibri"/>
              </a:rPr>
              <a:t> </a:t>
            </a:r>
            <a:r>
              <a:rPr sz="3000" spc="-10" dirty="0">
                <a:latin typeface="Calibri"/>
                <a:cs typeface="Calibri"/>
              </a:rPr>
              <a:t>diagram.</a:t>
            </a:r>
            <a:endParaRPr sz="3000" dirty="0">
              <a:latin typeface="Calibri"/>
              <a:cs typeface="Calibri"/>
            </a:endParaRPr>
          </a:p>
          <a:p>
            <a:pPr marL="355600" marR="8890" indent="-342900" algn="just">
              <a:lnSpc>
                <a:spcPct val="100000"/>
              </a:lnSpc>
              <a:spcBef>
                <a:spcPts val="720"/>
              </a:spcBef>
              <a:buFont typeface="Arial MT"/>
              <a:buChar char="•"/>
              <a:tabLst>
                <a:tab pos="355600" algn="l"/>
              </a:tabLst>
            </a:pPr>
            <a:r>
              <a:rPr sz="3000" dirty="0">
                <a:latin typeface="Calibri"/>
                <a:cs typeface="Calibri"/>
              </a:rPr>
              <a:t>Do</a:t>
            </a:r>
            <a:r>
              <a:rPr sz="3000" spc="540" dirty="0">
                <a:latin typeface="Calibri"/>
                <a:cs typeface="Calibri"/>
              </a:rPr>
              <a:t> </a:t>
            </a:r>
            <a:r>
              <a:rPr sz="3000" dirty="0">
                <a:latin typeface="Calibri"/>
                <a:cs typeface="Calibri"/>
              </a:rPr>
              <a:t>not</a:t>
            </a:r>
            <a:r>
              <a:rPr sz="3000" spc="530" dirty="0">
                <a:latin typeface="Calibri"/>
                <a:cs typeface="Calibri"/>
              </a:rPr>
              <a:t> </a:t>
            </a:r>
            <a:r>
              <a:rPr sz="3000" dirty="0">
                <a:latin typeface="Calibri"/>
                <a:cs typeface="Calibri"/>
              </a:rPr>
              <a:t>try</a:t>
            </a:r>
            <a:r>
              <a:rPr sz="3000" spc="540" dirty="0">
                <a:latin typeface="Calibri"/>
                <a:cs typeface="Calibri"/>
              </a:rPr>
              <a:t> </a:t>
            </a:r>
            <a:r>
              <a:rPr sz="3000" dirty="0">
                <a:latin typeface="Calibri"/>
                <a:cs typeface="Calibri"/>
              </a:rPr>
              <a:t>to</a:t>
            </a:r>
            <a:r>
              <a:rPr sz="3000" spc="535" dirty="0">
                <a:latin typeface="Calibri"/>
                <a:cs typeface="Calibri"/>
              </a:rPr>
              <a:t> </a:t>
            </a:r>
            <a:r>
              <a:rPr sz="3000" dirty="0">
                <a:latin typeface="Calibri"/>
                <a:cs typeface="Calibri"/>
              </a:rPr>
              <a:t>include</a:t>
            </a:r>
            <a:r>
              <a:rPr sz="3000" spc="545" dirty="0">
                <a:latin typeface="Calibri"/>
                <a:cs typeface="Calibri"/>
              </a:rPr>
              <a:t> </a:t>
            </a:r>
            <a:r>
              <a:rPr sz="3000" dirty="0">
                <a:latin typeface="Calibri"/>
                <a:cs typeface="Calibri"/>
              </a:rPr>
              <a:t>all</a:t>
            </a:r>
            <a:r>
              <a:rPr sz="3000" spc="530" dirty="0">
                <a:latin typeface="Calibri"/>
                <a:cs typeface="Calibri"/>
              </a:rPr>
              <a:t> </a:t>
            </a:r>
            <a:r>
              <a:rPr sz="3000" dirty="0">
                <a:latin typeface="Calibri"/>
                <a:cs typeface="Calibri"/>
              </a:rPr>
              <a:t>types</a:t>
            </a:r>
            <a:r>
              <a:rPr sz="3000" spc="530" dirty="0">
                <a:latin typeface="Calibri"/>
                <a:cs typeface="Calibri"/>
              </a:rPr>
              <a:t> </a:t>
            </a:r>
            <a:r>
              <a:rPr sz="3000" dirty="0">
                <a:latin typeface="Calibri"/>
                <a:cs typeface="Calibri"/>
              </a:rPr>
              <a:t>of</a:t>
            </a:r>
            <a:r>
              <a:rPr sz="3000" spc="535" dirty="0">
                <a:latin typeface="Calibri"/>
                <a:cs typeface="Calibri"/>
              </a:rPr>
              <a:t> </a:t>
            </a:r>
            <a:r>
              <a:rPr sz="3000" spc="-10" dirty="0">
                <a:latin typeface="Calibri"/>
                <a:cs typeface="Calibri"/>
              </a:rPr>
              <a:t>relationships </a:t>
            </a:r>
            <a:r>
              <a:rPr lang="en-US" sz="3000" dirty="0">
                <a:latin typeface="Calibri"/>
                <a:cs typeface="Calibri"/>
              </a:rPr>
              <a:t>b</a:t>
            </a:r>
            <a:r>
              <a:rPr sz="3000" dirty="0">
                <a:latin typeface="Calibri"/>
                <a:cs typeface="Calibri"/>
              </a:rPr>
              <a:t>ecause</a:t>
            </a:r>
            <a:r>
              <a:rPr sz="3000" spc="450" dirty="0">
                <a:latin typeface="Calibri"/>
                <a:cs typeface="Calibri"/>
              </a:rPr>
              <a:t> </a:t>
            </a:r>
            <a:r>
              <a:rPr sz="3000" dirty="0">
                <a:latin typeface="Calibri"/>
                <a:cs typeface="Calibri"/>
              </a:rPr>
              <a:t>the</a:t>
            </a:r>
            <a:r>
              <a:rPr sz="3000" spc="470" dirty="0">
                <a:latin typeface="Calibri"/>
                <a:cs typeface="Calibri"/>
              </a:rPr>
              <a:t> </a:t>
            </a:r>
            <a:r>
              <a:rPr sz="3000" dirty="0">
                <a:latin typeface="Calibri"/>
                <a:cs typeface="Calibri"/>
              </a:rPr>
              <a:t>main</a:t>
            </a:r>
            <a:r>
              <a:rPr sz="3000" spc="465" dirty="0">
                <a:latin typeface="Calibri"/>
                <a:cs typeface="Calibri"/>
              </a:rPr>
              <a:t> </a:t>
            </a:r>
            <a:r>
              <a:rPr sz="3000" dirty="0">
                <a:solidFill>
                  <a:srgbClr val="00AFEF"/>
                </a:solidFill>
                <a:latin typeface="Calibri"/>
                <a:cs typeface="Calibri"/>
              </a:rPr>
              <a:t>purpose</a:t>
            </a:r>
            <a:r>
              <a:rPr sz="3000" spc="465" dirty="0">
                <a:solidFill>
                  <a:srgbClr val="00AFEF"/>
                </a:solidFill>
                <a:latin typeface="Calibri"/>
                <a:cs typeface="Calibri"/>
              </a:rPr>
              <a:t> </a:t>
            </a:r>
            <a:r>
              <a:rPr sz="3000" dirty="0">
                <a:solidFill>
                  <a:srgbClr val="00AFEF"/>
                </a:solidFill>
                <a:latin typeface="Calibri"/>
                <a:cs typeface="Calibri"/>
              </a:rPr>
              <a:t>of</a:t>
            </a:r>
            <a:r>
              <a:rPr sz="3000" spc="475" dirty="0">
                <a:solidFill>
                  <a:srgbClr val="00AFEF"/>
                </a:solidFill>
                <a:latin typeface="Calibri"/>
                <a:cs typeface="Calibri"/>
              </a:rPr>
              <a:t> </a:t>
            </a:r>
            <a:r>
              <a:rPr sz="3000" dirty="0">
                <a:solidFill>
                  <a:srgbClr val="00AFEF"/>
                </a:solidFill>
                <a:latin typeface="Calibri"/>
                <a:cs typeface="Calibri"/>
              </a:rPr>
              <a:t>the</a:t>
            </a:r>
            <a:r>
              <a:rPr sz="3000" spc="450" dirty="0">
                <a:solidFill>
                  <a:srgbClr val="00AFEF"/>
                </a:solidFill>
                <a:latin typeface="Calibri"/>
                <a:cs typeface="Calibri"/>
              </a:rPr>
              <a:t> </a:t>
            </a:r>
            <a:r>
              <a:rPr sz="3000" dirty="0">
                <a:solidFill>
                  <a:srgbClr val="00AFEF"/>
                </a:solidFill>
                <a:latin typeface="Calibri"/>
                <a:cs typeface="Calibri"/>
              </a:rPr>
              <a:t>diagram</a:t>
            </a:r>
            <a:r>
              <a:rPr sz="3000" spc="484" dirty="0">
                <a:solidFill>
                  <a:srgbClr val="00AFEF"/>
                </a:solidFill>
                <a:latin typeface="Calibri"/>
                <a:cs typeface="Calibri"/>
              </a:rPr>
              <a:t> </a:t>
            </a:r>
            <a:r>
              <a:rPr sz="3000" dirty="0">
                <a:solidFill>
                  <a:srgbClr val="00AFEF"/>
                </a:solidFill>
                <a:latin typeface="Calibri"/>
                <a:cs typeface="Calibri"/>
              </a:rPr>
              <a:t>is</a:t>
            </a:r>
            <a:r>
              <a:rPr sz="3000" spc="459" dirty="0">
                <a:solidFill>
                  <a:srgbClr val="00AFEF"/>
                </a:solidFill>
                <a:latin typeface="Calibri"/>
                <a:cs typeface="Calibri"/>
              </a:rPr>
              <a:t> </a:t>
            </a:r>
            <a:r>
              <a:rPr sz="3000" spc="-25" dirty="0">
                <a:solidFill>
                  <a:srgbClr val="00AFEF"/>
                </a:solidFill>
                <a:latin typeface="Calibri"/>
                <a:cs typeface="Calibri"/>
              </a:rPr>
              <a:t>to </a:t>
            </a:r>
            <a:r>
              <a:rPr sz="3000" dirty="0">
                <a:solidFill>
                  <a:srgbClr val="00AFEF"/>
                </a:solidFill>
                <a:latin typeface="Calibri"/>
                <a:cs typeface="Calibri"/>
              </a:rPr>
              <a:t>identify</a:t>
            </a:r>
            <a:r>
              <a:rPr sz="3000" spc="-70" dirty="0">
                <a:solidFill>
                  <a:srgbClr val="00AFEF"/>
                </a:solidFill>
                <a:latin typeface="Calibri"/>
                <a:cs typeface="Calibri"/>
              </a:rPr>
              <a:t> </a:t>
            </a:r>
            <a:r>
              <a:rPr sz="3000" spc="-10" dirty="0">
                <a:solidFill>
                  <a:srgbClr val="00AFEF"/>
                </a:solidFill>
                <a:latin typeface="Calibri"/>
                <a:cs typeface="Calibri"/>
              </a:rPr>
              <a:t>requirements.</a:t>
            </a:r>
            <a:endParaRPr sz="3000" dirty="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6905" y="168910"/>
            <a:ext cx="3787775" cy="635000"/>
          </a:xfrm>
          <a:prstGeom prst="rect">
            <a:avLst/>
          </a:prstGeom>
        </p:spPr>
        <p:txBody>
          <a:bodyPr vert="horz" wrap="square" lIns="0" tIns="12065" rIns="0" bIns="0" rtlCol="0">
            <a:spAutoFit/>
          </a:bodyPr>
          <a:lstStyle/>
          <a:p>
            <a:pPr marL="12700">
              <a:lnSpc>
                <a:spcPct val="100000"/>
              </a:lnSpc>
              <a:spcBef>
                <a:spcPts val="95"/>
              </a:spcBef>
            </a:pPr>
            <a:r>
              <a:rPr sz="4000" b="1" dirty="0">
                <a:solidFill>
                  <a:srgbClr val="C00000"/>
                </a:solidFill>
                <a:latin typeface="Calibri"/>
                <a:cs typeface="Calibri"/>
              </a:rPr>
              <a:t>Use</a:t>
            </a:r>
            <a:r>
              <a:rPr sz="4000" b="1" spc="-90" dirty="0">
                <a:solidFill>
                  <a:srgbClr val="C00000"/>
                </a:solidFill>
                <a:latin typeface="Calibri"/>
                <a:cs typeface="Calibri"/>
              </a:rPr>
              <a:t> </a:t>
            </a:r>
            <a:r>
              <a:rPr sz="4000" b="1" dirty="0">
                <a:solidFill>
                  <a:srgbClr val="C00000"/>
                </a:solidFill>
                <a:latin typeface="Calibri"/>
                <a:cs typeface="Calibri"/>
              </a:rPr>
              <a:t>Case</a:t>
            </a:r>
            <a:r>
              <a:rPr sz="4000" b="1" spc="-85" dirty="0">
                <a:solidFill>
                  <a:srgbClr val="C00000"/>
                </a:solidFill>
                <a:latin typeface="Calibri"/>
                <a:cs typeface="Calibri"/>
              </a:rPr>
              <a:t> </a:t>
            </a:r>
            <a:r>
              <a:rPr sz="4000" b="1" spc="-10" dirty="0">
                <a:solidFill>
                  <a:srgbClr val="C00000"/>
                </a:solidFill>
                <a:latin typeface="Calibri"/>
                <a:cs typeface="Calibri"/>
              </a:rPr>
              <a:t>Diagram</a:t>
            </a:r>
            <a:endParaRPr sz="4000">
              <a:latin typeface="Calibri"/>
              <a:cs typeface="Calibri"/>
            </a:endParaRPr>
          </a:p>
        </p:txBody>
      </p:sp>
      <p:sp>
        <p:nvSpPr>
          <p:cNvPr id="3" name="object 3"/>
          <p:cNvSpPr txBox="1"/>
          <p:nvPr/>
        </p:nvSpPr>
        <p:spPr>
          <a:xfrm>
            <a:off x="535940" y="953770"/>
            <a:ext cx="8074025" cy="3637915"/>
          </a:xfrm>
          <a:prstGeom prst="rect">
            <a:avLst/>
          </a:prstGeom>
        </p:spPr>
        <p:txBody>
          <a:bodyPr vert="horz" wrap="square" lIns="0" tIns="58419" rIns="0" bIns="0" rtlCol="0">
            <a:spAutoFit/>
          </a:bodyPr>
          <a:lstStyle/>
          <a:p>
            <a:pPr marL="12700" marR="5080" algn="just">
              <a:lnSpc>
                <a:spcPct val="90000"/>
              </a:lnSpc>
              <a:spcBef>
                <a:spcPts val="459"/>
              </a:spcBef>
            </a:pPr>
            <a:r>
              <a:rPr sz="3000" dirty="0">
                <a:latin typeface="Calibri"/>
                <a:cs typeface="Calibri"/>
              </a:rPr>
              <a:t>Describes</a:t>
            </a:r>
            <a:r>
              <a:rPr sz="3000" spc="150" dirty="0">
                <a:latin typeface="Calibri"/>
                <a:cs typeface="Calibri"/>
              </a:rPr>
              <a:t> </a:t>
            </a:r>
            <a:r>
              <a:rPr sz="3000" dirty="0">
                <a:latin typeface="Calibri"/>
                <a:cs typeface="Calibri"/>
              </a:rPr>
              <a:t>the</a:t>
            </a:r>
            <a:r>
              <a:rPr sz="3000" spc="140" dirty="0">
                <a:latin typeface="Calibri"/>
                <a:cs typeface="Calibri"/>
              </a:rPr>
              <a:t> </a:t>
            </a:r>
            <a:r>
              <a:rPr sz="3000" dirty="0">
                <a:solidFill>
                  <a:srgbClr val="0000FF"/>
                </a:solidFill>
                <a:latin typeface="Calibri"/>
                <a:cs typeface="Calibri"/>
              </a:rPr>
              <a:t>functionality</a:t>
            </a:r>
            <a:r>
              <a:rPr sz="3000" spc="135" dirty="0">
                <a:solidFill>
                  <a:srgbClr val="0000FF"/>
                </a:solidFill>
                <a:latin typeface="Calibri"/>
                <a:cs typeface="Calibri"/>
              </a:rPr>
              <a:t> </a:t>
            </a:r>
            <a:r>
              <a:rPr sz="3000" dirty="0">
                <a:latin typeface="Calibri"/>
                <a:cs typeface="Calibri"/>
              </a:rPr>
              <a:t>provided</a:t>
            </a:r>
            <a:r>
              <a:rPr sz="3000" spc="135" dirty="0">
                <a:latin typeface="Calibri"/>
                <a:cs typeface="Calibri"/>
              </a:rPr>
              <a:t> </a:t>
            </a:r>
            <a:r>
              <a:rPr sz="3000" dirty="0">
                <a:latin typeface="Calibri"/>
                <a:cs typeface="Calibri"/>
              </a:rPr>
              <a:t>by</a:t>
            </a:r>
            <a:r>
              <a:rPr sz="3000" spc="150" dirty="0">
                <a:latin typeface="Calibri"/>
                <a:cs typeface="Calibri"/>
              </a:rPr>
              <a:t> </a:t>
            </a:r>
            <a:r>
              <a:rPr sz="3000" dirty="0">
                <a:latin typeface="Calibri"/>
                <a:cs typeface="Calibri"/>
              </a:rPr>
              <a:t>a</a:t>
            </a:r>
            <a:r>
              <a:rPr sz="3000" spc="135" dirty="0">
                <a:latin typeface="Calibri"/>
                <a:cs typeface="Calibri"/>
              </a:rPr>
              <a:t> </a:t>
            </a:r>
            <a:r>
              <a:rPr sz="3000" dirty="0">
                <a:latin typeface="Calibri"/>
                <a:cs typeface="Calibri"/>
              </a:rPr>
              <a:t>system</a:t>
            </a:r>
            <a:r>
              <a:rPr sz="3000" spc="150" dirty="0">
                <a:latin typeface="Calibri"/>
                <a:cs typeface="Calibri"/>
              </a:rPr>
              <a:t> </a:t>
            </a:r>
            <a:r>
              <a:rPr sz="3000" spc="-25" dirty="0">
                <a:latin typeface="Calibri"/>
                <a:cs typeface="Calibri"/>
              </a:rPr>
              <a:t>in </a:t>
            </a:r>
            <a:r>
              <a:rPr sz="3000" dirty="0">
                <a:latin typeface="Calibri"/>
                <a:cs typeface="Calibri"/>
              </a:rPr>
              <a:t>terms</a:t>
            </a:r>
            <a:r>
              <a:rPr sz="3000" spc="125" dirty="0">
                <a:latin typeface="Calibri"/>
                <a:cs typeface="Calibri"/>
              </a:rPr>
              <a:t>  </a:t>
            </a:r>
            <a:r>
              <a:rPr sz="3000" dirty="0">
                <a:latin typeface="Calibri"/>
                <a:cs typeface="Calibri"/>
              </a:rPr>
              <a:t>of</a:t>
            </a:r>
            <a:r>
              <a:rPr sz="3000" spc="120" dirty="0">
                <a:latin typeface="Calibri"/>
                <a:cs typeface="Calibri"/>
              </a:rPr>
              <a:t>  </a:t>
            </a:r>
            <a:r>
              <a:rPr sz="3000" dirty="0">
                <a:solidFill>
                  <a:srgbClr val="0000FF"/>
                </a:solidFill>
                <a:latin typeface="Calibri"/>
                <a:cs typeface="Calibri"/>
              </a:rPr>
              <a:t>actors</a:t>
            </a:r>
            <a:r>
              <a:rPr sz="3000" dirty="0">
                <a:latin typeface="Calibri"/>
                <a:cs typeface="Calibri"/>
              </a:rPr>
              <a:t>,</a:t>
            </a:r>
            <a:r>
              <a:rPr sz="3000" spc="120" dirty="0">
                <a:latin typeface="Calibri"/>
                <a:cs typeface="Calibri"/>
              </a:rPr>
              <a:t>  </a:t>
            </a:r>
            <a:r>
              <a:rPr sz="3000" dirty="0">
                <a:latin typeface="Calibri"/>
                <a:cs typeface="Calibri"/>
              </a:rPr>
              <a:t>their</a:t>
            </a:r>
            <a:r>
              <a:rPr sz="3000" spc="125" dirty="0">
                <a:latin typeface="Calibri"/>
                <a:cs typeface="Calibri"/>
              </a:rPr>
              <a:t>  </a:t>
            </a:r>
            <a:r>
              <a:rPr sz="3000" dirty="0">
                <a:solidFill>
                  <a:srgbClr val="E36C09"/>
                </a:solidFill>
                <a:latin typeface="Calibri"/>
                <a:cs typeface="Calibri"/>
              </a:rPr>
              <a:t>goals</a:t>
            </a:r>
            <a:r>
              <a:rPr sz="3000" spc="125" dirty="0">
                <a:solidFill>
                  <a:srgbClr val="E36C09"/>
                </a:solidFill>
                <a:latin typeface="Calibri"/>
                <a:cs typeface="Calibri"/>
              </a:rPr>
              <a:t>  </a:t>
            </a:r>
            <a:r>
              <a:rPr sz="3000" dirty="0">
                <a:latin typeface="Calibri"/>
                <a:cs typeface="Calibri"/>
              </a:rPr>
              <a:t>represented</a:t>
            </a:r>
            <a:r>
              <a:rPr sz="3000" spc="125" dirty="0">
                <a:latin typeface="Calibri"/>
                <a:cs typeface="Calibri"/>
              </a:rPr>
              <a:t>  </a:t>
            </a:r>
            <a:r>
              <a:rPr sz="3000" dirty="0">
                <a:latin typeface="Calibri"/>
                <a:cs typeface="Calibri"/>
              </a:rPr>
              <a:t>as</a:t>
            </a:r>
            <a:r>
              <a:rPr sz="3000" spc="125" dirty="0">
                <a:latin typeface="Calibri"/>
                <a:cs typeface="Calibri"/>
              </a:rPr>
              <a:t>  </a:t>
            </a:r>
            <a:r>
              <a:rPr sz="3000" spc="-25" dirty="0">
                <a:solidFill>
                  <a:srgbClr val="E36C09"/>
                </a:solidFill>
                <a:latin typeface="Calibri"/>
                <a:cs typeface="Calibri"/>
              </a:rPr>
              <a:t>use </a:t>
            </a:r>
            <a:r>
              <a:rPr sz="3000" dirty="0">
                <a:solidFill>
                  <a:srgbClr val="E36C09"/>
                </a:solidFill>
                <a:latin typeface="Calibri"/>
                <a:cs typeface="Calibri"/>
              </a:rPr>
              <a:t>cases</a:t>
            </a:r>
            <a:r>
              <a:rPr sz="3000" dirty="0">
                <a:latin typeface="Calibri"/>
                <a:cs typeface="Calibri"/>
              </a:rPr>
              <a:t>,</a:t>
            </a:r>
            <a:r>
              <a:rPr sz="3000" spc="185" dirty="0">
                <a:latin typeface="Calibri"/>
                <a:cs typeface="Calibri"/>
              </a:rPr>
              <a:t>  </a:t>
            </a:r>
            <a:r>
              <a:rPr sz="3000" dirty="0">
                <a:latin typeface="Calibri"/>
                <a:cs typeface="Calibri"/>
              </a:rPr>
              <a:t>and</a:t>
            </a:r>
            <a:r>
              <a:rPr sz="3000" spc="190" dirty="0">
                <a:latin typeface="Calibri"/>
                <a:cs typeface="Calibri"/>
              </a:rPr>
              <a:t>  </a:t>
            </a:r>
            <a:r>
              <a:rPr sz="3000" dirty="0">
                <a:latin typeface="Calibri"/>
                <a:cs typeface="Calibri"/>
              </a:rPr>
              <a:t>any</a:t>
            </a:r>
            <a:r>
              <a:rPr sz="3000" spc="195" dirty="0">
                <a:latin typeface="Calibri"/>
                <a:cs typeface="Calibri"/>
              </a:rPr>
              <a:t>  </a:t>
            </a:r>
            <a:r>
              <a:rPr sz="3000" dirty="0">
                <a:latin typeface="Calibri"/>
                <a:cs typeface="Calibri"/>
              </a:rPr>
              <a:t>dependencies</a:t>
            </a:r>
            <a:r>
              <a:rPr sz="3000" spc="190" dirty="0">
                <a:latin typeface="Calibri"/>
                <a:cs typeface="Calibri"/>
              </a:rPr>
              <a:t>  </a:t>
            </a:r>
            <a:r>
              <a:rPr sz="3000" dirty="0">
                <a:latin typeface="Calibri"/>
                <a:cs typeface="Calibri"/>
              </a:rPr>
              <a:t>among</a:t>
            </a:r>
            <a:r>
              <a:rPr sz="3000" spc="185" dirty="0">
                <a:latin typeface="Calibri"/>
                <a:cs typeface="Calibri"/>
              </a:rPr>
              <a:t>  </a:t>
            </a:r>
            <a:r>
              <a:rPr sz="3000" dirty="0">
                <a:latin typeface="Calibri"/>
                <a:cs typeface="Calibri"/>
              </a:rPr>
              <a:t>those</a:t>
            </a:r>
            <a:r>
              <a:rPr sz="3000" spc="185" dirty="0">
                <a:latin typeface="Calibri"/>
                <a:cs typeface="Calibri"/>
              </a:rPr>
              <a:t>  </a:t>
            </a:r>
            <a:r>
              <a:rPr sz="3000" spc="-25" dirty="0">
                <a:latin typeface="Calibri"/>
                <a:cs typeface="Calibri"/>
              </a:rPr>
              <a:t>use </a:t>
            </a:r>
            <a:r>
              <a:rPr sz="3000" spc="-10" dirty="0">
                <a:latin typeface="Calibri"/>
                <a:cs typeface="Calibri"/>
              </a:rPr>
              <a:t>cases.</a:t>
            </a:r>
            <a:endParaRPr sz="3000">
              <a:latin typeface="Calibri"/>
              <a:cs typeface="Calibri"/>
            </a:endParaRPr>
          </a:p>
          <a:p>
            <a:pPr marL="287020" indent="-274320" algn="just">
              <a:lnSpc>
                <a:spcPct val="100000"/>
              </a:lnSpc>
              <a:spcBef>
                <a:spcPts val="360"/>
              </a:spcBef>
              <a:buChar char="•"/>
              <a:tabLst>
                <a:tab pos="287020" algn="l"/>
              </a:tabLst>
            </a:pPr>
            <a:r>
              <a:rPr sz="3000" dirty="0">
                <a:latin typeface="Calibri"/>
                <a:cs typeface="Calibri"/>
              </a:rPr>
              <a:t>Used</a:t>
            </a:r>
            <a:r>
              <a:rPr sz="3000" spc="-30" dirty="0">
                <a:latin typeface="Calibri"/>
                <a:cs typeface="Calibri"/>
              </a:rPr>
              <a:t> </a:t>
            </a:r>
            <a:r>
              <a:rPr sz="3000" dirty="0">
                <a:latin typeface="Calibri"/>
                <a:cs typeface="Calibri"/>
              </a:rPr>
              <a:t>for</a:t>
            </a:r>
            <a:r>
              <a:rPr sz="3000" spc="-25" dirty="0">
                <a:latin typeface="Calibri"/>
                <a:cs typeface="Calibri"/>
              </a:rPr>
              <a:t> </a:t>
            </a:r>
            <a:r>
              <a:rPr sz="3000" dirty="0">
                <a:latin typeface="Calibri"/>
                <a:cs typeface="Calibri"/>
              </a:rPr>
              <a:t>describing</a:t>
            </a:r>
            <a:r>
              <a:rPr sz="3000" spc="-35" dirty="0">
                <a:latin typeface="Calibri"/>
                <a:cs typeface="Calibri"/>
              </a:rPr>
              <a:t> </a:t>
            </a:r>
            <a:r>
              <a:rPr sz="3000" dirty="0">
                <a:latin typeface="Calibri"/>
                <a:cs typeface="Calibri"/>
              </a:rPr>
              <a:t>a</a:t>
            </a:r>
            <a:r>
              <a:rPr sz="3000" spc="-30" dirty="0">
                <a:latin typeface="Calibri"/>
                <a:cs typeface="Calibri"/>
              </a:rPr>
              <a:t> </a:t>
            </a:r>
            <a:r>
              <a:rPr sz="3000" dirty="0">
                <a:latin typeface="Calibri"/>
                <a:cs typeface="Calibri"/>
              </a:rPr>
              <a:t>set</a:t>
            </a:r>
            <a:r>
              <a:rPr sz="3000" spc="-45" dirty="0">
                <a:latin typeface="Calibri"/>
                <a:cs typeface="Calibri"/>
              </a:rPr>
              <a:t> </a:t>
            </a:r>
            <a:r>
              <a:rPr sz="3000" dirty="0">
                <a:latin typeface="Calibri"/>
                <a:cs typeface="Calibri"/>
              </a:rPr>
              <a:t>of</a:t>
            </a:r>
            <a:r>
              <a:rPr sz="3000" spc="-25" dirty="0">
                <a:latin typeface="Calibri"/>
                <a:cs typeface="Calibri"/>
              </a:rPr>
              <a:t> </a:t>
            </a:r>
            <a:r>
              <a:rPr sz="3000" dirty="0">
                <a:latin typeface="Calibri"/>
                <a:cs typeface="Calibri"/>
              </a:rPr>
              <a:t>user</a:t>
            </a:r>
            <a:r>
              <a:rPr sz="3000" spc="-50" dirty="0">
                <a:latin typeface="Calibri"/>
                <a:cs typeface="Calibri"/>
              </a:rPr>
              <a:t> </a:t>
            </a:r>
            <a:r>
              <a:rPr sz="3000" b="1" spc="-10" dirty="0">
                <a:latin typeface="Calibri"/>
                <a:cs typeface="Calibri"/>
              </a:rPr>
              <a:t>scenarios</a:t>
            </a:r>
            <a:endParaRPr sz="3000">
              <a:latin typeface="Calibri"/>
              <a:cs typeface="Calibri"/>
            </a:endParaRPr>
          </a:p>
          <a:p>
            <a:pPr marL="287655" indent="-274955" algn="just">
              <a:lnSpc>
                <a:spcPct val="100000"/>
              </a:lnSpc>
              <a:spcBef>
                <a:spcPts val="360"/>
              </a:spcBef>
              <a:buChar char="•"/>
              <a:tabLst>
                <a:tab pos="287655" algn="l"/>
              </a:tabLst>
            </a:pPr>
            <a:r>
              <a:rPr sz="3000" dirty="0">
                <a:latin typeface="Calibri"/>
                <a:cs typeface="Calibri"/>
              </a:rPr>
              <a:t>Mainly</a:t>
            </a:r>
            <a:r>
              <a:rPr sz="3000" spc="-60" dirty="0">
                <a:latin typeface="Calibri"/>
                <a:cs typeface="Calibri"/>
              </a:rPr>
              <a:t> </a:t>
            </a:r>
            <a:r>
              <a:rPr sz="3000" dirty="0">
                <a:latin typeface="Calibri"/>
                <a:cs typeface="Calibri"/>
              </a:rPr>
              <a:t>used</a:t>
            </a:r>
            <a:r>
              <a:rPr sz="3000" spc="-45" dirty="0">
                <a:latin typeface="Calibri"/>
                <a:cs typeface="Calibri"/>
              </a:rPr>
              <a:t> </a:t>
            </a:r>
            <a:r>
              <a:rPr sz="3000" dirty="0">
                <a:latin typeface="Calibri"/>
                <a:cs typeface="Calibri"/>
              </a:rPr>
              <a:t>for</a:t>
            </a:r>
            <a:r>
              <a:rPr sz="3000" spc="-35" dirty="0">
                <a:latin typeface="Calibri"/>
                <a:cs typeface="Calibri"/>
              </a:rPr>
              <a:t> </a:t>
            </a:r>
            <a:r>
              <a:rPr sz="3000" dirty="0">
                <a:latin typeface="Calibri"/>
                <a:cs typeface="Calibri"/>
              </a:rPr>
              <a:t>capturing</a:t>
            </a:r>
            <a:r>
              <a:rPr sz="3000" spc="-65" dirty="0">
                <a:latin typeface="Calibri"/>
                <a:cs typeface="Calibri"/>
              </a:rPr>
              <a:t> </a:t>
            </a:r>
            <a:r>
              <a:rPr sz="3000" dirty="0">
                <a:latin typeface="Calibri"/>
                <a:cs typeface="Calibri"/>
              </a:rPr>
              <a:t>user</a:t>
            </a:r>
            <a:r>
              <a:rPr sz="3000" spc="-45" dirty="0">
                <a:latin typeface="Calibri"/>
                <a:cs typeface="Calibri"/>
              </a:rPr>
              <a:t> </a:t>
            </a:r>
            <a:r>
              <a:rPr sz="3000" spc="-10" dirty="0">
                <a:latin typeface="Calibri"/>
                <a:cs typeface="Calibri"/>
              </a:rPr>
              <a:t>requirements</a:t>
            </a:r>
            <a:endParaRPr sz="3000">
              <a:latin typeface="Calibri"/>
              <a:cs typeface="Calibri"/>
            </a:endParaRPr>
          </a:p>
          <a:p>
            <a:pPr marL="297180" marR="7620" indent="-285115" algn="just">
              <a:lnSpc>
                <a:spcPts val="3240"/>
              </a:lnSpc>
              <a:spcBef>
                <a:spcPts val="770"/>
              </a:spcBef>
              <a:buChar char="•"/>
              <a:tabLst>
                <a:tab pos="297180" algn="l"/>
                <a:tab pos="418465" algn="l"/>
              </a:tabLst>
            </a:pPr>
            <a:r>
              <a:rPr sz="3000" dirty="0">
                <a:latin typeface="Calibri"/>
                <a:cs typeface="Calibri"/>
              </a:rPr>
              <a:t>	Work</a:t>
            </a:r>
            <a:r>
              <a:rPr sz="3000" spc="125" dirty="0">
                <a:latin typeface="Calibri"/>
                <a:cs typeface="Calibri"/>
              </a:rPr>
              <a:t>  </a:t>
            </a:r>
            <a:r>
              <a:rPr sz="3000" dirty="0">
                <a:latin typeface="Calibri"/>
                <a:cs typeface="Calibri"/>
              </a:rPr>
              <a:t>like</a:t>
            </a:r>
            <a:r>
              <a:rPr sz="3000" spc="120" dirty="0">
                <a:latin typeface="Calibri"/>
                <a:cs typeface="Calibri"/>
              </a:rPr>
              <a:t>  </a:t>
            </a:r>
            <a:r>
              <a:rPr sz="3000" dirty="0">
                <a:latin typeface="Calibri"/>
                <a:cs typeface="Calibri"/>
              </a:rPr>
              <a:t>a</a:t>
            </a:r>
            <a:r>
              <a:rPr sz="3000" spc="125" dirty="0">
                <a:latin typeface="Calibri"/>
                <a:cs typeface="Calibri"/>
              </a:rPr>
              <a:t>  </a:t>
            </a:r>
            <a:r>
              <a:rPr sz="3000" b="1" dirty="0">
                <a:latin typeface="Calibri"/>
                <a:cs typeface="Calibri"/>
              </a:rPr>
              <a:t>contract</a:t>
            </a:r>
            <a:r>
              <a:rPr sz="3000" b="1" spc="125" dirty="0">
                <a:latin typeface="Calibri"/>
                <a:cs typeface="Calibri"/>
              </a:rPr>
              <a:t>  </a:t>
            </a:r>
            <a:r>
              <a:rPr sz="3000" b="1" dirty="0">
                <a:latin typeface="Calibri"/>
                <a:cs typeface="Calibri"/>
              </a:rPr>
              <a:t>between</a:t>
            </a:r>
            <a:r>
              <a:rPr sz="3000" b="1" spc="125" dirty="0">
                <a:latin typeface="Calibri"/>
                <a:cs typeface="Calibri"/>
              </a:rPr>
              <a:t>  </a:t>
            </a:r>
            <a:r>
              <a:rPr sz="3000" b="1" dirty="0">
                <a:latin typeface="Calibri"/>
                <a:cs typeface="Calibri"/>
              </a:rPr>
              <a:t>end</a:t>
            </a:r>
            <a:r>
              <a:rPr sz="3000" b="1" spc="125" dirty="0">
                <a:latin typeface="Calibri"/>
                <a:cs typeface="Calibri"/>
              </a:rPr>
              <a:t>  </a:t>
            </a:r>
            <a:r>
              <a:rPr sz="3000" b="1" dirty="0">
                <a:latin typeface="Calibri"/>
                <a:cs typeface="Calibri"/>
              </a:rPr>
              <a:t>user</a:t>
            </a:r>
            <a:r>
              <a:rPr sz="3000" b="1" spc="125" dirty="0">
                <a:latin typeface="Calibri"/>
                <a:cs typeface="Calibri"/>
              </a:rPr>
              <a:t>  </a:t>
            </a:r>
            <a:r>
              <a:rPr sz="3000" b="1" spc="-25" dirty="0">
                <a:latin typeface="Calibri"/>
                <a:cs typeface="Calibri"/>
              </a:rPr>
              <a:t>and </a:t>
            </a:r>
            <a:r>
              <a:rPr sz="3000" b="1" spc="-10" dirty="0">
                <a:latin typeface="Calibri"/>
                <a:cs typeface="Calibri"/>
              </a:rPr>
              <a:t>software</a:t>
            </a:r>
            <a:r>
              <a:rPr sz="3000" b="1" spc="-110" dirty="0">
                <a:latin typeface="Calibri"/>
                <a:cs typeface="Calibri"/>
              </a:rPr>
              <a:t> </a:t>
            </a:r>
            <a:r>
              <a:rPr sz="3000" b="1" spc="-10" dirty="0">
                <a:latin typeface="Calibri"/>
                <a:cs typeface="Calibri"/>
              </a:rPr>
              <a:t>developers</a:t>
            </a:r>
            <a:endParaRPr sz="3000">
              <a:latin typeface="Calibri"/>
              <a:cs typeface="Calibri"/>
            </a:endParaRPr>
          </a:p>
        </p:txBody>
      </p:sp>
      <p:pic>
        <p:nvPicPr>
          <p:cNvPr id="4" name="object 4"/>
          <p:cNvPicPr/>
          <p:nvPr/>
        </p:nvPicPr>
        <p:blipFill>
          <a:blip r:embed="rId2" cstate="print"/>
          <a:stretch>
            <a:fillRect/>
          </a:stretch>
        </p:blipFill>
        <p:spPr>
          <a:xfrm>
            <a:off x="4952317" y="4878323"/>
            <a:ext cx="2969752" cy="13610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1637" y="888036"/>
            <a:ext cx="8035925" cy="4855210"/>
          </a:xfrm>
          <a:prstGeom prst="rect">
            <a:avLst/>
          </a:prstGeom>
        </p:spPr>
        <p:txBody>
          <a:bodyPr vert="horz" wrap="square" lIns="0" tIns="86360" rIns="0" bIns="0" rtlCol="0">
            <a:spAutoFit/>
          </a:bodyPr>
          <a:lstStyle/>
          <a:p>
            <a:pPr marL="353060" indent="-340360" algn="just">
              <a:lnSpc>
                <a:spcPct val="100000"/>
              </a:lnSpc>
              <a:spcBef>
                <a:spcPts val="680"/>
              </a:spcBef>
              <a:buFont typeface="Arial MT"/>
              <a:buChar char="•"/>
              <a:tabLst>
                <a:tab pos="353060" algn="l"/>
              </a:tabLst>
            </a:pPr>
            <a:r>
              <a:rPr sz="2400" b="1" u="sng" dirty="0">
                <a:solidFill>
                  <a:srgbClr val="0000FF"/>
                </a:solidFill>
                <a:uFill>
                  <a:solidFill>
                    <a:srgbClr val="0000FF"/>
                  </a:solidFill>
                </a:uFill>
                <a:latin typeface="Times New Roman"/>
                <a:cs typeface="Times New Roman"/>
              </a:rPr>
              <a:t>Association:</a:t>
            </a:r>
            <a:r>
              <a:rPr sz="2400" b="1" spc="45" dirty="0">
                <a:solidFill>
                  <a:srgbClr val="0000FF"/>
                </a:solidFill>
                <a:latin typeface="Times New Roman"/>
                <a:cs typeface="Times New Roman"/>
              </a:rPr>
              <a:t> </a:t>
            </a:r>
            <a:r>
              <a:rPr sz="2400" dirty="0">
                <a:latin typeface="Times New Roman"/>
                <a:cs typeface="Times New Roman"/>
              </a:rPr>
              <a:t>communication</a:t>
            </a:r>
            <a:r>
              <a:rPr sz="2400" spc="45" dirty="0">
                <a:latin typeface="Times New Roman"/>
                <a:cs typeface="Times New Roman"/>
              </a:rPr>
              <a:t> </a:t>
            </a:r>
            <a:r>
              <a:rPr sz="2400" dirty="0">
                <a:latin typeface="Times New Roman"/>
                <a:cs typeface="Times New Roman"/>
              </a:rPr>
              <a:t>between</a:t>
            </a:r>
            <a:r>
              <a:rPr sz="2400" spc="45" dirty="0">
                <a:latin typeface="Times New Roman"/>
                <a:cs typeface="Times New Roman"/>
              </a:rPr>
              <a:t> </a:t>
            </a:r>
            <a:r>
              <a:rPr sz="2400" dirty="0">
                <a:latin typeface="Times New Roman"/>
                <a:cs typeface="Times New Roman"/>
              </a:rPr>
              <a:t>an</a:t>
            </a:r>
            <a:r>
              <a:rPr sz="2400" spc="40" dirty="0">
                <a:latin typeface="Times New Roman"/>
                <a:cs typeface="Times New Roman"/>
              </a:rPr>
              <a:t> </a:t>
            </a:r>
            <a:r>
              <a:rPr sz="2400" dirty="0">
                <a:latin typeface="Times New Roman"/>
                <a:cs typeface="Times New Roman"/>
              </a:rPr>
              <a:t>actor</a:t>
            </a:r>
            <a:r>
              <a:rPr sz="2400" spc="45" dirty="0">
                <a:latin typeface="Times New Roman"/>
                <a:cs typeface="Times New Roman"/>
              </a:rPr>
              <a:t> </a:t>
            </a:r>
            <a:r>
              <a:rPr sz="2400" dirty="0">
                <a:latin typeface="Times New Roman"/>
                <a:cs typeface="Times New Roman"/>
              </a:rPr>
              <a:t>and</a:t>
            </a:r>
            <a:r>
              <a:rPr sz="2400" spc="45" dirty="0">
                <a:latin typeface="Times New Roman"/>
                <a:cs typeface="Times New Roman"/>
              </a:rPr>
              <a:t> </a:t>
            </a:r>
            <a:r>
              <a:rPr sz="2400" dirty="0">
                <a:latin typeface="Times New Roman"/>
                <a:cs typeface="Times New Roman"/>
              </a:rPr>
              <a:t>a</a:t>
            </a:r>
            <a:r>
              <a:rPr sz="2400" spc="40" dirty="0">
                <a:latin typeface="Times New Roman"/>
                <a:cs typeface="Times New Roman"/>
              </a:rPr>
              <a:t> </a:t>
            </a:r>
            <a:r>
              <a:rPr sz="2400" dirty="0">
                <a:latin typeface="Times New Roman"/>
                <a:cs typeface="Times New Roman"/>
              </a:rPr>
              <a:t>use</a:t>
            </a:r>
            <a:r>
              <a:rPr sz="2400" spc="35" dirty="0">
                <a:latin typeface="Times New Roman"/>
                <a:cs typeface="Times New Roman"/>
              </a:rPr>
              <a:t> </a:t>
            </a:r>
            <a:r>
              <a:rPr sz="2400" spc="-10" dirty="0">
                <a:latin typeface="Times New Roman"/>
                <a:cs typeface="Times New Roman"/>
              </a:rPr>
              <a:t>case;</a:t>
            </a:r>
            <a:endParaRPr sz="2400" dirty="0">
              <a:latin typeface="Times New Roman"/>
              <a:cs typeface="Times New Roman"/>
            </a:endParaRPr>
          </a:p>
          <a:p>
            <a:pPr marL="355600" algn="just">
              <a:lnSpc>
                <a:spcPct val="100000"/>
              </a:lnSpc>
              <a:spcBef>
                <a:spcPts val="575"/>
              </a:spcBef>
            </a:pPr>
            <a:r>
              <a:rPr sz="2400" dirty="0">
                <a:latin typeface="Times New Roman"/>
                <a:cs typeface="Times New Roman"/>
              </a:rPr>
              <a:t>Represented</a:t>
            </a:r>
            <a:r>
              <a:rPr sz="2400" spc="-35" dirty="0">
                <a:latin typeface="Times New Roman"/>
                <a:cs typeface="Times New Roman"/>
              </a:rPr>
              <a:t> </a:t>
            </a:r>
            <a:r>
              <a:rPr sz="2400" dirty="0">
                <a:latin typeface="Times New Roman"/>
                <a:cs typeface="Times New Roman"/>
              </a:rPr>
              <a:t>by a</a:t>
            </a:r>
            <a:r>
              <a:rPr sz="2400" spc="-10" dirty="0">
                <a:latin typeface="Times New Roman"/>
                <a:cs typeface="Times New Roman"/>
              </a:rPr>
              <a:t> </a:t>
            </a:r>
            <a:r>
              <a:rPr sz="2400" dirty="0">
                <a:latin typeface="Times New Roman"/>
                <a:cs typeface="Times New Roman"/>
              </a:rPr>
              <a:t>solid</a:t>
            </a:r>
            <a:r>
              <a:rPr sz="2400" spc="-5" dirty="0">
                <a:latin typeface="Times New Roman"/>
                <a:cs typeface="Times New Roman"/>
              </a:rPr>
              <a:t> </a:t>
            </a:r>
            <a:r>
              <a:rPr sz="2400" spc="-10" dirty="0">
                <a:latin typeface="Times New Roman"/>
                <a:cs typeface="Times New Roman"/>
              </a:rPr>
              <a:t>line.</a:t>
            </a:r>
            <a:endParaRPr sz="2400" dirty="0">
              <a:latin typeface="Times New Roman"/>
              <a:cs typeface="Times New Roman"/>
            </a:endParaRPr>
          </a:p>
          <a:p>
            <a:pPr marL="353060" marR="5080" indent="-340360" algn="just">
              <a:lnSpc>
                <a:spcPct val="120000"/>
              </a:lnSpc>
              <a:buFont typeface="Arial MT"/>
              <a:buChar char="•"/>
              <a:tabLst>
                <a:tab pos="355600" algn="l"/>
              </a:tabLst>
            </a:pPr>
            <a:r>
              <a:rPr sz="2400" b="1" u="sng" dirty="0">
                <a:solidFill>
                  <a:srgbClr val="0000FF"/>
                </a:solidFill>
                <a:uFill>
                  <a:solidFill>
                    <a:srgbClr val="0000FF"/>
                  </a:solidFill>
                </a:uFill>
                <a:latin typeface="Times New Roman"/>
                <a:cs typeface="Times New Roman"/>
              </a:rPr>
              <a:t>Generalization</a:t>
            </a:r>
            <a:r>
              <a:rPr sz="2400" b="1" dirty="0">
                <a:solidFill>
                  <a:srgbClr val="0000FF"/>
                </a:solidFill>
                <a:latin typeface="Times New Roman"/>
                <a:cs typeface="Times New Roman"/>
              </a:rPr>
              <a:t>:</a:t>
            </a:r>
            <a:r>
              <a:rPr sz="2400" b="1" spc="580" dirty="0">
                <a:solidFill>
                  <a:srgbClr val="0000FF"/>
                </a:solidFill>
                <a:latin typeface="Times New Roman"/>
                <a:cs typeface="Times New Roman"/>
              </a:rPr>
              <a:t> </a:t>
            </a:r>
            <a:r>
              <a:rPr sz="2400" dirty="0">
                <a:latin typeface="Times New Roman"/>
                <a:cs typeface="Times New Roman"/>
              </a:rPr>
              <a:t>relationship</a:t>
            </a:r>
            <a:r>
              <a:rPr sz="2400" spc="585" dirty="0">
                <a:latin typeface="Times New Roman"/>
                <a:cs typeface="Times New Roman"/>
              </a:rPr>
              <a:t> </a:t>
            </a:r>
            <a:r>
              <a:rPr sz="2400" dirty="0">
                <a:latin typeface="Times New Roman"/>
                <a:cs typeface="Times New Roman"/>
              </a:rPr>
              <a:t>between</a:t>
            </a:r>
            <a:r>
              <a:rPr sz="2400" spc="585" dirty="0">
                <a:latin typeface="Times New Roman"/>
                <a:cs typeface="Times New Roman"/>
              </a:rPr>
              <a:t> </a:t>
            </a:r>
            <a:r>
              <a:rPr sz="2400" dirty="0">
                <a:latin typeface="Times New Roman"/>
                <a:cs typeface="Times New Roman"/>
              </a:rPr>
              <a:t>one</a:t>
            </a:r>
            <a:r>
              <a:rPr sz="2400" spc="570" dirty="0">
                <a:latin typeface="Times New Roman"/>
                <a:cs typeface="Times New Roman"/>
              </a:rPr>
              <a:t> </a:t>
            </a:r>
            <a:r>
              <a:rPr sz="2400" dirty="0">
                <a:latin typeface="Times New Roman"/>
                <a:cs typeface="Times New Roman"/>
              </a:rPr>
              <a:t>general</a:t>
            </a:r>
            <a:r>
              <a:rPr sz="2400" spc="575" dirty="0">
                <a:latin typeface="Times New Roman"/>
                <a:cs typeface="Times New Roman"/>
              </a:rPr>
              <a:t> </a:t>
            </a:r>
            <a:r>
              <a:rPr sz="2400" dirty="0">
                <a:latin typeface="Times New Roman"/>
                <a:cs typeface="Times New Roman"/>
              </a:rPr>
              <a:t>use</a:t>
            </a:r>
            <a:r>
              <a:rPr sz="2400" spc="570" dirty="0">
                <a:latin typeface="Times New Roman"/>
                <a:cs typeface="Times New Roman"/>
              </a:rPr>
              <a:t> </a:t>
            </a:r>
            <a:r>
              <a:rPr sz="2400" spc="-20" dirty="0">
                <a:latin typeface="Times New Roman"/>
                <a:cs typeface="Times New Roman"/>
              </a:rPr>
              <a:t>case 	</a:t>
            </a:r>
            <a:r>
              <a:rPr sz="2400" dirty="0">
                <a:latin typeface="Times New Roman"/>
                <a:cs typeface="Times New Roman"/>
              </a:rPr>
              <a:t>and</a:t>
            </a:r>
            <a:r>
              <a:rPr sz="2400" spc="75" dirty="0">
                <a:latin typeface="Times New Roman"/>
                <a:cs typeface="Times New Roman"/>
              </a:rPr>
              <a:t> </a:t>
            </a:r>
            <a:r>
              <a:rPr sz="2400" dirty="0">
                <a:latin typeface="Times New Roman"/>
                <a:cs typeface="Times New Roman"/>
              </a:rPr>
              <a:t>a</a:t>
            </a:r>
            <a:r>
              <a:rPr sz="2400" spc="90" dirty="0">
                <a:latin typeface="Times New Roman"/>
                <a:cs typeface="Times New Roman"/>
              </a:rPr>
              <a:t> </a:t>
            </a:r>
            <a:r>
              <a:rPr sz="2400" dirty="0">
                <a:latin typeface="Times New Roman"/>
                <a:cs typeface="Times New Roman"/>
              </a:rPr>
              <a:t>special</a:t>
            </a:r>
            <a:r>
              <a:rPr sz="2400" spc="90" dirty="0">
                <a:latin typeface="Times New Roman"/>
                <a:cs typeface="Times New Roman"/>
              </a:rPr>
              <a:t> </a:t>
            </a:r>
            <a:r>
              <a:rPr sz="2400" dirty="0">
                <a:latin typeface="Times New Roman"/>
                <a:cs typeface="Times New Roman"/>
              </a:rPr>
              <a:t>use</a:t>
            </a:r>
            <a:r>
              <a:rPr sz="2400" spc="95" dirty="0">
                <a:latin typeface="Times New Roman"/>
                <a:cs typeface="Times New Roman"/>
              </a:rPr>
              <a:t> </a:t>
            </a:r>
            <a:r>
              <a:rPr sz="2400" dirty="0">
                <a:latin typeface="Times New Roman"/>
                <a:cs typeface="Times New Roman"/>
              </a:rPr>
              <a:t>case.</a:t>
            </a:r>
            <a:r>
              <a:rPr sz="2400" spc="90" dirty="0">
                <a:latin typeface="Times New Roman"/>
                <a:cs typeface="Times New Roman"/>
              </a:rPr>
              <a:t> </a:t>
            </a:r>
            <a:r>
              <a:rPr sz="2400" dirty="0">
                <a:latin typeface="Times New Roman"/>
                <a:cs typeface="Times New Roman"/>
              </a:rPr>
              <a:t>Represented</a:t>
            </a:r>
            <a:r>
              <a:rPr sz="2400" spc="75" dirty="0">
                <a:latin typeface="Times New Roman"/>
                <a:cs typeface="Times New Roman"/>
              </a:rPr>
              <a:t> </a:t>
            </a:r>
            <a:r>
              <a:rPr sz="2400" dirty="0">
                <a:latin typeface="Times New Roman"/>
                <a:cs typeface="Times New Roman"/>
              </a:rPr>
              <a:t>by</a:t>
            </a:r>
            <a:r>
              <a:rPr sz="2400" spc="85" dirty="0">
                <a:latin typeface="Times New Roman"/>
                <a:cs typeface="Times New Roman"/>
              </a:rPr>
              <a:t> </a:t>
            </a:r>
            <a:r>
              <a:rPr sz="2400" dirty="0">
                <a:latin typeface="Times New Roman"/>
                <a:cs typeface="Times New Roman"/>
              </a:rPr>
              <a:t>a</a:t>
            </a:r>
            <a:r>
              <a:rPr sz="2400" spc="90" dirty="0">
                <a:latin typeface="Times New Roman"/>
                <a:cs typeface="Times New Roman"/>
              </a:rPr>
              <a:t> </a:t>
            </a:r>
            <a:r>
              <a:rPr sz="2400" dirty="0">
                <a:latin typeface="Times New Roman"/>
                <a:cs typeface="Times New Roman"/>
              </a:rPr>
              <a:t>line</a:t>
            </a:r>
            <a:r>
              <a:rPr sz="2400" spc="95" dirty="0">
                <a:latin typeface="Times New Roman"/>
                <a:cs typeface="Times New Roman"/>
              </a:rPr>
              <a:t> </a:t>
            </a:r>
            <a:r>
              <a:rPr sz="2400" dirty="0">
                <a:latin typeface="Times New Roman"/>
                <a:cs typeface="Times New Roman"/>
              </a:rPr>
              <a:t>with</a:t>
            </a:r>
            <a:r>
              <a:rPr sz="2400" spc="95" dirty="0">
                <a:latin typeface="Times New Roman"/>
                <a:cs typeface="Times New Roman"/>
              </a:rPr>
              <a:t> </a:t>
            </a:r>
            <a:r>
              <a:rPr sz="2400" dirty="0">
                <a:latin typeface="Times New Roman"/>
                <a:cs typeface="Times New Roman"/>
              </a:rPr>
              <a:t>a</a:t>
            </a:r>
            <a:r>
              <a:rPr sz="2400" spc="90" dirty="0">
                <a:latin typeface="Times New Roman"/>
                <a:cs typeface="Times New Roman"/>
              </a:rPr>
              <a:t> </a:t>
            </a:r>
            <a:r>
              <a:rPr sz="2400" spc="-10" dirty="0">
                <a:latin typeface="Times New Roman"/>
                <a:cs typeface="Times New Roman"/>
              </a:rPr>
              <a:t>triangular</a:t>
            </a:r>
            <a:endParaRPr sz="2400" dirty="0">
              <a:latin typeface="Times New Roman"/>
              <a:cs typeface="Times New Roman"/>
            </a:endParaRPr>
          </a:p>
          <a:p>
            <a:pPr marL="355600" algn="just">
              <a:lnSpc>
                <a:spcPct val="100000"/>
              </a:lnSpc>
              <a:spcBef>
                <a:spcPts val="580"/>
              </a:spcBef>
            </a:pPr>
            <a:r>
              <a:rPr sz="2400" dirty="0">
                <a:latin typeface="Times New Roman"/>
                <a:cs typeface="Times New Roman"/>
              </a:rPr>
              <a:t>arrow</a:t>
            </a:r>
            <a:r>
              <a:rPr sz="2400" spc="-20" dirty="0">
                <a:latin typeface="Times New Roman"/>
                <a:cs typeface="Times New Roman"/>
              </a:rPr>
              <a:t> </a:t>
            </a:r>
            <a:r>
              <a:rPr sz="2400" dirty="0">
                <a:latin typeface="Times New Roman"/>
                <a:cs typeface="Times New Roman"/>
              </a:rPr>
              <a:t>head</a:t>
            </a:r>
            <a:r>
              <a:rPr sz="2400" spc="-20" dirty="0">
                <a:latin typeface="Times New Roman"/>
                <a:cs typeface="Times New Roman"/>
              </a:rPr>
              <a:t> </a:t>
            </a:r>
            <a:r>
              <a:rPr sz="2400" dirty="0">
                <a:latin typeface="Times New Roman"/>
                <a:cs typeface="Times New Roman"/>
              </a:rPr>
              <a:t>toward</a:t>
            </a:r>
            <a:r>
              <a:rPr sz="2400" spc="-2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parent</a:t>
            </a:r>
            <a:r>
              <a:rPr sz="2400" spc="-25" dirty="0">
                <a:latin typeface="Times New Roman"/>
                <a:cs typeface="Times New Roman"/>
              </a:rPr>
              <a:t> </a:t>
            </a:r>
            <a:r>
              <a:rPr sz="2400" dirty="0">
                <a:latin typeface="Times New Roman"/>
                <a:cs typeface="Times New Roman"/>
              </a:rPr>
              <a:t>use</a:t>
            </a:r>
            <a:r>
              <a:rPr sz="2400" spc="-20" dirty="0">
                <a:latin typeface="Times New Roman"/>
                <a:cs typeface="Times New Roman"/>
              </a:rPr>
              <a:t> </a:t>
            </a:r>
            <a:r>
              <a:rPr sz="2400" spc="-10" dirty="0">
                <a:latin typeface="Times New Roman"/>
                <a:cs typeface="Times New Roman"/>
              </a:rPr>
              <a:t>case.</a:t>
            </a:r>
            <a:endParaRPr sz="2400" dirty="0">
              <a:latin typeface="Times New Roman"/>
              <a:cs typeface="Times New Roman"/>
            </a:endParaRPr>
          </a:p>
          <a:p>
            <a:pPr marL="353060" marR="5715" indent="-340360" algn="just">
              <a:lnSpc>
                <a:spcPct val="120000"/>
              </a:lnSpc>
              <a:buFont typeface="Arial MT"/>
              <a:buChar char="•"/>
              <a:tabLst>
                <a:tab pos="355600" algn="l"/>
              </a:tabLst>
            </a:pPr>
            <a:r>
              <a:rPr sz="2400" b="1" u="sng" dirty="0">
                <a:solidFill>
                  <a:srgbClr val="0000FF"/>
                </a:solidFill>
                <a:uFill>
                  <a:solidFill>
                    <a:srgbClr val="0000FF"/>
                  </a:solidFill>
                </a:uFill>
                <a:latin typeface="Times New Roman"/>
                <a:cs typeface="Times New Roman"/>
              </a:rPr>
              <a:t>Include</a:t>
            </a:r>
            <a:r>
              <a:rPr sz="2400" b="1" dirty="0">
                <a:solidFill>
                  <a:srgbClr val="0000FF"/>
                </a:solidFill>
                <a:latin typeface="Times New Roman"/>
                <a:cs typeface="Times New Roman"/>
              </a:rPr>
              <a:t>:</a:t>
            </a:r>
            <a:r>
              <a:rPr sz="2400" b="1" spc="160" dirty="0">
                <a:solidFill>
                  <a:srgbClr val="0000FF"/>
                </a:solidFill>
                <a:latin typeface="Times New Roman"/>
                <a:cs typeface="Times New Roman"/>
              </a:rPr>
              <a:t> </a:t>
            </a:r>
            <a:r>
              <a:rPr sz="2400" dirty="0">
                <a:latin typeface="Times New Roman"/>
                <a:cs typeface="Times New Roman"/>
              </a:rPr>
              <a:t>a</a:t>
            </a:r>
            <a:r>
              <a:rPr sz="2400" spc="155" dirty="0">
                <a:latin typeface="Times New Roman"/>
                <a:cs typeface="Times New Roman"/>
              </a:rPr>
              <a:t> </a:t>
            </a:r>
            <a:r>
              <a:rPr sz="2400" dirty="0">
                <a:latin typeface="Times New Roman"/>
                <a:cs typeface="Times New Roman"/>
              </a:rPr>
              <a:t>dotted</a:t>
            </a:r>
            <a:r>
              <a:rPr sz="2400" spc="155" dirty="0">
                <a:latin typeface="Times New Roman"/>
                <a:cs typeface="Times New Roman"/>
              </a:rPr>
              <a:t> </a:t>
            </a:r>
            <a:r>
              <a:rPr sz="2400" dirty="0">
                <a:latin typeface="Times New Roman"/>
                <a:cs typeface="Times New Roman"/>
              </a:rPr>
              <a:t>line</a:t>
            </a:r>
            <a:r>
              <a:rPr sz="2400" spc="150" dirty="0">
                <a:latin typeface="Times New Roman"/>
                <a:cs typeface="Times New Roman"/>
              </a:rPr>
              <a:t> </a:t>
            </a:r>
            <a:r>
              <a:rPr sz="2400" dirty="0">
                <a:latin typeface="Times New Roman"/>
                <a:cs typeface="Times New Roman"/>
              </a:rPr>
              <a:t>labeled</a:t>
            </a:r>
            <a:r>
              <a:rPr sz="2400" spc="160" dirty="0">
                <a:latin typeface="Times New Roman"/>
                <a:cs typeface="Times New Roman"/>
              </a:rPr>
              <a:t> </a:t>
            </a:r>
            <a:r>
              <a:rPr sz="2400" dirty="0">
                <a:latin typeface="Times New Roman"/>
                <a:cs typeface="Times New Roman"/>
              </a:rPr>
              <a:t>&lt;&lt;include&gt;&gt;</a:t>
            </a:r>
            <a:r>
              <a:rPr sz="2400" spc="165" dirty="0">
                <a:latin typeface="Times New Roman"/>
                <a:cs typeface="Times New Roman"/>
              </a:rPr>
              <a:t> </a:t>
            </a:r>
            <a:r>
              <a:rPr sz="2400" dirty="0">
                <a:latin typeface="Times New Roman"/>
                <a:cs typeface="Times New Roman"/>
              </a:rPr>
              <a:t>beginning</a:t>
            </a:r>
            <a:r>
              <a:rPr sz="2400" spc="170" dirty="0">
                <a:latin typeface="Times New Roman"/>
                <a:cs typeface="Times New Roman"/>
              </a:rPr>
              <a:t> </a:t>
            </a:r>
            <a:r>
              <a:rPr sz="2400" dirty="0">
                <a:latin typeface="Times New Roman"/>
                <a:cs typeface="Times New Roman"/>
              </a:rPr>
              <a:t>at</a:t>
            </a:r>
            <a:r>
              <a:rPr sz="2400" spc="165" dirty="0">
                <a:latin typeface="Times New Roman"/>
                <a:cs typeface="Times New Roman"/>
              </a:rPr>
              <a:t> </a:t>
            </a:r>
            <a:r>
              <a:rPr sz="2400" spc="-20" dirty="0">
                <a:latin typeface="Times New Roman"/>
                <a:cs typeface="Times New Roman"/>
              </a:rPr>
              <a:t>base 	</a:t>
            </a:r>
            <a:r>
              <a:rPr sz="2400" dirty="0">
                <a:latin typeface="Times New Roman"/>
                <a:cs typeface="Times New Roman"/>
              </a:rPr>
              <a:t>use</a:t>
            </a:r>
            <a:r>
              <a:rPr sz="2400" spc="25" dirty="0">
                <a:latin typeface="Times New Roman"/>
                <a:cs typeface="Times New Roman"/>
              </a:rPr>
              <a:t> </a:t>
            </a:r>
            <a:r>
              <a:rPr sz="2400" dirty="0">
                <a:latin typeface="Times New Roman"/>
                <a:cs typeface="Times New Roman"/>
              </a:rPr>
              <a:t>case</a:t>
            </a:r>
            <a:r>
              <a:rPr sz="2400" spc="20"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ending</a:t>
            </a:r>
            <a:r>
              <a:rPr sz="2400" spc="30" dirty="0">
                <a:latin typeface="Times New Roman"/>
                <a:cs typeface="Times New Roman"/>
              </a:rPr>
              <a:t> </a:t>
            </a:r>
            <a:r>
              <a:rPr sz="2400" dirty="0">
                <a:latin typeface="Times New Roman"/>
                <a:cs typeface="Times New Roman"/>
              </a:rPr>
              <a:t>with</a:t>
            </a:r>
            <a:r>
              <a:rPr sz="2400" spc="15" dirty="0">
                <a:latin typeface="Times New Roman"/>
                <a:cs typeface="Times New Roman"/>
              </a:rPr>
              <a:t> </a:t>
            </a:r>
            <a:r>
              <a:rPr sz="2400" dirty="0">
                <a:latin typeface="Times New Roman"/>
                <a:cs typeface="Times New Roman"/>
              </a:rPr>
              <a:t>an</a:t>
            </a:r>
            <a:r>
              <a:rPr sz="2400" spc="5" dirty="0">
                <a:latin typeface="Times New Roman"/>
                <a:cs typeface="Times New Roman"/>
              </a:rPr>
              <a:t> </a:t>
            </a:r>
            <a:r>
              <a:rPr sz="2400" dirty="0">
                <a:latin typeface="Times New Roman"/>
                <a:cs typeface="Times New Roman"/>
              </a:rPr>
              <a:t>arrows</a:t>
            </a:r>
            <a:r>
              <a:rPr sz="2400" spc="25" dirty="0">
                <a:latin typeface="Times New Roman"/>
                <a:cs typeface="Times New Roman"/>
              </a:rPr>
              <a:t> </a:t>
            </a:r>
            <a:r>
              <a:rPr sz="2400" dirty="0">
                <a:latin typeface="Times New Roman"/>
                <a:cs typeface="Times New Roman"/>
              </a:rPr>
              <a:t>pointing to</a:t>
            </a:r>
            <a:r>
              <a:rPr sz="2400" spc="1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include</a:t>
            </a:r>
            <a:r>
              <a:rPr sz="2400" spc="10" dirty="0">
                <a:latin typeface="Times New Roman"/>
                <a:cs typeface="Times New Roman"/>
              </a:rPr>
              <a:t> </a:t>
            </a:r>
            <a:r>
              <a:rPr sz="2400" spc="-25" dirty="0">
                <a:latin typeface="Times New Roman"/>
                <a:cs typeface="Times New Roman"/>
              </a:rPr>
              <a:t>use 	</a:t>
            </a:r>
            <a:r>
              <a:rPr sz="2400" spc="-10" dirty="0">
                <a:latin typeface="Times New Roman"/>
                <a:cs typeface="Times New Roman"/>
              </a:rPr>
              <a:t>case.</a:t>
            </a:r>
            <a:endParaRPr sz="2400" dirty="0">
              <a:latin typeface="Times New Roman"/>
              <a:cs typeface="Times New Roman"/>
            </a:endParaRPr>
          </a:p>
          <a:p>
            <a:pPr marL="353060" marR="6350" indent="-340360" algn="just">
              <a:lnSpc>
                <a:spcPct val="120000"/>
              </a:lnSpc>
              <a:spcBef>
                <a:spcPts val="5"/>
              </a:spcBef>
              <a:buFont typeface="Arial MT"/>
              <a:buChar char="•"/>
              <a:tabLst>
                <a:tab pos="355600" algn="l"/>
              </a:tabLst>
            </a:pPr>
            <a:r>
              <a:rPr sz="2400" b="1" u="sng" dirty="0">
                <a:solidFill>
                  <a:srgbClr val="0000FF"/>
                </a:solidFill>
                <a:uFill>
                  <a:solidFill>
                    <a:srgbClr val="0000FF"/>
                  </a:solidFill>
                </a:uFill>
                <a:latin typeface="Times New Roman"/>
                <a:cs typeface="Times New Roman"/>
              </a:rPr>
              <a:t>Extend</a:t>
            </a:r>
            <a:r>
              <a:rPr sz="2400" b="1" dirty="0">
                <a:solidFill>
                  <a:srgbClr val="0000FF"/>
                </a:solidFill>
                <a:latin typeface="Times New Roman"/>
                <a:cs typeface="Times New Roman"/>
              </a:rPr>
              <a:t>:</a:t>
            </a:r>
            <a:r>
              <a:rPr sz="2400" b="1" spc="575" dirty="0">
                <a:solidFill>
                  <a:srgbClr val="0000FF"/>
                </a:solidFill>
                <a:latin typeface="Times New Roman"/>
                <a:cs typeface="Times New Roman"/>
              </a:rPr>
              <a:t> </a:t>
            </a:r>
            <a:r>
              <a:rPr sz="2400" dirty="0">
                <a:latin typeface="Times New Roman"/>
                <a:cs typeface="Times New Roman"/>
              </a:rPr>
              <a:t>a</a:t>
            </a:r>
            <a:r>
              <a:rPr sz="2400" spc="585" dirty="0">
                <a:latin typeface="Times New Roman"/>
                <a:cs typeface="Times New Roman"/>
              </a:rPr>
              <a:t> </a:t>
            </a:r>
            <a:r>
              <a:rPr sz="2400" dirty="0">
                <a:latin typeface="Times New Roman"/>
                <a:cs typeface="Times New Roman"/>
              </a:rPr>
              <a:t>dotted</a:t>
            </a:r>
            <a:r>
              <a:rPr sz="2400" spc="585" dirty="0">
                <a:latin typeface="Times New Roman"/>
                <a:cs typeface="Times New Roman"/>
              </a:rPr>
              <a:t> </a:t>
            </a:r>
            <a:r>
              <a:rPr sz="2400" dirty="0">
                <a:latin typeface="Times New Roman"/>
                <a:cs typeface="Times New Roman"/>
              </a:rPr>
              <a:t>line</a:t>
            </a:r>
            <a:r>
              <a:rPr sz="2400" spc="575" dirty="0">
                <a:latin typeface="Times New Roman"/>
                <a:cs typeface="Times New Roman"/>
              </a:rPr>
              <a:t> </a:t>
            </a:r>
            <a:r>
              <a:rPr sz="2400" dirty="0">
                <a:latin typeface="Times New Roman"/>
                <a:cs typeface="Times New Roman"/>
              </a:rPr>
              <a:t>labeled</a:t>
            </a:r>
            <a:r>
              <a:rPr sz="2400" spc="585" dirty="0">
                <a:latin typeface="Times New Roman"/>
                <a:cs typeface="Times New Roman"/>
              </a:rPr>
              <a:t> </a:t>
            </a:r>
            <a:r>
              <a:rPr sz="2400" dirty="0">
                <a:latin typeface="Times New Roman"/>
                <a:cs typeface="Times New Roman"/>
              </a:rPr>
              <a:t>&lt;&lt;extend&gt;&gt;</a:t>
            </a:r>
            <a:r>
              <a:rPr sz="2400" spc="575" dirty="0">
                <a:latin typeface="Times New Roman"/>
                <a:cs typeface="Times New Roman"/>
              </a:rPr>
              <a:t>  </a:t>
            </a:r>
            <a:r>
              <a:rPr sz="2400" dirty="0">
                <a:latin typeface="Times New Roman"/>
                <a:cs typeface="Times New Roman"/>
              </a:rPr>
              <a:t>with</a:t>
            </a:r>
            <a:r>
              <a:rPr sz="2400" spc="580" dirty="0">
                <a:latin typeface="Times New Roman"/>
                <a:cs typeface="Times New Roman"/>
              </a:rPr>
              <a:t> </a:t>
            </a:r>
            <a:r>
              <a:rPr sz="2400" dirty="0">
                <a:latin typeface="Times New Roman"/>
                <a:cs typeface="Times New Roman"/>
              </a:rPr>
              <a:t>an</a:t>
            </a:r>
            <a:r>
              <a:rPr sz="2400" spc="585" dirty="0">
                <a:latin typeface="Times New Roman"/>
                <a:cs typeface="Times New Roman"/>
              </a:rPr>
              <a:t> </a:t>
            </a:r>
            <a:r>
              <a:rPr sz="2400" spc="-10" dirty="0">
                <a:latin typeface="Times New Roman"/>
                <a:cs typeface="Times New Roman"/>
              </a:rPr>
              <a:t>arrow 	</a:t>
            </a:r>
            <a:r>
              <a:rPr sz="2400" dirty="0">
                <a:latin typeface="Times New Roman"/>
                <a:cs typeface="Times New Roman"/>
              </a:rPr>
              <a:t>toward</a:t>
            </a:r>
            <a:r>
              <a:rPr sz="2400" spc="145" dirty="0">
                <a:latin typeface="Times New Roman"/>
                <a:cs typeface="Times New Roman"/>
              </a:rPr>
              <a:t>  </a:t>
            </a:r>
            <a:r>
              <a:rPr sz="2400" dirty="0">
                <a:latin typeface="Times New Roman"/>
                <a:cs typeface="Times New Roman"/>
              </a:rPr>
              <a:t>the</a:t>
            </a:r>
            <a:r>
              <a:rPr sz="2400" spc="155" dirty="0">
                <a:latin typeface="Times New Roman"/>
                <a:cs typeface="Times New Roman"/>
              </a:rPr>
              <a:t>  </a:t>
            </a:r>
            <a:r>
              <a:rPr sz="2400" dirty="0">
                <a:latin typeface="Times New Roman"/>
                <a:cs typeface="Times New Roman"/>
              </a:rPr>
              <a:t>base</a:t>
            </a:r>
            <a:r>
              <a:rPr sz="2400" spc="150" dirty="0">
                <a:latin typeface="Times New Roman"/>
                <a:cs typeface="Times New Roman"/>
              </a:rPr>
              <a:t>  </a:t>
            </a:r>
            <a:r>
              <a:rPr sz="2400" dirty="0">
                <a:latin typeface="Times New Roman"/>
                <a:cs typeface="Times New Roman"/>
              </a:rPr>
              <a:t>case.</a:t>
            </a:r>
            <a:r>
              <a:rPr sz="2400" spc="150" dirty="0">
                <a:latin typeface="Times New Roman"/>
                <a:cs typeface="Times New Roman"/>
              </a:rPr>
              <a:t>  </a:t>
            </a:r>
            <a:r>
              <a:rPr sz="2400" dirty="0">
                <a:latin typeface="Times New Roman"/>
                <a:cs typeface="Times New Roman"/>
              </a:rPr>
              <a:t>The</a:t>
            </a:r>
            <a:r>
              <a:rPr sz="2400" spc="150" dirty="0">
                <a:latin typeface="Times New Roman"/>
                <a:cs typeface="Times New Roman"/>
              </a:rPr>
              <a:t>  </a:t>
            </a:r>
            <a:r>
              <a:rPr sz="2400" dirty="0">
                <a:latin typeface="Times New Roman"/>
                <a:cs typeface="Times New Roman"/>
              </a:rPr>
              <a:t>extending</a:t>
            </a:r>
            <a:r>
              <a:rPr sz="2400" spc="160" dirty="0">
                <a:latin typeface="Times New Roman"/>
                <a:cs typeface="Times New Roman"/>
              </a:rPr>
              <a:t>  </a:t>
            </a:r>
            <a:r>
              <a:rPr sz="2400" dirty="0">
                <a:latin typeface="Times New Roman"/>
                <a:cs typeface="Times New Roman"/>
              </a:rPr>
              <a:t>use</a:t>
            </a:r>
            <a:r>
              <a:rPr sz="2400" spc="150" dirty="0">
                <a:latin typeface="Times New Roman"/>
                <a:cs typeface="Times New Roman"/>
              </a:rPr>
              <a:t>  </a:t>
            </a:r>
            <a:r>
              <a:rPr sz="2400" dirty="0">
                <a:latin typeface="Times New Roman"/>
                <a:cs typeface="Times New Roman"/>
              </a:rPr>
              <a:t>case</a:t>
            </a:r>
            <a:r>
              <a:rPr sz="2400" spc="160" dirty="0">
                <a:latin typeface="Times New Roman"/>
                <a:cs typeface="Times New Roman"/>
              </a:rPr>
              <a:t>  </a:t>
            </a:r>
            <a:r>
              <a:rPr sz="2400" dirty="0">
                <a:latin typeface="Times New Roman"/>
                <a:cs typeface="Times New Roman"/>
              </a:rPr>
              <a:t>may</a:t>
            </a:r>
            <a:r>
              <a:rPr sz="2400" spc="155" dirty="0">
                <a:latin typeface="Times New Roman"/>
                <a:cs typeface="Times New Roman"/>
              </a:rPr>
              <a:t>  </a:t>
            </a:r>
            <a:r>
              <a:rPr sz="2400" spc="-25" dirty="0">
                <a:latin typeface="Times New Roman"/>
                <a:cs typeface="Times New Roman"/>
              </a:rPr>
              <a:t>add 	</a:t>
            </a:r>
            <a:r>
              <a:rPr sz="2400" dirty="0">
                <a:latin typeface="Times New Roman"/>
                <a:cs typeface="Times New Roman"/>
              </a:rPr>
              <a:t>behavior</a:t>
            </a:r>
            <a:r>
              <a:rPr sz="2400" spc="-40"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base</a:t>
            </a:r>
            <a:r>
              <a:rPr sz="2400" spc="-10" dirty="0">
                <a:latin typeface="Times New Roman"/>
                <a:cs typeface="Times New Roman"/>
              </a:rPr>
              <a:t> </a:t>
            </a:r>
            <a:r>
              <a:rPr sz="2400" dirty="0">
                <a:latin typeface="Times New Roman"/>
                <a:cs typeface="Times New Roman"/>
              </a:rPr>
              <a:t>use</a:t>
            </a:r>
            <a:r>
              <a:rPr sz="2400" spc="-10" dirty="0">
                <a:latin typeface="Times New Roman"/>
                <a:cs typeface="Times New Roman"/>
              </a:rPr>
              <a:t> case.</a:t>
            </a:r>
            <a:endParaRPr sz="2400" dirty="0">
              <a:latin typeface="Times New Roman"/>
              <a:cs typeface="Times New Roman"/>
            </a:endParaRPr>
          </a:p>
        </p:txBody>
      </p:sp>
      <p:sp>
        <p:nvSpPr>
          <p:cNvPr id="3" name="object 3"/>
          <p:cNvSpPr/>
          <p:nvPr/>
        </p:nvSpPr>
        <p:spPr>
          <a:xfrm>
            <a:off x="609600" y="6019800"/>
            <a:ext cx="1600200" cy="0"/>
          </a:xfrm>
          <a:custGeom>
            <a:avLst/>
            <a:gdLst/>
            <a:ahLst/>
            <a:cxnLst/>
            <a:rect l="l" t="t" r="r" b="b"/>
            <a:pathLst>
              <a:path w="1600200">
                <a:moveTo>
                  <a:pt x="0" y="0"/>
                </a:moveTo>
                <a:lnTo>
                  <a:pt x="1600200" y="0"/>
                </a:lnTo>
              </a:path>
            </a:pathLst>
          </a:custGeom>
          <a:ln w="9144">
            <a:solidFill>
              <a:srgbClr val="000000"/>
            </a:solidFill>
          </a:ln>
        </p:spPr>
        <p:txBody>
          <a:bodyPr wrap="square" lIns="0" tIns="0" rIns="0" bIns="0" rtlCol="0"/>
          <a:lstStyle/>
          <a:p>
            <a:endParaRPr/>
          </a:p>
        </p:txBody>
      </p:sp>
      <p:sp>
        <p:nvSpPr>
          <p:cNvPr id="4" name="object 4"/>
          <p:cNvSpPr/>
          <p:nvPr/>
        </p:nvSpPr>
        <p:spPr>
          <a:xfrm>
            <a:off x="2895600" y="5867400"/>
            <a:ext cx="1524000" cy="304800"/>
          </a:xfrm>
          <a:custGeom>
            <a:avLst/>
            <a:gdLst/>
            <a:ahLst/>
            <a:cxnLst/>
            <a:rect l="l" t="t" r="r" b="b"/>
            <a:pathLst>
              <a:path w="1524000" h="304800">
                <a:moveTo>
                  <a:pt x="0" y="152400"/>
                </a:moveTo>
                <a:lnTo>
                  <a:pt x="1143000" y="152400"/>
                </a:lnTo>
              </a:path>
              <a:path w="1524000" h="304800">
                <a:moveTo>
                  <a:pt x="1143000" y="0"/>
                </a:moveTo>
                <a:lnTo>
                  <a:pt x="1143000" y="304800"/>
                </a:lnTo>
              </a:path>
              <a:path w="1524000" h="304800">
                <a:moveTo>
                  <a:pt x="1143000" y="0"/>
                </a:moveTo>
                <a:lnTo>
                  <a:pt x="1524000" y="152400"/>
                </a:lnTo>
              </a:path>
              <a:path w="1524000" h="304800">
                <a:moveTo>
                  <a:pt x="1143000" y="304800"/>
                </a:moveTo>
                <a:lnTo>
                  <a:pt x="1524000" y="152400"/>
                </a:lnTo>
              </a:path>
            </a:pathLst>
          </a:custGeom>
          <a:ln w="9144">
            <a:solidFill>
              <a:srgbClr val="000000"/>
            </a:solidFill>
          </a:ln>
        </p:spPr>
        <p:txBody>
          <a:bodyPr wrap="square" lIns="0" tIns="0" rIns="0" bIns="0" rtlCol="0"/>
          <a:lstStyle/>
          <a:p>
            <a:endParaRPr/>
          </a:p>
        </p:txBody>
      </p:sp>
      <p:sp>
        <p:nvSpPr>
          <p:cNvPr id="5" name="object 5"/>
          <p:cNvSpPr txBox="1"/>
          <p:nvPr/>
        </p:nvSpPr>
        <p:spPr>
          <a:xfrm>
            <a:off x="688340" y="6296355"/>
            <a:ext cx="1170305" cy="299720"/>
          </a:xfrm>
          <a:prstGeom prst="rect">
            <a:avLst/>
          </a:prstGeom>
        </p:spPr>
        <p:txBody>
          <a:bodyPr vert="horz" wrap="square" lIns="0" tIns="12700" rIns="0" bIns="0" rtlCol="0">
            <a:spAutoFit/>
          </a:bodyPr>
          <a:lstStyle/>
          <a:p>
            <a:pPr marL="12700">
              <a:lnSpc>
                <a:spcPct val="100000"/>
              </a:lnSpc>
              <a:spcBef>
                <a:spcPts val="100"/>
              </a:spcBef>
            </a:pPr>
            <a:r>
              <a:rPr sz="1800" u="sng" spc="-10" dirty="0">
                <a:uFill>
                  <a:solidFill>
                    <a:srgbClr val="000000"/>
                  </a:solidFill>
                </a:uFill>
                <a:latin typeface="Times New Roman"/>
                <a:cs typeface="Times New Roman"/>
              </a:rPr>
              <a:t>Association:</a:t>
            </a:r>
            <a:endParaRPr sz="1800">
              <a:latin typeface="Times New Roman"/>
              <a:cs typeface="Times New Roman"/>
            </a:endParaRPr>
          </a:p>
        </p:txBody>
      </p:sp>
      <p:sp>
        <p:nvSpPr>
          <p:cNvPr id="6" name="object 6"/>
          <p:cNvSpPr txBox="1"/>
          <p:nvPr/>
        </p:nvSpPr>
        <p:spPr>
          <a:xfrm>
            <a:off x="2822194" y="6268923"/>
            <a:ext cx="1440180" cy="299720"/>
          </a:xfrm>
          <a:prstGeom prst="rect">
            <a:avLst/>
          </a:prstGeom>
        </p:spPr>
        <p:txBody>
          <a:bodyPr vert="horz" wrap="square" lIns="0" tIns="12700" rIns="0" bIns="0" rtlCol="0">
            <a:spAutoFit/>
          </a:bodyPr>
          <a:lstStyle/>
          <a:p>
            <a:pPr marL="12700">
              <a:lnSpc>
                <a:spcPct val="100000"/>
              </a:lnSpc>
              <a:spcBef>
                <a:spcPts val="100"/>
              </a:spcBef>
            </a:pPr>
            <a:r>
              <a:rPr sz="1800" u="sng" spc="-10" dirty="0">
                <a:uFill>
                  <a:solidFill>
                    <a:srgbClr val="000000"/>
                  </a:solidFill>
                </a:uFill>
                <a:latin typeface="Times New Roman"/>
                <a:cs typeface="Times New Roman"/>
              </a:rPr>
              <a:t>Generalization</a:t>
            </a:r>
            <a:r>
              <a:rPr sz="1800" spc="-10" dirty="0">
                <a:latin typeface="Times New Roman"/>
                <a:cs typeface="Times New Roman"/>
              </a:rPr>
              <a:t>:</a:t>
            </a:r>
            <a:endParaRPr sz="1800">
              <a:latin typeface="Times New Roman"/>
              <a:cs typeface="Times New Roman"/>
            </a:endParaRPr>
          </a:p>
        </p:txBody>
      </p:sp>
      <p:sp>
        <p:nvSpPr>
          <p:cNvPr id="7" name="object 7"/>
          <p:cNvSpPr/>
          <p:nvPr/>
        </p:nvSpPr>
        <p:spPr>
          <a:xfrm>
            <a:off x="5105400" y="5981700"/>
            <a:ext cx="1752600" cy="76200"/>
          </a:xfrm>
          <a:custGeom>
            <a:avLst/>
            <a:gdLst/>
            <a:ahLst/>
            <a:cxnLst/>
            <a:rect l="l" t="t" r="r" b="b"/>
            <a:pathLst>
              <a:path w="1752600" h="76200">
                <a:moveTo>
                  <a:pt x="101600" y="31750"/>
                </a:moveTo>
                <a:lnTo>
                  <a:pt x="0" y="31750"/>
                </a:lnTo>
                <a:lnTo>
                  <a:pt x="0" y="44450"/>
                </a:lnTo>
                <a:lnTo>
                  <a:pt x="101600" y="44450"/>
                </a:lnTo>
                <a:lnTo>
                  <a:pt x="101600" y="31750"/>
                </a:lnTo>
                <a:close/>
              </a:path>
              <a:path w="1752600" h="76200">
                <a:moveTo>
                  <a:pt x="241300" y="31750"/>
                </a:moveTo>
                <a:lnTo>
                  <a:pt x="139700" y="31750"/>
                </a:lnTo>
                <a:lnTo>
                  <a:pt x="139700" y="44450"/>
                </a:lnTo>
                <a:lnTo>
                  <a:pt x="241300" y="44450"/>
                </a:lnTo>
                <a:lnTo>
                  <a:pt x="241300" y="31750"/>
                </a:lnTo>
                <a:close/>
              </a:path>
              <a:path w="1752600" h="76200">
                <a:moveTo>
                  <a:pt x="381000" y="31750"/>
                </a:moveTo>
                <a:lnTo>
                  <a:pt x="279400" y="31750"/>
                </a:lnTo>
                <a:lnTo>
                  <a:pt x="279400" y="44450"/>
                </a:lnTo>
                <a:lnTo>
                  <a:pt x="381000" y="44450"/>
                </a:lnTo>
                <a:lnTo>
                  <a:pt x="381000" y="31750"/>
                </a:lnTo>
                <a:close/>
              </a:path>
              <a:path w="1752600" h="76200">
                <a:moveTo>
                  <a:pt x="520700" y="31750"/>
                </a:moveTo>
                <a:lnTo>
                  <a:pt x="419100" y="31750"/>
                </a:lnTo>
                <a:lnTo>
                  <a:pt x="419100" y="44450"/>
                </a:lnTo>
                <a:lnTo>
                  <a:pt x="520700" y="44450"/>
                </a:lnTo>
                <a:lnTo>
                  <a:pt x="520700" y="31750"/>
                </a:lnTo>
                <a:close/>
              </a:path>
              <a:path w="1752600" h="76200">
                <a:moveTo>
                  <a:pt x="660400" y="31750"/>
                </a:moveTo>
                <a:lnTo>
                  <a:pt x="558800" y="31750"/>
                </a:lnTo>
                <a:lnTo>
                  <a:pt x="558800" y="44450"/>
                </a:lnTo>
                <a:lnTo>
                  <a:pt x="660400" y="44450"/>
                </a:lnTo>
                <a:lnTo>
                  <a:pt x="660400" y="31750"/>
                </a:lnTo>
                <a:close/>
              </a:path>
              <a:path w="1752600" h="76200">
                <a:moveTo>
                  <a:pt x="800100" y="31750"/>
                </a:moveTo>
                <a:lnTo>
                  <a:pt x="698500" y="31750"/>
                </a:lnTo>
                <a:lnTo>
                  <a:pt x="698500" y="44450"/>
                </a:lnTo>
                <a:lnTo>
                  <a:pt x="800100" y="44450"/>
                </a:lnTo>
                <a:lnTo>
                  <a:pt x="800100" y="31750"/>
                </a:lnTo>
                <a:close/>
              </a:path>
              <a:path w="1752600" h="76200">
                <a:moveTo>
                  <a:pt x="939800" y="31750"/>
                </a:moveTo>
                <a:lnTo>
                  <a:pt x="838200" y="31750"/>
                </a:lnTo>
                <a:lnTo>
                  <a:pt x="838200" y="44450"/>
                </a:lnTo>
                <a:lnTo>
                  <a:pt x="939800" y="44450"/>
                </a:lnTo>
                <a:lnTo>
                  <a:pt x="939800" y="31750"/>
                </a:lnTo>
                <a:close/>
              </a:path>
              <a:path w="1752600" h="76200">
                <a:moveTo>
                  <a:pt x="1079500" y="31750"/>
                </a:moveTo>
                <a:lnTo>
                  <a:pt x="977900" y="31750"/>
                </a:lnTo>
                <a:lnTo>
                  <a:pt x="977900" y="44450"/>
                </a:lnTo>
                <a:lnTo>
                  <a:pt x="1079500" y="44450"/>
                </a:lnTo>
                <a:lnTo>
                  <a:pt x="1079500" y="31750"/>
                </a:lnTo>
                <a:close/>
              </a:path>
              <a:path w="1752600" h="76200">
                <a:moveTo>
                  <a:pt x="1219200" y="31750"/>
                </a:moveTo>
                <a:lnTo>
                  <a:pt x="1117600" y="31750"/>
                </a:lnTo>
                <a:lnTo>
                  <a:pt x="1117600" y="44450"/>
                </a:lnTo>
                <a:lnTo>
                  <a:pt x="1219200" y="44450"/>
                </a:lnTo>
                <a:lnTo>
                  <a:pt x="1219200" y="31750"/>
                </a:lnTo>
                <a:close/>
              </a:path>
              <a:path w="1752600" h="76200">
                <a:moveTo>
                  <a:pt x="1358900" y="31750"/>
                </a:moveTo>
                <a:lnTo>
                  <a:pt x="1257300" y="31750"/>
                </a:lnTo>
                <a:lnTo>
                  <a:pt x="1257300" y="44450"/>
                </a:lnTo>
                <a:lnTo>
                  <a:pt x="1358900" y="44450"/>
                </a:lnTo>
                <a:lnTo>
                  <a:pt x="1358900" y="31750"/>
                </a:lnTo>
                <a:close/>
              </a:path>
              <a:path w="1752600" h="76200">
                <a:moveTo>
                  <a:pt x="1498600" y="31750"/>
                </a:moveTo>
                <a:lnTo>
                  <a:pt x="1397000" y="31750"/>
                </a:lnTo>
                <a:lnTo>
                  <a:pt x="1397000" y="44450"/>
                </a:lnTo>
                <a:lnTo>
                  <a:pt x="1498600" y="44450"/>
                </a:lnTo>
                <a:lnTo>
                  <a:pt x="1498600" y="31750"/>
                </a:lnTo>
                <a:close/>
              </a:path>
              <a:path w="1752600" h="76200">
                <a:moveTo>
                  <a:pt x="1638300" y="31750"/>
                </a:moveTo>
                <a:lnTo>
                  <a:pt x="1536700" y="31750"/>
                </a:lnTo>
                <a:lnTo>
                  <a:pt x="1536700" y="44450"/>
                </a:lnTo>
                <a:lnTo>
                  <a:pt x="1638300" y="44450"/>
                </a:lnTo>
                <a:lnTo>
                  <a:pt x="1638300" y="31750"/>
                </a:lnTo>
                <a:close/>
              </a:path>
              <a:path w="1752600" h="76200">
                <a:moveTo>
                  <a:pt x="1676400" y="0"/>
                </a:moveTo>
                <a:lnTo>
                  <a:pt x="1676400" y="76200"/>
                </a:lnTo>
                <a:lnTo>
                  <a:pt x="1739900" y="44450"/>
                </a:lnTo>
                <a:lnTo>
                  <a:pt x="1689100" y="44450"/>
                </a:lnTo>
                <a:lnTo>
                  <a:pt x="1689100" y="31750"/>
                </a:lnTo>
                <a:lnTo>
                  <a:pt x="1739900" y="31750"/>
                </a:lnTo>
                <a:lnTo>
                  <a:pt x="1676400" y="0"/>
                </a:lnTo>
                <a:close/>
              </a:path>
              <a:path w="1752600" h="76200">
                <a:moveTo>
                  <a:pt x="1739900" y="31750"/>
                </a:moveTo>
                <a:lnTo>
                  <a:pt x="1689100" y="31750"/>
                </a:lnTo>
                <a:lnTo>
                  <a:pt x="1689100" y="44450"/>
                </a:lnTo>
                <a:lnTo>
                  <a:pt x="1739900" y="44450"/>
                </a:lnTo>
                <a:lnTo>
                  <a:pt x="1752600" y="38100"/>
                </a:lnTo>
                <a:lnTo>
                  <a:pt x="1739900" y="31750"/>
                </a:lnTo>
                <a:close/>
              </a:path>
            </a:pathLst>
          </a:custGeom>
          <a:solidFill>
            <a:srgbClr val="000000"/>
          </a:solidFill>
        </p:spPr>
        <p:txBody>
          <a:bodyPr wrap="square" lIns="0" tIns="0" rIns="0" bIns="0" rtlCol="0"/>
          <a:lstStyle/>
          <a:p>
            <a:endParaRPr/>
          </a:p>
        </p:txBody>
      </p:sp>
      <p:sp>
        <p:nvSpPr>
          <p:cNvPr id="8" name="object 8"/>
          <p:cNvSpPr txBox="1"/>
          <p:nvPr/>
        </p:nvSpPr>
        <p:spPr>
          <a:xfrm>
            <a:off x="5337428" y="6268923"/>
            <a:ext cx="121729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Times New Roman"/>
                <a:cs typeface="Times New Roman"/>
              </a:rPr>
              <a:t>&lt;&lt;include&gt;&gt;</a:t>
            </a:r>
            <a:endParaRPr sz="1800">
              <a:latin typeface="Times New Roman"/>
              <a:cs typeface="Times New Roman"/>
            </a:endParaRPr>
          </a:p>
        </p:txBody>
      </p:sp>
      <p:sp>
        <p:nvSpPr>
          <p:cNvPr id="9" name="object 9"/>
          <p:cNvSpPr/>
          <p:nvPr/>
        </p:nvSpPr>
        <p:spPr>
          <a:xfrm>
            <a:off x="7391145" y="5907925"/>
            <a:ext cx="1448435" cy="88265"/>
          </a:xfrm>
          <a:custGeom>
            <a:avLst/>
            <a:gdLst/>
            <a:ahLst/>
            <a:cxnLst/>
            <a:rect l="l" t="t" r="r" b="b"/>
            <a:pathLst>
              <a:path w="1448434" h="88264">
                <a:moveTo>
                  <a:pt x="50800" y="73444"/>
                </a:moveTo>
                <a:lnTo>
                  <a:pt x="0" y="75044"/>
                </a:lnTo>
                <a:lnTo>
                  <a:pt x="443" y="86144"/>
                </a:lnTo>
                <a:lnTo>
                  <a:pt x="507" y="87744"/>
                </a:lnTo>
                <a:lnTo>
                  <a:pt x="51180" y="86144"/>
                </a:lnTo>
                <a:lnTo>
                  <a:pt x="50848" y="75044"/>
                </a:lnTo>
                <a:lnTo>
                  <a:pt x="50800" y="73444"/>
                </a:lnTo>
                <a:close/>
              </a:path>
              <a:path w="1448434" h="88264">
                <a:moveTo>
                  <a:pt x="139700" y="70637"/>
                </a:moveTo>
                <a:lnTo>
                  <a:pt x="88900" y="72237"/>
                </a:lnTo>
                <a:lnTo>
                  <a:pt x="89232" y="83337"/>
                </a:lnTo>
                <a:lnTo>
                  <a:pt x="89280" y="84937"/>
                </a:lnTo>
                <a:lnTo>
                  <a:pt x="140080" y="83337"/>
                </a:lnTo>
                <a:lnTo>
                  <a:pt x="139748" y="72237"/>
                </a:lnTo>
                <a:lnTo>
                  <a:pt x="139700" y="70637"/>
                </a:lnTo>
                <a:close/>
              </a:path>
              <a:path w="1448434" h="88264">
                <a:moveTo>
                  <a:pt x="228473" y="67830"/>
                </a:moveTo>
                <a:lnTo>
                  <a:pt x="177800" y="69443"/>
                </a:lnTo>
                <a:lnTo>
                  <a:pt x="178132" y="80530"/>
                </a:lnTo>
                <a:lnTo>
                  <a:pt x="178180" y="82130"/>
                </a:lnTo>
                <a:lnTo>
                  <a:pt x="228980" y="80530"/>
                </a:lnTo>
                <a:lnTo>
                  <a:pt x="228537" y="69443"/>
                </a:lnTo>
                <a:lnTo>
                  <a:pt x="228473" y="67830"/>
                </a:lnTo>
                <a:close/>
              </a:path>
              <a:path w="1448434" h="88264">
                <a:moveTo>
                  <a:pt x="317373" y="65023"/>
                </a:moveTo>
                <a:lnTo>
                  <a:pt x="266573" y="66636"/>
                </a:lnTo>
                <a:lnTo>
                  <a:pt x="267016" y="77723"/>
                </a:lnTo>
                <a:lnTo>
                  <a:pt x="267080" y="79324"/>
                </a:lnTo>
                <a:lnTo>
                  <a:pt x="317753" y="77723"/>
                </a:lnTo>
                <a:lnTo>
                  <a:pt x="317421" y="66636"/>
                </a:lnTo>
                <a:lnTo>
                  <a:pt x="317373" y="65023"/>
                </a:lnTo>
                <a:close/>
              </a:path>
              <a:path w="1448434" h="88264">
                <a:moveTo>
                  <a:pt x="406273" y="62217"/>
                </a:moveTo>
                <a:lnTo>
                  <a:pt x="355473" y="63830"/>
                </a:lnTo>
                <a:lnTo>
                  <a:pt x="355805" y="74917"/>
                </a:lnTo>
                <a:lnTo>
                  <a:pt x="355853" y="76517"/>
                </a:lnTo>
                <a:lnTo>
                  <a:pt x="406653" y="74917"/>
                </a:lnTo>
                <a:lnTo>
                  <a:pt x="406321" y="63830"/>
                </a:lnTo>
                <a:lnTo>
                  <a:pt x="406273" y="62217"/>
                </a:lnTo>
                <a:close/>
              </a:path>
              <a:path w="1448434" h="88264">
                <a:moveTo>
                  <a:pt x="495046" y="59410"/>
                </a:moveTo>
                <a:lnTo>
                  <a:pt x="444373" y="61023"/>
                </a:lnTo>
                <a:lnTo>
                  <a:pt x="444705" y="72110"/>
                </a:lnTo>
                <a:lnTo>
                  <a:pt x="444753" y="73710"/>
                </a:lnTo>
                <a:lnTo>
                  <a:pt x="495553" y="72110"/>
                </a:lnTo>
                <a:lnTo>
                  <a:pt x="495110" y="61023"/>
                </a:lnTo>
                <a:lnTo>
                  <a:pt x="495046" y="59410"/>
                </a:lnTo>
                <a:close/>
              </a:path>
              <a:path w="1448434" h="88264">
                <a:moveTo>
                  <a:pt x="583946" y="56616"/>
                </a:moveTo>
                <a:lnTo>
                  <a:pt x="533146" y="58216"/>
                </a:lnTo>
                <a:lnTo>
                  <a:pt x="533478" y="69303"/>
                </a:lnTo>
                <a:lnTo>
                  <a:pt x="533526" y="70904"/>
                </a:lnTo>
                <a:lnTo>
                  <a:pt x="584326" y="69303"/>
                </a:lnTo>
                <a:lnTo>
                  <a:pt x="583994" y="58216"/>
                </a:lnTo>
                <a:lnTo>
                  <a:pt x="583946" y="56616"/>
                </a:lnTo>
                <a:close/>
              </a:path>
              <a:path w="1448434" h="88264">
                <a:moveTo>
                  <a:pt x="672846" y="53809"/>
                </a:moveTo>
                <a:lnTo>
                  <a:pt x="622046" y="55410"/>
                </a:lnTo>
                <a:lnTo>
                  <a:pt x="622378" y="66497"/>
                </a:lnTo>
                <a:lnTo>
                  <a:pt x="622426" y="68097"/>
                </a:lnTo>
                <a:lnTo>
                  <a:pt x="673226" y="66497"/>
                </a:lnTo>
                <a:lnTo>
                  <a:pt x="672894" y="55410"/>
                </a:lnTo>
                <a:lnTo>
                  <a:pt x="672846" y="53809"/>
                </a:lnTo>
                <a:close/>
              </a:path>
              <a:path w="1448434" h="88264">
                <a:moveTo>
                  <a:pt x="761619" y="51003"/>
                </a:moveTo>
                <a:lnTo>
                  <a:pt x="710946" y="52603"/>
                </a:lnTo>
                <a:lnTo>
                  <a:pt x="711278" y="63690"/>
                </a:lnTo>
                <a:lnTo>
                  <a:pt x="711326" y="65290"/>
                </a:lnTo>
                <a:lnTo>
                  <a:pt x="762126" y="63690"/>
                </a:lnTo>
                <a:lnTo>
                  <a:pt x="761683" y="52603"/>
                </a:lnTo>
                <a:lnTo>
                  <a:pt x="761619" y="51003"/>
                </a:lnTo>
                <a:close/>
              </a:path>
              <a:path w="1448434" h="88264">
                <a:moveTo>
                  <a:pt x="850519" y="48196"/>
                </a:moveTo>
                <a:lnTo>
                  <a:pt x="799719" y="49796"/>
                </a:lnTo>
                <a:lnTo>
                  <a:pt x="800051" y="60883"/>
                </a:lnTo>
                <a:lnTo>
                  <a:pt x="800100" y="62483"/>
                </a:lnTo>
                <a:lnTo>
                  <a:pt x="850900" y="60883"/>
                </a:lnTo>
                <a:lnTo>
                  <a:pt x="850567" y="49796"/>
                </a:lnTo>
                <a:lnTo>
                  <a:pt x="850519" y="48196"/>
                </a:lnTo>
                <a:close/>
              </a:path>
              <a:path w="1448434" h="88264">
                <a:moveTo>
                  <a:pt x="939419" y="45389"/>
                </a:moveTo>
                <a:lnTo>
                  <a:pt x="888619" y="46989"/>
                </a:lnTo>
                <a:lnTo>
                  <a:pt x="888951" y="58077"/>
                </a:lnTo>
                <a:lnTo>
                  <a:pt x="889000" y="59677"/>
                </a:lnTo>
                <a:lnTo>
                  <a:pt x="939800" y="58077"/>
                </a:lnTo>
                <a:lnTo>
                  <a:pt x="939467" y="46989"/>
                </a:lnTo>
                <a:lnTo>
                  <a:pt x="939419" y="45389"/>
                </a:lnTo>
                <a:close/>
              </a:path>
              <a:path w="1448434" h="88264">
                <a:moveTo>
                  <a:pt x="1028192" y="42583"/>
                </a:moveTo>
                <a:lnTo>
                  <a:pt x="977519" y="44183"/>
                </a:lnTo>
                <a:lnTo>
                  <a:pt x="977851" y="55270"/>
                </a:lnTo>
                <a:lnTo>
                  <a:pt x="977900" y="56883"/>
                </a:lnTo>
                <a:lnTo>
                  <a:pt x="1028700" y="55270"/>
                </a:lnTo>
                <a:lnTo>
                  <a:pt x="1028256" y="44183"/>
                </a:lnTo>
                <a:lnTo>
                  <a:pt x="1028192" y="42583"/>
                </a:lnTo>
                <a:close/>
              </a:path>
              <a:path w="1448434" h="88264">
                <a:moveTo>
                  <a:pt x="1117092" y="39776"/>
                </a:moveTo>
                <a:lnTo>
                  <a:pt x="1066292" y="41376"/>
                </a:lnTo>
                <a:lnTo>
                  <a:pt x="1066624" y="52463"/>
                </a:lnTo>
                <a:lnTo>
                  <a:pt x="1066673" y="54076"/>
                </a:lnTo>
                <a:lnTo>
                  <a:pt x="1117473" y="52463"/>
                </a:lnTo>
                <a:lnTo>
                  <a:pt x="1117140" y="41376"/>
                </a:lnTo>
                <a:lnTo>
                  <a:pt x="1117092" y="39776"/>
                </a:lnTo>
                <a:close/>
              </a:path>
              <a:path w="1448434" h="88264">
                <a:moveTo>
                  <a:pt x="1205992" y="36969"/>
                </a:moveTo>
                <a:lnTo>
                  <a:pt x="1155192" y="38569"/>
                </a:lnTo>
                <a:lnTo>
                  <a:pt x="1155524" y="49656"/>
                </a:lnTo>
                <a:lnTo>
                  <a:pt x="1155573" y="51269"/>
                </a:lnTo>
                <a:lnTo>
                  <a:pt x="1206373" y="49656"/>
                </a:lnTo>
                <a:lnTo>
                  <a:pt x="1206040" y="38569"/>
                </a:lnTo>
                <a:lnTo>
                  <a:pt x="1205992" y="36969"/>
                </a:lnTo>
                <a:close/>
              </a:path>
              <a:path w="1448434" h="88264">
                <a:moveTo>
                  <a:pt x="1294764" y="34162"/>
                </a:moveTo>
                <a:lnTo>
                  <a:pt x="1244092" y="35763"/>
                </a:lnTo>
                <a:lnTo>
                  <a:pt x="1244424" y="46850"/>
                </a:lnTo>
                <a:lnTo>
                  <a:pt x="1244473" y="48463"/>
                </a:lnTo>
                <a:lnTo>
                  <a:pt x="1295146" y="46850"/>
                </a:lnTo>
                <a:lnTo>
                  <a:pt x="1294813" y="35763"/>
                </a:lnTo>
                <a:lnTo>
                  <a:pt x="1294764" y="34162"/>
                </a:lnTo>
                <a:close/>
              </a:path>
              <a:path w="1448434" h="88264">
                <a:moveTo>
                  <a:pt x="1438692" y="31356"/>
                </a:moveTo>
                <a:lnTo>
                  <a:pt x="1383664" y="31356"/>
                </a:lnTo>
                <a:lnTo>
                  <a:pt x="1384046" y="44056"/>
                </a:lnTo>
                <a:lnTo>
                  <a:pt x="1372118" y="44432"/>
                </a:lnTo>
                <a:lnTo>
                  <a:pt x="1373124" y="76161"/>
                </a:lnTo>
                <a:lnTo>
                  <a:pt x="1448053" y="35674"/>
                </a:lnTo>
                <a:lnTo>
                  <a:pt x="1438692" y="31356"/>
                </a:lnTo>
                <a:close/>
              </a:path>
              <a:path w="1448434" h="88264">
                <a:moveTo>
                  <a:pt x="1371716" y="31732"/>
                </a:moveTo>
                <a:lnTo>
                  <a:pt x="1332864" y="32956"/>
                </a:lnTo>
                <a:lnTo>
                  <a:pt x="1333197" y="44056"/>
                </a:lnTo>
                <a:lnTo>
                  <a:pt x="1333246" y="45656"/>
                </a:lnTo>
                <a:lnTo>
                  <a:pt x="1372118" y="44432"/>
                </a:lnTo>
                <a:lnTo>
                  <a:pt x="1371841" y="35674"/>
                </a:lnTo>
                <a:lnTo>
                  <a:pt x="1371716" y="31732"/>
                </a:lnTo>
                <a:close/>
              </a:path>
              <a:path w="1448434" h="88264">
                <a:moveTo>
                  <a:pt x="1383664" y="31356"/>
                </a:moveTo>
                <a:lnTo>
                  <a:pt x="1371716" y="31732"/>
                </a:lnTo>
                <a:lnTo>
                  <a:pt x="1372106" y="44056"/>
                </a:lnTo>
                <a:lnTo>
                  <a:pt x="1372118" y="44432"/>
                </a:lnTo>
                <a:lnTo>
                  <a:pt x="1384046" y="44056"/>
                </a:lnTo>
                <a:lnTo>
                  <a:pt x="1383794" y="35674"/>
                </a:lnTo>
                <a:lnTo>
                  <a:pt x="1383676" y="31732"/>
                </a:lnTo>
                <a:lnTo>
                  <a:pt x="1383664" y="31356"/>
                </a:lnTo>
                <a:close/>
              </a:path>
              <a:path w="1448434" h="88264">
                <a:moveTo>
                  <a:pt x="1370710" y="0"/>
                </a:moveTo>
                <a:lnTo>
                  <a:pt x="1371704" y="31356"/>
                </a:lnTo>
                <a:lnTo>
                  <a:pt x="1371716" y="31732"/>
                </a:lnTo>
                <a:lnTo>
                  <a:pt x="1383664" y="31356"/>
                </a:lnTo>
                <a:lnTo>
                  <a:pt x="1438692" y="31356"/>
                </a:lnTo>
                <a:lnTo>
                  <a:pt x="1370710" y="0"/>
                </a:lnTo>
                <a:close/>
              </a:path>
            </a:pathLst>
          </a:custGeom>
          <a:solidFill>
            <a:srgbClr val="000000"/>
          </a:solidFill>
        </p:spPr>
        <p:txBody>
          <a:bodyPr wrap="square" lIns="0" tIns="0" rIns="0" bIns="0" rtlCol="0"/>
          <a:lstStyle/>
          <a:p>
            <a:endParaRPr/>
          </a:p>
        </p:txBody>
      </p:sp>
      <p:sp>
        <p:nvSpPr>
          <p:cNvPr id="10" name="object 10"/>
          <p:cNvSpPr txBox="1"/>
          <p:nvPr/>
        </p:nvSpPr>
        <p:spPr>
          <a:xfrm>
            <a:off x="7395209" y="6268923"/>
            <a:ext cx="115379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Times New Roman"/>
                <a:cs typeface="Times New Roman"/>
              </a:rPr>
              <a:t>&lt;&lt;extend&gt;&gt;</a:t>
            </a:r>
            <a:endParaRPr sz="1800">
              <a:latin typeface="Times New Roman"/>
              <a:cs typeface="Times New Roman"/>
            </a:endParaRPr>
          </a:p>
        </p:txBody>
      </p:sp>
      <p:sp>
        <p:nvSpPr>
          <p:cNvPr id="12" name="TextBox 11">
            <a:extLst>
              <a:ext uri="{FF2B5EF4-FFF2-40B4-BE49-F238E27FC236}">
                <a16:creationId xmlns:a16="http://schemas.microsoft.com/office/drawing/2014/main" id="{03F05022-6836-BBE0-930F-A59A0F725D97}"/>
              </a:ext>
            </a:extLst>
          </p:cNvPr>
          <p:cNvSpPr txBox="1"/>
          <p:nvPr/>
        </p:nvSpPr>
        <p:spPr>
          <a:xfrm>
            <a:off x="401637" y="153924"/>
            <a:ext cx="8513763" cy="707886"/>
          </a:xfrm>
          <a:prstGeom prst="rect">
            <a:avLst/>
          </a:prstGeom>
          <a:noFill/>
        </p:spPr>
        <p:txBody>
          <a:bodyPr wrap="square">
            <a:spAutoFit/>
          </a:bodyPr>
          <a:lstStyle/>
          <a:p>
            <a:r>
              <a:rPr lang="en-US" sz="4000" b="1" dirty="0">
                <a:solidFill>
                  <a:srgbClr val="C00000"/>
                </a:solidFill>
                <a:latin typeface="Calibri"/>
                <a:cs typeface="Calibri"/>
              </a:rPr>
              <a:t>Relationship in use case diagram</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3E11B24-D25A-DD17-AA14-D51472CF4FA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BE2B91C-A8F6-AB59-B899-14F64CB427B0}"/>
              </a:ext>
            </a:extLst>
          </p:cNvPr>
          <p:cNvSpPr txBox="1">
            <a:spLocks noGrp="1"/>
          </p:cNvSpPr>
          <p:nvPr>
            <p:ph type="title"/>
          </p:nvPr>
        </p:nvSpPr>
        <p:spPr>
          <a:xfrm>
            <a:off x="762000" y="76200"/>
            <a:ext cx="8229599" cy="627736"/>
          </a:xfrm>
          <a:prstGeom prst="rect">
            <a:avLst/>
          </a:prstGeom>
        </p:spPr>
        <p:txBody>
          <a:bodyPr vert="horz" wrap="square" lIns="0" tIns="12065" rIns="0" bIns="0" rtlCol="0">
            <a:spAutoFit/>
          </a:bodyPr>
          <a:lstStyle/>
          <a:p>
            <a:pPr marL="12700">
              <a:lnSpc>
                <a:spcPct val="100000"/>
              </a:lnSpc>
              <a:spcBef>
                <a:spcPts val="95"/>
              </a:spcBef>
            </a:pPr>
            <a:r>
              <a:rPr lang="en-US" sz="4000" b="1" dirty="0">
                <a:solidFill>
                  <a:srgbClr val="C00000"/>
                </a:solidFill>
                <a:latin typeface="Calibri"/>
                <a:cs typeface="Calibri"/>
              </a:rPr>
              <a:t>Relationship in use case diagram cont.</a:t>
            </a:r>
            <a:endParaRPr sz="4000" dirty="0">
              <a:latin typeface="Calibri"/>
              <a:cs typeface="Calibri"/>
            </a:endParaRPr>
          </a:p>
        </p:txBody>
      </p:sp>
      <p:sp>
        <p:nvSpPr>
          <p:cNvPr id="3" name="object 3">
            <a:extLst>
              <a:ext uri="{FF2B5EF4-FFF2-40B4-BE49-F238E27FC236}">
                <a16:creationId xmlns:a16="http://schemas.microsoft.com/office/drawing/2014/main" id="{3DA9D445-FF1F-E399-27EA-A83EFABF58E2}"/>
              </a:ext>
            </a:extLst>
          </p:cNvPr>
          <p:cNvSpPr txBox="1"/>
          <p:nvPr/>
        </p:nvSpPr>
        <p:spPr>
          <a:xfrm>
            <a:off x="228600" y="1121277"/>
            <a:ext cx="8686799" cy="5660523"/>
          </a:xfrm>
          <a:prstGeom prst="rect">
            <a:avLst/>
          </a:prstGeom>
        </p:spPr>
        <p:txBody>
          <a:bodyPr vert="horz" wrap="square" lIns="0" tIns="58419" rIns="0" bIns="0" rtlCol="0">
            <a:spAutoFit/>
          </a:bodyPr>
          <a:lstStyle/>
          <a:p>
            <a:r>
              <a:rPr lang="en-US" sz="2600" b="1" dirty="0"/>
              <a:t>1. Association:</a:t>
            </a:r>
          </a:p>
          <a:p>
            <a:pPr marL="342900" indent="-342900">
              <a:buFont typeface="Wingdings" panose="05000000000000000000" pitchFamily="2" charset="2"/>
              <a:buChar char="§"/>
            </a:pPr>
            <a:r>
              <a:rPr lang="en-US" sz="2600" dirty="0"/>
              <a:t>An association represents a basic communication link between an actor and a use case.</a:t>
            </a:r>
          </a:p>
          <a:p>
            <a:pPr marL="342900" indent="-342900">
              <a:buFont typeface="Wingdings" panose="05000000000000000000" pitchFamily="2" charset="2"/>
              <a:buChar char="§"/>
            </a:pPr>
            <a:r>
              <a:rPr lang="en-US" sz="2600" dirty="0"/>
              <a:t>It indicates that an actor initiates or interacts with a use case to achieve a specific goal.</a:t>
            </a:r>
          </a:p>
          <a:p>
            <a:pPr marL="342900" indent="-342900">
              <a:buFont typeface="Wingdings" panose="05000000000000000000" pitchFamily="2" charset="2"/>
              <a:buChar char="§"/>
            </a:pPr>
            <a:r>
              <a:rPr lang="en-US" sz="2600" b="1" dirty="0"/>
              <a:t>Notation:</a:t>
            </a:r>
            <a:r>
              <a:rPr lang="en-US" sz="2600" dirty="0"/>
              <a:t> A solid line connecting an actor to a use case.</a:t>
            </a:r>
          </a:p>
          <a:p>
            <a:r>
              <a:rPr lang="en-US" sz="2600" b="1" dirty="0"/>
              <a:t>2. Generalization:</a:t>
            </a:r>
          </a:p>
          <a:p>
            <a:pPr marL="342900" indent="-342900">
              <a:buFont typeface="Wingdings" panose="05000000000000000000" pitchFamily="2" charset="2"/>
              <a:buChar char="§"/>
            </a:pPr>
            <a:r>
              <a:rPr lang="en-US" sz="2600" dirty="0"/>
              <a:t>Generalization represents an "is-a" relationship, indicating that one element (actor or use case) is a specialized version of another, more general element.</a:t>
            </a:r>
          </a:p>
          <a:p>
            <a:pPr marL="342900" indent="-342900">
              <a:buFont typeface="Wingdings" panose="05000000000000000000" pitchFamily="2" charset="2"/>
              <a:buChar char="§"/>
            </a:pPr>
            <a:r>
              <a:rPr lang="en-US" sz="2600" b="1" dirty="0"/>
              <a:t>For Actors:</a:t>
            </a:r>
            <a:r>
              <a:rPr lang="en-US" sz="2600" dirty="0"/>
              <a:t> A child actor inherits the capabilities and interactions of its parent actor. For example, a "Bank Teller" actor might generalize a "Bank Employee" actor.</a:t>
            </a:r>
          </a:p>
          <a:p>
            <a:pPr marL="342900" indent="-342900">
              <a:buFont typeface="Wingdings" panose="05000000000000000000" pitchFamily="2" charset="2"/>
              <a:buChar char="§"/>
            </a:pPr>
            <a:endParaRPr lang="en-US" sz="2600" dirty="0"/>
          </a:p>
        </p:txBody>
      </p:sp>
    </p:spTree>
    <p:extLst>
      <p:ext uri="{BB962C8B-B14F-4D97-AF65-F5344CB8AC3E}">
        <p14:creationId xmlns:p14="http://schemas.microsoft.com/office/powerpoint/2010/main" val="3062194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420928C-1049-E3C2-8E86-1FCBEE5E867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28BCC6B-DEA2-509A-484C-CE0376FF7B22}"/>
              </a:ext>
            </a:extLst>
          </p:cNvPr>
          <p:cNvSpPr txBox="1">
            <a:spLocks noGrp="1"/>
          </p:cNvSpPr>
          <p:nvPr>
            <p:ph type="title"/>
          </p:nvPr>
        </p:nvSpPr>
        <p:spPr>
          <a:xfrm>
            <a:off x="762000" y="76200"/>
            <a:ext cx="8229599" cy="627736"/>
          </a:xfrm>
          <a:prstGeom prst="rect">
            <a:avLst/>
          </a:prstGeom>
        </p:spPr>
        <p:txBody>
          <a:bodyPr vert="horz" wrap="square" lIns="0" tIns="12065" rIns="0" bIns="0" rtlCol="0">
            <a:spAutoFit/>
          </a:bodyPr>
          <a:lstStyle/>
          <a:p>
            <a:pPr marL="12700">
              <a:lnSpc>
                <a:spcPct val="100000"/>
              </a:lnSpc>
              <a:spcBef>
                <a:spcPts val="95"/>
              </a:spcBef>
            </a:pPr>
            <a:r>
              <a:rPr lang="en-US" sz="4000" b="1" dirty="0">
                <a:solidFill>
                  <a:srgbClr val="C00000"/>
                </a:solidFill>
                <a:latin typeface="Calibri"/>
                <a:cs typeface="Calibri"/>
              </a:rPr>
              <a:t>Relationship in use case diagram cont.</a:t>
            </a:r>
            <a:endParaRPr sz="4000" dirty="0">
              <a:latin typeface="Calibri"/>
              <a:cs typeface="Calibri"/>
            </a:endParaRPr>
          </a:p>
        </p:txBody>
      </p:sp>
      <p:sp>
        <p:nvSpPr>
          <p:cNvPr id="3" name="object 3">
            <a:extLst>
              <a:ext uri="{FF2B5EF4-FFF2-40B4-BE49-F238E27FC236}">
                <a16:creationId xmlns:a16="http://schemas.microsoft.com/office/drawing/2014/main" id="{B0B52481-E33C-20AC-D291-A3E56E082E74}"/>
              </a:ext>
            </a:extLst>
          </p:cNvPr>
          <p:cNvSpPr txBox="1"/>
          <p:nvPr/>
        </p:nvSpPr>
        <p:spPr>
          <a:xfrm>
            <a:off x="152399" y="703936"/>
            <a:ext cx="8839200" cy="6076021"/>
          </a:xfrm>
          <a:prstGeom prst="rect">
            <a:avLst/>
          </a:prstGeom>
        </p:spPr>
        <p:txBody>
          <a:bodyPr vert="horz" wrap="square" lIns="0" tIns="58419" rIns="0" bIns="0" rtlCol="0">
            <a:spAutoFit/>
          </a:bodyPr>
          <a:lstStyle/>
          <a:p>
            <a:pPr marL="342900" indent="-342900">
              <a:buFont typeface="Wingdings" panose="05000000000000000000" pitchFamily="2" charset="2"/>
              <a:buChar char="§"/>
            </a:pPr>
            <a:r>
              <a:rPr lang="en-US" sz="2300" b="1" dirty="0"/>
              <a:t>For Use Cases:</a:t>
            </a:r>
            <a:r>
              <a:rPr lang="en-US" sz="2300" dirty="0"/>
              <a:t> A child use case inherits the functionality of its parent use case and may add specific variations or extensions. For example, "Process International Transfer" might generalize "Process Transfer."</a:t>
            </a:r>
          </a:p>
          <a:p>
            <a:pPr marL="342900" indent="-342900">
              <a:buFont typeface="Wingdings" panose="05000000000000000000" pitchFamily="2" charset="2"/>
              <a:buChar char="§"/>
            </a:pPr>
            <a:r>
              <a:rPr lang="en-US" sz="2300" b="1" dirty="0"/>
              <a:t>Notation:</a:t>
            </a:r>
            <a:r>
              <a:rPr lang="en-US" sz="2300" dirty="0"/>
              <a:t> A solid line with an unfilled triangular arrowhead pointing from the specialized element (child) to the general element (parent).</a:t>
            </a:r>
            <a:endParaRPr lang="en-US" sz="2300" b="1" dirty="0"/>
          </a:p>
          <a:p>
            <a:r>
              <a:rPr lang="en-US" sz="2300" b="1" dirty="0"/>
              <a:t>3. Include (&lt;&lt;include&gt;&gt;):</a:t>
            </a:r>
          </a:p>
          <a:p>
            <a:pPr marL="342900" indent="-342900">
              <a:buFont typeface="Wingdings" panose="05000000000000000000" pitchFamily="2" charset="2"/>
              <a:buChar char="§"/>
            </a:pPr>
            <a:r>
              <a:rPr lang="en-US" sz="2300" dirty="0"/>
              <a:t>The include relationship represents a mandatory dependency where one use case (the base use case) incorporates the behavior of another use case (the included use case).</a:t>
            </a:r>
          </a:p>
          <a:p>
            <a:pPr marL="342900" indent="-342900">
              <a:buFont typeface="Wingdings" panose="05000000000000000000" pitchFamily="2" charset="2"/>
              <a:buChar char="§"/>
            </a:pPr>
            <a:r>
              <a:rPr lang="en-US" sz="2300" dirty="0"/>
              <a:t>The included use case is a necessary part of the base use case's functionality and cannot exist independently in that context. It is often used to factor out common, reusable behavior.</a:t>
            </a:r>
          </a:p>
          <a:p>
            <a:pPr marL="342900" indent="-342900">
              <a:buFont typeface="Wingdings" panose="05000000000000000000" pitchFamily="2" charset="2"/>
              <a:buChar char="§"/>
            </a:pPr>
            <a:r>
              <a:rPr lang="en-US" sz="2300" b="1" dirty="0"/>
              <a:t>Notation:</a:t>
            </a:r>
            <a:r>
              <a:rPr lang="en-US" sz="2300" dirty="0"/>
              <a:t> A dashed arrow with an open arrowhead pointing from the base use case to the included use case, labeled with the stereotype &lt;&lt;include&gt;&gt;.</a:t>
            </a:r>
          </a:p>
        </p:txBody>
      </p:sp>
    </p:spTree>
    <p:extLst>
      <p:ext uri="{BB962C8B-B14F-4D97-AF65-F5344CB8AC3E}">
        <p14:creationId xmlns:p14="http://schemas.microsoft.com/office/powerpoint/2010/main" val="3845077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B2A35EC-09F5-F9BF-CF18-37FA443D04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2C19A51-34F1-CBC8-B572-DDB3CF915A2B}"/>
              </a:ext>
            </a:extLst>
          </p:cNvPr>
          <p:cNvSpPr txBox="1">
            <a:spLocks noGrp="1"/>
          </p:cNvSpPr>
          <p:nvPr>
            <p:ph type="title"/>
          </p:nvPr>
        </p:nvSpPr>
        <p:spPr>
          <a:xfrm>
            <a:off x="762000" y="76200"/>
            <a:ext cx="8229599" cy="627736"/>
          </a:xfrm>
          <a:prstGeom prst="rect">
            <a:avLst/>
          </a:prstGeom>
        </p:spPr>
        <p:txBody>
          <a:bodyPr vert="horz" wrap="square" lIns="0" tIns="12065" rIns="0" bIns="0" rtlCol="0">
            <a:spAutoFit/>
          </a:bodyPr>
          <a:lstStyle/>
          <a:p>
            <a:pPr marL="12700">
              <a:lnSpc>
                <a:spcPct val="100000"/>
              </a:lnSpc>
              <a:spcBef>
                <a:spcPts val="95"/>
              </a:spcBef>
            </a:pPr>
            <a:r>
              <a:rPr lang="en-US" sz="4000" b="1" dirty="0">
                <a:solidFill>
                  <a:srgbClr val="C00000"/>
                </a:solidFill>
                <a:latin typeface="Calibri"/>
                <a:cs typeface="Calibri"/>
              </a:rPr>
              <a:t>Relationship in use case diagram cont.</a:t>
            </a:r>
            <a:endParaRPr sz="4000" dirty="0">
              <a:latin typeface="Calibri"/>
              <a:cs typeface="Calibri"/>
            </a:endParaRPr>
          </a:p>
        </p:txBody>
      </p:sp>
      <p:sp>
        <p:nvSpPr>
          <p:cNvPr id="3" name="object 3">
            <a:extLst>
              <a:ext uri="{FF2B5EF4-FFF2-40B4-BE49-F238E27FC236}">
                <a16:creationId xmlns:a16="http://schemas.microsoft.com/office/drawing/2014/main" id="{49C9DAC6-844B-DE74-E0AA-944B114AD457}"/>
              </a:ext>
            </a:extLst>
          </p:cNvPr>
          <p:cNvSpPr txBox="1"/>
          <p:nvPr/>
        </p:nvSpPr>
        <p:spPr>
          <a:xfrm>
            <a:off x="152399" y="703936"/>
            <a:ext cx="8839200" cy="6091410"/>
          </a:xfrm>
          <a:prstGeom prst="rect">
            <a:avLst/>
          </a:prstGeom>
        </p:spPr>
        <p:txBody>
          <a:bodyPr vert="horz" wrap="square" lIns="0" tIns="58419" rIns="0" bIns="0" rtlCol="0">
            <a:spAutoFit/>
          </a:bodyPr>
          <a:lstStyle/>
          <a:p>
            <a:pPr algn="l"/>
            <a:r>
              <a:rPr lang="en-US" sz="2800" b="1" dirty="0"/>
              <a:t>4. Extend (&lt;&lt;extend&gt;&gt;)</a:t>
            </a:r>
          </a:p>
          <a:p>
            <a:pPr marL="342900" indent="-342900">
              <a:buFont typeface="Wingdings" panose="05000000000000000000" pitchFamily="2" charset="2"/>
              <a:buChar char="§"/>
            </a:pPr>
            <a:r>
              <a:rPr lang="en-US" sz="2800" dirty="0"/>
              <a:t>The extend relationship represents an optional extension of a base use case's behavior under specific conditions.</a:t>
            </a:r>
          </a:p>
          <a:p>
            <a:pPr marL="342900" indent="-342900">
              <a:buFont typeface="Wingdings" panose="05000000000000000000" pitchFamily="2" charset="2"/>
              <a:buChar char="§"/>
            </a:pPr>
            <a:r>
              <a:rPr lang="en-US" sz="2800" dirty="0"/>
              <a:t>The extending use case provides additional functionality that may or may not be executed, depending on certain extension points or conditions within the base use case. The base use case can be complete and meaningful without the extension.</a:t>
            </a:r>
          </a:p>
          <a:p>
            <a:pPr marL="342900" indent="-342900">
              <a:buFont typeface="Wingdings" panose="05000000000000000000" pitchFamily="2" charset="2"/>
              <a:buChar char="§"/>
            </a:pPr>
            <a:r>
              <a:rPr lang="en-US" sz="2800" b="1" dirty="0"/>
              <a:t>Notation:</a:t>
            </a:r>
            <a:r>
              <a:rPr lang="en-US" sz="2800" dirty="0"/>
              <a:t> A dashed arrow with an open arrowhead pointing from the extending use case to the base use case, labeled with the stereotype &lt;&lt;extend&gt;&gt;. Extension points in the base use case can be specified.</a:t>
            </a:r>
          </a:p>
        </p:txBody>
      </p:sp>
    </p:spTree>
    <p:extLst>
      <p:ext uri="{BB962C8B-B14F-4D97-AF65-F5344CB8AC3E}">
        <p14:creationId xmlns:p14="http://schemas.microsoft.com/office/powerpoint/2010/main" val="815196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838" rIns="0" bIns="0" rtlCol="0">
            <a:spAutoFit/>
          </a:bodyPr>
          <a:lstStyle/>
          <a:p>
            <a:pPr marL="539750">
              <a:lnSpc>
                <a:spcPct val="100000"/>
              </a:lnSpc>
              <a:spcBef>
                <a:spcPts val="95"/>
              </a:spcBef>
            </a:pPr>
            <a:r>
              <a:rPr sz="4000" b="1" dirty="0">
                <a:solidFill>
                  <a:srgbClr val="C00000"/>
                </a:solidFill>
                <a:latin typeface="Calibri"/>
                <a:cs typeface="Calibri"/>
              </a:rPr>
              <a:t>An</a:t>
            </a:r>
            <a:r>
              <a:rPr sz="4000" b="1" spc="-80" dirty="0">
                <a:solidFill>
                  <a:srgbClr val="C00000"/>
                </a:solidFill>
                <a:latin typeface="Calibri"/>
                <a:cs typeface="Calibri"/>
              </a:rPr>
              <a:t> </a:t>
            </a:r>
            <a:r>
              <a:rPr sz="4000" b="1" spc="-10" dirty="0">
                <a:solidFill>
                  <a:srgbClr val="C00000"/>
                </a:solidFill>
                <a:latin typeface="Calibri"/>
                <a:cs typeface="Calibri"/>
              </a:rPr>
              <a:t>Example</a:t>
            </a:r>
            <a:r>
              <a:rPr sz="4000" b="1" spc="-70" dirty="0">
                <a:solidFill>
                  <a:srgbClr val="C00000"/>
                </a:solidFill>
                <a:latin typeface="Calibri"/>
                <a:cs typeface="Calibri"/>
              </a:rPr>
              <a:t> </a:t>
            </a:r>
            <a:r>
              <a:rPr sz="4000" b="1" dirty="0">
                <a:solidFill>
                  <a:srgbClr val="C00000"/>
                </a:solidFill>
                <a:latin typeface="Calibri"/>
                <a:cs typeface="Calibri"/>
              </a:rPr>
              <a:t>of</a:t>
            </a:r>
            <a:r>
              <a:rPr sz="4000" b="1" spc="-80" dirty="0">
                <a:solidFill>
                  <a:srgbClr val="C00000"/>
                </a:solidFill>
                <a:latin typeface="Calibri"/>
                <a:cs typeface="Calibri"/>
              </a:rPr>
              <a:t> </a:t>
            </a:r>
            <a:r>
              <a:rPr sz="4000" b="1" dirty="0">
                <a:solidFill>
                  <a:srgbClr val="C00000"/>
                </a:solidFill>
                <a:latin typeface="Calibri"/>
                <a:cs typeface="Calibri"/>
              </a:rPr>
              <a:t>Use</a:t>
            </a:r>
            <a:r>
              <a:rPr sz="4000" b="1" spc="-80" dirty="0">
                <a:solidFill>
                  <a:srgbClr val="C00000"/>
                </a:solidFill>
                <a:latin typeface="Calibri"/>
                <a:cs typeface="Calibri"/>
              </a:rPr>
              <a:t> </a:t>
            </a:r>
            <a:r>
              <a:rPr sz="4000" b="1" dirty="0">
                <a:solidFill>
                  <a:srgbClr val="C00000"/>
                </a:solidFill>
                <a:latin typeface="Calibri"/>
                <a:cs typeface="Calibri"/>
              </a:rPr>
              <a:t>Case</a:t>
            </a:r>
            <a:r>
              <a:rPr sz="4000" b="1" spc="-75" dirty="0">
                <a:solidFill>
                  <a:srgbClr val="C00000"/>
                </a:solidFill>
                <a:latin typeface="Calibri"/>
                <a:cs typeface="Calibri"/>
              </a:rPr>
              <a:t> </a:t>
            </a:r>
            <a:r>
              <a:rPr sz="4000" b="1" spc="-10" dirty="0">
                <a:solidFill>
                  <a:srgbClr val="C00000"/>
                </a:solidFill>
                <a:latin typeface="Calibri"/>
                <a:cs typeface="Calibri"/>
              </a:rPr>
              <a:t>Diagram</a:t>
            </a:r>
            <a:endParaRPr sz="4000">
              <a:latin typeface="Calibri"/>
              <a:cs typeface="Calibri"/>
            </a:endParaRPr>
          </a:p>
        </p:txBody>
      </p:sp>
      <p:pic>
        <p:nvPicPr>
          <p:cNvPr id="3" name="object 3"/>
          <p:cNvPicPr/>
          <p:nvPr/>
        </p:nvPicPr>
        <p:blipFill>
          <a:blip r:embed="rId2" cstate="print"/>
          <a:stretch>
            <a:fillRect/>
          </a:stretch>
        </p:blipFill>
        <p:spPr>
          <a:xfrm>
            <a:off x="744966" y="1448377"/>
            <a:ext cx="7408246" cy="443121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42682" y="228597"/>
            <a:ext cx="6575394" cy="662940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5800" y="470914"/>
            <a:ext cx="7812024" cy="6221351"/>
          </a:xfrm>
          <a:prstGeom prst="rect">
            <a:avLst/>
          </a:prstGeom>
        </p:spPr>
      </p:pic>
      <p:sp>
        <p:nvSpPr>
          <p:cNvPr id="3" name="object 3"/>
          <p:cNvSpPr txBox="1">
            <a:spLocks noGrp="1"/>
          </p:cNvSpPr>
          <p:nvPr>
            <p:ph type="title"/>
          </p:nvPr>
        </p:nvSpPr>
        <p:spPr>
          <a:prstGeom prst="rect">
            <a:avLst/>
          </a:prstGeom>
        </p:spPr>
        <p:txBody>
          <a:bodyPr vert="horz" wrap="square" lIns="0" tIns="93471" rIns="0" bIns="0" rtlCol="0">
            <a:spAutoFit/>
          </a:bodyPr>
          <a:lstStyle/>
          <a:p>
            <a:pPr marL="3479800">
              <a:lnSpc>
                <a:spcPct val="100000"/>
              </a:lnSpc>
              <a:spcBef>
                <a:spcPts val="100"/>
              </a:spcBef>
            </a:pPr>
            <a:r>
              <a:rPr sz="2400" spc="-10" dirty="0">
                <a:solidFill>
                  <a:srgbClr val="C00000"/>
                </a:solidFill>
              </a:rPr>
              <a:t>Example:</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74472" rIns="0" bIns="0" rtlCol="0">
            <a:spAutoFit/>
          </a:bodyPr>
          <a:lstStyle/>
          <a:p>
            <a:pPr marL="252095">
              <a:lnSpc>
                <a:spcPct val="100000"/>
              </a:lnSpc>
              <a:spcBef>
                <a:spcPts val="95"/>
              </a:spcBef>
            </a:pPr>
            <a:r>
              <a:rPr sz="2800" b="1" dirty="0">
                <a:solidFill>
                  <a:srgbClr val="C00000"/>
                </a:solidFill>
                <a:latin typeface="Times New Roman"/>
                <a:cs typeface="Times New Roman"/>
              </a:rPr>
              <a:t>Use</a:t>
            </a:r>
            <a:r>
              <a:rPr sz="2800" b="1" spc="-70" dirty="0">
                <a:solidFill>
                  <a:srgbClr val="C00000"/>
                </a:solidFill>
                <a:latin typeface="Times New Roman"/>
                <a:cs typeface="Times New Roman"/>
              </a:rPr>
              <a:t> </a:t>
            </a:r>
            <a:r>
              <a:rPr sz="2800" b="1" dirty="0">
                <a:solidFill>
                  <a:srgbClr val="C00000"/>
                </a:solidFill>
                <a:latin typeface="Times New Roman"/>
                <a:cs typeface="Times New Roman"/>
              </a:rPr>
              <a:t>case</a:t>
            </a:r>
            <a:r>
              <a:rPr sz="2800" b="1" spc="-45" dirty="0">
                <a:solidFill>
                  <a:srgbClr val="C00000"/>
                </a:solidFill>
                <a:latin typeface="Times New Roman"/>
                <a:cs typeface="Times New Roman"/>
              </a:rPr>
              <a:t> </a:t>
            </a:r>
            <a:r>
              <a:rPr sz="2800" b="1" dirty="0">
                <a:solidFill>
                  <a:srgbClr val="C00000"/>
                </a:solidFill>
                <a:latin typeface="Times New Roman"/>
                <a:cs typeface="Times New Roman"/>
              </a:rPr>
              <a:t>Diagram</a:t>
            </a:r>
            <a:r>
              <a:rPr sz="2800" b="1" spc="-45" dirty="0">
                <a:solidFill>
                  <a:srgbClr val="C00000"/>
                </a:solidFill>
                <a:latin typeface="Times New Roman"/>
                <a:cs typeface="Times New Roman"/>
              </a:rPr>
              <a:t> </a:t>
            </a:r>
            <a:r>
              <a:rPr sz="2800" b="1" dirty="0">
                <a:solidFill>
                  <a:srgbClr val="C00000"/>
                </a:solidFill>
                <a:latin typeface="Times New Roman"/>
                <a:cs typeface="Times New Roman"/>
              </a:rPr>
              <a:t>for</a:t>
            </a:r>
            <a:r>
              <a:rPr sz="2800" b="1" spc="-95" dirty="0">
                <a:solidFill>
                  <a:srgbClr val="C00000"/>
                </a:solidFill>
                <a:latin typeface="Times New Roman"/>
                <a:cs typeface="Times New Roman"/>
              </a:rPr>
              <a:t> </a:t>
            </a:r>
            <a:r>
              <a:rPr sz="2800" b="1" spc="-10" dirty="0">
                <a:solidFill>
                  <a:srgbClr val="C00000"/>
                </a:solidFill>
                <a:latin typeface="Times New Roman"/>
                <a:cs typeface="Times New Roman"/>
              </a:rPr>
              <a:t>Passport</a:t>
            </a:r>
            <a:r>
              <a:rPr sz="2800" b="1" spc="-165" dirty="0">
                <a:solidFill>
                  <a:srgbClr val="C00000"/>
                </a:solidFill>
                <a:latin typeface="Times New Roman"/>
                <a:cs typeface="Times New Roman"/>
              </a:rPr>
              <a:t> </a:t>
            </a:r>
            <a:r>
              <a:rPr sz="2800" b="1" dirty="0">
                <a:solidFill>
                  <a:srgbClr val="C00000"/>
                </a:solidFill>
                <a:latin typeface="Times New Roman"/>
                <a:cs typeface="Times New Roman"/>
              </a:rPr>
              <a:t>Automation</a:t>
            </a:r>
            <a:r>
              <a:rPr sz="2800" b="1" spc="-35" dirty="0">
                <a:solidFill>
                  <a:srgbClr val="C00000"/>
                </a:solidFill>
                <a:latin typeface="Times New Roman"/>
                <a:cs typeface="Times New Roman"/>
              </a:rPr>
              <a:t> </a:t>
            </a:r>
            <a:r>
              <a:rPr sz="2800" b="1" spc="-10" dirty="0">
                <a:solidFill>
                  <a:srgbClr val="C00000"/>
                </a:solidFill>
                <a:latin typeface="Times New Roman"/>
                <a:cs typeface="Times New Roman"/>
              </a:rPr>
              <a:t>System</a:t>
            </a:r>
            <a:endParaRPr sz="2800">
              <a:latin typeface="Times New Roman"/>
              <a:cs typeface="Times New Roman"/>
            </a:endParaRPr>
          </a:p>
        </p:txBody>
      </p:sp>
      <p:pic>
        <p:nvPicPr>
          <p:cNvPr id="3" name="object 3"/>
          <p:cNvPicPr/>
          <p:nvPr/>
        </p:nvPicPr>
        <p:blipFill>
          <a:blip r:embed="rId2" cstate="print"/>
          <a:stretch>
            <a:fillRect/>
          </a:stretch>
        </p:blipFill>
        <p:spPr>
          <a:xfrm>
            <a:off x="762000" y="990598"/>
            <a:ext cx="7403592" cy="58674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0642" y="283210"/>
            <a:ext cx="3439795" cy="635000"/>
          </a:xfrm>
          <a:prstGeom prst="rect">
            <a:avLst/>
          </a:prstGeom>
        </p:spPr>
        <p:txBody>
          <a:bodyPr vert="horz" wrap="square" lIns="0" tIns="12065" rIns="0" bIns="0" rtlCol="0">
            <a:spAutoFit/>
          </a:bodyPr>
          <a:lstStyle/>
          <a:p>
            <a:pPr marL="12700">
              <a:lnSpc>
                <a:spcPct val="100000"/>
              </a:lnSpc>
              <a:spcBef>
                <a:spcPts val="95"/>
              </a:spcBef>
            </a:pPr>
            <a:r>
              <a:rPr sz="4000" dirty="0">
                <a:solidFill>
                  <a:srgbClr val="C00000"/>
                </a:solidFill>
              </a:rPr>
              <a:t>CLASS</a:t>
            </a:r>
            <a:r>
              <a:rPr sz="4000" spc="-120" dirty="0">
                <a:solidFill>
                  <a:srgbClr val="C00000"/>
                </a:solidFill>
              </a:rPr>
              <a:t> </a:t>
            </a:r>
            <a:r>
              <a:rPr sz="4000" spc="-10" dirty="0">
                <a:solidFill>
                  <a:srgbClr val="C00000"/>
                </a:solidFill>
              </a:rPr>
              <a:t>DIAGRAM</a:t>
            </a:r>
            <a:endParaRPr sz="4000"/>
          </a:p>
        </p:txBody>
      </p:sp>
      <p:sp>
        <p:nvSpPr>
          <p:cNvPr id="3" name="object 3"/>
          <p:cNvSpPr txBox="1">
            <a:spLocks noGrp="1"/>
          </p:cNvSpPr>
          <p:nvPr>
            <p:ph type="body" idx="1"/>
          </p:nvPr>
        </p:nvSpPr>
        <p:spPr>
          <a:prstGeom prst="rect">
            <a:avLst/>
          </a:prstGeom>
        </p:spPr>
        <p:txBody>
          <a:bodyPr vert="horz" wrap="square" lIns="0" tIns="64135" rIns="0" bIns="0" rtlCol="0">
            <a:spAutoFit/>
          </a:bodyPr>
          <a:lstStyle/>
          <a:p>
            <a:pPr marL="355600" marR="7620" indent="-342900" algn="just">
              <a:lnSpc>
                <a:spcPts val="3240"/>
              </a:lnSpc>
              <a:spcBef>
                <a:spcPts val="505"/>
              </a:spcBef>
              <a:buFont typeface="Arial MT"/>
              <a:buChar char="•"/>
              <a:tabLst>
                <a:tab pos="355600" algn="l"/>
              </a:tabLst>
            </a:pPr>
            <a:r>
              <a:rPr dirty="0"/>
              <a:t>The</a:t>
            </a:r>
            <a:r>
              <a:rPr spc="575" dirty="0"/>
              <a:t>  </a:t>
            </a:r>
            <a:r>
              <a:rPr dirty="0"/>
              <a:t>class</a:t>
            </a:r>
            <a:r>
              <a:rPr spc="590" dirty="0"/>
              <a:t>  </a:t>
            </a:r>
            <a:r>
              <a:rPr dirty="0"/>
              <a:t>diagram</a:t>
            </a:r>
            <a:r>
              <a:rPr spc="580" dirty="0"/>
              <a:t>  </a:t>
            </a:r>
            <a:r>
              <a:rPr dirty="0"/>
              <a:t>is</a:t>
            </a:r>
            <a:r>
              <a:rPr spc="585" dirty="0"/>
              <a:t>  </a:t>
            </a:r>
            <a:r>
              <a:rPr dirty="0"/>
              <a:t>a</a:t>
            </a:r>
            <a:r>
              <a:rPr spc="580" dirty="0"/>
              <a:t>  </a:t>
            </a:r>
            <a:r>
              <a:rPr dirty="0"/>
              <a:t>static</a:t>
            </a:r>
            <a:r>
              <a:rPr spc="580" dirty="0"/>
              <a:t>  </a:t>
            </a:r>
            <a:r>
              <a:rPr dirty="0"/>
              <a:t>diagram.</a:t>
            </a:r>
            <a:r>
              <a:rPr spc="590" dirty="0"/>
              <a:t>  </a:t>
            </a:r>
            <a:r>
              <a:rPr spc="-25" dirty="0"/>
              <a:t>It </a:t>
            </a:r>
            <a:r>
              <a:rPr dirty="0"/>
              <a:t>represents</a:t>
            </a:r>
            <a:r>
              <a:rPr spc="-75" dirty="0"/>
              <a:t> </a:t>
            </a:r>
            <a:r>
              <a:rPr dirty="0"/>
              <a:t>the</a:t>
            </a:r>
            <a:r>
              <a:rPr spc="-70" dirty="0"/>
              <a:t> </a:t>
            </a:r>
            <a:r>
              <a:rPr dirty="0"/>
              <a:t>static</a:t>
            </a:r>
            <a:r>
              <a:rPr spc="-85" dirty="0"/>
              <a:t> </a:t>
            </a:r>
            <a:r>
              <a:rPr dirty="0"/>
              <a:t>view</a:t>
            </a:r>
            <a:r>
              <a:rPr spc="-60" dirty="0"/>
              <a:t> </a:t>
            </a:r>
            <a:r>
              <a:rPr dirty="0"/>
              <a:t>of</a:t>
            </a:r>
            <a:r>
              <a:rPr spc="-70" dirty="0"/>
              <a:t> </a:t>
            </a:r>
            <a:r>
              <a:rPr dirty="0"/>
              <a:t>an</a:t>
            </a:r>
            <a:r>
              <a:rPr spc="-65" dirty="0"/>
              <a:t> </a:t>
            </a:r>
            <a:r>
              <a:rPr spc="-10" dirty="0"/>
              <a:t>application.</a:t>
            </a:r>
          </a:p>
          <a:p>
            <a:pPr marL="355600" marR="7620" indent="-342900" algn="just">
              <a:lnSpc>
                <a:spcPts val="3240"/>
              </a:lnSpc>
              <a:spcBef>
                <a:spcPts val="725"/>
              </a:spcBef>
              <a:buFont typeface="Arial MT"/>
              <a:buChar char="•"/>
              <a:tabLst>
                <a:tab pos="355600" algn="l"/>
              </a:tabLst>
            </a:pPr>
            <a:r>
              <a:rPr dirty="0"/>
              <a:t>A</a:t>
            </a:r>
            <a:r>
              <a:rPr spc="300" dirty="0"/>
              <a:t> </a:t>
            </a:r>
            <a:r>
              <a:rPr dirty="0"/>
              <a:t>Class</a:t>
            </a:r>
            <a:r>
              <a:rPr spc="305" dirty="0"/>
              <a:t> </a:t>
            </a:r>
            <a:r>
              <a:rPr dirty="0"/>
              <a:t>diagram</a:t>
            </a:r>
            <a:r>
              <a:rPr spc="300" dirty="0"/>
              <a:t> </a:t>
            </a:r>
            <a:r>
              <a:rPr dirty="0"/>
              <a:t>models</a:t>
            </a:r>
            <a:r>
              <a:rPr spc="290" dirty="0"/>
              <a:t> </a:t>
            </a:r>
            <a:r>
              <a:rPr dirty="0"/>
              <a:t>the</a:t>
            </a:r>
            <a:r>
              <a:rPr spc="290" dirty="0"/>
              <a:t> </a:t>
            </a:r>
            <a:r>
              <a:rPr dirty="0">
                <a:solidFill>
                  <a:srgbClr val="0000FF"/>
                </a:solidFill>
              </a:rPr>
              <a:t>static</a:t>
            </a:r>
            <a:r>
              <a:rPr spc="300" dirty="0">
                <a:solidFill>
                  <a:srgbClr val="0000FF"/>
                </a:solidFill>
              </a:rPr>
              <a:t> </a:t>
            </a:r>
            <a:r>
              <a:rPr dirty="0">
                <a:solidFill>
                  <a:srgbClr val="0000FF"/>
                </a:solidFill>
              </a:rPr>
              <a:t>structure</a:t>
            </a:r>
            <a:r>
              <a:rPr spc="285" dirty="0">
                <a:solidFill>
                  <a:srgbClr val="0000FF"/>
                </a:solidFill>
              </a:rPr>
              <a:t> </a:t>
            </a:r>
            <a:r>
              <a:rPr dirty="0"/>
              <a:t>of</a:t>
            </a:r>
            <a:r>
              <a:rPr spc="285" dirty="0"/>
              <a:t> </a:t>
            </a:r>
            <a:r>
              <a:rPr spc="-50" dirty="0"/>
              <a:t>a </a:t>
            </a:r>
            <a:r>
              <a:rPr spc="-10" dirty="0"/>
              <a:t>system.</a:t>
            </a:r>
          </a:p>
          <a:p>
            <a:pPr marL="355600" marR="5080" indent="-342900" algn="just">
              <a:lnSpc>
                <a:spcPts val="3240"/>
              </a:lnSpc>
              <a:spcBef>
                <a:spcPts val="720"/>
              </a:spcBef>
              <a:buFont typeface="Arial MT"/>
              <a:buChar char="•"/>
              <a:tabLst>
                <a:tab pos="355600" algn="l"/>
              </a:tabLst>
            </a:pPr>
            <a:r>
              <a:rPr dirty="0"/>
              <a:t>It</a:t>
            </a:r>
            <a:r>
              <a:rPr spc="560" dirty="0"/>
              <a:t>   </a:t>
            </a:r>
            <a:r>
              <a:rPr dirty="0"/>
              <a:t>shows</a:t>
            </a:r>
            <a:r>
              <a:rPr spc="565" dirty="0"/>
              <a:t>   </a:t>
            </a:r>
            <a:r>
              <a:rPr b="1" dirty="0">
                <a:latin typeface="Calibri"/>
                <a:cs typeface="Calibri"/>
              </a:rPr>
              <a:t>relationships</a:t>
            </a:r>
            <a:r>
              <a:rPr b="1" spc="565" dirty="0">
                <a:latin typeface="Calibri"/>
                <a:cs typeface="Calibri"/>
              </a:rPr>
              <a:t>   </a:t>
            </a:r>
            <a:r>
              <a:rPr dirty="0"/>
              <a:t>between</a:t>
            </a:r>
            <a:r>
              <a:rPr spc="560" dirty="0"/>
              <a:t>   </a:t>
            </a:r>
            <a:r>
              <a:rPr spc="-10" dirty="0">
                <a:solidFill>
                  <a:srgbClr val="0000FF"/>
                </a:solidFill>
              </a:rPr>
              <a:t>classes, </a:t>
            </a:r>
            <a:r>
              <a:rPr dirty="0">
                <a:solidFill>
                  <a:srgbClr val="0000FF"/>
                </a:solidFill>
              </a:rPr>
              <a:t>attributes,</a:t>
            </a:r>
            <a:r>
              <a:rPr spc="-110" dirty="0">
                <a:solidFill>
                  <a:srgbClr val="0000FF"/>
                </a:solidFill>
              </a:rPr>
              <a:t> </a:t>
            </a:r>
            <a:r>
              <a:rPr dirty="0">
                <a:solidFill>
                  <a:srgbClr val="0000FF"/>
                </a:solidFill>
              </a:rPr>
              <a:t>and</a:t>
            </a:r>
            <a:r>
              <a:rPr spc="-60" dirty="0">
                <a:solidFill>
                  <a:srgbClr val="0000FF"/>
                </a:solidFill>
              </a:rPr>
              <a:t> </a:t>
            </a:r>
            <a:r>
              <a:rPr spc="-10" dirty="0">
                <a:solidFill>
                  <a:srgbClr val="0000FF"/>
                </a:solidFill>
              </a:rPr>
              <a:t>operations.</a:t>
            </a:r>
          </a:p>
          <a:p>
            <a:pPr marL="355600" marR="6985" indent="-342900" algn="just">
              <a:lnSpc>
                <a:spcPts val="3240"/>
              </a:lnSpc>
              <a:spcBef>
                <a:spcPts val="720"/>
              </a:spcBef>
              <a:buFont typeface="Arial MT"/>
              <a:buChar char="•"/>
              <a:tabLst>
                <a:tab pos="355600" algn="l"/>
              </a:tabLst>
            </a:pPr>
            <a:r>
              <a:rPr dirty="0"/>
              <a:t>A</a:t>
            </a:r>
            <a:r>
              <a:rPr spc="370" dirty="0"/>
              <a:t>  </a:t>
            </a:r>
            <a:r>
              <a:rPr dirty="0"/>
              <a:t>class</a:t>
            </a:r>
            <a:r>
              <a:rPr spc="370" dirty="0"/>
              <a:t>  </a:t>
            </a:r>
            <a:r>
              <a:rPr dirty="0"/>
              <a:t>has</a:t>
            </a:r>
            <a:r>
              <a:rPr spc="370" dirty="0"/>
              <a:t>  </a:t>
            </a:r>
            <a:r>
              <a:rPr dirty="0"/>
              <a:t>three</a:t>
            </a:r>
            <a:r>
              <a:rPr spc="365" dirty="0"/>
              <a:t>  </a:t>
            </a:r>
            <a:r>
              <a:rPr dirty="0"/>
              <a:t>parts;</a:t>
            </a:r>
            <a:r>
              <a:rPr spc="370" dirty="0"/>
              <a:t>  </a:t>
            </a:r>
            <a:r>
              <a:rPr b="1" dirty="0">
                <a:latin typeface="Calibri"/>
                <a:cs typeface="Calibri"/>
              </a:rPr>
              <a:t>name</a:t>
            </a:r>
            <a:r>
              <a:rPr b="1" spc="370" dirty="0">
                <a:latin typeface="Calibri"/>
                <a:cs typeface="Calibri"/>
              </a:rPr>
              <a:t>  </a:t>
            </a:r>
            <a:r>
              <a:rPr dirty="0"/>
              <a:t>at</a:t>
            </a:r>
            <a:r>
              <a:rPr spc="365" dirty="0"/>
              <a:t>  </a:t>
            </a:r>
            <a:r>
              <a:rPr dirty="0"/>
              <a:t>the</a:t>
            </a:r>
            <a:r>
              <a:rPr spc="355" dirty="0"/>
              <a:t>  </a:t>
            </a:r>
            <a:r>
              <a:rPr spc="-20" dirty="0"/>
              <a:t>top, </a:t>
            </a:r>
            <a:r>
              <a:rPr b="1" dirty="0">
                <a:latin typeface="Calibri"/>
                <a:cs typeface="Calibri"/>
              </a:rPr>
              <a:t>attributes</a:t>
            </a:r>
            <a:r>
              <a:rPr b="1" spc="-35" dirty="0">
                <a:latin typeface="Calibri"/>
                <a:cs typeface="Calibri"/>
              </a:rPr>
              <a:t> </a:t>
            </a:r>
            <a:r>
              <a:rPr dirty="0"/>
              <a:t>in</a:t>
            </a:r>
            <a:r>
              <a:rPr spc="-35" dirty="0"/>
              <a:t> </a:t>
            </a:r>
            <a:r>
              <a:rPr dirty="0"/>
              <a:t>the</a:t>
            </a:r>
            <a:r>
              <a:rPr spc="-35" dirty="0"/>
              <a:t> </a:t>
            </a:r>
            <a:r>
              <a:rPr dirty="0"/>
              <a:t>middle</a:t>
            </a:r>
            <a:r>
              <a:rPr spc="-25" dirty="0"/>
              <a:t> </a:t>
            </a:r>
            <a:r>
              <a:rPr dirty="0"/>
              <a:t>and</a:t>
            </a:r>
            <a:r>
              <a:rPr spc="-35" dirty="0"/>
              <a:t> </a:t>
            </a:r>
            <a:r>
              <a:rPr b="1" spc="-10" dirty="0">
                <a:latin typeface="Calibri"/>
                <a:cs typeface="Calibri"/>
              </a:rPr>
              <a:t>operations/methods </a:t>
            </a:r>
            <a:r>
              <a:rPr dirty="0"/>
              <a:t>at</a:t>
            </a:r>
            <a:r>
              <a:rPr spc="-30" dirty="0"/>
              <a:t> </a:t>
            </a:r>
            <a:r>
              <a:rPr dirty="0"/>
              <a:t>the</a:t>
            </a:r>
            <a:r>
              <a:rPr spc="-25" dirty="0"/>
              <a:t> </a:t>
            </a:r>
            <a:r>
              <a:rPr spc="-10" dirty="0"/>
              <a:t>bottom.</a:t>
            </a:r>
          </a:p>
        </p:txBody>
      </p:sp>
      <p:sp>
        <p:nvSpPr>
          <p:cNvPr id="4" name="object 4"/>
          <p:cNvSpPr txBox="1"/>
          <p:nvPr/>
        </p:nvSpPr>
        <p:spPr>
          <a:xfrm>
            <a:off x="535940" y="5100066"/>
            <a:ext cx="6282055" cy="1397000"/>
          </a:xfrm>
          <a:prstGeom prst="rect">
            <a:avLst/>
          </a:prstGeom>
        </p:spPr>
        <p:txBody>
          <a:bodyPr vert="horz" wrap="square" lIns="0" tIns="64135" rIns="0" bIns="0" rtlCol="0">
            <a:spAutoFit/>
          </a:bodyPr>
          <a:lstStyle/>
          <a:p>
            <a:pPr marL="355600" marR="5080" indent="-342900">
              <a:lnSpc>
                <a:spcPts val="3240"/>
              </a:lnSpc>
              <a:spcBef>
                <a:spcPts val="505"/>
              </a:spcBef>
              <a:buFont typeface="Arial MT"/>
              <a:buChar char="•"/>
              <a:tabLst>
                <a:tab pos="355600" algn="l"/>
                <a:tab pos="1212215" algn="l"/>
                <a:tab pos="3441700" algn="l"/>
                <a:tab pos="5099050" algn="l"/>
                <a:tab pos="5751195" algn="l"/>
              </a:tabLst>
            </a:pPr>
            <a:r>
              <a:rPr sz="3000" spc="-25" dirty="0">
                <a:latin typeface="Calibri"/>
                <a:cs typeface="Calibri"/>
              </a:rPr>
              <a:t>The</a:t>
            </a:r>
            <a:r>
              <a:rPr sz="3000" dirty="0">
                <a:latin typeface="Calibri"/>
                <a:cs typeface="Calibri"/>
              </a:rPr>
              <a:t>	</a:t>
            </a:r>
            <a:r>
              <a:rPr sz="3000" spc="-10" dirty="0">
                <a:solidFill>
                  <a:srgbClr val="0000FF"/>
                </a:solidFill>
                <a:latin typeface="Calibri"/>
                <a:cs typeface="Calibri"/>
              </a:rPr>
              <a:t>functionality</a:t>
            </a:r>
            <a:r>
              <a:rPr sz="3000" dirty="0">
                <a:solidFill>
                  <a:srgbClr val="0000FF"/>
                </a:solidFill>
                <a:latin typeface="Calibri"/>
                <a:cs typeface="Calibri"/>
              </a:rPr>
              <a:t>	</a:t>
            </a:r>
            <a:r>
              <a:rPr sz="3000" spc="-10" dirty="0">
                <a:latin typeface="Calibri"/>
                <a:cs typeface="Calibri"/>
              </a:rPr>
              <a:t>provided</a:t>
            </a:r>
            <a:r>
              <a:rPr sz="3000" dirty="0">
                <a:latin typeface="Calibri"/>
                <a:cs typeface="Calibri"/>
              </a:rPr>
              <a:t>	</a:t>
            </a:r>
            <a:r>
              <a:rPr sz="3000" spc="-25" dirty="0">
                <a:latin typeface="Calibri"/>
                <a:cs typeface="Calibri"/>
              </a:rPr>
              <a:t>by</a:t>
            </a:r>
            <a:r>
              <a:rPr sz="3000" dirty="0">
                <a:latin typeface="Calibri"/>
                <a:cs typeface="Calibri"/>
              </a:rPr>
              <a:t>	</a:t>
            </a:r>
            <a:r>
              <a:rPr sz="3000" spc="-25" dirty="0">
                <a:latin typeface="Calibri"/>
                <a:cs typeface="Calibri"/>
              </a:rPr>
              <a:t>the </a:t>
            </a:r>
            <a:r>
              <a:rPr sz="3000" dirty="0">
                <a:latin typeface="Calibri"/>
                <a:cs typeface="Calibri"/>
              </a:rPr>
              <a:t>termed</a:t>
            </a:r>
            <a:r>
              <a:rPr sz="3000" spc="-45" dirty="0">
                <a:latin typeface="Calibri"/>
                <a:cs typeface="Calibri"/>
              </a:rPr>
              <a:t> </a:t>
            </a:r>
            <a:r>
              <a:rPr sz="3000" dirty="0">
                <a:latin typeface="Calibri"/>
                <a:cs typeface="Calibri"/>
              </a:rPr>
              <a:t>“</a:t>
            </a:r>
            <a:r>
              <a:rPr sz="3000" dirty="0">
                <a:solidFill>
                  <a:srgbClr val="0000FF"/>
                </a:solidFill>
                <a:latin typeface="Calibri"/>
                <a:cs typeface="Calibri"/>
              </a:rPr>
              <a:t>methods</a:t>
            </a:r>
            <a:r>
              <a:rPr sz="3000" dirty="0">
                <a:latin typeface="Calibri"/>
                <a:cs typeface="Calibri"/>
              </a:rPr>
              <a:t>”</a:t>
            </a:r>
            <a:r>
              <a:rPr sz="3000" spc="-55" dirty="0">
                <a:latin typeface="Calibri"/>
                <a:cs typeface="Calibri"/>
              </a:rPr>
              <a:t> </a:t>
            </a:r>
            <a:r>
              <a:rPr sz="3000" dirty="0">
                <a:latin typeface="Calibri"/>
                <a:cs typeface="Calibri"/>
              </a:rPr>
              <a:t>of</a:t>
            </a:r>
            <a:r>
              <a:rPr sz="3000" spc="-45" dirty="0">
                <a:latin typeface="Calibri"/>
                <a:cs typeface="Calibri"/>
              </a:rPr>
              <a:t> </a:t>
            </a:r>
            <a:r>
              <a:rPr sz="3000" dirty="0">
                <a:latin typeface="Calibri"/>
                <a:cs typeface="Calibri"/>
              </a:rPr>
              <a:t>the</a:t>
            </a:r>
            <a:r>
              <a:rPr sz="3000" spc="-40" dirty="0">
                <a:latin typeface="Calibri"/>
                <a:cs typeface="Calibri"/>
              </a:rPr>
              <a:t> </a:t>
            </a:r>
            <a:r>
              <a:rPr sz="3000" spc="-10" dirty="0">
                <a:latin typeface="Calibri"/>
                <a:cs typeface="Calibri"/>
              </a:rPr>
              <a:t>class.</a:t>
            </a:r>
            <a:endParaRPr sz="3000">
              <a:latin typeface="Calibri"/>
              <a:cs typeface="Calibri"/>
            </a:endParaRPr>
          </a:p>
          <a:p>
            <a:pPr marL="354965" indent="-342265">
              <a:lnSpc>
                <a:spcPct val="100000"/>
              </a:lnSpc>
              <a:spcBef>
                <a:spcPts val="315"/>
              </a:spcBef>
              <a:buFont typeface="Arial MT"/>
              <a:buChar char="•"/>
              <a:tabLst>
                <a:tab pos="354965" algn="l"/>
              </a:tabLst>
            </a:pPr>
            <a:r>
              <a:rPr sz="3000" spc="-10" dirty="0">
                <a:solidFill>
                  <a:srgbClr val="E36C09"/>
                </a:solidFill>
                <a:latin typeface="Calibri"/>
                <a:cs typeface="Calibri"/>
              </a:rPr>
              <a:t>Attribute</a:t>
            </a:r>
            <a:r>
              <a:rPr sz="3000" spc="-80" dirty="0">
                <a:solidFill>
                  <a:srgbClr val="E36C09"/>
                </a:solidFill>
                <a:latin typeface="Calibri"/>
                <a:cs typeface="Calibri"/>
              </a:rPr>
              <a:t> </a:t>
            </a:r>
            <a:r>
              <a:rPr sz="3000" dirty="0">
                <a:solidFill>
                  <a:srgbClr val="E36C09"/>
                </a:solidFill>
                <a:latin typeface="Calibri"/>
                <a:cs typeface="Calibri"/>
              </a:rPr>
              <a:t>uniquely</a:t>
            </a:r>
            <a:r>
              <a:rPr sz="3000" spc="-45" dirty="0">
                <a:solidFill>
                  <a:srgbClr val="E36C09"/>
                </a:solidFill>
                <a:latin typeface="Calibri"/>
                <a:cs typeface="Calibri"/>
              </a:rPr>
              <a:t> </a:t>
            </a:r>
            <a:r>
              <a:rPr sz="3000" dirty="0">
                <a:solidFill>
                  <a:srgbClr val="E36C09"/>
                </a:solidFill>
                <a:latin typeface="Calibri"/>
                <a:cs typeface="Calibri"/>
              </a:rPr>
              <a:t>identify</a:t>
            </a:r>
            <a:r>
              <a:rPr sz="3000" spc="-35" dirty="0">
                <a:solidFill>
                  <a:srgbClr val="E36C09"/>
                </a:solidFill>
                <a:latin typeface="Calibri"/>
                <a:cs typeface="Calibri"/>
              </a:rPr>
              <a:t> </a:t>
            </a:r>
            <a:r>
              <a:rPr sz="3000" dirty="0">
                <a:solidFill>
                  <a:srgbClr val="E36C09"/>
                </a:solidFill>
                <a:latin typeface="Calibri"/>
                <a:cs typeface="Calibri"/>
              </a:rPr>
              <a:t>the</a:t>
            </a:r>
            <a:r>
              <a:rPr sz="3000" spc="-60" dirty="0">
                <a:solidFill>
                  <a:srgbClr val="E36C09"/>
                </a:solidFill>
                <a:latin typeface="Calibri"/>
                <a:cs typeface="Calibri"/>
              </a:rPr>
              <a:t> </a:t>
            </a:r>
            <a:r>
              <a:rPr sz="3000" spc="-10" dirty="0">
                <a:solidFill>
                  <a:srgbClr val="E36C09"/>
                </a:solidFill>
                <a:latin typeface="Calibri"/>
                <a:cs typeface="Calibri"/>
              </a:rPr>
              <a:t>class.</a:t>
            </a:r>
            <a:endParaRPr sz="3000">
              <a:latin typeface="Calibri"/>
              <a:cs typeface="Calibri"/>
            </a:endParaRPr>
          </a:p>
        </p:txBody>
      </p:sp>
      <p:sp>
        <p:nvSpPr>
          <p:cNvPr id="5" name="object 5"/>
          <p:cNvSpPr txBox="1"/>
          <p:nvPr/>
        </p:nvSpPr>
        <p:spPr>
          <a:xfrm>
            <a:off x="7071741" y="5100066"/>
            <a:ext cx="1535430" cy="482600"/>
          </a:xfrm>
          <a:prstGeom prst="rect">
            <a:avLst/>
          </a:prstGeom>
        </p:spPr>
        <p:txBody>
          <a:bodyPr vert="horz" wrap="square" lIns="0" tIns="12700" rIns="0" bIns="0" rtlCol="0">
            <a:spAutoFit/>
          </a:bodyPr>
          <a:lstStyle/>
          <a:p>
            <a:pPr marL="12700">
              <a:lnSpc>
                <a:spcPct val="100000"/>
              </a:lnSpc>
              <a:spcBef>
                <a:spcPts val="100"/>
              </a:spcBef>
              <a:tabLst>
                <a:tab pos="1022985" algn="l"/>
              </a:tabLst>
            </a:pPr>
            <a:r>
              <a:rPr sz="3000" spc="-10" dirty="0">
                <a:latin typeface="Calibri"/>
                <a:cs typeface="Calibri"/>
              </a:rPr>
              <a:t>class</a:t>
            </a:r>
            <a:r>
              <a:rPr sz="3000" dirty="0">
                <a:latin typeface="Calibri"/>
                <a:cs typeface="Calibri"/>
              </a:rPr>
              <a:t>	</a:t>
            </a:r>
            <a:r>
              <a:rPr sz="3000" spc="-25" dirty="0">
                <a:latin typeface="Calibri"/>
                <a:cs typeface="Calibri"/>
              </a:rPr>
              <a:t>are</a:t>
            </a:r>
            <a:endParaRPr sz="300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748639"/>
            <a:ext cx="8072755" cy="3342640"/>
          </a:xfrm>
          <a:prstGeom prst="rect">
            <a:avLst/>
          </a:prstGeom>
        </p:spPr>
        <p:txBody>
          <a:bodyPr vert="horz" wrap="square" lIns="0" tIns="109855" rIns="0" bIns="0" rtlCol="0">
            <a:spAutoFit/>
          </a:bodyPr>
          <a:lstStyle/>
          <a:p>
            <a:pPr marL="354965" indent="-342265">
              <a:lnSpc>
                <a:spcPct val="100000"/>
              </a:lnSpc>
              <a:spcBef>
                <a:spcPts val="865"/>
              </a:spcBef>
              <a:buFont typeface="Arial MT"/>
              <a:buChar char="•"/>
              <a:tabLst>
                <a:tab pos="354965" algn="l"/>
              </a:tabLst>
            </a:pPr>
            <a:r>
              <a:rPr sz="3200" dirty="0">
                <a:solidFill>
                  <a:srgbClr val="FF0000"/>
                </a:solidFill>
                <a:latin typeface="Calibri"/>
                <a:cs typeface="Calibri"/>
              </a:rPr>
              <a:t>Purpose</a:t>
            </a:r>
            <a:r>
              <a:rPr sz="3200" spc="-35" dirty="0">
                <a:solidFill>
                  <a:srgbClr val="FF0000"/>
                </a:solidFill>
                <a:latin typeface="Calibri"/>
                <a:cs typeface="Calibri"/>
              </a:rPr>
              <a:t> </a:t>
            </a:r>
            <a:r>
              <a:rPr sz="3200" dirty="0">
                <a:solidFill>
                  <a:srgbClr val="FF0000"/>
                </a:solidFill>
                <a:latin typeface="Calibri"/>
                <a:cs typeface="Calibri"/>
              </a:rPr>
              <a:t>of</a:t>
            </a:r>
            <a:r>
              <a:rPr sz="3200" spc="-15" dirty="0">
                <a:solidFill>
                  <a:srgbClr val="FF0000"/>
                </a:solidFill>
                <a:latin typeface="Calibri"/>
                <a:cs typeface="Calibri"/>
              </a:rPr>
              <a:t> </a:t>
            </a:r>
            <a:r>
              <a:rPr sz="3200" dirty="0">
                <a:solidFill>
                  <a:srgbClr val="FF0000"/>
                </a:solidFill>
                <a:latin typeface="Calibri"/>
                <a:cs typeface="Calibri"/>
              </a:rPr>
              <a:t>the</a:t>
            </a:r>
            <a:r>
              <a:rPr sz="3200" spc="-5" dirty="0">
                <a:solidFill>
                  <a:srgbClr val="FF0000"/>
                </a:solidFill>
                <a:latin typeface="Calibri"/>
                <a:cs typeface="Calibri"/>
              </a:rPr>
              <a:t> </a:t>
            </a:r>
            <a:r>
              <a:rPr sz="3200" dirty="0">
                <a:solidFill>
                  <a:srgbClr val="FF0000"/>
                </a:solidFill>
                <a:latin typeface="Calibri"/>
                <a:cs typeface="Calibri"/>
              </a:rPr>
              <a:t>class</a:t>
            </a:r>
            <a:r>
              <a:rPr sz="3200" spc="-10" dirty="0">
                <a:solidFill>
                  <a:srgbClr val="FF0000"/>
                </a:solidFill>
                <a:latin typeface="Calibri"/>
                <a:cs typeface="Calibri"/>
              </a:rPr>
              <a:t> diagram:</a:t>
            </a:r>
            <a:endParaRPr sz="3200">
              <a:latin typeface="Calibri"/>
              <a:cs typeface="Calibri"/>
            </a:endParaRPr>
          </a:p>
          <a:p>
            <a:pPr marL="355600" marR="5080" indent="-342900">
              <a:lnSpc>
                <a:spcPct val="100000"/>
              </a:lnSpc>
              <a:spcBef>
                <a:spcPts val="770"/>
              </a:spcBef>
              <a:buFont typeface="Arial MT"/>
              <a:buChar char="•"/>
              <a:tabLst>
                <a:tab pos="355600" algn="l"/>
                <a:tab pos="1858010" algn="l"/>
                <a:tab pos="2655570" algn="l"/>
                <a:tab pos="3903979" algn="l"/>
                <a:tab pos="4415790" algn="l"/>
                <a:tab pos="5142865" algn="l"/>
                <a:tab pos="6196330" algn="l"/>
                <a:tab pos="7138034" algn="l"/>
                <a:tab pos="7650480" algn="l"/>
              </a:tabLst>
            </a:pPr>
            <a:r>
              <a:rPr sz="3200" spc="-10" dirty="0">
                <a:latin typeface="Calibri"/>
                <a:cs typeface="Calibri"/>
              </a:rPr>
              <a:t>Analysis</a:t>
            </a:r>
            <a:r>
              <a:rPr sz="3200" dirty="0">
                <a:latin typeface="Calibri"/>
                <a:cs typeface="Calibri"/>
              </a:rPr>
              <a:t>	</a:t>
            </a:r>
            <a:r>
              <a:rPr sz="3200" spc="-25" dirty="0">
                <a:latin typeface="Calibri"/>
                <a:cs typeface="Calibri"/>
              </a:rPr>
              <a:t>and</a:t>
            </a:r>
            <a:r>
              <a:rPr sz="3200" dirty="0">
                <a:latin typeface="Calibri"/>
                <a:cs typeface="Calibri"/>
              </a:rPr>
              <a:t>	</a:t>
            </a:r>
            <a:r>
              <a:rPr sz="3200" spc="-10" dirty="0">
                <a:latin typeface="Calibri"/>
                <a:cs typeface="Calibri"/>
              </a:rPr>
              <a:t>design</a:t>
            </a:r>
            <a:r>
              <a:rPr sz="3200" dirty="0">
                <a:latin typeface="Calibri"/>
                <a:cs typeface="Calibri"/>
              </a:rPr>
              <a:t>	</a:t>
            </a:r>
            <a:r>
              <a:rPr sz="3200" spc="-25" dirty="0">
                <a:latin typeface="Calibri"/>
                <a:cs typeface="Calibri"/>
              </a:rPr>
              <a:t>of</a:t>
            </a:r>
            <a:r>
              <a:rPr sz="3200" dirty="0">
                <a:latin typeface="Calibri"/>
                <a:cs typeface="Calibri"/>
              </a:rPr>
              <a:t>	</a:t>
            </a:r>
            <a:r>
              <a:rPr sz="3200" spc="-25" dirty="0">
                <a:latin typeface="Calibri"/>
                <a:cs typeface="Calibri"/>
              </a:rPr>
              <a:t>the</a:t>
            </a:r>
            <a:r>
              <a:rPr sz="3200" dirty="0">
                <a:latin typeface="Calibri"/>
                <a:cs typeface="Calibri"/>
              </a:rPr>
              <a:t>	</a:t>
            </a:r>
            <a:r>
              <a:rPr sz="3200" spc="-10" dirty="0">
                <a:latin typeface="Calibri"/>
                <a:cs typeface="Calibri"/>
              </a:rPr>
              <a:t>static</a:t>
            </a:r>
            <a:r>
              <a:rPr sz="3200" dirty="0">
                <a:latin typeface="Calibri"/>
                <a:cs typeface="Calibri"/>
              </a:rPr>
              <a:t>	</a:t>
            </a:r>
            <a:r>
              <a:rPr sz="3200" spc="-20" dirty="0">
                <a:latin typeface="Calibri"/>
                <a:cs typeface="Calibri"/>
              </a:rPr>
              <a:t>view</a:t>
            </a:r>
            <a:r>
              <a:rPr sz="3200" dirty="0">
                <a:latin typeface="Calibri"/>
                <a:cs typeface="Calibri"/>
              </a:rPr>
              <a:t>	</a:t>
            </a:r>
            <a:r>
              <a:rPr sz="3200" spc="-25" dirty="0">
                <a:latin typeface="Calibri"/>
                <a:cs typeface="Calibri"/>
              </a:rPr>
              <a:t>of</a:t>
            </a:r>
            <a:r>
              <a:rPr sz="3200" dirty="0">
                <a:latin typeface="Calibri"/>
                <a:cs typeface="Calibri"/>
              </a:rPr>
              <a:t>	</a:t>
            </a:r>
            <a:r>
              <a:rPr sz="3200" spc="-25" dirty="0">
                <a:latin typeface="Calibri"/>
                <a:cs typeface="Calibri"/>
              </a:rPr>
              <a:t>an </a:t>
            </a:r>
            <a:r>
              <a:rPr sz="3200" spc="-10" dirty="0">
                <a:latin typeface="Calibri"/>
                <a:cs typeface="Calibri"/>
              </a:rPr>
              <a:t>application.</a:t>
            </a:r>
            <a:endParaRPr sz="3200">
              <a:latin typeface="Calibri"/>
              <a:cs typeface="Calibri"/>
            </a:endParaRPr>
          </a:p>
          <a:p>
            <a:pPr marL="354965" indent="-342265">
              <a:lnSpc>
                <a:spcPct val="100000"/>
              </a:lnSpc>
              <a:spcBef>
                <a:spcPts val="770"/>
              </a:spcBef>
              <a:buFont typeface="Arial MT"/>
              <a:buChar char="•"/>
              <a:tabLst>
                <a:tab pos="354965" algn="l"/>
              </a:tabLst>
            </a:pPr>
            <a:r>
              <a:rPr sz="3200" dirty="0">
                <a:latin typeface="Calibri"/>
                <a:cs typeface="Calibri"/>
              </a:rPr>
              <a:t>Describe</a:t>
            </a:r>
            <a:r>
              <a:rPr sz="3200" spc="-75" dirty="0">
                <a:latin typeface="Calibri"/>
                <a:cs typeface="Calibri"/>
              </a:rPr>
              <a:t> </a:t>
            </a:r>
            <a:r>
              <a:rPr sz="3200" dirty="0">
                <a:latin typeface="Calibri"/>
                <a:cs typeface="Calibri"/>
              </a:rPr>
              <a:t>responsibilities</a:t>
            </a:r>
            <a:r>
              <a:rPr sz="3200" spc="-25" dirty="0">
                <a:latin typeface="Calibri"/>
                <a:cs typeface="Calibri"/>
              </a:rPr>
              <a:t> </a:t>
            </a:r>
            <a:r>
              <a:rPr sz="3200" dirty="0">
                <a:latin typeface="Calibri"/>
                <a:cs typeface="Calibri"/>
              </a:rPr>
              <a:t>of</a:t>
            </a:r>
            <a:r>
              <a:rPr sz="3200" spc="-60" dirty="0">
                <a:latin typeface="Calibri"/>
                <a:cs typeface="Calibri"/>
              </a:rPr>
              <a:t> </a:t>
            </a:r>
            <a:r>
              <a:rPr sz="3200" dirty="0">
                <a:latin typeface="Calibri"/>
                <a:cs typeface="Calibri"/>
              </a:rPr>
              <a:t>a</a:t>
            </a:r>
            <a:r>
              <a:rPr sz="3200" spc="-40" dirty="0">
                <a:latin typeface="Calibri"/>
                <a:cs typeface="Calibri"/>
              </a:rPr>
              <a:t> </a:t>
            </a:r>
            <a:r>
              <a:rPr sz="3200" spc="-10" dirty="0">
                <a:latin typeface="Calibri"/>
                <a:cs typeface="Calibri"/>
              </a:rPr>
              <a:t>system.</a:t>
            </a:r>
            <a:endParaRPr sz="3200">
              <a:latin typeface="Calibri"/>
              <a:cs typeface="Calibri"/>
            </a:endParaRPr>
          </a:p>
          <a:p>
            <a:pPr marL="355600" marR="6350" indent="-342900">
              <a:lnSpc>
                <a:spcPct val="100000"/>
              </a:lnSpc>
              <a:spcBef>
                <a:spcPts val="770"/>
              </a:spcBef>
              <a:buFont typeface="Arial MT"/>
              <a:buChar char="•"/>
              <a:tabLst>
                <a:tab pos="355600" algn="l"/>
                <a:tab pos="1616075" algn="l"/>
                <a:tab pos="2571750" algn="l"/>
                <a:tab pos="4955540" algn="l"/>
                <a:tab pos="6063615" algn="l"/>
              </a:tabLst>
            </a:pPr>
            <a:r>
              <a:rPr sz="3200" spc="-20" dirty="0">
                <a:latin typeface="Calibri"/>
                <a:cs typeface="Calibri"/>
              </a:rPr>
              <a:t>Base</a:t>
            </a:r>
            <a:r>
              <a:rPr sz="3200" dirty="0">
                <a:latin typeface="Calibri"/>
                <a:cs typeface="Calibri"/>
              </a:rPr>
              <a:t>	</a:t>
            </a:r>
            <a:r>
              <a:rPr sz="3200" spc="-25" dirty="0">
                <a:latin typeface="Calibri"/>
                <a:cs typeface="Calibri"/>
              </a:rPr>
              <a:t>for</a:t>
            </a:r>
            <a:r>
              <a:rPr sz="3200" dirty="0">
                <a:latin typeface="Calibri"/>
                <a:cs typeface="Calibri"/>
              </a:rPr>
              <a:t>	</a:t>
            </a:r>
            <a:r>
              <a:rPr sz="3200" spc="-10" dirty="0">
                <a:latin typeface="Calibri"/>
                <a:cs typeface="Calibri"/>
              </a:rPr>
              <a:t>component</a:t>
            </a:r>
            <a:r>
              <a:rPr sz="3200" dirty="0">
                <a:latin typeface="Calibri"/>
                <a:cs typeface="Calibri"/>
              </a:rPr>
              <a:t>	</a:t>
            </a:r>
            <a:r>
              <a:rPr sz="3200" spc="-25" dirty="0">
                <a:latin typeface="Calibri"/>
                <a:cs typeface="Calibri"/>
              </a:rPr>
              <a:t>and</a:t>
            </a:r>
            <a:r>
              <a:rPr sz="3200" dirty="0">
                <a:latin typeface="Calibri"/>
                <a:cs typeface="Calibri"/>
              </a:rPr>
              <a:t>	</a:t>
            </a:r>
            <a:r>
              <a:rPr sz="3200" spc="-10" dirty="0">
                <a:latin typeface="Calibri"/>
                <a:cs typeface="Calibri"/>
              </a:rPr>
              <a:t>deployment diagrams.</a:t>
            </a:r>
            <a:endParaRPr sz="320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4104" y="207010"/>
            <a:ext cx="4414520" cy="635000"/>
          </a:xfrm>
          <a:prstGeom prst="rect">
            <a:avLst/>
          </a:prstGeom>
        </p:spPr>
        <p:txBody>
          <a:bodyPr vert="horz" wrap="square" lIns="0" tIns="12065" rIns="0" bIns="0" rtlCol="0">
            <a:spAutoFit/>
          </a:bodyPr>
          <a:lstStyle/>
          <a:p>
            <a:pPr marL="12700">
              <a:lnSpc>
                <a:spcPct val="100000"/>
              </a:lnSpc>
              <a:spcBef>
                <a:spcPts val="95"/>
              </a:spcBef>
            </a:pPr>
            <a:r>
              <a:rPr sz="4000" b="1" dirty="0">
                <a:latin typeface="Calibri"/>
                <a:cs typeface="Calibri"/>
              </a:rPr>
              <a:t>Class</a:t>
            </a:r>
            <a:r>
              <a:rPr sz="4000" b="1" spc="-75" dirty="0">
                <a:latin typeface="Calibri"/>
                <a:cs typeface="Calibri"/>
              </a:rPr>
              <a:t> </a:t>
            </a:r>
            <a:r>
              <a:rPr sz="4000" b="1" spc="-20" dirty="0">
                <a:latin typeface="Calibri"/>
                <a:cs typeface="Calibri"/>
              </a:rPr>
              <a:t>Representation</a:t>
            </a:r>
            <a:endParaRPr sz="4000">
              <a:latin typeface="Calibri"/>
              <a:cs typeface="Calibri"/>
            </a:endParaRPr>
          </a:p>
        </p:txBody>
      </p:sp>
      <p:sp>
        <p:nvSpPr>
          <p:cNvPr id="3" name="object 3"/>
          <p:cNvSpPr txBox="1"/>
          <p:nvPr/>
        </p:nvSpPr>
        <p:spPr>
          <a:xfrm>
            <a:off x="535940" y="764794"/>
            <a:ext cx="6278880" cy="482600"/>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 pos="1434465" algn="l"/>
                <a:tab pos="2522855" algn="l"/>
                <a:tab pos="3117215" algn="l"/>
                <a:tab pos="5354955" algn="l"/>
                <a:tab pos="6083300" algn="l"/>
              </a:tabLst>
            </a:pPr>
            <a:r>
              <a:rPr sz="3000" spc="-20" dirty="0">
                <a:solidFill>
                  <a:srgbClr val="0000FF"/>
                </a:solidFill>
                <a:latin typeface="Calibri"/>
                <a:cs typeface="Calibri"/>
              </a:rPr>
              <a:t>Each</a:t>
            </a:r>
            <a:r>
              <a:rPr sz="3000" dirty="0">
                <a:solidFill>
                  <a:srgbClr val="0000FF"/>
                </a:solidFill>
                <a:latin typeface="Calibri"/>
                <a:cs typeface="Calibri"/>
              </a:rPr>
              <a:t>	</a:t>
            </a:r>
            <a:r>
              <a:rPr sz="3000" spc="-10" dirty="0">
                <a:solidFill>
                  <a:srgbClr val="0000FF"/>
                </a:solidFill>
                <a:latin typeface="Calibri"/>
                <a:cs typeface="Calibri"/>
              </a:rPr>
              <a:t>class</a:t>
            </a:r>
            <a:r>
              <a:rPr sz="3000" dirty="0">
                <a:solidFill>
                  <a:srgbClr val="0000FF"/>
                </a:solidFill>
                <a:latin typeface="Calibri"/>
                <a:cs typeface="Calibri"/>
              </a:rPr>
              <a:t>	</a:t>
            </a:r>
            <a:r>
              <a:rPr sz="3000" spc="-25" dirty="0">
                <a:solidFill>
                  <a:srgbClr val="0000FF"/>
                </a:solidFill>
                <a:latin typeface="Calibri"/>
                <a:cs typeface="Calibri"/>
              </a:rPr>
              <a:t>is</a:t>
            </a:r>
            <a:r>
              <a:rPr sz="3000" dirty="0">
                <a:solidFill>
                  <a:srgbClr val="0000FF"/>
                </a:solidFill>
                <a:latin typeface="Calibri"/>
                <a:cs typeface="Calibri"/>
              </a:rPr>
              <a:t>	</a:t>
            </a:r>
            <a:r>
              <a:rPr sz="3000" spc="-10" dirty="0">
                <a:solidFill>
                  <a:srgbClr val="0000FF"/>
                </a:solidFill>
                <a:latin typeface="Calibri"/>
                <a:cs typeface="Calibri"/>
              </a:rPr>
              <a:t>represented</a:t>
            </a:r>
            <a:r>
              <a:rPr sz="3000" dirty="0">
                <a:solidFill>
                  <a:srgbClr val="0000FF"/>
                </a:solidFill>
                <a:latin typeface="Calibri"/>
                <a:cs typeface="Calibri"/>
              </a:rPr>
              <a:t>	</a:t>
            </a:r>
            <a:r>
              <a:rPr sz="3000" spc="-25" dirty="0">
                <a:solidFill>
                  <a:srgbClr val="0000FF"/>
                </a:solidFill>
                <a:latin typeface="Calibri"/>
                <a:cs typeface="Calibri"/>
              </a:rPr>
              <a:t>by</a:t>
            </a:r>
            <a:r>
              <a:rPr sz="3000" dirty="0">
                <a:solidFill>
                  <a:srgbClr val="0000FF"/>
                </a:solidFill>
                <a:latin typeface="Calibri"/>
                <a:cs typeface="Calibri"/>
              </a:rPr>
              <a:t>	</a:t>
            </a:r>
            <a:r>
              <a:rPr sz="3000" spc="-50" dirty="0">
                <a:solidFill>
                  <a:srgbClr val="0000FF"/>
                </a:solidFill>
                <a:latin typeface="Calibri"/>
                <a:cs typeface="Calibri"/>
              </a:rPr>
              <a:t>a</a:t>
            </a:r>
            <a:endParaRPr sz="3000">
              <a:latin typeface="Calibri"/>
              <a:cs typeface="Calibri"/>
            </a:endParaRPr>
          </a:p>
        </p:txBody>
      </p:sp>
      <p:sp>
        <p:nvSpPr>
          <p:cNvPr id="4" name="object 4"/>
          <p:cNvSpPr txBox="1"/>
          <p:nvPr/>
        </p:nvSpPr>
        <p:spPr>
          <a:xfrm>
            <a:off x="7146797" y="764794"/>
            <a:ext cx="1464310"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FF0000"/>
                </a:solidFill>
                <a:latin typeface="Calibri"/>
                <a:cs typeface="Calibri"/>
              </a:rPr>
              <a:t>rectangle</a:t>
            </a:r>
            <a:endParaRPr sz="3000">
              <a:latin typeface="Calibri"/>
              <a:cs typeface="Calibri"/>
            </a:endParaRPr>
          </a:p>
        </p:txBody>
      </p:sp>
      <p:sp>
        <p:nvSpPr>
          <p:cNvPr id="5" name="object 5"/>
          <p:cNvSpPr txBox="1"/>
          <p:nvPr/>
        </p:nvSpPr>
        <p:spPr>
          <a:xfrm>
            <a:off x="878839" y="1130553"/>
            <a:ext cx="5683885" cy="1854835"/>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0000FF"/>
                </a:solidFill>
                <a:latin typeface="Calibri"/>
                <a:cs typeface="Calibri"/>
              </a:rPr>
              <a:t>subdivided</a:t>
            </a:r>
            <a:r>
              <a:rPr sz="3000" spc="-75" dirty="0">
                <a:solidFill>
                  <a:srgbClr val="0000FF"/>
                </a:solidFill>
                <a:latin typeface="Calibri"/>
                <a:cs typeface="Calibri"/>
              </a:rPr>
              <a:t> </a:t>
            </a:r>
            <a:r>
              <a:rPr sz="3000" dirty="0">
                <a:solidFill>
                  <a:srgbClr val="0000FF"/>
                </a:solidFill>
                <a:latin typeface="Calibri"/>
                <a:cs typeface="Calibri"/>
              </a:rPr>
              <a:t>into</a:t>
            </a:r>
            <a:r>
              <a:rPr sz="3000" spc="-55" dirty="0">
                <a:solidFill>
                  <a:srgbClr val="0000FF"/>
                </a:solidFill>
                <a:latin typeface="Calibri"/>
                <a:cs typeface="Calibri"/>
              </a:rPr>
              <a:t> </a:t>
            </a:r>
            <a:r>
              <a:rPr sz="3000" dirty="0">
                <a:solidFill>
                  <a:srgbClr val="0000FF"/>
                </a:solidFill>
                <a:latin typeface="Calibri"/>
                <a:cs typeface="Calibri"/>
              </a:rPr>
              <a:t>three</a:t>
            </a:r>
            <a:r>
              <a:rPr sz="3000" spc="-80" dirty="0">
                <a:solidFill>
                  <a:srgbClr val="0000FF"/>
                </a:solidFill>
                <a:latin typeface="Calibri"/>
                <a:cs typeface="Calibri"/>
              </a:rPr>
              <a:t> </a:t>
            </a:r>
            <a:r>
              <a:rPr sz="3000" spc="-10" dirty="0">
                <a:solidFill>
                  <a:srgbClr val="0000FF"/>
                </a:solidFill>
                <a:latin typeface="Calibri"/>
                <a:cs typeface="Calibri"/>
              </a:rPr>
              <a:t>compartments</a:t>
            </a:r>
            <a:endParaRPr sz="3000">
              <a:latin typeface="Calibri"/>
              <a:cs typeface="Calibri"/>
            </a:endParaRPr>
          </a:p>
          <a:p>
            <a:pPr marL="738505" indent="-274955">
              <a:lnSpc>
                <a:spcPct val="100000"/>
              </a:lnSpc>
              <a:buChar char="•"/>
              <a:tabLst>
                <a:tab pos="738505" algn="l"/>
              </a:tabLst>
            </a:pPr>
            <a:r>
              <a:rPr sz="3000" spc="-20" dirty="0">
                <a:latin typeface="Calibri"/>
                <a:cs typeface="Calibri"/>
              </a:rPr>
              <a:t>Name</a:t>
            </a:r>
            <a:endParaRPr sz="3000">
              <a:latin typeface="Calibri"/>
              <a:cs typeface="Calibri"/>
            </a:endParaRPr>
          </a:p>
          <a:p>
            <a:pPr marL="737870" indent="-274320">
              <a:lnSpc>
                <a:spcPct val="100000"/>
              </a:lnSpc>
              <a:buChar char="•"/>
              <a:tabLst>
                <a:tab pos="737870" algn="l"/>
              </a:tabLst>
            </a:pPr>
            <a:r>
              <a:rPr sz="3000" spc="-10" dirty="0">
                <a:latin typeface="Calibri"/>
                <a:cs typeface="Calibri"/>
              </a:rPr>
              <a:t>Attributes</a:t>
            </a:r>
            <a:endParaRPr sz="3000">
              <a:latin typeface="Calibri"/>
              <a:cs typeface="Calibri"/>
            </a:endParaRPr>
          </a:p>
          <a:p>
            <a:pPr marL="737870" indent="-274320">
              <a:lnSpc>
                <a:spcPct val="100000"/>
              </a:lnSpc>
              <a:buChar char="•"/>
              <a:tabLst>
                <a:tab pos="737870" algn="l"/>
              </a:tabLst>
            </a:pPr>
            <a:r>
              <a:rPr sz="3000" spc="-10" dirty="0">
                <a:latin typeface="Calibri"/>
                <a:cs typeface="Calibri"/>
              </a:rPr>
              <a:t>Operations</a:t>
            </a:r>
            <a:endParaRPr sz="3000">
              <a:latin typeface="Calibri"/>
              <a:cs typeface="Calibri"/>
            </a:endParaRPr>
          </a:p>
        </p:txBody>
      </p:sp>
      <p:sp>
        <p:nvSpPr>
          <p:cNvPr id="6" name="object 6"/>
          <p:cNvSpPr txBox="1"/>
          <p:nvPr/>
        </p:nvSpPr>
        <p:spPr>
          <a:xfrm>
            <a:off x="535940" y="2959734"/>
            <a:ext cx="5880100" cy="482600"/>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 pos="2149475" algn="l"/>
                <a:tab pos="2960370" algn="l"/>
                <a:tab pos="4005579" algn="l"/>
                <a:tab pos="4643120" algn="l"/>
              </a:tabLst>
            </a:pPr>
            <a:r>
              <a:rPr sz="3000" spc="-10" dirty="0">
                <a:solidFill>
                  <a:srgbClr val="0000FF"/>
                </a:solidFill>
                <a:latin typeface="Calibri"/>
                <a:cs typeface="Calibri"/>
              </a:rPr>
              <a:t>Modifiers</a:t>
            </a:r>
            <a:r>
              <a:rPr sz="3000" dirty="0">
                <a:solidFill>
                  <a:srgbClr val="0000FF"/>
                </a:solidFill>
                <a:latin typeface="Calibri"/>
                <a:cs typeface="Calibri"/>
              </a:rPr>
              <a:t>	</a:t>
            </a:r>
            <a:r>
              <a:rPr sz="3000" spc="-25" dirty="0">
                <a:solidFill>
                  <a:srgbClr val="0000FF"/>
                </a:solidFill>
                <a:latin typeface="Calibri"/>
                <a:cs typeface="Calibri"/>
              </a:rPr>
              <a:t>are</a:t>
            </a:r>
            <a:r>
              <a:rPr sz="3000" dirty="0">
                <a:solidFill>
                  <a:srgbClr val="0000FF"/>
                </a:solidFill>
                <a:latin typeface="Calibri"/>
                <a:cs typeface="Calibri"/>
              </a:rPr>
              <a:t>	</a:t>
            </a:r>
            <a:r>
              <a:rPr sz="3000" spc="-20" dirty="0">
                <a:solidFill>
                  <a:srgbClr val="0000FF"/>
                </a:solidFill>
                <a:latin typeface="Calibri"/>
                <a:cs typeface="Calibri"/>
              </a:rPr>
              <a:t>used</a:t>
            </a:r>
            <a:r>
              <a:rPr sz="3000" dirty="0">
                <a:solidFill>
                  <a:srgbClr val="0000FF"/>
                </a:solidFill>
                <a:latin typeface="Calibri"/>
                <a:cs typeface="Calibri"/>
              </a:rPr>
              <a:t>	</a:t>
            </a:r>
            <a:r>
              <a:rPr sz="3000" spc="-25" dirty="0">
                <a:solidFill>
                  <a:srgbClr val="0000FF"/>
                </a:solidFill>
                <a:latin typeface="Calibri"/>
                <a:cs typeface="Calibri"/>
              </a:rPr>
              <a:t>to</a:t>
            </a:r>
            <a:r>
              <a:rPr sz="3000" dirty="0">
                <a:solidFill>
                  <a:srgbClr val="0000FF"/>
                </a:solidFill>
                <a:latin typeface="Calibri"/>
                <a:cs typeface="Calibri"/>
              </a:rPr>
              <a:t>	</a:t>
            </a:r>
            <a:r>
              <a:rPr sz="3000" spc="-10" dirty="0">
                <a:solidFill>
                  <a:srgbClr val="0000FF"/>
                </a:solidFill>
                <a:latin typeface="Calibri"/>
                <a:cs typeface="Calibri"/>
              </a:rPr>
              <a:t>indicate</a:t>
            </a:r>
            <a:endParaRPr sz="3000">
              <a:latin typeface="Calibri"/>
              <a:cs typeface="Calibri"/>
            </a:endParaRPr>
          </a:p>
        </p:txBody>
      </p:sp>
      <p:sp>
        <p:nvSpPr>
          <p:cNvPr id="7" name="object 7"/>
          <p:cNvSpPr txBox="1"/>
          <p:nvPr/>
        </p:nvSpPr>
        <p:spPr>
          <a:xfrm>
            <a:off x="6696836" y="2959734"/>
            <a:ext cx="1911985" cy="482600"/>
          </a:xfrm>
          <a:prstGeom prst="rect">
            <a:avLst/>
          </a:prstGeom>
        </p:spPr>
        <p:txBody>
          <a:bodyPr vert="horz" wrap="square" lIns="0" tIns="12700" rIns="0" bIns="0" rtlCol="0">
            <a:spAutoFit/>
          </a:bodyPr>
          <a:lstStyle/>
          <a:p>
            <a:pPr marL="12700">
              <a:lnSpc>
                <a:spcPct val="100000"/>
              </a:lnSpc>
              <a:spcBef>
                <a:spcPts val="100"/>
              </a:spcBef>
              <a:tabLst>
                <a:tab pos="1581150" algn="l"/>
              </a:tabLst>
            </a:pPr>
            <a:r>
              <a:rPr sz="3000" spc="-10" dirty="0">
                <a:solidFill>
                  <a:srgbClr val="FF0000"/>
                </a:solidFill>
                <a:latin typeface="Calibri"/>
                <a:cs typeface="Calibri"/>
              </a:rPr>
              <a:t>visibility</a:t>
            </a:r>
            <a:r>
              <a:rPr sz="3000" dirty="0">
                <a:solidFill>
                  <a:srgbClr val="FF0000"/>
                </a:solidFill>
                <a:latin typeface="Calibri"/>
                <a:cs typeface="Calibri"/>
              </a:rPr>
              <a:t>	</a:t>
            </a:r>
            <a:r>
              <a:rPr sz="3000" spc="-25" dirty="0">
                <a:solidFill>
                  <a:srgbClr val="0000FF"/>
                </a:solidFill>
                <a:latin typeface="Calibri"/>
                <a:cs typeface="Calibri"/>
              </a:rPr>
              <a:t>of</a:t>
            </a:r>
            <a:endParaRPr sz="3000">
              <a:latin typeface="Calibri"/>
              <a:cs typeface="Calibri"/>
            </a:endParaRPr>
          </a:p>
        </p:txBody>
      </p:sp>
      <p:sp>
        <p:nvSpPr>
          <p:cNvPr id="8" name="object 8"/>
          <p:cNvSpPr txBox="1"/>
          <p:nvPr/>
        </p:nvSpPr>
        <p:spPr>
          <a:xfrm>
            <a:off x="535940" y="3325190"/>
            <a:ext cx="8074659" cy="3044190"/>
          </a:xfrm>
          <a:prstGeom prst="rect">
            <a:avLst/>
          </a:prstGeom>
        </p:spPr>
        <p:txBody>
          <a:bodyPr vert="horz" wrap="square" lIns="0" tIns="12700" rIns="0" bIns="0" rtlCol="0">
            <a:spAutoFit/>
          </a:bodyPr>
          <a:lstStyle/>
          <a:p>
            <a:pPr marL="355600">
              <a:lnSpc>
                <a:spcPct val="100000"/>
              </a:lnSpc>
              <a:spcBef>
                <a:spcPts val="100"/>
              </a:spcBef>
            </a:pPr>
            <a:r>
              <a:rPr sz="3000" dirty="0">
                <a:solidFill>
                  <a:srgbClr val="0000FF"/>
                </a:solidFill>
                <a:latin typeface="Calibri"/>
                <a:cs typeface="Calibri"/>
              </a:rPr>
              <a:t>attributes</a:t>
            </a:r>
            <a:r>
              <a:rPr sz="3000" spc="-95" dirty="0">
                <a:solidFill>
                  <a:srgbClr val="0000FF"/>
                </a:solidFill>
                <a:latin typeface="Calibri"/>
                <a:cs typeface="Calibri"/>
              </a:rPr>
              <a:t> </a:t>
            </a:r>
            <a:r>
              <a:rPr sz="3000" dirty="0">
                <a:solidFill>
                  <a:srgbClr val="0000FF"/>
                </a:solidFill>
                <a:latin typeface="Calibri"/>
                <a:cs typeface="Calibri"/>
              </a:rPr>
              <a:t>and</a:t>
            </a:r>
            <a:r>
              <a:rPr sz="3000" spc="-70" dirty="0">
                <a:solidFill>
                  <a:srgbClr val="0000FF"/>
                </a:solidFill>
                <a:latin typeface="Calibri"/>
                <a:cs typeface="Calibri"/>
              </a:rPr>
              <a:t> </a:t>
            </a:r>
            <a:r>
              <a:rPr sz="3000" spc="-10" dirty="0">
                <a:solidFill>
                  <a:srgbClr val="0000FF"/>
                </a:solidFill>
                <a:latin typeface="Calibri"/>
                <a:cs typeface="Calibri"/>
              </a:rPr>
              <a:t>operations.</a:t>
            </a:r>
            <a:endParaRPr sz="3000">
              <a:latin typeface="Calibri"/>
              <a:cs typeface="Calibri"/>
            </a:endParaRPr>
          </a:p>
          <a:p>
            <a:pPr marL="354965" indent="-342265">
              <a:lnSpc>
                <a:spcPct val="100000"/>
              </a:lnSpc>
              <a:spcBef>
                <a:spcPts val="5"/>
              </a:spcBef>
              <a:buFont typeface="Arial MT"/>
              <a:buChar char="•"/>
              <a:tabLst>
                <a:tab pos="354965" algn="l"/>
              </a:tabLst>
            </a:pPr>
            <a:r>
              <a:rPr sz="3000" dirty="0">
                <a:latin typeface="Calibri"/>
                <a:cs typeface="Calibri"/>
              </a:rPr>
              <a:t>‘+’</a:t>
            </a:r>
            <a:r>
              <a:rPr sz="3000" spc="-35" dirty="0">
                <a:latin typeface="Calibri"/>
                <a:cs typeface="Calibri"/>
              </a:rPr>
              <a:t> </a:t>
            </a:r>
            <a:r>
              <a:rPr sz="3000" dirty="0">
                <a:latin typeface="Calibri"/>
                <a:cs typeface="Calibri"/>
              </a:rPr>
              <a:t>is</a:t>
            </a:r>
            <a:r>
              <a:rPr sz="3000" spc="-25" dirty="0">
                <a:latin typeface="Calibri"/>
                <a:cs typeface="Calibri"/>
              </a:rPr>
              <a:t> </a:t>
            </a:r>
            <a:r>
              <a:rPr sz="3000" dirty="0">
                <a:latin typeface="Calibri"/>
                <a:cs typeface="Calibri"/>
              </a:rPr>
              <a:t>used</a:t>
            </a:r>
            <a:r>
              <a:rPr sz="3000" spc="-45" dirty="0">
                <a:latin typeface="Calibri"/>
                <a:cs typeface="Calibri"/>
              </a:rPr>
              <a:t> </a:t>
            </a:r>
            <a:r>
              <a:rPr sz="3000" dirty="0">
                <a:latin typeface="Calibri"/>
                <a:cs typeface="Calibri"/>
              </a:rPr>
              <a:t>to</a:t>
            </a:r>
            <a:r>
              <a:rPr sz="3000" spc="-40" dirty="0">
                <a:latin typeface="Calibri"/>
                <a:cs typeface="Calibri"/>
              </a:rPr>
              <a:t> </a:t>
            </a:r>
            <a:r>
              <a:rPr sz="3000" dirty="0">
                <a:latin typeface="Calibri"/>
                <a:cs typeface="Calibri"/>
              </a:rPr>
              <a:t>denote</a:t>
            </a:r>
            <a:r>
              <a:rPr sz="3000" spc="-60" dirty="0">
                <a:latin typeface="Calibri"/>
                <a:cs typeface="Calibri"/>
              </a:rPr>
              <a:t> </a:t>
            </a:r>
            <a:r>
              <a:rPr sz="3000" i="1" dirty="0">
                <a:latin typeface="Calibri"/>
                <a:cs typeface="Calibri"/>
              </a:rPr>
              <a:t>Public</a:t>
            </a:r>
            <a:r>
              <a:rPr sz="3000" i="1" spc="-30" dirty="0">
                <a:latin typeface="Calibri"/>
                <a:cs typeface="Calibri"/>
              </a:rPr>
              <a:t> </a:t>
            </a:r>
            <a:r>
              <a:rPr sz="3000" i="1" dirty="0">
                <a:latin typeface="Calibri"/>
                <a:cs typeface="Calibri"/>
              </a:rPr>
              <a:t>visibility</a:t>
            </a:r>
            <a:r>
              <a:rPr sz="3000" i="1" spc="-40" dirty="0">
                <a:latin typeface="Calibri"/>
                <a:cs typeface="Calibri"/>
              </a:rPr>
              <a:t> </a:t>
            </a:r>
            <a:r>
              <a:rPr sz="3000" i="1" spc="-10" dirty="0">
                <a:latin typeface="Calibri"/>
                <a:cs typeface="Calibri"/>
              </a:rPr>
              <a:t>(everyone)</a:t>
            </a:r>
            <a:endParaRPr sz="3000">
              <a:latin typeface="Calibri"/>
              <a:cs typeface="Calibri"/>
            </a:endParaRPr>
          </a:p>
          <a:p>
            <a:pPr marL="355600" marR="5715" indent="-342900">
              <a:lnSpc>
                <a:spcPts val="2880"/>
              </a:lnSpc>
              <a:spcBef>
                <a:spcPts val="695"/>
              </a:spcBef>
              <a:buFont typeface="Arial MT"/>
              <a:buChar char="•"/>
              <a:tabLst>
                <a:tab pos="355600" algn="l"/>
                <a:tab pos="881380" algn="l"/>
                <a:tab pos="1263650" algn="l"/>
                <a:tab pos="2146300" algn="l"/>
                <a:tab pos="2618740" algn="l"/>
                <a:tab pos="3865879" algn="l"/>
                <a:tab pos="5497830" algn="l"/>
                <a:tab pos="6889750" algn="l"/>
              </a:tabLst>
            </a:pPr>
            <a:r>
              <a:rPr sz="3000" spc="-25" dirty="0">
                <a:latin typeface="Calibri"/>
                <a:cs typeface="Calibri"/>
              </a:rPr>
              <a:t>‘#’</a:t>
            </a:r>
            <a:r>
              <a:rPr sz="3000" dirty="0">
                <a:latin typeface="Calibri"/>
                <a:cs typeface="Calibri"/>
              </a:rPr>
              <a:t>	</a:t>
            </a:r>
            <a:r>
              <a:rPr sz="3000" spc="-25" dirty="0">
                <a:latin typeface="Calibri"/>
                <a:cs typeface="Calibri"/>
              </a:rPr>
              <a:t>is</a:t>
            </a:r>
            <a:r>
              <a:rPr sz="3000" dirty="0">
                <a:latin typeface="Calibri"/>
                <a:cs typeface="Calibri"/>
              </a:rPr>
              <a:t>	</a:t>
            </a:r>
            <a:r>
              <a:rPr sz="3000" spc="-20" dirty="0">
                <a:latin typeface="Calibri"/>
                <a:cs typeface="Calibri"/>
              </a:rPr>
              <a:t>used</a:t>
            </a:r>
            <a:r>
              <a:rPr sz="3000" dirty="0">
                <a:latin typeface="Calibri"/>
                <a:cs typeface="Calibri"/>
              </a:rPr>
              <a:t>	</a:t>
            </a:r>
            <a:r>
              <a:rPr sz="3000" spc="-25" dirty="0">
                <a:latin typeface="Calibri"/>
                <a:cs typeface="Calibri"/>
              </a:rPr>
              <a:t>to</a:t>
            </a:r>
            <a:r>
              <a:rPr sz="3000" dirty="0">
                <a:latin typeface="Calibri"/>
                <a:cs typeface="Calibri"/>
              </a:rPr>
              <a:t>	</a:t>
            </a:r>
            <a:r>
              <a:rPr sz="3000" spc="-10" dirty="0">
                <a:latin typeface="Calibri"/>
                <a:cs typeface="Calibri"/>
              </a:rPr>
              <a:t>denote</a:t>
            </a:r>
            <a:r>
              <a:rPr sz="3000" dirty="0">
                <a:latin typeface="Calibri"/>
                <a:cs typeface="Calibri"/>
              </a:rPr>
              <a:t>	</a:t>
            </a:r>
            <a:r>
              <a:rPr sz="3000" i="1" spc="-10" dirty="0">
                <a:latin typeface="Calibri"/>
                <a:cs typeface="Calibri"/>
              </a:rPr>
              <a:t>Protected</a:t>
            </a:r>
            <a:r>
              <a:rPr sz="3000" i="1" dirty="0">
                <a:latin typeface="Calibri"/>
                <a:cs typeface="Calibri"/>
              </a:rPr>
              <a:t>	</a:t>
            </a:r>
            <a:r>
              <a:rPr sz="3000" i="1" spc="-10" dirty="0">
                <a:latin typeface="Calibri"/>
                <a:cs typeface="Calibri"/>
              </a:rPr>
              <a:t>visibility</a:t>
            </a:r>
            <a:r>
              <a:rPr sz="3000" i="1" dirty="0">
                <a:latin typeface="Calibri"/>
                <a:cs typeface="Calibri"/>
              </a:rPr>
              <a:t>	</a:t>
            </a:r>
            <a:r>
              <a:rPr sz="3000" i="1" spc="-10" dirty="0">
                <a:latin typeface="Calibri"/>
                <a:cs typeface="Calibri"/>
              </a:rPr>
              <a:t>(friends </a:t>
            </a:r>
            <a:r>
              <a:rPr sz="3000" i="1" dirty="0">
                <a:latin typeface="Calibri"/>
                <a:cs typeface="Calibri"/>
              </a:rPr>
              <a:t>and</a:t>
            </a:r>
            <a:r>
              <a:rPr sz="3000" i="1" spc="-20" dirty="0">
                <a:latin typeface="Calibri"/>
                <a:cs typeface="Calibri"/>
              </a:rPr>
              <a:t> </a:t>
            </a:r>
            <a:r>
              <a:rPr sz="3000" i="1" spc="-10" dirty="0">
                <a:latin typeface="Calibri"/>
                <a:cs typeface="Calibri"/>
              </a:rPr>
              <a:t>derived)</a:t>
            </a:r>
            <a:endParaRPr sz="3000">
              <a:latin typeface="Calibri"/>
              <a:cs typeface="Calibri"/>
            </a:endParaRPr>
          </a:p>
          <a:p>
            <a:pPr marL="354965" indent="-342265">
              <a:lnSpc>
                <a:spcPct val="100000"/>
              </a:lnSpc>
              <a:spcBef>
                <a:spcPts val="25"/>
              </a:spcBef>
              <a:buFont typeface="Arial MT"/>
              <a:buChar char="•"/>
              <a:tabLst>
                <a:tab pos="354965" algn="l"/>
              </a:tabLst>
            </a:pPr>
            <a:r>
              <a:rPr sz="3000" spc="-10" dirty="0">
                <a:latin typeface="Calibri"/>
                <a:cs typeface="Calibri"/>
              </a:rPr>
              <a:t>‘-</a:t>
            </a:r>
            <a:r>
              <a:rPr sz="3000" dirty="0">
                <a:latin typeface="Calibri"/>
                <a:cs typeface="Calibri"/>
              </a:rPr>
              <a:t>’</a:t>
            </a:r>
            <a:r>
              <a:rPr sz="3000" spc="-45" dirty="0">
                <a:latin typeface="Calibri"/>
                <a:cs typeface="Calibri"/>
              </a:rPr>
              <a:t> </a:t>
            </a:r>
            <a:r>
              <a:rPr sz="3000" dirty="0">
                <a:latin typeface="Calibri"/>
                <a:cs typeface="Calibri"/>
              </a:rPr>
              <a:t>is</a:t>
            </a:r>
            <a:r>
              <a:rPr sz="3000" spc="-20" dirty="0">
                <a:latin typeface="Calibri"/>
                <a:cs typeface="Calibri"/>
              </a:rPr>
              <a:t> </a:t>
            </a:r>
            <a:r>
              <a:rPr sz="3000" dirty="0">
                <a:latin typeface="Calibri"/>
                <a:cs typeface="Calibri"/>
              </a:rPr>
              <a:t>used</a:t>
            </a:r>
            <a:r>
              <a:rPr sz="3000" spc="-45" dirty="0">
                <a:latin typeface="Calibri"/>
                <a:cs typeface="Calibri"/>
              </a:rPr>
              <a:t> </a:t>
            </a:r>
            <a:r>
              <a:rPr sz="3000" dirty="0">
                <a:latin typeface="Calibri"/>
                <a:cs typeface="Calibri"/>
              </a:rPr>
              <a:t>to</a:t>
            </a:r>
            <a:r>
              <a:rPr sz="3000" spc="-35" dirty="0">
                <a:latin typeface="Calibri"/>
                <a:cs typeface="Calibri"/>
              </a:rPr>
              <a:t> </a:t>
            </a:r>
            <a:r>
              <a:rPr sz="3000" dirty="0">
                <a:latin typeface="Calibri"/>
                <a:cs typeface="Calibri"/>
              </a:rPr>
              <a:t>denote</a:t>
            </a:r>
            <a:r>
              <a:rPr sz="3000" spc="-50" dirty="0">
                <a:latin typeface="Calibri"/>
                <a:cs typeface="Calibri"/>
              </a:rPr>
              <a:t> </a:t>
            </a:r>
            <a:r>
              <a:rPr sz="3000" i="1" dirty="0">
                <a:latin typeface="Calibri"/>
                <a:cs typeface="Calibri"/>
              </a:rPr>
              <a:t>Private</a:t>
            </a:r>
            <a:r>
              <a:rPr sz="3000" i="1" spc="-30" dirty="0">
                <a:latin typeface="Calibri"/>
                <a:cs typeface="Calibri"/>
              </a:rPr>
              <a:t> </a:t>
            </a:r>
            <a:r>
              <a:rPr sz="3000" i="1" dirty="0">
                <a:latin typeface="Calibri"/>
                <a:cs typeface="Calibri"/>
              </a:rPr>
              <a:t>visibility</a:t>
            </a:r>
            <a:r>
              <a:rPr sz="3000" i="1" spc="-35" dirty="0">
                <a:latin typeface="Calibri"/>
                <a:cs typeface="Calibri"/>
              </a:rPr>
              <a:t> </a:t>
            </a:r>
            <a:r>
              <a:rPr sz="3000" i="1" dirty="0">
                <a:latin typeface="Calibri"/>
                <a:cs typeface="Calibri"/>
              </a:rPr>
              <a:t>(no</a:t>
            </a:r>
            <a:r>
              <a:rPr sz="3000" i="1" spc="-45" dirty="0">
                <a:latin typeface="Calibri"/>
                <a:cs typeface="Calibri"/>
              </a:rPr>
              <a:t> </a:t>
            </a:r>
            <a:r>
              <a:rPr sz="3000" i="1" spc="-20" dirty="0">
                <a:latin typeface="Calibri"/>
                <a:cs typeface="Calibri"/>
              </a:rPr>
              <a:t>one)</a:t>
            </a:r>
            <a:endParaRPr sz="3000">
              <a:latin typeface="Calibri"/>
              <a:cs typeface="Calibri"/>
            </a:endParaRPr>
          </a:p>
          <a:p>
            <a:pPr marL="355600" marR="5080" indent="-342900">
              <a:lnSpc>
                <a:spcPct val="80000"/>
              </a:lnSpc>
              <a:spcBef>
                <a:spcPts val="720"/>
              </a:spcBef>
              <a:buFont typeface="Arial MT"/>
              <a:buChar char="•"/>
              <a:tabLst>
                <a:tab pos="355600" algn="l"/>
                <a:tab pos="867410" algn="l"/>
                <a:tab pos="2190115" algn="l"/>
                <a:tab pos="3835400" algn="l"/>
                <a:tab pos="4470400" algn="l"/>
                <a:tab pos="5680710" algn="l"/>
                <a:tab pos="6400165" algn="l"/>
              </a:tabLst>
            </a:pPr>
            <a:r>
              <a:rPr sz="3000" spc="-25" dirty="0">
                <a:solidFill>
                  <a:srgbClr val="FF0000"/>
                </a:solidFill>
                <a:latin typeface="Calibri"/>
                <a:cs typeface="Calibri"/>
              </a:rPr>
              <a:t>By</a:t>
            </a:r>
            <a:r>
              <a:rPr sz="3000" dirty="0">
                <a:solidFill>
                  <a:srgbClr val="FF0000"/>
                </a:solidFill>
                <a:latin typeface="Calibri"/>
                <a:cs typeface="Calibri"/>
              </a:rPr>
              <a:t>	</a:t>
            </a:r>
            <a:r>
              <a:rPr sz="3000" spc="-10" dirty="0">
                <a:solidFill>
                  <a:srgbClr val="FF0000"/>
                </a:solidFill>
                <a:latin typeface="Calibri"/>
                <a:cs typeface="Calibri"/>
              </a:rPr>
              <a:t>default,</a:t>
            </a:r>
            <a:r>
              <a:rPr sz="3000" dirty="0">
                <a:solidFill>
                  <a:srgbClr val="FF0000"/>
                </a:solidFill>
                <a:latin typeface="Calibri"/>
                <a:cs typeface="Calibri"/>
              </a:rPr>
              <a:t>	</a:t>
            </a:r>
            <a:r>
              <a:rPr sz="3000" spc="-10" dirty="0">
                <a:solidFill>
                  <a:srgbClr val="FF0000"/>
                </a:solidFill>
                <a:latin typeface="Calibri"/>
                <a:cs typeface="Calibri"/>
              </a:rPr>
              <a:t>attributes</a:t>
            </a:r>
            <a:r>
              <a:rPr sz="3000" dirty="0">
                <a:solidFill>
                  <a:srgbClr val="FF0000"/>
                </a:solidFill>
                <a:latin typeface="Calibri"/>
                <a:cs typeface="Calibri"/>
              </a:rPr>
              <a:t>	</a:t>
            </a:r>
            <a:r>
              <a:rPr sz="3000" spc="-25" dirty="0">
                <a:solidFill>
                  <a:srgbClr val="FF0000"/>
                </a:solidFill>
                <a:latin typeface="Calibri"/>
                <a:cs typeface="Calibri"/>
              </a:rPr>
              <a:t>are</a:t>
            </a:r>
            <a:r>
              <a:rPr sz="3000" dirty="0">
                <a:solidFill>
                  <a:srgbClr val="FF0000"/>
                </a:solidFill>
                <a:latin typeface="Calibri"/>
                <a:cs typeface="Calibri"/>
              </a:rPr>
              <a:t>	</a:t>
            </a:r>
            <a:r>
              <a:rPr sz="3000" spc="-10" dirty="0">
                <a:solidFill>
                  <a:srgbClr val="FF0000"/>
                </a:solidFill>
                <a:latin typeface="Calibri"/>
                <a:cs typeface="Calibri"/>
              </a:rPr>
              <a:t>hidden</a:t>
            </a:r>
            <a:r>
              <a:rPr sz="3000" dirty="0">
                <a:solidFill>
                  <a:srgbClr val="FF0000"/>
                </a:solidFill>
                <a:latin typeface="Calibri"/>
                <a:cs typeface="Calibri"/>
              </a:rPr>
              <a:t>	</a:t>
            </a:r>
            <a:r>
              <a:rPr sz="3000" spc="-25" dirty="0">
                <a:solidFill>
                  <a:srgbClr val="FF0000"/>
                </a:solidFill>
                <a:latin typeface="Calibri"/>
                <a:cs typeface="Calibri"/>
              </a:rPr>
              <a:t>and</a:t>
            </a:r>
            <a:r>
              <a:rPr sz="3000" dirty="0">
                <a:solidFill>
                  <a:srgbClr val="FF0000"/>
                </a:solidFill>
                <a:latin typeface="Calibri"/>
                <a:cs typeface="Calibri"/>
              </a:rPr>
              <a:t>	</a:t>
            </a:r>
            <a:r>
              <a:rPr sz="3000" spc="-20" dirty="0">
                <a:solidFill>
                  <a:srgbClr val="FF0000"/>
                </a:solidFill>
                <a:latin typeface="Calibri"/>
                <a:cs typeface="Calibri"/>
              </a:rPr>
              <a:t>operations </a:t>
            </a:r>
            <a:r>
              <a:rPr sz="3000" dirty="0">
                <a:solidFill>
                  <a:srgbClr val="FF0000"/>
                </a:solidFill>
                <a:latin typeface="Calibri"/>
                <a:cs typeface="Calibri"/>
              </a:rPr>
              <a:t>are</a:t>
            </a:r>
            <a:r>
              <a:rPr sz="3000" spc="-75" dirty="0">
                <a:solidFill>
                  <a:srgbClr val="FF0000"/>
                </a:solidFill>
                <a:latin typeface="Calibri"/>
                <a:cs typeface="Calibri"/>
              </a:rPr>
              <a:t> </a:t>
            </a:r>
            <a:r>
              <a:rPr sz="3000" spc="-10" dirty="0">
                <a:solidFill>
                  <a:srgbClr val="FF0000"/>
                </a:solidFill>
                <a:latin typeface="Calibri"/>
                <a:cs typeface="Calibri"/>
              </a:rPr>
              <a:t>visible.</a:t>
            </a:r>
            <a:endParaRPr sz="300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2797" rIns="0" bIns="0" rtlCol="0">
            <a:spAutoFit/>
          </a:bodyPr>
          <a:lstStyle/>
          <a:p>
            <a:pPr marL="1687830">
              <a:lnSpc>
                <a:spcPct val="100000"/>
              </a:lnSpc>
              <a:spcBef>
                <a:spcPts val="105"/>
              </a:spcBef>
            </a:pPr>
            <a:r>
              <a:rPr sz="4400" b="1" dirty="0">
                <a:latin typeface="Calibri"/>
                <a:cs typeface="Calibri"/>
              </a:rPr>
              <a:t>An</a:t>
            </a:r>
            <a:r>
              <a:rPr sz="4400" b="1" spc="-65" dirty="0">
                <a:latin typeface="Calibri"/>
                <a:cs typeface="Calibri"/>
              </a:rPr>
              <a:t> </a:t>
            </a:r>
            <a:r>
              <a:rPr sz="4400" b="1" dirty="0">
                <a:latin typeface="Calibri"/>
                <a:cs typeface="Calibri"/>
              </a:rPr>
              <a:t>example</a:t>
            </a:r>
            <a:r>
              <a:rPr sz="4400" b="1" spc="-85" dirty="0">
                <a:latin typeface="Calibri"/>
                <a:cs typeface="Calibri"/>
              </a:rPr>
              <a:t> </a:t>
            </a:r>
            <a:r>
              <a:rPr sz="4400" b="1" dirty="0">
                <a:latin typeface="Calibri"/>
                <a:cs typeface="Calibri"/>
              </a:rPr>
              <a:t>of</a:t>
            </a:r>
            <a:r>
              <a:rPr sz="4400" b="1" spc="-70" dirty="0">
                <a:latin typeface="Calibri"/>
                <a:cs typeface="Calibri"/>
              </a:rPr>
              <a:t> </a:t>
            </a:r>
            <a:r>
              <a:rPr sz="4400" b="1" spc="-10" dirty="0">
                <a:latin typeface="Calibri"/>
                <a:cs typeface="Calibri"/>
              </a:rPr>
              <a:t>Class</a:t>
            </a:r>
            <a:endParaRPr sz="4400">
              <a:latin typeface="Calibri"/>
              <a:cs typeface="Calibri"/>
            </a:endParaRPr>
          </a:p>
        </p:txBody>
      </p:sp>
      <p:pic>
        <p:nvPicPr>
          <p:cNvPr id="3" name="object 3"/>
          <p:cNvPicPr/>
          <p:nvPr/>
        </p:nvPicPr>
        <p:blipFill>
          <a:blip r:embed="rId2" cstate="print"/>
          <a:stretch>
            <a:fillRect/>
          </a:stretch>
        </p:blipFill>
        <p:spPr>
          <a:xfrm>
            <a:off x="765390" y="1770662"/>
            <a:ext cx="7411259" cy="419720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AE6A9D52-DEBA-01ED-D2FF-5C1BD8A5B013}"/>
              </a:ext>
            </a:extLst>
          </p:cNvPr>
          <p:cNvSpPr>
            <a:spLocks noGrp="1"/>
          </p:cNvSpPr>
          <p:nvPr>
            <p:ph type="subTitle" idx="4"/>
          </p:nvPr>
        </p:nvSpPr>
        <p:spPr>
          <a:xfrm>
            <a:off x="3429000" y="4038600"/>
            <a:ext cx="2286000" cy="615553"/>
          </a:xfrm>
        </p:spPr>
        <p:txBody>
          <a:bodyPr/>
          <a:lstStyle/>
          <a:p>
            <a:r>
              <a:rPr lang="en-US" sz="4000" b="1" dirty="0"/>
              <a:t>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154</TotalTime>
  <Words>1416</Words>
  <Application>Microsoft Office PowerPoint</Application>
  <PresentationFormat>On-screen Show (4:3)</PresentationFormat>
  <Paragraphs>109</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 MT</vt:lpstr>
      <vt:lpstr>Aptos</vt:lpstr>
      <vt:lpstr>Calibri</vt:lpstr>
      <vt:lpstr>Times New Roman</vt:lpstr>
      <vt:lpstr>Wingdings</vt:lpstr>
      <vt:lpstr>Office Theme</vt:lpstr>
      <vt:lpstr>UML Diagrams</vt:lpstr>
      <vt:lpstr>What is UML ?</vt:lpstr>
      <vt:lpstr>PowerPoint Presentation</vt:lpstr>
      <vt:lpstr>PowerPoint Presentation</vt:lpstr>
      <vt:lpstr>PowerPoint Presentation</vt:lpstr>
      <vt:lpstr>PowerPoint Presentation</vt:lpstr>
      <vt:lpstr>PowerPoint Presentation</vt:lpstr>
      <vt:lpstr>Types of UML Diagram</vt:lpstr>
      <vt:lpstr>USE CASE DIAGRAM</vt:lpstr>
      <vt:lpstr>PowerPoint Presentation</vt:lpstr>
      <vt:lpstr>PowerPoint Presentation</vt:lpstr>
      <vt:lpstr>Use Case Diagram</vt:lpstr>
      <vt:lpstr>PowerPoint Presentation</vt:lpstr>
      <vt:lpstr>Relationship in use case diagram cont.</vt:lpstr>
      <vt:lpstr>Relationship in use case diagram cont.</vt:lpstr>
      <vt:lpstr>Relationship in use case diagram cont.</vt:lpstr>
      <vt:lpstr>An Example of Use Case Diagram</vt:lpstr>
      <vt:lpstr>PowerPoint Presentation</vt:lpstr>
      <vt:lpstr>Example:</vt:lpstr>
      <vt:lpstr>Use case Diagram for Passport Automation System</vt:lpstr>
      <vt:lpstr>CLASS DIAGRAM</vt:lpstr>
      <vt:lpstr>PowerPoint Presentation</vt:lpstr>
      <vt:lpstr>Class Representation</vt:lpstr>
      <vt:lpstr>An example of Class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RAJEE</dc:creator>
  <cp:lastModifiedBy>Gaspard Gashema</cp:lastModifiedBy>
  <cp:revision>16</cp:revision>
  <dcterms:created xsi:type="dcterms:W3CDTF">2025-11-10T10:41:45Z</dcterms:created>
  <dcterms:modified xsi:type="dcterms:W3CDTF">2025-11-16T06:23:06Z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2019-09-26T00:00:00Z</vt:filetime>
  </property>
  <property fmtid="{D5CDD505-2E9C-101B-9397-08002B2CF9AE}" pid="3" name="Creator">
    <vt:lpwstr>Microsoft® PowerPoint® 2016</vt:lpwstr>
  </property>
  <property fmtid="{D5CDD505-2E9C-101B-9397-08002B2CF9AE}" pid="4" name="LastSaved">
    <vt:filetime>2025-11-10T00:00:00Z</vt:filetime>
  </property>
  <property fmtid="{D5CDD505-2E9C-101B-9397-08002B2CF9AE}" pid="5" name="Producer">
    <vt:lpwstr>Microsoft® PowerPoint® 2016</vt:lpwstr>
  </property>
</Properties>
</file>