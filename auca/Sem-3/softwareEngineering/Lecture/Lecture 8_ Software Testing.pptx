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5"/>
  </p:notesMasterIdLst>
  <p:sldIdLst>
    <p:sldId id="394" r:id="rId2"/>
    <p:sldId id="258" r:id="rId3"/>
    <p:sldId id="259" r:id="rId4"/>
    <p:sldId id="391" r:id="rId5"/>
    <p:sldId id="260" r:id="rId6"/>
    <p:sldId id="261" r:id="rId7"/>
    <p:sldId id="392" r:id="rId8"/>
    <p:sldId id="262" r:id="rId9"/>
    <p:sldId id="263" r:id="rId10"/>
    <p:sldId id="393" r:id="rId11"/>
    <p:sldId id="264" r:id="rId12"/>
    <p:sldId id="265" r:id="rId13"/>
    <p:sldId id="266" r:id="rId14"/>
    <p:sldId id="405" r:id="rId15"/>
    <p:sldId id="288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5" r:id="rId33"/>
    <p:sldId id="286" r:id="rId34"/>
    <p:sldId id="287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395" r:id="rId44"/>
    <p:sldId id="396" r:id="rId45"/>
    <p:sldId id="299" r:id="rId46"/>
    <p:sldId id="300" r:id="rId47"/>
    <p:sldId id="397" r:id="rId48"/>
    <p:sldId id="398" r:id="rId49"/>
    <p:sldId id="399" r:id="rId50"/>
    <p:sldId id="400" r:id="rId51"/>
    <p:sldId id="401" r:id="rId52"/>
    <p:sldId id="402" r:id="rId53"/>
    <p:sldId id="403" r:id="rId54"/>
    <p:sldId id="404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289" r:id="rId71"/>
    <p:sldId id="290" r:id="rId72"/>
    <p:sldId id="406" r:id="rId73"/>
    <p:sldId id="407" r:id="rId74"/>
    <p:sldId id="408" r:id="rId75"/>
    <p:sldId id="409" r:id="rId76"/>
    <p:sldId id="317" r:id="rId77"/>
    <p:sldId id="318" r:id="rId78"/>
    <p:sldId id="319" r:id="rId79"/>
    <p:sldId id="320" r:id="rId80"/>
    <p:sldId id="321" r:id="rId81"/>
    <p:sldId id="322" r:id="rId82"/>
    <p:sldId id="323" r:id="rId83"/>
    <p:sldId id="324" r:id="rId84"/>
    <p:sldId id="325" r:id="rId85"/>
    <p:sldId id="326" r:id="rId86"/>
    <p:sldId id="327" r:id="rId87"/>
    <p:sldId id="328" r:id="rId88"/>
    <p:sldId id="329" r:id="rId89"/>
    <p:sldId id="346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  <p:sldId id="365" r:id="rId108"/>
    <p:sldId id="366" r:id="rId109"/>
    <p:sldId id="367" r:id="rId110"/>
    <p:sldId id="368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384" r:id="rId127"/>
    <p:sldId id="385" r:id="rId128"/>
    <p:sldId id="386" r:id="rId129"/>
    <p:sldId id="387" r:id="rId130"/>
    <p:sldId id="388" r:id="rId131"/>
    <p:sldId id="389" r:id="rId132"/>
    <p:sldId id="390" r:id="rId133"/>
    <p:sldId id="411" r:id="rId13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4E0E0-D23B-4785-88DC-A889D221FCE8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7A0F6-E0B5-4F3F-9D58-3557EBD98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4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 inputs conform to all rules and expected formats, while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invalid inputs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are data that do not, such as incorrect data types, inappropriate values, or improper formatting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7A0F6-E0B5-4F3F-9D58-3557EBD98B6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30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syntax error is a mistake in the spelling or grammar of a programming language that prevents code from being compiled or executed. Common examples include misspelling a command, missing a bracket or semicolon, or using incorrect punctuation. These errors are detected by the compiler or interpreter because the code violates the language's strict rules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7A0F6-E0B5-4F3F-9D58-3557EBD98B6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79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1">
                <a:solidFill>
                  <a:srgbClr val="DA1F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27-Nov-25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1">
                <a:solidFill>
                  <a:srgbClr val="DA1F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27-Nov-25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1">
                <a:solidFill>
                  <a:srgbClr val="DA1F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27-Nov-25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1">
                <a:solidFill>
                  <a:srgbClr val="DA1F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27-Nov-25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27-Nov-25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99275" y="5944933"/>
            <a:ext cx="4897755" cy="913130"/>
          </a:xfrm>
          <a:custGeom>
            <a:avLst/>
            <a:gdLst/>
            <a:ahLst/>
            <a:cxnLst/>
            <a:rect l="l" t="t" r="r" b="b"/>
            <a:pathLst>
              <a:path w="4897755" h="913129">
                <a:moveTo>
                  <a:pt x="85525" y="21310"/>
                </a:moveTo>
                <a:lnTo>
                  <a:pt x="3636708" y="913066"/>
                </a:lnTo>
                <a:lnTo>
                  <a:pt x="4897414" y="913066"/>
                </a:lnTo>
                <a:lnTo>
                  <a:pt x="85525" y="21310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60"/>
                </a:lnTo>
                <a:lnTo>
                  <a:pt x="85525" y="21310"/>
                </a:lnTo>
                <a:lnTo>
                  <a:pt x="660" y="0"/>
                </a:lnTo>
                <a:close/>
              </a:path>
            </a:pathLst>
          </a:custGeom>
          <a:solidFill>
            <a:srgbClr val="9FCADC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85711" y="5939015"/>
            <a:ext cx="3652520" cy="919480"/>
          </a:xfrm>
          <a:custGeom>
            <a:avLst/>
            <a:gdLst/>
            <a:ahLst/>
            <a:cxnLst/>
            <a:rect l="l" t="t" r="r" b="b"/>
            <a:pathLst>
              <a:path w="3652520" h="919479">
                <a:moveTo>
                  <a:pt x="0" y="0"/>
                </a:moveTo>
                <a:lnTo>
                  <a:pt x="7924" y="6349"/>
                </a:lnTo>
                <a:lnTo>
                  <a:pt x="2868879" y="918984"/>
                </a:lnTo>
                <a:lnTo>
                  <a:pt x="3651894" y="91898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789674"/>
            <a:ext cx="3398520" cy="106832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5784350"/>
            <a:ext cx="3371849" cy="10736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96692" y="-37083"/>
            <a:ext cx="4150614" cy="9967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1">
                <a:solidFill>
                  <a:srgbClr val="DA1F2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2651" y="1394205"/>
            <a:ext cx="8571865" cy="4783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27-Nov-25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28633" y="6420466"/>
            <a:ext cx="345440" cy="318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28" Type="http://schemas.openxmlformats.org/officeDocument/2006/relationships/image" Target="../media/image51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53.pn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28" Type="http://schemas.openxmlformats.org/officeDocument/2006/relationships/image" Target="../media/image51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383932" y="1597622"/>
            <a:ext cx="8760067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4800" b="1" spc="-5" dirty="0">
                <a:solidFill>
                  <a:srgbClr val="330066"/>
                </a:solidFill>
                <a:latin typeface="Arial"/>
                <a:cs typeface="Arial"/>
              </a:rPr>
              <a:t>Chapter 7</a:t>
            </a:r>
            <a:r>
              <a:rPr sz="4800" b="1" spc="-5" dirty="0">
                <a:solidFill>
                  <a:srgbClr val="330066"/>
                </a:solidFill>
                <a:latin typeface="Arial"/>
                <a:cs typeface="Arial"/>
              </a:rPr>
              <a:t>:</a:t>
            </a:r>
            <a:r>
              <a:rPr sz="4800" b="1" spc="2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4800" b="1" spc="-5" dirty="0">
                <a:solidFill>
                  <a:srgbClr val="C00000"/>
                </a:solidFill>
                <a:latin typeface="Arial"/>
                <a:cs typeface="Arial"/>
              </a:rPr>
              <a:t>Software</a:t>
            </a:r>
            <a:r>
              <a:rPr lang="en-US" sz="4800" b="1" spc="-5" dirty="0">
                <a:solidFill>
                  <a:srgbClr val="C00000"/>
                </a:solidFill>
                <a:latin typeface="Arial"/>
                <a:cs typeface="Arial"/>
              </a:rPr>
              <a:t> Testing</a:t>
            </a:r>
            <a:br>
              <a:rPr lang="en-US" sz="4800" dirty="0">
                <a:latin typeface="Arial"/>
                <a:cs typeface="Arial"/>
              </a:rPr>
            </a:br>
            <a:endParaRPr sz="4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290" dirty="0"/>
              <a:t>Testing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5900" y="1314957"/>
            <a:ext cx="7875270" cy="4160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4505" indent="-45720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484505" algn="l"/>
              </a:tabLst>
            </a:pPr>
            <a:r>
              <a:rPr sz="3200" b="1" dirty="0">
                <a:latin typeface="Times New Roman"/>
                <a:cs typeface="Times New Roman"/>
              </a:rPr>
              <a:t>Why</a:t>
            </a:r>
            <a:r>
              <a:rPr sz="3200" b="1" spc="-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should</a:t>
            </a:r>
            <a:r>
              <a:rPr sz="3200" b="1" spc="-140" dirty="0">
                <a:latin typeface="Times New Roman"/>
                <a:cs typeface="Times New Roman"/>
              </a:rPr>
              <a:t> </a:t>
            </a:r>
            <a:r>
              <a:rPr sz="3200" b="1" spc="-60" dirty="0">
                <a:latin typeface="Times New Roman"/>
                <a:cs typeface="Times New Roman"/>
              </a:rPr>
              <a:t>We</a:t>
            </a:r>
            <a:r>
              <a:rPr sz="3200" b="1" spc="-120" dirty="0">
                <a:latin typeface="Times New Roman"/>
                <a:cs typeface="Times New Roman"/>
              </a:rPr>
              <a:t> </a:t>
            </a:r>
            <a:r>
              <a:rPr sz="3200" b="1" spc="-50" dirty="0">
                <a:latin typeface="Times New Roman"/>
                <a:cs typeface="Times New Roman"/>
              </a:rPr>
              <a:t>Test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spc="-50" dirty="0"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  <a:p>
            <a:pPr marL="135890" marR="5080" algn="just">
              <a:lnSpc>
                <a:spcPct val="150000"/>
              </a:lnSpc>
              <a:spcBef>
                <a:spcPts val="1360"/>
              </a:spcBef>
            </a:pPr>
            <a:r>
              <a:rPr sz="2200" b="1" dirty="0">
                <a:latin typeface="Times New Roman"/>
                <a:cs typeface="Times New Roman"/>
              </a:rPr>
              <a:t>Although</a:t>
            </a:r>
            <a:r>
              <a:rPr sz="2200" b="1" spc="45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software</a:t>
            </a:r>
            <a:r>
              <a:rPr sz="2200" b="1" spc="50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testing</a:t>
            </a:r>
            <a:r>
              <a:rPr sz="2200" b="1" spc="55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is</a:t>
            </a:r>
            <a:r>
              <a:rPr sz="2200" b="1" spc="45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itself</a:t>
            </a:r>
            <a:r>
              <a:rPr sz="2200" b="1" spc="55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an</a:t>
            </a:r>
            <a:r>
              <a:rPr sz="2200" b="1" spc="50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expensive</a:t>
            </a:r>
            <a:r>
              <a:rPr sz="2200" b="1" spc="40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activity,</a:t>
            </a:r>
            <a:r>
              <a:rPr sz="2200" b="1" spc="50" dirty="0">
                <a:latin typeface="Times New Roman"/>
                <a:cs typeface="Times New Roman"/>
              </a:rPr>
              <a:t>  </a:t>
            </a:r>
            <a:r>
              <a:rPr sz="2200" b="1" spc="-25" dirty="0">
                <a:latin typeface="Times New Roman"/>
                <a:cs typeface="Times New Roman"/>
              </a:rPr>
              <a:t>yet </a:t>
            </a:r>
            <a:r>
              <a:rPr sz="2200" b="1" dirty="0">
                <a:latin typeface="Times New Roman"/>
                <a:cs typeface="Times New Roman"/>
              </a:rPr>
              <a:t>launching</a:t>
            </a:r>
            <a:r>
              <a:rPr sz="2200" b="1" spc="345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340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software</a:t>
            </a:r>
            <a:r>
              <a:rPr sz="2200" b="1" spc="350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without</a:t>
            </a:r>
            <a:r>
              <a:rPr sz="2200" b="1" spc="345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testing</a:t>
            </a:r>
            <a:r>
              <a:rPr sz="2200" b="1" spc="350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may</a:t>
            </a:r>
            <a:r>
              <a:rPr sz="2200" b="1" spc="345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lead</a:t>
            </a:r>
            <a:r>
              <a:rPr sz="2200" b="1" spc="345" dirty="0">
                <a:latin typeface="Times New Roman"/>
                <a:cs typeface="Times New Roman"/>
              </a:rPr>
              <a:t>  </a:t>
            </a:r>
            <a:r>
              <a:rPr sz="2200" b="1" dirty="0">
                <a:latin typeface="Times New Roman"/>
                <a:cs typeface="Times New Roman"/>
              </a:rPr>
              <a:t>to</a:t>
            </a:r>
            <a:r>
              <a:rPr sz="2200" b="1" spc="350" dirty="0">
                <a:latin typeface="Times New Roman"/>
                <a:cs typeface="Times New Roman"/>
              </a:rPr>
              <a:t>  </a:t>
            </a:r>
            <a:r>
              <a:rPr sz="2200" b="1" spc="-20" dirty="0">
                <a:latin typeface="Times New Roman"/>
                <a:cs typeface="Times New Roman"/>
              </a:rPr>
              <a:t>cost </a:t>
            </a:r>
            <a:r>
              <a:rPr sz="2200" b="1" dirty="0">
                <a:latin typeface="Times New Roman"/>
                <a:cs typeface="Times New Roman"/>
              </a:rPr>
              <a:t>potentially</a:t>
            </a:r>
            <a:r>
              <a:rPr sz="2200" b="1" spc="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much</a:t>
            </a:r>
            <a:r>
              <a:rPr sz="2200" b="1" spc="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higher</a:t>
            </a:r>
            <a:r>
              <a:rPr sz="2200" b="1" spc="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than</a:t>
            </a:r>
            <a:r>
              <a:rPr sz="2200" b="1" spc="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that</a:t>
            </a:r>
            <a:r>
              <a:rPr sz="2200" b="1" spc="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testing,</a:t>
            </a:r>
            <a:r>
              <a:rPr sz="2200" b="1" spc="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specially</a:t>
            </a:r>
            <a:r>
              <a:rPr sz="2200" b="1" spc="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</a:t>
            </a:r>
            <a:r>
              <a:rPr sz="2200" b="1" spc="3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systems </a:t>
            </a:r>
            <a:r>
              <a:rPr sz="2200" b="1" dirty="0">
                <a:latin typeface="Times New Roman"/>
                <a:cs typeface="Times New Roman"/>
              </a:rPr>
              <a:t>where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human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safety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is</a:t>
            </a:r>
            <a:r>
              <a:rPr sz="2200" b="1" spc="-7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involved.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 marR="157480" algn="just">
              <a:lnSpc>
                <a:spcPct val="100000"/>
              </a:lnSpc>
            </a:pPr>
            <a:r>
              <a:rPr sz="2200" b="1" dirty="0">
                <a:latin typeface="Times New Roman"/>
                <a:cs typeface="Times New Roman"/>
              </a:rPr>
              <a:t>In</a:t>
            </a:r>
            <a:r>
              <a:rPr sz="2200" b="1" spc="3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3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software</a:t>
            </a:r>
            <a:r>
              <a:rPr sz="2200" b="1" spc="3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life</a:t>
            </a:r>
            <a:r>
              <a:rPr sz="2200" b="1" spc="3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cycle</a:t>
            </a:r>
            <a:r>
              <a:rPr sz="2200" b="1" spc="31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3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earlier</a:t>
            </a:r>
            <a:r>
              <a:rPr sz="2200" b="1" spc="29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3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errors</a:t>
            </a:r>
            <a:r>
              <a:rPr sz="2200" b="1" spc="31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are</a:t>
            </a:r>
            <a:r>
              <a:rPr sz="2200" b="1" spc="31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discovered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removed,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lower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is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cost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their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removal.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648" y="1467357"/>
            <a:ext cx="8515985" cy="4388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6115" indent="-45720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666115" algn="l"/>
              </a:tabLst>
            </a:pPr>
            <a:r>
              <a:rPr sz="3200" b="1" dirty="0">
                <a:latin typeface="Times New Roman"/>
                <a:cs typeface="Times New Roman"/>
              </a:rPr>
              <a:t>What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is</a:t>
            </a:r>
            <a:r>
              <a:rPr sz="3200" b="1" spc="-7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Testing?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35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Many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people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understand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many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definitions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testing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970"/>
              </a:spcBef>
              <a:buAutoNum type="arabicPeriod"/>
              <a:tabLst>
                <a:tab pos="469900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Testing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process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demonstrating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errors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present.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0"/>
              </a:spcBef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purpose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testing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show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program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performs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its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intended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Times New Roman"/>
                <a:cs typeface="Times New Roman"/>
              </a:rPr>
              <a:t>functions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correctly.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AutoNum type="arabicPeriod" startAt="3"/>
              <a:tabLst>
                <a:tab pos="469900" algn="l"/>
              </a:tabLst>
            </a:pP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Testing</a:t>
            </a:r>
            <a:r>
              <a:rPr sz="2000" b="1" spc="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is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spc="-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process</a:t>
            </a:r>
            <a:r>
              <a:rPr sz="2000" b="1" spc="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2000" b="1" spc="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establishing</a:t>
            </a:r>
            <a:r>
              <a:rPr sz="2000" b="1" spc="1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confidence</a:t>
            </a:r>
            <a:r>
              <a:rPr sz="2000" b="1" spc="-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that</a:t>
            </a:r>
            <a:r>
              <a:rPr sz="2000" b="1" spc="1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 program does </a:t>
            </a:r>
            <a:r>
              <a:rPr sz="2000" b="1" spc="-20" dirty="0">
                <a:solidFill>
                  <a:srgbClr val="663300"/>
                </a:solidFill>
                <a:latin typeface="Times New Roman"/>
                <a:cs typeface="Times New Roman"/>
              </a:rPr>
              <a:t>what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it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is</a:t>
            </a:r>
            <a:r>
              <a:rPr sz="2000" b="1" spc="-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supposed</a:t>
            </a:r>
            <a:r>
              <a:rPr sz="2000" b="1" spc="-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sz="2000" b="1" spc="-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do.</a:t>
            </a:r>
            <a:endParaRPr sz="2000">
              <a:latin typeface="Times New Roman"/>
              <a:cs typeface="Times New Roman"/>
            </a:endParaRPr>
          </a:p>
          <a:p>
            <a:pPr marR="90170" algn="ctr">
              <a:lnSpc>
                <a:spcPct val="100000"/>
              </a:lnSpc>
              <a:spcBef>
                <a:spcPts val="1019"/>
              </a:spcBef>
            </a:pP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These</a:t>
            </a:r>
            <a:r>
              <a:rPr sz="2400" b="1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definitions</a:t>
            </a:r>
            <a:r>
              <a:rPr sz="2400" b="1" spc="-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4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incorrect.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290" dirty="0"/>
              <a:t>Testing</a:t>
            </a:r>
          </a:p>
        </p:txBody>
      </p:sp>
      <p:sp>
        <p:nvSpPr>
          <p:cNvPr id="4" name="object 4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340563" y="1672285"/>
            <a:ext cx="8542655" cy="1880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3CC"/>
                </a:solidFill>
                <a:latin typeface="Arial MT"/>
                <a:cs typeface="Arial MT"/>
              </a:rPr>
              <a:t>A</a:t>
            </a:r>
            <a:r>
              <a:rPr sz="2400" spc="-155" dirty="0">
                <a:solidFill>
                  <a:srgbClr val="0033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33CC"/>
                </a:solidFill>
                <a:latin typeface="Arial MT"/>
                <a:cs typeface="Arial MT"/>
              </a:rPr>
              <a:t>more </a:t>
            </a:r>
            <a:r>
              <a:rPr sz="2400" spc="-5" dirty="0">
                <a:solidFill>
                  <a:srgbClr val="0033CC"/>
                </a:solidFill>
                <a:latin typeface="Arial MT"/>
                <a:cs typeface="Arial MT"/>
              </a:rPr>
              <a:t>appropriate</a:t>
            </a:r>
            <a:r>
              <a:rPr sz="2400" spc="20" dirty="0">
                <a:solidFill>
                  <a:srgbClr val="0033CC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33CC"/>
                </a:solidFill>
                <a:latin typeface="Arial MT"/>
                <a:cs typeface="Arial MT"/>
              </a:rPr>
              <a:t>definition</a:t>
            </a:r>
            <a:r>
              <a:rPr sz="2400" spc="15" dirty="0">
                <a:solidFill>
                  <a:srgbClr val="0033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33CC"/>
                </a:solidFill>
                <a:latin typeface="Arial MT"/>
                <a:cs typeface="Arial MT"/>
              </a:rPr>
              <a:t>is: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00" dirty="0">
              <a:latin typeface="Arial MT"/>
              <a:cs typeface="Arial MT"/>
            </a:endParaRPr>
          </a:p>
          <a:p>
            <a:pPr marL="40005" marR="5080">
              <a:lnSpc>
                <a:spcPct val="100000"/>
              </a:lnSpc>
            </a:pPr>
            <a:r>
              <a:rPr sz="3200" spc="-40" dirty="0">
                <a:solidFill>
                  <a:srgbClr val="003366"/>
                </a:solidFill>
                <a:latin typeface="Arial MT"/>
                <a:cs typeface="Arial MT"/>
              </a:rPr>
              <a:t>“</a:t>
            </a:r>
            <a:r>
              <a:rPr sz="3200" i="1" spc="-40" dirty="0">
                <a:solidFill>
                  <a:srgbClr val="003366"/>
                </a:solidFill>
                <a:latin typeface="Arial"/>
                <a:cs typeface="Arial"/>
              </a:rPr>
              <a:t>Testing</a:t>
            </a:r>
            <a:r>
              <a:rPr sz="3200" i="1" spc="18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200" i="1" spc="-5" dirty="0">
                <a:solidFill>
                  <a:srgbClr val="003366"/>
                </a:solidFill>
                <a:latin typeface="Arial"/>
                <a:cs typeface="Arial"/>
              </a:rPr>
              <a:t>is</a:t>
            </a:r>
            <a:r>
              <a:rPr sz="3200" i="1" spc="204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003366"/>
                </a:solidFill>
                <a:latin typeface="Arial"/>
                <a:cs typeface="Arial"/>
              </a:rPr>
              <a:t>the</a:t>
            </a:r>
            <a:r>
              <a:rPr sz="3200" i="1" spc="1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200" i="1" spc="-5" dirty="0">
                <a:solidFill>
                  <a:srgbClr val="003366"/>
                </a:solidFill>
                <a:latin typeface="Arial"/>
                <a:cs typeface="Arial"/>
              </a:rPr>
              <a:t>process</a:t>
            </a:r>
            <a:r>
              <a:rPr sz="3200" i="1" spc="20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003366"/>
                </a:solidFill>
                <a:latin typeface="Arial"/>
                <a:cs typeface="Arial"/>
              </a:rPr>
              <a:t>of</a:t>
            </a:r>
            <a:r>
              <a:rPr sz="3200" i="1" spc="19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200" i="1" spc="-5" dirty="0">
                <a:solidFill>
                  <a:srgbClr val="003366"/>
                </a:solidFill>
                <a:latin typeface="Arial"/>
                <a:cs typeface="Arial"/>
              </a:rPr>
              <a:t>executing</a:t>
            </a:r>
            <a:r>
              <a:rPr sz="3200" i="1" spc="19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3200" i="1" spc="19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200" i="1" spc="-5" dirty="0">
                <a:solidFill>
                  <a:srgbClr val="003366"/>
                </a:solidFill>
                <a:latin typeface="Arial"/>
                <a:cs typeface="Arial"/>
              </a:rPr>
              <a:t>program </a:t>
            </a:r>
            <a:r>
              <a:rPr sz="3200" i="1" spc="-869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003366"/>
                </a:solidFill>
                <a:latin typeface="Arial"/>
                <a:cs typeface="Arial"/>
              </a:rPr>
              <a:t>with</a:t>
            </a:r>
            <a:r>
              <a:rPr sz="3200" i="1" spc="-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200" i="1" spc="-5" dirty="0">
                <a:solidFill>
                  <a:srgbClr val="003366"/>
                </a:solidFill>
                <a:latin typeface="Arial"/>
                <a:cs typeface="Arial"/>
              </a:rPr>
              <a:t>the</a:t>
            </a:r>
            <a:r>
              <a:rPr sz="3200" i="1" spc="-1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200" i="1" spc="-5" dirty="0">
                <a:solidFill>
                  <a:srgbClr val="003366"/>
                </a:solidFill>
                <a:latin typeface="Arial"/>
                <a:cs typeface="Arial"/>
              </a:rPr>
              <a:t>intent</a:t>
            </a:r>
            <a:r>
              <a:rPr sz="3200" i="1" spc="-1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200" i="1" spc="-5" dirty="0">
                <a:solidFill>
                  <a:srgbClr val="003366"/>
                </a:solidFill>
                <a:latin typeface="Arial"/>
                <a:cs typeface="Arial"/>
              </a:rPr>
              <a:t>of finding</a:t>
            </a:r>
            <a:r>
              <a:rPr sz="3200" i="1" spc="-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003366"/>
                </a:solidFill>
                <a:latin typeface="Arial"/>
                <a:cs typeface="Arial"/>
              </a:rPr>
              <a:t>errors</a:t>
            </a:r>
            <a:r>
              <a:rPr sz="3200" dirty="0">
                <a:solidFill>
                  <a:srgbClr val="003366"/>
                </a:solidFill>
                <a:latin typeface="Arial MT"/>
                <a:cs typeface="Arial MT"/>
              </a:rPr>
              <a:t>.”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54649" y="304800"/>
            <a:ext cx="8339455" cy="824585"/>
          </a:xfrm>
          <a:prstGeom prst="rect">
            <a:avLst/>
          </a:prstGeom>
          <a:ln w="25400">
            <a:solidFill>
              <a:srgbClr val="88A3A7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70"/>
              </a:spcBef>
            </a:pPr>
            <a:r>
              <a:rPr sz="4800" b="1" spc="-5" dirty="0">
                <a:latin typeface="Arial"/>
                <a:cs typeface="Arial"/>
              </a:rPr>
              <a:t>Appropriate</a:t>
            </a:r>
            <a:r>
              <a:rPr sz="4800" b="1" spc="20" dirty="0">
                <a:latin typeface="Arial"/>
                <a:cs typeface="Arial"/>
              </a:rPr>
              <a:t> </a:t>
            </a:r>
            <a:r>
              <a:rPr sz="4800" b="1" spc="-5" dirty="0">
                <a:latin typeface="Arial"/>
                <a:cs typeface="Arial"/>
              </a:rPr>
              <a:t>definition</a:t>
            </a:r>
            <a:endParaRPr sz="4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290" dirty="0"/>
              <a:t>Testing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540" y="1649983"/>
            <a:ext cx="7633334" cy="393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469265" algn="l"/>
              </a:tabLst>
            </a:pPr>
            <a:r>
              <a:rPr sz="3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Who</a:t>
            </a:r>
            <a:r>
              <a:rPr sz="32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should</a:t>
            </a:r>
            <a:r>
              <a:rPr sz="32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</a:t>
            </a:r>
            <a:r>
              <a:rPr sz="32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200" b="1" u="sng" spc="-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Testing</a:t>
            </a:r>
            <a:r>
              <a:rPr sz="3200" b="1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?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  <a:buFont typeface="Times New Roman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510540" lvl="1" indent="-348615">
              <a:lnSpc>
                <a:spcPct val="100000"/>
              </a:lnSpc>
              <a:buFont typeface="Times New Roman"/>
              <a:buChar char="o"/>
              <a:tabLst>
                <a:tab pos="510540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Testing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requires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developers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find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errors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their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software.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0"/>
              </a:spcBef>
              <a:buFont typeface="Times New Roman"/>
              <a:buChar char="o"/>
            </a:pPr>
            <a:endParaRPr sz="2000">
              <a:latin typeface="Times New Roman"/>
              <a:cs typeface="Times New Roman"/>
            </a:endParaRPr>
          </a:p>
          <a:p>
            <a:pPr marL="510540" lvl="1" indent="-348615">
              <a:lnSpc>
                <a:spcPct val="100000"/>
              </a:lnSpc>
              <a:buFont typeface="Times New Roman"/>
              <a:buChar char="o"/>
              <a:tabLst>
                <a:tab pos="510540" algn="l"/>
              </a:tabLst>
            </a:pP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difficult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software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developer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point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out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errors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own</a:t>
            </a:r>
            <a:endParaRPr sz="2000">
              <a:latin typeface="Times New Roman"/>
              <a:cs typeface="Times New Roman"/>
            </a:endParaRPr>
          </a:p>
          <a:p>
            <a:pPr marL="510540">
              <a:lnSpc>
                <a:spcPct val="100000"/>
              </a:lnSpc>
              <a:spcBef>
                <a:spcPts val="1205"/>
              </a:spcBef>
            </a:pPr>
            <a:r>
              <a:rPr sz="2000" b="1" spc="-10" dirty="0">
                <a:latin typeface="Times New Roman"/>
                <a:cs typeface="Times New Roman"/>
              </a:rPr>
              <a:t>creations.</a:t>
            </a:r>
            <a:endParaRPr sz="2000">
              <a:latin typeface="Times New Roman"/>
              <a:cs typeface="Times New Roman"/>
            </a:endParaRPr>
          </a:p>
          <a:p>
            <a:pPr marL="510540" marR="5080" lvl="1" indent="-349250" algn="just">
              <a:lnSpc>
                <a:spcPct val="150100"/>
              </a:lnSpc>
              <a:spcBef>
                <a:spcPts val="1195"/>
              </a:spcBef>
              <a:buFont typeface="Times New Roman"/>
              <a:buChar char="o"/>
              <a:tabLst>
                <a:tab pos="510540" algn="l"/>
              </a:tabLst>
            </a:pPr>
            <a:r>
              <a:rPr sz="2000" b="1" dirty="0">
                <a:latin typeface="Times New Roman"/>
                <a:cs typeface="Times New Roman"/>
              </a:rPr>
              <a:t>Many</a:t>
            </a:r>
            <a:r>
              <a:rPr sz="2000" b="1" spc="250" dirty="0">
                <a:latin typeface="Times New Roman"/>
                <a:cs typeface="Times New Roman"/>
              </a:rPr>
              <a:t>   </a:t>
            </a:r>
            <a:r>
              <a:rPr sz="2000" b="1" dirty="0">
                <a:latin typeface="Times New Roman"/>
                <a:cs typeface="Times New Roman"/>
              </a:rPr>
              <a:t>organizations</a:t>
            </a:r>
            <a:r>
              <a:rPr sz="2000" b="1" spc="260" dirty="0">
                <a:latin typeface="Times New Roman"/>
                <a:cs typeface="Times New Roman"/>
              </a:rPr>
              <a:t>   </a:t>
            </a:r>
            <a:r>
              <a:rPr sz="2000" b="1" dirty="0">
                <a:latin typeface="Times New Roman"/>
                <a:cs typeface="Times New Roman"/>
              </a:rPr>
              <a:t>have</a:t>
            </a:r>
            <a:r>
              <a:rPr sz="2000" b="1" spc="254" dirty="0">
                <a:latin typeface="Times New Roman"/>
                <a:cs typeface="Times New Roman"/>
              </a:rPr>
              <a:t>   </a:t>
            </a:r>
            <a:r>
              <a:rPr sz="2000" b="1" dirty="0">
                <a:latin typeface="Times New Roman"/>
                <a:cs typeface="Times New Roman"/>
              </a:rPr>
              <a:t>made</a:t>
            </a:r>
            <a:r>
              <a:rPr sz="2000" b="1" spc="254" dirty="0">
                <a:latin typeface="Times New Roman"/>
                <a:cs typeface="Times New Roman"/>
              </a:rPr>
              <a:t>  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260" dirty="0">
                <a:latin typeface="Times New Roman"/>
                <a:cs typeface="Times New Roman"/>
              </a:rPr>
              <a:t>   </a:t>
            </a:r>
            <a:r>
              <a:rPr sz="2000" b="1" dirty="0">
                <a:latin typeface="Times New Roman"/>
                <a:cs typeface="Times New Roman"/>
              </a:rPr>
              <a:t>distinction</a:t>
            </a:r>
            <a:r>
              <a:rPr sz="2000" b="1" spc="254" dirty="0">
                <a:latin typeface="Times New Roman"/>
                <a:cs typeface="Times New Roman"/>
              </a:rPr>
              <a:t>   </a:t>
            </a:r>
            <a:r>
              <a:rPr sz="2000" b="1" spc="-10" dirty="0">
                <a:latin typeface="Times New Roman"/>
                <a:cs typeface="Times New Roman"/>
              </a:rPr>
              <a:t>between </a:t>
            </a:r>
            <a:r>
              <a:rPr sz="2000" b="1" dirty="0">
                <a:latin typeface="Times New Roman"/>
                <a:cs typeface="Times New Roman"/>
              </a:rPr>
              <a:t>development</a:t>
            </a:r>
            <a:r>
              <a:rPr sz="2000" b="1" spc="18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18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testing</a:t>
            </a:r>
            <a:r>
              <a:rPr sz="2000" b="1" spc="18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phase</a:t>
            </a:r>
            <a:r>
              <a:rPr sz="2000" b="1" spc="18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19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making</a:t>
            </a:r>
            <a:r>
              <a:rPr sz="2000" b="1" spc="19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190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people </a:t>
            </a:r>
            <a:r>
              <a:rPr sz="2000" b="1" dirty="0">
                <a:latin typeface="Times New Roman"/>
                <a:cs typeface="Times New Roman"/>
              </a:rPr>
              <a:t>responsible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each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phase.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290" dirty="0"/>
              <a:t>Testing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9240" y="1314957"/>
            <a:ext cx="8637270" cy="4274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7365" indent="-456565" algn="just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507365" algn="l"/>
              </a:tabLst>
            </a:pPr>
            <a:r>
              <a:rPr sz="3200" b="1" dirty="0">
                <a:latin typeface="Times New Roman"/>
                <a:cs typeface="Times New Roman"/>
              </a:rPr>
              <a:t>What</a:t>
            </a:r>
            <a:r>
              <a:rPr sz="3200" b="1" spc="-9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should</a:t>
            </a:r>
            <a:r>
              <a:rPr sz="3200" b="1" spc="-140" dirty="0">
                <a:latin typeface="Times New Roman"/>
                <a:cs typeface="Times New Roman"/>
              </a:rPr>
              <a:t> </a:t>
            </a:r>
            <a:r>
              <a:rPr sz="3200" b="1" spc="-50" dirty="0">
                <a:latin typeface="Times New Roman"/>
                <a:cs typeface="Times New Roman"/>
              </a:rPr>
              <a:t>We</a:t>
            </a:r>
            <a:r>
              <a:rPr sz="3200" b="1" spc="-105" dirty="0">
                <a:latin typeface="Times New Roman"/>
                <a:cs typeface="Times New Roman"/>
              </a:rPr>
              <a:t> </a:t>
            </a:r>
            <a:r>
              <a:rPr sz="3200" b="1" spc="-55" dirty="0">
                <a:latin typeface="Times New Roman"/>
                <a:cs typeface="Times New Roman"/>
              </a:rPr>
              <a:t>Test</a:t>
            </a:r>
            <a:r>
              <a:rPr sz="3200" b="1" spc="-70" dirty="0">
                <a:latin typeface="Times New Roman"/>
                <a:cs typeface="Times New Roman"/>
              </a:rPr>
              <a:t> </a:t>
            </a:r>
            <a:r>
              <a:rPr sz="3200" b="1" spc="-50" dirty="0">
                <a:latin typeface="Times New Roman"/>
                <a:cs typeface="Times New Roman"/>
              </a:rPr>
              <a:t>?</a:t>
            </a:r>
            <a:endParaRPr sz="3200" dirty="0">
              <a:latin typeface="Times New Roman"/>
              <a:cs typeface="Times New Roman"/>
            </a:endParaRPr>
          </a:p>
          <a:p>
            <a:pPr marL="111760" marR="55880" algn="just">
              <a:lnSpc>
                <a:spcPct val="150100"/>
              </a:lnSpc>
              <a:spcBef>
                <a:spcPts val="800"/>
              </a:spcBef>
            </a:pP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should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program’s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responses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every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possible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input.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means,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we </a:t>
            </a:r>
            <a:r>
              <a:rPr sz="2000" b="1" dirty="0">
                <a:latin typeface="Times New Roman"/>
                <a:cs typeface="Times New Roman"/>
              </a:rPr>
              <a:t>should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all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valid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invalid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inputs.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Suppose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program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requires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two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8 </a:t>
            </a:r>
            <a:r>
              <a:rPr sz="2000" b="1" dirty="0">
                <a:latin typeface="Times New Roman"/>
                <a:cs typeface="Times New Roman"/>
              </a:rPr>
              <a:t>bit</a:t>
            </a:r>
            <a:r>
              <a:rPr sz="2000" b="1" spc="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integers</a:t>
            </a:r>
            <a:r>
              <a:rPr sz="2000" b="1" spc="1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as</a:t>
            </a:r>
            <a:r>
              <a:rPr sz="2000" b="1" spc="1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inputs.</a:t>
            </a:r>
            <a:r>
              <a:rPr sz="2000" b="1" spc="1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Total</a:t>
            </a:r>
            <a:r>
              <a:rPr sz="2000" b="1" spc="1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possible</a:t>
            </a:r>
            <a:r>
              <a:rPr sz="2000" b="1" spc="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combinations</a:t>
            </a:r>
            <a:r>
              <a:rPr sz="2000" b="1" spc="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2</a:t>
            </a:r>
            <a:r>
              <a:rPr sz="1950" b="1" baseline="25641" dirty="0">
                <a:latin typeface="Times New Roman"/>
                <a:cs typeface="Times New Roman"/>
              </a:rPr>
              <a:t>8</a:t>
            </a:r>
            <a:r>
              <a:rPr sz="2000" b="1" dirty="0">
                <a:latin typeface="Times New Roman"/>
                <a:cs typeface="Times New Roman"/>
              </a:rPr>
              <a:t>x2</a:t>
            </a:r>
            <a:r>
              <a:rPr sz="1950" b="1" baseline="25641" dirty="0">
                <a:latin typeface="Times New Roman"/>
                <a:cs typeface="Times New Roman"/>
              </a:rPr>
              <a:t>8</a:t>
            </a:r>
            <a:r>
              <a:rPr sz="2000" b="1" dirty="0">
                <a:latin typeface="Times New Roman"/>
                <a:cs typeface="Times New Roman"/>
              </a:rPr>
              <a:t>.</a:t>
            </a:r>
            <a:r>
              <a:rPr sz="2000" b="1" spc="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1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only</a:t>
            </a:r>
            <a:r>
              <a:rPr sz="2000" b="1" spc="15" dirty="0">
                <a:latin typeface="Times New Roman"/>
                <a:cs typeface="Times New Roman"/>
              </a:rPr>
              <a:t>  </a:t>
            </a:r>
            <a:r>
              <a:rPr sz="2000" b="1" spc="-25" dirty="0">
                <a:latin typeface="Times New Roman"/>
                <a:cs typeface="Times New Roman"/>
              </a:rPr>
              <a:t>one </a:t>
            </a:r>
            <a:r>
              <a:rPr sz="2000" b="1" dirty="0">
                <a:latin typeface="Times New Roman"/>
                <a:cs typeface="Times New Roman"/>
              </a:rPr>
              <a:t>second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is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required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execute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one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inputs,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take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18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hours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all </a:t>
            </a:r>
            <a:r>
              <a:rPr sz="2000" b="1" dirty="0">
                <a:latin typeface="Times New Roman"/>
                <a:cs typeface="Times New Roman"/>
              </a:rPr>
              <a:t>combinations.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Practically,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inputs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more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two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size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also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more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than</a:t>
            </a:r>
            <a:endParaRPr sz="2000" dirty="0">
              <a:latin typeface="Times New Roman"/>
              <a:cs typeface="Times New Roman"/>
            </a:endParaRPr>
          </a:p>
          <a:p>
            <a:pPr marL="111760" marR="58419" algn="just">
              <a:lnSpc>
                <a:spcPct val="150000"/>
              </a:lnSpc>
            </a:pPr>
            <a:r>
              <a:rPr sz="2000" b="1" dirty="0">
                <a:latin typeface="Times New Roman"/>
                <a:cs typeface="Times New Roman"/>
              </a:rPr>
              <a:t>8</a:t>
            </a:r>
            <a:r>
              <a:rPr sz="2000" b="1" spc="254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bits.</a:t>
            </a:r>
            <a:r>
              <a:rPr sz="2000" b="1" spc="254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24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have</a:t>
            </a:r>
            <a:r>
              <a:rPr sz="2000" b="1" spc="25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also</a:t>
            </a:r>
            <a:r>
              <a:rPr sz="2000" b="1" spc="26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25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considered</a:t>
            </a:r>
            <a:r>
              <a:rPr sz="2000" b="1" spc="254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invalid</a:t>
            </a:r>
            <a:r>
              <a:rPr sz="2000" b="1" spc="254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inputs</a:t>
            </a:r>
            <a:r>
              <a:rPr sz="2000" b="1" spc="254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where</a:t>
            </a:r>
            <a:r>
              <a:rPr sz="2000" b="1" spc="24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so</a:t>
            </a:r>
            <a:r>
              <a:rPr sz="2000" b="1" spc="254" dirty="0">
                <a:latin typeface="Times New Roman"/>
                <a:cs typeface="Times New Roman"/>
              </a:rPr>
              <a:t>  </a:t>
            </a:r>
            <a:r>
              <a:rPr sz="2000" b="1" spc="-20" dirty="0">
                <a:latin typeface="Times New Roman"/>
                <a:cs typeface="Times New Roman"/>
              </a:rPr>
              <a:t>many </a:t>
            </a:r>
            <a:r>
              <a:rPr sz="2000" b="1" dirty="0">
                <a:latin typeface="Times New Roman"/>
                <a:cs typeface="Times New Roman"/>
              </a:rPr>
              <a:t>combinations</a:t>
            </a:r>
            <a:r>
              <a:rPr sz="2000" b="1" spc="114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1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possible.</a:t>
            </a:r>
            <a:r>
              <a:rPr sz="2000" b="1" spc="1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Hence,</a:t>
            </a:r>
            <a:r>
              <a:rPr sz="2000" b="1" spc="1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complete</a:t>
            </a:r>
            <a:r>
              <a:rPr sz="2000" b="1" spc="1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testing</a:t>
            </a:r>
            <a:r>
              <a:rPr sz="2000" b="1" spc="1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11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just</a:t>
            </a:r>
            <a:r>
              <a:rPr sz="2000" b="1" spc="1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120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possible,</a:t>
            </a:r>
            <a:endParaRPr sz="2000" dirty="0">
              <a:latin typeface="Times New Roman"/>
              <a:cs typeface="Times New Roman"/>
            </a:endParaRPr>
          </a:p>
          <a:p>
            <a:pPr marL="111760" algn="just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Times New Roman"/>
                <a:cs typeface="Times New Roman"/>
              </a:rPr>
              <a:t>although,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wish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so.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438400" y="6705600"/>
            <a:ext cx="6705600" cy="152400"/>
          </a:xfrm>
          <a:custGeom>
            <a:avLst/>
            <a:gdLst/>
            <a:ahLst/>
            <a:cxnLst/>
            <a:rect l="l" t="t" r="r" b="b"/>
            <a:pathLst>
              <a:path w="6705600" h="152400">
                <a:moveTo>
                  <a:pt x="6705600" y="0"/>
                </a:moveTo>
                <a:lnTo>
                  <a:pt x="0" y="0"/>
                </a:lnTo>
                <a:lnTo>
                  <a:pt x="0" y="152400"/>
                </a:lnTo>
                <a:lnTo>
                  <a:pt x="6705600" y="152400"/>
                </a:lnTo>
                <a:lnTo>
                  <a:pt x="6705600" y="0"/>
                </a:lnTo>
                <a:close/>
              </a:path>
            </a:pathLst>
          </a:custGeom>
          <a:solidFill>
            <a:srgbClr val="F0B4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2251" y="6685353"/>
            <a:ext cx="1778000" cy="156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20"/>
              </a:lnSpc>
            </a:pPr>
            <a:r>
              <a:rPr sz="1100" spc="-5" dirty="0">
                <a:latin typeface="Arial MT"/>
                <a:cs typeface="Arial MT"/>
              </a:rPr>
              <a:t>Copyright</a:t>
            </a:r>
            <a:r>
              <a:rPr sz="1100" dirty="0">
                <a:latin typeface="Arial MT"/>
                <a:cs typeface="Arial MT"/>
              </a:rPr>
              <a:t> ©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Amity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5" dirty="0">
                <a:latin typeface="Arial MT"/>
                <a:cs typeface="Arial MT"/>
              </a:rPr>
              <a:t>University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740" y="969859"/>
            <a:ext cx="8303259" cy="4781550"/>
          </a:xfrm>
          <a:prstGeom prst="rect">
            <a:avLst/>
          </a:prstGeom>
        </p:spPr>
        <p:txBody>
          <a:bodyPr vert="horz" wrap="square" lIns="0" tIns="211454" rIns="0" bIns="0" rtlCol="0">
            <a:spAutoFit/>
          </a:bodyPr>
          <a:lstStyle/>
          <a:p>
            <a:pPr marR="318770" algn="ctr">
              <a:lnSpc>
                <a:spcPct val="100000"/>
              </a:lnSpc>
              <a:spcBef>
                <a:spcPts val="1664"/>
              </a:spcBef>
            </a:pPr>
            <a:r>
              <a:rPr sz="2400" b="1" dirty="0">
                <a:latin typeface="Arial"/>
                <a:cs typeface="Arial"/>
              </a:rPr>
              <a:t>Software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Testing</a:t>
            </a:r>
            <a:endParaRPr sz="2400" dirty="0">
              <a:latin typeface="Arial"/>
              <a:cs typeface="Arial"/>
            </a:endParaRPr>
          </a:p>
          <a:p>
            <a:pPr marL="213360" indent="-201295" algn="just">
              <a:lnSpc>
                <a:spcPct val="100000"/>
              </a:lnSpc>
              <a:spcBef>
                <a:spcPts val="1315"/>
              </a:spcBef>
              <a:buSzPct val="95000"/>
              <a:buFont typeface="Wingdings"/>
              <a:buChar char=""/>
              <a:tabLst>
                <a:tab pos="213995" algn="l"/>
              </a:tabLst>
            </a:pPr>
            <a:r>
              <a:rPr sz="2000" b="1" i="1" spc="-5" dirty="0">
                <a:latin typeface="Times New Roman"/>
                <a:cs typeface="Times New Roman"/>
              </a:rPr>
              <a:t>Software</a:t>
            </a:r>
            <a:r>
              <a:rPr sz="2000" b="1" i="1" spc="62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testing</a:t>
            </a:r>
            <a:r>
              <a:rPr sz="2000" b="1" i="1" spc="63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is</a:t>
            </a:r>
            <a:r>
              <a:rPr sz="2000" b="1" i="1" spc="6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62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process</a:t>
            </a:r>
            <a:r>
              <a:rPr sz="2000" b="1" i="1" spc="6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of</a:t>
            </a:r>
            <a:r>
              <a:rPr sz="2000" b="1" i="1" spc="63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executing</a:t>
            </a:r>
            <a:r>
              <a:rPr sz="2000" b="1" i="1" spc="6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63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program</a:t>
            </a:r>
            <a:r>
              <a:rPr sz="2000" b="1" i="1" spc="6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(</a:t>
            </a:r>
            <a:r>
              <a:rPr sz="2000" b="1" i="1" spc="63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or</a:t>
            </a:r>
            <a:r>
              <a:rPr sz="2000" b="1" i="1" spc="6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</a:t>
            </a:r>
            <a:r>
              <a:rPr sz="2000" b="1" i="1" spc="62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part</a:t>
            </a:r>
            <a:r>
              <a:rPr sz="2000" b="1" i="1" spc="625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of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i="1" dirty="0">
                <a:latin typeface="Times New Roman"/>
                <a:cs typeface="Times New Roman"/>
              </a:rPr>
              <a:t>program)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with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intent </a:t>
            </a:r>
            <a:r>
              <a:rPr sz="2000" b="1" i="1" dirty="0">
                <a:latin typeface="Times New Roman"/>
                <a:cs typeface="Times New Roman"/>
              </a:rPr>
              <a:t>of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finding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errors.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212725" indent="-200660" algn="just">
              <a:lnSpc>
                <a:spcPct val="100000"/>
              </a:lnSpc>
              <a:buSzPct val="95000"/>
              <a:buFont typeface="Wingdings"/>
              <a:buChar char=""/>
              <a:tabLst>
                <a:tab pos="213360" algn="l"/>
              </a:tabLst>
            </a:pPr>
            <a:r>
              <a:rPr sz="2000" b="1" i="1" spc="-5" dirty="0">
                <a:latin typeface="Times New Roman"/>
                <a:cs typeface="Times New Roman"/>
              </a:rPr>
              <a:t>According</a:t>
            </a:r>
            <a:r>
              <a:rPr sz="2000" b="1" i="1" spc="50" dirty="0">
                <a:latin typeface="Times New Roman"/>
                <a:cs typeface="Times New Roman"/>
              </a:rPr>
              <a:t> </a:t>
            </a:r>
            <a:r>
              <a:rPr sz="2000" b="1" i="1" spc="-10" dirty="0">
                <a:latin typeface="Times New Roman"/>
                <a:cs typeface="Times New Roman"/>
              </a:rPr>
              <a:t>to</a:t>
            </a:r>
            <a:r>
              <a:rPr sz="2000" b="1" i="1" spc="4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[DAHL72],</a:t>
            </a:r>
            <a:r>
              <a:rPr sz="2000" b="1" i="1" spc="3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software</a:t>
            </a:r>
            <a:r>
              <a:rPr sz="2000" b="1" i="1" spc="5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testing</a:t>
            </a:r>
            <a:r>
              <a:rPr sz="2000" b="1" i="1" spc="5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can’t</a:t>
            </a:r>
            <a:r>
              <a:rPr sz="2000" b="1" i="1" spc="3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show</a:t>
            </a:r>
            <a:r>
              <a:rPr sz="2000" b="1" i="1" spc="4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the</a:t>
            </a:r>
            <a:r>
              <a:rPr sz="2000" b="1" i="1" spc="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absence</a:t>
            </a:r>
            <a:r>
              <a:rPr sz="2000" b="1" i="1" spc="3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of</a:t>
            </a:r>
            <a:r>
              <a:rPr sz="2000" b="1" i="1" spc="50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errors,</a:t>
            </a:r>
            <a:r>
              <a:rPr sz="2000" b="1" i="1" spc="40" dirty="0">
                <a:latin typeface="Times New Roman"/>
                <a:cs typeface="Times New Roman"/>
              </a:rPr>
              <a:t> </a:t>
            </a:r>
            <a:r>
              <a:rPr sz="2000" b="1" i="1" spc="-20" dirty="0">
                <a:latin typeface="Times New Roman"/>
                <a:cs typeface="Times New Roman"/>
              </a:rPr>
              <a:t>it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i="1" dirty="0">
                <a:latin typeface="Times New Roman"/>
                <a:cs typeface="Times New Roman"/>
              </a:rPr>
              <a:t>can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only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show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that</a:t>
            </a:r>
            <a:r>
              <a:rPr sz="2000" b="1" i="1" spc="-3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errors</a:t>
            </a:r>
            <a:r>
              <a:rPr sz="2000" b="1" i="1" spc="-2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are</a:t>
            </a:r>
            <a:r>
              <a:rPr sz="2000" b="1" i="1" spc="-2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present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buSzPct val="95000"/>
              <a:buFont typeface="Wingdings"/>
              <a:buChar char=""/>
              <a:tabLst>
                <a:tab pos="213360" algn="l"/>
              </a:tabLst>
            </a:pPr>
            <a:r>
              <a:rPr sz="2000" b="1" i="1" dirty="0">
                <a:latin typeface="Times New Roman"/>
                <a:cs typeface="Times New Roman"/>
              </a:rPr>
              <a:t>The </a:t>
            </a:r>
            <a:r>
              <a:rPr sz="2000" b="1" i="1" spc="-5" dirty="0">
                <a:latin typeface="Times New Roman"/>
                <a:cs typeface="Times New Roman"/>
              </a:rPr>
              <a:t>essence of </a:t>
            </a:r>
            <a:r>
              <a:rPr sz="2000" b="1" i="1" dirty="0">
                <a:latin typeface="Times New Roman"/>
                <a:cs typeface="Times New Roman"/>
              </a:rPr>
              <a:t>software </a:t>
            </a:r>
            <a:r>
              <a:rPr sz="2000" b="1" i="1" spc="-5" dirty="0">
                <a:latin typeface="Times New Roman"/>
                <a:cs typeface="Times New Roman"/>
              </a:rPr>
              <a:t>testing is to determine </a:t>
            </a:r>
            <a:r>
              <a:rPr sz="2000" b="1" i="1" dirty="0">
                <a:latin typeface="Times New Roman"/>
                <a:cs typeface="Times New Roman"/>
              </a:rPr>
              <a:t>a set </a:t>
            </a:r>
            <a:r>
              <a:rPr sz="2000" b="1" i="1" spc="-5" dirty="0">
                <a:latin typeface="Times New Roman"/>
                <a:cs typeface="Times New Roman"/>
              </a:rPr>
              <a:t>of test cases for </a:t>
            </a:r>
            <a:r>
              <a:rPr sz="2000" b="1" i="1" dirty="0">
                <a:latin typeface="Times New Roman"/>
                <a:cs typeface="Times New Roman"/>
              </a:rPr>
              <a:t>the </a:t>
            </a:r>
            <a:r>
              <a:rPr sz="2000" b="1" i="1" spc="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software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being</a:t>
            </a:r>
            <a:r>
              <a:rPr sz="2000" b="1" i="1" spc="-1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tested.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"/>
            </a:pPr>
            <a:endParaRPr sz="29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buSzPct val="95000"/>
              <a:buFont typeface="Wingdings"/>
              <a:buChar char=""/>
              <a:tabLst>
                <a:tab pos="213360" algn="l"/>
              </a:tabLst>
            </a:pPr>
            <a:r>
              <a:rPr sz="2000" b="1" i="1" spc="-5" dirty="0">
                <a:latin typeface="Times New Roman"/>
                <a:cs typeface="Times New Roman"/>
              </a:rPr>
              <a:t>Effective software testing will contribute </a:t>
            </a:r>
            <a:r>
              <a:rPr sz="2000" b="1" i="1" spc="-10" dirty="0">
                <a:latin typeface="Times New Roman"/>
                <a:cs typeface="Times New Roman"/>
              </a:rPr>
              <a:t>to the </a:t>
            </a:r>
            <a:r>
              <a:rPr sz="2000" b="1" i="1" spc="-5" dirty="0">
                <a:latin typeface="Times New Roman"/>
                <a:cs typeface="Times New Roman"/>
              </a:rPr>
              <a:t>delivery of </a:t>
            </a:r>
            <a:r>
              <a:rPr sz="2000" b="1" i="1" dirty="0">
                <a:latin typeface="Times New Roman"/>
                <a:cs typeface="Times New Roman"/>
              </a:rPr>
              <a:t>higher </a:t>
            </a:r>
            <a:r>
              <a:rPr sz="2000" b="1" i="1" spc="-5" dirty="0">
                <a:latin typeface="Times New Roman"/>
                <a:cs typeface="Times New Roman"/>
              </a:rPr>
              <a:t>quality </a:t>
            </a:r>
            <a:r>
              <a:rPr sz="2000" b="1" i="1" dirty="0">
                <a:latin typeface="Times New Roman"/>
                <a:cs typeface="Times New Roman"/>
              </a:rPr>
              <a:t> software</a:t>
            </a:r>
            <a:r>
              <a:rPr sz="2000" b="1" i="1" spc="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products,</a:t>
            </a:r>
            <a:r>
              <a:rPr sz="2000" b="1" i="1" dirty="0">
                <a:latin typeface="Times New Roman"/>
                <a:cs typeface="Times New Roman"/>
              </a:rPr>
              <a:t> more</a:t>
            </a:r>
            <a:r>
              <a:rPr sz="2000" b="1" i="1" spc="5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satisfied</a:t>
            </a:r>
            <a:r>
              <a:rPr sz="2000" b="1" i="1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users,</a:t>
            </a:r>
            <a:r>
              <a:rPr sz="2000" b="1" i="1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lower</a:t>
            </a:r>
            <a:r>
              <a:rPr sz="2000" b="1" i="1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maintenance</a:t>
            </a:r>
            <a:r>
              <a:rPr sz="2000" b="1" i="1" dirty="0"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Times New Roman"/>
                <a:cs typeface="Times New Roman"/>
              </a:rPr>
              <a:t>costs,</a:t>
            </a:r>
            <a:r>
              <a:rPr sz="2000" b="1" i="1" dirty="0">
                <a:latin typeface="Times New Roman"/>
                <a:cs typeface="Times New Roman"/>
              </a:rPr>
              <a:t> more </a:t>
            </a:r>
            <a:r>
              <a:rPr sz="2000" b="1" i="1" spc="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accurate</a:t>
            </a:r>
            <a:r>
              <a:rPr sz="2000" b="1" i="1" spc="-4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,</a:t>
            </a:r>
            <a:r>
              <a:rPr sz="2000" b="1" i="1" spc="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and</a:t>
            </a:r>
            <a:r>
              <a:rPr sz="2000" b="1" i="1" spc="-10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reliable</a:t>
            </a:r>
            <a:r>
              <a:rPr sz="2000" b="1" i="1" spc="-35" dirty="0"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Times New Roman"/>
                <a:cs typeface="Times New Roman"/>
              </a:rPr>
              <a:t>results.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2400" y="271120"/>
            <a:ext cx="8339455" cy="824585"/>
          </a:xfrm>
          <a:prstGeom prst="rect">
            <a:avLst/>
          </a:prstGeom>
          <a:ln w="25400">
            <a:solidFill>
              <a:srgbClr val="88A3A7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670"/>
              </a:spcBef>
            </a:pPr>
            <a:r>
              <a:rPr sz="4800" b="1" spc="-60" dirty="0">
                <a:latin typeface="Arial"/>
                <a:cs typeface="Arial"/>
              </a:rPr>
              <a:t>Testing</a:t>
            </a:r>
            <a:endParaRPr sz="4800" dirty="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6669087"/>
            <a:ext cx="2446020" cy="189230"/>
          </a:xfrm>
          <a:custGeom>
            <a:avLst/>
            <a:gdLst/>
            <a:ahLst/>
            <a:cxnLst/>
            <a:rect l="l" t="t" r="r" b="b"/>
            <a:pathLst>
              <a:path w="2446020" h="189229">
                <a:moveTo>
                  <a:pt x="2445766" y="0"/>
                </a:moveTo>
                <a:lnTo>
                  <a:pt x="0" y="0"/>
                </a:lnTo>
                <a:lnTo>
                  <a:pt x="0" y="188912"/>
                </a:lnTo>
                <a:lnTo>
                  <a:pt x="2445766" y="188912"/>
                </a:lnTo>
                <a:lnTo>
                  <a:pt x="24457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-4762" y="6641590"/>
            <a:ext cx="2498090" cy="221615"/>
            <a:chOff x="-4762" y="6641590"/>
            <a:chExt cx="2498090" cy="22161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641590"/>
              <a:ext cx="2493264" cy="21640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6669087"/>
              <a:ext cx="2446020" cy="189230"/>
            </a:xfrm>
            <a:custGeom>
              <a:avLst/>
              <a:gdLst/>
              <a:ahLst/>
              <a:cxnLst/>
              <a:rect l="l" t="t" r="r" b="b"/>
              <a:pathLst>
                <a:path w="2446020" h="189229">
                  <a:moveTo>
                    <a:pt x="0" y="188912"/>
                  </a:moveTo>
                  <a:lnTo>
                    <a:pt x="2445766" y="188912"/>
                  </a:lnTo>
                  <a:lnTo>
                    <a:pt x="2445766" y="0"/>
                  </a:lnTo>
                  <a:lnTo>
                    <a:pt x="0" y="0"/>
                  </a:lnTo>
                  <a:lnTo>
                    <a:pt x="0" y="188912"/>
                  </a:lnTo>
                  <a:close/>
                </a:path>
              </a:pathLst>
            </a:custGeom>
            <a:ln w="9525">
              <a:solidFill>
                <a:srgbClr val="F8F8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9805" y="42163"/>
            <a:ext cx="30994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290" dirty="0"/>
              <a:t>Testing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9366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5900" y="703357"/>
            <a:ext cx="8714740" cy="5169535"/>
          </a:xfrm>
          <a:prstGeom prst="rect">
            <a:avLst/>
          </a:prstGeom>
        </p:spPr>
        <p:txBody>
          <a:bodyPr vert="horz" wrap="square" lIns="0" tIns="271145" rIns="0" bIns="0" rtlCol="0">
            <a:spAutoFit/>
          </a:bodyPr>
          <a:lstStyle/>
          <a:p>
            <a:pPr marL="52705" algn="just">
              <a:lnSpc>
                <a:spcPct val="100000"/>
              </a:lnSpc>
              <a:spcBef>
                <a:spcPts val="2135"/>
              </a:spcBef>
            </a:pPr>
            <a:r>
              <a:rPr sz="3100" b="1" dirty="0">
                <a:solidFill>
                  <a:srgbClr val="DA1F28"/>
                </a:solidFill>
                <a:latin typeface="Arial"/>
                <a:cs typeface="Arial"/>
              </a:rPr>
              <a:t>Some</a:t>
            </a:r>
            <a:r>
              <a:rPr sz="3100" b="1" spc="-90" dirty="0">
                <a:solidFill>
                  <a:srgbClr val="DA1F28"/>
                </a:solidFill>
                <a:latin typeface="Arial"/>
                <a:cs typeface="Arial"/>
              </a:rPr>
              <a:t> </a:t>
            </a:r>
            <a:r>
              <a:rPr sz="3100" b="1" spc="-10" dirty="0">
                <a:solidFill>
                  <a:srgbClr val="DA1F28"/>
                </a:solidFill>
                <a:latin typeface="Arial"/>
                <a:cs typeface="Arial"/>
              </a:rPr>
              <a:t>Terminologies</a:t>
            </a:r>
            <a:endParaRPr sz="3100" dirty="0">
              <a:latin typeface="Arial"/>
              <a:cs typeface="Arial"/>
            </a:endParaRPr>
          </a:p>
          <a:p>
            <a:pPr marL="560705" indent="-456565">
              <a:lnSpc>
                <a:spcPct val="100000"/>
              </a:lnSpc>
              <a:spcBef>
                <a:spcPts val="1440"/>
              </a:spcBef>
              <a:buFont typeface="Wingdings"/>
              <a:buChar char=""/>
              <a:tabLst>
                <a:tab pos="560705" algn="l"/>
              </a:tabLst>
            </a:pPr>
            <a:r>
              <a:rPr sz="2200" b="1" spc="-30" dirty="0">
                <a:solidFill>
                  <a:srgbClr val="0033CC"/>
                </a:solidFill>
                <a:latin typeface="Times New Roman"/>
                <a:cs typeface="Times New Roman"/>
              </a:rPr>
              <a:t>Error,</a:t>
            </a:r>
            <a:r>
              <a:rPr sz="2200" b="1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Mistake,</a:t>
            </a:r>
            <a:r>
              <a:rPr sz="2200" b="1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Bug,</a:t>
            </a:r>
            <a:r>
              <a:rPr sz="2200" b="1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Fault</a:t>
            </a:r>
            <a:r>
              <a:rPr sz="2200" b="1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2200" b="1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Failure</a:t>
            </a:r>
            <a:endParaRPr sz="22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560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People</a:t>
            </a:r>
            <a:r>
              <a:rPr sz="2000" b="1" spc="1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make</a:t>
            </a:r>
            <a:r>
              <a:rPr sz="2000" b="1" spc="1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errors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.</a:t>
            </a:r>
            <a:r>
              <a:rPr sz="2000" b="1" spc="1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good</a:t>
            </a:r>
            <a:r>
              <a:rPr sz="2000" b="1" spc="1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synonym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1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mistake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.</a:t>
            </a:r>
            <a:r>
              <a:rPr sz="2000" b="1" spc="1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This</a:t>
            </a:r>
            <a:r>
              <a:rPr sz="2000" b="1" spc="1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may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be</a:t>
            </a:r>
            <a:r>
              <a:rPr sz="2000" b="1" spc="1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syntax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error</a:t>
            </a:r>
            <a:endParaRPr sz="20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</a:t>
            </a:r>
            <a:r>
              <a:rPr sz="2000" b="1" spc="-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misunderstanding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specifications.</a:t>
            </a:r>
            <a:r>
              <a:rPr sz="2000" b="1" spc="-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Sometimes,</a:t>
            </a:r>
            <a:r>
              <a:rPr sz="2000" b="1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there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logical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errors.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2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When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developers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make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mistakes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while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coding,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we</a:t>
            </a:r>
            <a:r>
              <a:rPr sz="2000" b="1" spc="-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call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these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mistakes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“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bugs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”.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203835" algn="just">
              <a:lnSpc>
                <a:spcPct val="100000"/>
              </a:lnSpc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fault</a:t>
            </a:r>
            <a:r>
              <a:rPr sz="2000" b="1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representation</a:t>
            </a:r>
            <a:r>
              <a:rPr sz="2000" b="1" spc="11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error,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where</a:t>
            </a:r>
            <a:r>
              <a:rPr sz="2000" b="1" spc="1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representation</a:t>
            </a:r>
            <a:r>
              <a:rPr sz="2000" b="1" spc="11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mode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of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expression,</a:t>
            </a:r>
            <a:r>
              <a:rPr sz="2000" b="1" spc="1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such</a:t>
            </a:r>
            <a:r>
              <a:rPr sz="2000" b="1" spc="2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as</a:t>
            </a:r>
            <a:r>
              <a:rPr sz="2000" b="1" spc="2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narrative</a:t>
            </a:r>
            <a:r>
              <a:rPr sz="2000" b="1" spc="1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text,</a:t>
            </a:r>
            <a:r>
              <a:rPr sz="2000" b="1" spc="2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data</a:t>
            </a:r>
            <a:r>
              <a:rPr sz="2000" b="1" spc="19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flow</a:t>
            </a:r>
            <a:r>
              <a:rPr sz="2000" b="1" spc="1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diagrams,</a:t>
            </a:r>
            <a:r>
              <a:rPr sz="2000" b="1" spc="19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ER</a:t>
            </a:r>
            <a:r>
              <a:rPr sz="2000" b="1" spc="20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diagrams,</a:t>
            </a:r>
            <a:r>
              <a:rPr sz="2000" b="1" spc="20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source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code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etc.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Defect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-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 good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synonym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for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fault.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1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failure</a:t>
            </a:r>
            <a:r>
              <a:rPr sz="2000" b="1" spc="2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occurs</a:t>
            </a:r>
            <a:r>
              <a:rPr sz="2000" b="1" spc="2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when</a:t>
            </a:r>
            <a:r>
              <a:rPr sz="2000" b="1" spc="2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2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fault</a:t>
            </a:r>
            <a:r>
              <a:rPr sz="2000" b="1" spc="22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executes.</a:t>
            </a:r>
            <a:r>
              <a:rPr sz="2000" b="1" spc="2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1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particular</a:t>
            </a:r>
            <a:r>
              <a:rPr sz="2000" b="1" spc="1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fault</a:t>
            </a:r>
            <a:r>
              <a:rPr sz="2000" b="1" spc="2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may</a:t>
            </a:r>
            <a:r>
              <a:rPr sz="2000" b="1" spc="2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cause</a:t>
            </a:r>
            <a:r>
              <a:rPr sz="2000" b="1" spc="2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different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failures,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depending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on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how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it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has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been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exercised.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9805" y="42163"/>
            <a:ext cx="30994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290" dirty="0"/>
              <a:t>Testing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8382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4939" y="930561"/>
            <a:ext cx="8576945" cy="143637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755"/>
              </a:spcBef>
              <a:buFont typeface="Wingdings"/>
              <a:buChar char=""/>
              <a:tabLst>
                <a:tab pos="469265" algn="l"/>
              </a:tabLst>
            </a:pPr>
            <a:r>
              <a:rPr sz="2200" b="1" spc="-45" dirty="0">
                <a:solidFill>
                  <a:srgbClr val="0033CC"/>
                </a:solidFill>
                <a:latin typeface="Times New Roman"/>
                <a:cs typeface="Times New Roman"/>
              </a:rPr>
              <a:t>Test,</a:t>
            </a:r>
            <a:r>
              <a:rPr sz="2200" b="1" spc="-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spc="-40" dirty="0">
                <a:solidFill>
                  <a:srgbClr val="0033CC"/>
                </a:solidFill>
                <a:latin typeface="Times New Roman"/>
                <a:cs typeface="Times New Roman"/>
              </a:rPr>
              <a:t>Test</a:t>
            </a:r>
            <a:r>
              <a:rPr sz="2200" b="1" spc="-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Case</a:t>
            </a:r>
            <a:r>
              <a:rPr sz="2200" b="1" spc="-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2200" b="1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spc="-40" dirty="0">
                <a:solidFill>
                  <a:srgbClr val="0033CC"/>
                </a:solidFill>
                <a:latin typeface="Times New Roman"/>
                <a:cs typeface="Times New Roman"/>
              </a:rPr>
              <a:t>Test</a:t>
            </a:r>
            <a:r>
              <a:rPr sz="2200" b="1" spc="-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Suite</a:t>
            </a:r>
            <a:endParaRPr sz="2200">
              <a:latin typeface="Times New Roman"/>
              <a:cs typeface="Times New Roman"/>
            </a:endParaRPr>
          </a:p>
          <a:p>
            <a:pPr marL="73660" marR="5080" algn="just">
              <a:lnSpc>
                <a:spcPct val="100000"/>
              </a:lnSpc>
              <a:spcBef>
                <a:spcPts val="610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Test</a:t>
            </a:r>
            <a:r>
              <a:rPr sz="20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Test</a:t>
            </a:r>
            <a:r>
              <a:rPr sz="2000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case</a:t>
            </a:r>
            <a:r>
              <a:rPr sz="20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terms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000" b="1" spc="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used</a:t>
            </a:r>
            <a:r>
              <a:rPr sz="2000" b="1" spc="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interchangeably.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practice,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both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same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sz="2000" b="1" spc="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000" b="1" spc="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treated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as</a:t>
            </a:r>
            <a:r>
              <a:rPr sz="2000" b="1" spc="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synonyms.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</a:t>
            </a:r>
            <a:r>
              <a:rPr sz="2000" b="1" spc="1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case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describes</a:t>
            </a:r>
            <a:r>
              <a:rPr sz="2000" b="1" spc="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input</a:t>
            </a:r>
            <a:r>
              <a:rPr sz="2000" b="1" spc="1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description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sz="2000" b="1" spc="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an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expected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output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description.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57287" y="2609913"/>
          <a:ext cx="6934200" cy="2556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marL="91440">
                        <a:lnSpc>
                          <a:spcPts val="1700"/>
                        </a:lnSpc>
                      </a:pPr>
                      <a:r>
                        <a:rPr sz="1500" spc="-45" dirty="0">
                          <a:latin typeface="Arial MT"/>
                          <a:cs typeface="Arial MT"/>
                        </a:rPr>
                        <a:t>Test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Case</a:t>
                      </a:r>
                      <a:r>
                        <a:rPr sz="15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5" dirty="0">
                          <a:latin typeface="Arial MT"/>
                          <a:cs typeface="Arial MT"/>
                        </a:rPr>
                        <a:t>ID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92075" algn="ctr">
                        <a:lnSpc>
                          <a:spcPts val="1764"/>
                        </a:lnSpc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Section-</a:t>
                      </a:r>
                      <a:r>
                        <a:rPr sz="1500" spc="-50" dirty="0">
                          <a:latin typeface="Arial MT"/>
                          <a:cs typeface="Arial MT"/>
                        </a:rPr>
                        <a:t>I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90170" algn="ctr">
                        <a:lnSpc>
                          <a:spcPts val="1730"/>
                        </a:lnSpc>
                        <a:spcBef>
                          <a:spcPts val="360"/>
                        </a:spcBef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(Before</a:t>
                      </a:r>
                      <a:r>
                        <a:rPr sz="15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Execution)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ts val="1764"/>
                        </a:lnSpc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Section-</a:t>
                      </a:r>
                      <a:r>
                        <a:rPr sz="1500" spc="-25" dirty="0">
                          <a:latin typeface="Arial MT"/>
                          <a:cs typeface="Arial MT"/>
                        </a:rPr>
                        <a:t>II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89535" algn="ctr">
                        <a:lnSpc>
                          <a:spcPts val="1730"/>
                        </a:lnSpc>
                        <a:spcBef>
                          <a:spcPts val="360"/>
                        </a:spcBef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(After</a:t>
                      </a:r>
                      <a:r>
                        <a:rPr sz="15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Execution)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91440">
                        <a:lnSpc>
                          <a:spcPts val="1770"/>
                        </a:lnSpc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Purpose</a:t>
                      </a:r>
                      <a:r>
                        <a:rPr sz="15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50" dirty="0">
                          <a:latin typeface="Arial MT"/>
                          <a:cs typeface="Arial MT"/>
                        </a:rPr>
                        <a:t>: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70"/>
                        </a:lnSpc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Execution</a:t>
                      </a:r>
                      <a:r>
                        <a:rPr sz="1500" spc="-8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History: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965">
                <a:tc>
                  <a:txBody>
                    <a:bodyPr/>
                    <a:lstStyle/>
                    <a:p>
                      <a:pPr marL="91440">
                        <a:lnSpc>
                          <a:spcPts val="1700"/>
                        </a:lnSpc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Pre</a:t>
                      </a:r>
                      <a:r>
                        <a:rPr sz="15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condition:</a:t>
                      </a:r>
                      <a:r>
                        <a:rPr sz="15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(If</a:t>
                      </a:r>
                      <a:r>
                        <a:rPr sz="15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0" dirty="0">
                          <a:latin typeface="Arial MT"/>
                          <a:cs typeface="Arial MT"/>
                        </a:rPr>
                        <a:t>any)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00"/>
                        </a:lnSpc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Result: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91440">
                        <a:lnSpc>
                          <a:spcPts val="1770"/>
                        </a:lnSpc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Inputs: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70"/>
                        </a:lnSpc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5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fails,</a:t>
                      </a:r>
                      <a:r>
                        <a:rPr sz="15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any</a:t>
                      </a:r>
                      <a:r>
                        <a:rPr sz="15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possible</a:t>
                      </a:r>
                      <a:r>
                        <a:rPr sz="15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reason</a:t>
                      </a:r>
                      <a:r>
                        <a:rPr sz="15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(Optional);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91440">
                        <a:lnSpc>
                          <a:spcPts val="1700"/>
                        </a:lnSpc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Expected</a:t>
                      </a:r>
                      <a:r>
                        <a:rPr sz="15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Outputs: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00"/>
                        </a:lnSpc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Any</a:t>
                      </a:r>
                      <a:r>
                        <a:rPr sz="15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latin typeface="Arial MT"/>
                          <a:cs typeface="Arial MT"/>
                        </a:rPr>
                        <a:t>other</a:t>
                      </a:r>
                      <a:r>
                        <a:rPr sz="15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observation: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91440">
                        <a:lnSpc>
                          <a:spcPts val="1700"/>
                        </a:lnSpc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Post</a:t>
                      </a:r>
                      <a:r>
                        <a:rPr sz="15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conditions: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00"/>
                        </a:lnSpc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Any</a:t>
                      </a:r>
                      <a:r>
                        <a:rPr sz="15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latin typeface="Arial MT"/>
                          <a:cs typeface="Arial MT"/>
                        </a:rPr>
                        <a:t>suggestion: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91440">
                        <a:lnSpc>
                          <a:spcPts val="1700"/>
                        </a:lnSpc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Written</a:t>
                      </a:r>
                      <a:r>
                        <a:rPr sz="15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5" dirty="0">
                          <a:latin typeface="Arial MT"/>
                          <a:cs typeface="Arial MT"/>
                        </a:rPr>
                        <a:t>by: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00"/>
                        </a:lnSpc>
                      </a:pPr>
                      <a:r>
                        <a:rPr sz="1500" dirty="0">
                          <a:latin typeface="Arial MT"/>
                          <a:cs typeface="Arial MT"/>
                        </a:rPr>
                        <a:t>Run</a:t>
                      </a:r>
                      <a:r>
                        <a:rPr sz="15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5" dirty="0">
                          <a:latin typeface="Arial MT"/>
                          <a:cs typeface="Arial MT"/>
                        </a:rPr>
                        <a:t>by: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91440">
                        <a:lnSpc>
                          <a:spcPts val="1700"/>
                        </a:lnSpc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Date: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00"/>
                        </a:lnSpc>
                      </a:pPr>
                      <a:r>
                        <a:rPr sz="1500" spc="-10" dirty="0">
                          <a:latin typeface="Arial MT"/>
                          <a:cs typeface="Arial MT"/>
                        </a:rPr>
                        <a:t>Date: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740154" y="5179403"/>
            <a:ext cx="7188200" cy="107442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30630">
              <a:lnSpc>
                <a:spcPct val="100000"/>
              </a:lnSpc>
              <a:spcBef>
                <a:spcPts val="409"/>
              </a:spcBef>
            </a:pPr>
            <a:r>
              <a:rPr sz="2400" b="1" dirty="0">
                <a:solidFill>
                  <a:srgbClr val="DA1F28"/>
                </a:solidFill>
                <a:latin typeface="Times New Roman"/>
                <a:cs typeface="Times New Roman"/>
              </a:rPr>
              <a:t>Fig.</a:t>
            </a:r>
            <a:r>
              <a:rPr sz="2400" b="1" spc="-5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DA1F28"/>
                </a:solidFill>
                <a:latin typeface="Times New Roman"/>
                <a:cs typeface="Times New Roman"/>
              </a:rPr>
              <a:t>2:</a:t>
            </a:r>
            <a:r>
              <a:rPr sz="2400" b="1" spc="-6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400" b="1" spc="-40" dirty="0">
                <a:solidFill>
                  <a:srgbClr val="DA1F28"/>
                </a:solidFill>
                <a:latin typeface="Times New Roman"/>
                <a:cs typeface="Times New Roman"/>
              </a:rPr>
              <a:t>Test</a:t>
            </a:r>
            <a:r>
              <a:rPr sz="2400" b="1" spc="-3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DA1F28"/>
                </a:solidFill>
                <a:latin typeface="Times New Roman"/>
                <a:cs typeface="Times New Roman"/>
              </a:rPr>
              <a:t>case</a:t>
            </a:r>
            <a:r>
              <a:rPr sz="2400" b="1" spc="-20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DA1F28"/>
                </a:solidFill>
                <a:latin typeface="Times New Roman"/>
                <a:cs typeface="Times New Roman"/>
              </a:rPr>
              <a:t>template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265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1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set</a:t>
            </a:r>
            <a:r>
              <a:rPr sz="2000" b="1" spc="1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1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</a:t>
            </a:r>
            <a:r>
              <a:rPr sz="2000" b="1" spc="1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cases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1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called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test</a:t>
            </a:r>
            <a:r>
              <a:rPr sz="2000" b="1" spc="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suite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.</a:t>
            </a:r>
            <a:r>
              <a:rPr sz="2000" b="1" spc="1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Hence</a:t>
            </a:r>
            <a:r>
              <a:rPr sz="2000" b="1" spc="1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any</a:t>
            </a:r>
            <a:r>
              <a:rPr sz="2000" b="1" spc="1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combination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cases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may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generate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-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suite.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1459"/>
            <a:ext cx="622363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What</a:t>
            </a:r>
            <a:r>
              <a:rPr sz="3900" b="1" spc="-1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spc="-5" dirty="0">
                <a:solidFill>
                  <a:srgbClr val="330066"/>
                </a:solidFill>
                <a:latin typeface="Arial"/>
                <a:cs typeface="Arial"/>
              </a:rPr>
              <a:t>is</a:t>
            </a:r>
            <a:r>
              <a:rPr sz="3900" b="1" spc="-1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spc="-5" dirty="0">
                <a:solidFill>
                  <a:srgbClr val="330066"/>
                </a:solidFill>
                <a:latin typeface="Arial"/>
                <a:cs typeface="Arial"/>
              </a:rPr>
              <a:t>Software</a:t>
            </a:r>
            <a:r>
              <a:rPr sz="3900" b="1" spc="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Testing?</a:t>
            </a:r>
            <a:endParaRPr sz="39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742059"/>
            <a:ext cx="8073390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Software Testing </a:t>
            </a:r>
            <a:r>
              <a:rPr sz="3000" spc="-10" dirty="0">
                <a:latin typeface="Arial MT"/>
                <a:cs typeface="Arial MT"/>
              </a:rPr>
              <a:t>is </a:t>
            </a:r>
            <a:r>
              <a:rPr sz="3000" spc="-5" dirty="0">
                <a:latin typeface="Arial MT"/>
                <a:cs typeface="Arial MT"/>
              </a:rPr>
              <a:t>evaluation </a:t>
            </a:r>
            <a:r>
              <a:rPr sz="3000" dirty="0">
                <a:latin typeface="Arial MT"/>
                <a:cs typeface="Arial MT"/>
              </a:rPr>
              <a:t>of the </a:t>
            </a:r>
            <a:r>
              <a:rPr sz="3000" spc="-5" dirty="0">
                <a:latin typeface="Arial MT"/>
                <a:cs typeface="Arial MT"/>
              </a:rPr>
              <a:t>software </a:t>
            </a:r>
            <a:r>
              <a:rPr sz="3000" spc="-819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against</a:t>
            </a:r>
            <a:r>
              <a:rPr sz="300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requirements</a:t>
            </a:r>
            <a:r>
              <a:rPr sz="300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gathered</a:t>
            </a:r>
            <a:r>
              <a:rPr sz="3000" dirty="0">
                <a:latin typeface="Arial MT"/>
                <a:cs typeface="Arial MT"/>
              </a:rPr>
              <a:t> from</a:t>
            </a:r>
            <a:r>
              <a:rPr sz="3000" spc="83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users </a:t>
            </a:r>
            <a:r>
              <a:rPr sz="3000" spc="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and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system</a:t>
            </a:r>
            <a:r>
              <a:rPr sz="3000" spc="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specifications.</a:t>
            </a:r>
            <a:endParaRPr sz="300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20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Testing</a:t>
            </a:r>
            <a:r>
              <a:rPr sz="3000" spc="810" dirty="0">
                <a:latin typeface="Arial MT"/>
                <a:cs typeface="Arial MT"/>
              </a:rPr>
              <a:t> </a:t>
            </a:r>
            <a:r>
              <a:rPr sz="3000" spc="-10" dirty="0">
                <a:latin typeface="Arial MT"/>
                <a:cs typeface="Arial MT"/>
              </a:rPr>
              <a:t>is</a:t>
            </a:r>
            <a:r>
              <a:rPr sz="3000" spc="81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conducted</a:t>
            </a:r>
            <a:r>
              <a:rPr sz="3000" spc="80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at</a:t>
            </a:r>
            <a:r>
              <a:rPr sz="3000" spc="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the</a:t>
            </a:r>
            <a:r>
              <a:rPr sz="3000" spc="80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phase</a:t>
            </a:r>
            <a:r>
              <a:rPr sz="3000" spc="81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level</a:t>
            </a:r>
            <a:r>
              <a:rPr sz="3000" spc="800" dirty="0">
                <a:latin typeface="Arial MT"/>
                <a:cs typeface="Arial MT"/>
              </a:rPr>
              <a:t> </a:t>
            </a:r>
            <a:r>
              <a:rPr sz="3000" spc="-15" dirty="0">
                <a:latin typeface="Arial MT"/>
                <a:cs typeface="Arial MT"/>
              </a:rPr>
              <a:t>in </a:t>
            </a:r>
            <a:r>
              <a:rPr sz="3000" spc="-82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software development </a:t>
            </a:r>
            <a:r>
              <a:rPr sz="3000" dirty="0">
                <a:latin typeface="Arial MT"/>
                <a:cs typeface="Arial MT"/>
              </a:rPr>
              <a:t>life </a:t>
            </a:r>
            <a:r>
              <a:rPr sz="3000" spc="-5" dirty="0">
                <a:latin typeface="Arial MT"/>
                <a:cs typeface="Arial MT"/>
              </a:rPr>
              <a:t>cycle or </a:t>
            </a:r>
            <a:r>
              <a:rPr sz="3000" dirty="0">
                <a:latin typeface="Arial MT"/>
                <a:cs typeface="Arial MT"/>
              </a:rPr>
              <a:t>at </a:t>
            </a:r>
            <a:r>
              <a:rPr sz="3000" spc="-5" dirty="0">
                <a:latin typeface="Arial MT"/>
                <a:cs typeface="Arial MT"/>
              </a:rPr>
              <a:t>module </a:t>
            </a:r>
            <a:r>
              <a:rPr sz="300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level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in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program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code.</a:t>
            </a:r>
            <a:endParaRPr sz="3000">
              <a:latin typeface="Arial MT"/>
              <a:cs typeface="Arial MT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725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spc="-5" dirty="0">
                <a:latin typeface="Arial MT"/>
                <a:cs typeface="Arial MT"/>
              </a:rPr>
              <a:t>Software </a:t>
            </a:r>
            <a:r>
              <a:rPr sz="3000" dirty="0">
                <a:latin typeface="Arial MT"/>
                <a:cs typeface="Arial MT"/>
              </a:rPr>
              <a:t>testing </a:t>
            </a:r>
            <a:r>
              <a:rPr sz="3000" spc="-5" dirty="0">
                <a:latin typeface="Arial MT"/>
                <a:cs typeface="Arial MT"/>
              </a:rPr>
              <a:t>comprises of Validation and </a:t>
            </a:r>
            <a:r>
              <a:rPr sz="3000" dirty="0">
                <a:latin typeface="Arial MT"/>
                <a:cs typeface="Arial MT"/>
              </a:rPr>
              <a:t> Verification.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290" dirty="0"/>
              <a:t>Testing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5452" y="1891029"/>
            <a:ext cx="8515985" cy="3067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1330" indent="-4572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481330" algn="l"/>
              </a:tabLst>
            </a:pPr>
            <a:r>
              <a:rPr sz="22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Verification</a:t>
            </a:r>
            <a:r>
              <a:rPr sz="2200" b="1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22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Validation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Verification</a:t>
            </a:r>
            <a:r>
              <a:rPr sz="2000" b="1" spc="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1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1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process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1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evaluating</a:t>
            </a:r>
            <a:r>
              <a:rPr sz="2000" b="1" spc="1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system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component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1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determine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whether</a:t>
            </a:r>
            <a:r>
              <a:rPr sz="2000" b="1" spc="4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4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products</a:t>
            </a:r>
            <a:r>
              <a:rPr sz="2000" b="1" spc="45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4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4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given</a:t>
            </a:r>
            <a:r>
              <a:rPr sz="2000" b="1" spc="45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development</a:t>
            </a:r>
            <a:r>
              <a:rPr sz="2000" b="1" spc="4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phase</a:t>
            </a:r>
            <a:r>
              <a:rPr sz="2000" b="1" spc="4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satisfy</a:t>
            </a:r>
            <a:r>
              <a:rPr sz="2000" b="1" spc="4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4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conditions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imposed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at</a:t>
            </a:r>
            <a:r>
              <a:rPr sz="2000" b="1" spc="-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start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that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phase.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600"/>
              </a:spcBef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Validation</a:t>
            </a:r>
            <a:r>
              <a:rPr sz="20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process</a:t>
            </a:r>
            <a:r>
              <a:rPr sz="2000" b="1" spc="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evaluating</a:t>
            </a:r>
            <a:r>
              <a:rPr sz="2000" b="1" spc="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system</a:t>
            </a:r>
            <a:r>
              <a:rPr sz="2000" b="1" spc="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component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during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at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the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end</a:t>
            </a:r>
            <a:r>
              <a:rPr sz="2000" b="1" spc="4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4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development</a:t>
            </a:r>
            <a:r>
              <a:rPr sz="2000" b="1" spc="4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process</a:t>
            </a:r>
            <a:r>
              <a:rPr sz="2000" b="1" spc="4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43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determine</a:t>
            </a:r>
            <a:r>
              <a:rPr sz="2000" b="1" spc="4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whether</a:t>
            </a:r>
            <a:r>
              <a:rPr sz="2000" b="1" spc="39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it</a:t>
            </a:r>
            <a:r>
              <a:rPr sz="2000" b="1" spc="4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satisfies</a:t>
            </a:r>
            <a:r>
              <a:rPr sz="2000" b="1" spc="4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4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specified requirements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05"/>
              </a:spcBef>
            </a:pPr>
            <a:r>
              <a:rPr sz="2000" b="1" spc="-25" dirty="0">
                <a:solidFill>
                  <a:srgbClr val="660033"/>
                </a:solidFill>
                <a:latin typeface="Times New Roman"/>
                <a:cs typeface="Times New Roman"/>
              </a:rPr>
              <a:t>Testing=</a:t>
            </a:r>
            <a:r>
              <a:rPr sz="2000" b="1" spc="-80" dirty="0">
                <a:solidFill>
                  <a:srgbClr val="660033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0033"/>
                </a:solidFill>
                <a:latin typeface="Times New Roman"/>
                <a:cs typeface="Times New Roman"/>
              </a:rPr>
              <a:t>Verification+Validation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537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290" dirty="0"/>
              <a:t>Testing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9588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6250" y="1006761"/>
            <a:ext cx="8639810" cy="486664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499745" indent="-456565" algn="just">
              <a:lnSpc>
                <a:spcPct val="100000"/>
              </a:lnSpc>
              <a:spcBef>
                <a:spcPts val="755"/>
              </a:spcBef>
              <a:buFont typeface="Wingdings"/>
              <a:buChar char=""/>
              <a:tabLst>
                <a:tab pos="499745" algn="l"/>
              </a:tabLst>
            </a:pP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Alpha,</a:t>
            </a:r>
            <a:r>
              <a:rPr sz="2200" b="1" spc="-9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Beta</a:t>
            </a:r>
            <a:r>
              <a:rPr sz="2200" b="1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2200" b="1" spc="-1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Acceptance</a:t>
            </a:r>
            <a:r>
              <a:rPr sz="2200" b="1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Testing</a:t>
            </a:r>
            <a:endParaRPr sz="2200">
              <a:latin typeface="Times New Roman"/>
              <a:cs typeface="Times New Roman"/>
            </a:endParaRPr>
          </a:p>
          <a:p>
            <a:pPr marL="27940" marR="112395" algn="just">
              <a:lnSpc>
                <a:spcPct val="100000"/>
              </a:lnSpc>
              <a:spcBef>
                <a:spcPts val="610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3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term</a:t>
            </a:r>
            <a:r>
              <a:rPr sz="2000" b="1" spc="3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Acceptance</a:t>
            </a:r>
            <a:r>
              <a:rPr sz="2000" b="1" spc="3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Testing</a:t>
            </a:r>
            <a:r>
              <a:rPr sz="2000" b="1" spc="3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3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used</a:t>
            </a:r>
            <a:r>
              <a:rPr sz="2000" b="1" spc="3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when</a:t>
            </a:r>
            <a:r>
              <a:rPr sz="2000" b="1" spc="3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3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software</a:t>
            </a:r>
            <a:r>
              <a:rPr sz="2000" b="1" spc="3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3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developed</a:t>
            </a:r>
            <a:r>
              <a:rPr sz="2000" b="1" spc="3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for</a:t>
            </a:r>
            <a:r>
              <a:rPr sz="2000" b="1" spc="2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a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specific</a:t>
            </a:r>
            <a:r>
              <a:rPr sz="2000" b="1" spc="2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customer.</a:t>
            </a:r>
            <a:r>
              <a:rPr sz="2000" b="1" spc="2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1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series</a:t>
            </a:r>
            <a:r>
              <a:rPr sz="2000" b="1" spc="2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2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tests</a:t>
            </a:r>
            <a:r>
              <a:rPr sz="2000" b="1" spc="2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000" b="1" spc="2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conducted</a:t>
            </a:r>
            <a:r>
              <a:rPr sz="2000" b="1" spc="2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2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enable</a:t>
            </a:r>
            <a:r>
              <a:rPr sz="2000" b="1" spc="2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2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customer</a:t>
            </a:r>
            <a:r>
              <a:rPr sz="2000" b="1" spc="2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to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validate</a:t>
            </a:r>
            <a:r>
              <a:rPr sz="2000" b="1" spc="9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all</a:t>
            </a:r>
            <a:r>
              <a:rPr sz="2000" b="1" spc="10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requirements.</a:t>
            </a:r>
            <a:r>
              <a:rPr sz="2000" b="1" spc="10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These</a:t>
            </a:r>
            <a:r>
              <a:rPr sz="2000" b="1" spc="10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tests</a:t>
            </a:r>
            <a:r>
              <a:rPr sz="2000" b="1" spc="10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conducted</a:t>
            </a:r>
            <a:r>
              <a:rPr sz="2000" b="1" spc="10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by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end</a:t>
            </a:r>
            <a:r>
              <a:rPr sz="2000" b="1" spc="10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user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/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customer and</a:t>
            </a:r>
            <a:r>
              <a:rPr sz="2000" b="1" spc="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may</a:t>
            </a:r>
            <a:r>
              <a:rPr sz="2000" b="1" spc="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range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from</a:t>
            </a:r>
            <a:r>
              <a:rPr sz="2000" b="1" spc="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adhoc</a:t>
            </a:r>
            <a:r>
              <a:rPr sz="2000" b="1" spc="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tests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well</a:t>
            </a:r>
            <a:r>
              <a:rPr sz="2000" b="1" spc="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planned</a:t>
            </a:r>
            <a:r>
              <a:rPr sz="2000" b="1" spc="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systematic</a:t>
            </a:r>
            <a:r>
              <a:rPr sz="2000" b="1" spc="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series</a:t>
            </a:r>
            <a:r>
              <a:rPr sz="2000" b="1" spc="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of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tests.</a:t>
            </a:r>
            <a:endParaRPr sz="2000">
              <a:latin typeface="Times New Roman"/>
              <a:cs typeface="Times New Roman"/>
            </a:endParaRPr>
          </a:p>
          <a:p>
            <a:pPr marL="27940" marR="113664" algn="just">
              <a:lnSpc>
                <a:spcPct val="100000"/>
              </a:lnSpc>
              <a:spcBef>
                <a:spcPts val="1315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terms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alpha</a:t>
            </a:r>
            <a:r>
              <a:rPr sz="20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sz="2000" b="1" spc="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beta</a:t>
            </a:r>
            <a:r>
              <a:rPr sz="20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testing</a:t>
            </a:r>
            <a:r>
              <a:rPr sz="20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000" b="1" spc="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used when</a:t>
            </a:r>
            <a:r>
              <a:rPr sz="2000" b="1" spc="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software</a:t>
            </a:r>
            <a:r>
              <a:rPr sz="2000" b="1" spc="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developed as</a:t>
            </a:r>
            <a:r>
              <a:rPr sz="2000" b="1" spc="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a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product</a:t>
            </a:r>
            <a:r>
              <a:rPr sz="2000" b="1" spc="-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for</a:t>
            </a:r>
            <a:r>
              <a:rPr sz="2000" b="1" spc="-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anonymous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customers.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205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Alpha</a:t>
            </a:r>
            <a:r>
              <a:rPr sz="2000" b="1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Tests</a:t>
            </a:r>
            <a:r>
              <a:rPr sz="2000" b="1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000" b="1" spc="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conducted</a:t>
            </a:r>
            <a:r>
              <a:rPr sz="2000" b="1" spc="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at</a:t>
            </a:r>
            <a:r>
              <a:rPr sz="2000" b="1" spc="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developer’s</a:t>
            </a:r>
            <a:r>
              <a:rPr sz="2000" b="1" spc="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site</a:t>
            </a:r>
            <a:r>
              <a:rPr sz="2000" b="1" spc="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by</a:t>
            </a:r>
            <a:r>
              <a:rPr sz="2000" b="1" spc="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some</a:t>
            </a:r>
            <a:r>
              <a:rPr sz="2000" b="1" spc="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potential</a:t>
            </a:r>
            <a:r>
              <a:rPr sz="2000" b="1" spc="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customers.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These</a:t>
            </a:r>
            <a:r>
              <a:rPr sz="2000" b="1" spc="2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tests</a:t>
            </a:r>
            <a:r>
              <a:rPr sz="2000" b="1" spc="2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000" b="1" spc="22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conducted</a:t>
            </a:r>
            <a:r>
              <a:rPr sz="2000" b="1" spc="22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sz="2000" b="1" spc="2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2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controlled</a:t>
            </a:r>
            <a:r>
              <a:rPr sz="2000" b="1" spc="2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environment.</a:t>
            </a:r>
            <a:r>
              <a:rPr sz="2000" b="1" spc="2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Alpha</a:t>
            </a:r>
            <a:r>
              <a:rPr sz="2000" b="1" spc="2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testing</a:t>
            </a:r>
            <a:r>
              <a:rPr sz="2000" b="1" spc="22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may</a:t>
            </a:r>
            <a:r>
              <a:rPr sz="2000" b="1" spc="22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be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started</a:t>
            </a:r>
            <a:r>
              <a:rPr sz="2000" b="1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when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formal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testing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process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near</a:t>
            </a:r>
            <a:r>
              <a:rPr sz="2000" b="1" spc="-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completion.</a:t>
            </a:r>
            <a:endParaRPr sz="2000">
              <a:latin typeface="Times New Roman"/>
              <a:cs typeface="Times New Roman"/>
            </a:endParaRPr>
          </a:p>
          <a:p>
            <a:pPr marL="27940" marR="112395" algn="just">
              <a:lnSpc>
                <a:spcPct val="100000"/>
              </a:lnSpc>
              <a:spcBef>
                <a:spcPts val="484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Beta</a:t>
            </a:r>
            <a:r>
              <a:rPr sz="2000" b="1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Tests</a:t>
            </a:r>
            <a:r>
              <a:rPr sz="2000" b="1" spc="2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000" b="1" spc="2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conducted</a:t>
            </a:r>
            <a:r>
              <a:rPr sz="2000" b="1" spc="22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by</a:t>
            </a:r>
            <a:r>
              <a:rPr sz="2000" b="1" spc="2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22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customers</a:t>
            </a:r>
            <a:r>
              <a:rPr sz="2000" b="1" spc="2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/</a:t>
            </a:r>
            <a:r>
              <a:rPr sz="2000" b="1" spc="2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end</a:t>
            </a:r>
            <a:r>
              <a:rPr sz="2000" b="1" spc="2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users</a:t>
            </a:r>
            <a:r>
              <a:rPr sz="2000" b="1" spc="2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at</a:t>
            </a:r>
            <a:r>
              <a:rPr sz="2000" b="1" spc="22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their</a:t>
            </a:r>
            <a:r>
              <a:rPr sz="2000" b="1" spc="20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sites.</a:t>
            </a:r>
            <a:r>
              <a:rPr sz="2000" b="1" spc="2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Unlike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alpha</a:t>
            </a:r>
            <a:r>
              <a:rPr sz="2000" b="1" spc="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testing,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developer is</a:t>
            </a:r>
            <a:r>
              <a:rPr sz="2000" b="1" spc="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not</a:t>
            </a:r>
            <a:r>
              <a:rPr sz="2000" b="1" spc="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present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here.</a:t>
            </a:r>
            <a:r>
              <a:rPr sz="2000" b="1" spc="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Beta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testing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conducted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real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environment</a:t>
            </a:r>
            <a:r>
              <a:rPr sz="2000" b="1" spc="-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that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cannot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be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controlled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by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developer.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900" y="1153769"/>
            <a:ext cx="8728710" cy="557974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36195" algn="just">
              <a:lnSpc>
                <a:spcPct val="100000"/>
              </a:lnSpc>
              <a:spcBef>
                <a:spcPts val="1275"/>
              </a:spcBef>
            </a:pPr>
            <a:r>
              <a:rPr sz="2000" b="1" dirty="0">
                <a:solidFill>
                  <a:srgbClr val="CC0000"/>
                </a:solidFill>
                <a:latin typeface="Times New Roman"/>
                <a:cs typeface="Times New Roman"/>
              </a:rPr>
              <a:t>Structural</a:t>
            </a:r>
            <a:r>
              <a:rPr sz="2000" b="1" spc="-9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Testing</a:t>
            </a:r>
            <a:endParaRPr sz="2000" dirty="0">
              <a:latin typeface="Times New Roman"/>
              <a:cs typeface="Times New Roman"/>
            </a:endParaRPr>
          </a:p>
          <a:p>
            <a:pPr marL="27940" marR="205104" algn="just">
              <a:lnSpc>
                <a:spcPct val="100000"/>
              </a:lnSpc>
              <a:spcBef>
                <a:spcPts val="1175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1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complementary</a:t>
            </a:r>
            <a:r>
              <a:rPr sz="2000" b="1" spc="2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approach</a:t>
            </a:r>
            <a:r>
              <a:rPr sz="2000" b="1" spc="2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2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functional</a:t>
            </a:r>
            <a:r>
              <a:rPr sz="2000" b="1" spc="2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testing</a:t>
            </a:r>
            <a:r>
              <a:rPr sz="2000" b="1" spc="2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2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called</a:t>
            </a:r>
            <a:r>
              <a:rPr sz="2000" b="1" spc="2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structural</a:t>
            </a:r>
            <a:r>
              <a:rPr sz="2000" b="1" spc="2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/</a:t>
            </a:r>
            <a:r>
              <a:rPr sz="2000" b="1" spc="2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white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box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testing.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It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permits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us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examine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internal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structure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program.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6195" algn="just">
              <a:lnSpc>
                <a:spcPct val="100000"/>
              </a:lnSpc>
            </a:pPr>
            <a:r>
              <a:rPr sz="2000" b="1" dirty="0">
                <a:solidFill>
                  <a:srgbClr val="CC0000"/>
                </a:solidFill>
                <a:latin typeface="Times New Roman"/>
                <a:cs typeface="Times New Roman"/>
              </a:rPr>
              <a:t>Path</a:t>
            </a:r>
            <a:r>
              <a:rPr sz="2000" b="1" spc="-7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Testing</a:t>
            </a:r>
            <a:endParaRPr sz="2000" dirty="0">
              <a:latin typeface="Times New Roman"/>
              <a:cs typeface="Times New Roman"/>
            </a:endParaRPr>
          </a:p>
          <a:p>
            <a:pPr marL="27940" marR="201930" algn="just">
              <a:lnSpc>
                <a:spcPct val="100000"/>
              </a:lnSpc>
              <a:spcBef>
                <a:spcPts val="1175"/>
              </a:spcBef>
            </a:pP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Path</a:t>
            </a:r>
            <a:r>
              <a:rPr sz="2000" b="1" spc="8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testing</a:t>
            </a:r>
            <a:r>
              <a:rPr sz="2000" b="1" spc="8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is</a:t>
            </a:r>
            <a:r>
              <a:rPr sz="2000" b="1" spc="8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spc="8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name</a:t>
            </a:r>
            <a:r>
              <a:rPr sz="2000" b="1" spc="8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given</a:t>
            </a:r>
            <a:r>
              <a:rPr sz="2000" b="1" spc="9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sz="2000" b="1" spc="8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</a:t>
            </a:r>
            <a:r>
              <a:rPr sz="2000" b="1" spc="8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group</a:t>
            </a:r>
            <a:r>
              <a:rPr sz="2000" b="1" spc="8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2000" b="1" spc="9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test</a:t>
            </a:r>
            <a:r>
              <a:rPr sz="2000" b="1" spc="8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techniques</a:t>
            </a:r>
            <a:r>
              <a:rPr sz="2000" b="1" spc="7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based</a:t>
            </a:r>
            <a:r>
              <a:rPr sz="2000" b="1" spc="9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on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judiciously</a:t>
            </a:r>
            <a:r>
              <a:rPr sz="2000" b="1" spc="-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selecting</a:t>
            </a:r>
            <a:r>
              <a:rPr sz="2000" b="1" spc="-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</a:t>
            </a:r>
            <a:r>
              <a:rPr sz="2000" b="1" spc="-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set</a:t>
            </a:r>
            <a:r>
              <a:rPr sz="2000" b="1" spc="-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2000" b="1" spc="-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test</a:t>
            </a:r>
            <a:r>
              <a:rPr sz="2000" b="1" spc="-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paths</a:t>
            </a:r>
            <a:r>
              <a:rPr sz="2000" b="1" spc="-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through</a:t>
            </a:r>
            <a:r>
              <a:rPr sz="2000" b="1" spc="-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program.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If</a:t>
            </a:r>
            <a:r>
              <a:rPr sz="2000" b="1" spc="-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set</a:t>
            </a:r>
            <a:r>
              <a:rPr sz="2000" b="1" spc="-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2000" b="1" spc="-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paths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is</a:t>
            </a:r>
            <a:r>
              <a:rPr sz="2000" b="1" spc="8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properly</a:t>
            </a:r>
            <a:r>
              <a:rPr sz="2000" b="1" spc="9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chosen,</a:t>
            </a:r>
            <a:r>
              <a:rPr sz="2000" b="1" spc="8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then</a:t>
            </a:r>
            <a:r>
              <a:rPr sz="2000" b="1" spc="9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it</a:t>
            </a:r>
            <a:r>
              <a:rPr sz="2000" b="1" spc="8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means</a:t>
            </a:r>
            <a:r>
              <a:rPr sz="2000" b="1" spc="8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that</a:t>
            </a:r>
            <a:r>
              <a:rPr sz="2000" b="1" spc="9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we</a:t>
            </a:r>
            <a:r>
              <a:rPr sz="2000" b="1" spc="9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have</a:t>
            </a:r>
            <a:r>
              <a:rPr sz="2000" b="1" spc="8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achieved</a:t>
            </a:r>
            <a:r>
              <a:rPr sz="2000" b="1" spc="9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some</a:t>
            </a:r>
            <a:r>
              <a:rPr sz="2000" b="1" spc="8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measure</a:t>
            </a:r>
            <a:r>
              <a:rPr sz="2000" b="1" spc="8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2000" b="1" spc="7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663300"/>
                </a:solidFill>
                <a:latin typeface="Times New Roman"/>
                <a:cs typeface="Times New Roman"/>
              </a:rPr>
              <a:t>test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thoroughness.</a:t>
            </a:r>
            <a:endParaRPr sz="2000" dirty="0">
              <a:latin typeface="Times New Roman"/>
              <a:cs typeface="Times New Roman"/>
            </a:endParaRPr>
          </a:p>
          <a:p>
            <a:pPr marL="88900" algn="just">
              <a:lnSpc>
                <a:spcPct val="100000"/>
              </a:lnSpc>
              <a:spcBef>
                <a:spcPts val="455"/>
              </a:spcBef>
            </a:pPr>
            <a:r>
              <a:rPr sz="2000" b="1" dirty="0">
                <a:solidFill>
                  <a:srgbClr val="CC0000"/>
                </a:solidFill>
                <a:latin typeface="Times New Roman"/>
                <a:cs typeface="Times New Roman"/>
              </a:rPr>
              <a:t>This</a:t>
            </a:r>
            <a:r>
              <a:rPr sz="2000" b="1" spc="-2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/>
                <a:cs typeface="Times New Roman"/>
              </a:rPr>
              <a:t>type</a:t>
            </a:r>
            <a:r>
              <a:rPr sz="2000" b="1" spc="-2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/>
                <a:cs typeface="Times New Roman"/>
              </a:rPr>
              <a:t>of</a:t>
            </a:r>
            <a:r>
              <a:rPr sz="2000" b="1" spc="-2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CC0000"/>
                </a:solidFill>
                <a:latin typeface="Times New Roman"/>
                <a:cs typeface="Times New Roman"/>
              </a:rPr>
              <a:t>testing</a:t>
            </a:r>
            <a:r>
              <a:rPr sz="2000" b="1" spc="-2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involves: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 algn="just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generating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paths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will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cover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every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branch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program.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finding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cases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will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execute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every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path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program</a:t>
            </a:r>
            <a:endParaRPr sz="20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000" b="1" spc="-10" dirty="0">
                <a:latin typeface="Times New Roman"/>
                <a:cs typeface="Times New Roman"/>
              </a:rPr>
              <a:t>paths.</a:t>
            </a:r>
            <a:endParaRPr sz="2000" dirty="0">
              <a:latin typeface="Times New Roman"/>
              <a:cs typeface="Times New Roman"/>
            </a:endParaRPr>
          </a:p>
          <a:p>
            <a:pPr marL="8587740">
              <a:lnSpc>
                <a:spcPct val="100000"/>
              </a:lnSpc>
              <a:spcBef>
                <a:spcPts val="1730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 dirty="0">
              <a:latin typeface="Times New Roman"/>
              <a:cs typeface="Times New Roman"/>
            </a:endParaRPr>
          </a:p>
          <a:p>
            <a:pPr marL="8578850">
              <a:lnSpc>
                <a:spcPct val="100000"/>
              </a:lnSpc>
              <a:spcBef>
                <a:spcPts val="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078" rIns="0" bIns="0" rtlCol="0">
            <a:spAutoFit/>
          </a:bodyPr>
          <a:lstStyle/>
          <a:p>
            <a:pPr marL="1306830">
              <a:lnSpc>
                <a:spcPct val="100000"/>
              </a:lnSpc>
              <a:spcBef>
                <a:spcPts val="100"/>
              </a:spcBef>
            </a:pPr>
            <a:r>
              <a:rPr sz="2000" spc="-114" dirty="0"/>
              <a:t>Software</a:t>
            </a:r>
            <a:r>
              <a:rPr sz="2000" spc="-60" dirty="0"/>
              <a:t> </a:t>
            </a:r>
            <a:r>
              <a:rPr sz="2000" spc="-125" dirty="0"/>
              <a:t>Testing</a:t>
            </a:r>
            <a:endParaRPr sz="2000"/>
          </a:p>
        </p:txBody>
      </p:sp>
      <p:sp>
        <p:nvSpPr>
          <p:cNvPr id="4" name="object 4"/>
          <p:cNvSpPr/>
          <p:nvPr/>
        </p:nvSpPr>
        <p:spPr>
          <a:xfrm>
            <a:off x="304800" y="10541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41503"/>
            <a:ext cx="3472179" cy="62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Testing</a:t>
            </a:r>
            <a:r>
              <a:rPr sz="3900" b="1" spc="-5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Levels</a:t>
            </a:r>
            <a:endParaRPr sz="3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7657" y="1364107"/>
            <a:ext cx="8630920" cy="462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6350" indent="-342900" algn="just">
              <a:lnSpc>
                <a:spcPct val="100000"/>
              </a:lnSpc>
              <a:spcBef>
                <a:spcPts val="100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Testing </a:t>
            </a:r>
            <a:r>
              <a:rPr sz="3000" spc="-5" dirty="0">
                <a:latin typeface="Arial MT"/>
                <a:cs typeface="Arial MT"/>
              </a:rPr>
              <a:t>itself </a:t>
            </a:r>
            <a:r>
              <a:rPr sz="3000" dirty="0">
                <a:latin typeface="Arial MT"/>
                <a:cs typeface="Arial MT"/>
              </a:rPr>
              <a:t>may </a:t>
            </a:r>
            <a:r>
              <a:rPr sz="3000" spc="-5" dirty="0">
                <a:latin typeface="Arial MT"/>
                <a:cs typeface="Arial MT"/>
              </a:rPr>
              <a:t>be defined </a:t>
            </a:r>
            <a:r>
              <a:rPr sz="3000" dirty="0">
                <a:latin typeface="Arial MT"/>
                <a:cs typeface="Arial MT"/>
              </a:rPr>
              <a:t>at various </a:t>
            </a:r>
            <a:r>
              <a:rPr sz="3000" spc="-5" dirty="0">
                <a:latin typeface="Arial MT"/>
                <a:cs typeface="Arial MT"/>
              </a:rPr>
              <a:t>levels </a:t>
            </a:r>
            <a:r>
              <a:rPr sz="3000" dirty="0">
                <a:latin typeface="Arial MT"/>
                <a:cs typeface="Arial MT"/>
              </a:rPr>
              <a:t>of </a:t>
            </a:r>
            <a:r>
              <a:rPr sz="3000" spc="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SDLC.</a:t>
            </a:r>
            <a:endParaRPr sz="3000">
              <a:latin typeface="Arial MT"/>
              <a:cs typeface="Arial MT"/>
            </a:endParaRPr>
          </a:p>
          <a:p>
            <a:pPr marL="704215" marR="5080" lvl="1" indent="-347980" algn="just">
              <a:lnSpc>
                <a:spcPct val="100000"/>
              </a:lnSpc>
              <a:spcBef>
                <a:spcPts val="640"/>
              </a:spcBef>
              <a:buClr>
                <a:srgbClr val="669999"/>
              </a:buClr>
              <a:buSzPct val="69230"/>
              <a:buFont typeface="Wingdings"/>
              <a:buChar char=""/>
              <a:tabLst>
                <a:tab pos="704850" algn="l"/>
              </a:tabLst>
            </a:pPr>
            <a:r>
              <a:rPr sz="2600" spc="5" dirty="0">
                <a:latin typeface="Arial MT"/>
                <a:cs typeface="Arial MT"/>
              </a:rPr>
              <a:t>The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testing</a:t>
            </a:r>
            <a:r>
              <a:rPr sz="2600" dirty="0">
                <a:latin typeface="Arial MT"/>
                <a:cs typeface="Arial MT"/>
              </a:rPr>
              <a:t> process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runs</a:t>
            </a:r>
            <a:r>
              <a:rPr sz="2600" dirty="0">
                <a:latin typeface="Arial MT"/>
                <a:cs typeface="Arial MT"/>
              </a:rPr>
              <a:t> parallel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to</a:t>
            </a:r>
            <a:r>
              <a:rPr sz="2600" dirty="0">
                <a:latin typeface="Arial MT"/>
                <a:cs typeface="Arial MT"/>
              </a:rPr>
              <a:t> software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development.</a:t>
            </a:r>
            <a:endParaRPr sz="2600">
              <a:latin typeface="Arial MT"/>
              <a:cs typeface="Arial MT"/>
            </a:endParaRPr>
          </a:p>
          <a:p>
            <a:pPr marL="704215" marR="6985" lvl="1" indent="-347980" algn="just">
              <a:lnSpc>
                <a:spcPct val="100000"/>
              </a:lnSpc>
              <a:spcBef>
                <a:spcPts val="625"/>
              </a:spcBef>
              <a:buClr>
                <a:srgbClr val="669999"/>
              </a:buClr>
              <a:buSzPct val="69230"/>
              <a:buFont typeface="Wingdings"/>
              <a:buChar char=""/>
              <a:tabLst>
                <a:tab pos="704850" algn="l"/>
              </a:tabLst>
            </a:pPr>
            <a:r>
              <a:rPr sz="2600" dirty="0">
                <a:latin typeface="Arial MT"/>
                <a:cs typeface="Arial MT"/>
              </a:rPr>
              <a:t>Before jumping on the next stage, a stage </a:t>
            </a:r>
            <a:r>
              <a:rPr sz="2600" spc="-5" dirty="0">
                <a:latin typeface="Arial MT"/>
                <a:cs typeface="Arial MT"/>
              </a:rPr>
              <a:t>is </a:t>
            </a:r>
            <a:r>
              <a:rPr sz="2600" dirty="0">
                <a:latin typeface="Arial MT"/>
                <a:cs typeface="Arial MT"/>
              </a:rPr>
              <a:t>tested,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validated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 verified.</a:t>
            </a:r>
            <a:endParaRPr sz="2600">
              <a:latin typeface="Arial MT"/>
              <a:cs typeface="Arial MT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710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Testing </a:t>
            </a:r>
            <a:r>
              <a:rPr sz="3000" spc="-5" dirty="0">
                <a:latin typeface="Arial MT"/>
                <a:cs typeface="Arial MT"/>
              </a:rPr>
              <a:t>separately </a:t>
            </a:r>
            <a:r>
              <a:rPr sz="3000" dirty="0">
                <a:latin typeface="Arial MT"/>
                <a:cs typeface="Arial MT"/>
              </a:rPr>
              <a:t>is </a:t>
            </a:r>
            <a:r>
              <a:rPr sz="3000" spc="-5" dirty="0">
                <a:latin typeface="Arial MT"/>
                <a:cs typeface="Arial MT"/>
              </a:rPr>
              <a:t>done </a:t>
            </a:r>
            <a:r>
              <a:rPr sz="3000" dirty="0">
                <a:latin typeface="Arial MT"/>
                <a:cs typeface="Arial MT"/>
              </a:rPr>
              <a:t>just </a:t>
            </a:r>
            <a:r>
              <a:rPr sz="3000" spc="-5" dirty="0">
                <a:latin typeface="Arial MT"/>
                <a:cs typeface="Arial MT"/>
              </a:rPr>
              <a:t>to </a:t>
            </a:r>
            <a:r>
              <a:rPr sz="3000" dirty="0">
                <a:latin typeface="Arial MT"/>
                <a:cs typeface="Arial MT"/>
              </a:rPr>
              <a:t>make sure </a:t>
            </a:r>
            <a:r>
              <a:rPr sz="3000" spc="-5" dirty="0">
                <a:latin typeface="Arial MT"/>
                <a:cs typeface="Arial MT"/>
              </a:rPr>
              <a:t>that </a:t>
            </a:r>
            <a:r>
              <a:rPr sz="3000" spc="-819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there are no hidden </a:t>
            </a:r>
            <a:r>
              <a:rPr sz="3000" spc="-10" dirty="0">
                <a:latin typeface="Arial MT"/>
                <a:cs typeface="Arial MT"/>
              </a:rPr>
              <a:t>bugs </a:t>
            </a:r>
            <a:r>
              <a:rPr sz="3000" spc="-5" dirty="0">
                <a:latin typeface="Arial MT"/>
                <a:cs typeface="Arial MT"/>
              </a:rPr>
              <a:t>or issues left </a:t>
            </a:r>
            <a:r>
              <a:rPr sz="3000" dirty="0">
                <a:latin typeface="Arial MT"/>
                <a:cs typeface="Arial MT"/>
              </a:rPr>
              <a:t>in the </a:t>
            </a:r>
            <a:r>
              <a:rPr sz="3000" spc="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software.</a:t>
            </a:r>
            <a:endParaRPr sz="3000">
              <a:latin typeface="Arial MT"/>
              <a:cs typeface="Arial MT"/>
            </a:endParaRPr>
          </a:p>
          <a:p>
            <a:pPr marL="704215" lvl="1" indent="-347980" algn="just">
              <a:lnSpc>
                <a:spcPct val="100000"/>
              </a:lnSpc>
              <a:spcBef>
                <a:spcPts val="640"/>
              </a:spcBef>
              <a:buClr>
                <a:srgbClr val="669999"/>
              </a:buClr>
              <a:buSzPct val="69230"/>
              <a:buFont typeface="Wingdings"/>
              <a:buChar char=""/>
              <a:tabLst>
                <a:tab pos="704850" algn="l"/>
              </a:tabLst>
            </a:pPr>
            <a:r>
              <a:rPr sz="2600" dirty="0">
                <a:latin typeface="Arial MT"/>
                <a:cs typeface="Arial MT"/>
              </a:rPr>
              <a:t>Software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is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tested on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various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levels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1459"/>
            <a:ext cx="517842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Regression</a:t>
            </a:r>
            <a:r>
              <a:rPr sz="3900" b="1" spc="-1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Testing</a:t>
            </a:r>
            <a:endParaRPr sz="39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742059"/>
            <a:ext cx="8073390" cy="2332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spc="-5" dirty="0">
                <a:latin typeface="Arial MT"/>
                <a:cs typeface="Arial MT"/>
              </a:rPr>
              <a:t>Whenever a </a:t>
            </a:r>
            <a:r>
              <a:rPr sz="3000" dirty="0">
                <a:latin typeface="Arial MT"/>
                <a:cs typeface="Arial MT"/>
              </a:rPr>
              <a:t>software </a:t>
            </a:r>
            <a:r>
              <a:rPr sz="3000" spc="-5" dirty="0">
                <a:latin typeface="Arial MT"/>
                <a:cs typeface="Arial MT"/>
              </a:rPr>
              <a:t>product </a:t>
            </a:r>
            <a:r>
              <a:rPr sz="3000" dirty="0">
                <a:latin typeface="Arial MT"/>
                <a:cs typeface="Arial MT"/>
              </a:rPr>
              <a:t>is </a:t>
            </a:r>
            <a:r>
              <a:rPr sz="3000" spc="-5" dirty="0">
                <a:latin typeface="Arial MT"/>
                <a:cs typeface="Arial MT"/>
              </a:rPr>
              <a:t>updated </a:t>
            </a:r>
            <a:r>
              <a:rPr sz="3000" spc="-10" dirty="0">
                <a:latin typeface="Arial MT"/>
                <a:cs typeface="Arial MT"/>
              </a:rPr>
              <a:t>with </a:t>
            </a:r>
            <a:r>
              <a:rPr sz="3000" spc="-819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new code, feature or functionality, </a:t>
            </a:r>
            <a:r>
              <a:rPr sz="3000" dirty="0">
                <a:latin typeface="Arial MT"/>
                <a:cs typeface="Arial MT"/>
              </a:rPr>
              <a:t>it is </a:t>
            </a:r>
            <a:r>
              <a:rPr sz="3000" spc="-5" dirty="0">
                <a:latin typeface="Arial MT"/>
                <a:cs typeface="Arial MT"/>
              </a:rPr>
              <a:t>tested </a:t>
            </a:r>
            <a:r>
              <a:rPr sz="300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thoroughly to </a:t>
            </a:r>
            <a:r>
              <a:rPr sz="3000" dirty="0">
                <a:latin typeface="Arial MT"/>
                <a:cs typeface="Arial MT"/>
              </a:rPr>
              <a:t>detect if </a:t>
            </a:r>
            <a:r>
              <a:rPr sz="3000" spc="-5" dirty="0">
                <a:latin typeface="Arial MT"/>
                <a:cs typeface="Arial MT"/>
              </a:rPr>
              <a:t>there </a:t>
            </a:r>
            <a:r>
              <a:rPr sz="3000" dirty="0">
                <a:latin typeface="Arial MT"/>
                <a:cs typeface="Arial MT"/>
              </a:rPr>
              <a:t>is </a:t>
            </a:r>
            <a:r>
              <a:rPr sz="3000" spc="-5" dirty="0">
                <a:latin typeface="Arial MT"/>
                <a:cs typeface="Arial MT"/>
              </a:rPr>
              <a:t>any negative </a:t>
            </a:r>
            <a:r>
              <a:rPr sz="300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impact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 the </a:t>
            </a:r>
            <a:r>
              <a:rPr sz="3000" spc="-5" dirty="0">
                <a:latin typeface="Arial MT"/>
                <a:cs typeface="Arial MT"/>
              </a:rPr>
              <a:t>added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code.</a:t>
            </a:r>
            <a:endParaRPr sz="3000">
              <a:latin typeface="Arial MT"/>
              <a:cs typeface="Arial MT"/>
            </a:endParaRPr>
          </a:p>
          <a:p>
            <a:pPr marL="704850" lvl="1" indent="-348615" algn="just">
              <a:lnSpc>
                <a:spcPct val="100000"/>
              </a:lnSpc>
              <a:spcBef>
                <a:spcPts val="645"/>
              </a:spcBef>
              <a:buClr>
                <a:srgbClr val="669999"/>
              </a:buClr>
              <a:buSzPct val="69230"/>
              <a:buFont typeface="Wingdings"/>
              <a:buChar char=""/>
              <a:tabLst>
                <a:tab pos="705485" algn="l"/>
              </a:tabLst>
            </a:pPr>
            <a:r>
              <a:rPr sz="2600" dirty="0">
                <a:latin typeface="Arial MT"/>
                <a:cs typeface="Arial MT"/>
              </a:rPr>
              <a:t>This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is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known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as regression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testing.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9349"/>
            <a:ext cx="5578475" cy="4039235"/>
            <a:chOff x="0" y="2819349"/>
            <a:chExt cx="5578475" cy="40392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101" y="2819400"/>
              <a:ext cx="1779524" cy="3124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2858" y="2819349"/>
              <a:ext cx="2015616" cy="313397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19805" y="-37083"/>
            <a:ext cx="30994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290" dirty="0"/>
              <a:t>Testing</a:t>
            </a:r>
          </a:p>
        </p:txBody>
      </p:sp>
      <p:sp>
        <p:nvSpPr>
          <p:cNvPr id="6" name="object 6"/>
          <p:cNvSpPr/>
          <p:nvPr/>
        </p:nvSpPr>
        <p:spPr>
          <a:xfrm>
            <a:off x="304800" y="6826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9674" y="600106"/>
            <a:ext cx="3727450" cy="21513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300" b="1" dirty="0">
                <a:solidFill>
                  <a:srgbClr val="CC0000"/>
                </a:solidFill>
                <a:latin typeface="Times New Roman"/>
                <a:cs typeface="Times New Roman"/>
              </a:rPr>
              <a:t>Levels</a:t>
            </a:r>
            <a:r>
              <a:rPr sz="2300" b="1" spc="-4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CC0000"/>
                </a:solidFill>
                <a:latin typeface="Times New Roman"/>
                <a:cs typeface="Times New Roman"/>
              </a:rPr>
              <a:t>of</a:t>
            </a:r>
            <a:r>
              <a:rPr sz="2300" b="1" spc="-8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3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Testing</a:t>
            </a:r>
            <a:endParaRPr sz="2300">
              <a:latin typeface="Times New Roman"/>
              <a:cs typeface="Times New Roman"/>
            </a:endParaRPr>
          </a:p>
          <a:p>
            <a:pPr marL="61594">
              <a:lnSpc>
                <a:spcPct val="100000"/>
              </a:lnSpc>
              <a:spcBef>
                <a:spcPts val="815"/>
              </a:spcBef>
            </a:pPr>
            <a:r>
              <a:rPr sz="2400" b="1" dirty="0">
                <a:latin typeface="Times New Roman"/>
                <a:cs typeface="Times New Roman"/>
              </a:rPr>
              <a:t>There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3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levels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testing:</a:t>
            </a:r>
            <a:endParaRPr sz="2400">
              <a:latin typeface="Times New Roman"/>
              <a:cs typeface="Times New Roman"/>
            </a:endParaRPr>
          </a:p>
          <a:p>
            <a:pPr marL="1026794" indent="-457200">
              <a:lnSpc>
                <a:spcPct val="100000"/>
              </a:lnSpc>
              <a:spcBef>
                <a:spcPts val="120"/>
              </a:spcBef>
              <a:buAutoNum type="romanLcPeriod"/>
              <a:tabLst>
                <a:tab pos="1026794" algn="l"/>
              </a:tabLst>
            </a:pP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Unit</a:t>
            </a:r>
            <a:r>
              <a:rPr sz="2400" b="1" spc="-10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Testing</a:t>
            </a:r>
            <a:endParaRPr sz="2400">
              <a:latin typeface="Times New Roman"/>
              <a:cs typeface="Times New Roman"/>
            </a:endParaRPr>
          </a:p>
          <a:p>
            <a:pPr marL="1026794" indent="-457200">
              <a:lnSpc>
                <a:spcPct val="100000"/>
              </a:lnSpc>
              <a:spcBef>
                <a:spcPts val="270"/>
              </a:spcBef>
              <a:buAutoNum type="romanLcPeriod"/>
              <a:tabLst>
                <a:tab pos="1026794" algn="l"/>
              </a:tabLst>
            </a:pP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Integration</a:t>
            </a:r>
            <a:r>
              <a:rPr sz="2400" b="1" spc="-114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Testing</a:t>
            </a:r>
            <a:endParaRPr sz="2400">
              <a:latin typeface="Times New Roman"/>
              <a:cs typeface="Times New Roman"/>
            </a:endParaRPr>
          </a:p>
          <a:p>
            <a:pPr marL="1026160" indent="-456565">
              <a:lnSpc>
                <a:spcPct val="100000"/>
              </a:lnSpc>
              <a:spcBef>
                <a:spcPts val="470"/>
              </a:spcBef>
              <a:buAutoNum type="romanLcPeriod"/>
              <a:tabLst>
                <a:tab pos="1026160" algn="l"/>
              </a:tabLst>
            </a:pP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System</a:t>
            </a:r>
            <a:r>
              <a:rPr sz="2400" b="1" spc="-1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Testing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81393" y="2861303"/>
            <a:ext cx="1876678" cy="300696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052" y="1479973"/>
            <a:ext cx="8628380" cy="4088129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635"/>
              </a:spcBef>
            </a:pPr>
            <a:r>
              <a:rPr sz="2200" b="1" dirty="0">
                <a:latin typeface="Times New Roman"/>
                <a:cs typeface="Times New Roman"/>
              </a:rPr>
              <a:t>Unit</a:t>
            </a:r>
            <a:r>
              <a:rPr sz="2200" b="1" spc="-9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Testing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90"/>
              </a:spcBef>
              <a:tabLst>
                <a:tab pos="949325" algn="l"/>
                <a:tab pos="1530350" algn="l"/>
                <a:tab pos="2722245" algn="l"/>
                <a:tab pos="3141345" algn="l"/>
                <a:tab pos="4283075" algn="l"/>
                <a:tab pos="4700905" algn="l"/>
                <a:tab pos="5883910" algn="l"/>
                <a:tab pos="6303010" algn="l"/>
                <a:tab pos="6993255" algn="l"/>
                <a:tab pos="802195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There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are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number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of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reasons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in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support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5" dirty="0">
                <a:latin typeface="Times New Roman"/>
                <a:cs typeface="Times New Roman"/>
              </a:rPr>
              <a:t>of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0" dirty="0">
                <a:latin typeface="Times New Roman"/>
                <a:cs typeface="Times New Roman"/>
              </a:rPr>
              <a:t>unit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testing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20" dirty="0">
                <a:latin typeface="Times New Roman"/>
                <a:cs typeface="Times New Roman"/>
              </a:rPr>
              <a:t>than </a:t>
            </a:r>
            <a:r>
              <a:rPr sz="2400" b="1" dirty="0">
                <a:latin typeface="Times New Roman"/>
                <a:cs typeface="Times New Roman"/>
              </a:rPr>
              <a:t>testing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entire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product.</a:t>
            </a:r>
            <a:endParaRPr sz="2400">
              <a:latin typeface="Times New Roman"/>
              <a:cs typeface="Times New Roman"/>
            </a:endParaRPr>
          </a:p>
          <a:p>
            <a:pPr marL="520700" marR="62865" indent="-457834">
              <a:lnSpc>
                <a:spcPct val="100000"/>
              </a:lnSpc>
              <a:spcBef>
                <a:spcPts val="2055"/>
              </a:spcBef>
              <a:buAutoNum type="arabicPeriod"/>
              <a:tabLst>
                <a:tab pos="520700" algn="l"/>
              </a:tabLst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size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single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module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small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enough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locate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error </a:t>
            </a:r>
            <a:r>
              <a:rPr sz="2000" b="1" dirty="0">
                <a:latin typeface="Times New Roman"/>
                <a:cs typeface="Times New Roman"/>
              </a:rPr>
              <a:t>fairly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easily.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520700" marR="67945" indent="-457834">
              <a:lnSpc>
                <a:spcPct val="100000"/>
              </a:lnSpc>
              <a:buAutoNum type="arabicPeriod"/>
              <a:tabLst>
                <a:tab pos="520700" algn="l"/>
                <a:tab pos="1082675" algn="l"/>
                <a:tab pos="2024380" algn="l"/>
                <a:tab pos="2332990" algn="l"/>
                <a:tab pos="3049270" algn="l"/>
                <a:tab pos="3975735" algn="l"/>
                <a:tab pos="4553585" algn="l"/>
                <a:tab pos="4987925" algn="l"/>
                <a:tab pos="5506085" algn="l"/>
                <a:tab pos="6489065" algn="l"/>
                <a:tab pos="6839584" algn="l"/>
                <a:tab pos="7357745" algn="l"/>
                <a:tab pos="7650480" algn="l"/>
                <a:tab pos="7999730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The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module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is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small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enough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0" dirty="0">
                <a:latin typeface="Times New Roman"/>
                <a:cs typeface="Times New Roman"/>
              </a:rPr>
              <a:t>that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we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can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attempt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to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0" dirty="0">
                <a:latin typeface="Times New Roman"/>
                <a:cs typeface="Times New Roman"/>
              </a:rPr>
              <a:t>test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it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in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0" dirty="0">
                <a:latin typeface="Times New Roman"/>
                <a:cs typeface="Times New Roman"/>
              </a:rPr>
              <a:t>some </a:t>
            </a:r>
            <a:r>
              <a:rPr sz="2000" b="1" dirty="0">
                <a:latin typeface="Times New Roman"/>
                <a:cs typeface="Times New Roman"/>
              </a:rPr>
              <a:t>demonstrably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exhaustive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fashion.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520700" indent="-457834">
              <a:lnSpc>
                <a:spcPct val="100000"/>
              </a:lnSpc>
              <a:buAutoNum type="arabicPeriod"/>
              <a:tabLst>
                <a:tab pos="520700" algn="l"/>
              </a:tabLst>
            </a:pPr>
            <a:r>
              <a:rPr sz="2000" b="1" dirty="0">
                <a:latin typeface="Times New Roman"/>
                <a:cs typeface="Times New Roman"/>
              </a:rPr>
              <a:t>Confusing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interactions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multiple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errors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widely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parts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520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software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eliminated.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408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0" dirty="0">
                <a:solidFill>
                  <a:srgbClr val="000000"/>
                </a:solidFill>
              </a:rPr>
              <a:t>Software</a:t>
            </a:r>
            <a:r>
              <a:rPr spc="-175" dirty="0">
                <a:solidFill>
                  <a:srgbClr val="000000"/>
                </a:solidFill>
              </a:rPr>
              <a:t> </a:t>
            </a:r>
            <a:r>
              <a:rPr spc="-285" dirty="0">
                <a:solidFill>
                  <a:srgbClr val="000000"/>
                </a:solidFill>
              </a:rPr>
              <a:t>Testing</a:t>
            </a:r>
          </a:p>
        </p:txBody>
      </p:sp>
      <p:sp>
        <p:nvSpPr>
          <p:cNvPr id="4" name="object 4"/>
          <p:cNvSpPr/>
          <p:nvPr/>
        </p:nvSpPr>
        <p:spPr>
          <a:xfrm>
            <a:off x="304800" y="10890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900" y="1502409"/>
            <a:ext cx="8719185" cy="5231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8415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There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problems</a:t>
            </a:r>
            <a:r>
              <a:rPr sz="2000" b="1" spc="22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associated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with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testing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2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module</a:t>
            </a:r>
            <a:r>
              <a:rPr sz="2000" b="1" spc="22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isolation.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How</a:t>
            </a:r>
            <a:r>
              <a:rPr sz="2000" b="1" spc="2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</a:t>
            </a:r>
            <a:r>
              <a:rPr sz="2000" b="1" spc="2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we </a:t>
            </a:r>
            <a:r>
              <a:rPr sz="2000" b="1" dirty="0">
                <a:latin typeface="Times New Roman"/>
                <a:cs typeface="Times New Roman"/>
              </a:rPr>
              <a:t>run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 module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without anything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call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it,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called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 it </a:t>
            </a:r>
            <a:r>
              <a:rPr sz="2000" b="1" spc="-10" dirty="0">
                <a:latin typeface="Times New Roman"/>
                <a:cs typeface="Times New Roman"/>
              </a:rPr>
              <a:t>or,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possibly,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 </a:t>
            </a:r>
            <a:r>
              <a:rPr sz="2000" b="1" spc="-10" dirty="0">
                <a:latin typeface="Times New Roman"/>
                <a:cs typeface="Times New Roman"/>
              </a:rPr>
              <a:t>output </a:t>
            </a:r>
            <a:r>
              <a:rPr sz="2000" b="1" dirty="0">
                <a:latin typeface="Times New Roman"/>
                <a:cs typeface="Times New Roman"/>
              </a:rPr>
              <a:t>intermediate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values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obtained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during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execution?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approach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construct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 </a:t>
            </a:r>
            <a:r>
              <a:rPr sz="2000" b="1" dirty="0">
                <a:latin typeface="Times New Roman"/>
                <a:cs typeface="Times New Roman"/>
              </a:rPr>
              <a:t>appropriate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driver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routine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call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and,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simple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stubs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called</a:t>
            </a:r>
            <a:r>
              <a:rPr sz="2000" b="1" spc="1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it,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to </a:t>
            </a:r>
            <a:r>
              <a:rPr sz="2000" b="1" dirty="0">
                <a:latin typeface="Times New Roman"/>
                <a:cs typeface="Times New Roman"/>
              </a:rPr>
              <a:t>insert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output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statements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it.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2000">
              <a:latin typeface="Times New Roman"/>
              <a:cs typeface="Times New Roman"/>
            </a:endParaRPr>
          </a:p>
          <a:p>
            <a:pPr marL="88900" marR="37465" algn="just">
              <a:lnSpc>
                <a:spcPct val="100000"/>
              </a:lnSpc>
            </a:pP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Stubs</a:t>
            </a:r>
            <a:r>
              <a:rPr sz="2000" b="1" spc="13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serve</a:t>
            </a:r>
            <a:r>
              <a:rPr sz="2000" b="1" spc="1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sz="2000" b="1" spc="1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replace</a:t>
            </a:r>
            <a:r>
              <a:rPr sz="2000" b="1" spc="13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modules</a:t>
            </a:r>
            <a:r>
              <a:rPr sz="2000" b="1" spc="1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that</a:t>
            </a:r>
            <a:r>
              <a:rPr sz="2000" b="1" spc="1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are</a:t>
            </a:r>
            <a:r>
              <a:rPr sz="2000" b="1" spc="1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subordinate</a:t>
            </a:r>
            <a:r>
              <a:rPr sz="2000" b="1" spc="1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sz="2000" b="1" spc="1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(called</a:t>
            </a:r>
            <a:r>
              <a:rPr sz="2000" b="1" spc="1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by)</a:t>
            </a:r>
            <a:r>
              <a:rPr sz="2000" b="1" spc="13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spc="1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module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sz="2000" b="1" spc="4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be</a:t>
            </a:r>
            <a:r>
              <a:rPr sz="2000" b="1" spc="40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tested.</a:t>
            </a:r>
            <a:r>
              <a:rPr sz="2000" b="1" spc="409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</a:t>
            </a:r>
            <a:r>
              <a:rPr sz="2000" b="1" spc="3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stub</a:t>
            </a:r>
            <a:r>
              <a:rPr sz="2000" b="1" spc="4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or</a:t>
            </a:r>
            <a:r>
              <a:rPr sz="2000" b="1" spc="37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dummy</a:t>
            </a:r>
            <a:r>
              <a:rPr sz="2000" b="1" spc="4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subprogram</a:t>
            </a:r>
            <a:r>
              <a:rPr sz="2000" b="1" spc="4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uses</a:t>
            </a:r>
            <a:r>
              <a:rPr sz="2000" b="1" spc="40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spc="409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subordinate</a:t>
            </a:r>
            <a:r>
              <a:rPr sz="2000" b="1" spc="4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module’s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interface,</a:t>
            </a:r>
            <a:r>
              <a:rPr sz="2000" b="1" spc="8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may</a:t>
            </a:r>
            <a:r>
              <a:rPr sz="2000" b="1" spc="8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do</a:t>
            </a:r>
            <a:r>
              <a:rPr sz="2000" b="1" spc="9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minimal</a:t>
            </a:r>
            <a:r>
              <a:rPr sz="2000" b="1" spc="7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data</a:t>
            </a:r>
            <a:r>
              <a:rPr sz="2000" b="1" spc="9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manipulation,</a:t>
            </a:r>
            <a:r>
              <a:rPr sz="2000" b="1" spc="8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prints</a:t>
            </a:r>
            <a:r>
              <a:rPr sz="2000" b="1" spc="8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verification</a:t>
            </a:r>
            <a:r>
              <a:rPr sz="2000" b="1" spc="9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2000" b="1" spc="9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entry,</a:t>
            </a:r>
            <a:r>
              <a:rPr sz="2000" b="1" spc="8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and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returns.</a:t>
            </a:r>
            <a:endParaRPr sz="2000">
              <a:latin typeface="Times New Roman"/>
              <a:cs typeface="Times New Roman"/>
            </a:endParaRPr>
          </a:p>
          <a:p>
            <a:pPr marL="88900" algn="just">
              <a:lnSpc>
                <a:spcPct val="100000"/>
              </a:lnSpc>
              <a:spcBef>
                <a:spcPts val="1805"/>
              </a:spcBef>
            </a:pPr>
            <a:r>
              <a:rPr sz="2000" b="1" dirty="0">
                <a:latin typeface="Times New Roman"/>
                <a:cs typeface="Times New Roman"/>
              </a:rPr>
              <a:t>This</a:t>
            </a:r>
            <a:r>
              <a:rPr sz="2000" b="1" spc="5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overhead</a:t>
            </a:r>
            <a:r>
              <a:rPr sz="2000" b="1" spc="6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code,</a:t>
            </a:r>
            <a:r>
              <a:rPr sz="2000" b="1" spc="5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called</a:t>
            </a:r>
            <a:r>
              <a:rPr sz="2000" b="1" spc="6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scaffolding</a:t>
            </a:r>
            <a:r>
              <a:rPr sz="2000" b="1" spc="6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represents</a:t>
            </a:r>
            <a:r>
              <a:rPr sz="2000" b="1" spc="6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effort</a:t>
            </a:r>
            <a:r>
              <a:rPr sz="2000" b="1" spc="5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6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5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import</a:t>
            </a:r>
            <a:r>
              <a:rPr sz="2000" b="1" spc="60" dirty="0">
                <a:latin typeface="Times New Roman"/>
                <a:cs typeface="Times New Roman"/>
              </a:rPr>
              <a:t>  </a:t>
            </a:r>
            <a:r>
              <a:rPr sz="2000" b="1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88900" algn="just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testing,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does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appear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delivered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product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shown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Fig.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29.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70"/>
              </a:spcBef>
            </a:pPr>
            <a:endParaRPr sz="2000">
              <a:latin typeface="Times New Roman"/>
              <a:cs typeface="Times New Roman"/>
            </a:endParaRPr>
          </a:p>
          <a:p>
            <a:pPr marL="8578850">
              <a:lnSpc>
                <a:spcPct val="100000"/>
              </a:lnSpc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8578850">
              <a:lnSpc>
                <a:spcPct val="100000"/>
              </a:lnSpc>
              <a:spcBef>
                <a:spcPts val="5"/>
              </a:spcBef>
            </a:pP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5236" rIns="0" bIns="0" rtlCol="0">
            <a:spAutoFit/>
          </a:bodyPr>
          <a:lstStyle/>
          <a:p>
            <a:pPr marL="1306830">
              <a:lnSpc>
                <a:spcPct val="100000"/>
              </a:lnSpc>
              <a:spcBef>
                <a:spcPts val="100"/>
              </a:spcBef>
            </a:pPr>
            <a:r>
              <a:rPr sz="2000" spc="-114" dirty="0"/>
              <a:t>Software</a:t>
            </a:r>
            <a:r>
              <a:rPr sz="2000" spc="-60" dirty="0"/>
              <a:t> </a:t>
            </a:r>
            <a:r>
              <a:rPr sz="2000" spc="-125" dirty="0"/>
              <a:t>Testing</a:t>
            </a:r>
            <a:endParaRPr sz="2000"/>
          </a:p>
        </p:txBody>
      </p:sp>
      <p:sp>
        <p:nvSpPr>
          <p:cNvPr id="4" name="object 4"/>
          <p:cNvSpPr/>
          <p:nvPr/>
        </p:nvSpPr>
        <p:spPr>
          <a:xfrm>
            <a:off x="304800" y="1089025"/>
            <a:ext cx="8610600" cy="45720"/>
          </a:xfrm>
          <a:custGeom>
            <a:avLst/>
            <a:gdLst/>
            <a:ahLst/>
            <a:cxnLst/>
            <a:rect l="l" t="t" r="r" b="b"/>
            <a:pathLst>
              <a:path w="8610600" h="45719">
                <a:moveTo>
                  <a:pt x="0" y="4572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523915"/>
            <a:ext cx="8126739" cy="48133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290" dirty="0"/>
              <a:t>Testing</a:t>
            </a:r>
          </a:p>
        </p:txBody>
      </p:sp>
      <p:sp>
        <p:nvSpPr>
          <p:cNvPr id="4" name="object 4"/>
          <p:cNvSpPr/>
          <p:nvPr/>
        </p:nvSpPr>
        <p:spPr>
          <a:xfrm>
            <a:off x="304800" y="12382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5052" y="6151575"/>
            <a:ext cx="67214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Fig.</a:t>
            </a:r>
            <a:r>
              <a:rPr sz="20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29</a:t>
            </a:r>
            <a:r>
              <a:rPr sz="20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r>
              <a:rPr sz="20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Scaffolding</a:t>
            </a:r>
            <a:r>
              <a:rPr sz="2000"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required</a:t>
            </a:r>
            <a:r>
              <a:rPr sz="20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testing</a:t>
            </a:r>
            <a:r>
              <a:rPr sz="2000" b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0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program</a:t>
            </a:r>
            <a:r>
              <a:rPr sz="2000"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unit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(module)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052" y="1548511"/>
            <a:ext cx="8631555" cy="3248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" algn="just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Integration</a:t>
            </a:r>
            <a:r>
              <a:rPr sz="2200" b="1" spc="-4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Testing</a:t>
            </a:r>
            <a:endParaRPr sz="2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  <a:spcBef>
                <a:spcPts val="2215"/>
              </a:spcBef>
            </a:pPr>
            <a:r>
              <a:rPr sz="1900" b="1" dirty="0">
                <a:latin typeface="Times New Roman"/>
                <a:cs typeface="Times New Roman"/>
              </a:rPr>
              <a:t>The</a:t>
            </a:r>
            <a:r>
              <a:rPr sz="1900" b="1" spc="15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purpose</a:t>
            </a:r>
            <a:r>
              <a:rPr sz="1900" b="1" spc="25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of</a:t>
            </a:r>
            <a:r>
              <a:rPr sz="1900" b="1" spc="2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unit</a:t>
            </a:r>
            <a:r>
              <a:rPr sz="1900" b="1" spc="25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testing</a:t>
            </a:r>
            <a:r>
              <a:rPr sz="1900" b="1" spc="2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is</a:t>
            </a:r>
            <a:r>
              <a:rPr sz="1900" b="1" spc="2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to</a:t>
            </a:r>
            <a:r>
              <a:rPr sz="1900" b="1" spc="25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determine</a:t>
            </a:r>
            <a:r>
              <a:rPr sz="1900" b="1" spc="2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that</a:t>
            </a:r>
            <a:r>
              <a:rPr sz="1900" b="1" spc="2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each</a:t>
            </a:r>
            <a:r>
              <a:rPr sz="1900" b="1" spc="25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independent</a:t>
            </a:r>
            <a:r>
              <a:rPr sz="1900" b="1" spc="3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module</a:t>
            </a:r>
            <a:r>
              <a:rPr sz="1900" b="1" spc="25" dirty="0">
                <a:latin typeface="Times New Roman"/>
                <a:cs typeface="Times New Roman"/>
              </a:rPr>
              <a:t>  </a:t>
            </a:r>
            <a:r>
              <a:rPr sz="1900" b="1" spc="-25" dirty="0">
                <a:latin typeface="Times New Roman"/>
                <a:cs typeface="Times New Roman"/>
              </a:rPr>
              <a:t>is </a:t>
            </a:r>
            <a:r>
              <a:rPr sz="1900" b="1" dirty="0">
                <a:latin typeface="Times New Roman"/>
                <a:cs typeface="Times New Roman"/>
              </a:rPr>
              <a:t>correctly</a:t>
            </a:r>
            <a:r>
              <a:rPr sz="1900" b="1" spc="459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implemented.</a:t>
            </a:r>
            <a:r>
              <a:rPr sz="1900" b="1" spc="47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This</a:t>
            </a:r>
            <a:r>
              <a:rPr sz="1900" b="1" spc="459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gives</a:t>
            </a:r>
            <a:r>
              <a:rPr sz="1900" b="1" spc="459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little</a:t>
            </a:r>
            <a:r>
              <a:rPr sz="1900" b="1" spc="47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chance</a:t>
            </a:r>
            <a:r>
              <a:rPr sz="1900" b="1" spc="45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to</a:t>
            </a:r>
            <a:r>
              <a:rPr sz="1900" b="1" spc="459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determine</a:t>
            </a:r>
            <a:r>
              <a:rPr sz="1900" b="1" spc="46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that</a:t>
            </a:r>
            <a:r>
              <a:rPr sz="1900" b="1" spc="46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the</a:t>
            </a:r>
            <a:r>
              <a:rPr sz="1900" b="1" spc="459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interface </a:t>
            </a:r>
            <a:r>
              <a:rPr sz="1900" b="1" dirty="0">
                <a:latin typeface="Times New Roman"/>
                <a:cs typeface="Times New Roman"/>
              </a:rPr>
              <a:t>between</a:t>
            </a:r>
            <a:r>
              <a:rPr sz="1900" b="1" spc="28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modules</a:t>
            </a:r>
            <a:r>
              <a:rPr sz="1900" b="1" spc="28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is</a:t>
            </a:r>
            <a:r>
              <a:rPr sz="1900" b="1" spc="27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also</a:t>
            </a:r>
            <a:r>
              <a:rPr sz="1900" b="1" spc="27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correct,</a:t>
            </a:r>
            <a:r>
              <a:rPr sz="1900" b="1" spc="28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and</a:t>
            </a:r>
            <a:r>
              <a:rPr sz="1900" b="1" spc="29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for</a:t>
            </a:r>
            <a:r>
              <a:rPr sz="1900" b="1" spc="2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this</a:t>
            </a:r>
            <a:r>
              <a:rPr sz="1900" b="1" spc="28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reason</a:t>
            </a:r>
            <a:r>
              <a:rPr sz="1900" b="1" spc="28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integration</a:t>
            </a:r>
            <a:r>
              <a:rPr sz="1900" b="1" spc="28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testing</a:t>
            </a:r>
            <a:r>
              <a:rPr sz="1900" b="1" spc="29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must</a:t>
            </a:r>
            <a:r>
              <a:rPr sz="1900" b="1" spc="290" dirty="0">
                <a:latin typeface="Times New Roman"/>
                <a:cs typeface="Times New Roman"/>
              </a:rPr>
              <a:t> </a:t>
            </a:r>
            <a:r>
              <a:rPr sz="1900" b="1" spc="-25" dirty="0">
                <a:latin typeface="Times New Roman"/>
                <a:cs typeface="Times New Roman"/>
              </a:rPr>
              <a:t>be </a:t>
            </a:r>
            <a:r>
              <a:rPr sz="1900" b="1" dirty="0">
                <a:latin typeface="Times New Roman"/>
                <a:cs typeface="Times New Roman"/>
              </a:rPr>
              <a:t>performed.</a:t>
            </a:r>
            <a:r>
              <a:rPr sz="1900" b="1" spc="15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One</a:t>
            </a:r>
            <a:r>
              <a:rPr sz="1900" b="1" spc="1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specific</a:t>
            </a:r>
            <a:r>
              <a:rPr sz="1900" b="1" spc="15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target</a:t>
            </a:r>
            <a:r>
              <a:rPr sz="1900" b="1" spc="49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of</a:t>
            </a:r>
            <a:r>
              <a:rPr sz="1900" b="1" spc="15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integration</a:t>
            </a:r>
            <a:r>
              <a:rPr sz="1900" b="1" spc="15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testing</a:t>
            </a:r>
            <a:r>
              <a:rPr sz="1900" b="1" spc="15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is</a:t>
            </a:r>
            <a:r>
              <a:rPr sz="1900" b="1" spc="49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the</a:t>
            </a:r>
            <a:r>
              <a:rPr sz="1900" b="1" spc="1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interface:</a:t>
            </a:r>
            <a:r>
              <a:rPr sz="1900" b="1" spc="15" dirty="0">
                <a:latin typeface="Times New Roman"/>
                <a:cs typeface="Times New Roman"/>
              </a:rPr>
              <a:t>  </a:t>
            </a:r>
            <a:r>
              <a:rPr sz="1900" b="1" spc="-10" dirty="0">
                <a:latin typeface="Times New Roman"/>
                <a:cs typeface="Times New Roman"/>
              </a:rPr>
              <a:t>whether </a:t>
            </a:r>
            <a:r>
              <a:rPr sz="1900" b="1" dirty="0">
                <a:latin typeface="Times New Roman"/>
                <a:cs typeface="Times New Roman"/>
              </a:rPr>
              <a:t>parameters</a:t>
            </a:r>
            <a:r>
              <a:rPr sz="1900" b="1" spc="49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match</a:t>
            </a:r>
            <a:r>
              <a:rPr sz="1900" b="1" spc="2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on</a:t>
            </a:r>
            <a:r>
              <a:rPr sz="1900" b="1" spc="2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both</a:t>
            </a:r>
            <a:r>
              <a:rPr sz="1900" b="1" spc="2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sides</a:t>
            </a:r>
            <a:r>
              <a:rPr sz="1900" b="1" spc="1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as</a:t>
            </a:r>
            <a:r>
              <a:rPr sz="1900" b="1" spc="15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to</a:t>
            </a:r>
            <a:r>
              <a:rPr sz="1900" b="1" spc="1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type,</a:t>
            </a:r>
            <a:r>
              <a:rPr sz="1900" b="1" spc="2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permissible</a:t>
            </a:r>
            <a:r>
              <a:rPr sz="1900" b="1" spc="15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ranges,</a:t>
            </a:r>
            <a:r>
              <a:rPr sz="1900" b="1" spc="20" dirty="0">
                <a:latin typeface="Times New Roman"/>
                <a:cs typeface="Times New Roman"/>
              </a:rPr>
              <a:t>  </a:t>
            </a:r>
            <a:r>
              <a:rPr sz="1900" b="1" dirty="0">
                <a:latin typeface="Times New Roman"/>
                <a:cs typeface="Times New Roman"/>
              </a:rPr>
              <a:t>meaning</a:t>
            </a:r>
            <a:r>
              <a:rPr sz="1900" b="1" spc="15" dirty="0">
                <a:latin typeface="Times New Roman"/>
                <a:cs typeface="Times New Roman"/>
              </a:rPr>
              <a:t>  </a:t>
            </a:r>
            <a:r>
              <a:rPr sz="1900" b="1" spc="-25" dirty="0">
                <a:latin typeface="Times New Roman"/>
                <a:cs typeface="Times New Roman"/>
              </a:rPr>
              <a:t>and </a:t>
            </a:r>
            <a:r>
              <a:rPr sz="1900" b="1" spc="-10" dirty="0">
                <a:latin typeface="Times New Roman"/>
                <a:cs typeface="Times New Roman"/>
              </a:rPr>
              <a:t>utilization.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408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Software</a:t>
            </a:r>
            <a:r>
              <a:rPr spc="-175" dirty="0"/>
              <a:t> </a:t>
            </a:r>
            <a:r>
              <a:rPr spc="-285" dirty="0"/>
              <a:t>Testing</a:t>
            </a:r>
          </a:p>
        </p:txBody>
      </p:sp>
      <p:sp>
        <p:nvSpPr>
          <p:cNvPr id="4" name="object 4"/>
          <p:cNvSpPr/>
          <p:nvPr/>
        </p:nvSpPr>
        <p:spPr>
          <a:xfrm>
            <a:off x="304800" y="10890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312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290" dirty="0"/>
              <a:t>Testing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7620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07894" y="6151575"/>
            <a:ext cx="51758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Fig.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30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Three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integration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approaches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1744" y="947725"/>
            <a:ext cx="8602980" cy="5172710"/>
            <a:chOff x="281744" y="947725"/>
            <a:chExt cx="8602980" cy="51727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744" y="947725"/>
              <a:ext cx="2743571" cy="285658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2430" y="951929"/>
              <a:ext cx="3011773" cy="284274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9400" y="2971736"/>
              <a:ext cx="3352800" cy="314807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9052" y="1124354"/>
            <a:ext cx="8630285" cy="502348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91440" algn="just">
              <a:lnSpc>
                <a:spcPct val="100000"/>
              </a:lnSpc>
              <a:spcBef>
                <a:spcPts val="670"/>
              </a:spcBef>
            </a:pPr>
            <a:r>
              <a:rPr sz="2200" b="1" u="sng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System</a:t>
            </a:r>
            <a:r>
              <a:rPr sz="2200" b="1" u="sng" spc="-110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b="1" u="sng" spc="-10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imes New Roman"/>
                <a:cs typeface="Times New Roman"/>
              </a:rPr>
              <a:t>Testing</a:t>
            </a:r>
            <a:endParaRPr sz="22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475"/>
              </a:spcBef>
            </a:pP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three</a:t>
            </a:r>
            <a:r>
              <a:rPr sz="1800" b="1" spc="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levels</a:t>
            </a:r>
            <a:r>
              <a:rPr sz="1800" b="1" spc="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testing,</a:t>
            </a:r>
            <a:r>
              <a:rPr sz="1800" b="1" spc="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system</a:t>
            </a:r>
            <a:r>
              <a:rPr sz="1800" b="1" spc="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level</a:t>
            </a:r>
            <a:r>
              <a:rPr sz="1800" b="1" spc="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closet</a:t>
            </a:r>
            <a:r>
              <a:rPr sz="1800" b="1" spc="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everyday</a:t>
            </a:r>
            <a:r>
              <a:rPr sz="1800" b="1" spc="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experiences.</a:t>
            </a:r>
            <a:r>
              <a:rPr sz="1800" b="1" spc="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We</a:t>
            </a:r>
            <a:r>
              <a:rPr sz="1800" b="1" spc="7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test</a:t>
            </a:r>
            <a:endParaRPr sz="1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Times New Roman"/>
                <a:cs typeface="Times New Roman"/>
              </a:rPr>
              <a:t>many</a:t>
            </a:r>
            <a:r>
              <a:rPr sz="1800" b="1" spc="1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things;</a:t>
            </a:r>
            <a:r>
              <a:rPr sz="1800" b="1" spc="1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1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used</a:t>
            </a:r>
            <a:r>
              <a:rPr sz="1800" b="1" spc="1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car</a:t>
            </a:r>
            <a:r>
              <a:rPr sz="1800" b="1" spc="1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before</a:t>
            </a:r>
            <a:r>
              <a:rPr sz="1800" b="1" spc="1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we</a:t>
            </a:r>
            <a:r>
              <a:rPr sz="1800" b="1" spc="1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buy</a:t>
            </a:r>
            <a:r>
              <a:rPr sz="1800" b="1" spc="1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it,</a:t>
            </a:r>
            <a:r>
              <a:rPr sz="1800" b="1" spc="1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</a:t>
            </a:r>
            <a:r>
              <a:rPr sz="1800" b="1" spc="17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on-</a:t>
            </a:r>
            <a:r>
              <a:rPr sz="1800" b="1" dirty="0">
                <a:latin typeface="Times New Roman"/>
                <a:cs typeface="Times New Roman"/>
              </a:rPr>
              <a:t>line</a:t>
            </a:r>
            <a:r>
              <a:rPr sz="1800" b="1" spc="1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cable</a:t>
            </a:r>
            <a:r>
              <a:rPr sz="1800" b="1" spc="1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network</a:t>
            </a:r>
            <a:r>
              <a:rPr sz="1800" b="1" spc="1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service</a:t>
            </a:r>
            <a:r>
              <a:rPr sz="1800" b="1" spc="1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before</a:t>
            </a:r>
            <a:r>
              <a:rPr sz="1800" b="1" spc="17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we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</a:pPr>
            <a:r>
              <a:rPr sz="1800" b="1" dirty="0">
                <a:latin typeface="Times New Roman"/>
                <a:cs typeface="Times New Roman"/>
              </a:rPr>
              <a:t>subscribe,</a:t>
            </a:r>
            <a:r>
              <a:rPr sz="1800" b="1" spc="1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1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</a:t>
            </a:r>
            <a:r>
              <a:rPr sz="1800" b="1" spc="1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on.</a:t>
            </a:r>
            <a:r>
              <a:rPr sz="1800" b="1" spc="1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common</a:t>
            </a:r>
            <a:r>
              <a:rPr sz="1800" b="1" spc="1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pattern</a:t>
            </a:r>
            <a:r>
              <a:rPr sz="1800" b="1" spc="1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</a:t>
            </a:r>
            <a:r>
              <a:rPr sz="1800" b="1" spc="1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these</a:t>
            </a:r>
            <a:r>
              <a:rPr sz="1800" b="1" spc="18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familiar</a:t>
            </a:r>
            <a:r>
              <a:rPr sz="1800" b="1" spc="1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forms</a:t>
            </a:r>
            <a:r>
              <a:rPr sz="1800" b="1" spc="1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1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that</a:t>
            </a:r>
            <a:r>
              <a:rPr sz="1800" b="1" spc="1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we</a:t>
            </a:r>
            <a:r>
              <a:rPr sz="1800" b="1" spc="1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evaluate</a:t>
            </a:r>
            <a:r>
              <a:rPr sz="1800" b="1" spc="185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a </a:t>
            </a:r>
            <a:r>
              <a:rPr sz="1800" b="1" dirty="0">
                <a:latin typeface="Times New Roman"/>
                <a:cs typeface="Times New Roman"/>
              </a:rPr>
              <a:t>product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</a:t>
            </a:r>
            <a:r>
              <a:rPr sz="1800" b="1" spc="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terms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our</a:t>
            </a:r>
            <a:r>
              <a:rPr sz="1800" b="1" spc="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expectations;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not</a:t>
            </a:r>
            <a:r>
              <a:rPr sz="1800" b="1" spc="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with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respect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specification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or</a:t>
            </a:r>
            <a:r>
              <a:rPr sz="1800" b="1" spc="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10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standard. Consequently, </a:t>
            </a:r>
            <a:r>
              <a:rPr sz="1800" b="1" dirty="0">
                <a:latin typeface="Times New Roman"/>
                <a:cs typeface="Times New Roman"/>
              </a:rPr>
              <a:t>goal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not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find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faults,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but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 demonstrate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performance.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Because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this </a:t>
            </a:r>
            <a:r>
              <a:rPr sz="1800" b="1" dirty="0">
                <a:latin typeface="Times New Roman"/>
                <a:cs typeface="Times New Roman"/>
              </a:rPr>
              <a:t>we</a:t>
            </a:r>
            <a:r>
              <a:rPr sz="1800" b="1" spc="2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tend</a:t>
            </a:r>
            <a:r>
              <a:rPr sz="1800" b="1" spc="2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2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approach</a:t>
            </a:r>
            <a:r>
              <a:rPr sz="1800" b="1" spc="2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system</a:t>
            </a:r>
            <a:r>
              <a:rPr sz="1800" b="1" spc="2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testing</a:t>
            </a:r>
            <a:r>
              <a:rPr sz="1800" b="1" spc="2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from</a:t>
            </a:r>
            <a:r>
              <a:rPr sz="1800" b="1" spc="2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2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functional</a:t>
            </a:r>
            <a:r>
              <a:rPr sz="1800" b="1" spc="2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standpoint</a:t>
            </a:r>
            <a:r>
              <a:rPr sz="1800" b="1" spc="2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rather</a:t>
            </a:r>
            <a:r>
              <a:rPr sz="1800" b="1" spc="2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than</a:t>
            </a:r>
            <a:r>
              <a:rPr sz="1800" b="1" spc="2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from</a:t>
            </a:r>
            <a:r>
              <a:rPr sz="1800" b="1" spc="240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a </a:t>
            </a:r>
            <a:r>
              <a:rPr sz="1800" b="1" dirty="0">
                <a:latin typeface="Times New Roman"/>
                <a:cs typeface="Times New Roman"/>
              </a:rPr>
              <a:t>structural</a:t>
            </a:r>
            <a:r>
              <a:rPr sz="1800" b="1" spc="1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one.</a:t>
            </a:r>
            <a:r>
              <a:rPr sz="1800" b="1" spc="1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Since</a:t>
            </a:r>
            <a:r>
              <a:rPr sz="1800" b="1" spc="1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it</a:t>
            </a:r>
            <a:r>
              <a:rPr sz="1800" b="1" spc="1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1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</a:t>
            </a:r>
            <a:r>
              <a:rPr sz="1800" b="1" spc="1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intuitively</a:t>
            </a:r>
            <a:r>
              <a:rPr sz="1800" b="1" spc="1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familiar,</a:t>
            </a:r>
            <a:r>
              <a:rPr sz="1800" b="1" spc="1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system</a:t>
            </a:r>
            <a:r>
              <a:rPr sz="1800" b="1" spc="1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testing</a:t>
            </a:r>
            <a:r>
              <a:rPr sz="1800" b="1" spc="1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</a:t>
            </a:r>
            <a:r>
              <a:rPr sz="1800" b="1" spc="1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practice</a:t>
            </a:r>
            <a:r>
              <a:rPr sz="1800" b="1" spc="16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tends</a:t>
            </a:r>
            <a:r>
              <a:rPr sz="1800" b="1" spc="1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16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be </a:t>
            </a:r>
            <a:r>
              <a:rPr sz="1800" b="1" dirty="0">
                <a:latin typeface="Times New Roman"/>
                <a:cs typeface="Times New Roman"/>
              </a:rPr>
              <a:t>less</a:t>
            </a:r>
            <a:r>
              <a:rPr sz="1800" b="1" spc="2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formal</a:t>
            </a:r>
            <a:r>
              <a:rPr sz="1800" b="1" spc="2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than</a:t>
            </a:r>
            <a:r>
              <a:rPr sz="1800" b="1" spc="2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it</a:t>
            </a:r>
            <a:r>
              <a:rPr sz="1800" b="1" spc="229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might</a:t>
            </a:r>
            <a:r>
              <a:rPr sz="1800" b="1" spc="2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be,</a:t>
            </a:r>
            <a:r>
              <a:rPr sz="1800" b="1" spc="2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2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is</a:t>
            </a:r>
            <a:r>
              <a:rPr sz="1800" b="1" spc="2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compounded</a:t>
            </a:r>
            <a:r>
              <a:rPr sz="1800" b="1" spc="229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by</a:t>
            </a:r>
            <a:r>
              <a:rPr sz="1800" b="1" spc="2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the</a:t>
            </a:r>
            <a:r>
              <a:rPr sz="1800" b="1" spc="2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reduced</a:t>
            </a:r>
            <a:r>
              <a:rPr sz="1800" b="1" spc="2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testing</a:t>
            </a:r>
            <a:r>
              <a:rPr sz="1800" b="1" spc="2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interval</a:t>
            </a:r>
            <a:r>
              <a:rPr sz="1800" b="1" spc="24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that </a:t>
            </a:r>
            <a:r>
              <a:rPr sz="1800" b="1" dirty="0">
                <a:latin typeface="Times New Roman"/>
                <a:cs typeface="Times New Roman"/>
              </a:rPr>
              <a:t>usually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remains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before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delivery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deadline.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800">
              <a:latin typeface="Times New Roman"/>
              <a:cs typeface="Times New Roman"/>
            </a:endParaRPr>
          </a:p>
          <a:p>
            <a:pPr marL="2454275" marR="222250">
              <a:lnSpc>
                <a:spcPct val="100000"/>
              </a:lnSpc>
            </a:pPr>
            <a:r>
              <a:rPr sz="1900" b="1" dirty="0">
                <a:latin typeface="Times New Roman"/>
                <a:cs typeface="Times New Roman"/>
              </a:rPr>
              <a:t>Petschenik</a:t>
            </a:r>
            <a:r>
              <a:rPr sz="1900" b="1" spc="26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gives</a:t>
            </a:r>
            <a:r>
              <a:rPr sz="1900" b="1" spc="2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some</a:t>
            </a:r>
            <a:r>
              <a:rPr sz="1900" b="1" spc="2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guidelines</a:t>
            </a:r>
            <a:r>
              <a:rPr sz="1900" b="1" spc="2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for</a:t>
            </a:r>
            <a:r>
              <a:rPr sz="1900" b="1" spc="2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choosing</a:t>
            </a:r>
            <a:r>
              <a:rPr sz="1900" b="1" spc="25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test</a:t>
            </a:r>
            <a:r>
              <a:rPr sz="1900" b="1" spc="254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cases </a:t>
            </a:r>
            <a:r>
              <a:rPr sz="1900" b="1" dirty="0">
                <a:latin typeface="Times New Roman"/>
                <a:cs typeface="Times New Roman"/>
              </a:rPr>
              <a:t>during</a:t>
            </a:r>
            <a:r>
              <a:rPr sz="1900" b="1" spc="-6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system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testing.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408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Software</a:t>
            </a:r>
            <a:r>
              <a:rPr spc="-175" dirty="0"/>
              <a:t> </a:t>
            </a:r>
            <a:r>
              <a:rPr spc="-285" dirty="0"/>
              <a:t>Testing</a:t>
            </a:r>
          </a:p>
        </p:txBody>
      </p:sp>
      <p:sp>
        <p:nvSpPr>
          <p:cNvPr id="4" name="object 4"/>
          <p:cNvSpPr/>
          <p:nvPr/>
        </p:nvSpPr>
        <p:spPr>
          <a:xfrm>
            <a:off x="304800" y="10890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2450" y="1351534"/>
            <a:ext cx="8488045" cy="894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900" b="1" dirty="0">
                <a:latin typeface="Times New Roman"/>
                <a:cs typeface="Times New Roman"/>
              </a:rPr>
              <a:t>During</a:t>
            </a:r>
            <a:r>
              <a:rPr sz="1900" b="1" spc="10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system</a:t>
            </a:r>
            <a:r>
              <a:rPr sz="1900" b="1" spc="10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testing,</a:t>
            </a:r>
            <a:r>
              <a:rPr sz="1900" b="1" spc="9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we</a:t>
            </a:r>
            <a:r>
              <a:rPr sz="1900" b="1" spc="8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should</a:t>
            </a:r>
            <a:r>
              <a:rPr sz="1900" b="1" spc="8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evaluate</a:t>
            </a:r>
            <a:r>
              <a:rPr sz="1900" b="1" spc="10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</a:t>
            </a:r>
            <a:r>
              <a:rPr sz="1900" b="1" spc="8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number</a:t>
            </a:r>
            <a:r>
              <a:rPr sz="1900" b="1" spc="5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of</a:t>
            </a:r>
            <a:r>
              <a:rPr sz="1900" b="1" spc="8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attributes</a:t>
            </a:r>
            <a:r>
              <a:rPr sz="1900" b="1" spc="8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of</a:t>
            </a:r>
            <a:r>
              <a:rPr sz="1900" b="1" spc="9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the</a:t>
            </a:r>
            <a:r>
              <a:rPr sz="1900" b="1" spc="90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software </a:t>
            </a:r>
            <a:r>
              <a:rPr sz="1900" b="1" dirty="0">
                <a:latin typeface="Times New Roman"/>
                <a:cs typeface="Times New Roman"/>
              </a:rPr>
              <a:t>that</a:t>
            </a:r>
            <a:r>
              <a:rPr sz="1900" b="1" spc="5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are</a:t>
            </a:r>
            <a:r>
              <a:rPr sz="1900" b="1" spc="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vital</a:t>
            </a:r>
            <a:r>
              <a:rPr sz="1900" b="1" spc="5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to</a:t>
            </a:r>
            <a:r>
              <a:rPr sz="1900" b="1" spc="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the</a:t>
            </a:r>
            <a:r>
              <a:rPr sz="1900" b="1" spc="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user and</a:t>
            </a:r>
            <a:r>
              <a:rPr sz="1900" b="1" spc="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are</a:t>
            </a:r>
            <a:r>
              <a:rPr sz="1900" b="1" spc="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listed</a:t>
            </a:r>
            <a:r>
              <a:rPr sz="1900" b="1" spc="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in</a:t>
            </a:r>
            <a:r>
              <a:rPr sz="1900" b="1" spc="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Fig.</a:t>
            </a:r>
            <a:r>
              <a:rPr sz="1900" b="1" spc="5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31.</a:t>
            </a:r>
            <a:r>
              <a:rPr sz="1900" b="1" spc="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These</a:t>
            </a:r>
            <a:r>
              <a:rPr sz="1900" b="1" spc="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represent</a:t>
            </a:r>
            <a:r>
              <a:rPr sz="1900" b="1" spc="4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the</a:t>
            </a:r>
            <a:r>
              <a:rPr sz="1900" b="1" spc="45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operational correctness</a:t>
            </a:r>
            <a:r>
              <a:rPr sz="1900" b="1" spc="-6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of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the</a:t>
            </a:r>
            <a:r>
              <a:rPr sz="1900" b="1" spc="-3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product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and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may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be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part</a:t>
            </a:r>
            <a:r>
              <a:rPr sz="1900" b="1" spc="-2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of</a:t>
            </a:r>
            <a:r>
              <a:rPr sz="1900" b="1" spc="-40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the</a:t>
            </a:r>
            <a:r>
              <a:rPr sz="1900" b="1" spc="-35" dirty="0">
                <a:latin typeface="Times New Roman"/>
                <a:cs typeface="Times New Roman"/>
              </a:rPr>
              <a:t> </a:t>
            </a:r>
            <a:r>
              <a:rPr sz="1900" b="1" dirty="0">
                <a:latin typeface="Times New Roman"/>
                <a:cs typeface="Times New Roman"/>
              </a:rPr>
              <a:t>software</a:t>
            </a:r>
            <a:r>
              <a:rPr sz="1900" b="1" spc="-30" dirty="0">
                <a:latin typeface="Times New Roman"/>
                <a:cs typeface="Times New Roman"/>
              </a:rPr>
              <a:t> </a:t>
            </a:r>
            <a:r>
              <a:rPr sz="1900" b="1" spc="-10" dirty="0">
                <a:latin typeface="Times New Roman"/>
                <a:cs typeface="Times New Roman"/>
              </a:rPr>
              <a:t>specifications.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408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Software</a:t>
            </a:r>
            <a:r>
              <a:rPr spc="-175" dirty="0"/>
              <a:t> </a:t>
            </a:r>
            <a:r>
              <a:rPr spc="-285" dirty="0"/>
              <a:t>Testing</a:t>
            </a:r>
          </a:p>
        </p:txBody>
      </p:sp>
      <p:sp>
        <p:nvSpPr>
          <p:cNvPr id="4" name="object 4"/>
          <p:cNvSpPr/>
          <p:nvPr/>
        </p:nvSpPr>
        <p:spPr>
          <a:xfrm>
            <a:off x="304800" y="10890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42912" y="2576512"/>
          <a:ext cx="8077200" cy="3275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405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60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Usable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032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4B1C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convenient,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clear,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predictable?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06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Secure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05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4B1C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52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sensitive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restricted to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those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6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authorization?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3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145">
                <a:tc>
                  <a:txBody>
                    <a:bodyPr/>
                    <a:lstStyle/>
                    <a:p>
                      <a:pPr marL="16764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Compatible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797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4B1C"/>
                    </a:solidFill>
                  </a:tcPr>
                </a:tc>
                <a:tc>
                  <a:txBody>
                    <a:bodyPr/>
                    <a:lstStyle/>
                    <a:p>
                      <a:pPr marL="104775" marR="59499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16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correctly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conjunction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data,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software,</a:t>
                      </a:r>
                      <a:r>
                        <a:rPr sz="16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procedures?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050"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Dependable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78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B4B1C"/>
                    </a:solidFill>
                  </a:tcPr>
                </a:tc>
                <a:tc>
                  <a:txBody>
                    <a:bodyPr/>
                    <a:lstStyle/>
                    <a:p>
                      <a:pPr marL="120650" marR="62547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Do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adequate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safeguards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against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failure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methods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recovery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exist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product?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Documented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657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B4B1C"/>
                    </a:solidFill>
                  </a:tcPr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6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manuals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complete,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correct,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understandable?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93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2072385" y="5999175"/>
            <a:ext cx="62160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8280" marR="5080" indent="-273621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Fig.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31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Attributes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software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tested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during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system testing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636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Software</a:t>
            </a:r>
            <a:r>
              <a:rPr spc="-175" dirty="0"/>
              <a:t> </a:t>
            </a:r>
            <a:r>
              <a:rPr spc="-285" dirty="0"/>
              <a:t>Testing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11430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2100" y="1394205"/>
            <a:ext cx="8629015" cy="261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F3300"/>
                </a:solidFill>
                <a:latin typeface="Times New Roman"/>
                <a:cs typeface="Times New Roman"/>
              </a:rPr>
              <a:t>Validation</a:t>
            </a:r>
            <a:r>
              <a:rPr sz="2400" b="1" spc="-9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3300"/>
                </a:solidFill>
                <a:latin typeface="Times New Roman"/>
                <a:cs typeface="Times New Roman"/>
              </a:rPr>
              <a:t>Testing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220"/>
              </a:spcBef>
              <a:buFont typeface="Times New Roman"/>
              <a:buChar char="o"/>
              <a:tabLst>
                <a:tab pos="354965" algn="l"/>
              </a:tabLst>
            </a:pP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It</a:t>
            </a:r>
            <a:r>
              <a:rPr sz="24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refers</a:t>
            </a:r>
            <a:r>
              <a:rPr sz="24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4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test</a:t>
            </a:r>
            <a:r>
              <a:rPr sz="24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4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software</a:t>
            </a:r>
            <a:r>
              <a:rPr sz="2400" b="1" spc="-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as</a:t>
            </a:r>
            <a:r>
              <a:rPr sz="24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4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complete</a:t>
            </a:r>
            <a:r>
              <a:rPr sz="24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product.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730"/>
              </a:spcBef>
              <a:buFont typeface="Times New Roman"/>
              <a:buChar char="o"/>
              <a:tabLst>
                <a:tab pos="354965" algn="l"/>
              </a:tabLst>
            </a:pP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This</a:t>
            </a:r>
            <a:r>
              <a:rPr sz="2400" b="1" spc="-4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should</a:t>
            </a:r>
            <a:r>
              <a:rPr sz="2400" b="1" spc="-2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be</a:t>
            </a:r>
            <a:r>
              <a:rPr sz="2400" b="1" spc="-3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done</a:t>
            </a:r>
            <a:r>
              <a:rPr sz="2400" b="1" spc="-4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after</a:t>
            </a:r>
            <a:r>
              <a:rPr sz="2400" b="1" spc="-8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unit</a:t>
            </a:r>
            <a:r>
              <a:rPr sz="2400" b="1" spc="-40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&amp;</a:t>
            </a:r>
            <a:r>
              <a:rPr sz="2400" b="1" spc="-3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integration</a:t>
            </a:r>
            <a:r>
              <a:rPr sz="2400" b="1" spc="-6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955125"/>
                </a:solidFill>
                <a:latin typeface="Times New Roman"/>
                <a:cs typeface="Times New Roman"/>
              </a:rPr>
              <a:t>testing.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10100"/>
              </a:lnSpc>
              <a:spcBef>
                <a:spcPts val="1435"/>
              </a:spcBef>
              <a:buFont typeface="Times New Roman"/>
              <a:buChar char="o"/>
              <a:tabLst>
                <a:tab pos="355600" algn="l"/>
              </a:tabLst>
            </a:pP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Alpha,</a:t>
            </a:r>
            <a:r>
              <a:rPr sz="2400" b="1" spc="2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beta</a:t>
            </a:r>
            <a:r>
              <a:rPr sz="2400" b="1" spc="2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&amp;</a:t>
            </a:r>
            <a:r>
              <a:rPr sz="2400" b="1" spc="2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acceptance</a:t>
            </a:r>
            <a:r>
              <a:rPr sz="2400" b="1" spc="2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testing</a:t>
            </a:r>
            <a:r>
              <a:rPr sz="2400" b="1" spc="2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400" b="1" spc="2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nothing</a:t>
            </a:r>
            <a:r>
              <a:rPr sz="2400" b="1" spc="2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but</a:t>
            </a:r>
            <a:r>
              <a:rPr sz="2400" b="1" spc="2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400" b="1" spc="2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various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ways</a:t>
            </a:r>
            <a:r>
              <a:rPr sz="24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4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involving</a:t>
            </a:r>
            <a:r>
              <a:rPr sz="24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customer</a:t>
            </a:r>
            <a:r>
              <a:rPr sz="2400" b="1" spc="-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during</a:t>
            </a:r>
            <a:r>
              <a:rPr sz="24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testing.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636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Software</a:t>
            </a:r>
            <a:r>
              <a:rPr spc="-175" dirty="0"/>
              <a:t> </a:t>
            </a:r>
            <a:r>
              <a:rPr spc="-285" dirty="0"/>
              <a:t>Testing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11430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2100" y="1394205"/>
            <a:ext cx="8630920" cy="363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F3300"/>
                </a:solidFill>
                <a:latin typeface="Times New Roman"/>
                <a:cs typeface="Times New Roman"/>
              </a:rPr>
              <a:t>Validation</a:t>
            </a:r>
            <a:r>
              <a:rPr sz="2400" b="1" spc="-9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3300"/>
                </a:solidFill>
                <a:latin typeface="Times New Roman"/>
                <a:cs typeface="Times New Roman"/>
              </a:rPr>
              <a:t>Testing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10000"/>
              </a:lnSpc>
              <a:spcBef>
                <a:spcPts val="1935"/>
              </a:spcBef>
              <a:buFont typeface="Times New Roman"/>
              <a:buChar char="o"/>
              <a:tabLst>
                <a:tab pos="355600" algn="l"/>
              </a:tabLst>
            </a:pP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IEEE</a:t>
            </a:r>
            <a:r>
              <a:rPr sz="2400" b="1" spc="5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has</a:t>
            </a:r>
            <a:r>
              <a:rPr sz="2400" b="1" spc="5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developed</a:t>
            </a:r>
            <a:r>
              <a:rPr sz="2400" b="1" spc="5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400" b="1" spc="5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standard</a:t>
            </a:r>
            <a:r>
              <a:rPr sz="2400" b="1" spc="5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(IEEE</a:t>
            </a:r>
            <a:r>
              <a:rPr sz="2400" b="1" spc="5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standard</a:t>
            </a:r>
            <a:r>
              <a:rPr sz="2400" b="1" spc="5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1059-1993)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entitled</a:t>
            </a:r>
            <a:r>
              <a:rPr sz="2400" b="1" spc="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“</a:t>
            </a:r>
            <a:r>
              <a:rPr sz="2400" b="1" spc="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IEEE</a:t>
            </a:r>
            <a:r>
              <a:rPr sz="2400" b="1" spc="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guide</a:t>
            </a:r>
            <a:r>
              <a:rPr sz="2400" b="1" spc="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for</a:t>
            </a:r>
            <a:r>
              <a:rPr sz="24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software</a:t>
            </a:r>
            <a:r>
              <a:rPr sz="24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verification</a:t>
            </a:r>
            <a:r>
              <a:rPr sz="2400" b="1" spc="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sz="2400" b="1" spc="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validation</a:t>
            </a:r>
            <a:r>
              <a:rPr sz="24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“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400" b="1" spc="2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provide</a:t>
            </a:r>
            <a:r>
              <a:rPr sz="2400" b="1" spc="2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specific</a:t>
            </a:r>
            <a:r>
              <a:rPr sz="2400" b="1" spc="2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guidance</a:t>
            </a:r>
            <a:r>
              <a:rPr sz="2400" b="1" spc="2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about</a:t>
            </a:r>
            <a:r>
              <a:rPr sz="2400" b="1" spc="2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planning</a:t>
            </a:r>
            <a:r>
              <a:rPr sz="2400" b="1" spc="25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sz="2400" b="1" spc="2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documenting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400" b="1" spc="2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tasks</a:t>
            </a:r>
            <a:r>
              <a:rPr sz="2400" b="1" spc="30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required</a:t>
            </a:r>
            <a:r>
              <a:rPr sz="2400" b="1" spc="2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by</a:t>
            </a:r>
            <a:r>
              <a:rPr sz="2400" b="1" spc="30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400" b="1" spc="3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standard</a:t>
            </a:r>
            <a:r>
              <a:rPr sz="2400" b="1" spc="3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so</a:t>
            </a:r>
            <a:r>
              <a:rPr sz="2400" b="1" spc="29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that</a:t>
            </a:r>
            <a:r>
              <a:rPr sz="2400" b="1" spc="3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400" b="1" spc="3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customer</a:t>
            </a:r>
            <a:r>
              <a:rPr sz="2400" b="1" spc="25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may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write</a:t>
            </a:r>
            <a:r>
              <a:rPr sz="24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an</a:t>
            </a:r>
            <a:r>
              <a:rPr sz="24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effective</a:t>
            </a:r>
            <a:r>
              <a:rPr sz="24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plan.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10000"/>
              </a:lnSpc>
              <a:spcBef>
                <a:spcPts val="1440"/>
              </a:spcBef>
              <a:buFont typeface="Times New Roman"/>
              <a:buChar char="o"/>
              <a:tabLst>
                <a:tab pos="355600" algn="l"/>
              </a:tabLst>
            </a:pP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Validation</a:t>
            </a:r>
            <a:r>
              <a:rPr sz="2400" b="1" spc="17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testing</a:t>
            </a:r>
            <a:r>
              <a:rPr sz="2400" b="1" spc="16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improves</a:t>
            </a:r>
            <a:r>
              <a:rPr sz="2400" b="1" spc="180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the</a:t>
            </a:r>
            <a:r>
              <a:rPr sz="2400" b="1" spc="17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quality</a:t>
            </a:r>
            <a:r>
              <a:rPr sz="2400" b="1" spc="17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of</a:t>
            </a:r>
            <a:r>
              <a:rPr sz="2400" b="1" spc="17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software</a:t>
            </a:r>
            <a:r>
              <a:rPr sz="2400" b="1" spc="17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product</a:t>
            </a:r>
            <a:r>
              <a:rPr sz="2400" b="1" spc="16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955125"/>
                </a:solidFill>
                <a:latin typeface="Times New Roman"/>
                <a:cs typeface="Times New Roman"/>
              </a:rPr>
              <a:t>in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terms</a:t>
            </a:r>
            <a:r>
              <a:rPr sz="2400" b="1" spc="-40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functional</a:t>
            </a:r>
            <a:r>
              <a:rPr sz="2400" b="1" spc="-2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capabilities</a:t>
            </a:r>
            <a:r>
              <a:rPr sz="2400" b="1" spc="-50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and</a:t>
            </a:r>
            <a:r>
              <a:rPr sz="2400" b="1" spc="-2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955125"/>
                </a:solidFill>
                <a:latin typeface="Times New Roman"/>
                <a:cs typeface="Times New Roman"/>
              </a:rPr>
              <a:t>quality</a:t>
            </a:r>
            <a:r>
              <a:rPr sz="2400" b="1" spc="-30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955125"/>
                </a:solidFill>
                <a:latin typeface="Times New Roman"/>
                <a:cs typeface="Times New Roman"/>
              </a:rPr>
              <a:t>attributes.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875" rIns="0" bIns="0" rtlCol="0">
            <a:spAutoFit/>
          </a:bodyPr>
          <a:lstStyle/>
          <a:p>
            <a:pPr marL="1306830">
              <a:lnSpc>
                <a:spcPct val="100000"/>
              </a:lnSpc>
              <a:spcBef>
                <a:spcPts val="100"/>
              </a:spcBef>
            </a:pPr>
            <a:r>
              <a:rPr sz="2000" spc="-114" dirty="0"/>
              <a:t>Software</a:t>
            </a:r>
            <a:r>
              <a:rPr sz="2000" spc="-60" dirty="0"/>
              <a:t> </a:t>
            </a:r>
            <a:r>
              <a:rPr sz="2000" spc="-125" dirty="0"/>
              <a:t>Testing</a:t>
            </a:r>
            <a:endParaRPr sz="2000"/>
          </a:p>
        </p:txBody>
      </p:sp>
      <p:sp>
        <p:nvSpPr>
          <p:cNvPr id="3" name="object 3"/>
          <p:cNvSpPr/>
          <p:nvPr/>
        </p:nvSpPr>
        <p:spPr>
          <a:xfrm>
            <a:off x="304800" y="10890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6451" y="1045819"/>
            <a:ext cx="8648700" cy="490982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1590" algn="just">
              <a:lnSpc>
                <a:spcPct val="100000"/>
              </a:lnSpc>
              <a:spcBef>
                <a:spcPts val="1300"/>
              </a:spcBef>
            </a:pP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000" b="1" u="sng" spc="-1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Art</a:t>
            </a:r>
            <a:r>
              <a:rPr sz="20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20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Debugging</a:t>
            </a:r>
            <a:endParaRPr sz="2000">
              <a:latin typeface="Times New Roman"/>
              <a:cs typeface="Times New Roman"/>
            </a:endParaRPr>
          </a:p>
          <a:p>
            <a:pPr marL="31115" marR="5080" algn="just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goal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testing</a:t>
            </a:r>
            <a:r>
              <a:rPr sz="2000" b="1" spc="1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1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identify</a:t>
            </a:r>
            <a:r>
              <a:rPr sz="2000" b="1" spc="1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errors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(bugs)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program.</a:t>
            </a:r>
            <a:r>
              <a:rPr sz="2000" b="1" spc="1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process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of </a:t>
            </a:r>
            <a:r>
              <a:rPr sz="2000" b="1" dirty="0">
                <a:latin typeface="Times New Roman"/>
                <a:cs typeface="Times New Roman"/>
              </a:rPr>
              <a:t>testing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generates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symptoms,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program’s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failure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clear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symptom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 </a:t>
            </a:r>
            <a:r>
              <a:rPr sz="2000" b="1" dirty="0">
                <a:latin typeface="Times New Roman"/>
                <a:cs typeface="Times New Roman"/>
              </a:rPr>
              <a:t>presence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 an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error.</a:t>
            </a:r>
            <a:r>
              <a:rPr sz="2000" b="1" dirty="0">
                <a:latin typeface="Times New Roman"/>
                <a:cs typeface="Times New Roman"/>
              </a:rPr>
              <a:t> After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getting a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symptom,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 begin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investigate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cause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place of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 </a:t>
            </a:r>
            <a:r>
              <a:rPr sz="2000" b="1" spc="-25" dirty="0">
                <a:latin typeface="Times New Roman"/>
                <a:cs typeface="Times New Roman"/>
              </a:rPr>
              <a:t>error.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After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identification of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place,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 examine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portion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to </a:t>
            </a:r>
            <a:r>
              <a:rPr sz="2000" b="1" dirty="0">
                <a:latin typeface="Times New Roman"/>
                <a:cs typeface="Times New Roman"/>
              </a:rPr>
              <a:t>identify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cause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problem.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This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process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called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debugging.</a:t>
            </a:r>
            <a:endParaRPr sz="2000">
              <a:latin typeface="Times New Roman"/>
              <a:cs typeface="Times New Roman"/>
            </a:endParaRPr>
          </a:p>
          <a:p>
            <a:pPr marL="21590" algn="just">
              <a:lnSpc>
                <a:spcPct val="100000"/>
              </a:lnSpc>
              <a:spcBef>
                <a:spcPts val="1800"/>
              </a:spcBef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Debugging</a:t>
            </a:r>
            <a:r>
              <a:rPr sz="2000" b="1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Techniques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825"/>
              </a:spcBef>
            </a:pPr>
            <a:r>
              <a:rPr sz="2000" b="1" dirty="0">
                <a:latin typeface="Times New Roman"/>
                <a:cs typeface="Times New Roman"/>
              </a:rPr>
              <a:t>Pressman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explained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few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characteristics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bugs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provide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some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clues.</a:t>
            </a:r>
            <a:endParaRPr sz="2000">
              <a:latin typeface="Times New Roman"/>
              <a:cs typeface="Times New Roman"/>
            </a:endParaRPr>
          </a:p>
          <a:p>
            <a:pPr marL="364490" marR="15875" indent="-342900" algn="just">
              <a:lnSpc>
                <a:spcPct val="110000"/>
              </a:lnSpc>
              <a:spcBef>
                <a:spcPts val="785"/>
              </a:spcBef>
              <a:buAutoNum type="arabicPeriod"/>
              <a:tabLst>
                <a:tab pos="364490" algn="l"/>
              </a:tabLst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“The</a:t>
            </a:r>
            <a:r>
              <a:rPr sz="2000" b="1" spc="28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symptom</a:t>
            </a:r>
            <a:r>
              <a:rPr sz="2000" b="1" spc="2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2000" b="1" spc="2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the</a:t>
            </a:r>
            <a:r>
              <a:rPr sz="2000" b="1" spc="30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cause</a:t>
            </a:r>
            <a:r>
              <a:rPr sz="2000" b="1" spc="2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may</a:t>
            </a:r>
            <a:r>
              <a:rPr sz="2000" b="1" spc="30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be</a:t>
            </a:r>
            <a:r>
              <a:rPr sz="2000" b="1" spc="28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geographically</a:t>
            </a:r>
            <a:r>
              <a:rPr sz="2000" b="1" spc="30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remote.</a:t>
            </a:r>
            <a:r>
              <a:rPr sz="2000" b="1" spc="29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That</a:t>
            </a:r>
            <a:r>
              <a:rPr sz="2000" b="1" spc="29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is,</a:t>
            </a:r>
            <a:r>
              <a:rPr sz="2000" b="1" spc="29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the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symptom</a:t>
            </a:r>
            <a:r>
              <a:rPr sz="2000" b="1" spc="25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may</a:t>
            </a:r>
            <a:r>
              <a:rPr sz="2000" b="1" spc="35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appear</a:t>
            </a:r>
            <a:r>
              <a:rPr sz="2000" b="1" spc="10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in</a:t>
            </a:r>
            <a:r>
              <a:rPr sz="2000" b="1" spc="30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one</a:t>
            </a:r>
            <a:r>
              <a:rPr sz="2000" b="1" spc="30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part</a:t>
            </a:r>
            <a:r>
              <a:rPr sz="2000" b="1" spc="30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of</a:t>
            </a:r>
            <a:r>
              <a:rPr sz="2000" b="1" spc="25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</a:t>
            </a:r>
            <a:r>
              <a:rPr sz="2000" b="1" spc="35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program,</a:t>
            </a:r>
            <a:r>
              <a:rPr sz="2000" b="1" spc="25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while</a:t>
            </a:r>
            <a:r>
              <a:rPr sz="2000" b="1" spc="30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the</a:t>
            </a:r>
            <a:r>
              <a:rPr sz="2000" b="1" spc="30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cause</a:t>
            </a:r>
            <a:r>
              <a:rPr sz="2000" b="1" spc="35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may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actually</a:t>
            </a:r>
            <a:r>
              <a:rPr sz="2000" b="1" spc="2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be</a:t>
            </a:r>
            <a:r>
              <a:rPr sz="2000" b="1" spc="2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located</a:t>
            </a:r>
            <a:r>
              <a:rPr sz="2000" b="1" spc="2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in</a:t>
            </a:r>
            <a:r>
              <a:rPr sz="2000" b="1" spc="229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other</a:t>
            </a:r>
            <a:r>
              <a:rPr sz="2000" b="1" spc="1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part.</a:t>
            </a:r>
            <a:r>
              <a:rPr sz="2000" b="1" spc="2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Highly</a:t>
            </a:r>
            <a:r>
              <a:rPr sz="2000" b="1" spc="2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coupled</a:t>
            </a:r>
            <a:r>
              <a:rPr sz="2000" b="1" spc="2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program</a:t>
            </a:r>
            <a:r>
              <a:rPr sz="2000" b="1" spc="229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structures</a:t>
            </a:r>
            <a:r>
              <a:rPr sz="2000" b="1" spc="2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may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complicate</a:t>
            </a:r>
            <a:r>
              <a:rPr sz="2000" b="1" spc="-7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this</a:t>
            </a:r>
            <a:r>
              <a:rPr sz="2000" b="1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situation.</a:t>
            </a:r>
            <a:endParaRPr sz="2000">
              <a:latin typeface="Times New Roman"/>
              <a:cs typeface="Times New Roman"/>
            </a:endParaRPr>
          </a:p>
          <a:p>
            <a:pPr marL="363855" indent="-342265" algn="just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363855" algn="l"/>
              </a:tabLst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symptom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disappear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(temporarily)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when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another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error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corrected.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000" spc="-25" dirty="0"/>
              <a:t>26</a:t>
            </a:fld>
            <a:endParaRPr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900" y="1250035"/>
            <a:ext cx="8712835" cy="451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9535" indent="-342900">
              <a:lnSpc>
                <a:spcPct val="110000"/>
              </a:lnSpc>
              <a:spcBef>
                <a:spcPts val="100"/>
              </a:spcBef>
              <a:buAutoNum type="arabicPeriod" startAt="3"/>
              <a:tabLst>
                <a:tab pos="355600" algn="l"/>
                <a:tab pos="940435" algn="l"/>
                <a:tab pos="2101850" algn="l"/>
                <a:tab pos="2726690" algn="l"/>
                <a:tab pos="3746500" algn="l"/>
                <a:tab pos="4163060" algn="l"/>
                <a:tab pos="5055870" algn="l"/>
                <a:tab pos="5484495" algn="l"/>
                <a:tab pos="6055995" algn="l"/>
                <a:tab pos="6886575" algn="l"/>
                <a:tab pos="7499350" algn="l"/>
                <a:tab pos="8317865" algn="l"/>
              </a:tabLst>
            </a:pPr>
            <a:r>
              <a:rPr sz="2000" b="1" spc="-25" dirty="0">
                <a:solidFill>
                  <a:srgbClr val="EB6774"/>
                </a:solidFill>
                <a:latin typeface="Times New Roman"/>
                <a:cs typeface="Times New Roman"/>
              </a:rPr>
              <a:t>The</a:t>
            </a:r>
            <a:r>
              <a:rPr sz="2000" b="1" dirty="0">
                <a:solidFill>
                  <a:srgbClr val="EB6774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EB6774"/>
                </a:solidFill>
                <a:latin typeface="Times New Roman"/>
                <a:cs typeface="Times New Roman"/>
              </a:rPr>
              <a:t>symptom</a:t>
            </a:r>
            <a:r>
              <a:rPr sz="2000" b="1" dirty="0">
                <a:solidFill>
                  <a:srgbClr val="EB6774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EB6774"/>
                </a:solidFill>
                <a:latin typeface="Times New Roman"/>
                <a:cs typeface="Times New Roman"/>
              </a:rPr>
              <a:t>may</a:t>
            </a:r>
            <a:r>
              <a:rPr sz="2000" b="1" dirty="0">
                <a:solidFill>
                  <a:srgbClr val="EB6774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EB6774"/>
                </a:solidFill>
                <a:latin typeface="Times New Roman"/>
                <a:cs typeface="Times New Roman"/>
              </a:rPr>
              <a:t>actually</a:t>
            </a:r>
            <a:r>
              <a:rPr sz="2000" b="1" dirty="0">
                <a:solidFill>
                  <a:srgbClr val="EB6774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EB6774"/>
                </a:solidFill>
                <a:latin typeface="Times New Roman"/>
                <a:cs typeface="Times New Roman"/>
              </a:rPr>
              <a:t>be</a:t>
            </a:r>
            <a:r>
              <a:rPr sz="2000" b="1" dirty="0">
                <a:solidFill>
                  <a:srgbClr val="EB6774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EB6774"/>
                </a:solidFill>
                <a:latin typeface="Times New Roman"/>
                <a:cs typeface="Times New Roman"/>
              </a:rPr>
              <a:t>caused</a:t>
            </a:r>
            <a:r>
              <a:rPr sz="2000" b="1" dirty="0">
                <a:solidFill>
                  <a:srgbClr val="EB6774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EB6774"/>
                </a:solidFill>
                <a:latin typeface="Times New Roman"/>
                <a:cs typeface="Times New Roman"/>
              </a:rPr>
              <a:t>by</a:t>
            </a:r>
            <a:r>
              <a:rPr sz="2000" b="1" dirty="0">
                <a:solidFill>
                  <a:srgbClr val="EB6774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EB6774"/>
                </a:solidFill>
                <a:latin typeface="Times New Roman"/>
                <a:cs typeface="Times New Roman"/>
              </a:rPr>
              <a:t>non</a:t>
            </a:r>
            <a:r>
              <a:rPr sz="2000" b="1" dirty="0">
                <a:solidFill>
                  <a:srgbClr val="EB6774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EB6774"/>
                </a:solidFill>
                <a:latin typeface="Times New Roman"/>
                <a:cs typeface="Times New Roman"/>
              </a:rPr>
              <a:t>errors</a:t>
            </a:r>
            <a:r>
              <a:rPr sz="2000" b="1" dirty="0">
                <a:solidFill>
                  <a:srgbClr val="EB6774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EB6774"/>
                </a:solidFill>
                <a:latin typeface="Times New Roman"/>
                <a:cs typeface="Times New Roman"/>
              </a:rPr>
              <a:t>(e.g.</a:t>
            </a:r>
            <a:r>
              <a:rPr sz="2000" b="1" dirty="0">
                <a:solidFill>
                  <a:srgbClr val="EB6774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EB6774"/>
                </a:solidFill>
                <a:latin typeface="Times New Roman"/>
                <a:cs typeface="Times New Roman"/>
              </a:rPr>
              <a:t>round</a:t>
            </a:r>
            <a:r>
              <a:rPr sz="2000" b="1" dirty="0">
                <a:solidFill>
                  <a:srgbClr val="EB6774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EB6774"/>
                </a:solidFill>
                <a:latin typeface="Times New Roman"/>
                <a:cs typeface="Times New Roman"/>
              </a:rPr>
              <a:t>off </a:t>
            </a:r>
            <a:r>
              <a:rPr sz="2000" b="1" spc="-10" dirty="0">
                <a:solidFill>
                  <a:srgbClr val="EB6774"/>
                </a:solidFill>
                <a:latin typeface="Times New Roman"/>
                <a:cs typeface="Times New Roman"/>
              </a:rPr>
              <a:t>inaccuracies).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ts val="2160"/>
              </a:lnSpc>
              <a:buAutoNum type="arabicPeriod" startAt="3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symptom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caused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human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error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easily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traced.</a:t>
            </a:r>
            <a:endParaRPr sz="2000">
              <a:latin typeface="Times New Roman"/>
              <a:cs typeface="Times New Roman"/>
            </a:endParaRPr>
          </a:p>
          <a:p>
            <a:pPr marL="377825" marR="67310" indent="-342900">
              <a:lnSpc>
                <a:spcPct val="110000"/>
              </a:lnSpc>
              <a:spcBef>
                <a:spcPts val="2185"/>
              </a:spcBef>
              <a:buAutoNum type="arabicPeriod" startAt="3"/>
              <a:tabLst>
                <a:tab pos="377825" algn="l"/>
              </a:tabLst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symptom</a:t>
            </a:r>
            <a:r>
              <a:rPr sz="2000" b="1" spc="2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</a:t>
            </a:r>
            <a:r>
              <a:rPr sz="2000" b="1" spc="2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2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result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timing</a:t>
            </a:r>
            <a:r>
              <a:rPr sz="2000" b="1" spc="2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problems</a:t>
            </a:r>
            <a:r>
              <a:rPr sz="2000" b="1" spc="2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rather</a:t>
            </a:r>
            <a:r>
              <a:rPr sz="2000" b="1" spc="2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than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processing problems.</a:t>
            </a:r>
            <a:endParaRPr sz="2000">
              <a:latin typeface="Times New Roman"/>
              <a:cs typeface="Times New Roman"/>
            </a:endParaRPr>
          </a:p>
          <a:p>
            <a:pPr marL="408940" marR="34925" indent="-342900">
              <a:lnSpc>
                <a:spcPct val="110000"/>
              </a:lnSpc>
              <a:spcBef>
                <a:spcPts val="1320"/>
              </a:spcBef>
              <a:buAutoNum type="arabicPeriod" startAt="3"/>
              <a:tabLst>
                <a:tab pos="40894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It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may</a:t>
            </a:r>
            <a:r>
              <a:rPr sz="2000" b="1" spc="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be</a:t>
            </a:r>
            <a:r>
              <a:rPr sz="2000" b="1" spc="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difficult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accurately</a:t>
            </a:r>
            <a:r>
              <a:rPr sz="2000" b="1" spc="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reproduce</a:t>
            </a:r>
            <a:r>
              <a:rPr sz="2000" b="1" spc="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input</a:t>
            </a:r>
            <a:r>
              <a:rPr sz="2000" b="1" spc="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conditions</a:t>
            </a:r>
            <a:r>
              <a:rPr sz="2000" b="1" spc="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(e.g.</a:t>
            </a:r>
            <a:r>
              <a:rPr sz="2000" b="1" spc="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real</a:t>
            </a:r>
            <a:r>
              <a:rPr sz="2000" b="1" spc="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time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application</a:t>
            </a:r>
            <a:r>
              <a:rPr sz="2000" b="1" spc="-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which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input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ordering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indeterminate).</a:t>
            </a:r>
            <a:endParaRPr sz="2000">
              <a:latin typeface="Times New Roman"/>
              <a:cs typeface="Times New Roman"/>
            </a:endParaRPr>
          </a:p>
          <a:p>
            <a:pPr marL="408940" marR="34290" indent="-342900">
              <a:lnSpc>
                <a:spcPct val="110000"/>
              </a:lnSpc>
              <a:spcBef>
                <a:spcPts val="1675"/>
              </a:spcBef>
              <a:buAutoNum type="arabicPeriod" startAt="3"/>
              <a:tabLst>
                <a:tab pos="408940" algn="l"/>
                <a:tab pos="1017269" algn="l"/>
                <a:tab pos="2203450" algn="l"/>
                <a:tab pos="2853055" algn="l"/>
                <a:tab pos="3291840" algn="l"/>
                <a:tab pos="4846320" algn="l"/>
                <a:tab pos="5511165" algn="l"/>
                <a:tab pos="5864225" algn="l"/>
                <a:tab pos="7344409" algn="l"/>
                <a:tab pos="8458835" algn="l"/>
              </a:tabLst>
            </a:pP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symptom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may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be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intermittent.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	</a:t>
            </a:r>
            <a:r>
              <a:rPr sz="2000" b="1" spc="-20" dirty="0">
                <a:solidFill>
                  <a:srgbClr val="663300"/>
                </a:solidFill>
                <a:latin typeface="Times New Roman"/>
                <a:cs typeface="Times New Roman"/>
              </a:rPr>
              <a:t>This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is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particularly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common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in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embedded</a:t>
            </a:r>
            <a:r>
              <a:rPr sz="2000" b="1" spc="-6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system</a:t>
            </a:r>
            <a:r>
              <a:rPr sz="2000" b="1" spc="-5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that</a:t>
            </a:r>
            <a:r>
              <a:rPr sz="2000" b="1" spc="-5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couple</a:t>
            </a:r>
            <a:r>
              <a:rPr sz="2000" b="1" spc="-5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hardware</a:t>
            </a:r>
            <a:r>
              <a:rPr sz="2000" b="1" spc="-3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with</a:t>
            </a:r>
            <a:r>
              <a:rPr sz="2000" b="1" spc="-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software</a:t>
            </a:r>
            <a:r>
              <a:rPr sz="2000" b="1" spc="-6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inextricably.</a:t>
            </a:r>
            <a:endParaRPr sz="2000">
              <a:latin typeface="Times New Roman"/>
              <a:cs typeface="Times New Roman"/>
            </a:endParaRPr>
          </a:p>
          <a:p>
            <a:pPr marL="441325" marR="5080" indent="-343535">
              <a:lnSpc>
                <a:spcPct val="110000"/>
              </a:lnSpc>
              <a:spcBef>
                <a:spcPts val="1595"/>
              </a:spcBef>
              <a:buAutoNum type="arabicPeriod" startAt="3"/>
              <a:tabLst>
                <a:tab pos="441325" algn="l"/>
              </a:tabLst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symptom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due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causes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distributed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across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number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of </a:t>
            </a:r>
            <a:r>
              <a:rPr sz="2000" b="1" dirty="0">
                <a:latin typeface="Times New Roman"/>
                <a:cs typeface="Times New Roman"/>
              </a:rPr>
              <a:t>tasks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running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processors”.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7875" rIns="0" bIns="0" rtlCol="0">
            <a:spAutoFit/>
          </a:bodyPr>
          <a:lstStyle/>
          <a:p>
            <a:pPr marL="1306830">
              <a:lnSpc>
                <a:spcPct val="100000"/>
              </a:lnSpc>
              <a:spcBef>
                <a:spcPts val="100"/>
              </a:spcBef>
            </a:pPr>
            <a:r>
              <a:rPr sz="2000" spc="-114" dirty="0"/>
              <a:t>Software</a:t>
            </a:r>
            <a:r>
              <a:rPr sz="2000" spc="-60" dirty="0"/>
              <a:t> </a:t>
            </a:r>
            <a:r>
              <a:rPr sz="2000" spc="-125" dirty="0"/>
              <a:t>Testing</a:t>
            </a:r>
            <a:endParaRPr sz="2000"/>
          </a:p>
        </p:txBody>
      </p:sp>
      <p:sp>
        <p:nvSpPr>
          <p:cNvPr id="4" name="object 4"/>
          <p:cNvSpPr/>
          <p:nvPr/>
        </p:nvSpPr>
        <p:spPr>
          <a:xfrm>
            <a:off x="304800" y="10890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285"/>
              </a:lnSpc>
            </a:pPr>
            <a:fld id="{81D60167-4931-47E6-BA6A-407CBD079E47}" type="slidenum">
              <a:rPr sz="2000" spc="-25" dirty="0"/>
              <a:t>27</a:t>
            </a:fld>
            <a:endParaRPr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3377" y="1731009"/>
            <a:ext cx="3718560" cy="278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CC0000"/>
                </a:solidFill>
                <a:latin typeface="Times New Roman"/>
                <a:cs typeface="Times New Roman"/>
              </a:rPr>
              <a:t>Induction</a:t>
            </a:r>
            <a:r>
              <a:rPr sz="2100" b="1" spc="-9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1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approach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100">
              <a:latin typeface="Times New Roman"/>
              <a:cs typeface="Times New Roman"/>
            </a:endParaRPr>
          </a:p>
          <a:p>
            <a:pPr marL="963294" indent="-457200">
              <a:lnSpc>
                <a:spcPct val="100000"/>
              </a:lnSpc>
              <a:buFont typeface="Wingdings"/>
              <a:buChar char=""/>
              <a:tabLst>
                <a:tab pos="963294" algn="l"/>
              </a:tabLst>
            </a:pP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Locate</a:t>
            </a:r>
            <a:r>
              <a:rPr sz="2000" b="1" spc="-3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the</a:t>
            </a:r>
            <a:r>
              <a:rPr sz="2000" b="1" spc="-2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pertinent</a:t>
            </a:r>
            <a:r>
              <a:rPr sz="2000" b="1" spc="-3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339933"/>
                </a:solidFill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963294" indent="-457200">
              <a:lnSpc>
                <a:spcPct val="100000"/>
              </a:lnSpc>
              <a:buFont typeface="Wingdings"/>
              <a:buChar char=""/>
              <a:tabLst>
                <a:tab pos="963294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Organize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data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963294" indent="-457200">
              <a:lnSpc>
                <a:spcPct val="100000"/>
              </a:lnSpc>
              <a:buFont typeface="Wingdings"/>
              <a:buChar char=""/>
              <a:tabLst>
                <a:tab pos="963294" algn="l"/>
              </a:tabLst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Devise</a:t>
            </a:r>
            <a:r>
              <a:rPr sz="2000" b="1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hypothesis</a:t>
            </a:r>
            <a:endParaRPr sz="2000">
              <a:latin typeface="Times New Roman"/>
              <a:cs typeface="Times New Roman"/>
            </a:endParaRPr>
          </a:p>
          <a:p>
            <a:pPr marL="963294" indent="-457200">
              <a:lnSpc>
                <a:spcPct val="100000"/>
              </a:lnSpc>
              <a:spcBef>
                <a:spcPts val="2050"/>
              </a:spcBef>
              <a:buFont typeface="Wingdings"/>
              <a:buChar char=""/>
              <a:tabLst>
                <a:tab pos="963294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Prove</a:t>
            </a:r>
            <a:r>
              <a:rPr sz="2000" b="1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hypothesis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408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Software</a:t>
            </a:r>
            <a:r>
              <a:rPr spc="-175" dirty="0"/>
              <a:t> </a:t>
            </a:r>
            <a:r>
              <a:rPr spc="-285" dirty="0"/>
              <a:t>Testing</a:t>
            </a:r>
          </a:p>
        </p:txBody>
      </p:sp>
      <p:sp>
        <p:nvSpPr>
          <p:cNvPr id="4" name="object 4"/>
          <p:cNvSpPr/>
          <p:nvPr/>
        </p:nvSpPr>
        <p:spPr>
          <a:xfrm>
            <a:off x="304800" y="10890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788" y="1447793"/>
            <a:ext cx="7006976" cy="44958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7837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290" dirty="0"/>
              <a:t>Testing</a:t>
            </a:r>
          </a:p>
        </p:txBody>
      </p:sp>
      <p:sp>
        <p:nvSpPr>
          <p:cNvPr id="4" name="object 4"/>
          <p:cNvSpPr/>
          <p:nvPr/>
        </p:nvSpPr>
        <p:spPr>
          <a:xfrm>
            <a:off x="304800" y="11430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25370" y="6150051"/>
            <a:ext cx="5405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Fig.</a:t>
            </a:r>
            <a:r>
              <a:rPr sz="24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32</a:t>
            </a:r>
            <a:r>
              <a:rPr sz="24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:</a:t>
            </a:r>
            <a:r>
              <a:rPr sz="2400" b="1" spc="-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4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inductive</a:t>
            </a:r>
            <a:r>
              <a:rPr sz="24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debugging</a:t>
            </a:r>
            <a:r>
              <a:rPr sz="24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process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3377" y="1731009"/>
            <a:ext cx="5818505" cy="278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CC0000"/>
                </a:solidFill>
                <a:latin typeface="Times New Roman"/>
                <a:cs typeface="Times New Roman"/>
              </a:rPr>
              <a:t>Deduction</a:t>
            </a:r>
            <a:r>
              <a:rPr sz="2100" b="1" spc="-8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1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approach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100">
              <a:latin typeface="Times New Roman"/>
              <a:cs typeface="Times New Roman"/>
            </a:endParaRPr>
          </a:p>
          <a:p>
            <a:pPr marL="963294" indent="-457200">
              <a:lnSpc>
                <a:spcPct val="100000"/>
              </a:lnSpc>
              <a:buFont typeface="Wingdings"/>
              <a:buChar char=""/>
              <a:tabLst>
                <a:tab pos="963294" algn="l"/>
              </a:tabLst>
            </a:pP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Enumerate</a:t>
            </a:r>
            <a:r>
              <a:rPr sz="2000" b="1" spc="-6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the</a:t>
            </a:r>
            <a:r>
              <a:rPr sz="2000" b="1" spc="-1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possible</a:t>
            </a:r>
            <a:r>
              <a:rPr sz="2000" b="1" spc="-4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causes</a:t>
            </a:r>
            <a:r>
              <a:rPr sz="2000" b="1" spc="-2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or</a:t>
            </a:r>
            <a:r>
              <a:rPr sz="2000" b="1" spc="-4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339933"/>
                </a:solidFill>
                <a:latin typeface="Times New Roman"/>
                <a:cs typeface="Times New Roman"/>
              </a:rPr>
              <a:t>hypotheses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963294" indent="-457200">
              <a:lnSpc>
                <a:spcPct val="100000"/>
              </a:lnSpc>
              <a:buFont typeface="Wingdings"/>
              <a:buChar char=""/>
              <a:tabLst>
                <a:tab pos="963294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Use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data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eliminate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possible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causes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963294" indent="-457200">
              <a:lnSpc>
                <a:spcPct val="100000"/>
              </a:lnSpc>
              <a:buFont typeface="Wingdings"/>
              <a:buChar char=""/>
              <a:tabLst>
                <a:tab pos="963294" algn="l"/>
              </a:tabLst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Refine</a:t>
            </a:r>
            <a:r>
              <a:rPr sz="2000" b="1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remaining</a:t>
            </a:r>
            <a:r>
              <a:rPr sz="2000" b="1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hypothesis</a:t>
            </a:r>
            <a:endParaRPr sz="2000">
              <a:latin typeface="Times New Roman"/>
              <a:cs typeface="Times New Roman"/>
            </a:endParaRPr>
          </a:p>
          <a:p>
            <a:pPr marL="963294" indent="-457200">
              <a:lnSpc>
                <a:spcPct val="100000"/>
              </a:lnSpc>
              <a:spcBef>
                <a:spcPts val="2050"/>
              </a:spcBef>
              <a:buFont typeface="Wingdings"/>
              <a:buChar char=""/>
              <a:tabLst>
                <a:tab pos="963294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Prove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remaining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hypothesis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408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Software</a:t>
            </a:r>
            <a:r>
              <a:rPr spc="-175" dirty="0"/>
              <a:t> </a:t>
            </a:r>
            <a:r>
              <a:rPr spc="-285" dirty="0"/>
              <a:t>Testing</a:t>
            </a:r>
          </a:p>
        </p:txBody>
      </p:sp>
      <p:sp>
        <p:nvSpPr>
          <p:cNvPr id="4" name="object 4"/>
          <p:cNvSpPr/>
          <p:nvPr/>
        </p:nvSpPr>
        <p:spPr>
          <a:xfrm>
            <a:off x="304800" y="10890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636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Software</a:t>
            </a:r>
            <a:r>
              <a:rPr spc="-175" dirty="0"/>
              <a:t> </a:t>
            </a:r>
            <a:r>
              <a:rPr spc="-285" dirty="0"/>
              <a:t>Testing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11430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68170" y="5235397"/>
            <a:ext cx="54140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Fig.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33 :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 inductive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debugging</a:t>
            </a:r>
            <a:r>
              <a:rPr sz="24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412" y="1988687"/>
            <a:ext cx="8740382" cy="25345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636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Software</a:t>
            </a:r>
            <a:r>
              <a:rPr spc="-175" dirty="0"/>
              <a:t> </a:t>
            </a:r>
            <a:r>
              <a:rPr spc="-285" dirty="0"/>
              <a:t>Testing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11430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2100" y="1181735"/>
            <a:ext cx="8629650" cy="3776345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59055" algn="just">
              <a:lnSpc>
                <a:spcPct val="100000"/>
              </a:lnSpc>
              <a:spcBef>
                <a:spcPts val="1770"/>
              </a:spcBef>
            </a:pPr>
            <a:r>
              <a:rPr sz="2400" b="1" spc="-30" dirty="0">
                <a:solidFill>
                  <a:srgbClr val="FF3300"/>
                </a:solidFill>
                <a:latin typeface="Times New Roman"/>
                <a:cs typeface="Times New Roman"/>
              </a:rPr>
              <a:t>Testing</a:t>
            </a:r>
            <a:r>
              <a:rPr sz="2400" b="1" spc="-10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3300"/>
                </a:solidFill>
                <a:latin typeface="Times New Roman"/>
                <a:cs typeface="Times New Roman"/>
              </a:rPr>
              <a:t>Tools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675"/>
              </a:spcBef>
            </a:pPr>
            <a:r>
              <a:rPr sz="2400" b="1" dirty="0">
                <a:latin typeface="Times New Roman"/>
                <a:cs typeface="Times New Roman"/>
              </a:rPr>
              <a:t>One</a:t>
            </a:r>
            <a:r>
              <a:rPr sz="2400" b="1" spc="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way</a:t>
            </a:r>
            <a:r>
              <a:rPr sz="2400" b="1" spc="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improve</a:t>
            </a:r>
            <a:r>
              <a:rPr sz="2400" b="1" spc="1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quality</a:t>
            </a:r>
            <a:r>
              <a:rPr sz="2400" b="1" spc="1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&amp;</a:t>
            </a:r>
            <a:r>
              <a:rPr sz="2400" b="1" spc="1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quantity</a:t>
            </a:r>
            <a:r>
              <a:rPr sz="2400" b="1" spc="1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1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testing</a:t>
            </a:r>
            <a:r>
              <a:rPr sz="2400" b="1" spc="1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1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18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make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process</a:t>
            </a:r>
            <a:r>
              <a:rPr sz="2400" b="1" spc="1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as</a:t>
            </a:r>
            <a:r>
              <a:rPr sz="2400" b="1" spc="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pleasant</a:t>
            </a:r>
            <a:r>
              <a:rPr sz="2400" b="1" spc="1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as</a:t>
            </a:r>
            <a:r>
              <a:rPr sz="2400" b="1" spc="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possible</a:t>
            </a:r>
            <a:r>
              <a:rPr sz="2400" b="1" spc="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tester.</a:t>
            </a:r>
            <a:r>
              <a:rPr sz="2400" b="1" spc="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This</a:t>
            </a:r>
            <a:r>
              <a:rPr sz="2400" b="1" spc="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means</a:t>
            </a:r>
            <a:r>
              <a:rPr sz="2400" b="1" spc="12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that </a:t>
            </a:r>
            <a:r>
              <a:rPr sz="2400" b="1" dirty="0">
                <a:latin typeface="Times New Roman"/>
                <a:cs typeface="Times New Roman"/>
              </a:rPr>
              <a:t>tools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should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concise,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powerful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&amp;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natural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as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possible.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89"/>
              </a:spcBef>
            </a:pPr>
            <a:endParaRPr sz="2400">
              <a:latin typeface="Times New Roman"/>
              <a:cs typeface="Times New Roman"/>
            </a:endParaRPr>
          </a:p>
          <a:p>
            <a:pPr marL="88900" algn="just">
              <a:lnSpc>
                <a:spcPct val="100000"/>
              </a:lnSpc>
            </a:pPr>
            <a:r>
              <a:rPr sz="24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400" b="1" spc="-5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63300"/>
                </a:solidFill>
                <a:latin typeface="Times New Roman"/>
                <a:cs typeface="Times New Roman"/>
              </a:rPr>
              <a:t>two</a:t>
            </a:r>
            <a:r>
              <a:rPr sz="2400" b="1" spc="-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63300"/>
                </a:solidFill>
                <a:latin typeface="Times New Roman"/>
                <a:cs typeface="Times New Roman"/>
              </a:rPr>
              <a:t>broad</a:t>
            </a:r>
            <a:r>
              <a:rPr sz="2400" b="1" spc="-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63300"/>
                </a:solidFill>
                <a:latin typeface="Times New Roman"/>
                <a:cs typeface="Times New Roman"/>
              </a:rPr>
              <a:t>categories</a:t>
            </a:r>
            <a:r>
              <a:rPr sz="2400" b="1" spc="-7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2400" b="1" spc="-4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63300"/>
                </a:solidFill>
                <a:latin typeface="Times New Roman"/>
                <a:cs typeface="Times New Roman"/>
              </a:rPr>
              <a:t>software</a:t>
            </a:r>
            <a:r>
              <a:rPr sz="2400" b="1" spc="-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63300"/>
                </a:solidFill>
                <a:latin typeface="Times New Roman"/>
                <a:cs typeface="Times New Roman"/>
              </a:rPr>
              <a:t>testing</a:t>
            </a:r>
            <a:r>
              <a:rPr sz="2400" b="1" spc="-4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63300"/>
                </a:solidFill>
                <a:latin typeface="Times New Roman"/>
                <a:cs typeface="Times New Roman"/>
              </a:rPr>
              <a:t>tools</a:t>
            </a:r>
            <a:r>
              <a:rPr sz="2400" b="1" spc="-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63300"/>
                </a:solidFill>
                <a:latin typeface="Times New Roman"/>
                <a:cs typeface="Times New Roman"/>
              </a:rPr>
              <a:t>are</a:t>
            </a:r>
            <a:r>
              <a:rPr sz="2400" b="1" spc="-50" dirty="0">
                <a:solidFill>
                  <a:srgbClr val="663300"/>
                </a:solidFill>
                <a:latin typeface="Times New Roman"/>
                <a:cs typeface="Times New Roman"/>
              </a:rPr>
              <a:t> :</a:t>
            </a:r>
            <a:endParaRPr sz="2400">
              <a:latin typeface="Times New Roman"/>
              <a:cs typeface="Times New Roman"/>
            </a:endParaRPr>
          </a:p>
          <a:p>
            <a:pPr marL="621665" indent="-456565">
              <a:lnSpc>
                <a:spcPct val="100000"/>
              </a:lnSpc>
              <a:spcBef>
                <a:spcPts val="1340"/>
              </a:spcBef>
              <a:buFont typeface="Wingdings"/>
              <a:buChar char=""/>
              <a:tabLst>
                <a:tab pos="621665" algn="l"/>
              </a:tabLst>
            </a:pP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Static</a:t>
            </a:r>
            <a:endParaRPr sz="2000">
              <a:latin typeface="Times New Roman"/>
              <a:cs typeface="Times New Roman"/>
            </a:endParaRPr>
          </a:p>
          <a:p>
            <a:pPr marL="6216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621665" algn="l"/>
              </a:tabLst>
            </a:pP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Dynamic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7002" y="1541526"/>
            <a:ext cx="8667115" cy="5107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There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types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tools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available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some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listed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below: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Static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analyzers,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which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examine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programs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systematically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automatically.</a:t>
            </a:r>
            <a:endParaRPr sz="2000">
              <a:latin typeface="Times New Roman"/>
              <a:cs typeface="Times New Roman"/>
            </a:endParaRPr>
          </a:p>
          <a:p>
            <a:pPr marL="386715" marR="11430" indent="-342900">
              <a:lnSpc>
                <a:spcPct val="110000"/>
              </a:lnSpc>
              <a:spcBef>
                <a:spcPts val="2160"/>
              </a:spcBef>
              <a:buAutoNum type="arabicPeriod"/>
              <a:tabLst>
                <a:tab pos="386715" algn="l"/>
              </a:tabLst>
            </a:pPr>
            <a:r>
              <a:rPr sz="2000" b="1" dirty="0">
                <a:latin typeface="Times New Roman"/>
                <a:cs typeface="Times New Roman"/>
              </a:rPr>
              <a:t>Code</a:t>
            </a:r>
            <a:r>
              <a:rPr sz="2000" b="1" spc="3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inspectors,</a:t>
            </a:r>
            <a:r>
              <a:rPr sz="2000" b="1" spc="4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who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inspect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programs</a:t>
            </a:r>
            <a:r>
              <a:rPr sz="2000" b="1" spc="3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automatically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make</a:t>
            </a:r>
            <a:r>
              <a:rPr sz="2000" b="1" spc="3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sure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they </a:t>
            </a:r>
            <a:r>
              <a:rPr sz="2000" b="1" dirty="0">
                <a:latin typeface="Times New Roman"/>
                <a:cs typeface="Times New Roman"/>
              </a:rPr>
              <a:t>adhere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minimum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quality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standards.</a:t>
            </a:r>
            <a:endParaRPr sz="2000">
              <a:latin typeface="Times New Roman"/>
              <a:cs typeface="Times New Roman"/>
            </a:endParaRPr>
          </a:p>
          <a:p>
            <a:pPr marL="374015" indent="-34290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74015" algn="l"/>
              </a:tabLst>
            </a:pPr>
            <a:r>
              <a:rPr sz="2000" b="1" dirty="0">
                <a:latin typeface="Times New Roman"/>
                <a:cs typeface="Times New Roman"/>
              </a:rPr>
              <a:t>standards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enforcers,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which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impose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simple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rules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developer.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374015" indent="-342900">
              <a:lnSpc>
                <a:spcPct val="100000"/>
              </a:lnSpc>
              <a:buAutoNum type="arabicPeriod"/>
              <a:tabLst>
                <a:tab pos="374015" algn="l"/>
              </a:tabLst>
            </a:pPr>
            <a:r>
              <a:rPr sz="2000" b="1" dirty="0">
                <a:latin typeface="Times New Roman"/>
                <a:cs typeface="Times New Roman"/>
              </a:rPr>
              <a:t>Coverage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analysers,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which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measure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extent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coverage.</a:t>
            </a:r>
            <a:endParaRPr sz="2000">
              <a:latin typeface="Times New Roman"/>
              <a:cs typeface="Times New Roman"/>
            </a:endParaRPr>
          </a:p>
          <a:p>
            <a:pPr marL="396240" marR="5080" indent="-342900">
              <a:lnSpc>
                <a:spcPct val="110000"/>
              </a:lnSpc>
              <a:spcBef>
                <a:spcPts val="2185"/>
              </a:spcBef>
              <a:buAutoNum type="arabicPeriod"/>
              <a:tabLst>
                <a:tab pos="396240" algn="l"/>
              </a:tabLst>
            </a:pPr>
            <a:r>
              <a:rPr sz="2000" b="1" dirty="0">
                <a:latin typeface="Times New Roman"/>
                <a:cs typeface="Times New Roman"/>
              </a:rPr>
              <a:t>Output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comparators,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used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determine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whether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output</a:t>
            </a:r>
            <a:r>
              <a:rPr sz="2000" b="1" spc="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program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is </a:t>
            </a:r>
            <a:r>
              <a:rPr sz="2000" b="1" dirty="0">
                <a:latin typeface="Times New Roman"/>
                <a:cs typeface="Times New Roman"/>
              </a:rPr>
              <a:t>appropriate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not.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2000">
              <a:latin typeface="Times New Roman"/>
              <a:cs typeface="Times New Roman"/>
            </a:endParaRPr>
          </a:p>
          <a:p>
            <a:pPr marR="9525" algn="r">
              <a:lnSpc>
                <a:spcPct val="100000"/>
              </a:lnSpc>
              <a:spcBef>
                <a:spcPts val="5"/>
              </a:spcBef>
            </a:pPr>
            <a:r>
              <a:rPr sz="2000" spc="-25" dirty="0">
                <a:latin typeface="Times New Roman"/>
                <a:cs typeface="Times New Roman"/>
              </a:rPr>
              <a:t>31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7448" rIns="0" bIns="0" rtlCol="0">
            <a:spAutoFit/>
          </a:bodyPr>
          <a:lstStyle/>
          <a:p>
            <a:pPr marL="1230630">
              <a:lnSpc>
                <a:spcPct val="100000"/>
              </a:lnSpc>
              <a:spcBef>
                <a:spcPts val="105"/>
              </a:spcBef>
            </a:pPr>
            <a:r>
              <a:rPr sz="2000" spc="-114" dirty="0">
                <a:solidFill>
                  <a:srgbClr val="000000"/>
                </a:solidFill>
              </a:rPr>
              <a:t>Software</a:t>
            </a:r>
            <a:r>
              <a:rPr sz="2000" spc="-60" dirty="0">
                <a:solidFill>
                  <a:srgbClr val="000000"/>
                </a:solidFill>
              </a:rPr>
              <a:t> </a:t>
            </a:r>
            <a:r>
              <a:rPr sz="2000" spc="-125" dirty="0">
                <a:solidFill>
                  <a:srgbClr val="000000"/>
                </a:solidFill>
              </a:rPr>
              <a:t>Testing</a:t>
            </a:r>
            <a:endParaRPr sz="2000"/>
          </a:p>
        </p:txBody>
      </p:sp>
      <p:sp>
        <p:nvSpPr>
          <p:cNvPr id="4" name="object 4"/>
          <p:cNvSpPr/>
          <p:nvPr/>
        </p:nvSpPr>
        <p:spPr>
          <a:xfrm>
            <a:off x="228600" y="1227963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636" rIns="0" bIns="0" rtlCol="0">
            <a:spAutoFit/>
          </a:bodyPr>
          <a:lstStyle/>
          <a:p>
            <a:pPr marL="535305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Software</a:t>
            </a:r>
            <a:r>
              <a:rPr spc="-175" dirty="0"/>
              <a:t> </a:t>
            </a:r>
            <a:r>
              <a:rPr spc="-285" dirty="0"/>
              <a:t>Testing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11430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2100" y="1816734"/>
            <a:ext cx="8658860" cy="216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355600" algn="l"/>
              </a:tabLst>
            </a:pPr>
            <a:r>
              <a:rPr sz="24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Test</a:t>
            </a:r>
            <a:r>
              <a:rPr sz="24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file/</a:t>
            </a:r>
            <a:r>
              <a:rPr sz="24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data</a:t>
            </a:r>
            <a:r>
              <a:rPr sz="24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generators,</a:t>
            </a:r>
            <a:r>
              <a:rPr sz="24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used</a:t>
            </a:r>
            <a:r>
              <a:rPr sz="24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4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set</a:t>
            </a:r>
            <a:r>
              <a:rPr sz="24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up</a:t>
            </a:r>
            <a:r>
              <a:rPr sz="24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test</a:t>
            </a:r>
            <a:r>
              <a:rPr sz="24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inputs.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2520"/>
              </a:spcBef>
              <a:buAutoNum type="arabicPeriod" startAt="6"/>
              <a:tabLst>
                <a:tab pos="355600" algn="l"/>
              </a:tabLst>
            </a:pPr>
            <a:r>
              <a:rPr sz="2400" b="1" spc="-45" dirty="0">
                <a:solidFill>
                  <a:srgbClr val="663300"/>
                </a:solidFill>
                <a:latin typeface="Times New Roman"/>
                <a:cs typeface="Times New Roman"/>
              </a:rPr>
              <a:t>Test</a:t>
            </a:r>
            <a:r>
              <a:rPr sz="2400" b="1" spc="-6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63300"/>
                </a:solidFill>
                <a:latin typeface="Times New Roman"/>
                <a:cs typeface="Times New Roman"/>
              </a:rPr>
              <a:t>harnesses,</a:t>
            </a:r>
            <a:r>
              <a:rPr sz="2400" b="1" spc="-5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63300"/>
                </a:solidFill>
                <a:latin typeface="Times New Roman"/>
                <a:cs typeface="Times New Roman"/>
              </a:rPr>
              <a:t>used</a:t>
            </a:r>
            <a:r>
              <a:rPr sz="2400" b="1" spc="-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sz="2400" b="1" spc="-6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63300"/>
                </a:solidFill>
                <a:latin typeface="Times New Roman"/>
                <a:cs typeface="Times New Roman"/>
              </a:rPr>
              <a:t>simplify</a:t>
            </a:r>
            <a:r>
              <a:rPr sz="2400" b="1" spc="-7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663300"/>
                </a:solidFill>
                <a:latin typeface="Times New Roman"/>
                <a:cs typeface="Times New Roman"/>
              </a:rPr>
              <a:t>test</a:t>
            </a:r>
            <a:r>
              <a:rPr sz="2400" b="1" spc="-5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operations.</a:t>
            </a:r>
            <a:endParaRPr sz="2400">
              <a:latin typeface="Times New Roman"/>
              <a:cs typeface="Times New Roman"/>
            </a:endParaRPr>
          </a:p>
          <a:p>
            <a:pPr marL="386715" marR="5080" indent="-342900">
              <a:lnSpc>
                <a:spcPct val="110000"/>
              </a:lnSpc>
              <a:spcBef>
                <a:spcPts val="2235"/>
              </a:spcBef>
              <a:buAutoNum type="arabicPeriod" startAt="6"/>
              <a:tabLst>
                <a:tab pos="386715" algn="l"/>
                <a:tab pos="1045844" algn="l"/>
                <a:tab pos="3604895" algn="l"/>
                <a:tab pos="5826760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Test</a:t>
            </a:r>
            <a:r>
              <a:rPr sz="2400" b="1" dirty="0">
                <a:latin typeface="Times New Roman"/>
                <a:cs typeface="Times New Roman"/>
              </a:rPr>
              <a:t>	archiving</a:t>
            </a:r>
            <a:r>
              <a:rPr sz="2400" b="1" spc="3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systems,</a:t>
            </a:r>
            <a:r>
              <a:rPr sz="2400" b="1" dirty="0">
                <a:latin typeface="Times New Roman"/>
                <a:cs typeface="Times New Roman"/>
              </a:rPr>
              <a:t>	used</a:t>
            </a:r>
            <a:r>
              <a:rPr sz="2400" b="1" spc="3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3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provide</a:t>
            </a:r>
            <a:r>
              <a:rPr sz="2400" b="1" dirty="0">
                <a:latin typeface="Times New Roman"/>
                <a:cs typeface="Times New Roman"/>
              </a:rPr>
              <a:t>	documentation</a:t>
            </a:r>
            <a:r>
              <a:rPr sz="2400" b="1" spc="2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about programs.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15651"/>
            <a:ext cx="7391400" cy="35382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400" spc="-5" dirty="0">
                <a:latin typeface="Lucida Sans Unicode"/>
                <a:cs typeface="Lucida Sans Unicode"/>
              </a:rPr>
              <a:t>Componen</a:t>
            </a:r>
            <a:r>
              <a:rPr sz="2400" dirty="0">
                <a:latin typeface="Lucida Sans Unicode"/>
                <a:cs typeface="Lucida Sans Unicode"/>
              </a:rPr>
              <a:t>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testing</a:t>
            </a:r>
            <a:endParaRPr sz="24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365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Testing</a:t>
            </a:r>
            <a:r>
              <a:rPr sz="2000" spc="-5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of</a:t>
            </a:r>
            <a:r>
              <a:rPr sz="2000" spc="-1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individual</a:t>
            </a:r>
            <a:r>
              <a:rPr sz="2000" spc="-4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program</a:t>
            </a:r>
            <a:r>
              <a:rPr sz="2000" spc="-3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components;</a:t>
            </a:r>
            <a:endParaRPr sz="20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30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Usually</a:t>
            </a:r>
            <a:r>
              <a:rPr sz="2000" spc="-6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the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responsibility</a:t>
            </a:r>
            <a:r>
              <a:rPr sz="2000" spc="-4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of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the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component</a:t>
            </a:r>
            <a:r>
              <a:rPr sz="2000" spc="-7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developer</a:t>
            </a:r>
            <a:endParaRPr sz="2000">
              <a:latin typeface="Lucida Sans Unicode"/>
              <a:cs typeface="Lucida Sans Unicode"/>
            </a:endParaRPr>
          </a:p>
          <a:p>
            <a:pPr marL="524510">
              <a:lnSpc>
                <a:spcPct val="100000"/>
              </a:lnSpc>
            </a:pPr>
            <a:r>
              <a:rPr sz="2000" dirty="0">
                <a:latin typeface="Lucida Sans Unicode"/>
                <a:cs typeface="Lucida Sans Unicode"/>
              </a:rPr>
              <a:t>(except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sometimes</a:t>
            </a:r>
            <a:r>
              <a:rPr sz="2000" spc="-4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for</a:t>
            </a:r>
            <a:r>
              <a:rPr sz="2000" spc="-1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critical</a:t>
            </a:r>
            <a:r>
              <a:rPr sz="2000" spc="-3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systems);</a:t>
            </a:r>
            <a:endParaRPr sz="20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30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Tests</a:t>
            </a:r>
            <a:r>
              <a:rPr sz="2000" spc="-3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are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derived</a:t>
            </a:r>
            <a:r>
              <a:rPr sz="2000" spc="-1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from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the</a:t>
            </a:r>
            <a:r>
              <a:rPr sz="2000" spc="-1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developer’s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experience.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400" dirty="0">
                <a:latin typeface="Lucida Sans Unicode"/>
                <a:cs typeface="Lucida Sans Unicode"/>
              </a:rPr>
              <a:t>System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testing</a:t>
            </a:r>
            <a:endParaRPr sz="2400">
              <a:latin typeface="Lucida Sans Unicode"/>
              <a:cs typeface="Lucida Sans Unicode"/>
            </a:endParaRPr>
          </a:p>
          <a:p>
            <a:pPr marL="524510" marR="5080" lvl="1" indent="-229235">
              <a:lnSpc>
                <a:spcPct val="100000"/>
              </a:lnSpc>
              <a:spcBef>
                <a:spcPts val="355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Testing</a:t>
            </a:r>
            <a:r>
              <a:rPr sz="2000" spc="-4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of</a:t>
            </a:r>
            <a:r>
              <a:rPr sz="2000" spc="-1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groups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of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components</a:t>
            </a:r>
            <a:r>
              <a:rPr sz="2000" spc="-5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integrated</a:t>
            </a:r>
            <a:r>
              <a:rPr sz="2000" spc="-1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to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create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spc="-50" dirty="0">
                <a:latin typeface="Lucida Sans Unicode"/>
                <a:cs typeface="Lucida Sans Unicode"/>
              </a:rPr>
              <a:t>a </a:t>
            </a:r>
            <a:r>
              <a:rPr sz="2000" dirty="0">
                <a:latin typeface="Lucida Sans Unicode"/>
                <a:cs typeface="Lucida Sans Unicode"/>
              </a:rPr>
              <a:t>system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or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sub-system;</a:t>
            </a:r>
            <a:endParaRPr sz="20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30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The</a:t>
            </a:r>
            <a:r>
              <a:rPr sz="2000" spc="-5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responsibility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of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an</a:t>
            </a:r>
            <a:r>
              <a:rPr sz="2000" spc="-4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independent</a:t>
            </a:r>
            <a:r>
              <a:rPr sz="2000" spc="-4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testing</a:t>
            </a:r>
            <a:r>
              <a:rPr sz="2000" spc="-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team;</a:t>
            </a:r>
            <a:endParaRPr sz="20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30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Tests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are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based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on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</a:t>
            </a:r>
            <a:r>
              <a:rPr sz="2000" spc="-1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system</a:t>
            </a:r>
            <a:r>
              <a:rPr sz="2000" spc="-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specification.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1" y="571500"/>
            <a:ext cx="4978908" cy="5486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1" y="571500"/>
            <a:ext cx="3813048" cy="54863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81000" y="2438400"/>
            <a:ext cx="8458200" cy="3048000"/>
            <a:chOff x="381000" y="2438400"/>
            <a:chExt cx="8458200" cy="3048000"/>
          </a:xfrm>
        </p:grpSpPr>
        <p:sp>
          <p:nvSpPr>
            <p:cNvPr id="4" name="object 4"/>
            <p:cNvSpPr/>
            <p:nvPr/>
          </p:nvSpPr>
          <p:spPr>
            <a:xfrm>
              <a:off x="381000" y="2438400"/>
              <a:ext cx="8458200" cy="3048000"/>
            </a:xfrm>
            <a:custGeom>
              <a:avLst/>
              <a:gdLst/>
              <a:ahLst/>
              <a:cxnLst/>
              <a:rect l="l" t="t" r="r" b="b"/>
              <a:pathLst>
                <a:path w="8458200" h="3048000">
                  <a:moveTo>
                    <a:pt x="8458200" y="0"/>
                  </a:moveTo>
                  <a:lnTo>
                    <a:pt x="0" y="0"/>
                  </a:lnTo>
                  <a:lnTo>
                    <a:pt x="0" y="3048000"/>
                  </a:lnTo>
                  <a:lnTo>
                    <a:pt x="8458200" y="304800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400" y="2895473"/>
              <a:ext cx="6858000" cy="183362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058" y="1464640"/>
            <a:ext cx="7913370" cy="2595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1039494" indent="-25654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goal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defect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testing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discover</a:t>
            </a:r>
            <a:r>
              <a:rPr sz="2700" spc="6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defects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programs</a:t>
            </a:r>
            <a:endParaRPr sz="2700">
              <a:latin typeface="Lucida Sans Unicode"/>
              <a:cs typeface="Lucida Sans Unicode"/>
            </a:endParaRPr>
          </a:p>
          <a:p>
            <a:pPr marL="268605" marR="5080" indent="-256540">
              <a:lnSpc>
                <a:spcPts val="3240"/>
              </a:lnSpc>
              <a:spcBef>
                <a:spcPts val="50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A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850" i="1" dirty="0">
                <a:latin typeface="Arial"/>
                <a:cs typeface="Arial"/>
              </a:rPr>
              <a:t>successful</a:t>
            </a:r>
            <a:r>
              <a:rPr sz="2850" i="1" spc="40" dirty="0">
                <a:latin typeface="Arial"/>
                <a:cs typeface="Arial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defect test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 test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which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causes</a:t>
            </a:r>
            <a:r>
              <a:rPr sz="2700" spc="6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program</a:t>
            </a:r>
            <a:r>
              <a:rPr sz="2700" spc="-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behave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an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anomalous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spc="-25" dirty="0">
                <a:latin typeface="Lucida Sans Unicode"/>
                <a:cs typeface="Lucida Sans Unicode"/>
              </a:rPr>
              <a:t>way</a:t>
            </a:r>
            <a:endParaRPr sz="2700">
              <a:latin typeface="Lucida Sans Unicode"/>
              <a:cs typeface="Lucida Sans Unicode"/>
            </a:endParaRPr>
          </a:p>
          <a:p>
            <a:pPr marL="268605" marR="341630" indent="-256540">
              <a:lnSpc>
                <a:spcPct val="100000"/>
              </a:lnSpc>
              <a:spcBef>
                <a:spcPts val="290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Tests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show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presence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not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absence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spc="-630" dirty="0">
                <a:latin typeface="Lucida Sans Unicode"/>
                <a:cs typeface="Lucida Sans Unicode"/>
              </a:rPr>
              <a:t>of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spc="-10" dirty="0">
                <a:latin typeface="Lucida Sans Unicode"/>
                <a:cs typeface="Lucida Sans Unicode"/>
              </a:rPr>
              <a:t>defects</a:t>
            </a:r>
            <a:endParaRPr sz="27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72" y="566927"/>
            <a:ext cx="3488435" cy="55321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15651"/>
            <a:ext cx="7778750" cy="37668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400" spc="-15" dirty="0">
                <a:solidFill>
                  <a:srgbClr val="FF0000"/>
                </a:solidFill>
                <a:latin typeface="Lucida Sans Unicode"/>
                <a:cs typeface="Lucida Sans Unicode"/>
              </a:rPr>
              <a:t>Validation</a:t>
            </a:r>
            <a:r>
              <a:rPr sz="2400" spc="2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Lucida Sans Unicode"/>
                <a:cs typeface="Lucida Sans Unicode"/>
              </a:rPr>
              <a:t>testing</a:t>
            </a:r>
            <a:endParaRPr sz="24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365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To</a:t>
            </a:r>
            <a:r>
              <a:rPr sz="2000" spc="-5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demonstrate</a:t>
            </a:r>
            <a:r>
              <a:rPr sz="2000" spc="-4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to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the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developer</a:t>
            </a:r>
            <a:r>
              <a:rPr sz="2000" spc="-4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and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the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system</a:t>
            </a:r>
            <a:r>
              <a:rPr sz="2000" spc="-1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customer</a:t>
            </a:r>
            <a:endParaRPr sz="2000">
              <a:latin typeface="Lucida Sans Unicode"/>
              <a:cs typeface="Lucida Sans Unicode"/>
            </a:endParaRPr>
          </a:p>
          <a:p>
            <a:pPr marL="524510">
              <a:lnSpc>
                <a:spcPct val="100000"/>
              </a:lnSpc>
            </a:pPr>
            <a:r>
              <a:rPr sz="2000" dirty="0">
                <a:latin typeface="Lucida Sans Unicode"/>
                <a:cs typeface="Lucida Sans Unicode"/>
              </a:rPr>
              <a:t>that</a:t>
            </a:r>
            <a:r>
              <a:rPr sz="2000" spc="-4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the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software</a:t>
            </a:r>
            <a:r>
              <a:rPr sz="2000" spc="-4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meets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its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requirements;</a:t>
            </a:r>
            <a:endParaRPr sz="2000">
              <a:latin typeface="Lucida Sans Unicode"/>
              <a:cs typeface="Lucida Sans Unicode"/>
            </a:endParaRPr>
          </a:p>
          <a:p>
            <a:pPr marL="524510" marR="836930" lvl="1" indent="-229235">
              <a:lnSpc>
                <a:spcPct val="100000"/>
              </a:lnSpc>
              <a:spcBef>
                <a:spcPts val="30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A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successful</a:t>
            </a:r>
            <a:r>
              <a:rPr sz="2000" spc="-4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test</a:t>
            </a:r>
            <a:r>
              <a:rPr sz="2000" spc="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shows</a:t>
            </a:r>
            <a:r>
              <a:rPr sz="2000" spc="-3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that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the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system</a:t>
            </a:r>
            <a:r>
              <a:rPr sz="2000" spc="-1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operates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spc="-25" dirty="0">
                <a:latin typeface="Lucida Sans Unicode"/>
                <a:cs typeface="Lucida Sans Unicode"/>
              </a:rPr>
              <a:t>as </a:t>
            </a:r>
            <a:r>
              <a:rPr sz="2000" spc="-10" dirty="0">
                <a:latin typeface="Lucida Sans Unicode"/>
                <a:cs typeface="Lucida Sans Unicode"/>
              </a:rPr>
              <a:t>intended.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400" spc="-20" dirty="0">
                <a:solidFill>
                  <a:srgbClr val="FF0000"/>
                </a:solidFill>
                <a:latin typeface="Lucida Sans Unicode"/>
                <a:cs typeface="Lucida Sans Unicode"/>
              </a:rPr>
              <a:t>Defect</a:t>
            </a:r>
            <a:r>
              <a:rPr sz="2400" spc="-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Lucida Sans Unicode"/>
                <a:cs typeface="Lucida Sans Unicode"/>
              </a:rPr>
              <a:t>testing</a:t>
            </a:r>
            <a:endParaRPr sz="2400">
              <a:latin typeface="Lucida Sans Unicode"/>
              <a:cs typeface="Lucida Sans Unicode"/>
            </a:endParaRPr>
          </a:p>
          <a:p>
            <a:pPr marL="524510" marR="624840" lvl="1" indent="-229235">
              <a:lnSpc>
                <a:spcPct val="100000"/>
              </a:lnSpc>
              <a:spcBef>
                <a:spcPts val="355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To</a:t>
            </a:r>
            <a:r>
              <a:rPr sz="2000" spc="-4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discover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faults</a:t>
            </a:r>
            <a:r>
              <a:rPr sz="2000" spc="-1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or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defects</a:t>
            </a:r>
            <a:r>
              <a:rPr sz="2000" spc="-1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in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the</a:t>
            </a:r>
            <a:r>
              <a:rPr sz="2000" spc="-1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software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where</a:t>
            </a:r>
            <a:r>
              <a:rPr sz="2000" spc="-50" dirty="0">
                <a:latin typeface="Lucida Sans Unicode"/>
                <a:cs typeface="Lucida Sans Unicode"/>
              </a:rPr>
              <a:t> </a:t>
            </a:r>
            <a:r>
              <a:rPr sz="2000" spc="-25" dirty="0">
                <a:latin typeface="Lucida Sans Unicode"/>
                <a:cs typeface="Lucida Sans Unicode"/>
              </a:rPr>
              <a:t>its </a:t>
            </a:r>
            <a:r>
              <a:rPr sz="2000" dirty="0">
                <a:latin typeface="Lucida Sans Unicode"/>
                <a:cs typeface="Lucida Sans Unicode"/>
              </a:rPr>
              <a:t>behaviour</a:t>
            </a:r>
            <a:r>
              <a:rPr sz="2000" spc="-6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is</a:t>
            </a:r>
            <a:r>
              <a:rPr sz="2000" spc="-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incorrect</a:t>
            </a:r>
            <a:r>
              <a:rPr sz="2000" spc="-5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or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not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in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conformance</a:t>
            </a:r>
            <a:r>
              <a:rPr sz="2000" spc="-6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with</a:t>
            </a:r>
            <a:r>
              <a:rPr sz="2000" spc="-25" dirty="0">
                <a:latin typeface="Lucida Sans Unicode"/>
                <a:cs typeface="Lucida Sans Unicode"/>
              </a:rPr>
              <a:t> its </a:t>
            </a:r>
            <a:r>
              <a:rPr sz="2000" spc="-10" dirty="0">
                <a:latin typeface="Lucida Sans Unicode"/>
                <a:cs typeface="Lucida Sans Unicode"/>
              </a:rPr>
              <a:t>specification;</a:t>
            </a:r>
            <a:endParaRPr sz="2000">
              <a:latin typeface="Lucida Sans Unicode"/>
              <a:cs typeface="Lucida Sans Unicode"/>
            </a:endParaRPr>
          </a:p>
          <a:p>
            <a:pPr marL="524510" marR="182880" lvl="1" indent="-229235">
              <a:lnSpc>
                <a:spcPct val="100000"/>
              </a:lnSpc>
              <a:spcBef>
                <a:spcPts val="30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A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successful</a:t>
            </a:r>
            <a:r>
              <a:rPr sz="2000" spc="-4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test</a:t>
            </a:r>
            <a:r>
              <a:rPr sz="2000" spc="1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is</a:t>
            </a:r>
            <a:r>
              <a:rPr sz="2000" spc="-1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</a:t>
            </a:r>
            <a:r>
              <a:rPr sz="2000" spc="-1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test</a:t>
            </a:r>
            <a:r>
              <a:rPr sz="2000" spc="-1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that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makes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the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system</a:t>
            </a:r>
            <a:r>
              <a:rPr sz="2000" spc="-10" dirty="0">
                <a:latin typeface="Lucida Sans Unicode"/>
                <a:cs typeface="Lucida Sans Unicode"/>
              </a:rPr>
              <a:t> perform </a:t>
            </a:r>
            <a:r>
              <a:rPr sz="2000" dirty="0">
                <a:latin typeface="Lucida Sans Unicode"/>
                <a:cs typeface="Lucida Sans Unicode"/>
              </a:rPr>
              <a:t>incorrectly</a:t>
            </a:r>
            <a:r>
              <a:rPr sz="2000" spc="-5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and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so</a:t>
            </a:r>
            <a:r>
              <a:rPr sz="2000" spc="-1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exposes</a:t>
            </a:r>
            <a:r>
              <a:rPr sz="2000" spc="-1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defect</a:t>
            </a:r>
            <a:r>
              <a:rPr sz="2000" spc="-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in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the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system.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923" y="571500"/>
            <a:ext cx="5509259" cy="5486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923" y="566927"/>
            <a:ext cx="7306056" cy="55321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04800" y="1981200"/>
            <a:ext cx="8458200" cy="3505200"/>
            <a:chOff x="304800" y="1981200"/>
            <a:chExt cx="8458200" cy="3505200"/>
          </a:xfrm>
        </p:grpSpPr>
        <p:sp>
          <p:nvSpPr>
            <p:cNvPr id="4" name="object 4"/>
            <p:cNvSpPr/>
            <p:nvPr/>
          </p:nvSpPr>
          <p:spPr>
            <a:xfrm>
              <a:off x="304800" y="1981200"/>
              <a:ext cx="8458200" cy="3505200"/>
            </a:xfrm>
            <a:custGeom>
              <a:avLst/>
              <a:gdLst/>
              <a:ahLst/>
              <a:cxnLst/>
              <a:rect l="l" t="t" r="r" b="b"/>
              <a:pathLst>
                <a:path w="8458200" h="3505200">
                  <a:moveTo>
                    <a:pt x="8458200" y="0"/>
                  </a:moveTo>
                  <a:lnTo>
                    <a:pt x="0" y="0"/>
                  </a:lnTo>
                  <a:lnTo>
                    <a:pt x="0" y="3505200"/>
                  </a:lnTo>
                  <a:lnTo>
                    <a:pt x="8458200" y="350520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2819400"/>
              <a:ext cx="8077200" cy="169545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058" y="1469212"/>
            <a:ext cx="7882255" cy="3552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Only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exhaustive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show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program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free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from</a:t>
            </a:r>
            <a:r>
              <a:rPr sz="2400" spc="-10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defects.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However,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exhaustive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is </a:t>
            </a:r>
            <a:r>
              <a:rPr sz="2400" spc="-10" dirty="0">
                <a:latin typeface="Lucida Sans Unicode"/>
                <a:cs typeface="Lucida Sans Unicode"/>
              </a:rPr>
              <a:t>impossible,</a:t>
            </a:r>
            <a:endParaRPr sz="2400">
              <a:latin typeface="Lucida Sans Unicode"/>
              <a:cs typeface="Lucida Sans Unicode"/>
            </a:endParaRPr>
          </a:p>
          <a:p>
            <a:pPr marL="268605" marR="184785" indent="-256540">
              <a:lnSpc>
                <a:spcPct val="100000"/>
              </a:lnSpc>
              <a:spcBef>
                <a:spcPts val="409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policies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define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approach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used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455" dirty="0">
                <a:latin typeface="Lucida Sans Unicode"/>
                <a:cs typeface="Lucida Sans Unicode"/>
              </a:rPr>
              <a:t>in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selecting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system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tests:</a:t>
            </a:r>
            <a:endParaRPr sz="24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355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All</a:t>
            </a:r>
            <a:r>
              <a:rPr sz="2000" spc="-4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functions</a:t>
            </a:r>
            <a:r>
              <a:rPr sz="2000" spc="-6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accessed</a:t>
            </a:r>
            <a:r>
              <a:rPr sz="2000" spc="-4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through</a:t>
            </a:r>
            <a:r>
              <a:rPr sz="2000" spc="-5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menus</a:t>
            </a:r>
            <a:r>
              <a:rPr sz="2000" spc="-4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should</a:t>
            </a:r>
            <a:r>
              <a:rPr sz="2000" spc="-4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be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tested;</a:t>
            </a:r>
            <a:endParaRPr sz="2000">
              <a:latin typeface="Lucida Sans Unicode"/>
              <a:cs typeface="Lucida Sans Unicode"/>
            </a:endParaRPr>
          </a:p>
          <a:p>
            <a:pPr marL="524510" marR="628015" lvl="1" indent="-228600">
              <a:lnSpc>
                <a:spcPct val="100000"/>
              </a:lnSpc>
              <a:spcBef>
                <a:spcPts val="30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Combinations</a:t>
            </a:r>
            <a:r>
              <a:rPr sz="2000" spc="-7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of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functions</a:t>
            </a:r>
            <a:r>
              <a:rPr sz="2000" spc="-6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accessed</a:t>
            </a:r>
            <a:r>
              <a:rPr sz="2000" spc="-5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through</a:t>
            </a:r>
            <a:r>
              <a:rPr sz="2000" spc="-5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the</a:t>
            </a:r>
            <a:r>
              <a:rPr sz="2000" spc="-45" dirty="0">
                <a:latin typeface="Lucida Sans Unicode"/>
                <a:cs typeface="Lucida Sans Unicode"/>
              </a:rPr>
              <a:t> </a:t>
            </a:r>
            <a:r>
              <a:rPr sz="2000" spc="-20" dirty="0">
                <a:latin typeface="Lucida Sans Unicode"/>
                <a:cs typeface="Lucida Sans Unicode"/>
              </a:rPr>
              <a:t>same </a:t>
            </a:r>
            <a:r>
              <a:rPr sz="2000" dirty="0">
                <a:latin typeface="Lucida Sans Unicode"/>
                <a:cs typeface="Lucida Sans Unicode"/>
              </a:rPr>
              <a:t>menu</a:t>
            </a:r>
            <a:r>
              <a:rPr sz="2000" spc="-5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should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be</a:t>
            </a:r>
            <a:r>
              <a:rPr sz="2000" spc="-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tested;</a:t>
            </a:r>
            <a:endParaRPr sz="20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30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Where</a:t>
            </a:r>
            <a:r>
              <a:rPr sz="2000" spc="-6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user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input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is</a:t>
            </a:r>
            <a:r>
              <a:rPr sz="2000" spc="-1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required,</a:t>
            </a:r>
            <a:r>
              <a:rPr sz="2000" spc="-4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all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functions</a:t>
            </a:r>
            <a:r>
              <a:rPr sz="2000" spc="-5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must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be</a:t>
            </a:r>
            <a:r>
              <a:rPr sz="2000" spc="-10" dirty="0">
                <a:latin typeface="Lucida Sans Unicode"/>
                <a:cs typeface="Lucida Sans Unicode"/>
              </a:rPr>
              <a:t> tested</a:t>
            </a:r>
            <a:endParaRPr sz="2000">
              <a:latin typeface="Lucida Sans Unicode"/>
              <a:cs typeface="Lucida Sans Unicode"/>
            </a:endParaRPr>
          </a:p>
          <a:p>
            <a:pPr marL="524510">
              <a:lnSpc>
                <a:spcPct val="100000"/>
              </a:lnSpc>
            </a:pPr>
            <a:r>
              <a:rPr sz="2000" dirty="0">
                <a:latin typeface="Lucida Sans Unicode"/>
                <a:cs typeface="Lucida Sans Unicode"/>
              </a:rPr>
              <a:t>with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correct</a:t>
            </a:r>
            <a:r>
              <a:rPr sz="2000" spc="-4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and</a:t>
            </a:r>
            <a:r>
              <a:rPr sz="2000" spc="-1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incorrect</a:t>
            </a:r>
            <a:r>
              <a:rPr sz="2000" spc="-60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input.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1" y="571500"/>
            <a:ext cx="3977640" cy="5486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33829"/>
            <a:ext cx="7586980" cy="368172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68605" marR="5080" indent="-256540">
              <a:lnSpc>
                <a:spcPts val="2920"/>
              </a:lnSpc>
              <a:spcBef>
                <a:spcPts val="459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Involves</a:t>
            </a:r>
            <a:r>
              <a:rPr sz="2700" spc="-8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integrating</a:t>
            </a:r>
            <a:r>
              <a:rPr sz="2700" spc="-8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components</a:t>
            </a:r>
            <a:r>
              <a:rPr sz="2700" spc="-6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create</a:t>
            </a:r>
            <a:r>
              <a:rPr sz="2700" spc="-75" dirty="0">
                <a:latin typeface="Lucida Sans Unicode"/>
                <a:cs typeface="Lucida Sans Unicode"/>
              </a:rPr>
              <a:t> </a:t>
            </a:r>
            <a:r>
              <a:rPr sz="2700" spc="-1295" dirty="0">
                <a:latin typeface="Lucida Sans Unicode"/>
                <a:cs typeface="Lucida Sans Unicode"/>
              </a:rPr>
              <a:t>a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system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or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sub-system.</a:t>
            </a:r>
            <a:endParaRPr sz="2700">
              <a:latin typeface="Lucida Sans Unicode"/>
              <a:cs typeface="Lucida Sans Unicode"/>
            </a:endParaRPr>
          </a:p>
          <a:p>
            <a:pPr marL="268605" marR="867410" indent="-256540">
              <a:lnSpc>
                <a:spcPts val="2920"/>
              </a:lnSpc>
              <a:spcBef>
                <a:spcPts val="40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May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involve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testing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an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increment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spc="-650" dirty="0">
                <a:latin typeface="Lucida Sans Unicode"/>
                <a:cs typeface="Lucida Sans Unicode"/>
              </a:rPr>
              <a:t>be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delivered</a:t>
            </a:r>
            <a:r>
              <a:rPr sz="2700" spc="-6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customer.</a:t>
            </a:r>
            <a:endParaRPr sz="2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268605" algn="l"/>
              </a:tabLst>
            </a:pPr>
            <a:r>
              <a:rPr sz="1800" spc="153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700" spc="-10" dirty="0">
                <a:latin typeface="Lucida Sans Unicode"/>
                <a:cs typeface="Lucida Sans Unicode"/>
              </a:rPr>
              <a:t>Two</a:t>
            </a:r>
            <a:r>
              <a:rPr sz="2700" spc="-5" dirty="0">
                <a:latin typeface="Lucida Sans Unicode"/>
                <a:cs typeface="Lucida Sans Unicode"/>
              </a:rPr>
              <a:t> phases:</a:t>
            </a:r>
            <a:endParaRPr sz="2700">
              <a:latin typeface="Lucida Sans Unicode"/>
              <a:cs typeface="Lucida Sans Unicode"/>
            </a:endParaRPr>
          </a:p>
          <a:p>
            <a:pPr marL="524510" marR="51435" lvl="1" indent="-229235">
              <a:lnSpc>
                <a:spcPct val="90000"/>
              </a:lnSpc>
              <a:spcBef>
                <a:spcPts val="35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solidFill>
                  <a:srgbClr val="FF0000"/>
                </a:solidFill>
                <a:latin typeface="Lucida Sans Unicode"/>
                <a:cs typeface="Lucida Sans Unicode"/>
              </a:rPr>
              <a:t>Integration</a:t>
            </a:r>
            <a:r>
              <a:rPr sz="2300" spc="-7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FF0000"/>
                </a:solidFill>
                <a:latin typeface="Lucida Sans Unicode"/>
                <a:cs typeface="Lucida Sans Unicode"/>
              </a:rPr>
              <a:t>testing</a:t>
            </a:r>
            <a:r>
              <a:rPr sz="2300" spc="-4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-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test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team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have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access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to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5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system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source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code.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system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is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tested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as </a:t>
            </a:r>
            <a:r>
              <a:rPr sz="2300" dirty="0">
                <a:latin typeface="Lucida Sans Unicode"/>
                <a:cs typeface="Lucida Sans Unicode"/>
              </a:rPr>
              <a:t>components</a:t>
            </a:r>
            <a:r>
              <a:rPr sz="2300" spc="-7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are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integrated.</a:t>
            </a:r>
            <a:endParaRPr sz="2300">
              <a:latin typeface="Lucida Sans Unicode"/>
              <a:cs typeface="Lucida Sans Unicode"/>
            </a:endParaRPr>
          </a:p>
          <a:p>
            <a:pPr marL="524510" marR="114300" lvl="1" indent="-229235">
              <a:lnSpc>
                <a:spcPts val="2480"/>
              </a:lnSpc>
              <a:spcBef>
                <a:spcPts val="34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solidFill>
                  <a:srgbClr val="FF0000"/>
                </a:solidFill>
                <a:latin typeface="Lucida Sans Unicode"/>
                <a:cs typeface="Lucida Sans Unicode"/>
              </a:rPr>
              <a:t>Release</a:t>
            </a:r>
            <a:r>
              <a:rPr sz="2300" spc="-60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solidFill>
                  <a:srgbClr val="FF0000"/>
                </a:solidFill>
                <a:latin typeface="Lucida Sans Unicode"/>
                <a:cs typeface="Lucida Sans Unicode"/>
              </a:rPr>
              <a:t>testing</a:t>
            </a:r>
            <a:r>
              <a:rPr sz="2300" spc="-55" dirty="0">
                <a:solidFill>
                  <a:srgbClr val="FF0000"/>
                </a:solidFill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-</a:t>
            </a:r>
            <a:r>
              <a:rPr sz="2300" spc="-6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test</a:t>
            </a:r>
            <a:r>
              <a:rPr sz="2300" spc="-5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team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test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5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complete </a:t>
            </a:r>
            <a:r>
              <a:rPr sz="2300" dirty="0">
                <a:latin typeface="Lucida Sans Unicode"/>
                <a:cs typeface="Lucida Sans Unicode"/>
              </a:rPr>
              <a:t>system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to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be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delivered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as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black-</a:t>
            </a:r>
            <a:r>
              <a:rPr sz="2300" spc="-20" dirty="0">
                <a:latin typeface="Lucida Sans Unicode"/>
                <a:cs typeface="Lucida Sans Unicode"/>
              </a:rPr>
              <a:t>box.</a:t>
            </a:r>
            <a:endParaRPr sz="23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85216"/>
            <a:ext cx="3680459" cy="5349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33829"/>
            <a:ext cx="7840980" cy="41509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68605" marR="168910" indent="-256540">
              <a:lnSpc>
                <a:spcPct val="90000"/>
              </a:lnSpc>
              <a:spcBef>
                <a:spcPts val="42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Involves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building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system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from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spc="-25" dirty="0">
                <a:latin typeface="Lucida Sans Unicode"/>
                <a:cs typeface="Lucida Sans Unicode"/>
              </a:rPr>
              <a:t>its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components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and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testing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it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for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problems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that </a:t>
            </a:r>
            <a:r>
              <a:rPr sz="2700" dirty="0">
                <a:latin typeface="Lucida Sans Unicode"/>
                <a:cs typeface="Lucida Sans Unicode"/>
              </a:rPr>
              <a:t>arise</a:t>
            </a:r>
            <a:r>
              <a:rPr sz="2700" spc="-8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from</a:t>
            </a:r>
            <a:r>
              <a:rPr sz="2700" spc="-6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component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interactions.</a:t>
            </a:r>
            <a:endParaRPr sz="2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  <a:tabLst>
                <a:tab pos="268605" algn="l"/>
              </a:tabLst>
            </a:pPr>
            <a:r>
              <a:rPr sz="1800" spc="153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700" spc="-20" dirty="0">
                <a:latin typeface="Lucida Sans Unicode"/>
                <a:cs typeface="Lucida Sans Unicode"/>
              </a:rPr>
              <a:t>Top-</a:t>
            </a:r>
            <a:r>
              <a:rPr sz="2700" dirty="0">
                <a:latin typeface="Lucida Sans Unicode"/>
                <a:cs typeface="Lucida Sans Unicode"/>
              </a:rPr>
              <a:t>down </a:t>
            </a:r>
            <a:r>
              <a:rPr sz="2700" spc="-10" dirty="0">
                <a:latin typeface="Lucida Sans Unicode"/>
                <a:cs typeface="Lucida Sans Unicode"/>
              </a:rPr>
              <a:t>integration</a:t>
            </a:r>
            <a:endParaRPr sz="2700">
              <a:latin typeface="Lucida Sans Unicode"/>
              <a:cs typeface="Lucida Sans Unicode"/>
            </a:endParaRPr>
          </a:p>
          <a:p>
            <a:pPr marL="524510" marR="65405" lvl="1" indent="-229235">
              <a:lnSpc>
                <a:spcPts val="2480"/>
              </a:lnSpc>
              <a:spcBef>
                <a:spcPts val="38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latin typeface="Lucida Sans Unicode"/>
                <a:cs typeface="Lucida Sans Unicode"/>
              </a:rPr>
              <a:t>Develop</a:t>
            </a:r>
            <a:r>
              <a:rPr sz="2300" spc="-6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skeleton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of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system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and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populate</a:t>
            </a:r>
            <a:r>
              <a:rPr sz="2300" spc="-50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it </a:t>
            </a:r>
            <a:r>
              <a:rPr sz="2300" dirty="0">
                <a:latin typeface="Lucida Sans Unicode"/>
                <a:cs typeface="Lucida Sans Unicode"/>
              </a:rPr>
              <a:t>with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components.</a:t>
            </a:r>
            <a:endParaRPr sz="23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68605" algn="l"/>
              </a:tabLst>
            </a:pPr>
            <a:r>
              <a:rPr sz="1800" spc="153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700" spc="-20" dirty="0">
                <a:latin typeface="Lucida Sans Unicode"/>
                <a:cs typeface="Lucida Sans Unicode"/>
              </a:rPr>
              <a:t>Bottom-</a:t>
            </a:r>
            <a:r>
              <a:rPr sz="2700" spc="-5" dirty="0">
                <a:latin typeface="Lucida Sans Unicode"/>
                <a:cs typeface="Lucida Sans Unicode"/>
              </a:rPr>
              <a:t>u</a:t>
            </a:r>
            <a:r>
              <a:rPr sz="2700" dirty="0">
                <a:latin typeface="Lucida Sans Unicode"/>
                <a:cs typeface="Lucida Sans Unicode"/>
              </a:rPr>
              <a:t>p</a:t>
            </a:r>
            <a:r>
              <a:rPr sz="2700" spc="1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integration</a:t>
            </a:r>
            <a:endParaRPr sz="2700">
              <a:latin typeface="Lucida Sans Unicode"/>
              <a:cs typeface="Lucida Sans Unicode"/>
            </a:endParaRPr>
          </a:p>
          <a:p>
            <a:pPr marL="524510" marR="815975" lvl="1" indent="-229235">
              <a:lnSpc>
                <a:spcPts val="2480"/>
              </a:lnSpc>
              <a:spcBef>
                <a:spcPts val="39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latin typeface="Lucida Sans Unicode"/>
                <a:cs typeface="Lucida Sans Unicode"/>
              </a:rPr>
              <a:t>Integrate</a:t>
            </a:r>
            <a:r>
              <a:rPr sz="2300" spc="-5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infrastructure</a:t>
            </a:r>
            <a:r>
              <a:rPr sz="2300" spc="-7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components</a:t>
            </a:r>
            <a:r>
              <a:rPr sz="2300" spc="-5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then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add </a:t>
            </a:r>
            <a:r>
              <a:rPr sz="2300" dirty="0">
                <a:latin typeface="Lucida Sans Unicode"/>
                <a:cs typeface="Lucida Sans Unicode"/>
              </a:rPr>
              <a:t>functional</a:t>
            </a:r>
            <a:r>
              <a:rPr sz="2300" spc="-8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components.</a:t>
            </a:r>
            <a:endParaRPr sz="2300">
              <a:latin typeface="Lucida Sans Unicode"/>
              <a:cs typeface="Lucida Sans Unicode"/>
            </a:endParaRPr>
          </a:p>
          <a:p>
            <a:pPr marL="268605" marR="5080" indent="-256540">
              <a:lnSpc>
                <a:spcPts val="2920"/>
              </a:lnSpc>
              <a:spcBef>
                <a:spcPts val="35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simplify</a:t>
            </a:r>
            <a:r>
              <a:rPr sz="2700" spc="-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error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localisation,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systems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should</a:t>
            </a:r>
            <a:r>
              <a:rPr sz="2700" spc="6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be</a:t>
            </a:r>
            <a:r>
              <a:rPr sz="2700" spc="-8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incrementally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integrated.</a:t>
            </a:r>
            <a:endParaRPr sz="27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72" y="594359"/>
            <a:ext cx="4640580" cy="5257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1459"/>
            <a:ext cx="6912609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Manual</a:t>
            </a:r>
            <a:r>
              <a:rPr sz="3900" b="1" spc="-1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spc="-5" dirty="0">
                <a:solidFill>
                  <a:srgbClr val="330066"/>
                </a:solidFill>
                <a:latin typeface="Arial"/>
                <a:cs typeface="Arial"/>
              </a:rPr>
              <a:t>vs</a:t>
            </a:r>
            <a:r>
              <a:rPr sz="3900" b="1" spc="-1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Automated</a:t>
            </a:r>
            <a:r>
              <a:rPr sz="3900" b="1" spc="-2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testing</a:t>
            </a:r>
            <a:endParaRPr sz="3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742059"/>
            <a:ext cx="8074659" cy="447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3000" dirty="0">
                <a:latin typeface="Arial MT"/>
                <a:cs typeface="Arial MT"/>
              </a:rPr>
              <a:t>Testing </a:t>
            </a:r>
            <a:r>
              <a:rPr sz="3000" spc="-5" dirty="0">
                <a:latin typeface="Arial MT"/>
                <a:cs typeface="Arial MT"/>
              </a:rPr>
              <a:t>can </a:t>
            </a:r>
            <a:r>
              <a:rPr sz="3000" spc="-10" dirty="0">
                <a:latin typeface="Arial MT"/>
                <a:cs typeface="Arial MT"/>
              </a:rPr>
              <a:t>either </a:t>
            </a:r>
            <a:r>
              <a:rPr sz="3000" spc="-5" dirty="0">
                <a:latin typeface="Arial MT"/>
                <a:cs typeface="Arial MT"/>
              </a:rPr>
              <a:t>be done manually or using </a:t>
            </a:r>
            <a:r>
              <a:rPr sz="300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an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automated testing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tool:</a:t>
            </a:r>
            <a:endParaRPr sz="3000">
              <a:latin typeface="Arial MT"/>
              <a:cs typeface="Arial MT"/>
            </a:endParaRPr>
          </a:p>
          <a:p>
            <a:pPr marL="704850" marR="6350" lvl="1" indent="-347980" algn="just">
              <a:lnSpc>
                <a:spcPct val="100000"/>
              </a:lnSpc>
              <a:spcBef>
                <a:spcPts val="640"/>
              </a:spcBef>
              <a:buClr>
                <a:srgbClr val="669999"/>
              </a:buClr>
              <a:buSzPct val="69230"/>
              <a:buFont typeface="Wingdings"/>
              <a:buChar char=""/>
              <a:tabLst>
                <a:tab pos="705485" algn="l"/>
              </a:tabLst>
            </a:pPr>
            <a:r>
              <a:rPr sz="2600" b="1" dirty="0">
                <a:latin typeface="Arial"/>
                <a:cs typeface="Arial"/>
              </a:rPr>
              <a:t>Manual </a:t>
            </a:r>
            <a:r>
              <a:rPr sz="2600" dirty="0">
                <a:latin typeface="Arial MT"/>
                <a:cs typeface="Arial MT"/>
              </a:rPr>
              <a:t>- </a:t>
            </a:r>
            <a:r>
              <a:rPr sz="2600" spc="-5" dirty="0">
                <a:latin typeface="Arial MT"/>
                <a:cs typeface="Arial MT"/>
              </a:rPr>
              <a:t>This </a:t>
            </a:r>
            <a:r>
              <a:rPr sz="2600" dirty="0">
                <a:latin typeface="Arial MT"/>
                <a:cs typeface="Arial MT"/>
              </a:rPr>
              <a:t>testing </a:t>
            </a:r>
            <a:r>
              <a:rPr sz="2600" spc="-5" dirty="0">
                <a:latin typeface="Arial MT"/>
                <a:cs typeface="Arial MT"/>
              </a:rPr>
              <a:t>is </a:t>
            </a:r>
            <a:r>
              <a:rPr sz="2600" dirty="0">
                <a:latin typeface="Arial MT"/>
                <a:cs typeface="Arial MT"/>
              </a:rPr>
              <a:t>performed without taking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help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automated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testing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tools.</a:t>
            </a:r>
            <a:r>
              <a:rPr sz="2600" spc="5" dirty="0">
                <a:latin typeface="Arial MT"/>
                <a:cs typeface="Arial MT"/>
              </a:rPr>
              <a:t> The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software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tester prepares test cases for different sections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 </a:t>
            </a:r>
            <a:r>
              <a:rPr sz="2600" spc="-5" dirty="0">
                <a:latin typeface="Arial MT"/>
                <a:cs typeface="Arial MT"/>
              </a:rPr>
              <a:t>levels </a:t>
            </a:r>
            <a:r>
              <a:rPr sz="2600" dirty="0">
                <a:latin typeface="Arial MT"/>
                <a:cs typeface="Arial MT"/>
              </a:rPr>
              <a:t>of the code, executes the tests and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reports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result</a:t>
            </a:r>
            <a:r>
              <a:rPr sz="2600" spc="-5" dirty="0">
                <a:latin typeface="Arial MT"/>
                <a:cs typeface="Arial MT"/>
              </a:rPr>
              <a:t> to</a:t>
            </a:r>
            <a:r>
              <a:rPr sz="2600" dirty="0">
                <a:latin typeface="Arial MT"/>
                <a:cs typeface="Arial MT"/>
              </a:rPr>
              <a:t> the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manager.</a:t>
            </a:r>
            <a:endParaRPr sz="2600">
              <a:latin typeface="Arial MT"/>
              <a:cs typeface="Arial MT"/>
            </a:endParaRPr>
          </a:p>
          <a:p>
            <a:pPr marL="1000125" marR="5715" lvl="2" indent="-294640" algn="just">
              <a:lnSpc>
                <a:spcPct val="100000"/>
              </a:lnSpc>
              <a:spcBef>
                <a:spcPts val="555"/>
              </a:spcBef>
              <a:buClr>
                <a:srgbClr val="CCCC00"/>
              </a:buClr>
              <a:buSzPct val="69565"/>
              <a:buFont typeface="Wingdings"/>
              <a:buChar char=""/>
              <a:tabLst>
                <a:tab pos="1000760" algn="l"/>
              </a:tabLst>
            </a:pPr>
            <a:r>
              <a:rPr sz="2300" spc="-5" dirty="0">
                <a:latin typeface="Arial MT"/>
                <a:cs typeface="Arial MT"/>
              </a:rPr>
              <a:t>Manual testing </a:t>
            </a:r>
            <a:r>
              <a:rPr sz="2300" dirty="0">
                <a:latin typeface="Arial MT"/>
                <a:cs typeface="Arial MT"/>
              </a:rPr>
              <a:t>is </a:t>
            </a:r>
            <a:r>
              <a:rPr sz="2300" spc="-5" dirty="0">
                <a:latin typeface="Arial MT"/>
                <a:cs typeface="Arial MT"/>
              </a:rPr>
              <a:t>time and resource consuming. The </a:t>
            </a:r>
            <a:r>
              <a:rPr sz="2300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tester needs to confirm whether or </a:t>
            </a:r>
            <a:r>
              <a:rPr sz="2300" dirty="0">
                <a:latin typeface="Arial MT"/>
                <a:cs typeface="Arial MT"/>
              </a:rPr>
              <a:t>not right </a:t>
            </a:r>
            <a:r>
              <a:rPr sz="2300" spc="-10" dirty="0">
                <a:latin typeface="Arial MT"/>
                <a:cs typeface="Arial MT"/>
              </a:rPr>
              <a:t>test </a:t>
            </a:r>
            <a:r>
              <a:rPr sz="2300" dirty="0">
                <a:latin typeface="Arial MT"/>
                <a:cs typeface="Arial MT"/>
              </a:rPr>
              <a:t>cases </a:t>
            </a:r>
            <a:r>
              <a:rPr sz="2300" spc="5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are</a:t>
            </a:r>
            <a:r>
              <a:rPr sz="2300" dirty="0">
                <a:latin typeface="Arial MT"/>
                <a:cs typeface="Arial MT"/>
              </a:rPr>
              <a:t> used.</a:t>
            </a:r>
            <a:r>
              <a:rPr sz="2300" spc="5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Major</a:t>
            </a:r>
            <a:r>
              <a:rPr sz="2300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portion</a:t>
            </a:r>
            <a:r>
              <a:rPr sz="2300" dirty="0">
                <a:latin typeface="Arial MT"/>
                <a:cs typeface="Arial MT"/>
              </a:rPr>
              <a:t> of</a:t>
            </a:r>
            <a:r>
              <a:rPr sz="2300" spc="5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testing</a:t>
            </a:r>
            <a:r>
              <a:rPr sz="2300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involves</a:t>
            </a:r>
            <a:r>
              <a:rPr sz="230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manual </a:t>
            </a:r>
            <a:r>
              <a:rPr sz="2300" spc="-6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testing.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4288" y="1797557"/>
            <a:ext cx="7272020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0045" marR="5080" indent="-347980" algn="just">
              <a:lnSpc>
                <a:spcPct val="100000"/>
              </a:lnSpc>
              <a:spcBef>
                <a:spcPts val="105"/>
              </a:spcBef>
              <a:buClr>
                <a:srgbClr val="669999"/>
              </a:buClr>
              <a:buSzPct val="69230"/>
              <a:buFont typeface="Wingdings"/>
              <a:buChar char=""/>
              <a:tabLst>
                <a:tab pos="360680" algn="l"/>
              </a:tabLst>
            </a:pPr>
            <a:r>
              <a:rPr sz="2600" b="1" dirty="0">
                <a:latin typeface="Arial"/>
                <a:cs typeface="Arial"/>
              </a:rPr>
              <a:t>Automated </a:t>
            </a:r>
            <a:r>
              <a:rPr sz="2600" dirty="0">
                <a:latin typeface="Arial MT"/>
                <a:cs typeface="Arial MT"/>
              </a:rPr>
              <a:t>This </a:t>
            </a:r>
            <a:r>
              <a:rPr sz="2600" spc="-5" dirty="0">
                <a:latin typeface="Arial MT"/>
                <a:cs typeface="Arial MT"/>
              </a:rPr>
              <a:t>testing is </a:t>
            </a:r>
            <a:r>
              <a:rPr sz="2600" dirty="0">
                <a:latin typeface="Arial MT"/>
                <a:cs typeface="Arial MT"/>
              </a:rPr>
              <a:t>a testing procedure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done with aid of automated testing tools. </a:t>
            </a:r>
            <a:r>
              <a:rPr sz="2600" spc="5" dirty="0">
                <a:latin typeface="Arial MT"/>
                <a:cs typeface="Arial MT"/>
              </a:rPr>
              <a:t>The 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limitations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with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manual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testing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can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overcome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using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automated test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tools.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903859"/>
            <a:ext cx="6915784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Manual </a:t>
            </a:r>
            <a:r>
              <a:rPr sz="3900" b="1" spc="-5" dirty="0">
                <a:solidFill>
                  <a:srgbClr val="330066"/>
                </a:solidFill>
                <a:latin typeface="Arial"/>
                <a:cs typeface="Arial"/>
              </a:rPr>
              <a:t>vs</a:t>
            </a:r>
            <a:r>
              <a:rPr sz="3900" b="1" spc="-1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Automated</a:t>
            </a:r>
            <a:r>
              <a:rPr sz="3900" b="1" spc="-1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testing</a:t>
            </a:r>
            <a:endParaRPr sz="3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3933" y="6381756"/>
            <a:ext cx="8242934" cy="360680"/>
          </a:xfrm>
          <a:custGeom>
            <a:avLst/>
            <a:gdLst/>
            <a:ahLst/>
            <a:cxnLst/>
            <a:rect l="l" t="t" r="r" b="b"/>
            <a:pathLst>
              <a:path w="8242934" h="360679">
                <a:moveTo>
                  <a:pt x="8242808" y="0"/>
                </a:moveTo>
                <a:lnTo>
                  <a:pt x="0" y="0"/>
                </a:lnTo>
                <a:lnTo>
                  <a:pt x="0" y="360362"/>
                </a:lnTo>
                <a:lnTo>
                  <a:pt x="8242808" y="360362"/>
                </a:lnTo>
                <a:lnTo>
                  <a:pt x="8242808" y="0"/>
                </a:lnTo>
                <a:close/>
              </a:path>
            </a:pathLst>
          </a:custGeom>
          <a:solidFill>
            <a:srgbClr val="F3F3D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571500"/>
            <a:ext cx="7790688" cy="54863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38200" y="1371600"/>
            <a:ext cx="7924800" cy="4267200"/>
            <a:chOff x="838200" y="1371600"/>
            <a:chExt cx="7924800" cy="4267200"/>
          </a:xfrm>
        </p:grpSpPr>
        <p:sp>
          <p:nvSpPr>
            <p:cNvPr id="4" name="object 4"/>
            <p:cNvSpPr/>
            <p:nvPr/>
          </p:nvSpPr>
          <p:spPr>
            <a:xfrm>
              <a:off x="838200" y="1371600"/>
              <a:ext cx="7924800" cy="4267200"/>
            </a:xfrm>
            <a:custGeom>
              <a:avLst/>
              <a:gdLst/>
              <a:ahLst/>
              <a:cxnLst/>
              <a:rect l="l" t="t" r="r" b="b"/>
              <a:pathLst>
                <a:path w="7924800" h="4267200">
                  <a:moveTo>
                    <a:pt x="79248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7924800" y="4267200"/>
                  </a:lnTo>
                  <a:lnTo>
                    <a:pt x="79248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37710" y="3368939"/>
              <a:ext cx="447675" cy="447040"/>
            </a:xfrm>
            <a:custGeom>
              <a:avLst/>
              <a:gdLst/>
              <a:ahLst/>
              <a:cxnLst/>
              <a:rect l="l" t="t" r="r" b="b"/>
              <a:pathLst>
                <a:path w="447675" h="447039">
                  <a:moveTo>
                    <a:pt x="211849" y="0"/>
                  </a:moveTo>
                  <a:lnTo>
                    <a:pt x="163080" y="5540"/>
                  </a:lnTo>
                  <a:lnTo>
                    <a:pt x="118414" y="21349"/>
                  </a:lnTo>
                  <a:lnTo>
                    <a:pt x="79090" y="46211"/>
                  </a:lnTo>
                  <a:lnTo>
                    <a:pt x="46347" y="78908"/>
                  </a:lnTo>
                  <a:lnTo>
                    <a:pt x="21425" y="118224"/>
                  </a:lnTo>
                  <a:lnTo>
                    <a:pt x="5562" y="162942"/>
                  </a:lnTo>
                  <a:lnTo>
                    <a:pt x="0" y="211846"/>
                  </a:lnTo>
                  <a:lnTo>
                    <a:pt x="4278" y="262327"/>
                  </a:lnTo>
                  <a:lnTo>
                    <a:pt x="16561" y="307875"/>
                  </a:lnTo>
                  <a:lnTo>
                    <a:pt x="36018" y="347936"/>
                  </a:lnTo>
                  <a:lnTo>
                    <a:pt x="61818" y="381955"/>
                  </a:lnTo>
                  <a:lnTo>
                    <a:pt x="93132" y="409378"/>
                  </a:lnTo>
                  <a:lnTo>
                    <a:pt x="129128" y="429652"/>
                  </a:lnTo>
                  <a:lnTo>
                    <a:pt x="168977" y="442223"/>
                  </a:lnTo>
                  <a:lnTo>
                    <a:pt x="211849" y="446537"/>
                  </a:lnTo>
                  <a:lnTo>
                    <a:pt x="262439" y="442223"/>
                  </a:lnTo>
                  <a:lnTo>
                    <a:pt x="308088" y="429652"/>
                  </a:lnTo>
                  <a:lnTo>
                    <a:pt x="348240" y="409378"/>
                  </a:lnTo>
                  <a:lnTo>
                    <a:pt x="382339" y="381955"/>
                  </a:lnTo>
                  <a:lnTo>
                    <a:pt x="409829" y="347936"/>
                  </a:lnTo>
                  <a:lnTo>
                    <a:pt x="430154" y="307875"/>
                  </a:lnTo>
                  <a:lnTo>
                    <a:pt x="442756" y="262327"/>
                  </a:lnTo>
                  <a:lnTo>
                    <a:pt x="447081" y="211846"/>
                  </a:lnTo>
                  <a:lnTo>
                    <a:pt x="442756" y="168852"/>
                  </a:lnTo>
                  <a:lnTo>
                    <a:pt x="430154" y="128945"/>
                  </a:lnTo>
                  <a:lnTo>
                    <a:pt x="409829" y="92941"/>
                  </a:lnTo>
                  <a:lnTo>
                    <a:pt x="382339" y="61656"/>
                  </a:lnTo>
                  <a:lnTo>
                    <a:pt x="348240" y="35904"/>
                  </a:lnTo>
                  <a:lnTo>
                    <a:pt x="308088" y="16500"/>
                  </a:lnTo>
                  <a:lnTo>
                    <a:pt x="262439" y="4261"/>
                  </a:lnTo>
                  <a:lnTo>
                    <a:pt x="211849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37710" y="3368939"/>
              <a:ext cx="447675" cy="447040"/>
            </a:xfrm>
            <a:custGeom>
              <a:avLst/>
              <a:gdLst/>
              <a:ahLst/>
              <a:cxnLst/>
              <a:rect l="l" t="t" r="r" b="b"/>
              <a:pathLst>
                <a:path w="447675" h="447039">
                  <a:moveTo>
                    <a:pt x="0" y="211846"/>
                  </a:moveTo>
                  <a:lnTo>
                    <a:pt x="4278" y="262327"/>
                  </a:lnTo>
                  <a:lnTo>
                    <a:pt x="16561" y="307875"/>
                  </a:lnTo>
                  <a:lnTo>
                    <a:pt x="36018" y="347936"/>
                  </a:lnTo>
                  <a:lnTo>
                    <a:pt x="61818" y="381955"/>
                  </a:lnTo>
                  <a:lnTo>
                    <a:pt x="93132" y="409378"/>
                  </a:lnTo>
                  <a:lnTo>
                    <a:pt x="129128" y="429652"/>
                  </a:lnTo>
                  <a:lnTo>
                    <a:pt x="168977" y="442223"/>
                  </a:lnTo>
                  <a:lnTo>
                    <a:pt x="211849" y="446537"/>
                  </a:lnTo>
                  <a:lnTo>
                    <a:pt x="262439" y="442223"/>
                  </a:lnTo>
                  <a:lnTo>
                    <a:pt x="308088" y="429652"/>
                  </a:lnTo>
                  <a:lnTo>
                    <a:pt x="348240" y="409378"/>
                  </a:lnTo>
                  <a:lnTo>
                    <a:pt x="382339" y="381955"/>
                  </a:lnTo>
                  <a:lnTo>
                    <a:pt x="409829" y="347936"/>
                  </a:lnTo>
                  <a:lnTo>
                    <a:pt x="430154" y="307875"/>
                  </a:lnTo>
                  <a:lnTo>
                    <a:pt x="442756" y="262327"/>
                  </a:lnTo>
                  <a:lnTo>
                    <a:pt x="447081" y="211846"/>
                  </a:lnTo>
                  <a:lnTo>
                    <a:pt x="442756" y="168852"/>
                  </a:lnTo>
                  <a:lnTo>
                    <a:pt x="430154" y="128945"/>
                  </a:lnTo>
                  <a:lnTo>
                    <a:pt x="409829" y="92941"/>
                  </a:lnTo>
                  <a:lnTo>
                    <a:pt x="382339" y="61656"/>
                  </a:lnTo>
                  <a:lnTo>
                    <a:pt x="348240" y="35904"/>
                  </a:lnTo>
                  <a:lnTo>
                    <a:pt x="308088" y="16500"/>
                  </a:lnTo>
                  <a:lnTo>
                    <a:pt x="262439" y="4261"/>
                  </a:lnTo>
                  <a:lnTo>
                    <a:pt x="211849" y="0"/>
                  </a:lnTo>
                  <a:lnTo>
                    <a:pt x="163080" y="5540"/>
                  </a:lnTo>
                  <a:lnTo>
                    <a:pt x="118414" y="21349"/>
                  </a:lnTo>
                  <a:lnTo>
                    <a:pt x="79090" y="46211"/>
                  </a:lnTo>
                  <a:lnTo>
                    <a:pt x="46347" y="78908"/>
                  </a:lnTo>
                  <a:lnTo>
                    <a:pt x="21425" y="118224"/>
                  </a:lnTo>
                  <a:lnTo>
                    <a:pt x="5562" y="162942"/>
                  </a:lnTo>
                  <a:lnTo>
                    <a:pt x="0" y="211846"/>
                  </a:lnTo>
                </a:path>
              </a:pathLst>
            </a:custGeom>
            <a:ln w="46763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37710" y="2569526"/>
              <a:ext cx="447675" cy="447040"/>
            </a:xfrm>
            <a:custGeom>
              <a:avLst/>
              <a:gdLst/>
              <a:ahLst/>
              <a:cxnLst/>
              <a:rect l="l" t="t" r="r" b="b"/>
              <a:pathLst>
                <a:path w="447675" h="447039">
                  <a:moveTo>
                    <a:pt x="211849" y="0"/>
                  </a:moveTo>
                  <a:lnTo>
                    <a:pt x="163080" y="5553"/>
                  </a:lnTo>
                  <a:lnTo>
                    <a:pt x="118414" y="21396"/>
                  </a:lnTo>
                  <a:lnTo>
                    <a:pt x="79090" y="46304"/>
                  </a:lnTo>
                  <a:lnTo>
                    <a:pt x="46347" y="79054"/>
                  </a:lnTo>
                  <a:lnTo>
                    <a:pt x="21425" y="118420"/>
                  </a:lnTo>
                  <a:lnTo>
                    <a:pt x="5562" y="163178"/>
                  </a:lnTo>
                  <a:lnTo>
                    <a:pt x="0" y="212103"/>
                  </a:lnTo>
                  <a:lnTo>
                    <a:pt x="4278" y="262576"/>
                  </a:lnTo>
                  <a:lnTo>
                    <a:pt x="16561" y="308103"/>
                  </a:lnTo>
                  <a:lnTo>
                    <a:pt x="36018" y="348133"/>
                  </a:lnTo>
                  <a:lnTo>
                    <a:pt x="61818" y="382118"/>
                  </a:lnTo>
                  <a:lnTo>
                    <a:pt x="93132" y="409507"/>
                  </a:lnTo>
                  <a:lnTo>
                    <a:pt x="129128" y="429752"/>
                  </a:lnTo>
                  <a:lnTo>
                    <a:pt x="168977" y="442301"/>
                  </a:lnTo>
                  <a:lnTo>
                    <a:pt x="211849" y="446607"/>
                  </a:lnTo>
                  <a:lnTo>
                    <a:pt x="262439" y="442301"/>
                  </a:lnTo>
                  <a:lnTo>
                    <a:pt x="308088" y="429752"/>
                  </a:lnTo>
                  <a:lnTo>
                    <a:pt x="348240" y="409507"/>
                  </a:lnTo>
                  <a:lnTo>
                    <a:pt x="382339" y="382118"/>
                  </a:lnTo>
                  <a:lnTo>
                    <a:pt x="409829" y="348133"/>
                  </a:lnTo>
                  <a:lnTo>
                    <a:pt x="430154" y="308103"/>
                  </a:lnTo>
                  <a:lnTo>
                    <a:pt x="442756" y="262576"/>
                  </a:lnTo>
                  <a:lnTo>
                    <a:pt x="447081" y="212103"/>
                  </a:lnTo>
                  <a:lnTo>
                    <a:pt x="442756" y="169090"/>
                  </a:lnTo>
                  <a:lnTo>
                    <a:pt x="430154" y="129152"/>
                  </a:lnTo>
                  <a:lnTo>
                    <a:pt x="409829" y="93106"/>
                  </a:lnTo>
                  <a:lnTo>
                    <a:pt x="382339" y="61775"/>
                  </a:lnTo>
                  <a:lnTo>
                    <a:pt x="348240" y="35979"/>
                  </a:lnTo>
                  <a:lnTo>
                    <a:pt x="308088" y="16537"/>
                  </a:lnTo>
                  <a:lnTo>
                    <a:pt x="262439" y="4271"/>
                  </a:lnTo>
                  <a:lnTo>
                    <a:pt x="211849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37710" y="2569526"/>
              <a:ext cx="447675" cy="447040"/>
            </a:xfrm>
            <a:custGeom>
              <a:avLst/>
              <a:gdLst/>
              <a:ahLst/>
              <a:cxnLst/>
              <a:rect l="l" t="t" r="r" b="b"/>
              <a:pathLst>
                <a:path w="447675" h="447039">
                  <a:moveTo>
                    <a:pt x="0" y="212103"/>
                  </a:moveTo>
                  <a:lnTo>
                    <a:pt x="4278" y="262576"/>
                  </a:lnTo>
                  <a:lnTo>
                    <a:pt x="16561" y="308103"/>
                  </a:lnTo>
                  <a:lnTo>
                    <a:pt x="36018" y="348133"/>
                  </a:lnTo>
                  <a:lnTo>
                    <a:pt x="61818" y="382118"/>
                  </a:lnTo>
                  <a:lnTo>
                    <a:pt x="93132" y="409507"/>
                  </a:lnTo>
                  <a:lnTo>
                    <a:pt x="129128" y="429752"/>
                  </a:lnTo>
                  <a:lnTo>
                    <a:pt x="168977" y="442301"/>
                  </a:lnTo>
                  <a:lnTo>
                    <a:pt x="211849" y="446607"/>
                  </a:lnTo>
                  <a:lnTo>
                    <a:pt x="262439" y="442301"/>
                  </a:lnTo>
                  <a:lnTo>
                    <a:pt x="308088" y="429752"/>
                  </a:lnTo>
                  <a:lnTo>
                    <a:pt x="348240" y="409507"/>
                  </a:lnTo>
                  <a:lnTo>
                    <a:pt x="382339" y="382118"/>
                  </a:lnTo>
                  <a:lnTo>
                    <a:pt x="409829" y="348133"/>
                  </a:lnTo>
                  <a:lnTo>
                    <a:pt x="430154" y="308103"/>
                  </a:lnTo>
                  <a:lnTo>
                    <a:pt x="442756" y="262576"/>
                  </a:lnTo>
                  <a:lnTo>
                    <a:pt x="447081" y="212103"/>
                  </a:lnTo>
                  <a:lnTo>
                    <a:pt x="442756" y="169090"/>
                  </a:lnTo>
                  <a:lnTo>
                    <a:pt x="430154" y="129152"/>
                  </a:lnTo>
                  <a:lnTo>
                    <a:pt x="409829" y="93106"/>
                  </a:lnTo>
                  <a:lnTo>
                    <a:pt x="382339" y="61775"/>
                  </a:lnTo>
                  <a:lnTo>
                    <a:pt x="348240" y="35979"/>
                  </a:lnTo>
                  <a:lnTo>
                    <a:pt x="308088" y="16537"/>
                  </a:lnTo>
                  <a:lnTo>
                    <a:pt x="262439" y="4271"/>
                  </a:lnTo>
                  <a:lnTo>
                    <a:pt x="211849" y="0"/>
                  </a:lnTo>
                  <a:lnTo>
                    <a:pt x="163080" y="5553"/>
                  </a:lnTo>
                  <a:lnTo>
                    <a:pt x="118414" y="21396"/>
                  </a:lnTo>
                  <a:lnTo>
                    <a:pt x="79090" y="46304"/>
                  </a:lnTo>
                  <a:lnTo>
                    <a:pt x="46347" y="79054"/>
                  </a:lnTo>
                  <a:lnTo>
                    <a:pt x="21425" y="118420"/>
                  </a:lnTo>
                  <a:lnTo>
                    <a:pt x="5562" y="163178"/>
                  </a:lnTo>
                  <a:lnTo>
                    <a:pt x="0" y="212103"/>
                  </a:lnTo>
                </a:path>
              </a:pathLst>
            </a:custGeom>
            <a:ln w="46763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37710" y="1770347"/>
              <a:ext cx="447675" cy="447040"/>
            </a:xfrm>
            <a:custGeom>
              <a:avLst/>
              <a:gdLst/>
              <a:ahLst/>
              <a:cxnLst/>
              <a:rect l="l" t="t" r="r" b="b"/>
              <a:pathLst>
                <a:path w="447675" h="447039">
                  <a:moveTo>
                    <a:pt x="211849" y="0"/>
                  </a:moveTo>
                  <a:lnTo>
                    <a:pt x="163080" y="5551"/>
                  </a:lnTo>
                  <a:lnTo>
                    <a:pt x="118414" y="21379"/>
                  </a:lnTo>
                  <a:lnTo>
                    <a:pt x="79090" y="46249"/>
                  </a:lnTo>
                  <a:lnTo>
                    <a:pt x="46347" y="78923"/>
                  </a:lnTo>
                  <a:lnTo>
                    <a:pt x="21425" y="118165"/>
                  </a:lnTo>
                  <a:lnTo>
                    <a:pt x="5562" y="162737"/>
                  </a:lnTo>
                  <a:lnTo>
                    <a:pt x="0" y="211403"/>
                  </a:lnTo>
                  <a:lnTo>
                    <a:pt x="4278" y="262040"/>
                  </a:lnTo>
                  <a:lnTo>
                    <a:pt x="16561" y="307709"/>
                  </a:lnTo>
                  <a:lnTo>
                    <a:pt x="36018" y="347860"/>
                  </a:lnTo>
                  <a:lnTo>
                    <a:pt x="61818" y="381943"/>
                  </a:lnTo>
                  <a:lnTo>
                    <a:pt x="93132" y="409409"/>
                  </a:lnTo>
                  <a:lnTo>
                    <a:pt x="129128" y="429708"/>
                  </a:lnTo>
                  <a:lnTo>
                    <a:pt x="168977" y="442290"/>
                  </a:lnTo>
                  <a:lnTo>
                    <a:pt x="211849" y="446607"/>
                  </a:lnTo>
                  <a:lnTo>
                    <a:pt x="262439" y="442290"/>
                  </a:lnTo>
                  <a:lnTo>
                    <a:pt x="308088" y="429708"/>
                  </a:lnTo>
                  <a:lnTo>
                    <a:pt x="348240" y="409409"/>
                  </a:lnTo>
                  <a:lnTo>
                    <a:pt x="382339" y="381943"/>
                  </a:lnTo>
                  <a:lnTo>
                    <a:pt x="409829" y="347860"/>
                  </a:lnTo>
                  <a:lnTo>
                    <a:pt x="430154" y="307709"/>
                  </a:lnTo>
                  <a:lnTo>
                    <a:pt x="442756" y="262040"/>
                  </a:lnTo>
                  <a:lnTo>
                    <a:pt x="447081" y="211403"/>
                  </a:lnTo>
                  <a:lnTo>
                    <a:pt x="442756" y="168622"/>
                  </a:lnTo>
                  <a:lnTo>
                    <a:pt x="430154" y="128856"/>
                  </a:lnTo>
                  <a:lnTo>
                    <a:pt x="409829" y="92936"/>
                  </a:lnTo>
                  <a:lnTo>
                    <a:pt x="382339" y="61688"/>
                  </a:lnTo>
                  <a:lnTo>
                    <a:pt x="348240" y="35942"/>
                  </a:lnTo>
                  <a:lnTo>
                    <a:pt x="308088" y="16526"/>
                  </a:lnTo>
                  <a:lnTo>
                    <a:pt x="262439" y="4269"/>
                  </a:lnTo>
                  <a:lnTo>
                    <a:pt x="211849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37710" y="1770347"/>
              <a:ext cx="447675" cy="447040"/>
            </a:xfrm>
            <a:custGeom>
              <a:avLst/>
              <a:gdLst/>
              <a:ahLst/>
              <a:cxnLst/>
              <a:rect l="l" t="t" r="r" b="b"/>
              <a:pathLst>
                <a:path w="447675" h="447039">
                  <a:moveTo>
                    <a:pt x="0" y="211403"/>
                  </a:moveTo>
                  <a:lnTo>
                    <a:pt x="4278" y="262040"/>
                  </a:lnTo>
                  <a:lnTo>
                    <a:pt x="16561" y="307709"/>
                  </a:lnTo>
                  <a:lnTo>
                    <a:pt x="36018" y="347860"/>
                  </a:lnTo>
                  <a:lnTo>
                    <a:pt x="61818" y="381943"/>
                  </a:lnTo>
                  <a:lnTo>
                    <a:pt x="93132" y="409409"/>
                  </a:lnTo>
                  <a:lnTo>
                    <a:pt x="129128" y="429708"/>
                  </a:lnTo>
                  <a:lnTo>
                    <a:pt x="168977" y="442290"/>
                  </a:lnTo>
                  <a:lnTo>
                    <a:pt x="211849" y="446607"/>
                  </a:lnTo>
                  <a:lnTo>
                    <a:pt x="262439" y="442290"/>
                  </a:lnTo>
                  <a:lnTo>
                    <a:pt x="308088" y="429708"/>
                  </a:lnTo>
                  <a:lnTo>
                    <a:pt x="348240" y="409409"/>
                  </a:lnTo>
                  <a:lnTo>
                    <a:pt x="382339" y="381943"/>
                  </a:lnTo>
                  <a:lnTo>
                    <a:pt x="409829" y="347860"/>
                  </a:lnTo>
                  <a:lnTo>
                    <a:pt x="430154" y="307709"/>
                  </a:lnTo>
                  <a:lnTo>
                    <a:pt x="442756" y="262040"/>
                  </a:lnTo>
                  <a:lnTo>
                    <a:pt x="447081" y="211403"/>
                  </a:lnTo>
                  <a:lnTo>
                    <a:pt x="442756" y="168622"/>
                  </a:lnTo>
                  <a:lnTo>
                    <a:pt x="430154" y="128856"/>
                  </a:lnTo>
                  <a:lnTo>
                    <a:pt x="409829" y="92936"/>
                  </a:lnTo>
                  <a:lnTo>
                    <a:pt x="382339" y="61688"/>
                  </a:lnTo>
                  <a:lnTo>
                    <a:pt x="348240" y="35942"/>
                  </a:lnTo>
                  <a:lnTo>
                    <a:pt x="308088" y="16526"/>
                  </a:lnTo>
                  <a:lnTo>
                    <a:pt x="262439" y="4269"/>
                  </a:lnTo>
                  <a:lnTo>
                    <a:pt x="211849" y="0"/>
                  </a:lnTo>
                  <a:lnTo>
                    <a:pt x="163080" y="5551"/>
                  </a:lnTo>
                  <a:lnTo>
                    <a:pt x="118414" y="21379"/>
                  </a:lnTo>
                  <a:lnTo>
                    <a:pt x="79090" y="46249"/>
                  </a:lnTo>
                  <a:lnTo>
                    <a:pt x="46347" y="78923"/>
                  </a:lnTo>
                  <a:lnTo>
                    <a:pt x="21425" y="118165"/>
                  </a:lnTo>
                  <a:lnTo>
                    <a:pt x="5562" y="162737"/>
                  </a:lnTo>
                  <a:lnTo>
                    <a:pt x="0" y="211403"/>
                  </a:lnTo>
                </a:path>
              </a:pathLst>
            </a:custGeom>
            <a:ln w="46763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37710" y="4168118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11849" y="0"/>
                  </a:moveTo>
                  <a:lnTo>
                    <a:pt x="163080" y="5580"/>
                  </a:lnTo>
                  <a:lnTo>
                    <a:pt x="118414" y="21485"/>
                  </a:lnTo>
                  <a:lnTo>
                    <a:pt x="79090" y="46459"/>
                  </a:lnTo>
                  <a:lnTo>
                    <a:pt x="46347" y="79244"/>
                  </a:lnTo>
                  <a:lnTo>
                    <a:pt x="21425" y="118586"/>
                  </a:lnTo>
                  <a:lnTo>
                    <a:pt x="5562" y="163229"/>
                  </a:lnTo>
                  <a:lnTo>
                    <a:pt x="0" y="211916"/>
                  </a:lnTo>
                  <a:lnTo>
                    <a:pt x="4278" y="262423"/>
                  </a:lnTo>
                  <a:lnTo>
                    <a:pt x="16561" y="308036"/>
                  </a:lnTo>
                  <a:lnTo>
                    <a:pt x="36018" y="348190"/>
                  </a:lnTo>
                  <a:lnTo>
                    <a:pt x="61818" y="382316"/>
                  </a:lnTo>
                  <a:lnTo>
                    <a:pt x="93132" y="409847"/>
                  </a:lnTo>
                  <a:lnTo>
                    <a:pt x="129128" y="430215"/>
                  </a:lnTo>
                  <a:lnTo>
                    <a:pt x="168977" y="442851"/>
                  </a:lnTo>
                  <a:lnTo>
                    <a:pt x="211849" y="447190"/>
                  </a:lnTo>
                  <a:lnTo>
                    <a:pt x="262439" y="442851"/>
                  </a:lnTo>
                  <a:lnTo>
                    <a:pt x="308088" y="430215"/>
                  </a:lnTo>
                  <a:lnTo>
                    <a:pt x="348240" y="409847"/>
                  </a:lnTo>
                  <a:lnTo>
                    <a:pt x="382339" y="382316"/>
                  </a:lnTo>
                  <a:lnTo>
                    <a:pt x="409829" y="348190"/>
                  </a:lnTo>
                  <a:lnTo>
                    <a:pt x="430154" y="308036"/>
                  </a:lnTo>
                  <a:lnTo>
                    <a:pt x="442756" y="262423"/>
                  </a:lnTo>
                  <a:lnTo>
                    <a:pt x="447081" y="211916"/>
                  </a:lnTo>
                  <a:lnTo>
                    <a:pt x="442756" y="169119"/>
                  </a:lnTo>
                  <a:lnTo>
                    <a:pt x="430154" y="129299"/>
                  </a:lnTo>
                  <a:lnTo>
                    <a:pt x="409829" y="93297"/>
                  </a:lnTo>
                  <a:lnTo>
                    <a:pt x="382339" y="61953"/>
                  </a:lnTo>
                  <a:lnTo>
                    <a:pt x="348240" y="36111"/>
                  </a:lnTo>
                  <a:lnTo>
                    <a:pt x="308088" y="16610"/>
                  </a:lnTo>
                  <a:lnTo>
                    <a:pt x="262439" y="4292"/>
                  </a:lnTo>
                  <a:lnTo>
                    <a:pt x="211849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37710" y="4168118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211916"/>
                  </a:moveTo>
                  <a:lnTo>
                    <a:pt x="4278" y="262423"/>
                  </a:lnTo>
                  <a:lnTo>
                    <a:pt x="16561" y="308036"/>
                  </a:lnTo>
                  <a:lnTo>
                    <a:pt x="36018" y="348190"/>
                  </a:lnTo>
                  <a:lnTo>
                    <a:pt x="61818" y="382316"/>
                  </a:lnTo>
                  <a:lnTo>
                    <a:pt x="93132" y="409847"/>
                  </a:lnTo>
                  <a:lnTo>
                    <a:pt x="129128" y="430215"/>
                  </a:lnTo>
                  <a:lnTo>
                    <a:pt x="168977" y="442851"/>
                  </a:lnTo>
                  <a:lnTo>
                    <a:pt x="211849" y="447190"/>
                  </a:lnTo>
                  <a:lnTo>
                    <a:pt x="262439" y="442851"/>
                  </a:lnTo>
                  <a:lnTo>
                    <a:pt x="308088" y="430215"/>
                  </a:lnTo>
                  <a:lnTo>
                    <a:pt x="348240" y="409847"/>
                  </a:lnTo>
                  <a:lnTo>
                    <a:pt x="382339" y="382316"/>
                  </a:lnTo>
                  <a:lnTo>
                    <a:pt x="409829" y="348190"/>
                  </a:lnTo>
                  <a:lnTo>
                    <a:pt x="430154" y="308036"/>
                  </a:lnTo>
                  <a:lnTo>
                    <a:pt x="442756" y="262423"/>
                  </a:lnTo>
                  <a:lnTo>
                    <a:pt x="447081" y="211916"/>
                  </a:lnTo>
                  <a:lnTo>
                    <a:pt x="442756" y="169119"/>
                  </a:lnTo>
                  <a:lnTo>
                    <a:pt x="430154" y="129299"/>
                  </a:lnTo>
                  <a:lnTo>
                    <a:pt x="409829" y="93297"/>
                  </a:lnTo>
                  <a:lnTo>
                    <a:pt x="382339" y="61953"/>
                  </a:lnTo>
                  <a:lnTo>
                    <a:pt x="348240" y="36111"/>
                  </a:lnTo>
                  <a:lnTo>
                    <a:pt x="308088" y="16610"/>
                  </a:lnTo>
                  <a:lnTo>
                    <a:pt x="262439" y="4292"/>
                  </a:lnTo>
                  <a:lnTo>
                    <a:pt x="211849" y="0"/>
                  </a:lnTo>
                  <a:lnTo>
                    <a:pt x="163080" y="5580"/>
                  </a:lnTo>
                  <a:lnTo>
                    <a:pt x="118414" y="21485"/>
                  </a:lnTo>
                  <a:lnTo>
                    <a:pt x="79090" y="46459"/>
                  </a:lnTo>
                  <a:lnTo>
                    <a:pt x="46347" y="79244"/>
                  </a:lnTo>
                  <a:lnTo>
                    <a:pt x="21425" y="118586"/>
                  </a:lnTo>
                  <a:lnTo>
                    <a:pt x="5562" y="163229"/>
                  </a:lnTo>
                  <a:lnTo>
                    <a:pt x="0" y="211916"/>
                  </a:lnTo>
                </a:path>
              </a:pathLst>
            </a:custGeom>
            <a:ln w="46763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37710" y="4967927"/>
              <a:ext cx="447675" cy="447040"/>
            </a:xfrm>
            <a:custGeom>
              <a:avLst/>
              <a:gdLst/>
              <a:ahLst/>
              <a:cxnLst/>
              <a:rect l="l" t="t" r="r" b="b"/>
              <a:pathLst>
                <a:path w="447675" h="447039">
                  <a:moveTo>
                    <a:pt x="211849" y="0"/>
                  </a:moveTo>
                  <a:lnTo>
                    <a:pt x="163080" y="5549"/>
                  </a:lnTo>
                  <a:lnTo>
                    <a:pt x="118414" y="21374"/>
                  </a:lnTo>
                  <a:lnTo>
                    <a:pt x="79090" y="46238"/>
                  </a:lnTo>
                  <a:lnTo>
                    <a:pt x="46347" y="78905"/>
                  </a:lnTo>
                  <a:lnTo>
                    <a:pt x="21425" y="118137"/>
                  </a:lnTo>
                  <a:lnTo>
                    <a:pt x="5562" y="162700"/>
                  </a:lnTo>
                  <a:lnTo>
                    <a:pt x="0" y="211356"/>
                  </a:lnTo>
                  <a:lnTo>
                    <a:pt x="4278" y="262030"/>
                  </a:lnTo>
                  <a:lnTo>
                    <a:pt x="16561" y="307723"/>
                  </a:lnTo>
                  <a:lnTo>
                    <a:pt x="36018" y="347887"/>
                  </a:lnTo>
                  <a:lnTo>
                    <a:pt x="61818" y="381975"/>
                  </a:lnTo>
                  <a:lnTo>
                    <a:pt x="93132" y="409441"/>
                  </a:lnTo>
                  <a:lnTo>
                    <a:pt x="129128" y="429737"/>
                  </a:lnTo>
                  <a:lnTo>
                    <a:pt x="168977" y="442315"/>
                  </a:lnTo>
                  <a:lnTo>
                    <a:pt x="211849" y="446630"/>
                  </a:lnTo>
                  <a:lnTo>
                    <a:pt x="262439" y="442315"/>
                  </a:lnTo>
                  <a:lnTo>
                    <a:pt x="308088" y="429737"/>
                  </a:lnTo>
                  <a:lnTo>
                    <a:pt x="348240" y="409441"/>
                  </a:lnTo>
                  <a:lnTo>
                    <a:pt x="382339" y="381975"/>
                  </a:lnTo>
                  <a:lnTo>
                    <a:pt x="409829" y="347887"/>
                  </a:lnTo>
                  <a:lnTo>
                    <a:pt x="430154" y="307723"/>
                  </a:lnTo>
                  <a:lnTo>
                    <a:pt x="442756" y="262030"/>
                  </a:lnTo>
                  <a:lnTo>
                    <a:pt x="447081" y="211356"/>
                  </a:lnTo>
                  <a:lnTo>
                    <a:pt x="442756" y="168584"/>
                  </a:lnTo>
                  <a:lnTo>
                    <a:pt x="430154" y="128827"/>
                  </a:lnTo>
                  <a:lnTo>
                    <a:pt x="409829" y="92914"/>
                  </a:lnTo>
                  <a:lnTo>
                    <a:pt x="382339" y="61673"/>
                  </a:lnTo>
                  <a:lnTo>
                    <a:pt x="348240" y="35933"/>
                  </a:lnTo>
                  <a:lnTo>
                    <a:pt x="308088" y="16522"/>
                  </a:lnTo>
                  <a:lnTo>
                    <a:pt x="262439" y="4268"/>
                  </a:lnTo>
                  <a:lnTo>
                    <a:pt x="211849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37710" y="4967927"/>
              <a:ext cx="447675" cy="447040"/>
            </a:xfrm>
            <a:custGeom>
              <a:avLst/>
              <a:gdLst/>
              <a:ahLst/>
              <a:cxnLst/>
              <a:rect l="l" t="t" r="r" b="b"/>
              <a:pathLst>
                <a:path w="447675" h="447039">
                  <a:moveTo>
                    <a:pt x="0" y="211356"/>
                  </a:moveTo>
                  <a:lnTo>
                    <a:pt x="4278" y="262030"/>
                  </a:lnTo>
                  <a:lnTo>
                    <a:pt x="16561" y="307723"/>
                  </a:lnTo>
                  <a:lnTo>
                    <a:pt x="36018" y="347887"/>
                  </a:lnTo>
                  <a:lnTo>
                    <a:pt x="61818" y="381975"/>
                  </a:lnTo>
                  <a:lnTo>
                    <a:pt x="93132" y="409441"/>
                  </a:lnTo>
                  <a:lnTo>
                    <a:pt x="129128" y="429737"/>
                  </a:lnTo>
                  <a:lnTo>
                    <a:pt x="168977" y="442315"/>
                  </a:lnTo>
                  <a:lnTo>
                    <a:pt x="211849" y="446630"/>
                  </a:lnTo>
                  <a:lnTo>
                    <a:pt x="262439" y="442315"/>
                  </a:lnTo>
                  <a:lnTo>
                    <a:pt x="308088" y="429737"/>
                  </a:lnTo>
                  <a:lnTo>
                    <a:pt x="348240" y="409441"/>
                  </a:lnTo>
                  <a:lnTo>
                    <a:pt x="382339" y="381975"/>
                  </a:lnTo>
                  <a:lnTo>
                    <a:pt x="409829" y="347887"/>
                  </a:lnTo>
                  <a:lnTo>
                    <a:pt x="430154" y="307723"/>
                  </a:lnTo>
                  <a:lnTo>
                    <a:pt x="442756" y="262030"/>
                  </a:lnTo>
                  <a:lnTo>
                    <a:pt x="447081" y="211356"/>
                  </a:lnTo>
                  <a:lnTo>
                    <a:pt x="442756" y="168584"/>
                  </a:lnTo>
                  <a:lnTo>
                    <a:pt x="430154" y="128827"/>
                  </a:lnTo>
                  <a:lnTo>
                    <a:pt x="409829" y="92914"/>
                  </a:lnTo>
                  <a:lnTo>
                    <a:pt x="382339" y="61673"/>
                  </a:lnTo>
                  <a:lnTo>
                    <a:pt x="348240" y="35933"/>
                  </a:lnTo>
                  <a:lnTo>
                    <a:pt x="308088" y="16522"/>
                  </a:lnTo>
                  <a:lnTo>
                    <a:pt x="262439" y="4268"/>
                  </a:lnTo>
                  <a:lnTo>
                    <a:pt x="211849" y="0"/>
                  </a:lnTo>
                  <a:lnTo>
                    <a:pt x="163080" y="5549"/>
                  </a:lnTo>
                  <a:lnTo>
                    <a:pt x="118414" y="21374"/>
                  </a:lnTo>
                  <a:lnTo>
                    <a:pt x="79090" y="46238"/>
                  </a:lnTo>
                  <a:lnTo>
                    <a:pt x="46347" y="78905"/>
                  </a:lnTo>
                  <a:lnTo>
                    <a:pt x="21425" y="118137"/>
                  </a:lnTo>
                  <a:lnTo>
                    <a:pt x="5562" y="162700"/>
                  </a:lnTo>
                  <a:lnTo>
                    <a:pt x="0" y="211356"/>
                  </a:lnTo>
                </a:path>
              </a:pathLst>
            </a:custGeom>
            <a:ln w="46763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86253" y="1770300"/>
              <a:ext cx="799465" cy="470534"/>
            </a:xfrm>
            <a:custGeom>
              <a:avLst/>
              <a:gdLst/>
              <a:ahLst/>
              <a:cxnLst/>
              <a:rect l="l" t="t" r="r" b="b"/>
              <a:pathLst>
                <a:path w="799465" h="470535">
                  <a:moveTo>
                    <a:pt x="799228" y="0"/>
                  </a:moveTo>
                  <a:lnTo>
                    <a:pt x="0" y="0"/>
                  </a:lnTo>
                  <a:lnTo>
                    <a:pt x="0" y="469987"/>
                  </a:lnTo>
                  <a:lnTo>
                    <a:pt x="799228" y="46998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86253" y="1770300"/>
              <a:ext cx="799465" cy="470534"/>
            </a:xfrm>
            <a:custGeom>
              <a:avLst/>
              <a:gdLst/>
              <a:ahLst/>
              <a:cxnLst/>
              <a:rect l="l" t="t" r="r" b="b"/>
              <a:pathLst>
                <a:path w="799465" h="470535">
                  <a:moveTo>
                    <a:pt x="0" y="469987"/>
                  </a:moveTo>
                  <a:lnTo>
                    <a:pt x="799228" y="46998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69987"/>
                  </a:lnTo>
                  <a:close/>
                </a:path>
              </a:pathLst>
            </a:custGeom>
            <a:ln w="46739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86253" y="2828157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5" h="471170">
                  <a:moveTo>
                    <a:pt x="799228" y="0"/>
                  </a:moveTo>
                  <a:lnTo>
                    <a:pt x="0" y="0"/>
                  </a:lnTo>
                  <a:lnTo>
                    <a:pt x="0" y="470547"/>
                  </a:lnTo>
                  <a:lnTo>
                    <a:pt x="799228" y="47054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86253" y="2828157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5" h="471170">
                  <a:moveTo>
                    <a:pt x="0" y="470547"/>
                  </a:moveTo>
                  <a:lnTo>
                    <a:pt x="799228" y="47054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70547"/>
                  </a:lnTo>
                  <a:close/>
                </a:path>
              </a:pathLst>
            </a:custGeom>
            <a:ln w="46739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86253" y="3909487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5" h="471170">
                  <a:moveTo>
                    <a:pt x="799228" y="0"/>
                  </a:moveTo>
                  <a:lnTo>
                    <a:pt x="0" y="0"/>
                  </a:lnTo>
                  <a:lnTo>
                    <a:pt x="0" y="470547"/>
                  </a:lnTo>
                  <a:lnTo>
                    <a:pt x="799228" y="47054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86253" y="3909487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5" h="471170">
                  <a:moveTo>
                    <a:pt x="0" y="470547"/>
                  </a:moveTo>
                  <a:lnTo>
                    <a:pt x="799228" y="47054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70547"/>
                  </a:lnTo>
                  <a:close/>
                </a:path>
              </a:pathLst>
            </a:custGeom>
            <a:ln w="46739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86253" y="4967927"/>
              <a:ext cx="799465" cy="470534"/>
            </a:xfrm>
            <a:custGeom>
              <a:avLst/>
              <a:gdLst/>
              <a:ahLst/>
              <a:cxnLst/>
              <a:rect l="l" t="t" r="r" b="b"/>
              <a:pathLst>
                <a:path w="799465" h="470535">
                  <a:moveTo>
                    <a:pt x="799228" y="0"/>
                  </a:moveTo>
                  <a:lnTo>
                    <a:pt x="0" y="0"/>
                  </a:lnTo>
                  <a:lnTo>
                    <a:pt x="0" y="469987"/>
                  </a:lnTo>
                  <a:lnTo>
                    <a:pt x="799228" y="46998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86253" y="4967927"/>
              <a:ext cx="799465" cy="470534"/>
            </a:xfrm>
            <a:custGeom>
              <a:avLst/>
              <a:gdLst/>
              <a:ahLst/>
              <a:cxnLst/>
              <a:rect l="l" t="t" r="r" b="b"/>
              <a:pathLst>
                <a:path w="799465" h="470535">
                  <a:moveTo>
                    <a:pt x="0" y="469987"/>
                  </a:moveTo>
                  <a:lnTo>
                    <a:pt x="799228" y="46998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69987"/>
                  </a:lnTo>
                  <a:close/>
                </a:path>
              </a:pathLst>
            </a:custGeom>
            <a:ln w="46739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16175" y="2969466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11849" y="0"/>
                  </a:moveTo>
                  <a:lnTo>
                    <a:pt x="163080" y="5551"/>
                  </a:lnTo>
                  <a:lnTo>
                    <a:pt x="118414" y="21379"/>
                  </a:lnTo>
                  <a:lnTo>
                    <a:pt x="79090" y="46249"/>
                  </a:lnTo>
                  <a:lnTo>
                    <a:pt x="46347" y="78923"/>
                  </a:lnTo>
                  <a:lnTo>
                    <a:pt x="21425" y="118165"/>
                  </a:lnTo>
                  <a:lnTo>
                    <a:pt x="5562" y="162737"/>
                  </a:lnTo>
                  <a:lnTo>
                    <a:pt x="0" y="211403"/>
                  </a:lnTo>
                  <a:lnTo>
                    <a:pt x="4278" y="262040"/>
                  </a:lnTo>
                  <a:lnTo>
                    <a:pt x="16561" y="307709"/>
                  </a:lnTo>
                  <a:lnTo>
                    <a:pt x="36018" y="347860"/>
                  </a:lnTo>
                  <a:lnTo>
                    <a:pt x="61818" y="381943"/>
                  </a:lnTo>
                  <a:lnTo>
                    <a:pt x="93132" y="409409"/>
                  </a:lnTo>
                  <a:lnTo>
                    <a:pt x="129128" y="429708"/>
                  </a:lnTo>
                  <a:lnTo>
                    <a:pt x="168977" y="442290"/>
                  </a:lnTo>
                  <a:lnTo>
                    <a:pt x="211849" y="446607"/>
                  </a:lnTo>
                  <a:lnTo>
                    <a:pt x="262428" y="442290"/>
                  </a:lnTo>
                  <a:lnTo>
                    <a:pt x="308051" y="429708"/>
                  </a:lnTo>
                  <a:lnTo>
                    <a:pt x="348166" y="409409"/>
                  </a:lnTo>
                  <a:lnTo>
                    <a:pt x="382223" y="381943"/>
                  </a:lnTo>
                  <a:lnTo>
                    <a:pt x="409670" y="347860"/>
                  </a:lnTo>
                  <a:lnTo>
                    <a:pt x="429957" y="307709"/>
                  </a:lnTo>
                  <a:lnTo>
                    <a:pt x="442533" y="262040"/>
                  </a:lnTo>
                  <a:lnTo>
                    <a:pt x="446847" y="211403"/>
                  </a:lnTo>
                  <a:lnTo>
                    <a:pt x="442533" y="168622"/>
                  </a:lnTo>
                  <a:lnTo>
                    <a:pt x="429957" y="128856"/>
                  </a:lnTo>
                  <a:lnTo>
                    <a:pt x="409670" y="92936"/>
                  </a:lnTo>
                  <a:lnTo>
                    <a:pt x="382223" y="61688"/>
                  </a:lnTo>
                  <a:lnTo>
                    <a:pt x="348166" y="35942"/>
                  </a:lnTo>
                  <a:lnTo>
                    <a:pt x="308051" y="16526"/>
                  </a:lnTo>
                  <a:lnTo>
                    <a:pt x="262428" y="4269"/>
                  </a:lnTo>
                  <a:lnTo>
                    <a:pt x="211849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16175" y="2969466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0" y="211403"/>
                  </a:moveTo>
                  <a:lnTo>
                    <a:pt x="4278" y="262040"/>
                  </a:lnTo>
                  <a:lnTo>
                    <a:pt x="16561" y="307709"/>
                  </a:lnTo>
                  <a:lnTo>
                    <a:pt x="36018" y="347860"/>
                  </a:lnTo>
                  <a:lnTo>
                    <a:pt x="61818" y="381943"/>
                  </a:lnTo>
                  <a:lnTo>
                    <a:pt x="93132" y="409409"/>
                  </a:lnTo>
                  <a:lnTo>
                    <a:pt x="129128" y="429708"/>
                  </a:lnTo>
                  <a:lnTo>
                    <a:pt x="168977" y="442290"/>
                  </a:lnTo>
                  <a:lnTo>
                    <a:pt x="211849" y="446607"/>
                  </a:lnTo>
                  <a:lnTo>
                    <a:pt x="262428" y="442290"/>
                  </a:lnTo>
                  <a:lnTo>
                    <a:pt x="308051" y="429708"/>
                  </a:lnTo>
                  <a:lnTo>
                    <a:pt x="348166" y="409409"/>
                  </a:lnTo>
                  <a:lnTo>
                    <a:pt x="382223" y="381943"/>
                  </a:lnTo>
                  <a:lnTo>
                    <a:pt x="409670" y="347860"/>
                  </a:lnTo>
                  <a:lnTo>
                    <a:pt x="429957" y="307709"/>
                  </a:lnTo>
                  <a:lnTo>
                    <a:pt x="442533" y="262040"/>
                  </a:lnTo>
                  <a:lnTo>
                    <a:pt x="446847" y="211403"/>
                  </a:lnTo>
                  <a:lnTo>
                    <a:pt x="442533" y="168622"/>
                  </a:lnTo>
                  <a:lnTo>
                    <a:pt x="429957" y="128856"/>
                  </a:lnTo>
                  <a:lnTo>
                    <a:pt x="409670" y="92936"/>
                  </a:lnTo>
                  <a:lnTo>
                    <a:pt x="382223" y="61688"/>
                  </a:lnTo>
                  <a:lnTo>
                    <a:pt x="348166" y="35942"/>
                  </a:lnTo>
                  <a:lnTo>
                    <a:pt x="308051" y="16526"/>
                  </a:lnTo>
                  <a:lnTo>
                    <a:pt x="262428" y="4269"/>
                  </a:lnTo>
                  <a:lnTo>
                    <a:pt x="211849" y="0"/>
                  </a:lnTo>
                  <a:lnTo>
                    <a:pt x="163080" y="5551"/>
                  </a:lnTo>
                  <a:lnTo>
                    <a:pt x="118414" y="21379"/>
                  </a:lnTo>
                  <a:lnTo>
                    <a:pt x="79090" y="46249"/>
                  </a:lnTo>
                  <a:lnTo>
                    <a:pt x="46347" y="78923"/>
                  </a:lnTo>
                  <a:lnTo>
                    <a:pt x="21425" y="118165"/>
                  </a:lnTo>
                  <a:lnTo>
                    <a:pt x="5562" y="162737"/>
                  </a:lnTo>
                  <a:lnTo>
                    <a:pt x="0" y="211403"/>
                  </a:lnTo>
                </a:path>
              </a:pathLst>
            </a:custGeom>
            <a:ln w="46763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16175" y="2170286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11849" y="0"/>
                  </a:moveTo>
                  <a:lnTo>
                    <a:pt x="163080" y="5551"/>
                  </a:lnTo>
                  <a:lnTo>
                    <a:pt x="118414" y="21379"/>
                  </a:lnTo>
                  <a:lnTo>
                    <a:pt x="79090" y="46249"/>
                  </a:lnTo>
                  <a:lnTo>
                    <a:pt x="46347" y="78923"/>
                  </a:lnTo>
                  <a:lnTo>
                    <a:pt x="21425" y="118165"/>
                  </a:lnTo>
                  <a:lnTo>
                    <a:pt x="5562" y="162737"/>
                  </a:lnTo>
                  <a:lnTo>
                    <a:pt x="0" y="211403"/>
                  </a:lnTo>
                  <a:lnTo>
                    <a:pt x="4278" y="262040"/>
                  </a:lnTo>
                  <a:lnTo>
                    <a:pt x="16561" y="307709"/>
                  </a:lnTo>
                  <a:lnTo>
                    <a:pt x="36018" y="347860"/>
                  </a:lnTo>
                  <a:lnTo>
                    <a:pt x="61818" y="381943"/>
                  </a:lnTo>
                  <a:lnTo>
                    <a:pt x="93132" y="409409"/>
                  </a:lnTo>
                  <a:lnTo>
                    <a:pt x="129128" y="429708"/>
                  </a:lnTo>
                  <a:lnTo>
                    <a:pt x="168977" y="442290"/>
                  </a:lnTo>
                  <a:lnTo>
                    <a:pt x="211849" y="446607"/>
                  </a:lnTo>
                  <a:lnTo>
                    <a:pt x="262428" y="442290"/>
                  </a:lnTo>
                  <a:lnTo>
                    <a:pt x="308051" y="429708"/>
                  </a:lnTo>
                  <a:lnTo>
                    <a:pt x="348166" y="409409"/>
                  </a:lnTo>
                  <a:lnTo>
                    <a:pt x="382223" y="381943"/>
                  </a:lnTo>
                  <a:lnTo>
                    <a:pt x="409670" y="347860"/>
                  </a:lnTo>
                  <a:lnTo>
                    <a:pt x="429957" y="307709"/>
                  </a:lnTo>
                  <a:lnTo>
                    <a:pt x="442533" y="262040"/>
                  </a:lnTo>
                  <a:lnTo>
                    <a:pt x="446847" y="211403"/>
                  </a:lnTo>
                  <a:lnTo>
                    <a:pt x="442533" y="168622"/>
                  </a:lnTo>
                  <a:lnTo>
                    <a:pt x="429957" y="128856"/>
                  </a:lnTo>
                  <a:lnTo>
                    <a:pt x="409670" y="92936"/>
                  </a:lnTo>
                  <a:lnTo>
                    <a:pt x="382223" y="61688"/>
                  </a:lnTo>
                  <a:lnTo>
                    <a:pt x="348166" y="35942"/>
                  </a:lnTo>
                  <a:lnTo>
                    <a:pt x="308051" y="16526"/>
                  </a:lnTo>
                  <a:lnTo>
                    <a:pt x="262428" y="4269"/>
                  </a:lnTo>
                  <a:lnTo>
                    <a:pt x="211849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16175" y="2170286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0" y="211403"/>
                  </a:moveTo>
                  <a:lnTo>
                    <a:pt x="4278" y="262040"/>
                  </a:lnTo>
                  <a:lnTo>
                    <a:pt x="16561" y="307709"/>
                  </a:lnTo>
                  <a:lnTo>
                    <a:pt x="36018" y="347860"/>
                  </a:lnTo>
                  <a:lnTo>
                    <a:pt x="61818" y="381943"/>
                  </a:lnTo>
                  <a:lnTo>
                    <a:pt x="93132" y="409409"/>
                  </a:lnTo>
                  <a:lnTo>
                    <a:pt x="129128" y="429708"/>
                  </a:lnTo>
                  <a:lnTo>
                    <a:pt x="168977" y="442290"/>
                  </a:lnTo>
                  <a:lnTo>
                    <a:pt x="211849" y="446607"/>
                  </a:lnTo>
                  <a:lnTo>
                    <a:pt x="262428" y="442290"/>
                  </a:lnTo>
                  <a:lnTo>
                    <a:pt x="308051" y="429708"/>
                  </a:lnTo>
                  <a:lnTo>
                    <a:pt x="348166" y="409409"/>
                  </a:lnTo>
                  <a:lnTo>
                    <a:pt x="382223" y="381943"/>
                  </a:lnTo>
                  <a:lnTo>
                    <a:pt x="409670" y="347860"/>
                  </a:lnTo>
                  <a:lnTo>
                    <a:pt x="429957" y="307709"/>
                  </a:lnTo>
                  <a:lnTo>
                    <a:pt x="442533" y="262040"/>
                  </a:lnTo>
                  <a:lnTo>
                    <a:pt x="446847" y="211403"/>
                  </a:lnTo>
                  <a:lnTo>
                    <a:pt x="442533" y="168622"/>
                  </a:lnTo>
                  <a:lnTo>
                    <a:pt x="429957" y="128856"/>
                  </a:lnTo>
                  <a:lnTo>
                    <a:pt x="409670" y="92936"/>
                  </a:lnTo>
                  <a:lnTo>
                    <a:pt x="382223" y="61688"/>
                  </a:lnTo>
                  <a:lnTo>
                    <a:pt x="348166" y="35942"/>
                  </a:lnTo>
                  <a:lnTo>
                    <a:pt x="308051" y="16526"/>
                  </a:lnTo>
                  <a:lnTo>
                    <a:pt x="262428" y="4269"/>
                  </a:lnTo>
                  <a:lnTo>
                    <a:pt x="211849" y="0"/>
                  </a:lnTo>
                  <a:lnTo>
                    <a:pt x="163080" y="5551"/>
                  </a:lnTo>
                  <a:lnTo>
                    <a:pt x="118414" y="21379"/>
                  </a:lnTo>
                  <a:lnTo>
                    <a:pt x="79090" y="46249"/>
                  </a:lnTo>
                  <a:lnTo>
                    <a:pt x="46347" y="78923"/>
                  </a:lnTo>
                  <a:lnTo>
                    <a:pt x="21425" y="118165"/>
                  </a:lnTo>
                  <a:lnTo>
                    <a:pt x="5562" y="162737"/>
                  </a:lnTo>
                  <a:lnTo>
                    <a:pt x="0" y="211403"/>
                  </a:lnTo>
                </a:path>
              </a:pathLst>
            </a:custGeom>
            <a:ln w="46763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016175" y="3768762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11849" y="0"/>
                  </a:moveTo>
                  <a:lnTo>
                    <a:pt x="163080" y="5549"/>
                  </a:lnTo>
                  <a:lnTo>
                    <a:pt x="118414" y="21374"/>
                  </a:lnTo>
                  <a:lnTo>
                    <a:pt x="79090" y="46238"/>
                  </a:lnTo>
                  <a:lnTo>
                    <a:pt x="46347" y="78905"/>
                  </a:lnTo>
                  <a:lnTo>
                    <a:pt x="21425" y="118137"/>
                  </a:lnTo>
                  <a:lnTo>
                    <a:pt x="5562" y="162700"/>
                  </a:lnTo>
                  <a:lnTo>
                    <a:pt x="0" y="211356"/>
                  </a:lnTo>
                  <a:lnTo>
                    <a:pt x="4278" y="262030"/>
                  </a:lnTo>
                  <a:lnTo>
                    <a:pt x="16561" y="307723"/>
                  </a:lnTo>
                  <a:lnTo>
                    <a:pt x="36018" y="347887"/>
                  </a:lnTo>
                  <a:lnTo>
                    <a:pt x="61818" y="381975"/>
                  </a:lnTo>
                  <a:lnTo>
                    <a:pt x="93132" y="409441"/>
                  </a:lnTo>
                  <a:lnTo>
                    <a:pt x="129128" y="429737"/>
                  </a:lnTo>
                  <a:lnTo>
                    <a:pt x="168977" y="442315"/>
                  </a:lnTo>
                  <a:lnTo>
                    <a:pt x="211849" y="446630"/>
                  </a:lnTo>
                  <a:lnTo>
                    <a:pt x="262428" y="442315"/>
                  </a:lnTo>
                  <a:lnTo>
                    <a:pt x="308051" y="429737"/>
                  </a:lnTo>
                  <a:lnTo>
                    <a:pt x="348166" y="409441"/>
                  </a:lnTo>
                  <a:lnTo>
                    <a:pt x="382223" y="381975"/>
                  </a:lnTo>
                  <a:lnTo>
                    <a:pt x="409670" y="347887"/>
                  </a:lnTo>
                  <a:lnTo>
                    <a:pt x="429957" y="307723"/>
                  </a:lnTo>
                  <a:lnTo>
                    <a:pt x="442533" y="262030"/>
                  </a:lnTo>
                  <a:lnTo>
                    <a:pt x="446847" y="211356"/>
                  </a:lnTo>
                  <a:lnTo>
                    <a:pt x="442533" y="168584"/>
                  </a:lnTo>
                  <a:lnTo>
                    <a:pt x="429957" y="128827"/>
                  </a:lnTo>
                  <a:lnTo>
                    <a:pt x="409670" y="92914"/>
                  </a:lnTo>
                  <a:lnTo>
                    <a:pt x="382223" y="61673"/>
                  </a:lnTo>
                  <a:lnTo>
                    <a:pt x="348166" y="35933"/>
                  </a:lnTo>
                  <a:lnTo>
                    <a:pt x="308051" y="16522"/>
                  </a:lnTo>
                  <a:lnTo>
                    <a:pt x="262428" y="4268"/>
                  </a:lnTo>
                  <a:lnTo>
                    <a:pt x="211849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16175" y="3768762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0" y="211356"/>
                  </a:moveTo>
                  <a:lnTo>
                    <a:pt x="4278" y="262030"/>
                  </a:lnTo>
                  <a:lnTo>
                    <a:pt x="16561" y="307723"/>
                  </a:lnTo>
                  <a:lnTo>
                    <a:pt x="36018" y="347887"/>
                  </a:lnTo>
                  <a:lnTo>
                    <a:pt x="61818" y="381975"/>
                  </a:lnTo>
                  <a:lnTo>
                    <a:pt x="93132" y="409441"/>
                  </a:lnTo>
                  <a:lnTo>
                    <a:pt x="129128" y="429737"/>
                  </a:lnTo>
                  <a:lnTo>
                    <a:pt x="168977" y="442315"/>
                  </a:lnTo>
                  <a:lnTo>
                    <a:pt x="211849" y="446630"/>
                  </a:lnTo>
                  <a:lnTo>
                    <a:pt x="262428" y="442315"/>
                  </a:lnTo>
                  <a:lnTo>
                    <a:pt x="308051" y="429737"/>
                  </a:lnTo>
                  <a:lnTo>
                    <a:pt x="348166" y="409441"/>
                  </a:lnTo>
                  <a:lnTo>
                    <a:pt x="382223" y="381975"/>
                  </a:lnTo>
                  <a:lnTo>
                    <a:pt x="409670" y="347887"/>
                  </a:lnTo>
                  <a:lnTo>
                    <a:pt x="429957" y="307723"/>
                  </a:lnTo>
                  <a:lnTo>
                    <a:pt x="442533" y="262030"/>
                  </a:lnTo>
                  <a:lnTo>
                    <a:pt x="446847" y="211356"/>
                  </a:lnTo>
                  <a:lnTo>
                    <a:pt x="442533" y="168584"/>
                  </a:lnTo>
                  <a:lnTo>
                    <a:pt x="429957" y="128827"/>
                  </a:lnTo>
                  <a:lnTo>
                    <a:pt x="409670" y="92914"/>
                  </a:lnTo>
                  <a:lnTo>
                    <a:pt x="382223" y="61673"/>
                  </a:lnTo>
                  <a:lnTo>
                    <a:pt x="348166" y="35933"/>
                  </a:lnTo>
                  <a:lnTo>
                    <a:pt x="308051" y="16522"/>
                  </a:lnTo>
                  <a:lnTo>
                    <a:pt x="262428" y="4268"/>
                  </a:lnTo>
                  <a:lnTo>
                    <a:pt x="211849" y="0"/>
                  </a:lnTo>
                  <a:lnTo>
                    <a:pt x="163080" y="5549"/>
                  </a:lnTo>
                  <a:lnTo>
                    <a:pt x="118414" y="21374"/>
                  </a:lnTo>
                  <a:lnTo>
                    <a:pt x="79090" y="46238"/>
                  </a:lnTo>
                  <a:lnTo>
                    <a:pt x="46347" y="78905"/>
                  </a:lnTo>
                  <a:lnTo>
                    <a:pt x="21425" y="118137"/>
                  </a:lnTo>
                  <a:lnTo>
                    <a:pt x="5562" y="162700"/>
                  </a:lnTo>
                  <a:lnTo>
                    <a:pt x="0" y="211356"/>
                  </a:lnTo>
                </a:path>
              </a:pathLst>
            </a:custGeom>
            <a:ln w="46763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16175" y="4568034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11849" y="0"/>
                  </a:moveTo>
                  <a:lnTo>
                    <a:pt x="163080" y="5548"/>
                  </a:lnTo>
                  <a:lnTo>
                    <a:pt x="118414" y="21370"/>
                  </a:lnTo>
                  <a:lnTo>
                    <a:pt x="79090" y="46229"/>
                  </a:lnTo>
                  <a:lnTo>
                    <a:pt x="46347" y="78891"/>
                  </a:lnTo>
                  <a:lnTo>
                    <a:pt x="21425" y="118119"/>
                  </a:lnTo>
                  <a:lnTo>
                    <a:pt x="5562" y="162678"/>
                  </a:lnTo>
                  <a:lnTo>
                    <a:pt x="0" y="211333"/>
                  </a:lnTo>
                  <a:lnTo>
                    <a:pt x="4278" y="262007"/>
                  </a:lnTo>
                  <a:lnTo>
                    <a:pt x="16561" y="307699"/>
                  </a:lnTo>
                  <a:lnTo>
                    <a:pt x="36018" y="347863"/>
                  </a:lnTo>
                  <a:lnTo>
                    <a:pt x="61818" y="381952"/>
                  </a:lnTo>
                  <a:lnTo>
                    <a:pt x="93132" y="409418"/>
                  </a:lnTo>
                  <a:lnTo>
                    <a:pt x="129128" y="429713"/>
                  </a:lnTo>
                  <a:lnTo>
                    <a:pt x="168977" y="442292"/>
                  </a:lnTo>
                  <a:lnTo>
                    <a:pt x="211849" y="446607"/>
                  </a:lnTo>
                  <a:lnTo>
                    <a:pt x="262428" y="442292"/>
                  </a:lnTo>
                  <a:lnTo>
                    <a:pt x="308051" y="429713"/>
                  </a:lnTo>
                  <a:lnTo>
                    <a:pt x="348166" y="409418"/>
                  </a:lnTo>
                  <a:lnTo>
                    <a:pt x="382223" y="381952"/>
                  </a:lnTo>
                  <a:lnTo>
                    <a:pt x="409670" y="347863"/>
                  </a:lnTo>
                  <a:lnTo>
                    <a:pt x="429957" y="307699"/>
                  </a:lnTo>
                  <a:lnTo>
                    <a:pt x="442533" y="262007"/>
                  </a:lnTo>
                  <a:lnTo>
                    <a:pt x="446847" y="211333"/>
                  </a:lnTo>
                  <a:lnTo>
                    <a:pt x="442533" y="168561"/>
                  </a:lnTo>
                  <a:lnTo>
                    <a:pt x="429957" y="128807"/>
                  </a:lnTo>
                  <a:lnTo>
                    <a:pt x="409670" y="92898"/>
                  </a:lnTo>
                  <a:lnTo>
                    <a:pt x="382223" y="61662"/>
                  </a:lnTo>
                  <a:lnTo>
                    <a:pt x="348166" y="35926"/>
                  </a:lnTo>
                  <a:lnTo>
                    <a:pt x="308051" y="16519"/>
                  </a:lnTo>
                  <a:lnTo>
                    <a:pt x="262428" y="4267"/>
                  </a:lnTo>
                  <a:lnTo>
                    <a:pt x="211849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16175" y="4568034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0" y="211333"/>
                  </a:moveTo>
                  <a:lnTo>
                    <a:pt x="4278" y="262007"/>
                  </a:lnTo>
                  <a:lnTo>
                    <a:pt x="16561" y="307699"/>
                  </a:lnTo>
                  <a:lnTo>
                    <a:pt x="36018" y="347863"/>
                  </a:lnTo>
                  <a:lnTo>
                    <a:pt x="61818" y="381952"/>
                  </a:lnTo>
                  <a:lnTo>
                    <a:pt x="93132" y="409418"/>
                  </a:lnTo>
                  <a:lnTo>
                    <a:pt x="129128" y="429713"/>
                  </a:lnTo>
                  <a:lnTo>
                    <a:pt x="168977" y="442292"/>
                  </a:lnTo>
                  <a:lnTo>
                    <a:pt x="211849" y="446607"/>
                  </a:lnTo>
                  <a:lnTo>
                    <a:pt x="262428" y="442292"/>
                  </a:lnTo>
                  <a:lnTo>
                    <a:pt x="308051" y="429713"/>
                  </a:lnTo>
                  <a:lnTo>
                    <a:pt x="348166" y="409418"/>
                  </a:lnTo>
                  <a:lnTo>
                    <a:pt x="382223" y="381952"/>
                  </a:lnTo>
                  <a:lnTo>
                    <a:pt x="409670" y="347863"/>
                  </a:lnTo>
                  <a:lnTo>
                    <a:pt x="429957" y="307699"/>
                  </a:lnTo>
                  <a:lnTo>
                    <a:pt x="442533" y="262007"/>
                  </a:lnTo>
                  <a:lnTo>
                    <a:pt x="446847" y="211333"/>
                  </a:lnTo>
                  <a:lnTo>
                    <a:pt x="442533" y="168561"/>
                  </a:lnTo>
                  <a:lnTo>
                    <a:pt x="429957" y="128807"/>
                  </a:lnTo>
                  <a:lnTo>
                    <a:pt x="409670" y="92898"/>
                  </a:lnTo>
                  <a:lnTo>
                    <a:pt x="382223" y="61662"/>
                  </a:lnTo>
                  <a:lnTo>
                    <a:pt x="348166" y="35926"/>
                  </a:lnTo>
                  <a:lnTo>
                    <a:pt x="308051" y="16519"/>
                  </a:lnTo>
                  <a:lnTo>
                    <a:pt x="262428" y="4267"/>
                  </a:lnTo>
                  <a:lnTo>
                    <a:pt x="211849" y="0"/>
                  </a:lnTo>
                  <a:lnTo>
                    <a:pt x="163080" y="5548"/>
                  </a:lnTo>
                  <a:lnTo>
                    <a:pt x="118414" y="21370"/>
                  </a:lnTo>
                  <a:lnTo>
                    <a:pt x="79090" y="46229"/>
                  </a:lnTo>
                  <a:lnTo>
                    <a:pt x="46347" y="78891"/>
                  </a:lnTo>
                  <a:lnTo>
                    <a:pt x="21425" y="118119"/>
                  </a:lnTo>
                  <a:lnTo>
                    <a:pt x="5562" y="162678"/>
                  </a:lnTo>
                  <a:lnTo>
                    <a:pt x="0" y="211333"/>
                  </a:lnTo>
                </a:path>
              </a:pathLst>
            </a:custGeom>
            <a:ln w="46763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41101" y="2311082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4" h="471169">
                  <a:moveTo>
                    <a:pt x="799228" y="0"/>
                  </a:moveTo>
                  <a:lnTo>
                    <a:pt x="0" y="0"/>
                  </a:lnTo>
                  <a:lnTo>
                    <a:pt x="0" y="470547"/>
                  </a:lnTo>
                  <a:lnTo>
                    <a:pt x="799228" y="47054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41101" y="2311082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4" h="471169">
                  <a:moveTo>
                    <a:pt x="0" y="470547"/>
                  </a:moveTo>
                  <a:lnTo>
                    <a:pt x="799228" y="47054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70547"/>
                  </a:lnTo>
                  <a:close/>
                </a:path>
              </a:pathLst>
            </a:custGeom>
            <a:ln w="46739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41101" y="3368869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4" h="471170">
                  <a:moveTo>
                    <a:pt x="799228" y="0"/>
                  </a:moveTo>
                  <a:lnTo>
                    <a:pt x="0" y="0"/>
                  </a:lnTo>
                  <a:lnTo>
                    <a:pt x="0" y="470547"/>
                  </a:lnTo>
                  <a:lnTo>
                    <a:pt x="799228" y="47054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41101" y="3368869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4" h="471170">
                  <a:moveTo>
                    <a:pt x="0" y="470547"/>
                  </a:moveTo>
                  <a:lnTo>
                    <a:pt x="799228" y="47054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70547"/>
                  </a:lnTo>
                  <a:close/>
                </a:path>
              </a:pathLst>
            </a:custGeom>
            <a:ln w="46739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41101" y="4426749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4" h="471170">
                  <a:moveTo>
                    <a:pt x="799228" y="0"/>
                  </a:moveTo>
                  <a:lnTo>
                    <a:pt x="0" y="0"/>
                  </a:lnTo>
                  <a:lnTo>
                    <a:pt x="0" y="470547"/>
                  </a:lnTo>
                  <a:lnTo>
                    <a:pt x="799228" y="47054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41101" y="4426749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4" h="471170">
                  <a:moveTo>
                    <a:pt x="0" y="470547"/>
                  </a:moveTo>
                  <a:lnTo>
                    <a:pt x="799228" y="47054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70547"/>
                  </a:lnTo>
                  <a:close/>
                </a:path>
              </a:pathLst>
            </a:custGeom>
            <a:ln w="46739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71631" y="2569526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11217" y="0"/>
                  </a:moveTo>
                  <a:lnTo>
                    <a:pt x="162491" y="5553"/>
                  </a:lnTo>
                  <a:lnTo>
                    <a:pt x="117918" y="21396"/>
                  </a:lnTo>
                  <a:lnTo>
                    <a:pt x="78717" y="46304"/>
                  </a:lnTo>
                  <a:lnTo>
                    <a:pt x="46106" y="79054"/>
                  </a:lnTo>
                  <a:lnTo>
                    <a:pt x="21303" y="118420"/>
                  </a:lnTo>
                  <a:lnTo>
                    <a:pt x="5529" y="163178"/>
                  </a:lnTo>
                  <a:lnTo>
                    <a:pt x="0" y="212103"/>
                  </a:lnTo>
                  <a:lnTo>
                    <a:pt x="4252" y="262576"/>
                  </a:lnTo>
                  <a:lnTo>
                    <a:pt x="16466" y="308103"/>
                  </a:lnTo>
                  <a:lnTo>
                    <a:pt x="35824" y="348133"/>
                  </a:lnTo>
                  <a:lnTo>
                    <a:pt x="61511" y="382118"/>
                  </a:lnTo>
                  <a:lnTo>
                    <a:pt x="92710" y="409507"/>
                  </a:lnTo>
                  <a:lnTo>
                    <a:pt x="128605" y="429752"/>
                  </a:lnTo>
                  <a:lnTo>
                    <a:pt x="168380" y="442301"/>
                  </a:lnTo>
                  <a:lnTo>
                    <a:pt x="211217" y="446607"/>
                  </a:lnTo>
                  <a:lnTo>
                    <a:pt x="261813" y="442301"/>
                  </a:lnTo>
                  <a:lnTo>
                    <a:pt x="307463" y="429752"/>
                  </a:lnTo>
                  <a:lnTo>
                    <a:pt x="347612" y="409507"/>
                  </a:lnTo>
                  <a:lnTo>
                    <a:pt x="381705" y="382118"/>
                  </a:lnTo>
                  <a:lnTo>
                    <a:pt x="409188" y="348133"/>
                  </a:lnTo>
                  <a:lnTo>
                    <a:pt x="429506" y="308103"/>
                  </a:lnTo>
                  <a:lnTo>
                    <a:pt x="442104" y="262576"/>
                  </a:lnTo>
                  <a:lnTo>
                    <a:pt x="446426" y="212103"/>
                  </a:lnTo>
                  <a:lnTo>
                    <a:pt x="442104" y="169090"/>
                  </a:lnTo>
                  <a:lnTo>
                    <a:pt x="429506" y="129152"/>
                  </a:lnTo>
                  <a:lnTo>
                    <a:pt x="409188" y="93106"/>
                  </a:lnTo>
                  <a:lnTo>
                    <a:pt x="381705" y="61775"/>
                  </a:lnTo>
                  <a:lnTo>
                    <a:pt x="347612" y="35979"/>
                  </a:lnTo>
                  <a:lnTo>
                    <a:pt x="307463" y="16537"/>
                  </a:lnTo>
                  <a:lnTo>
                    <a:pt x="261813" y="4271"/>
                  </a:lnTo>
                  <a:lnTo>
                    <a:pt x="211217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71631" y="2569526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0" y="212103"/>
                  </a:moveTo>
                  <a:lnTo>
                    <a:pt x="4252" y="262576"/>
                  </a:lnTo>
                  <a:lnTo>
                    <a:pt x="16466" y="308103"/>
                  </a:lnTo>
                  <a:lnTo>
                    <a:pt x="35824" y="348133"/>
                  </a:lnTo>
                  <a:lnTo>
                    <a:pt x="61511" y="382118"/>
                  </a:lnTo>
                  <a:lnTo>
                    <a:pt x="92710" y="409507"/>
                  </a:lnTo>
                  <a:lnTo>
                    <a:pt x="128605" y="429752"/>
                  </a:lnTo>
                  <a:lnTo>
                    <a:pt x="168380" y="442301"/>
                  </a:lnTo>
                  <a:lnTo>
                    <a:pt x="211217" y="446607"/>
                  </a:lnTo>
                  <a:lnTo>
                    <a:pt x="261813" y="442301"/>
                  </a:lnTo>
                  <a:lnTo>
                    <a:pt x="307463" y="429752"/>
                  </a:lnTo>
                  <a:lnTo>
                    <a:pt x="347612" y="409507"/>
                  </a:lnTo>
                  <a:lnTo>
                    <a:pt x="381705" y="382118"/>
                  </a:lnTo>
                  <a:lnTo>
                    <a:pt x="409188" y="348133"/>
                  </a:lnTo>
                  <a:lnTo>
                    <a:pt x="429506" y="308103"/>
                  </a:lnTo>
                  <a:lnTo>
                    <a:pt x="442104" y="262576"/>
                  </a:lnTo>
                  <a:lnTo>
                    <a:pt x="446426" y="212103"/>
                  </a:lnTo>
                  <a:lnTo>
                    <a:pt x="442104" y="169090"/>
                  </a:lnTo>
                  <a:lnTo>
                    <a:pt x="429506" y="129152"/>
                  </a:lnTo>
                  <a:lnTo>
                    <a:pt x="409188" y="93106"/>
                  </a:lnTo>
                  <a:lnTo>
                    <a:pt x="381705" y="61775"/>
                  </a:lnTo>
                  <a:lnTo>
                    <a:pt x="347612" y="35979"/>
                  </a:lnTo>
                  <a:lnTo>
                    <a:pt x="307463" y="16537"/>
                  </a:lnTo>
                  <a:lnTo>
                    <a:pt x="261813" y="4271"/>
                  </a:lnTo>
                  <a:lnTo>
                    <a:pt x="211217" y="0"/>
                  </a:lnTo>
                  <a:lnTo>
                    <a:pt x="162491" y="5553"/>
                  </a:lnTo>
                  <a:lnTo>
                    <a:pt x="117918" y="21396"/>
                  </a:lnTo>
                  <a:lnTo>
                    <a:pt x="78717" y="46304"/>
                  </a:lnTo>
                  <a:lnTo>
                    <a:pt x="46106" y="79054"/>
                  </a:lnTo>
                  <a:lnTo>
                    <a:pt x="21303" y="118420"/>
                  </a:lnTo>
                  <a:lnTo>
                    <a:pt x="5529" y="163178"/>
                  </a:lnTo>
                  <a:lnTo>
                    <a:pt x="0" y="212103"/>
                  </a:lnTo>
                </a:path>
              </a:pathLst>
            </a:custGeom>
            <a:ln w="46763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71631" y="3368939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11217" y="0"/>
                  </a:moveTo>
                  <a:lnTo>
                    <a:pt x="162491" y="5540"/>
                  </a:lnTo>
                  <a:lnTo>
                    <a:pt x="117918" y="21349"/>
                  </a:lnTo>
                  <a:lnTo>
                    <a:pt x="78717" y="46211"/>
                  </a:lnTo>
                  <a:lnTo>
                    <a:pt x="46106" y="78908"/>
                  </a:lnTo>
                  <a:lnTo>
                    <a:pt x="21303" y="118224"/>
                  </a:lnTo>
                  <a:lnTo>
                    <a:pt x="5529" y="162942"/>
                  </a:lnTo>
                  <a:lnTo>
                    <a:pt x="0" y="211846"/>
                  </a:lnTo>
                  <a:lnTo>
                    <a:pt x="4252" y="262327"/>
                  </a:lnTo>
                  <a:lnTo>
                    <a:pt x="16466" y="307875"/>
                  </a:lnTo>
                  <a:lnTo>
                    <a:pt x="35824" y="347936"/>
                  </a:lnTo>
                  <a:lnTo>
                    <a:pt x="61511" y="381955"/>
                  </a:lnTo>
                  <a:lnTo>
                    <a:pt x="92710" y="409378"/>
                  </a:lnTo>
                  <a:lnTo>
                    <a:pt x="128605" y="429652"/>
                  </a:lnTo>
                  <a:lnTo>
                    <a:pt x="168380" y="442223"/>
                  </a:lnTo>
                  <a:lnTo>
                    <a:pt x="211217" y="446537"/>
                  </a:lnTo>
                  <a:lnTo>
                    <a:pt x="261813" y="442223"/>
                  </a:lnTo>
                  <a:lnTo>
                    <a:pt x="307463" y="429652"/>
                  </a:lnTo>
                  <a:lnTo>
                    <a:pt x="347612" y="409378"/>
                  </a:lnTo>
                  <a:lnTo>
                    <a:pt x="381705" y="381955"/>
                  </a:lnTo>
                  <a:lnTo>
                    <a:pt x="409188" y="347936"/>
                  </a:lnTo>
                  <a:lnTo>
                    <a:pt x="429506" y="307875"/>
                  </a:lnTo>
                  <a:lnTo>
                    <a:pt x="442104" y="262327"/>
                  </a:lnTo>
                  <a:lnTo>
                    <a:pt x="446426" y="211846"/>
                  </a:lnTo>
                  <a:lnTo>
                    <a:pt x="442104" y="168852"/>
                  </a:lnTo>
                  <a:lnTo>
                    <a:pt x="429506" y="128945"/>
                  </a:lnTo>
                  <a:lnTo>
                    <a:pt x="409188" y="92941"/>
                  </a:lnTo>
                  <a:lnTo>
                    <a:pt x="381705" y="61656"/>
                  </a:lnTo>
                  <a:lnTo>
                    <a:pt x="347612" y="35904"/>
                  </a:lnTo>
                  <a:lnTo>
                    <a:pt x="307463" y="16500"/>
                  </a:lnTo>
                  <a:lnTo>
                    <a:pt x="261813" y="4261"/>
                  </a:lnTo>
                  <a:lnTo>
                    <a:pt x="211217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571631" y="3368939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0" y="211846"/>
                  </a:moveTo>
                  <a:lnTo>
                    <a:pt x="4252" y="262327"/>
                  </a:lnTo>
                  <a:lnTo>
                    <a:pt x="16466" y="307875"/>
                  </a:lnTo>
                  <a:lnTo>
                    <a:pt x="35824" y="347936"/>
                  </a:lnTo>
                  <a:lnTo>
                    <a:pt x="61511" y="381955"/>
                  </a:lnTo>
                  <a:lnTo>
                    <a:pt x="92710" y="409378"/>
                  </a:lnTo>
                  <a:lnTo>
                    <a:pt x="128605" y="429652"/>
                  </a:lnTo>
                  <a:lnTo>
                    <a:pt x="168380" y="442223"/>
                  </a:lnTo>
                  <a:lnTo>
                    <a:pt x="211217" y="446537"/>
                  </a:lnTo>
                  <a:lnTo>
                    <a:pt x="261813" y="442223"/>
                  </a:lnTo>
                  <a:lnTo>
                    <a:pt x="307463" y="429652"/>
                  </a:lnTo>
                  <a:lnTo>
                    <a:pt x="347612" y="409378"/>
                  </a:lnTo>
                  <a:lnTo>
                    <a:pt x="381705" y="381955"/>
                  </a:lnTo>
                  <a:lnTo>
                    <a:pt x="409188" y="347936"/>
                  </a:lnTo>
                  <a:lnTo>
                    <a:pt x="429506" y="307875"/>
                  </a:lnTo>
                  <a:lnTo>
                    <a:pt x="442104" y="262327"/>
                  </a:lnTo>
                  <a:lnTo>
                    <a:pt x="446426" y="211846"/>
                  </a:lnTo>
                  <a:lnTo>
                    <a:pt x="442104" y="168852"/>
                  </a:lnTo>
                  <a:lnTo>
                    <a:pt x="429506" y="128945"/>
                  </a:lnTo>
                  <a:lnTo>
                    <a:pt x="409188" y="92941"/>
                  </a:lnTo>
                  <a:lnTo>
                    <a:pt x="381705" y="61656"/>
                  </a:lnTo>
                  <a:lnTo>
                    <a:pt x="347612" y="35904"/>
                  </a:lnTo>
                  <a:lnTo>
                    <a:pt x="307463" y="16500"/>
                  </a:lnTo>
                  <a:lnTo>
                    <a:pt x="261813" y="4261"/>
                  </a:lnTo>
                  <a:lnTo>
                    <a:pt x="211217" y="0"/>
                  </a:lnTo>
                  <a:lnTo>
                    <a:pt x="162491" y="5540"/>
                  </a:lnTo>
                  <a:lnTo>
                    <a:pt x="117918" y="21349"/>
                  </a:lnTo>
                  <a:lnTo>
                    <a:pt x="78717" y="46211"/>
                  </a:lnTo>
                  <a:lnTo>
                    <a:pt x="46106" y="78908"/>
                  </a:lnTo>
                  <a:lnTo>
                    <a:pt x="21303" y="118224"/>
                  </a:lnTo>
                  <a:lnTo>
                    <a:pt x="5529" y="162942"/>
                  </a:lnTo>
                  <a:lnTo>
                    <a:pt x="0" y="211846"/>
                  </a:lnTo>
                </a:path>
              </a:pathLst>
            </a:custGeom>
            <a:ln w="46763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71631" y="4168118"/>
              <a:ext cx="447040" cy="447675"/>
            </a:xfrm>
            <a:custGeom>
              <a:avLst/>
              <a:gdLst/>
              <a:ahLst/>
              <a:cxnLst/>
              <a:rect l="l" t="t" r="r" b="b"/>
              <a:pathLst>
                <a:path w="447039" h="447675">
                  <a:moveTo>
                    <a:pt x="211217" y="0"/>
                  </a:moveTo>
                  <a:lnTo>
                    <a:pt x="162491" y="5580"/>
                  </a:lnTo>
                  <a:lnTo>
                    <a:pt x="117918" y="21485"/>
                  </a:lnTo>
                  <a:lnTo>
                    <a:pt x="78717" y="46459"/>
                  </a:lnTo>
                  <a:lnTo>
                    <a:pt x="46106" y="79244"/>
                  </a:lnTo>
                  <a:lnTo>
                    <a:pt x="21303" y="118586"/>
                  </a:lnTo>
                  <a:lnTo>
                    <a:pt x="5529" y="163229"/>
                  </a:lnTo>
                  <a:lnTo>
                    <a:pt x="0" y="211916"/>
                  </a:lnTo>
                  <a:lnTo>
                    <a:pt x="4252" y="262423"/>
                  </a:lnTo>
                  <a:lnTo>
                    <a:pt x="16466" y="308036"/>
                  </a:lnTo>
                  <a:lnTo>
                    <a:pt x="35824" y="348190"/>
                  </a:lnTo>
                  <a:lnTo>
                    <a:pt x="61511" y="382316"/>
                  </a:lnTo>
                  <a:lnTo>
                    <a:pt x="92710" y="409847"/>
                  </a:lnTo>
                  <a:lnTo>
                    <a:pt x="128605" y="430215"/>
                  </a:lnTo>
                  <a:lnTo>
                    <a:pt x="168380" y="442851"/>
                  </a:lnTo>
                  <a:lnTo>
                    <a:pt x="211217" y="447190"/>
                  </a:lnTo>
                  <a:lnTo>
                    <a:pt x="261813" y="442851"/>
                  </a:lnTo>
                  <a:lnTo>
                    <a:pt x="307463" y="430215"/>
                  </a:lnTo>
                  <a:lnTo>
                    <a:pt x="347612" y="409847"/>
                  </a:lnTo>
                  <a:lnTo>
                    <a:pt x="381705" y="382316"/>
                  </a:lnTo>
                  <a:lnTo>
                    <a:pt x="409188" y="348190"/>
                  </a:lnTo>
                  <a:lnTo>
                    <a:pt x="429506" y="308036"/>
                  </a:lnTo>
                  <a:lnTo>
                    <a:pt x="442104" y="262423"/>
                  </a:lnTo>
                  <a:lnTo>
                    <a:pt x="446426" y="211916"/>
                  </a:lnTo>
                  <a:lnTo>
                    <a:pt x="442104" y="169119"/>
                  </a:lnTo>
                  <a:lnTo>
                    <a:pt x="429506" y="129299"/>
                  </a:lnTo>
                  <a:lnTo>
                    <a:pt x="409188" y="93297"/>
                  </a:lnTo>
                  <a:lnTo>
                    <a:pt x="381705" y="61953"/>
                  </a:lnTo>
                  <a:lnTo>
                    <a:pt x="347612" y="36111"/>
                  </a:lnTo>
                  <a:lnTo>
                    <a:pt x="307463" y="16610"/>
                  </a:lnTo>
                  <a:lnTo>
                    <a:pt x="261813" y="4292"/>
                  </a:lnTo>
                  <a:lnTo>
                    <a:pt x="211217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71631" y="4168118"/>
              <a:ext cx="447040" cy="447675"/>
            </a:xfrm>
            <a:custGeom>
              <a:avLst/>
              <a:gdLst/>
              <a:ahLst/>
              <a:cxnLst/>
              <a:rect l="l" t="t" r="r" b="b"/>
              <a:pathLst>
                <a:path w="447039" h="447675">
                  <a:moveTo>
                    <a:pt x="0" y="211916"/>
                  </a:moveTo>
                  <a:lnTo>
                    <a:pt x="4252" y="262423"/>
                  </a:lnTo>
                  <a:lnTo>
                    <a:pt x="16466" y="308036"/>
                  </a:lnTo>
                  <a:lnTo>
                    <a:pt x="35824" y="348190"/>
                  </a:lnTo>
                  <a:lnTo>
                    <a:pt x="61511" y="382316"/>
                  </a:lnTo>
                  <a:lnTo>
                    <a:pt x="92710" y="409847"/>
                  </a:lnTo>
                  <a:lnTo>
                    <a:pt x="128605" y="430215"/>
                  </a:lnTo>
                  <a:lnTo>
                    <a:pt x="168380" y="442851"/>
                  </a:lnTo>
                  <a:lnTo>
                    <a:pt x="211217" y="447190"/>
                  </a:lnTo>
                  <a:lnTo>
                    <a:pt x="261813" y="442851"/>
                  </a:lnTo>
                  <a:lnTo>
                    <a:pt x="307463" y="430215"/>
                  </a:lnTo>
                  <a:lnTo>
                    <a:pt x="347612" y="409847"/>
                  </a:lnTo>
                  <a:lnTo>
                    <a:pt x="381705" y="382316"/>
                  </a:lnTo>
                  <a:lnTo>
                    <a:pt x="409188" y="348190"/>
                  </a:lnTo>
                  <a:lnTo>
                    <a:pt x="429506" y="308036"/>
                  </a:lnTo>
                  <a:lnTo>
                    <a:pt x="442104" y="262423"/>
                  </a:lnTo>
                  <a:lnTo>
                    <a:pt x="446426" y="211916"/>
                  </a:lnTo>
                  <a:lnTo>
                    <a:pt x="442104" y="169119"/>
                  </a:lnTo>
                  <a:lnTo>
                    <a:pt x="429506" y="129299"/>
                  </a:lnTo>
                  <a:lnTo>
                    <a:pt x="409188" y="93297"/>
                  </a:lnTo>
                  <a:lnTo>
                    <a:pt x="381705" y="61953"/>
                  </a:lnTo>
                  <a:lnTo>
                    <a:pt x="347612" y="36111"/>
                  </a:lnTo>
                  <a:lnTo>
                    <a:pt x="307463" y="16610"/>
                  </a:lnTo>
                  <a:lnTo>
                    <a:pt x="261813" y="4292"/>
                  </a:lnTo>
                  <a:lnTo>
                    <a:pt x="211217" y="0"/>
                  </a:lnTo>
                  <a:lnTo>
                    <a:pt x="162491" y="5580"/>
                  </a:lnTo>
                  <a:lnTo>
                    <a:pt x="117918" y="21485"/>
                  </a:lnTo>
                  <a:lnTo>
                    <a:pt x="78717" y="46459"/>
                  </a:lnTo>
                  <a:lnTo>
                    <a:pt x="46106" y="79244"/>
                  </a:lnTo>
                  <a:lnTo>
                    <a:pt x="21303" y="118586"/>
                  </a:lnTo>
                  <a:lnTo>
                    <a:pt x="5529" y="163229"/>
                  </a:lnTo>
                  <a:lnTo>
                    <a:pt x="0" y="211916"/>
                  </a:lnTo>
                </a:path>
              </a:pathLst>
            </a:custGeom>
            <a:ln w="46763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137589" y="2828157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4" h="471170">
                  <a:moveTo>
                    <a:pt x="799228" y="0"/>
                  </a:moveTo>
                  <a:lnTo>
                    <a:pt x="0" y="0"/>
                  </a:lnTo>
                  <a:lnTo>
                    <a:pt x="0" y="470547"/>
                  </a:lnTo>
                  <a:lnTo>
                    <a:pt x="799228" y="47054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137589" y="2828157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4" h="471170">
                  <a:moveTo>
                    <a:pt x="0" y="470547"/>
                  </a:moveTo>
                  <a:lnTo>
                    <a:pt x="799228" y="47054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70547"/>
                  </a:lnTo>
                  <a:close/>
                </a:path>
              </a:pathLst>
            </a:custGeom>
            <a:ln w="46739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137589" y="3909487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4" h="471170">
                  <a:moveTo>
                    <a:pt x="799228" y="0"/>
                  </a:moveTo>
                  <a:lnTo>
                    <a:pt x="0" y="0"/>
                  </a:lnTo>
                  <a:lnTo>
                    <a:pt x="0" y="470547"/>
                  </a:lnTo>
                  <a:lnTo>
                    <a:pt x="799228" y="47054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00AE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137589" y="3909487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4" h="471170">
                  <a:moveTo>
                    <a:pt x="0" y="470547"/>
                  </a:moveTo>
                  <a:lnTo>
                    <a:pt x="799228" y="47054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70547"/>
                  </a:lnTo>
                  <a:close/>
                </a:path>
              </a:pathLst>
            </a:custGeom>
            <a:ln w="46739">
              <a:solidFill>
                <a:srgbClr val="00AE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15485" y="2170286"/>
              <a:ext cx="0" cy="2727325"/>
            </a:xfrm>
            <a:custGeom>
              <a:avLst/>
              <a:gdLst/>
              <a:ahLst/>
              <a:cxnLst/>
              <a:rect l="l" t="t" r="r" b="b"/>
              <a:pathLst>
                <a:path h="2727325">
                  <a:moveTo>
                    <a:pt x="0" y="2139117"/>
                  </a:moveTo>
                  <a:lnTo>
                    <a:pt x="0" y="2727009"/>
                  </a:lnTo>
                </a:path>
                <a:path h="2727325">
                  <a:moveTo>
                    <a:pt x="0" y="1057950"/>
                  </a:moveTo>
                  <a:lnTo>
                    <a:pt x="0" y="1669129"/>
                  </a:lnTo>
                </a:path>
                <a:path h="2727325">
                  <a:moveTo>
                    <a:pt x="0" y="0"/>
                  </a:moveTo>
                  <a:lnTo>
                    <a:pt x="0" y="611319"/>
                  </a:lnTo>
                </a:path>
              </a:pathLst>
            </a:custGeom>
            <a:ln w="234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215485" y="1935083"/>
              <a:ext cx="1386840" cy="3197225"/>
            </a:xfrm>
            <a:custGeom>
              <a:avLst/>
              <a:gdLst/>
              <a:ahLst/>
              <a:cxnLst/>
              <a:rect l="l" t="t" r="r" b="b"/>
              <a:pathLst>
                <a:path w="1386840" h="3197225">
                  <a:moveTo>
                    <a:pt x="1386607" y="0"/>
                  </a:moveTo>
                  <a:lnTo>
                    <a:pt x="822611" y="0"/>
                  </a:lnTo>
                  <a:lnTo>
                    <a:pt x="822611" y="3196927"/>
                  </a:lnTo>
                  <a:lnTo>
                    <a:pt x="1386607" y="3196927"/>
                  </a:lnTo>
                </a:path>
                <a:path w="1386840" h="3197225">
                  <a:moveTo>
                    <a:pt x="1386607" y="799179"/>
                  </a:moveTo>
                  <a:lnTo>
                    <a:pt x="822611" y="799179"/>
                  </a:lnTo>
                </a:path>
                <a:path w="1386840" h="3197225">
                  <a:moveTo>
                    <a:pt x="1386607" y="1598358"/>
                  </a:moveTo>
                  <a:lnTo>
                    <a:pt x="822611" y="1598358"/>
                  </a:lnTo>
                </a:path>
                <a:path w="1386840" h="3197225">
                  <a:moveTo>
                    <a:pt x="1386607" y="2397654"/>
                  </a:moveTo>
                  <a:lnTo>
                    <a:pt x="822611" y="2397654"/>
                  </a:lnTo>
                </a:path>
                <a:path w="1386840" h="3197225">
                  <a:moveTo>
                    <a:pt x="0" y="540641"/>
                  </a:moveTo>
                  <a:lnTo>
                    <a:pt x="822611" y="540641"/>
                  </a:lnTo>
                </a:path>
                <a:path w="1386840" h="3197225">
                  <a:moveTo>
                    <a:pt x="0" y="1598358"/>
                  </a:moveTo>
                  <a:lnTo>
                    <a:pt x="822611" y="1598358"/>
                  </a:lnTo>
                </a:path>
                <a:path w="1386840" h="3197225">
                  <a:moveTo>
                    <a:pt x="0" y="2656308"/>
                  </a:moveTo>
                  <a:lnTo>
                    <a:pt x="822611" y="2656308"/>
                  </a:lnTo>
                </a:path>
              </a:pathLst>
            </a:custGeom>
            <a:ln w="233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770567" y="2710928"/>
              <a:ext cx="0" cy="1669414"/>
            </a:xfrm>
            <a:custGeom>
              <a:avLst/>
              <a:gdLst/>
              <a:ahLst/>
              <a:cxnLst/>
              <a:rect l="l" t="t" r="r" b="b"/>
              <a:pathLst>
                <a:path h="1669414">
                  <a:moveTo>
                    <a:pt x="0" y="1057833"/>
                  </a:moveTo>
                  <a:lnTo>
                    <a:pt x="0" y="1669106"/>
                  </a:lnTo>
                </a:path>
                <a:path h="1669414">
                  <a:moveTo>
                    <a:pt x="0" y="0"/>
                  </a:moveTo>
                  <a:lnTo>
                    <a:pt x="0" y="587845"/>
                  </a:lnTo>
                </a:path>
              </a:pathLst>
            </a:custGeom>
            <a:ln w="234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70567" y="2334789"/>
              <a:ext cx="1410970" cy="2398395"/>
            </a:xfrm>
            <a:custGeom>
              <a:avLst/>
              <a:gdLst/>
              <a:ahLst/>
              <a:cxnLst/>
              <a:rect l="l" t="t" r="r" b="b"/>
              <a:pathLst>
                <a:path w="1410970" h="2398395">
                  <a:moveTo>
                    <a:pt x="1410457" y="0"/>
                  </a:moveTo>
                  <a:lnTo>
                    <a:pt x="845994" y="0"/>
                  </a:lnTo>
                  <a:lnTo>
                    <a:pt x="845994" y="2397864"/>
                  </a:lnTo>
                  <a:lnTo>
                    <a:pt x="1410457" y="2397864"/>
                  </a:lnTo>
                </a:path>
                <a:path w="1410970" h="2398395">
                  <a:moveTo>
                    <a:pt x="1410457" y="799412"/>
                  </a:moveTo>
                  <a:lnTo>
                    <a:pt x="845994" y="799412"/>
                  </a:lnTo>
                </a:path>
                <a:path w="1410970" h="2398395">
                  <a:moveTo>
                    <a:pt x="1410457" y="1598615"/>
                  </a:moveTo>
                  <a:lnTo>
                    <a:pt x="845994" y="1598615"/>
                  </a:lnTo>
                </a:path>
                <a:path w="1410970" h="2398395">
                  <a:moveTo>
                    <a:pt x="0" y="658010"/>
                  </a:moveTo>
                  <a:lnTo>
                    <a:pt x="845994" y="658010"/>
                  </a:lnTo>
                </a:path>
                <a:path w="1410970" h="2398395">
                  <a:moveTo>
                    <a:pt x="0" y="1739317"/>
                  </a:moveTo>
                  <a:lnTo>
                    <a:pt x="845994" y="1739317"/>
                  </a:lnTo>
                </a:path>
              </a:pathLst>
            </a:custGeom>
            <a:ln w="233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489820" y="3228236"/>
              <a:ext cx="0" cy="611505"/>
            </a:xfrm>
            <a:custGeom>
              <a:avLst/>
              <a:gdLst/>
              <a:ahLst/>
              <a:cxnLst/>
              <a:rect l="l" t="t" r="r" b="b"/>
              <a:pathLst>
                <a:path h="611504">
                  <a:moveTo>
                    <a:pt x="0" y="0"/>
                  </a:moveTo>
                  <a:lnTo>
                    <a:pt x="0" y="611179"/>
                  </a:lnTo>
                </a:path>
              </a:pathLst>
            </a:custGeom>
            <a:ln w="234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489820" y="2734262"/>
              <a:ext cx="1246505" cy="1598930"/>
            </a:xfrm>
            <a:custGeom>
              <a:avLst/>
              <a:gdLst/>
              <a:ahLst/>
              <a:cxnLst/>
              <a:rect l="l" t="t" r="r" b="b"/>
              <a:pathLst>
                <a:path w="1246505" h="1598929">
                  <a:moveTo>
                    <a:pt x="1246216" y="0"/>
                  </a:moveTo>
                  <a:lnTo>
                    <a:pt x="682196" y="0"/>
                  </a:lnTo>
                  <a:lnTo>
                    <a:pt x="682196" y="1598475"/>
                  </a:lnTo>
                  <a:lnTo>
                    <a:pt x="1246216" y="1598475"/>
                  </a:lnTo>
                </a:path>
                <a:path w="1246505" h="1598929">
                  <a:moveTo>
                    <a:pt x="1246216" y="799179"/>
                  </a:moveTo>
                  <a:lnTo>
                    <a:pt x="682196" y="799179"/>
                  </a:lnTo>
                </a:path>
                <a:path w="1246505" h="1598929">
                  <a:moveTo>
                    <a:pt x="0" y="799179"/>
                  </a:moveTo>
                  <a:lnTo>
                    <a:pt x="682196" y="799179"/>
                  </a:lnTo>
                </a:path>
              </a:pathLst>
            </a:custGeom>
            <a:ln w="233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367561" y="3298704"/>
              <a:ext cx="446405" cy="447040"/>
            </a:xfrm>
            <a:custGeom>
              <a:avLst/>
              <a:gdLst/>
              <a:ahLst/>
              <a:cxnLst/>
              <a:rect l="l" t="t" r="r" b="b"/>
              <a:pathLst>
                <a:path w="446404" h="447039">
                  <a:moveTo>
                    <a:pt x="211147" y="0"/>
                  </a:moveTo>
                  <a:lnTo>
                    <a:pt x="162417" y="5551"/>
                  </a:lnTo>
                  <a:lnTo>
                    <a:pt x="117851" y="21379"/>
                  </a:lnTo>
                  <a:lnTo>
                    <a:pt x="78664" y="46249"/>
                  </a:lnTo>
                  <a:lnTo>
                    <a:pt x="46071" y="78923"/>
                  </a:lnTo>
                  <a:lnTo>
                    <a:pt x="21285" y="118165"/>
                  </a:lnTo>
                  <a:lnTo>
                    <a:pt x="5523" y="162737"/>
                  </a:lnTo>
                  <a:lnTo>
                    <a:pt x="0" y="211403"/>
                  </a:lnTo>
                  <a:lnTo>
                    <a:pt x="4248" y="262084"/>
                  </a:lnTo>
                  <a:lnTo>
                    <a:pt x="16452" y="307783"/>
                  </a:lnTo>
                  <a:lnTo>
                    <a:pt x="35796" y="347951"/>
                  </a:lnTo>
                  <a:lnTo>
                    <a:pt x="61467" y="382042"/>
                  </a:lnTo>
                  <a:lnTo>
                    <a:pt x="92652" y="409510"/>
                  </a:lnTo>
                  <a:lnTo>
                    <a:pt x="128536" y="429806"/>
                  </a:lnTo>
                  <a:lnTo>
                    <a:pt x="168306" y="442385"/>
                  </a:lnTo>
                  <a:lnTo>
                    <a:pt x="211147" y="446700"/>
                  </a:lnTo>
                  <a:lnTo>
                    <a:pt x="261737" y="442385"/>
                  </a:lnTo>
                  <a:lnTo>
                    <a:pt x="307386" y="429806"/>
                  </a:lnTo>
                  <a:lnTo>
                    <a:pt x="347539" y="409510"/>
                  </a:lnTo>
                  <a:lnTo>
                    <a:pt x="381638" y="382042"/>
                  </a:lnTo>
                  <a:lnTo>
                    <a:pt x="409128" y="347951"/>
                  </a:lnTo>
                  <a:lnTo>
                    <a:pt x="429452" y="307783"/>
                  </a:lnTo>
                  <a:lnTo>
                    <a:pt x="442055" y="262084"/>
                  </a:lnTo>
                  <a:lnTo>
                    <a:pt x="446379" y="211403"/>
                  </a:lnTo>
                  <a:lnTo>
                    <a:pt x="442055" y="168622"/>
                  </a:lnTo>
                  <a:lnTo>
                    <a:pt x="429452" y="128856"/>
                  </a:lnTo>
                  <a:lnTo>
                    <a:pt x="409128" y="92936"/>
                  </a:lnTo>
                  <a:lnTo>
                    <a:pt x="381638" y="61688"/>
                  </a:lnTo>
                  <a:lnTo>
                    <a:pt x="347539" y="35942"/>
                  </a:lnTo>
                  <a:lnTo>
                    <a:pt x="307386" y="16526"/>
                  </a:lnTo>
                  <a:lnTo>
                    <a:pt x="261737" y="4269"/>
                  </a:lnTo>
                  <a:lnTo>
                    <a:pt x="211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367561" y="3298704"/>
              <a:ext cx="446405" cy="447040"/>
            </a:xfrm>
            <a:custGeom>
              <a:avLst/>
              <a:gdLst/>
              <a:ahLst/>
              <a:cxnLst/>
              <a:rect l="l" t="t" r="r" b="b"/>
              <a:pathLst>
                <a:path w="446404" h="447039">
                  <a:moveTo>
                    <a:pt x="0" y="211403"/>
                  </a:moveTo>
                  <a:lnTo>
                    <a:pt x="4248" y="262084"/>
                  </a:lnTo>
                  <a:lnTo>
                    <a:pt x="16452" y="307783"/>
                  </a:lnTo>
                  <a:lnTo>
                    <a:pt x="35796" y="347951"/>
                  </a:lnTo>
                  <a:lnTo>
                    <a:pt x="61467" y="382042"/>
                  </a:lnTo>
                  <a:lnTo>
                    <a:pt x="92652" y="409510"/>
                  </a:lnTo>
                  <a:lnTo>
                    <a:pt x="128536" y="429806"/>
                  </a:lnTo>
                  <a:lnTo>
                    <a:pt x="168306" y="442385"/>
                  </a:lnTo>
                  <a:lnTo>
                    <a:pt x="211147" y="446700"/>
                  </a:lnTo>
                  <a:lnTo>
                    <a:pt x="261737" y="442385"/>
                  </a:lnTo>
                  <a:lnTo>
                    <a:pt x="307386" y="429806"/>
                  </a:lnTo>
                  <a:lnTo>
                    <a:pt x="347539" y="409510"/>
                  </a:lnTo>
                  <a:lnTo>
                    <a:pt x="381638" y="382042"/>
                  </a:lnTo>
                  <a:lnTo>
                    <a:pt x="409128" y="347951"/>
                  </a:lnTo>
                  <a:lnTo>
                    <a:pt x="429452" y="307783"/>
                  </a:lnTo>
                  <a:lnTo>
                    <a:pt x="442055" y="262084"/>
                  </a:lnTo>
                  <a:lnTo>
                    <a:pt x="446379" y="211403"/>
                  </a:lnTo>
                  <a:lnTo>
                    <a:pt x="442055" y="168622"/>
                  </a:lnTo>
                  <a:lnTo>
                    <a:pt x="429452" y="128856"/>
                  </a:lnTo>
                  <a:lnTo>
                    <a:pt x="409128" y="92936"/>
                  </a:lnTo>
                  <a:lnTo>
                    <a:pt x="381638" y="61688"/>
                  </a:lnTo>
                  <a:lnTo>
                    <a:pt x="347539" y="35942"/>
                  </a:lnTo>
                  <a:lnTo>
                    <a:pt x="307386" y="16526"/>
                  </a:lnTo>
                  <a:lnTo>
                    <a:pt x="261737" y="4269"/>
                  </a:lnTo>
                  <a:lnTo>
                    <a:pt x="211147" y="0"/>
                  </a:lnTo>
                  <a:lnTo>
                    <a:pt x="162417" y="5551"/>
                  </a:lnTo>
                  <a:lnTo>
                    <a:pt x="117851" y="21379"/>
                  </a:lnTo>
                  <a:lnTo>
                    <a:pt x="78664" y="46249"/>
                  </a:lnTo>
                  <a:lnTo>
                    <a:pt x="46071" y="78923"/>
                  </a:lnTo>
                  <a:lnTo>
                    <a:pt x="21285" y="118165"/>
                  </a:lnTo>
                  <a:lnTo>
                    <a:pt x="5523" y="162737"/>
                  </a:lnTo>
                  <a:lnTo>
                    <a:pt x="0" y="211403"/>
                  </a:lnTo>
                </a:path>
              </a:pathLst>
            </a:custGeom>
            <a:ln w="46763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508561" y="3380092"/>
            <a:ext cx="227329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latin typeface="Times New Roman"/>
                <a:cs typeface="Times New Roman"/>
              </a:rPr>
              <a:t>T3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344066" y="2475563"/>
            <a:ext cx="493395" cy="494030"/>
            <a:chOff x="7344066" y="2475563"/>
            <a:chExt cx="493395" cy="494030"/>
          </a:xfrm>
        </p:grpSpPr>
        <p:sp>
          <p:nvSpPr>
            <p:cNvPr id="57" name="object 57"/>
            <p:cNvSpPr/>
            <p:nvPr/>
          </p:nvSpPr>
          <p:spPr>
            <a:xfrm>
              <a:off x="7367561" y="2499058"/>
              <a:ext cx="446405" cy="447040"/>
            </a:xfrm>
            <a:custGeom>
              <a:avLst/>
              <a:gdLst/>
              <a:ahLst/>
              <a:cxnLst/>
              <a:rect l="l" t="t" r="r" b="b"/>
              <a:pathLst>
                <a:path w="446404" h="447039">
                  <a:moveTo>
                    <a:pt x="211147" y="0"/>
                  </a:moveTo>
                  <a:lnTo>
                    <a:pt x="162417" y="5540"/>
                  </a:lnTo>
                  <a:lnTo>
                    <a:pt x="117851" y="21349"/>
                  </a:lnTo>
                  <a:lnTo>
                    <a:pt x="78664" y="46212"/>
                  </a:lnTo>
                  <a:lnTo>
                    <a:pt x="46071" y="78912"/>
                  </a:lnTo>
                  <a:lnTo>
                    <a:pt x="21285" y="118233"/>
                  </a:lnTo>
                  <a:lnTo>
                    <a:pt x="5523" y="162957"/>
                  </a:lnTo>
                  <a:lnTo>
                    <a:pt x="0" y="211870"/>
                  </a:lnTo>
                  <a:lnTo>
                    <a:pt x="4248" y="262353"/>
                  </a:lnTo>
                  <a:lnTo>
                    <a:pt x="16452" y="307906"/>
                  </a:lnTo>
                  <a:lnTo>
                    <a:pt x="35796" y="347974"/>
                  </a:lnTo>
                  <a:lnTo>
                    <a:pt x="61467" y="382001"/>
                  </a:lnTo>
                  <a:lnTo>
                    <a:pt x="92652" y="409434"/>
                  </a:lnTo>
                  <a:lnTo>
                    <a:pt x="128536" y="429715"/>
                  </a:lnTo>
                  <a:lnTo>
                    <a:pt x="168306" y="442291"/>
                  </a:lnTo>
                  <a:lnTo>
                    <a:pt x="211147" y="446607"/>
                  </a:lnTo>
                  <a:lnTo>
                    <a:pt x="261737" y="442291"/>
                  </a:lnTo>
                  <a:lnTo>
                    <a:pt x="307386" y="429715"/>
                  </a:lnTo>
                  <a:lnTo>
                    <a:pt x="347539" y="409434"/>
                  </a:lnTo>
                  <a:lnTo>
                    <a:pt x="381638" y="382001"/>
                  </a:lnTo>
                  <a:lnTo>
                    <a:pt x="409128" y="347974"/>
                  </a:lnTo>
                  <a:lnTo>
                    <a:pt x="429452" y="307906"/>
                  </a:lnTo>
                  <a:lnTo>
                    <a:pt x="442055" y="262353"/>
                  </a:lnTo>
                  <a:lnTo>
                    <a:pt x="446379" y="211870"/>
                  </a:lnTo>
                  <a:lnTo>
                    <a:pt x="442055" y="168867"/>
                  </a:lnTo>
                  <a:lnTo>
                    <a:pt x="429452" y="128955"/>
                  </a:lnTo>
                  <a:lnTo>
                    <a:pt x="409128" y="92947"/>
                  </a:lnTo>
                  <a:lnTo>
                    <a:pt x="381638" y="61659"/>
                  </a:lnTo>
                  <a:lnTo>
                    <a:pt x="347539" y="35905"/>
                  </a:lnTo>
                  <a:lnTo>
                    <a:pt x="307386" y="16501"/>
                  </a:lnTo>
                  <a:lnTo>
                    <a:pt x="261737" y="4261"/>
                  </a:lnTo>
                  <a:lnTo>
                    <a:pt x="211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367561" y="2499058"/>
              <a:ext cx="446405" cy="447040"/>
            </a:xfrm>
            <a:custGeom>
              <a:avLst/>
              <a:gdLst/>
              <a:ahLst/>
              <a:cxnLst/>
              <a:rect l="l" t="t" r="r" b="b"/>
              <a:pathLst>
                <a:path w="446404" h="447039">
                  <a:moveTo>
                    <a:pt x="0" y="211870"/>
                  </a:moveTo>
                  <a:lnTo>
                    <a:pt x="4248" y="262353"/>
                  </a:lnTo>
                  <a:lnTo>
                    <a:pt x="16452" y="307906"/>
                  </a:lnTo>
                  <a:lnTo>
                    <a:pt x="35796" y="347974"/>
                  </a:lnTo>
                  <a:lnTo>
                    <a:pt x="61467" y="382001"/>
                  </a:lnTo>
                  <a:lnTo>
                    <a:pt x="92652" y="409434"/>
                  </a:lnTo>
                  <a:lnTo>
                    <a:pt x="128536" y="429715"/>
                  </a:lnTo>
                  <a:lnTo>
                    <a:pt x="168306" y="442291"/>
                  </a:lnTo>
                  <a:lnTo>
                    <a:pt x="211147" y="446607"/>
                  </a:lnTo>
                  <a:lnTo>
                    <a:pt x="261737" y="442291"/>
                  </a:lnTo>
                  <a:lnTo>
                    <a:pt x="307386" y="429715"/>
                  </a:lnTo>
                  <a:lnTo>
                    <a:pt x="347539" y="409434"/>
                  </a:lnTo>
                  <a:lnTo>
                    <a:pt x="381638" y="382001"/>
                  </a:lnTo>
                  <a:lnTo>
                    <a:pt x="409128" y="347974"/>
                  </a:lnTo>
                  <a:lnTo>
                    <a:pt x="429452" y="307906"/>
                  </a:lnTo>
                  <a:lnTo>
                    <a:pt x="442055" y="262353"/>
                  </a:lnTo>
                  <a:lnTo>
                    <a:pt x="446379" y="211870"/>
                  </a:lnTo>
                  <a:lnTo>
                    <a:pt x="442055" y="168867"/>
                  </a:lnTo>
                  <a:lnTo>
                    <a:pt x="429452" y="128955"/>
                  </a:lnTo>
                  <a:lnTo>
                    <a:pt x="409128" y="92947"/>
                  </a:lnTo>
                  <a:lnTo>
                    <a:pt x="381638" y="61659"/>
                  </a:lnTo>
                  <a:lnTo>
                    <a:pt x="347539" y="35905"/>
                  </a:lnTo>
                  <a:lnTo>
                    <a:pt x="307386" y="16501"/>
                  </a:lnTo>
                  <a:lnTo>
                    <a:pt x="261737" y="4261"/>
                  </a:lnTo>
                  <a:lnTo>
                    <a:pt x="211147" y="0"/>
                  </a:lnTo>
                  <a:lnTo>
                    <a:pt x="162417" y="5540"/>
                  </a:lnTo>
                  <a:lnTo>
                    <a:pt x="117851" y="21349"/>
                  </a:lnTo>
                  <a:lnTo>
                    <a:pt x="78664" y="46212"/>
                  </a:lnTo>
                  <a:lnTo>
                    <a:pt x="46071" y="78912"/>
                  </a:lnTo>
                  <a:lnTo>
                    <a:pt x="21285" y="118233"/>
                  </a:lnTo>
                  <a:lnTo>
                    <a:pt x="5523" y="162957"/>
                  </a:lnTo>
                  <a:lnTo>
                    <a:pt x="0" y="211870"/>
                  </a:lnTo>
                </a:path>
              </a:pathLst>
            </a:custGeom>
            <a:ln w="46763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7508561" y="2580937"/>
            <a:ext cx="227329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latin typeface="Times New Roman"/>
                <a:cs typeface="Times New Roman"/>
              </a:rPr>
              <a:t>T2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7344066" y="1676150"/>
            <a:ext cx="493395" cy="494030"/>
            <a:chOff x="7344066" y="1676150"/>
            <a:chExt cx="493395" cy="494030"/>
          </a:xfrm>
        </p:grpSpPr>
        <p:sp>
          <p:nvSpPr>
            <p:cNvPr id="61" name="object 61"/>
            <p:cNvSpPr/>
            <p:nvPr/>
          </p:nvSpPr>
          <p:spPr>
            <a:xfrm>
              <a:off x="7367561" y="1699645"/>
              <a:ext cx="446405" cy="447040"/>
            </a:xfrm>
            <a:custGeom>
              <a:avLst/>
              <a:gdLst/>
              <a:ahLst/>
              <a:cxnLst/>
              <a:rect l="l" t="t" r="r" b="b"/>
              <a:pathLst>
                <a:path w="446404" h="447039">
                  <a:moveTo>
                    <a:pt x="211147" y="0"/>
                  </a:moveTo>
                  <a:lnTo>
                    <a:pt x="162417" y="5552"/>
                  </a:lnTo>
                  <a:lnTo>
                    <a:pt x="117851" y="21390"/>
                  </a:lnTo>
                  <a:lnTo>
                    <a:pt x="78664" y="46286"/>
                  </a:lnTo>
                  <a:lnTo>
                    <a:pt x="46071" y="79010"/>
                  </a:lnTo>
                  <a:lnTo>
                    <a:pt x="21285" y="118335"/>
                  </a:lnTo>
                  <a:lnTo>
                    <a:pt x="5523" y="163031"/>
                  </a:lnTo>
                  <a:lnTo>
                    <a:pt x="0" y="211870"/>
                  </a:lnTo>
                  <a:lnTo>
                    <a:pt x="4248" y="262420"/>
                  </a:lnTo>
                  <a:lnTo>
                    <a:pt x="16452" y="308004"/>
                  </a:lnTo>
                  <a:lnTo>
                    <a:pt x="35796" y="348076"/>
                  </a:lnTo>
                  <a:lnTo>
                    <a:pt x="61467" y="382089"/>
                  </a:lnTo>
                  <a:lnTo>
                    <a:pt x="92652" y="409495"/>
                  </a:lnTo>
                  <a:lnTo>
                    <a:pt x="128536" y="429748"/>
                  </a:lnTo>
                  <a:lnTo>
                    <a:pt x="168306" y="442301"/>
                  </a:lnTo>
                  <a:lnTo>
                    <a:pt x="211147" y="446607"/>
                  </a:lnTo>
                  <a:lnTo>
                    <a:pt x="261737" y="442301"/>
                  </a:lnTo>
                  <a:lnTo>
                    <a:pt x="307386" y="429748"/>
                  </a:lnTo>
                  <a:lnTo>
                    <a:pt x="347539" y="409495"/>
                  </a:lnTo>
                  <a:lnTo>
                    <a:pt x="381638" y="382089"/>
                  </a:lnTo>
                  <a:lnTo>
                    <a:pt x="409128" y="348076"/>
                  </a:lnTo>
                  <a:lnTo>
                    <a:pt x="429452" y="308004"/>
                  </a:lnTo>
                  <a:lnTo>
                    <a:pt x="442055" y="262420"/>
                  </a:lnTo>
                  <a:lnTo>
                    <a:pt x="446379" y="211870"/>
                  </a:lnTo>
                  <a:lnTo>
                    <a:pt x="442055" y="168934"/>
                  </a:lnTo>
                  <a:lnTo>
                    <a:pt x="429452" y="129053"/>
                  </a:lnTo>
                  <a:lnTo>
                    <a:pt x="409128" y="93049"/>
                  </a:lnTo>
                  <a:lnTo>
                    <a:pt x="381638" y="61746"/>
                  </a:lnTo>
                  <a:lnTo>
                    <a:pt x="347539" y="35967"/>
                  </a:lnTo>
                  <a:lnTo>
                    <a:pt x="307386" y="16534"/>
                  </a:lnTo>
                  <a:lnTo>
                    <a:pt x="261737" y="4270"/>
                  </a:lnTo>
                  <a:lnTo>
                    <a:pt x="211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367561" y="1699645"/>
              <a:ext cx="446405" cy="447040"/>
            </a:xfrm>
            <a:custGeom>
              <a:avLst/>
              <a:gdLst/>
              <a:ahLst/>
              <a:cxnLst/>
              <a:rect l="l" t="t" r="r" b="b"/>
              <a:pathLst>
                <a:path w="446404" h="447039">
                  <a:moveTo>
                    <a:pt x="0" y="211870"/>
                  </a:moveTo>
                  <a:lnTo>
                    <a:pt x="4248" y="262420"/>
                  </a:lnTo>
                  <a:lnTo>
                    <a:pt x="16452" y="308004"/>
                  </a:lnTo>
                  <a:lnTo>
                    <a:pt x="35796" y="348076"/>
                  </a:lnTo>
                  <a:lnTo>
                    <a:pt x="61467" y="382089"/>
                  </a:lnTo>
                  <a:lnTo>
                    <a:pt x="92652" y="409495"/>
                  </a:lnTo>
                  <a:lnTo>
                    <a:pt x="128536" y="429748"/>
                  </a:lnTo>
                  <a:lnTo>
                    <a:pt x="168306" y="442301"/>
                  </a:lnTo>
                  <a:lnTo>
                    <a:pt x="211147" y="446607"/>
                  </a:lnTo>
                  <a:lnTo>
                    <a:pt x="261737" y="442301"/>
                  </a:lnTo>
                  <a:lnTo>
                    <a:pt x="307386" y="429748"/>
                  </a:lnTo>
                  <a:lnTo>
                    <a:pt x="347539" y="409495"/>
                  </a:lnTo>
                  <a:lnTo>
                    <a:pt x="381638" y="382089"/>
                  </a:lnTo>
                  <a:lnTo>
                    <a:pt x="409128" y="348076"/>
                  </a:lnTo>
                  <a:lnTo>
                    <a:pt x="429452" y="308004"/>
                  </a:lnTo>
                  <a:lnTo>
                    <a:pt x="442055" y="262420"/>
                  </a:lnTo>
                  <a:lnTo>
                    <a:pt x="446379" y="211870"/>
                  </a:lnTo>
                  <a:lnTo>
                    <a:pt x="442055" y="168934"/>
                  </a:lnTo>
                  <a:lnTo>
                    <a:pt x="429452" y="129053"/>
                  </a:lnTo>
                  <a:lnTo>
                    <a:pt x="409128" y="93049"/>
                  </a:lnTo>
                  <a:lnTo>
                    <a:pt x="381638" y="61746"/>
                  </a:lnTo>
                  <a:lnTo>
                    <a:pt x="347539" y="35967"/>
                  </a:lnTo>
                  <a:lnTo>
                    <a:pt x="307386" y="16534"/>
                  </a:lnTo>
                  <a:lnTo>
                    <a:pt x="261737" y="4270"/>
                  </a:lnTo>
                  <a:lnTo>
                    <a:pt x="211147" y="0"/>
                  </a:lnTo>
                  <a:lnTo>
                    <a:pt x="162417" y="5552"/>
                  </a:lnTo>
                  <a:lnTo>
                    <a:pt x="117851" y="21390"/>
                  </a:lnTo>
                  <a:lnTo>
                    <a:pt x="78664" y="46286"/>
                  </a:lnTo>
                  <a:lnTo>
                    <a:pt x="46071" y="79010"/>
                  </a:lnTo>
                  <a:lnTo>
                    <a:pt x="21285" y="118335"/>
                  </a:lnTo>
                  <a:lnTo>
                    <a:pt x="5523" y="163031"/>
                  </a:lnTo>
                  <a:lnTo>
                    <a:pt x="0" y="211870"/>
                  </a:lnTo>
                </a:path>
              </a:pathLst>
            </a:custGeom>
            <a:ln w="46763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7508561" y="1781057"/>
            <a:ext cx="227329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latin typeface="Times New Roman"/>
                <a:cs typeface="Times New Roman"/>
              </a:rPr>
              <a:t>T1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7344066" y="4074552"/>
            <a:ext cx="493395" cy="494030"/>
            <a:chOff x="7344066" y="4074552"/>
            <a:chExt cx="493395" cy="494030"/>
          </a:xfrm>
        </p:grpSpPr>
        <p:sp>
          <p:nvSpPr>
            <p:cNvPr id="65" name="object 65"/>
            <p:cNvSpPr/>
            <p:nvPr/>
          </p:nvSpPr>
          <p:spPr>
            <a:xfrm>
              <a:off x="7367561" y="4098047"/>
              <a:ext cx="446405" cy="447040"/>
            </a:xfrm>
            <a:custGeom>
              <a:avLst/>
              <a:gdLst/>
              <a:ahLst/>
              <a:cxnLst/>
              <a:rect l="l" t="t" r="r" b="b"/>
              <a:pathLst>
                <a:path w="446404" h="447039">
                  <a:moveTo>
                    <a:pt x="211147" y="0"/>
                  </a:moveTo>
                  <a:lnTo>
                    <a:pt x="162417" y="5548"/>
                  </a:lnTo>
                  <a:lnTo>
                    <a:pt x="117851" y="21370"/>
                  </a:lnTo>
                  <a:lnTo>
                    <a:pt x="78664" y="46231"/>
                  </a:lnTo>
                  <a:lnTo>
                    <a:pt x="46071" y="78895"/>
                  </a:lnTo>
                  <a:lnTo>
                    <a:pt x="21285" y="118127"/>
                  </a:lnTo>
                  <a:lnTo>
                    <a:pt x="5523" y="162693"/>
                  </a:lnTo>
                  <a:lnTo>
                    <a:pt x="0" y="211356"/>
                  </a:lnTo>
                  <a:lnTo>
                    <a:pt x="4248" y="262023"/>
                  </a:lnTo>
                  <a:lnTo>
                    <a:pt x="16452" y="307713"/>
                  </a:lnTo>
                  <a:lnTo>
                    <a:pt x="35796" y="347876"/>
                  </a:lnTo>
                  <a:lnTo>
                    <a:pt x="61467" y="381966"/>
                  </a:lnTo>
                  <a:lnTo>
                    <a:pt x="92652" y="409435"/>
                  </a:lnTo>
                  <a:lnTo>
                    <a:pt x="128536" y="429733"/>
                  </a:lnTo>
                  <a:lnTo>
                    <a:pt x="168306" y="442314"/>
                  </a:lnTo>
                  <a:lnTo>
                    <a:pt x="211147" y="446630"/>
                  </a:lnTo>
                  <a:lnTo>
                    <a:pt x="261737" y="442314"/>
                  </a:lnTo>
                  <a:lnTo>
                    <a:pt x="307386" y="429733"/>
                  </a:lnTo>
                  <a:lnTo>
                    <a:pt x="347539" y="409435"/>
                  </a:lnTo>
                  <a:lnTo>
                    <a:pt x="381638" y="381966"/>
                  </a:lnTo>
                  <a:lnTo>
                    <a:pt x="409128" y="347876"/>
                  </a:lnTo>
                  <a:lnTo>
                    <a:pt x="429452" y="307713"/>
                  </a:lnTo>
                  <a:lnTo>
                    <a:pt x="442055" y="262023"/>
                  </a:lnTo>
                  <a:lnTo>
                    <a:pt x="446379" y="211356"/>
                  </a:lnTo>
                  <a:lnTo>
                    <a:pt x="442055" y="168577"/>
                  </a:lnTo>
                  <a:lnTo>
                    <a:pt x="429452" y="128817"/>
                  </a:lnTo>
                  <a:lnTo>
                    <a:pt x="409128" y="92904"/>
                  </a:lnTo>
                  <a:lnTo>
                    <a:pt x="381638" y="61665"/>
                  </a:lnTo>
                  <a:lnTo>
                    <a:pt x="347539" y="35927"/>
                  </a:lnTo>
                  <a:lnTo>
                    <a:pt x="307386" y="16519"/>
                  </a:lnTo>
                  <a:lnTo>
                    <a:pt x="261737" y="4267"/>
                  </a:lnTo>
                  <a:lnTo>
                    <a:pt x="211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367561" y="4098047"/>
              <a:ext cx="446405" cy="447040"/>
            </a:xfrm>
            <a:custGeom>
              <a:avLst/>
              <a:gdLst/>
              <a:ahLst/>
              <a:cxnLst/>
              <a:rect l="l" t="t" r="r" b="b"/>
              <a:pathLst>
                <a:path w="446404" h="447039">
                  <a:moveTo>
                    <a:pt x="0" y="211356"/>
                  </a:moveTo>
                  <a:lnTo>
                    <a:pt x="4248" y="262023"/>
                  </a:lnTo>
                  <a:lnTo>
                    <a:pt x="16452" y="307713"/>
                  </a:lnTo>
                  <a:lnTo>
                    <a:pt x="35796" y="347876"/>
                  </a:lnTo>
                  <a:lnTo>
                    <a:pt x="61467" y="381966"/>
                  </a:lnTo>
                  <a:lnTo>
                    <a:pt x="92652" y="409435"/>
                  </a:lnTo>
                  <a:lnTo>
                    <a:pt x="128536" y="429733"/>
                  </a:lnTo>
                  <a:lnTo>
                    <a:pt x="168306" y="442314"/>
                  </a:lnTo>
                  <a:lnTo>
                    <a:pt x="211147" y="446630"/>
                  </a:lnTo>
                  <a:lnTo>
                    <a:pt x="261737" y="442314"/>
                  </a:lnTo>
                  <a:lnTo>
                    <a:pt x="307386" y="429733"/>
                  </a:lnTo>
                  <a:lnTo>
                    <a:pt x="347539" y="409435"/>
                  </a:lnTo>
                  <a:lnTo>
                    <a:pt x="381638" y="381966"/>
                  </a:lnTo>
                  <a:lnTo>
                    <a:pt x="409128" y="347876"/>
                  </a:lnTo>
                  <a:lnTo>
                    <a:pt x="429452" y="307713"/>
                  </a:lnTo>
                  <a:lnTo>
                    <a:pt x="442055" y="262023"/>
                  </a:lnTo>
                  <a:lnTo>
                    <a:pt x="446379" y="211356"/>
                  </a:lnTo>
                  <a:lnTo>
                    <a:pt x="442055" y="168577"/>
                  </a:lnTo>
                  <a:lnTo>
                    <a:pt x="429452" y="128817"/>
                  </a:lnTo>
                  <a:lnTo>
                    <a:pt x="409128" y="92904"/>
                  </a:lnTo>
                  <a:lnTo>
                    <a:pt x="381638" y="61665"/>
                  </a:lnTo>
                  <a:lnTo>
                    <a:pt x="347539" y="35927"/>
                  </a:lnTo>
                  <a:lnTo>
                    <a:pt x="307386" y="16519"/>
                  </a:lnTo>
                  <a:lnTo>
                    <a:pt x="261737" y="4267"/>
                  </a:lnTo>
                  <a:lnTo>
                    <a:pt x="211147" y="0"/>
                  </a:lnTo>
                  <a:lnTo>
                    <a:pt x="162417" y="5548"/>
                  </a:lnTo>
                  <a:lnTo>
                    <a:pt x="117851" y="21370"/>
                  </a:lnTo>
                  <a:lnTo>
                    <a:pt x="78664" y="46231"/>
                  </a:lnTo>
                  <a:lnTo>
                    <a:pt x="46071" y="78895"/>
                  </a:lnTo>
                  <a:lnTo>
                    <a:pt x="21285" y="118127"/>
                  </a:lnTo>
                  <a:lnTo>
                    <a:pt x="5523" y="162693"/>
                  </a:lnTo>
                  <a:lnTo>
                    <a:pt x="0" y="211356"/>
                  </a:lnTo>
                </a:path>
              </a:pathLst>
            </a:custGeom>
            <a:ln w="46763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7508561" y="4179342"/>
            <a:ext cx="227329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latin typeface="Times New Roman"/>
                <a:cs typeface="Times New Roman"/>
              </a:rPr>
              <a:t>T4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7344066" y="4873801"/>
            <a:ext cx="493395" cy="494030"/>
            <a:chOff x="7344066" y="4873801"/>
            <a:chExt cx="493395" cy="494030"/>
          </a:xfrm>
        </p:grpSpPr>
        <p:sp>
          <p:nvSpPr>
            <p:cNvPr id="69" name="object 69"/>
            <p:cNvSpPr/>
            <p:nvPr/>
          </p:nvSpPr>
          <p:spPr>
            <a:xfrm>
              <a:off x="7367561" y="4897296"/>
              <a:ext cx="446405" cy="447040"/>
            </a:xfrm>
            <a:custGeom>
              <a:avLst/>
              <a:gdLst/>
              <a:ahLst/>
              <a:cxnLst/>
              <a:rect l="l" t="t" r="r" b="b"/>
              <a:pathLst>
                <a:path w="446404" h="447039">
                  <a:moveTo>
                    <a:pt x="211147" y="0"/>
                  </a:moveTo>
                  <a:lnTo>
                    <a:pt x="162417" y="5548"/>
                  </a:lnTo>
                  <a:lnTo>
                    <a:pt x="117851" y="21370"/>
                  </a:lnTo>
                  <a:lnTo>
                    <a:pt x="78664" y="46231"/>
                  </a:lnTo>
                  <a:lnTo>
                    <a:pt x="46071" y="78895"/>
                  </a:lnTo>
                  <a:lnTo>
                    <a:pt x="21285" y="118127"/>
                  </a:lnTo>
                  <a:lnTo>
                    <a:pt x="5523" y="162693"/>
                  </a:lnTo>
                  <a:lnTo>
                    <a:pt x="0" y="211356"/>
                  </a:lnTo>
                  <a:lnTo>
                    <a:pt x="4248" y="262023"/>
                  </a:lnTo>
                  <a:lnTo>
                    <a:pt x="16452" y="307713"/>
                  </a:lnTo>
                  <a:lnTo>
                    <a:pt x="35796" y="347876"/>
                  </a:lnTo>
                  <a:lnTo>
                    <a:pt x="61467" y="381966"/>
                  </a:lnTo>
                  <a:lnTo>
                    <a:pt x="92652" y="409435"/>
                  </a:lnTo>
                  <a:lnTo>
                    <a:pt x="128536" y="429733"/>
                  </a:lnTo>
                  <a:lnTo>
                    <a:pt x="168306" y="442314"/>
                  </a:lnTo>
                  <a:lnTo>
                    <a:pt x="211147" y="446630"/>
                  </a:lnTo>
                  <a:lnTo>
                    <a:pt x="261737" y="442314"/>
                  </a:lnTo>
                  <a:lnTo>
                    <a:pt x="307386" y="429733"/>
                  </a:lnTo>
                  <a:lnTo>
                    <a:pt x="347539" y="409435"/>
                  </a:lnTo>
                  <a:lnTo>
                    <a:pt x="381638" y="381966"/>
                  </a:lnTo>
                  <a:lnTo>
                    <a:pt x="409128" y="347876"/>
                  </a:lnTo>
                  <a:lnTo>
                    <a:pt x="429452" y="307713"/>
                  </a:lnTo>
                  <a:lnTo>
                    <a:pt x="442055" y="262023"/>
                  </a:lnTo>
                  <a:lnTo>
                    <a:pt x="446379" y="211356"/>
                  </a:lnTo>
                  <a:lnTo>
                    <a:pt x="442055" y="168577"/>
                  </a:lnTo>
                  <a:lnTo>
                    <a:pt x="429452" y="128817"/>
                  </a:lnTo>
                  <a:lnTo>
                    <a:pt x="409128" y="92904"/>
                  </a:lnTo>
                  <a:lnTo>
                    <a:pt x="381638" y="61665"/>
                  </a:lnTo>
                  <a:lnTo>
                    <a:pt x="347539" y="35927"/>
                  </a:lnTo>
                  <a:lnTo>
                    <a:pt x="307386" y="16519"/>
                  </a:lnTo>
                  <a:lnTo>
                    <a:pt x="261737" y="4267"/>
                  </a:lnTo>
                  <a:lnTo>
                    <a:pt x="2111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367561" y="4897296"/>
              <a:ext cx="446405" cy="447040"/>
            </a:xfrm>
            <a:custGeom>
              <a:avLst/>
              <a:gdLst/>
              <a:ahLst/>
              <a:cxnLst/>
              <a:rect l="l" t="t" r="r" b="b"/>
              <a:pathLst>
                <a:path w="446404" h="447039">
                  <a:moveTo>
                    <a:pt x="0" y="211356"/>
                  </a:moveTo>
                  <a:lnTo>
                    <a:pt x="4248" y="262023"/>
                  </a:lnTo>
                  <a:lnTo>
                    <a:pt x="16452" y="307713"/>
                  </a:lnTo>
                  <a:lnTo>
                    <a:pt x="35796" y="347876"/>
                  </a:lnTo>
                  <a:lnTo>
                    <a:pt x="61467" y="381966"/>
                  </a:lnTo>
                  <a:lnTo>
                    <a:pt x="92652" y="409435"/>
                  </a:lnTo>
                  <a:lnTo>
                    <a:pt x="128536" y="429733"/>
                  </a:lnTo>
                  <a:lnTo>
                    <a:pt x="168306" y="442314"/>
                  </a:lnTo>
                  <a:lnTo>
                    <a:pt x="211147" y="446630"/>
                  </a:lnTo>
                  <a:lnTo>
                    <a:pt x="261737" y="442314"/>
                  </a:lnTo>
                  <a:lnTo>
                    <a:pt x="307386" y="429733"/>
                  </a:lnTo>
                  <a:lnTo>
                    <a:pt x="347539" y="409435"/>
                  </a:lnTo>
                  <a:lnTo>
                    <a:pt x="381638" y="381966"/>
                  </a:lnTo>
                  <a:lnTo>
                    <a:pt x="409128" y="347876"/>
                  </a:lnTo>
                  <a:lnTo>
                    <a:pt x="429452" y="307713"/>
                  </a:lnTo>
                  <a:lnTo>
                    <a:pt x="442055" y="262023"/>
                  </a:lnTo>
                  <a:lnTo>
                    <a:pt x="446379" y="211356"/>
                  </a:lnTo>
                  <a:lnTo>
                    <a:pt x="442055" y="168577"/>
                  </a:lnTo>
                  <a:lnTo>
                    <a:pt x="429452" y="128817"/>
                  </a:lnTo>
                  <a:lnTo>
                    <a:pt x="409128" y="92904"/>
                  </a:lnTo>
                  <a:lnTo>
                    <a:pt x="381638" y="61665"/>
                  </a:lnTo>
                  <a:lnTo>
                    <a:pt x="347539" y="35927"/>
                  </a:lnTo>
                  <a:lnTo>
                    <a:pt x="307386" y="16519"/>
                  </a:lnTo>
                  <a:lnTo>
                    <a:pt x="261737" y="4267"/>
                  </a:lnTo>
                  <a:lnTo>
                    <a:pt x="211147" y="0"/>
                  </a:lnTo>
                  <a:lnTo>
                    <a:pt x="162417" y="5548"/>
                  </a:lnTo>
                  <a:lnTo>
                    <a:pt x="117851" y="21370"/>
                  </a:lnTo>
                  <a:lnTo>
                    <a:pt x="78664" y="46231"/>
                  </a:lnTo>
                  <a:lnTo>
                    <a:pt x="46071" y="78895"/>
                  </a:lnTo>
                  <a:lnTo>
                    <a:pt x="21285" y="118127"/>
                  </a:lnTo>
                  <a:lnTo>
                    <a:pt x="5523" y="162693"/>
                  </a:lnTo>
                  <a:lnTo>
                    <a:pt x="0" y="211356"/>
                  </a:lnTo>
                </a:path>
              </a:pathLst>
            </a:custGeom>
            <a:ln w="46763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7508561" y="4978591"/>
            <a:ext cx="227329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latin typeface="Times New Roman"/>
                <a:cs typeface="Times New Roman"/>
              </a:rPr>
              <a:t>T5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5792376" y="1676244"/>
            <a:ext cx="846455" cy="518159"/>
            <a:chOff x="5792376" y="1676244"/>
            <a:chExt cx="846455" cy="518159"/>
          </a:xfrm>
        </p:grpSpPr>
        <p:sp>
          <p:nvSpPr>
            <p:cNvPr id="73" name="object 73"/>
            <p:cNvSpPr/>
            <p:nvPr/>
          </p:nvSpPr>
          <p:spPr>
            <a:xfrm>
              <a:off x="5815871" y="1699739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5" h="471169">
                  <a:moveTo>
                    <a:pt x="799228" y="0"/>
                  </a:moveTo>
                  <a:lnTo>
                    <a:pt x="0" y="0"/>
                  </a:lnTo>
                  <a:lnTo>
                    <a:pt x="0" y="470547"/>
                  </a:lnTo>
                  <a:lnTo>
                    <a:pt x="799228" y="47054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815871" y="1699739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5" h="471169">
                  <a:moveTo>
                    <a:pt x="0" y="470547"/>
                  </a:moveTo>
                  <a:lnTo>
                    <a:pt x="799228" y="47054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70547"/>
                  </a:lnTo>
                  <a:close/>
                </a:path>
              </a:pathLst>
            </a:custGeom>
            <a:ln w="46739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6144635" y="1781057"/>
            <a:ext cx="149225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50" dirty="0">
                <a:latin typeface="Times New Roman"/>
                <a:cs typeface="Times New Roman"/>
              </a:rPr>
              <a:t>A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5792376" y="2758111"/>
            <a:ext cx="846455" cy="494030"/>
            <a:chOff x="5792376" y="2758111"/>
            <a:chExt cx="846455" cy="494030"/>
          </a:xfrm>
        </p:grpSpPr>
        <p:sp>
          <p:nvSpPr>
            <p:cNvPr id="77" name="object 77"/>
            <p:cNvSpPr/>
            <p:nvPr/>
          </p:nvSpPr>
          <p:spPr>
            <a:xfrm>
              <a:off x="5815871" y="2781606"/>
              <a:ext cx="799465" cy="447040"/>
            </a:xfrm>
            <a:custGeom>
              <a:avLst/>
              <a:gdLst/>
              <a:ahLst/>
              <a:cxnLst/>
              <a:rect l="l" t="t" r="r" b="b"/>
              <a:pathLst>
                <a:path w="799465" h="447039">
                  <a:moveTo>
                    <a:pt x="799228" y="0"/>
                  </a:moveTo>
                  <a:lnTo>
                    <a:pt x="0" y="0"/>
                  </a:lnTo>
                  <a:lnTo>
                    <a:pt x="0" y="446630"/>
                  </a:lnTo>
                  <a:lnTo>
                    <a:pt x="799228" y="446630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815871" y="2781606"/>
              <a:ext cx="799465" cy="447040"/>
            </a:xfrm>
            <a:custGeom>
              <a:avLst/>
              <a:gdLst/>
              <a:ahLst/>
              <a:cxnLst/>
              <a:rect l="l" t="t" r="r" b="b"/>
              <a:pathLst>
                <a:path w="799465" h="447039">
                  <a:moveTo>
                    <a:pt x="0" y="446630"/>
                  </a:moveTo>
                  <a:lnTo>
                    <a:pt x="799228" y="446630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46630"/>
                  </a:lnTo>
                  <a:close/>
                </a:path>
              </a:pathLst>
            </a:custGeom>
            <a:ln w="46737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6144635" y="2862808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50" dirty="0">
                <a:latin typeface="Times New Roman"/>
                <a:cs typeface="Times New Roman"/>
              </a:rPr>
              <a:t>B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5792376" y="3815921"/>
            <a:ext cx="846455" cy="517525"/>
            <a:chOff x="5792376" y="3815921"/>
            <a:chExt cx="846455" cy="517525"/>
          </a:xfrm>
        </p:grpSpPr>
        <p:sp>
          <p:nvSpPr>
            <p:cNvPr id="81" name="object 81"/>
            <p:cNvSpPr/>
            <p:nvPr/>
          </p:nvSpPr>
          <p:spPr>
            <a:xfrm>
              <a:off x="5815871" y="3839416"/>
              <a:ext cx="799465" cy="470534"/>
            </a:xfrm>
            <a:custGeom>
              <a:avLst/>
              <a:gdLst/>
              <a:ahLst/>
              <a:cxnLst/>
              <a:rect l="l" t="t" r="r" b="b"/>
              <a:pathLst>
                <a:path w="799465" h="470535">
                  <a:moveTo>
                    <a:pt x="799228" y="0"/>
                  </a:moveTo>
                  <a:lnTo>
                    <a:pt x="0" y="0"/>
                  </a:lnTo>
                  <a:lnTo>
                    <a:pt x="0" y="469987"/>
                  </a:lnTo>
                  <a:lnTo>
                    <a:pt x="799228" y="46998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815871" y="3839416"/>
              <a:ext cx="799465" cy="470534"/>
            </a:xfrm>
            <a:custGeom>
              <a:avLst/>
              <a:gdLst/>
              <a:ahLst/>
              <a:cxnLst/>
              <a:rect l="l" t="t" r="r" b="b"/>
              <a:pathLst>
                <a:path w="799465" h="470535">
                  <a:moveTo>
                    <a:pt x="0" y="469987"/>
                  </a:moveTo>
                  <a:lnTo>
                    <a:pt x="799228" y="46998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69987"/>
                  </a:lnTo>
                  <a:close/>
                </a:path>
              </a:pathLst>
            </a:custGeom>
            <a:ln w="46739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6144635" y="3920711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50" dirty="0"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5792376" y="4873801"/>
            <a:ext cx="846455" cy="517525"/>
            <a:chOff x="5792376" y="4873801"/>
            <a:chExt cx="846455" cy="517525"/>
          </a:xfrm>
        </p:grpSpPr>
        <p:sp>
          <p:nvSpPr>
            <p:cNvPr id="85" name="object 85"/>
            <p:cNvSpPr/>
            <p:nvPr/>
          </p:nvSpPr>
          <p:spPr>
            <a:xfrm>
              <a:off x="5815871" y="4897296"/>
              <a:ext cx="799465" cy="470534"/>
            </a:xfrm>
            <a:custGeom>
              <a:avLst/>
              <a:gdLst/>
              <a:ahLst/>
              <a:cxnLst/>
              <a:rect l="l" t="t" r="r" b="b"/>
              <a:pathLst>
                <a:path w="799465" h="470535">
                  <a:moveTo>
                    <a:pt x="799228" y="0"/>
                  </a:moveTo>
                  <a:lnTo>
                    <a:pt x="0" y="0"/>
                  </a:lnTo>
                  <a:lnTo>
                    <a:pt x="0" y="469987"/>
                  </a:lnTo>
                  <a:lnTo>
                    <a:pt x="799228" y="46998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815871" y="4897296"/>
              <a:ext cx="799465" cy="470534"/>
            </a:xfrm>
            <a:custGeom>
              <a:avLst/>
              <a:gdLst/>
              <a:ahLst/>
              <a:cxnLst/>
              <a:rect l="l" t="t" r="r" b="b"/>
              <a:pathLst>
                <a:path w="799465" h="470535">
                  <a:moveTo>
                    <a:pt x="0" y="469987"/>
                  </a:moveTo>
                  <a:lnTo>
                    <a:pt x="799228" y="46998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69987"/>
                  </a:lnTo>
                  <a:close/>
                </a:path>
              </a:pathLst>
            </a:custGeom>
            <a:ln w="46739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5862872" y="4944545"/>
            <a:ext cx="846455" cy="51689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81305">
              <a:lnSpc>
                <a:spcPct val="100000"/>
              </a:lnSpc>
              <a:spcBef>
                <a:spcPts val="395"/>
              </a:spcBef>
            </a:pPr>
            <a:r>
              <a:rPr sz="1450" spc="-50" dirty="0">
                <a:latin typeface="Times New Roman"/>
                <a:cs typeface="Times New Roman"/>
              </a:rPr>
              <a:t>D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4922297" y="2875270"/>
            <a:ext cx="494030" cy="494030"/>
            <a:chOff x="4922297" y="2875270"/>
            <a:chExt cx="494030" cy="494030"/>
          </a:xfrm>
        </p:grpSpPr>
        <p:sp>
          <p:nvSpPr>
            <p:cNvPr id="89" name="object 89"/>
            <p:cNvSpPr/>
            <p:nvPr/>
          </p:nvSpPr>
          <p:spPr>
            <a:xfrm>
              <a:off x="4945792" y="2898765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11849" y="0"/>
                  </a:moveTo>
                  <a:lnTo>
                    <a:pt x="163080" y="5551"/>
                  </a:lnTo>
                  <a:lnTo>
                    <a:pt x="118414" y="21379"/>
                  </a:lnTo>
                  <a:lnTo>
                    <a:pt x="79090" y="46249"/>
                  </a:lnTo>
                  <a:lnTo>
                    <a:pt x="46347" y="78923"/>
                  </a:lnTo>
                  <a:lnTo>
                    <a:pt x="21425" y="118165"/>
                  </a:lnTo>
                  <a:lnTo>
                    <a:pt x="5562" y="162737"/>
                  </a:lnTo>
                  <a:lnTo>
                    <a:pt x="0" y="211403"/>
                  </a:lnTo>
                  <a:lnTo>
                    <a:pt x="4278" y="262117"/>
                  </a:lnTo>
                  <a:lnTo>
                    <a:pt x="16561" y="307844"/>
                  </a:lnTo>
                  <a:lnTo>
                    <a:pt x="36018" y="348036"/>
                  </a:lnTo>
                  <a:lnTo>
                    <a:pt x="61818" y="382147"/>
                  </a:lnTo>
                  <a:lnTo>
                    <a:pt x="93132" y="409630"/>
                  </a:lnTo>
                  <a:lnTo>
                    <a:pt x="129128" y="429938"/>
                  </a:lnTo>
                  <a:lnTo>
                    <a:pt x="168977" y="442523"/>
                  </a:lnTo>
                  <a:lnTo>
                    <a:pt x="211849" y="446840"/>
                  </a:lnTo>
                  <a:lnTo>
                    <a:pt x="262418" y="442523"/>
                  </a:lnTo>
                  <a:lnTo>
                    <a:pt x="308015" y="429938"/>
                  </a:lnTo>
                  <a:lnTo>
                    <a:pt x="348092" y="409630"/>
                  </a:lnTo>
                  <a:lnTo>
                    <a:pt x="382106" y="382147"/>
                  </a:lnTo>
                  <a:lnTo>
                    <a:pt x="409510" y="348036"/>
                  </a:lnTo>
                  <a:lnTo>
                    <a:pt x="429759" y="307844"/>
                  </a:lnTo>
                  <a:lnTo>
                    <a:pt x="442309" y="262117"/>
                  </a:lnTo>
                  <a:lnTo>
                    <a:pt x="446613" y="211403"/>
                  </a:lnTo>
                  <a:lnTo>
                    <a:pt x="442309" y="168622"/>
                  </a:lnTo>
                  <a:lnTo>
                    <a:pt x="429759" y="128856"/>
                  </a:lnTo>
                  <a:lnTo>
                    <a:pt x="409510" y="92936"/>
                  </a:lnTo>
                  <a:lnTo>
                    <a:pt x="382106" y="61688"/>
                  </a:lnTo>
                  <a:lnTo>
                    <a:pt x="348092" y="35942"/>
                  </a:lnTo>
                  <a:lnTo>
                    <a:pt x="308015" y="16526"/>
                  </a:lnTo>
                  <a:lnTo>
                    <a:pt x="262418" y="4269"/>
                  </a:lnTo>
                  <a:lnTo>
                    <a:pt x="211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945792" y="2898765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0" y="211403"/>
                  </a:moveTo>
                  <a:lnTo>
                    <a:pt x="4278" y="262117"/>
                  </a:lnTo>
                  <a:lnTo>
                    <a:pt x="16561" y="307844"/>
                  </a:lnTo>
                  <a:lnTo>
                    <a:pt x="36018" y="348036"/>
                  </a:lnTo>
                  <a:lnTo>
                    <a:pt x="61818" y="382147"/>
                  </a:lnTo>
                  <a:lnTo>
                    <a:pt x="93132" y="409630"/>
                  </a:lnTo>
                  <a:lnTo>
                    <a:pt x="129128" y="429938"/>
                  </a:lnTo>
                  <a:lnTo>
                    <a:pt x="168977" y="442523"/>
                  </a:lnTo>
                  <a:lnTo>
                    <a:pt x="211849" y="446840"/>
                  </a:lnTo>
                  <a:lnTo>
                    <a:pt x="262418" y="442523"/>
                  </a:lnTo>
                  <a:lnTo>
                    <a:pt x="308015" y="429938"/>
                  </a:lnTo>
                  <a:lnTo>
                    <a:pt x="348092" y="409630"/>
                  </a:lnTo>
                  <a:lnTo>
                    <a:pt x="382106" y="382147"/>
                  </a:lnTo>
                  <a:lnTo>
                    <a:pt x="409510" y="348036"/>
                  </a:lnTo>
                  <a:lnTo>
                    <a:pt x="429759" y="307844"/>
                  </a:lnTo>
                  <a:lnTo>
                    <a:pt x="442309" y="262117"/>
                  </a:lnTo>
                  <a:lnTo>
                    <a:pt x="446613" y="211403"/>
                  </a:lnTo>
                  <a:lnTo>
                    <a:pt x="442309" y="168622"/>
                  </a:lnTo>
                  <a:lnTo>
                    <a:pt x="429759" y="128856"/>
                  </a:lnTo>
                  <a:lnTo>
                    <a:pt x="409510" y="92936"/>
                  </a:lnTo>
                  <a:lnTo>
                    <a:pt x="382106" y="61688"/>
                  </a:lnTo>
                  <a:lnTo>
                    <a:pt x="348092" y="35942"/>
                  </a:lnTo>
                  <a:lnTo>
                    <a:pt x="308015" y="16526"/>
                  </a:lnTo>
                  <a:lnTo>
                    <a:pt x="262418" y="4269"/>
                  </a:lnTo>
                  <a:lnTo>
                    <a:pt x="211849" y="0"/>
                  </a:lnTo>
                  <a:lnTo>
                    <a:pt x="163080" y="5551"/>
                  </a:lnTo>
                  <a:lnTo>
                    <a:pt x="118414" y="21379"/>
                  </a:lnTo>
                  <a:lnTo>
                    <a:pt x="79090" y="46249"/>
                  </a:lnTo>
                  <a:lnTo>
                    <a:pt x="46347" y="78923"/>
                  </a:lnTo>
                  <a:lnTo>
                    <a:pt x="21425" y="118165"/>
                  </a:lnTo>
                  <a:lnTo>
                    <a:pt x="5562" y="162737"/>
                  </a:lnTo>
                  <a:lnTo>
                    <a:pt x="0" y="211403"/>
                  </a:lnTo>
                </a:path>
              </a:pathLst>
            </a:custGeom>
            <a:ln w="46763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5087025" y="2980176"/>
            <a:ext cx="227329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latin typeface="Times New Roman"/>
                <a:cs typeface="Times New Roman"/>
              </a:rPr>
              <a:t>T2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4922297" y="2076090"/>
            <a:ext cx="494030" cy="494030"/>
            <a:chOff x="4922297" y="2076090"/>
            <a:chExt cx="494030" cy="494030"/>
          </a:xfrm>
        </p:grpSpPr>
        <p:sp>
          <p:nvSpPr>
            <p:cNvPr id="93" name="object 93"/>
            <p:cNvSpPr/>
            <p:nvPr/>
          </p:nvSpPr>
          <p:spPr>
            <a:xfrm>
              <a:off x="4945792" y="2099585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11849" y="0"/>
                  </a:moveTo>
                  <a:lnTo>
                    <a:pt x="163080" y="5551"/>
                  </a:lnTo>
                  <a:lnTo>
                    <a:pt x="118414" y="21379"/>
                  </a:lnTo>
                  <a:lnTo>
                    <a:pt x="79090" y="46249"/>
                  </a:lnTo>
                  <a:lnTo>
                    <a:pt x="46347" y="78923"/>
                  </a:lnTo>
                  <a:lnTo>
                    <a:pt x="21425" y="118165"/>
                  </a:lnTo>
                  <a:lnTo>
                    <a:pt x="5562" y="162737"/>
                  </a:lnTo>
                  <a:lnTo>
                    <a:pt x="0" y="211403"/>
                  </a:lnTo>
                  <a:lnTo>
                    <a:pt x="4278" y="262040"/>
                  </a:lnTo>
                  <a:lnTo>
                    <a:pt x="16561" y="307709"/>
                  </a:lnTo>
                  <a:lnTo>
                    <a:pt x="36018" y="347860"/>
                  </a:lnTo>
                  <a:lnTo>
                    <a:pt x="61818" y="381943"/>
                  </a:lnTo>
                  <a:lnTo>
                    <a:pt x="93132" y="409409"/>
                  </a:lnTo>
                  <a:lnTo>
                    <a:pt x="129128" y="429708"/>
                  </a:lnTo>
                  <a:lnTo>
                    <a:pt x="168977" y="442290"/>
                  </a:lnTo>
                  <a:lnTo>
                    <a:pt x="211849" y="446607"/>
                  </a:lnTo>
                  <a:lnTo>
                    <a:pt x="262418" y="442290"/>
                  </a:lnTo>
                  <a:lnTo>
                    <a:pt x="308015" y="429708"/>
                  </a:lnTo>
                  <a:lnTo>
                    <a:pt x="348092" y="409409"/>
                  </a:lnTo>
                  <a:lnTo>
                    <a:pt x="382106" y="381943"/>
                  </a:lnTo>
                  <a:lnTo>
                    <a:pt x="409510" y="347860"/>
                  </a:lnTo>
                  <a:lnTo>
                    <a:pt x="429759" y="307709"/>
                  </a:lnTo>
                  <a:lnTo>
                    <a:pt x="442309" y="262040"/>
                  </a:lnTo>
                  <a:lnTo>
                    <a:pt x="446613" y="211403"/>
                  </a:lnTo>
                  <a:lnTo>
                    <a:pt x="442309" y="168622"/>
                  </a:lnTo>
                  <a:lnTo>
                    <a:pt x="429759" y="128856"/>
                  </a:lnTo>
                  <a:lnTo>
                    <a:pt x="409510" y="92936"/>
                  </a:lnTo>
                  <a:lnTo>
                    <a:pt x="382106" y="61688"/>
                  </a:lnTo>
                  <a:lnTo>
                    <a:pt x="348092" y="35942"/>
                  </a:lnTo>
                  <a:lnTo>
                    <a:pt x="308015" y="16526"/>
                  </a:lnTo>
                  <a:lnTo>
                    <a:pt x="262418" y="4269"/>
                  </a:lnTo>
                  <a:lnTo>
                    <a:pt x="211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4945792" y="2099585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0" y="211403"/>
                  </a:moveTo>
                  <a:lnTo>
                    <a:pt x="4278" y="262040"/>
                  </a:lnTo>
                  <a:lnTo>
                    <a:pt x="16561" y="307709"/>
                  </a:lnTo>
                  <a:lnTo>
                    <a:pt x="36018" y="347860"/>
                  </a:lnTo>
                  <a:lnTo>
                    <a:pt x="61818" y="381943"/>
                  </a:lnTo>
                  <a:lnTo>
                    <a:pt x="93132" y="409409"/>
                  </a:lnTo>
                  <a:lnTo>
                    <a:pt x="129128" y="429708"/>
                  </a:lnTo>
                  <a:lnTo>
                    <a:pt x="168977" y="442290"/>
                  </a:lnTo>
                  <a:lnTo>
                    <a:pt x="211849" y="446607"/>
                  </a:lnTo>
                  <a:lnTo>
                    <a:pt x="262418" y="442290"/>
                  </a:lnTo>
                  <a:lnTo>
                    <a:pt x="308015" y="429708"/>
                  </a:lnTo>
                  <a:lnTo>
                    <a:pt x="348092" y="409409"/>
                  </a:lnTo>
                  <a:lnTo>
                    <a:pt x="382106" y="381943"/>
                  </a:lnTo>
                  <a:lnTo>
                    <a:pt x="409510" y="347860"/>
                  </a:lnTo>
                  <a:lnTo>
                    <a:pt x="429759" y="307709"/>
                  </a:lnTo>
                  <a:lnTo>
                    <a:pt x="442309" y="262040"/>
                  </a:lnTo>
                  <a:lnTo>
                    <a:pt x="446613" y="211403"/>
                  </a:lnTo>
                  <a:lnTo>
                    <a:pt x="442309" y="168622"/>
                  </a:lnTo>
                  <a:lnTo>
                    <a:pt x="429759" y="128856"/>
                  </a:lnTo>
                  <a:lnTo>
                    <a:pt x="409510" y="92936"/>
                  </a:lnTo>
                  <a:lnTo>
                    <a:pt x="382106" y="61688"/>
                  </a:lnTo>
                  <a:lnTo>
                    <a:pt x="348092" y="35942"/>
                  </a:lnTo>
                  <a:lnTo>
                    <a:pt x="308015" y="16526"/>
                  </a:lnTo>
                  <a:lnTo>
                    <a:pt x="262418" y="4269"/>
                  </a:lnTo>
                  <a:lnTo>
                    <a:pt x="211849" y="0"/>
                  </a:lnTo>
                  <a:lnTo>
                    <a:pt x="163080" y="5551"/>
                  </a:lnTo>
                  <a:lnTo>
                    <a:pt x="118414" y="21379"/>
                  </a:lnTo>
                  <a:lnTo>
                    <a:pt x="79090" y="46249"/>
                  </a:lnTo>
                  <a:lnTo>
                    <a:pt x="46347" y="78923"/>
                  </a:lnTo>
                  <a:lnTo>
                    <a:pt x="21425" y="118165"/>
                  </a:lnTo>
                  <a:lnTo>
                    <a:pt x="5562" y="162737"/>
                  </a:lnTo>
                  <a:lnTo>
                    <a:pt x="0" y="211403"/>
                  </a:lnTo>
                </a:path>
              </a:pathLst>
            </a:custGeom>
            <a:ln w="46763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5087025" y="2180997"/>
            <a:ext cx="227329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latin typeface="Times New Roman"/>
                <a:cs typeface="Times New Roman"/>
              </a:rPr>
              <a:t>T1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4922297" y="3674635"/>
            <a:ext cx="494030" cy="494030"/>
            <a:chOff x="4922297" y="3674635"/>
            <a:chExt cx="494030" cy="494030"/>
          </a:xfrm>
        </p:grpSpPr>
        <p:sp>
          <p:nvSpPr>
            <p:cNvPr id="97" name="object 97"/>
            <p:cNvSpPr/>
            <p:nvPr/>
          </p:nvSpPr>
          <p:spPr>
            <a:xfrm>
              <a:off x="4945792" y="3698130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11849" y="0"/>
                  </a:moveTo>
                  <a:lnTo>
                    <a:pt x="163080" y="5548"/>
                  </a:lnTo>
                  <a:lnTo>
                    <a:pt x="118414" y="21370"/>
                  </a:lnTo>
                  <a:lnTo>
                    <a:pt x="79090" y="46231"/>
                  </a:lnTo>
                  <a:lnTo>
                    <a:pt x="46347" y="78895"/>
                  </a:lnTo>
                  <a:lnTo>
                    <a:pt x="21425" y="118127"/>
                  </a:lnTo>
                  <a:lnTo>
                    <a:pt x="5562" y="162693"/>
                  </a:lnTo>
                  <a:lnTo>
                    <a:pt x="0" y="211356"/>
                  </a:lnTo>
                  <a:lnTo>
                    <a:pt x="4278" y="262023"/>
                  </a:lnTo>
                  <a:lnTo>
                    <a:pt x="16561" y="307713"/>
                  </a:lnTo>
                  <a:lnTo>
                    <a:pt x="36018" y="347876"/>
                  </a:lnTo>
                  <a:lnTo>
                    <a:pt x="61818" y="381966"/>
                  </a:lnTo>
                  <a:lnTo>
                    <a:pt x="93132" y="409435"/>
                  </a:lnTo>
                  <a:lnTo>
                    <a:pt x="129128" y="429733"/>
                  </a:lnTo>
                  <a:lnTo>
                    <a:pt x="168977" y="442314"/>
                  </a:lnTo>
                  <a:lnTo>
                    <a:pt x="211849" y="446630"/>
                  </a:lnTo>
                  <a:lnTo>
                    <a:pt x="262418" y="442314"/>
                  </a:lnTo>
                  <a:lnTo>
                    <a:pt x="308015" y="429733"/>
                  </a:lnTo>
                  <a:lnTo>
                    <a:pt x="348092" y="409435"/>
                  </a:lnTo>
                  <a:lnTo>
                    <a:pt x="382106" y="381966"/>
                  </a:lnTo>
                  <a:lnTo>
                    <a:pt x="409510" y="347876"/>
                  </a:lnTo>
                  <a:lnTo>
                    <a:pt x="429759" y="307713"/>
                  </a:lnTo>
                  <a:lnTo>
                    <a:pt x="442309" y="262023"/>
                  </a:lnTo>
                  <a:lnTo>
                    <a:pt x="446613" y="211356"/>
                  </a:lnTo>
                  <a:lnTo>
                    <a:pt x="442309" y="168577"/>
                  </a:lnTo>
                  <a:lnTo>
                    <a:pt x="429759" y="128817"/>
                  </a:lnTo>
                  <a:lnTo>
                    <a:pt x="409510" y="92904"/>
                  </a:lnTo>
                  <a:lnTo>
                    <a:pt x="382106" y="61665"/>
                  </a:lnTo>
                  <a:lnTo>
                    <a:pt x="348092" y="35927"/>
                  </a:lnTo>
                  <a:lnTo>
                    <a:pt x="308015" y="16519"/>
                  </a:lnTo>
                  <a:lnTo>
                    <a:pt x="262418" y="4267"/>
                  </a:lnTo>
                  <a:lnTo>
                    <a:pt x="211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945792" y="3698130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0" y="211356"/>
                  </a:moveTo>
                  <a:lnTo>
                    <a:pt x="4278" y="262023"/>
                  </a:lnTo>
                  <a:lnTo>
                    <a:pt x="16561" y="307713"/>
                  </a:lnTo>
                  <a:lnTo>
                    <a:pt x="36018" y="347876"/>
                  </a:lnTo>
                  <a:lnTo>
                    <a:pt x="61818" y="381966"/>
                  </a:lnTo>
                  <a:lnTo>
                    <a:pt x="93132" y="409435"/>
                  </a:lnTo>
                  <a:lnTo>
                    <a:pt x="129128" y="429733"/>
                  </a:lnTo>
                  <a:lnTo>
                    <a:pt x="168977" y="442314"/>
                  </a:lnTo>
                  <a:lnTo>
                    <a:pt x="211849" y="446630"/>
                  </a:lnTo>
                  <a:lnTo>
                    <a:pt x="262418" y="442314"/>
                  </a:lnTo>
                  <a:lnTo>
                    <a:pt x="308015" y="429733"/>
                  </a:lnTo>
                  <a:lnTo>
                    <a:pt x="348092" y="409435"/>
                  </a:lnTo>
                  <a:lnTo>
                    <a:pt x="382106" y="381966"/>
                  </a:lnTo>
                  <a:lnTo>
                    <a:pt x="409510" y="347876"/>
                  </a:lnTo>
                  <a:lnTo>
                    <a:pt x="429759" y="307713"/>
                  </a:lnTo>
                  <a:lnTo>
                    <a:pt x="442309" y="262023"/>
                  </a:lnTo>
                  <a:lnTo>
                    <a:pt x="446613" y="211356"/>
                  </a:lnTo>
                  <a:lnTo>
                    <a:pt x="442309" y="168577"/>
                  </a:lnTo>
                  <a:lnTo>
                    <a:pt x="429759" y="128817"/>
                  </a:lnTo>
                  <a:lnTo>
                    <a:pt x="409510" y="92904"/>
                  </a:lnTo>
                  <a:lnTo>
                    <a:pt x="382106" y="61665"/>
                  </a:lnTo>
                  <a:lnTo>
                    <a:pt x="348092" y="35927"/>
                  </a:lnTo>
                  <a:lnTo>
                    <a:pt x="308015" y="16519"/>
                  </a:lnTo>
                  <a:lnTo>
                    <a:pt x="262418" y="4267"/>
                  </a:lnTo>
                  <a:lnTo>
                    <a:pt x="211849" y="0"/>
                  </a:lnTo>
                  <a:lnTo>
                    <a:pt x="163080" y="5548"/>
                  </a:lnTo>
                  <a:lnTo>
                    <a:pt x="118414" y="21370"/>
                  </a:lnTo>
                  <a:lnTo>
                    <a:pt x="79090" y="46231"/>
                  </a:lnTo>
                  <a:lnTo>
                    <a:pt x="46347" y="78895"/>
                  </a:lnTo>
                  <a:lnTo>
                    <a:pt x="21425" y="118127"/>
                  </a:lnTo>
                  <a:lnTo>
                    <a:pt x="5562" y="162693"/>
                  </a:lnTo>
                  <a:lnTo>
                    <a:pt x="0" y="211356"/>
                  </a:lnTo>
                </a:path>
              </a:pathLst>
            </a:custGeom>
            <a:ln w="46763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5087025" y="3779425"/>
            <a:ext cx="227329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latin typeface="Times New Roman"/>
                <a:cs typeface="Times New Roman"/>
              </a:rPr>
              <a:t>T3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4922297" y="4473885"/>
            <a:ext cx="494030" cy="494030"/>
            <a:chOff x="4922297" y="4473885"/>
            <a:chExt cx="494030" cy="494030"/>
          </a:xfrm>
        </p:grpSpPr>
        <p:sp>
          <p:nvSpPr>
            <p:cNvPr id="101" name="object 101"/>
            <p:cNvSpPr/>
            <p:nvPr/>
          </p:nvSpPr>
          <p:spPr>
            <a:xfrm>
              <a:off x="4945792" y="4497380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11849" y="0"/>
                  </a:moveTo>
                  <a:lnTo>
                    <a:pt x="163080" y="5551"/>
                  </a:lnTo>
                  <a:lnTo>
                    <a:pt x="118414" y="21387"/>
                  </a:lnTo>
                  <a:lnTo>
                    <a:pt x="79090" y="46282"/>
                  </a:lnTo>
                  <a:lnTo>
                    <a:pt x="46347" y="79009"/>
                  </a:lnTo>
                  <a:lnTo>
                    <a:pt x="21425" y="118342"/>
                  </a:lnTo>
                  <a:lnTo>
                    <a:pt x="5562" y="163053"/>
                  </a:lnTo>
                  <a:lnTo>
                    <a:pt x="0" y="211916"/>
                  </a:lnTo>
                  <a:lnTo>
                    <a:pt x="4278" y="262405"/>
                  </a:lnTo>
                  <a:lnTo>
                    <a:pt x="16561" y="307959"/>
                  </a:lnTo>
                  <a:lnTo>
                    <a:pt x="36018" y="348023"/>
                  </a:lnTo>
                  <a:lnTo>
                    <a:pt x="61818" y="382045"/>
                  </a:lnTo>
                  <a:lnTo>
                    <a:pt x="93132" y="409470"/>
                  </a:lnTo>
                  <a:lnTo>
                    <a:pt x="129128" y="429745"/>
                  </a:lnTo>
                  <a:lnTo>
                    <a:pt x="168977" y="442316"/>
                  </a:lnTo>
                  <a:lnTo>
                    <a:pt x="211849" y="446630"/>
                  </a:lnTo>
                  <a:lnTo>
                    <a:pt x="262418" y="442316"/>
                  </a:lnTo>
                  <a:lnTo>
                    <a:pt x="308015" y="429745"/>
                  </a:lnTo>
                  <a:lnTo>
                    <a:pt x="348092" y="409470"/>
                  </a:lnTo>
                  <a:lnTo>
                    <a:pt x="382106" y="382045"/>
                  </a:lnTo>
                  <a:lnTo>
                    <a:pt x="409510" y="348023"/>
                  </a:lnTo>
                  <a:lnTo>
                    <a:pt x="429759" y="307959"/>
                  </a:lnTo>
                  <a:lnTo>
                    <a:pt x="442309" y="262405"/>
                  </a:lnTo>
                  <a:lnTo>
                    <a:pt x="446613" y="211916"/>
                  </a:lnTo>
                  <a:lnTo>
                    <a:pt x="442309" y="168959"/>
                  </a:lnTo>
                  <a:lnTo>
                    <a:pt x="429759" y="129063"/>
                  </a:lnTo>
                  <a:lnTo>
                    <a:pt x="409510" y="93051"/>
                  </a:lnTo>
                  <a:lnTo>
                    <a:pt x="382106" y="61743"/>
                  </a:lnTo>
                  <a:lnTo>
                    <a:pt x="348092" y="35963"/>
                  </a:lnTo>
                  <a:lnTo>
                    <a:pt x="308015" y="16531"/>
                  </a:lnTo>
                  <a:lnTo>
                    <a:pt x="262418" y="4269"/>
                  </a:lnTo>
                  <a:lnTo>
                    <a:pt x="2118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945792" y="4497380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0" y="211916"/>
                  </a:moveTo>
                  <a:lnTo>
                    <a:pt x="4278" y="262405"/>
                  </a:lnTo>
                  <a:lnTo>
                    <a:pt x="16561" y="307959"/>
                  </a:lnTo>
                  <a:lnTo>
                    <a:pt x="36018" y="348023"/>
                  </a:lnTo>
                  <a:lnTo>
                    <a:pt x="61818" y="382045"/>
                  </a:lnTo>
                  <a:lnTo>
                    <a:pt x="93132" y="409470"/>
                  </a:lnTo>
                  <a:lnTo>
                    <a:pt x="129128" y="429745"/>
                  </a:lnTo>
                  <a:lnTo>
                    <a:pt x="168977" y="442316"/>
                  </a:lnTo>
                  <a:lnTo>
                    <a:pt x="211849" y="446630"/>
                  </a:lnTo>
                  <a:lnTo>
                    <a:pt x="262418" y="442316"/>
                  </a:lnTo>
                  <a:lnTo>
                    <a:pt x="308015" y="429745"/>
                  </a:lnTo>
                  <a:lnTo>
                    <a:pt x="348092" y="409470"/>
                  </a:lnTo>
                  <a:lnTo>
                    <a:pt x="382106" y="382045"/>
                  </a:lnTo>
                  <a:lnTo>
                    <a:pt x="409510" y="348023"/>
                  </a:lnTo>
                  <a:lnTo>
                    <a:pt x="429759" y="307959"/>
                  </a:lnTo>
                  <a:lnTo>
                    <a:pt x="442309" y="262405"/>
                  </a:lnTo>
                  <a:lnTo>
                    <a:pt x="446613" y="211916"/>
                  </a:lnTo>
                  <a:lnTo>
                    <a:pt x="442309" y="168959"/>
                  </a:lnTo>
                  <a:lnTo>
                    <a:pt x="429759" y="129063"/>
                  </a:lnTo>
                  <a:lnTo>
                    <a:pt x="409510" y="93051"/>
                  </a:lnTo>
                  <a:lnTo>
                    <a:pt x="382106" y="61743"/>
                  </a:lnTo>
                  <a:lnTo>
                    <a:pt x="348092" y="35963"/>
                  </a:lnTo>
                  <a:lnTo>
                    <a:pt x="308015" y="16531"/>
                  </a:lnTo>
                  <a:lnTo>
                    <a:pt x="262418" y="4269"/>
                  </a:lnTo>
                  <a:lnTo>
                    <a:pt x="211849" y="0"/>
                  </a:lnTo>
                  <a:lnTo>
                    <a:pt x="163080" y="5551"/>
                  </a:lnTo>
                  <a:lnTo>
                    <a:pt x="118414" y="21387"/>
                  </a:lnTo>
                  <a:lnTo>
                    <a:pt x="79090" y="46282"/>
                  </a:lnTo>
                  <a:lnTo>
                    <a:pt x="46347" y="79009"/>
                  </a:lnTo>
                  <a:lnTo>
                    <a:pt x="21425" y="118342"/>
                  </a:lnTo>
                  <a:lnTo>
                    <a:pt x="5562" y="163053"/>
                  </a:lnTo>
                  <a:lnTo>
                    <a:pt x="0" y="211916"/>
                  </a:lnTo>
                </a:path>
              </a:pathLst>
            </a:custGeom>
            <a:ln w="46763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5087025" y="4578675"/>
            <a:ext cx="227329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latin typeface="Times New Roman"/>
                <a:cs typeface="Times New Roman"/>
              </a:rPr>
              <a:t>T4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3347364" y="2216886"/>
            <a:ext cx="846455" cy="518159"/>
            <a:chOff x="3347364" y="2216886"/>
            <a:chExt cx="846455" cy="518159"/>
          </a:xfrm>
        </p:grpSpPr>
        <p:sp>
          <p:nvSpPr>
            <p:cNvPr id="105" name="object 105"/>
            <p:cNvSpPr/>
            <p:nvPr/>
          </p:nvSpPr>
          <p:spPr>
            <a:xfrm>
              <a:off x="3370859" y="2240381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4" h="471169">
                  <a:moveTo>
                    <a:pt x="799228" y="0"/>
                  </a:moveTo>
                  <a:lnTo>
                    <a:pt x="0" y="0"/>
                  </a:lnTo>
                  <a:lnTo>
                    <a:pt x="0" y="470547"/>
                  </a:lnTo>
                  <a:lnTo>
                    <a:pt x="799228" y="47054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370859" y="2240381"/>
              <a:ext cx="799465" cy="471170"/>
            </a:xfrm>
            <a:custGeom>
              <a:avLst/>
              <a:gdLst/>
              <a:ahLst/>
              <a:cxnLst/>
              <a:rect l="l" t="t" r="r" b="b"/>
              <a:pathLst>
                <a:path w="799464" h="471169">
                  <a:moveTo>
                    <a:pt x="0" y="470547"/>
                  </a:moveTo>
                  <a:lnTo>
                    <a:pt x="799228" y="47054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70547"/>
                  </a:lnTo>
                  <a:close/>
                </a:path>
              </a:pathLst>
            </a:custGeom>
            <a:ln w="46739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3723099" y="2322166"/>
            <a:ext cx="149225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50" dirty="0">
                <a:latin typeface="Times New Roman"/>
                <a:cs typeface="Times New Roman"/>
              </a:rPr>
              <a:t>A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3347364" y="3275279"/>
            <a:ext cx="846455" cy="517525"/>
            <a:chOff x="3347364" y="3275279"/>
            <a:chExt cx="846455" cy="517525"/>
          </a:xfrm>
        </p:grpSpPr>
        <p:sp>
          <p:nvSpPr>
            <p:cNvPr id="109" name="object 109"/>
            <p:cNvSpPr/>
            <p:nvPr/>
          </p:nvSpPr>
          <p:spPr>
            <a:xfrm>
              <a:off x="3370859" y="3298774"/>
              <a:ext cx="799465" cy="470534"/>
            </a:xfrm>
            <a:custGeom>
              <a:avLst/>
              <a:gdLst/>
              <a:ahLst/>
              <a:cxnLst/>
              <a:rect l="l" t="t" r="r" b="b"/>
              <a:pathLst>
                <a:path w="799464" h="470535">
                  <a:moveTo>
                    <a:pt x="799228" y="0"/>
                  </a:moveTo>
                  <a:lnTo>
                    <a:pt x="0" y="0"/>
                  </a:lnTo>
                  <a:lnTo>
                    <a:pt x="0" y="469987"/>
                  </a:lnTo>
                  <a:lnTo>
                    <a:pt x="799228" y="46998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370859" y="3298774"/>
              <a:ext cx="799465" cy="470534"/>
            </a:xfrm>
            <a:custGeom>
              <a:avLst/>
              <a:gdLst/>
              <a:ahLst/>
              <a:cxnLst/>
              <a:rect l="l" t="t" r="r" b="b"/>
              <a:pathLst>
                <a:path w="799464" h="470535">
                  <a:moveTo>
                    <a:pt x="0" y="469987"/>
                  </a:moveTo>
                  <a:lnTo>
                    <a:pt x="799228" y="46998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69987"/>
                  </a:lnTo>
                  <a:close/>
                </a:path>
              </a:pathLst>
            </a:custGeom>
            <a:ln w="46739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3723099" y="3403450"/>
            <a:ext cx="13843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50" dirty="0">
                <a:latin typeface="Times New Roman"/>
                <a:cs typeface="Times New Roman"/>
              </a:rPr>
              <a:t>B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3347364" y="4356540"/>
            <a:ext cx="846455" cy="494030"/>
            <a:chOff x="3347364" y="4356540"/>
            <a:chExt cx="846455" cy="494030"/>
          </a:xfrm>
        </p:grpSpPr>
        <p:sp>
          <p:nvSpPr>
            <p:cNvPr id="113" name="object 113"/>
            <p:cNvSpPr/>
            <p:nvPr/>
          </p:nvSpPr>
          <p:spPr>
            <a:xfrm>
              <a:off x="3370859" y="4380035"/>
              <a:ext cx="799465" cy="447040"/>
            </a:xfrm>
            <a:custGeom>
              <a:avLst/>
              <a:gdLst/>
              <a:ahLst/>
              <a:cxnLst/>
              <a:rect l="l" t="t" r="r" b="b"/>
              <a:pathLst>
                <a:path w="799464" h="447039">
                  <a:moveTo>
                    <a:pt x="799228" y="0"/>
                  </a:moveTo>
                  <a:lnTo>
                    <a:pt x="0" y="0"/>
                  </a:lnTo>
                  <a:lnTo>
                    <a:pt x="0" y="446630"/>
                  </a:lnTo>
                  <a:lnTo>
                    <a:pt x="799228" y="446630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370859" y="4380035"/>
              <a:ext cx="799465" cy="447040"/>
            </a:xfrm>
            <a:custGeom>
              <a:avLst/>
              <a:gdLst/>
              <a:ahLst/>
              <a:cxnLst/>
              <a:rect l="l" t="t" r="r" b="b"/>
              <a:pathLst>
                <a:path w="799464" h="447039">
                  <a:moveTo>
                    <a:pt x="0" y="446630"/>
                  </a:moveTo>
                  <a:lnTo>
                    <a:pt x="799228" y="446630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46630"/>
                  </a:lnTo>
                  <a:close/>
                </a:path>
              </a:pathLst>
            </a:custGeom>
            <a:ln w="46737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3417720" y="4403367"/>
            <a:ext cx="846455" cy="51752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R="101600" algn="ctr">
              <a:lnSpc>
                <a:spcPct val="100000"/>
              </a:lnSpc>
              <a:spcBef>
                <a:spcPts val="585"/>
              </a:spcBef>
            </a:pPr>
            <a:r>
              <a:rPr sz="1450" spc="-50" dirty="0">
                <a:latin typeface="Times New Roman"/>
                <a:cs typeface="Times New Roman"/>
              </a:rPr>
              <a:t>C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2500762" y="2475563"/>
            <a:ext cx="471170" cy="494030"/>
            <a:chOff x="2500762" y="2475563"/>
            <a:chExt cx="471170" cy="494030"/>
          </a:xfrm>
        </p:grpSpPr>
        <p:sp>
          <p:nvSpPr>
            <p:cNvPr id="117" name="object 117"/>
            <p:cNvSpPr/>
            <p:nvPr/>
          </p:nvSpPr>
          <p:spPr>
            <a:xfrm>
              <a:off x="2524257" y="2499058"/>
              <a:ext cx="424180" cy="447040"/>
            </a:xfrm>
            <a:custGeom>
              <a:avLst/>
              <a:gdLst/>
              <a:ahLst/>
              <a:cxnLst/>
              <a:rect l="l" t="t" r="r" b="b"/>
              <a:pathLst>
                <a:path w="424180" h="447039">
                  <a:moveTo>
                    <a:pt x="211779" y="0"/>
                  </a:moveTo>
                  <a:lnTo>
                    <a:pt x="163021" y="5540"/>
                  </a:lnTo>
                  <a:lnTo>
                    <a:pt x="118368" y="21349"/>
                  </a:lnTo>
                  <a:lnTo>
                    <a:pt x="79057" y="46212"/>
                  </a:lnTo>
                  <a:lnTo>
                    <a:pt x="46327" y="78912"/>
                  </a:lnTo>
                  <a:lnTo>
                    <a:pt x="21415" y="118233"/>
                  </a:lnTo>
                  <a:lnTo>
                    <a:pt x="5560" y="162957"/>
                  </a:lnTo>
                  <a:lnTo>
                    <a:pt x="0" y="211870"/>
                  </a:lnTo>
                  <a:lnTo>
                    <a:pt x="4276" y="262353"/>
                  </a:lnTo>
                  <a:lnTo>
                    <a:pt x="16554" y="307906"/>
                  </a:lnTo>
                  <a:lnTo>
                    <a:pt x="36002" y="347974"/>
                  </a:lnTo>
                  <a:lnTo>
                    <a:pt x="61792" y="382001"/>
                  </a:lnTo>
                  <a:lnTo>
                    <a:pt x="93094" y="409434"/>
                  </a:lnTo>
                  <a:lnTo>
                    <a:pt x="129079" y="429715"/>
                  </a:lnTo>
                  <a:lnTo>
                    <a:pt x="168917" y="442291"/>
                  </a:lnTo>
                  <a:lnTo>
                    <a:pt x="211779" y="446607"/>
                  </a:lnTo>
                  <a:lnTo>
                    <a:pt x="254648" y="442291"/>
                  </a:lnTo>
                  <a:lnTo>
                    <a:pt x="294492" y="429715"/>
                  </a:lnTo>
                  <a:lnTo>
                    <a:pt x="330481" y="409434"/>
                  </a:lnTo>
                  <a:lnTo>
                    <a:pt x="361786" y="382001"/>
                  </a:lnTo>
                  <a:lnTo>
                    <a:pt x="387578" y="347974"/>
                  </a:lnTo>
                  <a:lnTo>
                    <a:pt x="407027" y="307906"/>
                  </a:lnTo>
                  <a:lnTo>
                    <a:pt x="419304" y="262353"/>
                  </a:lnTo>
                  <a:lnTo>
                    <a:pt x="423581" y="211870"/>
                  </a:lnTo>
                  <a:lnTo>
                    <a:pt x="418021" y="162957"/>
                  </a:lnTo>
                  <a:lnTo>
                    <a:pt x="402165" y="118233"/>
                  </a:lnTo>
                  <a:lnTo>
                    <a:pt x="377252" y="78912"/>
                  </a:lnTo>
                  <a:lnTo>
                    <a:pt x="344519" y="46212"/>
                  </a:lnTo>
                  <a:lnTo>
                    <a:pt x="305204" y="21349"/>
                  </a:lnTo>
                  <a:lnTo>
                    <a:pt x="260545" y="5540"/>
                  </a:lnTo>
                  <a:lnTo>
                    <a:pt x="2117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524257" y="2499058"/>
              <a:ext cx="424180" cy="447040"/>
            </a:xfrm>
            <a:custGeom>
              <a:avLst/>
              <a:gdLst/>
              <a:ahLst/>
              <a:cxnLst/>
              <a:rect l="l" t="t" r="r" b="b"/>
              <a:pathLst>
                <a:path w="424180" h="447039">
                  <a:moveTo>
                    <a:pt x="0" y="211870"/>
                  </a:moveTo>
                  <a:lnTo>
                    <a:pt x="4276" y="262353"/>
                  </a:lnTo>
                  <a:lnTo>
                    <a:pt x="16554" y="307906"/>
                  </a:lnTo>
                  <a:lnTo>
                    <a:pt x="36002" y="347974"/>
                  </a:lnTo>
                  <a:lnTo>
                    <a:pt x="61792" y="382001"/>
                  </a:lnTo>
                  <a:lnTo>
                    <a:pt x="93094" y="409434"/>
                  </a:lnTo>
                  <a:lnTo>
                    <a:pt x="129079" y="429715"/>
                  </a:lnTo>
                  <a:lnTo>
                    <a:pt x="168917" y="442291"/>
                  </a:lnTo>
                  <a:lnTo>
                    <a:pt x="211779" y="446607"/>
                  </a:lnTo>
                  <a:lnTo>
                    <a:pt x="254648" y="442291"/>
                  </a:lnTo>
                  <a:lnTo>
                    <a:pt x="294492" y="429715"/>
                  </a:lnTo>
                  <a:lnTo>
                    <a:pt x="330481" y="409434"/>
                  </a:lnTo>
                  <a:lnTo>
                    <a:pt x="361786" y="382001"/>
                  </a:lnTo>
                  <a:lnTo>
                    <a:pt x="387578" y="347974"/>
                  </a:lnTo>
                  <a:lnTo>
                    <a:pt x="407027" y="307906"/>
                  </a:lnTo>
                  <a:lnTo>
                    <a:pt x="419304" y="262353"/>
                  </a:lnTo>
                  <a:lnTo>
                    <a:pt x="423581" y="211870"/>
                  </a:lnTo>
                  <a:lnTo>
                    <a:pt x="418021" y="162957"/>
                  </a:lnTo>
                  <a:lnTo>
                    <a:pt x="402165" y="118233"/>
                  </a:lnTo>
                  <a:lnTo>
                    <a:pt x="377252" y="78912"/>
                  </a:lnTo>
                  <a:lnTo>
                    <a:pt x="344519" y="46212"/>
                  </a:lnTo>
                  <a:lnTo>
                    <a:pt x="305204" y="21349"/>
                  </a:lnTo>
                  <a:lnTo>
                    <a:pt x="260545" y="5540"/>
                  </a:lnTo>
                  <a:lnTo>
                    <a:pt x="211779" y="0"/>
                  </a:lnTo>
                  <a:lnTo>
                    <a:pt x="163021" y="5540"/>
                  </a:lnTo>
                  <a:lnTo>
                    <a:pt x="118368" y="21349"/>
                  </a:lnTo>
                  <a:lnTo>
                    <a:pt x="79057" y="46212"/>
                  </a:lnTo>
                  <a:lnTo>
                    <a:pt x="46327" y="78912"/>
                  </a:lnTo>
                  <a:lnTo>
                    <a:pt x="21415" y="118233"/>
                  </a:lnTo>
                  <a:lnTo>
                    <a:pt x="5560" y="162957"/>
                  </a:lnTo>
                  <a:lnTo>
                    <a:pt x="0" y="211870"/>
                  </a:lnTo>
                </a:path>
              </a:pathLst>
            </a:custGeom>
            <a:ln w="46765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2641850" y="2580937"/>
            <a:ext cx="227329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latin typeface="Times New Roman"/>
                <a:cs typeface="Times New Roman"/>
              </a:rPr>
              <a:t>T1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2500762" y="3275209"/>
            <a:ext cx="471170" cy="494030"/>
            <a:chOff x="2500762" y="3275209"/>
            <a:chExt cx="471170" cy="494030"/>
          </a:xfrm>
        </p:grpSpPr>
        <p:sp>
          <p:nvSpPr>
            <p:cNvPr id="121" name="object 121"/>
            <p:cNvSpPr/>
            <p:nvPr/>
          </p:nvSpPr>
          <p:spPr>
            <a:xfrm>
              <a:off x="2524257" y="3298704"/>
              <a:ext cx="424180" cy="447040"/>
            </a:xfrm>
            <a:custGeom>
              <a:avLst/>
              <a:gdLst/>
              <a:ahLst/>
              <a:cxnLst/>
              <a:rect l="l" t="t" r="r" b="b"/>
              <a:pathLst>
                <a:path w="424180" h="447039">
                  <a:moveTo>
                    <a:pt x="211779" y="0"/>
                  </a:moveTo>
                  <a:lnTo>
                    <a:pt x="163021" y="5551"/>
                  </a:lnTo>
                  <a:lnTo>
                    <a:pt x="118368" y="21379"/>
                  </a:lnTo>
                  <a:lnTo>
                    <a:pt x="79057" y="46249"/>
                  </a:lnTo>
                  <a:lnTo>
                    <a:pt x="46327" y="78923"/>
                  </a:lnTo>
                  <a:lnTo>
                    <a:pt x="21415" y="118165"/>
                  </a:lnTo>
                  <a:lnTo>
                    <a:pt x="5560" y="162737"/>
                  </a:lnTo>
                  <a:lnTo>
                    <a:pt x="0" y="211403"/>
                  </a:lnTo>
                  <a:lnTo>
                    <a:pt x="4276" y="262084"/>
                  </a:lnTo>
                  <a:lnTo>
                    <a:pt x="16554" y="307783"/>
                  </a:lnTo>
                  <a:lnTo>
                    <a:pt x="36002" y="347951"/>
                  </a:lnTo>
                  <a:lnTo>
                    <a:pt x="61792" y="382042"/>
                  </a:lnTo>
                  <a:lnTo>
                    <a:pt x="93094" y="409510"/>
                  </a:lnTo>
                  <a:lnTo>
                    <a:pt x="129079" y="429806"/>
                  </a:lnTo>
                  <a:lnTo>
                    <a:pt x="168917" y="442385"/>
                  </a:lnTo>
                  <a:lnTo>
                    <a:pt x="211779" y="446700"/>
                  </a:lnTo>
                  <a:lnTo>
                    <a:pt x="254648" y="442385"/>
                  </a:lnTo>
                  <a:lnTo>
                    <a:pt x="294492" y="429806"/>
                  </a:lnTo>
                  <a:lnTo>
                    <a:pt x="330481" y="409510"/>
                  </a:lnTo>
                  <a:lnTo>
                    <a:pt x="361786" y="382042"/>
                  </a:lnTo>
                  <a:lnTo>
                    <a:pt x="387578" y="347951"/>
                  </a:lnTo>
                  <a:lnTo>
                    <a:pt x="407027" y="307783"/>
                  </a:lnTo>
                  <a:lnTo>
                    <a:pt x="419304" y="262084"/>
                  </a:lnTo>
                  <a:lnTo>
                    <a:pt x="423581" y="211403"/>
                  </a:lnTo>
                  <a:lnTo>
                    <a:pt x="418021" y="162737"/>
                  </a:lnTo>
                  <a:lnTo>
                    <a:pt x="402165" y="118165"/>
                  </a:lnTo>
                  <a:lnTo>
                    <a:pt x="377252" y="78923"/>
                  </a:lnTo>
                  <a:lnTo>
                    <a:pt x="344519" y="46249"/>
                  </a:lnTo>
                  <a:lnTo>
                    <a:pt x="305204" y="21379"/>
                  </a:lnTo>
                  <a:lnTo>
                    <a:pt x="260545" y="5551"/>
                  </a:lnTo>
                  <a:lnTo>
                    <a:pt x="2117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524257" y="3298704"/>
              <a:ext cx="424180" cy="447040"/>
            </a:xfrm>
            <a:custGeom>
              <a:avLst/>
              <a:gdLst/>
              <a:ahLst/>
              <a:cxnLst/>
              <a:rect l="l" t="t" r="r" b="b"/>
              <a:pathLst>
                <a:path w="424180" h="447039">
                  <a:moveTo>
                    <a:pt x="0" y="211403"/>
                  </a:moveTo>
                  <a:lnTo>
                    <a:pt x="4276" y="262084"/>
                  </a:lnTo>
                  <a:lnTo>
                    <a:pt x="16554" y="307783"/>
                  </a:lnTo>
                  <a:lnTo>
                    <a:pt x="36002" y="347951"/>
                  </a:lnTo>
                  <a:lnTo>
                    <a:pt x="61792" y="382042"/>
                  </a:lnTo>
                  <a:lnTo>
                    <a:pt x="93094" y="409510"/>
                  </a:lnTo>
                  <a:lnTo>
                    <a:pt x="129079" y="429806"/>
                  </a:lnTo>
                  <a:lnTo>
                    <a:pt x="168917" y="442385"/>
                  </a:lnTo>
                  <a:lnTo>
                    <a:pt x="211779" y="446700"/>
                  </a:lnTo>
                  <a:lnTo>
                    <a:pt x="254648" y="442385"/>
                  </a:lnTo>
                  <a:lnTo>
                    <a:pt x="294492" y="429806"/>
                  </a:lnTo>
                  <a:lnTo>
                    <a:pt x="330481" y="409510"/>
                  </a:lnTo>
                  <a:lnTo>
                    <a:pt x="361786" y="382042"/>
                  </a:lnTo>
                  <a:lnTo>
                    <a:pt x="387578" y="347951"/>
                  </a:lnTo>
                  <a:lnTo>
                    <a:pt x="407027" y="307783"/>
                  </a:lnTo>
                  <a:lnTo>
                    <a:pt x="419304" y="262084"/>
                  </a:lnTo>
                  <a:lnTo>
                    <a:pt x="423581" y="211403"/>
                  </a:lnTo>
                  <a:lnTo>
                    <a:pt x="418021" y="162737"/>
                  </a:lnTo>
                  <a:lnTo>
                    <a:pt x="402165" y="118165"/>
                  </a:lnTo>
                  <a:lnTo>
                    <a:pt x="377252" y="78923"/>
                  </a:lnTo>
                  <a:lnTo>
                    <a:pt x="344519" y="46249"/>
                  </a:lnTo>
                  <a:lnTo>
                    <a:pt x="305204" y="21379"/>
                  </a:lnTo>
                  <a:lnTo>
                    <a:pt x="260545" y="5551"/>
                  </a:lnTo>
                  <a:lnTo>
                    <a:pt x="211779" y="0"/>
                  </a:lnTo>
                  <a:lnTo>
                    <a:pt x="163021" y="5551"/>
                  </a:lnTo>
                  <a:lnTo>
                    <a:pt x="118368" y="21379"/>
                  </a:lnTo>
                  <a:lnTo>
                    <a:pt x="79057" y="46249"/>
                  </a:lnTo>
                  <a:lnTo>
                    <a:pt x="46327" y="78923"/>
                  </a:lnTo>
                  <a:lnTo>
                    <a:pt x="21415" y="118165"/>
                  </a:lnTo>
                  <a:lnTo>
                    <a:pt x="5560" y="162737"/>
                  </a:lnTo>
                  <a:lnTo>
                    <a:pt x="0" y="211403"/>
                  </a:lnTo>
                </a:path>
              </a:pathLst>
            </a:custGeom>
            <a:ln w="46765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2641850" y="3380092"/>
            <a:ext cx="227329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latin typeface="Times New Roman"/>
                <a:cs typeface="Times New Roman"/>
              </a:rPr>
              <a:t>T2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2500762" y="4074552"/>
            <a:ext cx="471170" cy="494030"/>
            <a:chOff x="2500762" y="4074552"/>
            <a:chExt cx="471170" cy="494030"/>
          </a:xfrm>
        </p:grpSpPr>
        <p:sp>
          <p:nvSpPr>
            <p:cNvPr id="125" name="object 125"/>
            <p:cNvSpPr/>
            <p:nvPr/>
          </p:nvSpPr>
          <p:spPr>
            <a:xfrm>
              <a:off x="2524257" y="4098047"/>
              <a:ext cx="424180" cy="447040"/>
            </a:xfrm>
            <a:custGeom>
              <a:avLst/>
              <a:gdLst/>
              <a:ahLst/>
              <a:cxnLst/>
              <a:rect l="l" t="t" r="r" b="b"/>
              <a:pathLst>
                <a:path w="424180" h="447039">
                  <a:moveTo>
                    <a:pt x="211779" y="0"/>
                  </a:moveTo>
                  <a:lnTo>
                    <a:pt x="163021" y="5548"/>
                  </a:lnTo>
                  <a:lnTo>
                    <a:pt x="118368" y="21370"/>
                  </a:lnTo>
                  <a:lnTo>
                    <a:pt x="79057" y="46231"/>
                  </a:lnTo>
                  <a:lnTo>
                    <a:pt x="46327" y="78895"/>
                  </a:lnTo>
                  <a:lnTo>
                    <a:pt x="21415" y="118127"/>
                  </a:lnTo>
                  <a:lnTo>
                    <a:pt x="5560" y="162693"/>
                  </a:lnTo>
                  <a:lnTo>
                    <a:pt x="0" y="211356"/>
                  </a:lnTo>
                  <a:lnTo>
                    <a:pt x="4276" y="262023"/>
                  </a:lnTo>
                  <a:lnTo>
                    <a:pt x="16554" y="307713"/>
                  </a:lnTo>
                  <a:lnTo>
                    <a:pt x="36002" y="347876"/>
                  </a:lnTo>
                  <a:lnTo>
                    <a:pt x="61792" y="381966"/>
                  </a:lnTo>
                  <a:lnTo>
                    <a:pt x="93094" y="409435"/>
                  </a:lnTo>
                  <a:lnTo>
                    <a:pt x="129079" y="429733"/>
                  </a:lnTo>
                  <a:lnTo>
                    <a:pt x="168917" y="442314"/>
                  </a:lnTo>
                  <a:lnTo>
                    <a:pt x="211779" y="446630"/>
                  </a:lnTo>
                  <a:lnTo>
                    <a:pt x="254648" y="442314"/>
                  </a:lnTo>
                  <a:lnTo>
                    <a:pt x="294492" y="429733"/>
                  </a:lnTo>
                  <a:lnTo>
                    <a:pt x="330481" y="409435"/>
                  </a:lnTo>
                  <a:lnTo>
                    <a:pt x="361786" y="381966"/>
                  </a:lnTo>
                  <a:lnTo>
                    <a:pt x="387578" y="347876"/>
                  </a:lnTo>
                  <a:lnTo>
                    <a:pt x="407027" y="307713"/>
                  </a:lnTo>
                  <a:lnTo>
                    <a:pt x="419304" y="262023"/>
                  </a:lnTo>
                  <a:lnTo>
                    <a:pt x="423581" y="211356"/>
                  </a:lnTo>
                  <a:lnTo>
                    <a:pt x="418021" y="162693"/>
                  </a:lnTo>
                  <a:lnTo>
                    <a:pt x="402165" y="118127"/>
                  </a:lnTo>
                  <a:lnTo>
                    <a:pt x="377252" y="78895"/>
                  </a:lnTo>
                  <a:lnTo>
                    <a:pt x="344519" y="46231"/>
                  </a:lnTo>
                  <a:lnTo>
                    <a:pt x="305204" y="21370"/>
                  </a:lnTo>
                  <a:lnTo>
                    <a:pt x="260545" y="5548"/>
                  </a:lnTo>
                  <a:lnTo>
                    <a:pt x="2117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524257" y="4098047"/>
              <a:ext cx="424180" cy="447040"/>
            </a:xfrm>
            <a:custGeom>
              <a:avLst/>
              <a:gdLst/>
              <a:ahLst/>
              <a:cxnLst/>
              <a:rect l="l" t="t" r="r" b="b"/>
              <a:pathLst>
                <a:path w="424180" h="447039">
                  <a:moveTo>
                    <a:pt x="0" y="211356"/>
                  </a:moveTo>
                  <a:lnTo>
                    <a:pt x="4276" y="262023"/>
                  </a:lnTo>
                  <a:lnTo>
                    <a:pt x="16554" y="307713"/>
                  </a:lnTo>
                  <a:lnTo>
                    <a:pt x="36002" y="347876"/>
                  </a:lnTo>
                  <a:lnTo>
                    <a:pt x="61792" y="381966"/>
                  </a:lnTo>
                  <a:lnTo>
                    <a:pt x="93094" y="409435"/>
                  </a:lnTo>
                  <a:lnTo>
                    <a:pt x="129079" y="429733"/>
                  </a:lnTo>
                  <a:lnTo>
                    <a:pt x="168917" y="442314"/>
                  </a:lnTo>
                  <a:lnTo>
                    <a:pt x="211779" y="446630"/>
                  </a:lnTo>
                  <a:lnTo>
                    <a:pt x="254648" y="442314"/>
                  </a:lnTo>
                  <a:lnTo>
                    <a:pt x="294492" y="429733"/>
                  </a:lnTo>
                  <a:lnTo>
                    <a:pt x="330481" y="409435"/>
                  </a:lnTo>
                  <a:lnTo>
                    <a:pt x="361786" y="381966"/>
                  </a:lnTo>
                  <a:lnTo>
                    <a:pt x="387578" y="347876"/>
                  </a:lnTo>
                  <a:lnTo>
                    <a:pt x="407027" y="307713"/>
                  </a:lnTo>
                  <a:lnTo>
                    <a:pt x="419304" y="262023"/>
                  </a:lnTo>
                  <a:lnTo>
                    <a:pt x="423581" y="211356"/>
                  </a:lnTo>
                  <a:lnTo>
                    <a:pt x="418021" y="162693"/>
                  </a:lnTo>
                  <a:lnTo>
                    <a:pt x="402165" y="118127"/>
                  </a:lnTo>
                  <a:lnTo>
                    <a:pt x="377252" y="78895"/>
                  </a:lnTo>
                  <a:lnTo>
                    <a:pt x="344519" y="46231"/>
                  </a:lnTo>
                  <a:lnTo>
                    <a:pt x="305204" y="21370"/>
                  </a:lnTo>
                  <a:lnTo>
                    <a:pt x="260545" y="5548"/>
                  </a:lnTo>
                  <a:lnTo>
                    <a:pt x="211779" y="0"/>
                  </a:lnTo>
                  <a:lnTo>
                    <a:pt x="163021" y="5548"/>
                  </a:lnTo>
                  <a:lnTo>
                    <a:pt x="118368" y="21370"/>
                  </a:lnTo>
                  <a:lnTo>
                    <a:pt x="79057" y="46231"/>
                  </a:lnTo>
                  <a:lnTo>
                    <a:pt x="46327" y="78895"/>
                  </a:lnTo>
                  <a:lnTo>
                    <a:pt x="21415" y="118127"/>
                  </a:lnTo>
                  <a:lnTo>
                    <a:pt x="5560" y="162693"/>
                  </a:lnTo>
                  <a:lnTo>
                    <a:pt x="0" y="211356"/>
                  </a:lnTo>
                </a:path>
              </a:pathLst>
            </a:custGeom>
            <a:ln w="46765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2641850" y="4179342"/>
            <a:ext cx="227329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25" dirty="0">
                <a:latin typeface="Times New Roman"/>
                <a:cs typeface="Times New Roman"/>
              </a:rPr>
              <a:t>T3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1066711" y="2758111"/>
            <a:ext cx="846455" cy="494030"/>
            <a:chOff x="1066711" y="2758111"/>
            <a:chExt cx="846455" cy="494030"/>
          </a:xfrm>
        </p:grpSpPr>
        <p:sp>
          <p:nvSpPr>
            <p:cNvPr id="129" name="object 129"/>
            <p:cNvSpPr/>
            <p:nvPr/>
          </p:nvSpPr>
          <p:spPr>
            <a:xfrm>
              <a:off x="1090206" y="2781606"/>
              <a:ext cx="799465" cy="447040"/>
            </a:xfrm>
            <a:custGeom>
              <a:avLst/>
              <a:gdLst/>
              <a:ahLst/>
              <a:cxnLst/>
              <a:rect l="l" t="t" r="r" b="b"/>
              <a:pathLst>
                <a:path w="799464" h="447039">
                  <a:moveTo>
                    <a:pt x="799228" y="0"/>
                  </a:moveTo>
                  <a:lnTo>
                    <a:pt x="0" y="0"/>
                  </a:lnTo>
                  <a:lnTo>
                    <a:pt x="0" y="446630"/>
                  </a:lnTo>
                  <a:lnTo>
                    <a:pt x="799228" y="446630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090206" y="2781606"/>
              <a:ext cx="799465" cy="447040"/>
            </a:xfrm>
            <a:custGeom>
              <a:avLst/>
              <a:gdLst/>
              <a:ahLst/>
              <a:cxnLst/>
              <a:rect l="l" t="t" r="r" b="b"/>
              <a:pathLst>
                <a:path w="799464" h="447039">
                  <a:moveTo>
                    <a:pt x="0" y="446630"/>
                  </a:moveTo>
                  <a:lnTo>
                    <a:pt x="799228" y="446630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46630"/>
                  </a:lnTo>
                  <a:close/>
                </a:path>
              </a:pathLst>
            </a:custGeom>
            <a:ln w="46737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1419601" y="2862808"/>
            <a:ext cx="149225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450" spc="-50" dirty="0">
                <a:latin typeface="Times New Roman"/>
                <a:cs typeface="Times New Roman"/>
              </a:rPr>
              <a:t>A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1066836" y="3816046"/>
            <a:ext cx="846455" cy="516890"/>
            <a:chOff x="1066836" y="3816046"/>
            <a:chExt cx="846455" cy="516890"/>
          </a:xfrm>
        </p:grpSpPr>
        <p:sp>
          <p:nvSpPr>
            <p:cNvPr id="133" name="object 133"/>
            <p:cNvSpPr/>
            <p:nvPr/>
          </p:nvSpPr>
          <p:spPr>
            <a:xfrm>
              <a:off x="1090206" y="3839416"/>
              <a:ext cx="799465" cy="470534"/>
            </a:xfrm>
            <a:custGeom>
              <a:avLst/>
              <a:gdLst/>
              <a:ahLst/>
              <a:cxnLst/>
              <a:rect l="l" t="t" r="r" b="b"/>
              <a:pathLst>
                <a:path w="799464" h="470535">
                  <a:moveTo>
                    <a:pt x="799228" y="0"/>
                  </a:moveTo>
                  <a:lnTo>
                    <a:pt x="0" y="0"/>
                  </a:lnTo>
                  <a:lnTo>
                    <a:pt x="0" y="469987"/>
                  </a:lnTo>
                  <a:lnTo>
                    <a:pt x="799228" y="469987"/>
                  </a:lnTo>
                  <a:lnTo>
                    <a:pt x="7992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090206" y="3839416"/>
              <a:ext cx="799465" cy="470534"/>
            </a:xfrm>
            <a:custGeom>
              <a:avLst/>
              <a:gdLst/>
              <a:ahLst/>
              <a:cxnLst/>
              <a:rect l="l" t="t" r="r" b="b"/>
              <a:pathLst>
                <a:path w="799464" h="470535">
                  <a:moveTo>
                    <a:pt x="0" y="469987"/>
                  </a:moveTo>
                  <a:lnTo>
                    <a:pt x="799228" y="469987"/>
                  </a:lnTo>
                  <a:lnTo>
                    <a:pt x="799228" y="0"/>
                  </a:lnTo>
                  <a:lnTo>
                    <a:pt x="0" y="0"/>
                  </a:lnTo>
                  <a:lnTo>
                    <a:pt x="0" y="469987"/>
                  </a:lnTo>
                  <a:close/>
                </a:path>
              </a:pathLst>
            </a:custGeom>
            <a:ln w="46739">
              <a:solidFill>
                <a:srgbClr val="0083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1114207" y="3886105"/>
            <a:ext cx="846455" cy="51752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R="101600" algn="ctr">
              <a:lnSpc>
                <a:spcPct val="100000"/>
              </a:lnSpc>
              <a:spcBef>
                <a:spcPts val="400"/>
              </a:spcBef>
            </a:pPr>
            <a:r>
              <a:rPr sz="1450" spc="-50" dirty="0">
                <a:latin typeface="Times New Roman"/>
                <a:cs typeface="Times New Roman"/>
              </a:rPr>
              <a:t>B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9" name="object 1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136" name="object 136"/>
          <p:cNvSpPr txBox="1"/>
          <p:nvPr/>
        </p:nvSpPr>
        <p:spPr>
          <a:xfrm>
            <a:off x="1547900" y="5636567"/>
            <a:ext cx="920115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spc="-114" dirty="0">
                <a:latin typeface="Times New Roman"/>
                <a:cs typeface="Times New Roman"/>
              </a:rPr>
              <a:t>Testsequence1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3851866" y="5636567"/>
            <a:ext cx="920115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spc="-114" dirty="0">
                <a:latin typeface="Times New Roman"/>
                <a:cs typeface="Times New Roman"/>
              </a:rPr>
              <a:t>Testsequence2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6226168" y="5636567"/>
            <a:ext cx="897255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spc="-515" dirty="0">
                <a:latin typeface="Times New Roman"/>
                <a:cs typeface="Times New Roman"/>
              </a:rPr>
              <a:t>T</a:t>
            </a:r>
            <a:r>
              <a:rPr sz="1450" spc="-90" dirty="0">
                <a:latin typeface="Times New Roman"/>
                <a:cs typeface="Times New Roman"/>
              </a:rPr>
              <a:t>e</a:t>
            </a:r>
            <a:r>
              <a:rPr sz="1450" spc="-195" dirty="0">
                <a:latin typeface="Times New Roman"/>
                <a:cs typeface="Times New Roman"/>
              </a:rPr>
              <a:t>s</a:t>
            </a:r>
            <a:r>
              <a:rPr sz="1450" spc="-30" dirty="0">
                <a:latin typeface="Times New Roman"/>
                <a:cs typeface="Times New Roman"/>
              </a:rPr>
              <a:t>t</a:t>
            </a:r>
            <a:r>
              <a:rPr sz="1450" spc="-195" dirty="0">
                <a:latin typeface="Times New Roman"/>
                <a:cs typeface="Times New Roman"/>
              </a:rPr>
              <a:t>s</a:t>
            </a:r>
            <a:r>
              <a:rPr sz="1450" spc="-90" dirty="0">
                <a:latin typeface="Times New Roman"/>
                <a:cs typeface="Times New Roman"/>
              </a:rPr>
              <a:t>e</a:t>
            </a:r>
            <a:r>
              <a:rPr sz="1450" spc="-170" dirty="0">
                <a:latin typeface="Times New Roman"/>
                <a:cs typeface="Times New Roman"/>
              </a:rPr>
              <a:t>qu</a:t>
            </a:r>
            <a:r>
              <a:rPr sz="1450" spc="-90" dirty="0">
                <a:latin typeface="Times New Roman"/>
                <a:cs typeface="Times New Roman"/>
              </a:rPr>
              <a:t>e</a:t>
            </a:r>
            <a:r>
              <a:rPr sz="1450" spc="-170" dirty="0">
                <a:latin typeface="Times New Roman"/>
                <a:cs typeface="Times New Roman"/>
              </a:rPr>
              <a:t>n</a:t>
            </a:r>
            <a:r>
              <a:rPr sz="1450" spc="-90" dirty="0">
                <a:latin typeface="Times New Roman"/>
                <a:cs typeface="Times New Roman"/>
              </a:rPr>
              <a:t>c</a:t>
            </a:r>
            <a:r>
              <a:rPr sz="1450" spc="95" dirty="0">
                <a:latin typeface="Times New Roman"/>
                <a:cs typeface="Times New Roman"/>
              </a:rPr>
              <a:t>e</a:t>
            </a:r>
            <a:r>
              <a:rPr sz="1450" spc="15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42973"/>
            <a:ext cx="7926070" cy="3611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400" spc="-10" dirty="0">
                <a:latin typeface="Lucida Sans Unicode"/>
                <a:cs typeface="Lucida Sans Unicode"/>
              </a:rPr>
              <a:t>Architectural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validation</a:t>
            </a:r>
            <a:endParaRPr sz="24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ts val="2280"/>
              </a:lnSpc>
              <a:spcBef>
                <a:spcPts val="11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spc="-10" dirty="0">
                <a:latin typeface="Lucida Sans Unicode"/>
                <a:cs typeface="Lucida Sans Unicode"/>
              </a:rPr>
              <a:t>Top-</a:t>
            </a:r>
            <a:r>
              <a:rPr sz="2000" dirty="0">
                <a:latin typeface="Lucida Sans Unicode"/>
                <a:cs typeface="Lucida Sans Unicode"/>
              </a:rPr>
              <a:t>down</a:t>
            </a:r>
            <a:r>
              <a:rPr sz="2000" spc="-7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integration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testing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is</a:t>
            </a:r>
            <a:r>
              <a:rPr sz="2000" spc="-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better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at</a:t>
            </a:r>
            <a:r>
              <a:rPr sz="2000" spc="-1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discovering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errors</a:t>
            </a:r>
            <a:endParaRPr sz="2000">
              <a:latin typeface="Lucida Sans Unicode"/>
              <a:cs typeface="Lucida Sans Unicode"/>
            </a:endParaRPr>
          </a:p>
          <a:p>
            <a:pPr marL="524510">
              <a:lnSpc>
                <a:spcPts val="2280"/>
              </a:lnSpc>
            </a:pPr>
            <a:r>
              <a:rPr sz="2000" dirty="0">
                <a:latin typeface="Lucida Sans Unicode"/>
                <a:cs typeface="Lucida Sans Unicode"/>
              </a:rPr>
              <a:t>in</a:t>
            </a:r>
            <a:r>
              <a:rPr sz="2000" spc="-5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the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system</a:t>
            </a:r>
            <a:r>
              <a:rPr sz="2000" spc="-1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architecture.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400" dirty="0">
                <a:latin typeface="Lucida Sans Unicode"/>
                <a:cs typeface="Lucida Sans Unicode"/>
              </a:rPr>
              <a:t>System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demonstration</a:t>
            </a:r>
            <a:endParaRPr sz="2400">
              <a:latin typeface="Lucida Sans Unicode"/>
              <a:cs typeface="Lucida Sans Unicode"/>
            </a:endParaRPr>
          </a:p>
          <a:p>
            <a:pPr marL="524510" marR="939800" lvl="1" indent="-229235">
              <a:lnSpc>
                <a:spcPts val="2160"/>
              </a:lnSpc>
              <a:spcBef>
                <a:spcPts val="37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spc="-10" dirty="0">
                <a:latin typeface="Lucida Sans Unicode"/>
                <a:cs typeface="Lucida Sans Unicode"/>
              </a:rPr>
              <a:t>Top-</a:t>
            </a:r>
            <a:r>
              <a:rPr sz="2000" dirty="0">
                <a:latin typeface="Lucida Sans Unicode"/>
                <a:cs typeface="Lucida Sans Unicode"/>
              </a:rPr>
              <a:t>down</a:t>
            </a:r>
            <a:r>
              <a:rPr sz="2000" spc="-6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integration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testing</a:t>
            </a:r>
            <a:r>
              <a:rPr sz="2000" spc="-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allows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</a:t>
            </a:r>
            <a:r>
              <a:rPr sz="2000" spc="-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limited </a:t>
            </a:r>
            <a:r>
              <a:rPr sz="2000" dirty="0">
                <a:latin typeface="Lucida Sans Unicode"/>
                <a:cs typeface="Lucida Sans Unicode"/>
              </a:rPr>
              <a:t>demonstration</a:t>
            </a:r>
            <a:r>
              <a:rPr sz="2000" spc="-7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at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an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early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stage</a:t>
            </a:r>
            <a:r>
              <a:rPr sz="2000" spc="-1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in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the</a:t>
            </a:r>
            <a:r>
              <a:rPr sz="2000" spc="-3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development.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400" spc="-15" dirty="0">
                <a:latin typeface="Lucida Sans Unicode"/>
                <a:cs typeface="Lucida Sans Unicode"/>
              </a:rPr>
              <a:t>Test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implementation</a:t>
            </a:r>
            <a:endParaRPr sz="24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105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Often</a:t>
            </a:r>
            <a:r>
              <a:rPr sz="2000" spc="-4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easier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with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bottom-</a:t>
            </a:r>
            <a:r>
              <a:rPr sz="2000" dirty="0">
                <a:latin typeface="Lucida Sans Unicode"/>
                <a:cs typeface="Lucida Sans Unicode"/>
              </a:rPr>
              <a:t>up</a:t>
            </a:r>
            <a:r>
              <a:rPr sz="2000" spc="-3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integration</a:t>
            </a:r>
            <a:r>
              <a:rPr sz="2000" spc="-35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testing.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400" spc="-15" dirty="0">
                <a:latin typeface="Lucida Sans Unicode"/>
                <a:cs typeface="Lucida Sans Unicode"/>
              </a:rPr>
              <a:t>Test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observation</a:t>
            </a:r>
            <a:endParaRPr sz="2400">
              <a:latin typeface="Lucida Sans Unicode"/>
              <a:cs typeface="Lucida Sans Unicode"/>
            </a:endParaRPr>
          </a:p>
          <a:p>
            <a:pPr marL="524510" marR="1069340" lvl="1" indent="-229235">
              <a:lnSpc>
                <a:spcPts val="2160"/>
              </a:lnSpc>
              <a:spcBef>
                <a:spcPts val="385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000" dirty="0">
                <a:latin typeface="Lucida Sans Unicode"/>
                <a:cs typeface="Lucida Sans Unicode"/>
              </a:rPr>
              <a:t>Problems</a:t>
            </a:r>
            <a:r>
              <a:rPr sz="2000" spc="-5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with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both</a:t>
            </a:r>
            <a:r>
              <a:rPr sz="2000" spc="-2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approaches.</a:t>
            </a:r>
            <a:r>
              <a:rPr sz="2000" spc="-5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Extra</a:t>
            </a:r>
            <a:r>
              <a:rPr sz="2000" spc="-20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code</a:t>
            </a:r>
            <a:r>
              <a:rPr sz="2000" spc="-1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may</a:t>
            </a:r>
            <a:r>
              <a:rPr sz="2000" spc="-35" dirty="0">
                <a:latin typeface="Lucida Sans Unicode"/>
                <a:cs typeface="Lucida Sans Unicode"/>
              </a:rPr>
              <a:t> </a:t>
            </a:r>
            <a:r>
              <a:rPr sz="2000" spc="-25" dirty="0">
                <a:latin typeface="Lucida Sans Unicode"/>
                <a:cs typeface="Lucida Sans Unicode"/>
              </a:rPr>
              <a:t>be </a:t>
            </a:r>
            <a:r>
              <a:rPr sz="2000" dirty="0">
                <a:latin typeface="Lucida Sans Unicode"/>
                <a:cs typeface="Lucida Sans Unicode"/>
              </a:rPr>
              <a:t>required</a:t>
            </a:r>
            <a:r>
              <a:rPr sz="2000" spc="-6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to</a:t>
            </a:r>
            <a:r>
              <a:rPr sz="2000" spc="-35" dirty="0">
                <a:latin typeface="Lucida Sans Unicode"/>
                <a:cs typeface="Lucida Sans Unicode"/>
              </a:rPr>
              <a:t> </a:t>
            </a:r>
            <a:r>
              <a:rPr sz="2000" dirty="0">
                <a:latin typeface="Lucida Sans Unicode"/>
                <a:cs typeface="Lucida Sans Unicode"/>
              </a:rPr>
              <a:t>observe</a:t>
            </a:r>
            <a:r>
              <a:rPr sz="2000" spc="-30" dirty="0">
                <a:latin typeface="Lucida Sans Unicode"/>
                <a:cs typeface="Lucida Sans Unicode"/>
              </a:rPr>
              <a:t> </a:t>
            </a:r>
            <a:r>
              <a:rPr sz="2000" spc="-10" dirty="0">
                <a:latin typeface="Lucida Sans Unicode"/>
                <a:cs typeface="Lucida Sans Unicode"/>
              </a:rPr>
              <a:t>tests.</a:t>
            </a:r>
            <a:endParaRPr sz="20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1" y="571500"/>
            <a:ext cx="4965192" cy="5486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1459"/>
            <a:ext cx="479234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Testing</a:t>
            </a:r>
            <a:r>
              <a:rPr sz="3900" b="1" spc="-6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Approaches</a:t>
            </a:r>
            <a:endParaRPr sz="3900">
              <a:latin typeface="Arial"/>
              <a:cs typeface="Arial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3BCE7B27-DBDD-9F26-1D48-E4F68B464184}"/>
              </a:ext>
            </a:extLst>
          </p:cNvPr>
          <p:cNvSpPr txBox="1"/>
          <p:nvPr/>
        </p:nvSpPr>
        <p:spPr>
          <a:xfrm>
            <a:off x="114300" y="1447800"/>
            <a:ext cx="8915400" cy="52354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  <a:buClr>
                <a:srgbClr val="330066"/>
              </a:buClr>
              <a:buSzPct val="70312"/>
              <a:buFont typeface="Wingdings"/>
              <a:buChar char=""/>
              <a:tabLst>
                <a:tab pos="355600" algn="l"/>
              </a:tabLst>
            </a:pPr>
            <a:r>
              <a:rPr sz="3200" spc="-5" dirty="0">
                <a:latin typeface="Arial MT"/>
                <a:cs typeface="Arial MT"/>
              </a:rPr>
              <a:t>Tests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can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be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conducted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based</a:t>
            </a:r>
            <a:r>
              <a:rPr sz="3200" spc="-5" dirty="0">
                <a:latin typeface="Arial MT"/>
                <a:cs typeface="Arial MT"/>
              </a:rPr>
              <a:t> on</a:t>
            </a:r>
            <a:r>
              <a:rPr sz="3200" dirty="0">
                <a:latin typeface="Arial MT"/>
                <a:cs typeface="Arial MT"/>
              </a:rPr>
              <a:t> two 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approaches:</a:t>
            </a:r>
            <a:endParaRPr sz="3200" dirty="0">
              <a:latin typeface="Arial MT"/>
              <a:cs typeface="Arial MT"/>
            </a:endParaRPr>
          </a:p>
          <a:p>
            <a:pPr marL="704215" lvl="1" indent="-347980" algn="just">
              <a:lnSpc>
                <a:spcPct val="100000"/>
              </a:lnSpc>
              <a:spcBef>
                <a:spcPts val="690"/>
              </a:spcBef>
              <a:buClr>
                <a:srgbClr val="669999"/>
              </a:buClr>
              <a:buSzPct val="69642"/>
              <a:buFont typeface="Wingdings"/>
              <a:buChar char=""/>
              <a:tabLst>
                <a:tab pos="704850" algn="l"/>
              </a:tabLst>
            </a:pPr>
            <a:r>
              <a:rPr sz="2800" spc="-5" dirty="0">
                <a:latin typeface="Arial MT"/>
                <a:cs typeface="Arial MT"/>
              </a:rPr>
              <a:t>Functionality</a:t>
            </a:r>
            <a:r>
              <a:rPr sz="2800" dirty="0">
                <a:latin typeface="Arial MT"/>
                <a:cs typeface="Arial MT"/>
              </a:rPr>
              <a:t> testing</a:t>
            </a:r>
          </a:p>
          <a:p>
            <a:pPr marL="704215" lvl="1" indent="-347980" algn="just">
              <a:lnSpc>
                <a:spcPct val="100000"/>
              </a:lnSpc>
              <a:spcBef>
                <a:spcPts val="675"/>
              </a:spcBef>
              <a:buClr>
                <a:srgbClr val="669999"/>
              </a:buClr>
              <a:buSzPct val="69642"/>
              <a:buFont typeface="Wingdings"/>
              <a:buChar char=""/>
              <a:tabLst>
                <a:tab pos="704850" algn="l"/>
              </a:tabLst>
            </a:pPr>
            <a:r>
              <a:rPr sz="2800" dirty="0">
                <a:latin typeface="Arial MT"/>
                <a:cs typeface="Arial MT"/>
              </a:rPr>
              <a:t>Implementation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testing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670"/>
              </a:spcBef>
              <a:buClr>
                <a:srgbClr val="330066"/>
              </a:buClr>
              <a:buSzPct val="69642"/>
              <a:buFont typeface="Wingdings"/>
              <a:buChar char=""/>
              <a:tabLst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When</a:t>
            </a:r>
            <a:r>
              <a:rPr sz="2800" spc="6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functionality</a:t>
            </a:r>
            <a:r>
              <a:rPr sz="2800" spc="6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spc="6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being</a:t>
            </a:r>
            <a:r>
              <a:rPr sz="2800" spc="6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tested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without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taking </a:t>
            </a:r>
            <a:r>
              <a:rPr sz="2800" spc="-77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actual implementation </a:t>
            </a:r>
            <a:r>
              <a:rPr sz="2800" spc="-5" dirty="0">
                <a:latin typeface="Arial MT"/>
                <a:cs typeface="Arial MT"/>
              </a:rPr>
              <a:t>in concern it is known </a:t>
            </a:r>
            <a:r>
              <a:rPr sz="2800" dirty="0">
                <a:latin typeface="Arial MT"/>
                <a:cs typeface="Arial MT"/>
              </a:rPr>
              <a:t>as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black-box testing</a:t>
            </a:r>
            <a:r>
              <a:rPr sz="2800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670"/>
              </a:spcBef>
              <a:buClr>
                <a:srgbClr val="330066"/>
              </a:buClr>
              <a:buSzPct val="69642"/>
              <a:buFont typeface="Wingdings"/>
              <a:buChar char=""/>
              <a:tabLst>
                <a:tab pos="355600" algn="l"/>
              </a:tabLst>
            </a:pPr>
            <a:r>
              <a:rPr lang="en-US" sz="2800" i="0" dirty="0">
                <a:solidFill>
                  <a:srgbClr val="080809"/>
                </a:solidFill>
                <a:effectLst/>
                <a:latin typeface="Arial MT"/>
              </a:rPr>
              <a:t>In </a:t>
            </a:r>
            <a:r>
              <a:rPr lang="en-US" sz="2800" i="0" dirty="0" err="1">
                <a:solidFill>
                  <a:srgbClr val="080809"/>
                </a:solidFill>
                <a:effectLst/>
                <a:latin typeface="Arial MT"/>
              </a:rPr>
              <a:t>otherword</a:t>
            </a:r>
            <a:r>
              <a:rPr lang="en-US" sz="2800" i="0" dirty="0">
                <a:solidFill>
                  <a:srgbClr val="080809"/>
                </a:solidFill>
                <a:effectLst/>
                <a:latin typeface="Arial MT"/>
              </a:rPr>
              <a:t> Black box testing is a software testing methodology in which the tester analyzes the functionality of an application without a thorough knowledge of its internal design.</a:t>
            </a:r>
            <a:endParaRPr lang="en-US"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1459"/>
            <a:ext cx="7084060" cy="6129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Testing</a:t>
            </a:r>
            <a:r>
              <a:rPr sz="3900" b="1" spc="-6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Approaches</a:t>
            </a:r>
            <a:r>
              <a:rPr lang="en-US" sz="3900" b="1" dirty="0">
                <a:solidFill>
                  <a:srgbClr val="330066"/>
                </a:solidFill>
                <a:latin typeface="Arial"/>
                <a:cs typeface="Arial"/>
              </a:rPr>
              <a:t> (</a:t>
            </a:r>
            <a:r>
              <a:rPr lang="en-US" sz="3900" b="1" dirty="0" err="1">
                <a:solidFill>
                  <a:srgbClr val="330066"/>
                </a:solidFill>
                <a:latin typeface="Arial"/>
                <a:cs typeface="Arial"/>
              </a:rPr>
              <a:t>Cont</a:t>
            </a:r>
            <a:r>
              <a:rPr lang="en-US" sz="3900" b="1" dirty="0">
                <a:solidFill>
                  <a:srgbClr val="330066"/>
                </a:solidFill>
                <a:latin typeface="Arial"/>
                <a:cs typeface="Arial"/>
              </a:rPr>
              <a:t>…)</a:t>
            </a:r>
            <a:endParaRPr sz="39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6951" y="1740535"/>
            <a:ext cx="8418195" cy="268855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99800"/>
              </a:lnSpc>
              <a:spcBef>
                <a:spcPts val="680"/>
              </a:spcBef>
              <a:buClr>
                <a:srgbClr val="330066"/>
              </a:buClr>
              <a:buSzPct val="69642"/>
              <a:buFont typeface="Wingdings"/>
              <a:buChar char=""/>
              <a:tabLst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other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side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known</a:t>
            </a:r>
            <a:r>
              <a:rPr sz="2800" dirty="0">
                <a:latin typeface="Arial MT"/>
                <a:cs typeface="Arial MT"/>
              </a:rPr>
              <a:t> as</a:t>
            </a:r>
            <a:r>
              <a:rPr sz="2800" spc="77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white-box</a:t>
            </a:r>
            <a:r>
              <a:rPr sz="2800" spc="7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Arial MT"/>
                <a:cs typeface="Arial MT"/>
              </a:rPr>
              <a:t>testing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where </a:t>
            </a:r>
            <a:r>
              <a:rPr sz="2800" dirty="0">
                <a:latin typeface="Arial MT"/>
                <a:cs typeface="Arial MT"/>
              </a:rPr>
              <a:t>not </a:t>
            </a:r>
            <a:r>
              <a:rPr sz="2800" spc="-5" dirty="0">
                <a:latin typeface="Arial MT"/>
                <a:cs typeface="Arial MT"/>
              </a:rPr>
              <a:t>only </a:t>
            </a:r>
            <a:r>
              <a:rPr sz="2800" dirty="0">
                <a:latin typeface="Arial MT"/>
                <a:cs typeface="Arial MT"/>
              </a:rPr>
              <a:t>functionality </a:t>
            </a:r>
            <a:r>
              <a:rPr sz="2800" spc="-5" dirty="0">
                <a:latin typeface="Arial MT"/>
                <a:cs typeface="Arial MT"/>
              </a:rPr>
              <a:t>is tested </a:t>
            </a:r>
            <a:r>
              <a:rPr sz="2800" dirty="0">
                <a:latin typeface="Arial MT"/>
                <a:cs typeface="Arial MT"/>
              </a:rPr>
              <a:t>but </a:t>
            </a:r>
            <a:r>
              <a:rPr sz="2800" spc="-5" dirty="0">
                <a:latin typeface="Arial MT"/>
                <a:cs typeface="Arial MT"/>
              </a:rPr>
              <a:t>the way it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implemented</a:t>
            </a:r>
            <a:r>
              <a:rPr sz="2800" spc="4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also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 err="1">
                <a:latin typeface="Arial MT"/>
                <a:cs typeface="Arial MT"/>
              </a:rPr>
              <a:t>analysed</a:t>
            </a:r>
            <a:r>
              <a:rPr sz="2800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99800"/>
              </a:lnSpc>
              <a:spcBef>
                <a:spcPts val="680"/>
              </a:spcBef>
              <a:buClr>
                <a:srgbClr val="330066"/>
              </a:buClr>
              <a:buSzPct val="69642"/>
              <a:buFont typeface="Wingdings"/>
              <a:buChar char=""/>
              <a:tabLst>
                <a:tab pos="355600" algn="l"/>
              </a:tabLst>
            </a:pPr>
            <a:r>
              <a:rPr lang="en-US" sz="2800" i="0" dirty="0">
                <a:solidFill>
                  <a:srgbClr val="080809"/>
                </a:solidFill>
                <a:effectLst/>
                <a:latin typeface="Arial MT"/>
              </a:rPr>
              <a:t>In white box testing, the tester is knowledgeable of the internal design of the application and analyzes it during testing.</a:t>
            </a:r>
            <a:endParaRPr sz="2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423838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1459"/>
            <a:ext cx="178752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spc="-5" dirty="0">
                <a:solidFill>
                  <a:srgbClr val="330066"/>
                </a:solidFill>
                <a:latin typeface="Arial"/>
                <a:cs typeface="Arial"/>
              </a:rPr>
              <a:t>Te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sting</a:t>
            </a:r>
            <a:endParaRPr sz="3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743582"/>
            <a:ext cx="8070850" cy="2490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985" indent="-342900">
              <a:lnSpc>
                <a:spcPct val="100000"/>
              </a:lnSpc>
              <a:spcBef>
                <a:spcPts val="95"/>
              </a:spcBef>
              <a:buClr>
                <a:srgbClr val="330066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Exhaustive</a:t>
            </a:r>
            <a:r>
              <a:rPr sz="2800" spc="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tests</a:t>
            </a:r>
            <a:r>
              <a:rPr sz="2800" spc="6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are</a:t>
            </a:r>
            <a:r>
              <a:rPr sz="2800" spc="5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best-desired</a:t>
            </a:r>
            <a:r>
              <a:rPr sz="2800" spc="7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method</a:t>
            </a:r>
            <a:r>
              <a:rPr sz="2800" spc="7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for </a:t>
            </a:r>
            <a:r>
              <a:rPr sz="2800" spc="-76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 perfect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testing.</a:t>
            </a:r>
            <a:endParaRPr sz="2800">
              <a:latin typeface="Arial MT"/>
              <a:cs typeface="Arial MT"/>
            </a:endParaRPr>
          </a:p>
          <a:p>
            <a:pPr marL="704850" marR="5715" lvl="1" indent="-347980">
              <a:lnSpc>
                <a:spcPct val="100000"/>
              </a:lnSpc>
              <a:spcBef>
                <a:spcPts val="595"/>
              </a:spcBef>
              <a:buClr>
                <a:srgbClr val="669999"/>
              </a:buClr>
              <a:buSzPct val="68750"/>
              <a:buFont typeface="Wingdings"/>
              <a:buChar char=""/>
              <a:tabLst>
                <a:tab pos="704215" algn="l"/>
                <a:tab pos="705485" algn="l"/>
                <a:tab pos="1610995" algn="l"/>
                <a:tab pos="2536825" algn="l"/>
                <a:tab pos="3783329" algn="l"/>
                <a:tab pos="4639945" algn="l"/>
                <a:tab pos="5005705" algn="l"/>
                <a:tab pos="5556250" algn="l"/>
                <a:tab pos="6463030" algn="l"/>
                <a:tab pos="6844030" algn="l"/>
                <a:tab pos="7395845" algn="l"/>
              </a:tabLst>
            </a:pPr>
            <a:r>
              <a:rPr sz="2400" dirty="0">
                <a:latin typeface="Arial MT"/>
                <a:cs typeface="Arial MT"/>
              </a:rPr>
              <a:t>Ev</a:t>
            </a:r>
            <a:r>
              <a:rPr sz="2400" spc="-10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ry	</a:t>
            </a:r>
            <a:r>
              <a:rPr sz="2400" spc="-5" dirty="0">
                <a:latin typeface="Arial MT"/>
                <a:cs typeface="Arial MT"/>
              </a:rPr>
              <a:t>si</a:t>
            </a:r>
            <a:r>
              <a:rPr sz="2400" spc="-15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g</a:t>
            </a:r>
            <a:r>
              <a:rPr sz="2400" spc="-5" dirty="0">
                <a:latin typeface="Arial MT"/>
                <a:cs typeface="Arial MT"/>
              </a:rPr>
              <a:t>le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possi</a:t>
            </a:r>
            <a:r>
              <a:rPr sz="2400" dirty="0">
                <a:latin typeface="Arial MT"/>
                <a:cs typeface="Arial MT"/>
              </a:rPr>
              <a:t>b</a:t>
            </a:r>
            <a:r>
              <a:rPr sz="2400" spc="-5" dirty="0">
                <a:latin typeface="Arial MT"/>
                <a:cs typeface="Arial MT"/>
              </a:rPr>
              <a:t>le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value</a:t>
            </a:r>
            <a:r>
              <a:rPr sz="2400" dirty="0">
                <a:latin typeface="Arial MT"/>
                <a:cs typeface="Arial MT"/>
              </a:rPr>
              <a:t>	i</a:t>
            </a:r>
            <a:r>
              <a:rPr sz="2400" spc="-5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	t</a:t>
            </a:r>
            <a:r>
              <a:rPr sz="2400" spc="-10" dirty="0">
                <a:latin typeface="Arial MT"/>
                <a:cs typeface="Arial MT"/>
              </a:rPr>
              <a:t>h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range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o</a:t>
            </a:r>
            <a:r>
              <a:rPr sz="2400" dirty="0">
                <a:latin typeface="Arial MT"/>
                <a:cs typeface="Arial MT"/>
              </a:rPr>
              <a:t>f	the	</a:t>
            </a:r>
            <a:r>
              <a:rPr sz="2400" spc="-5" dirty="0">
                <a:latin typeface="Arial MT"/>
                <a:cs typeface="Arial MT"/>
              </a:rPr>
              <a:t>i</a:t>
            </a:r>
            <a:r>
              <a:rPr sz="2400" spc="-15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put 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output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tested.</a:t>
            </a:r>
            <a:endParaRPr sz="2400">
              <a:latin typeface="Arial MT"/>
              <a:cs typeface="Arial MT"/>
            </a:endParaRPr>
          </a:p>
          <a:p>
            <a:pPr marL="704850" lvl="1" indent="-348615">
              <a:lnSpc>
                <a:spcPct val="100000"/>
              </a:lnSpc>
              <a:spcBef>
                <a:spcPts val="575"/>
              </a:spcBef>
              <a:buClr>
                <a:srgbClr val="669999"/>
              </a:buClr>
              <a:buSzPct val="68750"/>
              <a:buFont typeface="Wingdings"/>
              <a:buChar char=""/>
              <a:tabLst>
                <a:tab pos="704215" algn="l"/>
                <a:tab pos="705485" algn="l"/>
              </a:tabLst>
            </a:pP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not</a:t>
            </a:r>
            <a:r>
              <a:rPr sz="2400" spc="2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possible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2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test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each</a:t>
            </a:r>
            <a:r>
              <a:rPr sz="2400" spc="2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every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</a:t>
            </a:r>
            <a:r>
              <a:rPr sz="2400" spc="2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2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real</a:t>
            </a:r>
            <a:endParaRPr sz="2400">
              <a:latin typeface="Arial MT"/>
              <a:cs typeface="Arial MT"/>
            </a:endParaRPr>
          </a:p>
          <a:p>
            <a:pPr marL="70485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MT"/>
                <a:cs typeface="Arial MT"/>
              </a:rPr>
              <a:t>world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scenario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if</a:t>
            </a:r>
            <a:r>
              <a:rPr sz="2400" dirty="0">
                <a:latin typeface="Arial MT"/>
                <a:cs typeface="Arial MT"/>
              </a:rPr>
              <a:t>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range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values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large.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62900" y="1052575"/>
            <a:ext cx="0" cy="624205"/>
          </a:xfrm>
          <a:custGeom>
            <a:avLst/>
            <a:gdLst/>
            <a:ahLst/>
            <a:cxnLst/>
            <a:rect l="l" t="t" r="r" b="b"/>
            <a:pathLst>
              <a:path h="624205">
                <a:moveTo>
                  <a:pt x="0" y="0"/>
                </a:moveTo>
                <a:lnTo>
                  <a:pt x="0" y="6238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152400"/>
            <a:ext cx="120142" cy="1198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1547" y="152400"/>
            <a:ext cx="118618" cy="1198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89695" y="152400"/>
            <a:ext cx="115697" cy="1198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53400" y="320293"/>
            <a:ext cx="120142" cy="1154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21547" y="320293"/>
            <a:ext cx="118618" cy="1154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57843" y="320293"/>
            <a:ext cx="118617" cy="11544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89695" y="320293"/>
            <a:ext cx="115697" cy="1154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53400" y="488187"/>
            <a:ext cx="120142" cy="11544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21547" y="488187"/>
            <a:ext cx="118618" cy="11544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89695" y="488187"/>
            <a:ext cx="115697" cy="11544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57843" y="488187"/>
            <a:ext cx="118617" cy="11544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26118" y="488187"/>
            <a:ext cx="120014" cy="11544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656208"/>
            <a:ext cx="120142" cy="11988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89695" y="656208"/>
            <a:ext cx="115697" cy="11988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21547" y="656208"/>
            <a:ext cx="118618" cy="11988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657843" y="656208"/>
            <a:ext cx="118617" cy="11988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53400" y="824102"/>
            <a:ext cx="120142" cy="11988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21547" y="824102"/>
            <a:ext cx="118618" cy="11988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489695" y="824102"/>
            <a:ext cx="115697" cy="11988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657843" y="824102"/>
            <a:ext cx="118617" cy="11988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826118" y="824102"/>
            <a:ext cx="120014" cy="11988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153400" y="991997"/>
            <a:ext cx="120142" cy="11849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489695" y="991997"/>
            <a:ext cx="115697" cy="11849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321547" y="991997"/>
            <a:ext cx="118618" cy="11849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657843" y="991997"/>
            <a:ext cx="118617" cy="11849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153400" y="1159891"/>
            <a:ext cx="120142" cy="11544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321547" y="1159891"/>
            <a:ext cx="118618" cy="11544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657843" y="1159891"/>
            <a:ext cx="118617" cy="11544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489695" y="1159891"/>
            <a:ext cx="115697" cy="11544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321547" y="1327911"/>
            <a:ext cx="118618" cy="11988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657843" y="1327911"/>
            <a:ext cx="118617" cy="119887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240791" y="122301"/>
            <a:ext cx="7760334" cy="1226820"/>
            <a:chOff x="240791" y="122301"/>
            <a:chExt cx="7760334" cy="1226820"/>
          </a:xfrm>
        </p:grpSpPr>
        <p:sp>
          <p:nvSpPr>
            <p:cNvPr id="35" name="object 35"/>
            <p:cNvSpPr/>
            <p:nvPr/>
          </p:nvSpPr>
          <p:spPr>
            <a:xfrm>
              <a:off x="457200" y="122301"/>
              <a:ext cx="7543800" cy="930275"/>
            </a:xfrm>
            <a:custGeom>
              <a:avLst/>
              <a:gdLst/>
              <a:ahLst/>
              <a:cxnLst/>
              <a:rect l="l" t="t" r="r" b="b"/>
              <a:pathLst>
                <a:path w="7543800" h="930275">
                  <a:moveTo>
                    <a:pt x="7543800" y="0"/>
                  </a:moveTo>
                  <a:lnTo>
                    <a:pt x="0" y="0"/>
                  </a:lnTo>
                  <a:lnTo>
                    <a:pt x="0" y="930275"/>
                  </a:lnTo>
                  <a:lnTo>
                    <a:pt x="7543800" y="930275"/>
                  </a:lnTo>
                  <a:lnTo>
                    <a:pt x="7543800" y="0"/>
                  </a:lnTo>
                  <a:close/>
                </a:path>
              </a:pathLst>
            </a:custGeom>
            <a:solidFill>
              <a:srgbClr val="FFFF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40791" y="254507"/>
              <a:ext cx="1972056" cy="10942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63624" y="254507"/>
              <a:ext cx="813815" cy="10942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28216" y="254507"/>
              <a:ext cx="3296411" cy="1094232"/>
            </a:xfrm>
            <a:prstGeom prst="rect">
              <a:avLst/>
            </a:prstGeom>
          </p:spPr>
        </p:pic>
      </p:grp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457200" y="122301"/>
            <a:ext cx="7505700" cy="930275"/>
          </a:xfrm>
          <a:prstGeom prst="rect">
            <a:avLst/>
          </a:prstGeom>
        </p:spPr>
        <p:txBody>
          <a:bodyPr vert="horz" wrap="square" lIns="0" tIns="2768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180"/>
              </a:spcBef>
            </a:pP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Black-box</a:t>
            </a:r>
            <a:r>
              <a:rPr sz="3900" b="1" spc="-2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testing</a:t>
            </a:r>
            <a:endParaRPr sz="3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35940" y="1649148"/>
            <a:ext cx="5128260" cy="302895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0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3000" spc="-5" dirty="0">
                <a:latin typeface="Arial MT"/>
                <a:cs typeface="Arial MT"/>
              </a:rPr>
              <a:t>Advantage</a:t>
            </a:r>
            <a:endParaRPr sz="3000">
              <a:latin typeface="Arial MT"/>
              <a:cs typeface="Arial MT"/>
            </a:endParaRPr>
          </a:p>
          <a:p>
            <a:pPr marL="704850" lvl="1" indent="-348615">
              <a:lnSpc>
                <a:spcPct val="100000"/>
              </a:lnSpc>
              <a:spcBef>
                <a:spcPts val="640"/>
              </a:spcBef>
              <a:buClr>
                <a:srgbClr val="669999"/>
              </a:buClr>
              <a:buSzPct val="69230"/>
              <a:buFont typeface="Wingdings"/>
              <a:buChar char=""/>
              <a:tabLst>
                <a:tab pos="704215" algn="l"/>
                <a:tab pos="705485" algn="l"/>
              </a:tabLst>
            </a:pPr>
            <a:r>
              <a:rPr sz="2600" dirty="0">
                <a:latin typeface="Arial MT"/>
                <a:cs typeface="Arial MT"/>
              </a:rPr>
              <a:t>Yields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large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amount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data</a:t>
            </a:r>
            <a:endParaRPr sz="2600">
              <a:latin typeface="Arial MT"/>
              <a:cs typeface="Arial MT"/>
            </a:endParaRPr>
          </a:p>
          <a:p>
            <a:pPr marL="704850" lvl="1" indent="-348615">
              <a:lnSpc>
                <a:spcPct val="100000"/>
              </a:lnSpc>
              <a:spcBef>
                <a:spcPts val="625"/>
              </a:spcBef>
              <a:buClr>
                <a:srgbClr val="669999"/>
              </a:buClr>
              <a:buSzPct val="69230"/>
              <a:buFont typeface="Wingdings"/>
              <a:buChar char=""/>
              <a:tabLst>
                <a:tab pos="704215" algn="l"/>
                <a:tab pos="705485" algn="l"/>
              </a:tabLst>
            </a:pPr>
            <a:r>
              <a:rPr sz="2600" dirty="0">
                <a:latin typeface="Arial MT"/>
                <a:cs typeface="Arial MT"/>
              </a:rPr>
              <a:t>No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trained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interviewer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needed</a:t>
            </a:r>
            <a:endParaRPr sz="26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10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3000" spc="-5" dirty="0">
                <a:latin typeface="Arial MT"/>
                <a:cs typeface="Arial MT"/>
              </a:rPr>
              <a:t>Disadvantage</a:t>
            </a:r>
            <a:endParaRPr sz="3000">
              <a:latin typeface="Arial MT"/>
              <a:cs typeface="Arial MT"/>
            </a:endParaRPr>
          </a:p>
          <a:p>
            <a:pPr marL="704850" lvl="1" indent="-348615">
              <a:lnSpc>
                <a:spcPct val="100000"/>
              </a:lnSpc>
              <a:spcBef>
                <a:spcPts val="640"/>
              </a:spcBef>
              <a:buClr>
                <a:srgbClr val="669999"/>
              </a:buClr>
              <a:buSzPct val="69230"/>
              <a:buFont typeface="Wingdings"/>
              <a:buChar char=""/>
              <a:tabLst>
                <a:tab pos="704215" algn="l"/>
                <a:tab pos="705485" algn="l"/>
              </a:tabLst>
            </a:pPr>
            <a:r>
              <a:rPr sz="2600" dirty="0">
                <a:latin typeface="Arial MT"/>
                <a:cs typeface="Arial MT"/>
              </a:rPr>
              <a:t>Require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explicit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instruction</a:t>
            </a:r>
            <a:endParaRPr sz="2600">
              <a:latin typeface="Arial MT"/>
              <a:cs typeface="Arial MT"/>
            </a:endParaRPr>
          </a:p>
          <a:p>
            <a:pPr marL="704850" lvl="1" indent="-348615">
              <a:lnSpc>
                <a:spcPct val="100000"/>
              </a:lnSpc>
              <a:spcBef>
                <a:spcPts val="620"/>
              </a:spcBef>
              <a:buClr>
                <a:srgbClr val="669999"/>
              </a:buClr>
              <a:buSzPct val="69230"/>
              <a:buFont typeface="Wingdings"/>
              <a:buChar char=""/>
              <a:tabLst>
                <a:tab pos="704215" algn="l"/>
                <a:tab pos="705485" algn="l"/>
              </a:tabLst>
            </a:pPr>
            <a:r>
              <a:rPr sz="2600" dirty="0">
                <a:latin typeface="Arial MT"/>
                <a:cs typeface="Arial MT"/>
              </a:rPr>
              <a:t>Returns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tend</a:t>
            </a:r>
            <a:r>
              <a:rPr sz="2600" spc="-5" dirty="0">
                <a:latin typeface="Arial MT"/>
                <a:cs typeface="Arial MT"/>
              </a:rPr>
              <a:t> to </a:t>
            </a:r>
            <a:r>
              <a:rPr sz="2600" dirty="0">
                <a:latin typeface="Arial MT"/>
                <a:cs typeface="Arial MT"/>
              </a:rPr>
              <a:t>be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low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1459"/>
            <a:ext cx="415861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Black-box</a:t>
            </a:r>
            <a:r>
              <a:rPr sz="3900" b="1" spc="-6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testing</a:t>
            </a:r>
            <a:endParaRPr sz="3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745107"/>
            <a:ext cx="3882390" cy="2221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2000" spc="-5" dirty="0">
                <a:latin typeface="Arial MT"/>
                <a:cs typeface="Arial MT"/>
              </a:rPr>
              <a:t>It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carried</a:t>
            </a:r>
            <a:r>
              <a:rPr sz="2000" dirty="0">
                <a:latin typeface="Arial MT"/>
                <a:cs typeface="Arial MT"/>
              </a:rPr>
              <a:t> out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to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functionality of the </a:t>
            </a:r>
            <a:r>
              <a:rPr sz="2000" spc="-5" dirty="0">
                <a:latin typeface="Arial MT"/>
                <a:cs typeface="Arial MT"/>
              </a:rPr>
              <a:t>program. </a:t>
            </a:r>
            <a:r>
              <a:rPr sz="2000" spc="-10" dirty="0">
                <a:latin typeface="Arial MT"/>
                <a:cs typeface="Arial MT"/>
              </a:rPr>
              <a:t>It </a:t>
            </a:r>
            <a:r>
              <a:rPr sz="2000" spc="-5" dirty="0">
                <a:latin typeface="Arial MT"/>
                <a:cs typeface="Arial MT"/>
              </a:rPr>
              <a:t> is</a:t>
            </a:r>
            <a:r>
              <a:rPr sz="2000" dirty="0">
                <a:latin typeface="Arial MT"/>
                <a:cs typeface="Arial MT"/>
              </a:rPr>
              <a:t> also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‘Behavioral’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testing.</a:t>
            </a:r>
            <a:endParaRPr sz="200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80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The </a:t>
            </a:r>
            <a:r>
              <a:rPr sz="2000" spc="-5" dirty="0">
                <a:latin typeface="Arial MT"/>
                <a:cs typeface="Arial MT"/>
              </a:rPr>
              <a:t>tester in </a:t>
            </a:r>
            <a:r>
              <a:rPr sz="2000" dirty="0">
                <a:latin typeface="Arial MT"/>
                <a:cs typeface="Arial MT"/>
              </a:rPr>
              <a:t>this case, </a:t>
            </a:r>
            <a:r>
              <a:rPr sz="2000" spc="-5" dirty="0">
                <a:latin typeface="Arial MT"/>
                <a:cs typeface="Arial MT"/>
              </a:rPr>
              <a:t>has </a:t>
            </a:r>
            <a:r>
              <a:rPr sz="2000" dirty="0">
                <a:latin typeface="Arial MT"/>
                <a:cs typeface="Arial MT"/>
              </a:rPr>
              <a:t>a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input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values</a:t>
            </a:r>
            <a:r>
              <a:rPr sz="2000" dirty="0">
                <a:latin typeface="Arial MT"/>
                <a:cs typeface="Arial MT"/>
              </a:rPr>
              <a:t> and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respective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desired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results.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4306061"/>
            <a:ext cx="28397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65530" algn="l"/>
                <a:tab pos="2373630" algn="l"/>
              </a:tabLst>
            </a:pPr>
            <a:r>
              <a:rPr sz="2000" dirty="0">
                <a:latin typeface="Arial MT"/>
                <a:cs typeface="Arial MT"/>
              </a:rPr>
              <a:t>outp</a:t>
            </a:r>
            <a:r>
              <a:rPr sz="2000" spc="-10" dirty="0">
                <a:latin typeface="Arial MT"/>
                <a:cs typeface="Arial MT"/>
              </a:rPr>
              <a:t>u</a:t>
            </a:r>
            <a:r>
              <a:rPr sz="2000" dirty="0">
                <a:latin typeface="Arial MT"/>
                <a:cs typeface="Arial MT"/>
              </a:rPr>
              <a:t>t	ma</a:t>
            </a:r>
            <a:r>
              <a:rPr sz="2000" spc="-20" dirty="0">
                <a:latin typeface="Arial MT"/>
                <a:cs typeface="Arial MT"/>
              </a:rPr>
              <a:t>t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2000" spc="5" dirty="0">
                <a:latin typeface="Arial MT"/>
                <a:cs typeface="Arial MT"/>
              </a:rPr>
              <a:t>h</a:t>
            </a:r>
            <a:r>
              <a:rPr sz="2000" spc="-10" dirty="0">
                <a:latin typeface="Arial MT"/>
                <a:cs typeface="Arial MT"/>
              </a:rPr>
              <a:t>e</a:t>
            </a:r>
            <a:r>
              <a:rPr sz="2000" dirty="0">
                <a:latin typeface="Arial MT"/>
                <a:cs typeface="Arial MT"/>
              </a:rPr>
              <a:t>s	with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001261"/>
            <a:ext cx="38823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265" marR="5080" indent="-342265" algn="r">
              <a:lnSpc>
                <a:spcPct val="100000"/>
              </a:lnSpc>
              <a:spcBef>
                <a:spcPts val="100"/>
              </a:spcBef>
              <a:buClr>
                <a:srgbClr val="330066"/>
              </a:buClr>
              <a:buSzPct val="70000"/>
              <a:buFont typeface="Wingdings"/>
              <a:buChar char=""/>
              <a:tabLst>
                <a:tab pos="342265" algn="l"/>
                <a:tab pos="342900" algn="l"/>
                <a:tab pos="941705" algn="l"/>
                <a:tab pos="2233930" algn="l"/>
                <a:tab pos="3116580" algn="l"/>
                <a:tab pos="3502660" algn="l"/>
              </a:tabLst>
            </a:pPr>
            <a:r>
              <a:rPr sz="2000" dirty="0">
                <a:latin typeface="Arial MT"/>
                <a:cs typeface="Arial MT"/>
              </a:rPr>
              <a:t>On	pro</a:t>
            </a:r>
            <a:r>
              <a:rPr sz="2000" spc="-10" dirty="0">
                <a:latin typeface="Arial MT"/>
                <a:cs typeface="Arial MT"/>
              </a:rPr>
              <a:t>v</a:t>
            </a:r>
            <a:r>
              <a:rPr sz="2000" dirty="0">
                <a:latin typeface="Arial MT"/>
                <a:cs typeface="Arial MT"/>
              </a:rPr>
              <a:t>iding	input,	</a:t>
            </a:r>
            <a:r>
              <a:rPr sz="2000" spc="-5" dirty="0">
                <a:latin typeface="Arial MT"/>
                <a:cs typeface="Arial MT"/>
              </a:rPr>
              <a:t>i</a:t>
            </a:r>
            <a:r>
              <a:rPr sz="2000" dirty="0">
                <a:latin typeface="Arial MT"/>
                <a:cs typeface="Arial MT"/>
              </a:rPr>
              <a:t>f	the</a:t>
            </a:r>
            <a:endParaRPr sz="20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the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8845" y="1700276"/>
            <a:ext cx="4019550" cy="134302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23850" y="5805487"/>
            <a:ext cx="8712200" cy="646430"/>
          </a:xfrm>
          <a:custGeom>
            <a:avLst/>
            <a:gdLst/>
            <a:ahLst/>
            <a:cxnLst/>
            <a:rect l="l" t="t" r="r" b="b"/>
            <a:pathLst>
              <a:path w="8712200" h="646429">
                <a:moveTo>
                  <a:pt x="8711692" y="0"/>
                </a:moveTo>
                <a:lnTo>
                  <a:pt x="0" y="0"/>
                </a:lnTo>
                <a:lnTo>
                  <a:pt x="0" y="646112"/>
                </a:lnTo>
                <a:lnTo>
                  <a:pt x="8711692" y="646112"/>
                </a:lnTo>
                <a:lnTo>
                  <a:pt x="8711692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2742" y="4610811"/>
            <a:ext cx="8554720" cy="1797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8315" marR="4544695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desired </a:t>
            </a:r>
            <a:r>
              <a:rPr sz="2000" spc="-5" dirty="0">
                <a:latin typeface="Arial MT"/>
                <a:cs typeface="Arial MT"/>
              </a:rPr>
              <a:t>results, </a:t>
            </a:r>
            <a:r>
              <a:rPr sz="2000" dirty="0">
                <a:latin typeface="Arial MT"/>
                <a:cs typeface="Arial MT"/>
              </a:rPr>
              <a:t>the </a:t>
            </a:r>
            <a:r>
              <a:rPr sz="2000" spc="-5" dirty="0">
                <a:latin typeface="Arial MT"/>
                <a:cs typeface="Arial MT"/>
              </a:rPr>
              <a:t>program is 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tested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‘ok’,</a:t>
            </a:r>
            <a:r>
              <a:rPr sz="2000" dirty="0">
                <a:latin typeface="Arial MT"/>
                <a:cs typeface="Arial MT"/>
              </a:rPr>
              <a:t> and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problematic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otherwise.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2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this</a:t>
            </a:r>
            <a:r>
              <a:rPr sz="1800" spc="2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testing</a:t>
            </a:r>
            <a:r>
              <a:rPr sz="1800" spc="229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method,</a:t>
            </a:r>
            <a:r>
              <a:rPr sz="1800" spc="2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24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design</a:t>
            </a:r>
            <a:r>
              <a:rPr sz="1800" spc="24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</a:t>
            </a:r>
            <a:r>
              <a:rPr sz="1800" spc="2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structure</a:t>
            </a:r>
            <a:r>
              <a:rPr sz="1800" spc="2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of</a:t>
            </a:r>
            <a:r>
              <a:rPr sz="1800" spc="2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2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code</a:t>
            </a:r>
            <a:r>
              <a:rPr sz="1800" spc="2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are</a:t>
            </a:r>
            <a:r>
              <a:rPr sz="1800" spc="229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not</a:t>
            </a:r>
            <a:r>
              <a:rPr sz="1800" spc="24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known</a:t>
            </a:r>
            <a:r>
              <a:rPr sz="1800" spc="2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2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tester,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testing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engineers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end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users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conduct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test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on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software.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827" y="314705"/>
            <a:ext cx="647509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dirty="0">
                <a:solidFill>
                  <a:srgbClr val="330066"/>
                </a:solidFill>
              </a:rPr>
              <a:t>Black-box</a:t>
            </a:r>
            <a:r>
              <a:rPr sz="3900" spc="-35" dirty="0">
                <a:solidFill>
                  <a:srgbClr val="330066"/>
                </a:solidFill>
              </a:rPr>
              <a:t> </a:t>
            </a:r>
            <a:r>
              <a:rPr sz="3900" dirty="0">
                <a:solidFill>
                  <a:srgbClr val="330066"/>
                </a:solidFill>
              </a:rPr>
              <a:t>testing</a:t>
            </a:r>
            <a:r>
              <a:rPr sz="3900" spc="-20" dirty="0">
                <a:solidFill>
                  <a:srgbClr val="330066"/>
                </a:solidFill>
              </a:rPr>
              <a:t> </a:t>
            </a:r>
            <a:r>
              <a:rPr sz="3900" dirty="0">
                <a:solidFill>
                  <a:srgbClr val="330066"/>
                </a:solidFill>
              </a:rPr>
              <a:t>techniques:</a:t>
            </a:r>
            <a:endParaRPr sz="3900"/>
          </a:p>
        </p:txBody>
      </p:sp>
      <p:sp>
        <p:nvSpPr>
          <p:cNvPr id="3" name="object 3"/>
          <p:cNvSpPr txBox="1"/>
          <p:nvPr/>
        </p:nvSpPr>
        <p:spPr>
          <a:xfrm>
            <a:off x="257657" y="1438782"/>
            <a:ext cx="8702040" cy="4538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6350" indent="-457200" algn="just">
              <a:lnSpc>
                <a:spcPct val="100000"/>
              </a:lnSpc>
              <a:spcBef>
                <a:spcPts val="105"/>
              </a:spcBef>
              <a:buClr>
                <a:srgbClr val="330066"/>
              </a:buClr>
              <a:buSzPct val="70000"/>
              <a:buAutoNum type="arabicPeriod"/>
              <a:tabLst>
                <a:tab pos="469900" algn="l"/>
              </a:tabLst>
            </a:pPr>
            <a:r>
              <a:rPr sz="2000" b="1" dirty="0">
                <a:latin typeface="Arial"/>
                <a:cs typeface="Arial"/>
              </a:rPr>
              <a:t>Equivalence class </a:t>
            </a:r>
            <a:r>
              <a:rPr sz="2000" dirty="0">
                <a:latin typeface="Arial MT"/>
                <a:cs typeface="Arial MT"/>
              </a:rPr>
              <a:t>- </a:t>
            </a:r>
            <a:r>
              <a:rPr sz="2000" spc="-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input </a:t>
            </a:r>
            <a:r>
              <a:rPr sz="2000" spc="-5" dirty="0">
                <a:latin typeface="Arial MT"/>
                <a:cs typeface="Arial MT"/>
              </a:rPr>
              <a:t>is </a:t>
            </a:r>
            <a:r>
              <a:rPr sz="2000" dirty="0">
                <a:latin typeface="Arial MT"/>
                <a:cs typeface="Arial MT"/>
              </a:rPr>
              <a:t>divided into similar classes. </a:t>
            </a:r>
            <a:r>
              <a:rPr sz="2000" spc="-10" dirty="0">
                <a:latin typeface="Arial MT"/>
                <a:cs typeface="Arial MT"/>
              </a:rPr>
              <a:t>If </a:t>
            </a:r>
            <a:r>
              <a:rPr sz="2000" dirty="0">
                <a:latin typeface="Arial MT"/>
                <a:cs typeface="Arial MT"/>
              </a:rPr>
              <a:t>one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element of a class </a:t>
            </a:r>
            <a:r>
              <a:rPr sz="2000" spc="-5" dirty="0">
                <a:latin typeface="Arial MT"/>
                <a:cs typeface="Arial MT"/>
              </a:rPr>
              <a:t>passes the test, it is assumed that </a:t>
            </a:r>
            <a:r>
              <a:rPr sz="2000" dirty="0">
                <a:latin typeface="Arial MT"/>
                <a:cs typeface="Arial MT"/>
              </a:rPr>
              <a:t>all the </a:t>
            </a:r>
            <a:r>
              <a:rPr sz="2000" spc="-5" dirty="0">
                <a:latin typeface="Arial MT"/>
                <a:cs typeface="Arial MT"/>
              </a:rPr>
              <a:t>class is </a:t>
            </a:r>
            <a:r>
              <a:rPr sz="2000" dirty="0">
                <a:latin typeface="Arial MT"/>
                <a:cs typeface="Arial MT"/>
              </a:rPr>
              <a:t> passed.</a:t>
            </a:r>
            <a:endParaRPr sz="2000">
              <a:latin typeface="Arial MT"/>
              <a:cs typeface="Arial MT"/>
            </a:endParaRPr>
          </a:p>
          <a:p>
            <a:pPr marL="469900" marR="5715" indent="-457200" algn="just">
              <a:lnSpc>
                <a:spcPct val="100000"/>
              </a:lnSpc>
              <a:spcBef>
                <a:spcPts val="480"/>
              </a:spcBef>
              <a:buClr>
                <a:srgbClr val="330066"/>
              </a:buClr>
              <a:buSzPct val="70000"/>
              <a:buAutoNum type="arabicPeriod"/>
              <a:tabLst>
                <a:tab pos="469900" algn="l"/>
              </a:tabLst>
            </a:pPr>
            <a:r>
              <a:rPr sz="2000" b="1" dirty="0">
                <a:latin typeface="Arial"/>
                <a:cs typeface="Arial"/>
              </a:rPr>
              <a:t>Boundary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values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-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divided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into</a:t>
            </a:r>
            <a:r>
              <a:rPr sz="2000" dirty="0">
                <a:latin typeface="Arial MT"/>
                <a:cs typeface="Arial MT"/>
              </a:rPr>
              <a:t> higher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and</a:t>
            </a:r>
            <a:r>
              <a:rPr sz="2000" dirty="0">
                <a:latin typeface="Arial MT"/>
                <a:cs typeface="Arial MT"/>
              </a:rPr>
              <a:t> lower</a:t>
            </a:r>
            <a:r>
              <a:rPr sz="2000" spc="5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end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values. </a:t>
            </a:r>
            <a:r>
              <a:rPr sz="2000" spc="-5" dirty="0">
                <a:latin typeface="Arial MT"/>
                <a:cs typeface="Arial MT"/>
              </a:rPr>
              <a:t>If these values pass the test, it is </a:t>
            </a:r>
            <a:r>
              <a:rPr sz="2000" dirty="0">
                <a:latin typeface="Arial MT"/>
                <a:cs typeface="Arial MT"/>
              </a:rPr>
              <a:t>assumed that all values </a:t>
            </a:r>
            <a:r>
              <a:rPr sz="2000" spc="-15" dirty="0">
                <a:latin typeface="Arial MT"/>
                <a:cs typeface="Arial MT"/>
              </a:rPr>
              <a:t>in 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pass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too.</a:t>
            </a:r>
            <a:endParaRPr sz="2000">
              <a:latin typeface="Arial MT"/>
              <a:cs typeface="Arial MT"/>
            </a:endParaRPr>
          </a:p>
          <a:p>
            <a:pPr marL="469900" marR="6985" indent="-457200" algn="just">
              <a:lnSpc>
                <a:spcPct val="100000"/>
              </a:lnSpc>
              <a:spcBef>
                <a:spcPts val="480"/>
              </a:spcBef>
              <a:buClr>
                <a:srgbClr val="330066"/>
              </a:buClr>
              <a:buSzPct val="70000"/>
              <a:buAutoNum type="arabicPeriod"/>
              <a:tabLst>
                <a:tab pos="469900" algn="l"/>
              </a:tabLst>
            </a:pPr>
            <a:r>
              <a:rPr sz="2000" b="1" spc="-5" dirty="0">
                <a:latin typeface="Arial"/>
                <a:cs typeface="Arial"/>
              </a:rPr>
              <a:t>Cause-effect </a:t>
            </a:r>
            <a:r>
              <a:rPr sz="2000" b="1" dirty="0">
                <a:latin typeface="Arial"/>
                <a:cs typeface="Arial"/>
              </a:rPr>
              <a:t>graphing </a:t>
            </a:r>
            <a:r>
              <a:rPr sz="2000" dirty="0">
                <a:latin typeface="Arial MT"/>
                <a:cs typeface="Arial MT"/>
              </a:rPr>
              <a:t>- </a:t>
            </a:r>
            <a:r>
              <a:rPr sz="2000" spc="-10" dirty="0">
                <a:latin typeface="Arial MT"/>
                <a:cs typeface="Arial MT"/>
              </a:rPr>
              <a:t>In </a:t>
            </a:r>
            <a:r>
              <a:rPr sz="2000" dirty="0">
                <a:latin typeface="Arial MT"/>
                <a:cs typeface="Arial MT"/>
              </a:rPr>
              <a:t>both previous </a:t>
            </a:r>
            <a:r>
              <a:rPr sz="2000" spc="-5" dirty="0">
                <a:latin typeface="Arial MT"/>
                <a:cs typeface="Arial MT"/>
              </a:rPr>
              <a:t>methods, </a:t>
            </a:r>
            <a:r>
              <a:rPr sz="2000" dirty="0">
                <a:latin typeface="Arial MT"/>
                <a:cs typeface="Arial MT"/>
              </a:rPr>
              <a:t>only one </a:t>
            </a:r>
            <a:r>
              <a:rPr sz="2000" spc="-5" dirty="0">
                <a:latin typeface="Arial MT"/>
                <a:cs typeface="Arial MT"/>
              </a:rPr>
              <a:t>input </a:t>
            </a:r>
            <a:r>
              <a:rPr sz="2000" dirty="0">
                <a:latin typeface="Arial MT"/>
                <a:cs typeface="Arial MT"/>
              </a:rPr>
              <a:t>value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 a time </a:t>
            </a:r>
            <a:r>
              <a:rPr sz="2000" spc="-10" dirty="0">
                <a:latin typeface="Arial MT"/>
                <a:cs typeface="Arial MT"/>
              </a:rPr>
              <a:t>is </a:t>
            </a:r>
            <a:r>
              <a:rPr sz="2000" spc="-5" dirty="0">
                <a:latin typeface="Arial MT"/>
                <a:cs typeface="Arial MT"/>
              </a:rPr>
              <a:t>tested. Cause </a:t>
            </a:r>
            <a:r>
              <a:rPr sz="2000" dirty="0">
                <a:latin typeface="Arial MT"/>
                <a:cs typeface="Arial MT"/>
              </a:rPr>
              <a:t>(input) – </a:t>
            </a:r>
            <a:r>
              <a:rPr sz="2000" spc="-5" dirty="0">
                <a:latin typeface="Arial MT"/>
                <a:cs typeface="Arial MT"/>
              </a:rPr>
              <a:t>Effect (output) </a:t>
            </a:r>
            <a:r>
              <a:rPr sz="2000" spc="-10" dirty="0">
                <a:latin typeface="Arial MT"/>
                <a:cs typeface="Arial MT"/>
              </a:rPr>
              <a:t>is </a:t>
            </a:r>
            <a:r>
              <a:rPr sz="2000" dirty="0">
                <a:latin typeface="Arial MT"/>
                <a:cs typeface="Arial MT"/>
              </a:rPr>
              <a:t>a </a:t>
            </a:r>
            <a:r>
              <a:rPr sz="2000" spc="-5" dirty="0">
                <a:latin typeface="Arial MT"/>
                <a:cs typeface="Arial MT"/>
              </a:rPr>
              <a:t>testing technique </a:t>
            </a:r>
            <a:r>
              <a:rPr sz="2000" dirty="0">
                <a:latin typeface="Arial MT"/>
                <a:cs typeface="Arial MT"/>
              </a:rPr>
              <a:t> where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combinations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systematic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way.</a:t>
            </a:r>
            <a:endParaRPr sz="2000">
              <a:latin typeface="Arial MT"/>
              <a:cs typeface="Arial MT"/>
            </a:endParaRPr>
          </a:p>
          <a:p>
            <a:pPr marL="469900" marR="6985" indent="-457200" algn="just">
              <a:lnSpc>
                <a:spcPct val="100000"/>
              </a:lnSpc>
              <a:spcBef>
                <a:spcPts val="484"/>
              </a:spcBef>
              <a:buClr>
                <a:srgbClr val="330066"/>
              </a:buClr>
              <a:buSzPct val="70000"/>
              <a:buAutoNum type="arabicPeriod"/>
              <a:tabLst>
                <a:tab pos="469900" algn="l"/>
              </a:tabLst>
            </a:pPr>
            <a:r>
              <a:rPr sz="2000" b="1" spc="-5" dirty="0">
                <a:latin typeface="Arial"/>
                <a:cs typeface="Arial"/>
              </a:rPr>
              <a:t>Pair-wise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Testing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-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behavior</a:t>
            </a:r>
            <a:r>
              <a:rPr sz="2000" dirty="0">
                <a:latin typeface="Arial MT"/>
                <a:cs typeface="Arial MT"/>
              </a:rPr>
              <a:t> of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software</a:t>
            </a:r>
            <a:r>
              <a:rPr sz="2000" dirty="0">
                <a:latin typeface="Arial MT"/>
                <a:cs typeface="Arial MT"/>
              </a:rPr>
              <a:t> depends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multiple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parameters. </a:t>
            </a:r>
            <a:r>
              <a:rPr sz="2000" spc="-10" dirty="0">
                <a:latin typeface="Arial MT"/>
                <a:cs typeface="Arial MT"/>
              </a:rPr>
              <a:t>In </a:t>
            </a:r>
            <a:r>
              <a:rPr sz="2000" dirty="0">
                <a:latin typeface="Arial MT"/>
                <a:cs typeface="Arial MT"/>
              </a:rPr>
              <a:t>pairwise </a:t>
            </a:r>
            <a:r>
              <a:rPr sz="2000" spc="-5" dirty="0">
                <a:latin typeface="Arial MT"/>
                <a:cs typeface="Arial MT"/>
              </a:rPr>
              <a:t>testing, the multiple parameters are </a:t>
            </a:r>
            <a:r>
              <a:rPr sz="2000" spc="-10" dirty="0">
                <a:latin typeface="Arial MT"/>
                <a:cs typeface="Arial MT"/>
              </a:rPr>
              <a:t>tested </a:t>
            </a:r>
            <a:r>
              <a:rPr sz="2000" dirty="0">
                <a:latin typeface="Arial MT"/>
                <a:cs typeface="Arial MT"/>
              </a:rPr>
              <a:t>pair-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wise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different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values.</a:t>
            </a:r>
            <a:endParaRPr sz="2000">
              <a:latin typeface="Arial MT"/>
              <a:cs typeface="Arial MT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480"/>
              </a:spcBef>
              <a:buClr>
                <a:srgbClr val="330066"/>
              </a:buClr>
              <a:buSzPct val="70000"/>
              <a:buAutoNum type="arabicPeriod"/>
              <a:tabLst>
                <a:tab pos="469900" algn="l"/>
              </a:tabLst>
            </a:pPr>
            <a:r>
              <a:rPr sz="2000" b="1" dirty="0">
                <a:latin typeface="Arial"/>
                <a:cs typeface="Arial"/>
              </a:rPr>
              <a:t>State-based testing </a:t>
            </a:r>
            <a:r>
              <a:rPr sz="2000" dirty="0">
                <a:latin typeface="Arial MT"/>
                <a:cs typeface="Arial MT"/>
              </a:rPr>
              <a:t>- The system </a:t>
            </a:r>
            <a:r>
              <a:rPr sz="2000" spc="-5" dirty="0">
                <a:latin typeface="Arial MT"/>
                <a:cs typeface="Arial MT"/>
              </a:rPr>
              <a:t>changes state </a:t>
            </a:r>
            <a:r>
              <a:rPr sz="2000" dirty="0">
                <a:latin typeface="Arial MT"/>
                <a:cs typeface="Arial MT"/>
              </a:rPr>
              <a:t>on provision of </a:t>
            </a:r>
            <a:r>
              <a:rPr sz="2000" spc="-5" dirty="0">
                <a:latin typeface="Arial MT"/>
                <a:cs typeface="Arial MT"/>
              </a:rPr>
              <a:t>input. </a:t>
            </a:r>
            <a:r>
              <a:rPr sz="2000" dirty="0">
                <a:latin typeface="Arial MT"/>
                <a:cs typeface="Arial MT"/>
              </a:rPr>
              <a:t> These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62900" y="1052575"/>
            <a:ext cx="0" cy="624205"/>
          </a:xfrm>
          <a:custGeom>
            <a:avLst/>
            <a:gdLst/>
            <a:ahLst/>
            <a:cxnLst/>
            <a:rect l="l" t="t" r="r" b="b"/>
            <a:pathLst>
              <a:path h="624205">
                <a:moveTo>
                  <a:pt x="0" y="0"/>
                </a:moveTo>
                <a:lnTo>
                  <a:pt x="0" y="6238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152400"/>
            <a:ext cx="120142" cy="1198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1547" y="152400"/>
            <a:ext cx="118618" cy="1198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89695" y="152400"/>
            <a:ext cx="115697" cy="1198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53400" y="320293"/>
            <a:ext cx="120142" cy="1154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21547" y="320293"/>
            <a:ext cx="118618" cy="1154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57843" y="320293"/>
            <a:ext cx="118617" cy="11544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89695" y="320293"/>
            <a:ext cx="115697" cy="1154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53400" y="488187"/>
            <a:ext cx="120142" cy="11544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21547" y="488187"/>
            <a:ext cx="118618" cy="11544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89695" y="488187"/>
            <a:ext cx="115697" cy="11544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57843" y="488187"/>
            <a:ext cx="118617" cy="11544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26118" y="488187"/>
            <a:ext cx="120014" cy="11544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400" y="656208"/>
            <a:ext cx="120142" cy="11988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89695" y="656208"/>
            <a:ext cx="115697" cy="11988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21547" y="656208"/>
            <a:ext cx="118618" cy="11988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657843" y="656208"/>
            <a:ext cx="118617" cy="11988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53400" y="824102"/>
            <a:ext cx="120142" cy="11988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21547" y="824102"/>
            <a:ext cx="118618" cy="11988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489695" y="824102"/>
            <a:ext cx="115697" cy="11988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657843" y="824102"/>
            <a:ext cx="118617" cy="11988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826118" y="824102"/>
            <a:ext cx="120014" cy="11988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153400" y="991997"/>
            <a:ext cx="120142" cy="11849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489695" y="991997"/>
            <a:ext cx="115697" cy="11849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321547" y="991997"/>
            <a:ext cx="118618" cy="11849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657843" y="991997"/>
            <a:ext cx="118617" cy="11849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153400" y="1159891"/>
            <a:ext cx="120142" cy="11544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321547" y="1159891"/>
            <a:ext cx="118618" cy="115443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657843" y="1159891"/>
            <a:ext cx="118617" cy="11544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489695" y="1159891"/>
            <a:ext cx="115697" cy="115443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321547" y="1327911"/>
            <a:ext cx="118618" cy="11988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657843" y="1327911"/>
            <a:ext cx="118617" cy="119887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240791" y="122301"/>
            <a:ext cx="7760334" cy="1226820"/>
            <a:chOff x="240791" y="122301"/>
            <a:chExt cx="7760334" cy="1226820"/>
          </a:xfrm>
        </p:grpSpPr>
        <p:sp>
          <p:nvSpPr>
            <p:cNvPr id="35" name="object 35"/>
            <p:cNvSpPr/>
            <p:nvPr/>
          </p:nvSpPr>
          <p:spPr>
            <a:xfrm>
              <a:off x="457200" y="122301"/>
              <a:ext cx="7543800" cy="930275"/>
            </a:xfrm>
            <a:custGeom>
              <a:avLst/>
              <a:gdLst/>
              <a:ahLst/>
              <a:cxnLst/>
              <a:rect l="l" t="t" r="r" b="b"/>
              <a:pathLst>
                <a:path w="7543800" h="930275">
                  <a:moveTo>
                    <a:pt x="7543800" y="0"/>
                  </a:moveTo>
                  <a:lnTo>
                    <a:pt x="0" y="0"/>
                  </a:lnTo>
                  <a:lnTo>
                    <a:pt x="0" y="930275"/>
                  </a:lnTo>
                  <a:lnTo>
                    <a:pt x="7543800" y="930275"/>
                  </a:lnTo>
                  <a:lnTo>
                    <a:pt x="7543800" y="0"/>
                  </a:lnTo>
                  <a:close/>
                </a:path>
              </a:pathLst>
            </a:custGeom>
            <a:solidFill>
              <a:srgbClr val="FFFF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40791" y="254507"/>
              <a:ext cx="1997964" cy="109423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89531" y="254507"/>
              <a:ext cx="813816" cy="109423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54124" y="254507"/>
              <a:ext cx="3296412" cy="1094232"/>
            </a:xfrm>
            <a:prstGeom prst="rect">
              <a:avLst/>
            </a:prstGeom>
          </p:spPr>
        </p:pic>
      </p:grp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457200" y="122301"/>
            <a:ext cx="7505700" cy="930275"/>
          </a:xfrm>
          <a:prstGeom prst="rect">
            <a:avLst/>
          </a:prstGeom>
        </p:spPr>
        <p:txBody>
          <a:bodyPr vert="horz" wrap="square" lIns="0" tIns="2768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180"/>
              </a:spcBef>
            </a:pPr>
            <a:r>
              <a:rPr sz="3900" b="1" spc="-5" dirty="0">
                <a:solidFill>
                  <a:srgbClr val="330066"/>
                </a:solidFill>
                <a:latin typeface="Arial"/>
                <a:cs typeface="Arial"/>
              </a:rPr>
              <a:t>White-box</a:t>
            </a:r>
            <a:r>
              <a:rPr sz="3900" b="1" spc="1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spc="-5" dirty="0">
                <a:solidFill>
                  <a:srgbClr val="330066"/>
                </a:solidFill>
                <a:latin typeface="Arial"/>
                <a:cs typeface="Arial"/>
              </a:rPr>
              <a:t>testing</a:t>
            </a:r>
            <a:endParaRPr sz="3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9285" y="1581658"/>
            <a:ext cx="4231005" cy="3098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95"/>
              </a:spcBef>
              <a:buClr>
                <a:srgbClr val="330066"/>
              </a:buClr>
              <a:buSzPct val="69642"/>
              <a:buFont typeface="Wingdings"/>
              <a:buChar char=""/>
              <a:tabLst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It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is</a:t>
            </a:r>
            <a:r>
              <a:rPr sz="2800" spc="-5" dirty="0">
                <a:latin typeface="Arial MT"/>
                <a:cs typeface="Arial MT"/>
              </a:rPr>
              <a:t> conducted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to</a:t>
            </a:r>
            <a:r>
              <a:rPr sz="2800" spc="-5" dirty="0">
                <a:latin typeface="Arial MT"/>
                <a:cs typeface="Arial MT"/>
              </a:rPr>
              <a:t> test </a:t>
            </a:r>
            <a:r>
              <a:rPr sz="2800" dirty="0">
                <a:latin typeface="Arial MT"/>
                <a:cs typeface="Arial MT"/>
              </a:rPr>
              <a:t> program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its </a:t>
            </a:r>
            <a:r>
              <a:rPr sz="2800" spc="-7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implementation, </a:t>
            </a:r>
            <a:r>
              <a:rPr sz="2800" spc="-5" dirty="0">
                <a:latin typeface="Arial MT"/>
                <a:cs typeface="Arial MT"/>
              </a:rPr>
              <a:t>in order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improve</a:t>
            </a:r>
            <a:r>
              <a:rPr sz="2800" dirty="0">
                <a:latin typeface="Arial MT"/>
                <a:cs typeface="Arial MT"/>
              </a:rPr>
              <a:t> code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efficiency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structure.</a:t>
            </a:r>
            <a:endParaRPr sz="2800">
              <a:latin typeface="Arial MT"/>
              <a:cs typeface="Arial MT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675"/>
              </a:spcBef>
              <a:buClr>
                <a:srgbClr val="330066"/>
              </a:buClr>
              <a:buSzPct val="69642"/>
              <a:buFont typeface="Wingdings"/>
              <a:buChar char="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It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also</a:t>
            </a:r>
            <a:r>
              <a:rPr sz="2800" dirty="0">
                <a:latin typeface="Arial MT"/>
                <a:cs typeface="Arial MT"/>
              </a:rPr>
              <a:t> known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as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‘Structural’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testing.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1" name="object 4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753736" y="1773301"/>
            <a:ext cx="4066413" cy="1343025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250583" y="5732462"/>
            <a:ext cx="8424545" cy="64770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40640" rIns="0" bIns="0" rtlCol="0">
            <a:spAutoFit/>
          </a:bodyPr>
          <a:lstStyle/>
          <a:p>
            <a:pPr marL="90805" marR="81280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29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this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testing</a:t>
            </a:r>
            <a:r>
              <a:rPr sz="1800" spc="3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method,</a:t>
            </a:r>
            <a:r>
              <a:rPr sz="1800" spc="3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3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design</a:t>
            </a:r>
            <a:r>
              <a:rPr sz="1800" spc="3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</a:t>
            </a:r>
            <a:r>
              <a:rPr sz="1800" spc="3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structure</a:t>
            </a:r>
            <a:r>
              <a:rPr sz="1800" spc="3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of</a:t>
            </a:r>
            <a:r>
              <a:rPr sz="1800" spc="3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3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code</a:t>
            </a:r>
            <a:r>
              <a:rPr sz="1800" spc="3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are</a:t>
            </a:r>
            <a:r>
              <a:rPr sz="1800" spc="3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known</a:t>
            </a:r>
            <a:r>
              <a:rPr sz="1800" spc="3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3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tester.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Programmers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of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code conduct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 test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code.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70179"/>
            <a:ext cx="699389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spc="-5" dirty="0">
                <a:solidFill>
                  <a:srgbClr val="330066"/>
                </a:solidFill>
                <a:latin typeface="Arial"/>
                <a:cs typeface="Arial"/>
              </a:rPr>
              <a:t>White-Box</a:t>
            </a:r>
            <a:r>
              <a:rPr sz="3900" b="1" spc="-2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testing techniques</a:t>
            </a:r>
            <a:endParaRPr sz="3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9285" y="1279423"/>
            <a:ext cx="8627110" cy="48818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775"/>
              </a:spcBef>
              <a:buClr>
                <a:srgbClr val="330066"/>
              </a:buClr>
              <a:buSzPct val="69642"/>
              <a:buFont typeface="Wingdings"/>
              <a:buChar char=""/>
              <a:tabLst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below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some</a:t>
            </a:r>
            <a:r>
              <a:rPr sz="2800" dirty="0">
                <a:latin typeface="Arial MT"/>
                <a:cs typeface="Arial MT"/>
              </a:rPr>
              <a:t> White-box testing techniques:</a:t>
            </a:r>
            <a:endParaRPr sz="2800">
              <a:latin typeface="Arial MT"/>
              <a:cs typeface="Arial MT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670"/>
              </a:spcBef>
              <a:buClr>
                <a:srgbClr val="330066"/>
              </a:buClr>
              <a:buSzPct val="69642"/>
              <a:buFont typeface="Wingdings"/>
              <a:buChar char=""/>
              <a:tabLst>
                <a:tab pos="355600" algn="l"/>
              </a:tabLst>
            </a:pPr>
            <a:r>
              <a:rPr sz="2800" b="1" spc="-5" dirty="0">
                <a:latin typeface="Arial"/>
                <a:cs typeface="Arial"/>
              </a:rPr>
              <a:t>Control-flow </a:t>
            </a:r>
            <a:r>
              <a:rPr sz="2800" b="1" dirty="0">
                <a:latin typeface="Arial"/>
                <a:cs typeface="Arial"/>
              </a:rPr>
              <a:t>testing </a:t>
            </a:r>
            <a:r>
              <a:rPr sz="2800" spc="-5" dirty="0">
                <a:latin typeface="Arial MT"/>
                <a:cs typeface="Arial MT"/>
              </a:rPr>
              <a:t>- The </a:t>
            </a:r>
            <a:r>
              <a:rPr sz="2800" dirty="0">
                <a:latin typeface="Arial MT"/>
                <a:cs typeface="Arial MT"/>
              </a:rPr>
              <a:t>purpose of </a:t>
            </a:r>
            <a:r>
              <a:rPr sz="2800" spc="-5" dirty="0">
                <a:latin typeface="Arial MT"/>
                <a:cs typeface="Arial MT"/>
              </a:rPr>
              <a:t>the </a:t>
            </a:r>
            <a:r>
              <a:rPr sz="2800" dirty="0">
                <a:latin typeface="Arial MT"/>
                <a:cs typeface="Arial MT"/>
              </a:rPr>
              <a:t>control-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flow testing to </a:t>
            </a:r>
            <a:r>
              <a:rPr sz="2800" dirty="0">
                <a:latin typeface="Arial MT"/>
                <a:cs typeface="Arial MT"/>
              </a:rPr>
              <a:t>set </a:t>
            </a:r>
            <a:r>
              <a:rPr sz="2800" spc="-5" dirty="0">
                <a:latin typeface="Arial MT"/>
                <a:cs typeface="Arial MT"/>
              </a:rPr>
              <a:t>up </a:t>
            </a:r>
            <a:r>
              <a:rPr sz="2800" dirty="0">
                <a:latin typeface="Arial MT"/>
                <a:cs typeface="Arial MT"/>
              </a:rPr>
              <a:t>test cases </a:t>
            </a:r>
            <a:r>
              <a:rPr sz="2800" spc="-5" dirty="0">
                <a:latin typeface="Arial MT"/>
                <a:cs typeface="Arial MT"/>
              </a:rPr>
              <a:t>which covers all </a:t>
            </a:r>
            <a:r>
              <a:rPr sz="2800" dirty="0">
                <a:latin typeface="Arial MT"/>
                <a:cs typeface="Arial MT"/>
              </a:rPr>
              <a:t> statements</a:t>
            </a:r>
            <a:r>
              <a:rPr sz="2800" spc="-5" dirty="0">
                <a:latin typeface="Arial MT"/>
                <a:cs typeface="Arial MT"/>
              </a:rPr>
              <a:t> and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branch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conditions.</a:t>
            </a:r>
            <a:endParaRPr sz="2800">
              <a:latin typeface="Arial MT"/>
              <a:cs typeface="Arial MT"/>
            </a:endParaRPr>
          </a:p>
          <a:p>
            <a:pPr marL="704850" marR="5080" lvl="1" indent="-347980" algn="just">
              <a:lnSpc>
                <a:spcPct val="100000"/>
              </a:lnSpc>
              <a:spcBef>
                <a:spcPts val="595"/>
              </a:spcBef>
              <a:buClr>
                <a:srgbClr val="669999"/>
              </a:buClr>
              <a:buSzPct val="68750"/>
              <a:buFont typeface="Wingdings"/>
              <a:buChar char=""/>
              <a:tabLst>
                <a:tab pos="705485" algn="l"/>
              </a:tabLst>
            </a:pP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branch conditions </a:t>
            </a:r>
            <a:r>
              <a:rPr sz="2400" spc="-5" dirty="0">
                <a:latin typeface="Arial MT"/>
                <a:cs typeface="Arial MT"/>
              </a:rPr>
              <a:t>are tested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spc="-5" dirty="0">
                <a:latin typeface="Arial MT"/>
                <a:cs typeface="Arial MT"/>
              </a:rPr>
              <a:t>both being </a:t>
            </a:r>
            <a:r>
              <a:rPr sz="2400" dirty="0">
                <a:latin typeface="Arial MT"/>
                <a:cs typeface="Arial MT"/>
              </a:rPr>
              <a:t>true </a:t>
            </a:r>
            <a:r>
              <a:rPr sz="2400" spc="-10" dirty="0">
                <a:latin typeface="Arial MT"/>
                <a:cs typeface="Arial MT"/>
              </a:rPr>
              <a:t>and </a:t>
            </a:r>
            <a:r>
              <a:rPr sz="2400" spc="-5" dirty="0">
                <a:latin typeface="Arial MT"/>
                <a:cs typeface="Arial MT"/>
              </a:rPr>
              <a:t> false,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that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statements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covered.</a:t>
            </a:r>
            <a:endParaRPr sz="2400">
              <a:latin typeface="Arial MT"/>
              <a:cs typeface="Arial MT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660"/>
              </a:spcBef>
              <a:buClr>
                <a:srgbClr val="330066"/>
              </a:buClr>
              <a:buSzPct val="69642"/>
              <a:buFont typeface="Wingdings"/>
              <a:buChar char=""/>
              <a:tabLst>
                <a:tab pos="355600" algn="l"/>
              </a:tabLst>
            </a:pPr>
            <a:r>
              <a:rPr sz="2800" b="1" dirty="0">
                <a:latin typeface="Arial"/>
                <a:cs typeface="Arial"/>
              </a:rPr>
              <a:t>Data-flow</a:t>
            </a:r>
            <a:r>
              <a:rPr sz="2800" b="1" spc="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testing</a:t>
            </a:r>
            <a:r>
              <a:rPr sz="2800" b="1" dirty="0">
                <a:latin typeface="Arial"/>
                <a:cs typeface="Arial"/>
              </a:rPr>
              <a:t> </a:t>
            </a:r>
            <a:r>
              <a:rPr sz="2800" spc="-5" dirty="0">
                <a:latin typeface="Arial MT"/>
                <a:cs typeface="Arial MT"/>
              </a:rPr>
              <a:t>-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This</a:t>
            </a:r>
            <a:r>
              <a:rPr sz="2800" spc="7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testing</a:t>
            </a:r>
            <a:r>
              <a:rPr sz="2800" spc="78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technique </a:t>
            </a:r>
            <a:r>
              <a:rPr sz="2800" dirty="0">
                <a:latin typeface="Arial MT"/>
                <a:cs typeface="Arial MT"/>
              </a:rPr>
              <a:t> emphasis </a:t>
            </a:r>
            <a:r>
              <a:rPr sz="2800" spc="-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cover </a:t>
            </a:r>
            <a:r>
              <a:rPr sz="2800" spc="-5" dirty="0">
                <a:latin typeface="Arial MT"/>
                <a:cs typeface="Arial MT"/>
              </a:rPr>
              <a:t>all the data </a:t>
            </a:r>
            <a:r>
              <a:rPr sz="2800" dirty="0">
                <a:latin typeface="Arial MT"/>
                <a:cs typeface="Arial MT"/>
              </a:rPr>
              <a:t>variables </a:t>
            </a:r>
            <a:r>
              <a:rPr sz="2800" spc="-5" dirty="0">
                <a:latin typeface="Arial MT"/>
                <a:cs typeface="Arial MT"/>
              </a:rPr>
              <a:t>included in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program.</a:t>
            </a:r>
            <a:endParaRPr sz="2800">
              <a:latin typeface="Arial MT"/>
              <a:cs typeface="Arial MT"/>
            </a:endParaRPr>
          </a:p>
          <a:p>
            <a:pPr marL="704850" lvl="1" indent="-348615" algn="just">
              <a:lnSpc>
                <a:spcPct val="100000"/>
              </a:lnSpc>
              <a:spcBef>
                <a:spcPts val="595"/>
              </a:spcBef>
              <a:buClr>
                <a:srgbClr val="669999"/>
              </a:buClr>
              <a:buSzPct val="68750"/>
              <a:buFont typeface="Wingdings"/>
              <a:buChar char=""/>
              <a:tabLst>
                <a:tab pos="705485" algn="l"/>
              </a:tabLst>
            </a:pP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dirty="0">
                <a:latin typeface="Arial MT"/>
                <a:cs typeface="Arial MT"/>
              </a:rPr>
              <a:t> tests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where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variables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were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declared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defined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  <a:p>
            <a:pPr marL="704850" algn="just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where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were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changed.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33829"/>
            <a:ext cx="7590155" cy="379095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68605" marR="5080" indent="-256540">
              <a:lnSpc>
                <a:spcPts val="2920"/>
              </a:lnSpc>
              <a:spcBef>
                <a:spcPts val="459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process</a:t>
            </a:r>
            <a:r>
              <a:rPr sz="2700" spc="-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testing</a:t>
            </a:r>
            <a:r>
              <a:rPr sz="2700" spc="-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release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</a:t>
            </a:r>
            <a:r>
              <a:rPr sz="2700" spc="-10" dirty="0">
                <a:latin typeface="Lucida Sans Unicode"/>
                <a:cs typeface="Lucida Sans Unicode"/>
              </a:rPr>
              <a:t> system</a:t>
            </a:r>
            <a:r>
              <a:rPr sz="2700" spc="6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that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will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be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distributed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customers.</a:t>
            </a:r>
            <a:endParaRPr sz="2700">
              <a:latin typeface="Lucida Sans Unicode"/>
              <a:cs typeface="Lucida Sans Unicode"/>
            </a:endParaRPr>
          </a:p>
          <a:p>
            <a:pPr marL="268605" marR="547370" indent="-256540">
              <a:lnSpc>
                <a:spcPts val="2920"/>
              </a:lnSpc>
              <a:spcBef>
                <a:spcPts val="40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Primary</a:t>
            </a:r>
            <a:r>
              <a:rPr sz="2700" spc="-6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goal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increase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supplier’s  </a:t>
            </a:r>
            <a:r>
              <a:rPr sz="2700" dirty="0">
                <a:latin typeface="Lucida Sans Unicode"/>
                <a:cs typeface="Lucida Sans Unicode"/>
              </a:rPr>
              <a:t>confidence</a:t>
            </a:r>
            <a:r>
              <a:rPr sz="2700" spc="-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that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system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meets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spc="-25" dirty="0">
                <a:latin typeface="Lucida Sans Unicode"/>
                <a:cs typeface="Lucida Sans Unicode"/>
              </a:rPr>
              <a:t>its </a:t>
            </a:r>
            <a:r>
              <a:rPr sz="2700" spc="-10" dirty="0">
                <a:latin typeface="Lucida Sans Unicode"/>
                <a:cs typeface="Lucida Sans Unicode"/>
              </a:rPr>
              <a:t>requirements.</a:t>
            </a:r>
            <a:endParaRPr sz="2700">
              <a:latin typeface="Lucida Sans Unicode"/>
              <a:cs typeface="Lucida Sans Unicode"/>
            </a:endParaRPr>
          </a:p>
          <a:p>
            <a:pPr marL="268605" marR="871855" indent="-256540">
              <a:lnSpc>
                <a:spcPts val="2920"/>
              </a:lnSpc>
              <a:spcBef>
                <a:spcPts val="38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Release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testing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usually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black-</a:t>
            </a:r>
            <a:r>
              <a:rPr sz="2700" dirty="0">
                <a:latin typeface="Lucida Sans Unicode"/>
                <a:cs typeface="Lucida Sans Unicode"/>
              </a:rPr>
              <a:t>box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spc="-650" dirty="0">
                <a:latin typeface="Lucida Sans Unicode"/>
                <a:cs typeface="Lucida Sans Unicode"/>
              </a:rPr>
              <a:t>or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functional</a:t>
            </a:r>
            <a:r>
              <a:rPr sz="2700" spc="-6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testing</a:t>
            </a:r>
            <a:endParaRPr sz="27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3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latin typeface="Lucida Sans Unicode"/>
                <a:cs typeface="Lucida Sans Unicode"/>
              </a:rPr>
              <a:t>Based</a:t>
            </a:r>
            <a:r>
              <a:rPr sz="2300" spc="-5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on</a:t>
            </a:r>
            <a:r>
              <a:rPr sz="2300" spc="-5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system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specification</a:t>
            </a:r>
            <a:r>
              <a:rPr sz="2300" spc="-8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only;</a:t>
            </a:r>
            <a:endParaRPr sz="2300">
              <a:latin typeface="Lucida Sans Unicode"/>
              <a:cs typeface="Lucida Sans Unicode"/>
            </a:endParaRPr>
          </a:p>
          <a:p>
            <a:pPr marL="524510" marR="610870" lvl="1" indent="-229235">
              <a:lnSpc>
                <a:spcPts val="2480"/>
              </a:lnSpc>
              <a:spcBef>
                <a:spcPts val="34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latin typeface="Lucida Sans Unicode"/>
                <a:cs typeface="Lucida Sans Unicode"/>
              </a:rPr>
              <a:t>Testers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do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not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have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knowledge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of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system implementation.</a:t>
            </a:r>
            <a:endParaRPr sz="23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72" y="571500"/>
            <a:ext cx="3771899" cy="5486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644" y="571500"/>
            <a:ext cx="4434839" cy="54863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66800" y="1600200"/>
            <a:ext cx="7467600" cy="4267200"/>
            <a:chOff x="1066800" y="1600200"/>
            <a:chExt cx="7467600" cy="4267200"/>
          </a:xfrm>
        </p:grpSpPr>
        <p:sp>
          <p:nvSpPr>
            <p:cNvPr id="4" name="object 4"/>
            <p:cNvSpPr/>
            <p:nvPr/>
          </p:nvSpPr>
          <p:spPr>
            <a:xfrm>
              <a:off x="1066800" y="1600200"/>
              <a:ext cx="7467600" cy="4267200"/>
            </a:xfrm>
            <a:custGeom>
              <a:avLst/>
              <a:gdLst/>
              <a:ahLst/>
              <a:cxnLst/>
              <a:rect l="l" t="t" r="r" b="b"/>
              <a:pathLst>
                <a:path w="7467600" h="4267200">
                  <a:moveTo>
                    <a:pt x="74676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7467600" y="4267200"/>
                  </a:lnTo>
                  <a:lnTo>
                    <a:pt x="7467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3600" y="1752536"/>
              <a:ext cx="5486400" cy="397992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33829"/>
            <a:ext cx="7914005" cy="35839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68605" marR="543560" indent="-256540">
              <a:lnSpc>
                <a:spcPct val="90000"/>
              </a:lnSpc>
              <a:spcBef>
                <a:spcPts val="42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Testing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guidelines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are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hints</a:t>
            </a:r>
            <a:r>
              <a:rPr sz="2700" spc="-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for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10" dirty="0">
                <a:latin typeface="Lucida Sans Unicode"/>
                <a:cs typeface="Lucida Sans Unicode"/>
              </a:rPr>
              <a:t> testing</a:t>
            </a:r>
            <a:r>
              <a:rPr sz="2700" spc="6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team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help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them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choose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tests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that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will </a:t>
            </a:r>
            <a:r>
              <a:rPr sz="2700" dirty="0">
                <a:latin typeface="Lucida Sans Unicode"/>
                <a:cs typeface="Lucida Sans Unicode"/>
              </a:rPr>
              <a:t>reveal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defects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system</a:t>
            </a:r>
            <a:endParaRPr sz="2700">
              <a:latin typeface="Lucida Sans Unicode"/>
              <a:cs typeface="Lucida Sans Unicode"/>
            </a:endParaRPr>
          </a:p>
          <a:p>
            <a:pPr marL="524510" marR="106680" lvl="1" indent="-229235">
              <a:lnSpc>
                <a:spcPts val="2480"/>
              </a:lnSpc>
              <a:spcBef>
                <a:spcPts val="39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latin typeface="Lucida Sans Unicode"/>
                <a:cs typeface="Lucida Sans Unicode"/>
              </a:rPr>
              <a:t>Choose</a:t>
            </a:r>
            <a:r>
              <a:rPr sz="2300" spc="-6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inputs</a:t>
            </a:r>
            <a:r>
              <a:rPr sz="2300" spc="-5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that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force</a:t>
            </a:r>
            <a:r>
              <a:rPr sz="2300" spc="-5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system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to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generate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all </a:t>
            </a:r>
            <a:r>
              <a:rPr sz="2300" dirty="0">
                <a:latin typeface="Lucida Sans Unicode"/>
                <a:cs typeface="Lucida Sans Unicode"/>
              </a:rPr>
              <a:t>error</a:t>
            </a:r>
            <a:r>
              <a:rPr sz="2300" spc="-5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messages;</a:t>
            </a:r>
            <a:endParaRPr sz="23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ts val="2750"/>
              </a:lnSpc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latin typeface="Lucida Sans Unicode"/>
                <a:cs typeface="Lucida Sans Unicode"/>
              </a:rPr>
              <a:t>Design</a:t>
            </a:r>
            <a:r>
              <a:rPr sz="2300" spc="-6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inputs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that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cause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buffers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to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overflow;</a:t>
            </a:r>
            <a:endParaRPr sz="2300">
              <a:latin typeface="Lucida Sans Unicode"/>
              <a:cs typeface="Lucida Sans Unicode"/>
            </a:endParaRPr>
          </a:p>
          <a:p>
            <a:pPr marL="525145" lvl="1" indent="-229235">
              <a:lnSpc>
                <a:spcPct val="100000"/>
              </a:lnSpc>
              <a:spcBef>
                <a:spcPts val="25"/>
              </a:spcBef>
              <a:buClr>
                <a:srgbClr val="2CA1BE"/>
              </a:buClr>
              <a:buFont typeface="Verdana"/>
              <a:buChar char="◦"/>
              <a:tabLst>
                <a:tab pos="525145" algn="l"/>
              </a:tabLst>
            </a:pPr>
            <a:r>
              <a:rPr sz="2300" dirty="0">
                <a:latin typeface="Lucida Sans Unicode"/>
                <a:cs typeface="Lucida Sans Unicode"/>
              </a:rPr>
              <a:t>Repeat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same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input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or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input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series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several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times;</a:t>
            </a:r>
            <a:endParaRPr sz="23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25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latin typeface="Lucida Sans Unicode"/>
                <a:cs typeface="Lucida Sans Unicode"/>
              </a:rPr>
              <a:t>Force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invalid</a:t>
            </a:r>
            <a:r>
              <a:rPr sz="2300" spc="-6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outputs</a:t>
            </a:r>
            <a:r>
              <a:rPr sz="2300" spc="-1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to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be</a:t>
            </a:r>
            <a:r>
              <a:rPr sz="2300" spc="-1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generated;</a:t>
            </a:r>
            <a:endParaRPr sz="2300">
              <a:latin typeface="Lucida Sans Unicode"/>
              <a:cs typeface="Lucida Sans Unicode"/>
            </a:endParaRPr>
          </a:p>
          <a:p>
            <a:pPr marL="524510" marR="546100" lvl="1" indent="-229235">
              <a:lnSpc>
                <a:spcPts val="2480"/>
              </a:lnSpc>
              <a:spcBef>
                <a:spcPts val="34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latin typeface="Lucida Sans Unicode"/>
                <a:cs typeface="Lucida Sans Unicode"/>
              </a:rPr>
              <a:t>Force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computation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results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to</a:t>
            </a:r>
            <a:r>
              <a:rPr sz="2300" spc="-1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be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too</a:t>
            </a:r>
            <a:r>
              <a:rPr sz="2300" spc="-1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large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or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spc="-25" dirty="0">
                <a:latin typeface="Lucida Sans Unicode"/>
                <a:cs typeface="Lucida Sans Unicode"/>
              </a:rPr>
              <a:t>too </a:t>
            </a:r>
            <a:r>
              <a:rPr sz="2300" spc="-10" dirty="0">
                <a:latin typeface="Lucida Sans Unicode"/>
                <a:cs typeface="Lucida Sans Unicode"/>
              </a:rPr>
              <a:t>small.</a:t>
            </a:r>
            <a:endParaRPr sz="23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1" y="571500"/>
            <a:ext cx="4654296" cy="5486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80" y="594359"/>
            <a:ext cx="4187952" cy="52577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1000" y="1981200"/>
            <a:ext cx="8458200" cy="3886200"/>
          </a:xfrm>
          <a:custGeom>
            <a:avLst/>
            <a:gdLst/>
            <a:ahLst/>
            <a:cxnLst/>
            <a:rect l="l" t="t" r="r" b="b"/>
            <a:pathLst>
              <a:path w="8458200" h="3886200">
                <a:moveTo>
                  <a:pt x="8458200" y="0"/>
                </a:moveTo>
                <a:lnTo>
                  <a:pt x="0" y="0"/>
                </a:lnTo>
                <a:lnTo>
                  <a:pt x="0" y="3886200"/>
                </a:lnTo>
                <a:lnTo>
                  <a:pt x="8458200" y="3886200"/>
                </a:lnTo>
                <a:lnTo>
                  <a:pt x="845820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6900" y="2484092"/>
            <a:ext cx="7919720" cy="28295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ct val="97900"/>
              </a:lnSpc>
              <a:spcBef>
                <a:spcPts val="180"/>
              </a:spcBef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30" dirty="0">
                <a:latin typeface="Times New Roman"/>
                <a:cs typeface="Times New Roman"/>
              </a:rPr>
              <a:t>studen</a:t>
            </a:r>
            <a:r>
              <a:rPr sz="1700" spc="-2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Scotland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studying</a:t>
            </a:r>
            <a:r>
              <a:rPr sz="1700" spc="-2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merican</a:t>
            </a:r>
            <a:r>
              <a:rPr sz="1700" spc="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History</a:t>
            </a:r>
            <a:r>
              <a:rPr sz="1700" spc="1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and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has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been</a:t>
            </a:r>
            <a:r>
              <a:rPr sz="1700" spc="2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asked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write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paper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670" dirty="0">
                <a:latin typeface="Times New Roman"/>
                <a:cs typeface="Times New Roman"/>
              </a:rPr>
              <a:t>Ô</a:t>
            </a:r>
            <a:r>
              <a:rPr sz="1700" spc="50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r</a:t>
            </a:r>
            <a:r>
              <a:rPr sz="1700" spc="10" dirty="0">
                <a:latin typeface="Times New Roman"/>
                <a:cs typeface="Times New Roman"/>
              </a:rPr>
              <a:t>on</a:t>
            </a:r>
            <a:r>
              <a:rPr sz="1700" spc="15" dirty="0">
                <a:latin typeface="Times New Roman"/>
                <a:cs typeface="Times New Roman"/>
              </a:rPr>
              <a:t>t</a:t>
            </a:r>
            <a:r>
              <a:rPr sz="1700" spc="-20" dirty="0">
                <a:latin typeface="Times New Roman"/>
                <a:cs typeface="Times New Roman"/>
              </a:rPr>
              <a:t>i</a:t>
            </a:r>
            <a:r>
              <a:rPr sz="1700" spc="40" dirty="0">
                <a:latin typeface="Times New Roman"/>
                <a:cs typeface="Times New Roman"/>
              </a:rPr>
              <a:t>e</a:t>
            </a:r>
            <a:r>
              <a:rPr sz="1700" spc="20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 mentality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American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West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1840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1880Õ.To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this,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she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need</a:t>
            </a:r>
            <a:r>
              <a:rPr sz="1700" spc="-2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find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sources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range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libraries.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She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logs</a:t>
            </a:r>
            <a:r>
              <a:rPr sz="1700" spc="1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 LIBSYS</a:t>
            </a:r>
            <a:r>
              <a:rPr sz="1700" spc="1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system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uses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search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facility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discover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she</a:t>
            </a:r>
            <a:r>
              <a:rPr sz="1700" spc="-18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can</a:t>
            </a:r>
            <a:r>
              <a:rPr sz="1700" spc="-14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acce</a:t>
            </a:r>
            <a:r>
              <a:rPr sz="1700" spc="2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ss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original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40" dirty="0">
                <a:latin typeface="Times New Roman"/>
                <a:cs typeface="Times New Roman"/>
              </a:rPr>
              <a:t>docu</a:t>
            </a:r>
            <a:r>
              <a:rPr sz="1700" spc="-2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ments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time.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She </a:t>
            </a:r>
            <a:r>
              <a:rPr sz="1700" dirty="0">
                <a:latin typeface="Times New Roman"/>
                <a:cs typeface="Times New Roman"/>
              </a:rPr>
              <a:t>discovers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sources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various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university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libraries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35" dirty="0">
                <a:latin typeface="Times New Roman"/>
                <a:cs typeface="Times New Roman"/>
              </a:rPr>
              <a:t>and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down</a:t>
            </a:r>
            <a:r>
              <a:rPr sz="1700" spc="-1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loads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copies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some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of </a:t>
            </a:r>
            <a:r>
              <a:rPr sz="1700" dirty="0">
                <a:latin typeface="Times New Roman"/>
                <a:cs typeface="Times New Roman"/>
              </a:rPr>
              <a:t>these.</a:t>
            </a:r>
            <a:r>
              <a:rPr sz="1700" spc="40" dirty="0">
                <a:latin typeface="Times New Roman"/>
                <a:cs typeface="Times New Roman"/>
              </a:rPr>
              <a:t>  </a:t>
            </a:r>
            <a:r>
              <a:rPr sz="1700" dirty="0">
                <a:latin typeface="Times New Roman"/>
                <a:cs typeface="Times New Roman"/>
              </a:rPr>
              <a:t>However,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one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spc="-40" dirty="0">
                <a:latin typeface="Times New Roman"/>
                <a:cs typeface="Times New Roman"/>
              </a:rPr>
              <a:t>docu</a:t>
            </a:r>
            <a:r>
              <a:rPr sz="1700" spc="-25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ment,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she needs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have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confirmation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her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university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she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-75" dirty="0">
                <a:latin typeface="Times New Roman"/>
                <a:cs typeface="Times New Roman"/>
              </a:rPr>
              <a:t>genu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ine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-30" dirty="0">
                <a:latin typeface="Times New Roman"/>
                <a:cs typeface="Times New Roman"/>
              </a:rPr>
              <a:t>studen</a:t>
            </a:r>
            <a:r>
              <a:rPr sz="1700" spc="-2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1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non-commercial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purposes.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student</a:t>
            </a:r>
            <a:r>
              <a:rPr sz="1700" spc="5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uses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facility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LIBSYS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can</a:t>
            </a:r>
            <a:r>
              <a:rPr sz="1700" spc="105" dirty="0">
                <a:latin typeface="Times New Roman"/>
                <a:cs typeface="Times New Roman"/>
              </a:rPr>
              <a:t> </a:t>
            </a:r>
            <a:r>
              <a:rPr sz="1700" spc="-30" dirty="0">
                <a:latin typeface="Times New Roman"/>
                <a:cs typeface="Times New Roman"/>
              </a:rPr>
              <a:t>reque</a:t>
            </a:r>
            <a:r>
              <a:rPr sz="1700" spc="-2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such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permission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registers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her</a:t>
            </a: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ct val="98000"/>
              </a:lnSpc>
              <a:spcBef>
                <a:spcPts val="20"/>
              </a:spcBef>
            </a:pPr>
            <a:r>
              <a:rPr sz="1700" spc="-30" dirty="0">
                <a:latin typeface="Times New Roman"/>
                <a:cs typeface="Times New Roman"/>
              </a:rPr>
              <a:t>reques</a:t>
            </a:r>
            <a:r>
              <a:rPr sz="1700" spc="-22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t.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granted,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-40" dirty="0">
                <a:latin typeface="Times New Roman"/>
                <a:cs typeface="Times New Roman"/>
              </a:rPr>
              <a:t>docu</a:t>
            </a:r>
            <a:r>
              <a:rPr sz="1700" spc="-2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ment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will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</a:t>
            </a:r>
            <a:r>
              <a:rPr sz="1700" spc="-1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downloaded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registered</a:t>
            </a:r>
            <a:r>
              <a:rPr sz="1700" spc="95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l</a:t>
            </a:r>
            <a:r>
              <a:rPr sz="1700" spc="90" dirty="0">
                <a:latin typeface="Times New Roman"/>
                <a:cs typeface="Times New Roman"/>
              </a:rPr>
              <a:t>i</a:t>
            </a:r>
            <a:r>
              <a:rPr sz="1700" spc="10" dirty="0">
                <a:latin typeface="Times New Roman"/>
                <a:cs typeface="Times New Roman"/>
              </a:rPr>
              <a:t>b</a:t>
            </a:r>
            <a:r>
              <a:rPr sz="1700" spc="25" dirty="0">
                <a:latin typeface="Times New Roman"/>
                <a:cs typeface="Times New Roman"/>
              </a:rPr>
              <a:t>r</a:t>
            </a:r>
            <a:r>
              <a:rPr sz="1700" spc="-30" dirty="0">
                <a:latin typeface="Times New Roman"/>
                <a:cs typeface="Times New Roman"/>
              </a:rPr>
              <a:t>a</a:t>
            </a:r>
            <a:r>
              <a:rPr sz="1700" spc="25" dirty="0">
                <a:latin typeface="Times New Roman"/>
                <a:cs typeface="Times New Roman"/>
              </a:rPr>
              <a:t>r</a:t>
            </a:r>
            <a:r>
              <a:rPr sz="1700" spc="10" dirty="0">
                <a:latin typeface="Times New Roman"/>
                <a:cs typeface="Times New Roman"/>
              </a:rPr>
              <a:t>y</a:t>
            </a:r>
            <a:r>
              <a:rPr sz="1700" spc="-645" dirty="0">
                <a:latin typeface="Times New Roman"/>
                <a:cs typeface="Times New Roman"/>
              </a:rPr>
              <a:t>Õ</a:t>
            </a:r>
            <a:r>
              <a:rPr sz="1700" spc="20" dirty="0">
                <a:latin typeface="Times New Roman"/>
                <a:cs typeface="Times New Roman"/>
              </a:rPr>
              <a:t>s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server</a:t>
            </a:r>
            <a:r>
              <a:rPr sz="1700" spc="5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printed</a:t>
            </a:r>
            <a:r>
              <a:rPr sz="1700" spc="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her.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She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receives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message</a:t>
            </a:r>
            <a:r>
              <a:rPr sz="1700" spc="-1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rom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LIBSYS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telling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her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will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receive </a:t>
            </a:r>
            <a:r>
              <a:rPr sz="1700" dirty="0">
                <a:latin typeface="Times New Roman"/>
                <a:cs typeface="Times New Roman"/>
              </a:rPr>
              <a:t>an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e-mail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message</a:t>
            </a:r>
            <a:r>
              <a:rPr sz="1700" spc="-1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when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printed</a:t>
            </a:r>
            <a:r>
              <a:rPr sz="1700" spc="-1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docu</a:t>
            </a:r>
            <a:r>
              <a:rPr sz="1700" spc="-2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ment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available</a:t>
            </a:r>
            <a:r>
              <a:rPr sz="1700" spc="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collection.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85216"/>
            <a:ext cx="3145536" cy="53035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57200" y="1600200"/>
            <a:ext cx="8153400" cy="4343400"/>
          </a:xfrm>
          <a:custGeom>
            <a:avLst/>
            <a:gdLst/>
            <a:ahLst/>
            <a:cxnLst/>
            <a:rect l="l" t="t" r="r" b="b"/>
            <a:pathLst>
              <a:path w="8153400" h="4343400">
                <a:moveTo>
                  <a:pt x="8153400" y="0"/>
                </a:moveTo>
                <a:lnTo>
                  <a:pt x="0" y="0"/>
                </a:lnTo>
                <a:lnTo>
                  <a:pt x="0" y="4343400"/>
                </a:lnTo>
                <a:lnTo>
                  <a:pt x="8153400" y="4343400"/>
                </a:lnTo>
                <a:lnTo>
                  <a:pt x="815340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5500" y="2166424"/>
            <a:ext cx="7207884" cy="29724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28625" marR="20320" indent="-416559">
              <a:lnSpc>
                <a:spcPts val="2090"/>
              </a:lnSpc>
              <a:spcBef>
                <a:spcPts val="215"/>
              </a:spcBef>
              <a:buAutoNum type="arabicPeriod"/>
              <a:tabLst>
                <a:tab pos="428625" algn="l"/>
              </a:tabLst>
            </a:pPr>
            <a:r>
              <a:rPr sz="1750" dirty="0">
                <a:latin typeface="Times New Roman"/>
                <a:cs typeface="Times New Roman"/>
              </a:rPr>
              <a:t>T</a:t>
            </a:r>
            <a:r>
              <a:rPr sz="1750" spc="-2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est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434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login</a:t>
            </a:r>
            <a:r>
              <a:rPr sz="1750" spc="38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mechanism</a:t>
            </a:r>
            <a:r>
              <a:rPr sz="1750" spc="4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using</a:t>
            </a:r>
            <a:r>
              <a:rPr sz="1750" spc="47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correct</a:t>
            </a:r>
            <a:r>
              <a:rPr sz="1750" spc="48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4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incorrect</a:t>
            </a:r>
            <a:r>
              <a:rPr sz="1750" spc="4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logins</a:t>
            </a:r>
            <a:r>
              <a:rPr sz="1750" spc="3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47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check </a:t>
            </a:r>
            <a:r>
              <a:rPr sz="1750" dirty="0">
                <a:latin typeface="Times New Roman"/>
                <a:cs typeface="Times New Roman"/>
              </a:rPr>
              <a:t>that</a:t>
            </a:r>
            <a:r>
              <a:rPr sz="1750" spc="8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valid</a:t>
            </a:r>
            <a:r>
              <a:rPr sz="1750" spc="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users</a:t>
            </a:r>
            <a:r>
              <a:rPr sz="1750" spc="1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are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accepted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invalid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users</a:t>
            </a:r>
            <a:r>
              <a:rPr sz="1750" spc="1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are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rejected.</a:t>
            </a:r>
            <a:endParaRPr sz="1750">
              <a:latin typeface="Times New Roman"/>
              <a:cs typeface="Times New Roman"/>
            </a:endParaRPr>
          </a:p>
          <a:p>
            <a:pPr marL="428625" marR="9525" indent="-416559">
              <a:lnSpc>
                <a:spcPct val="100000"/>
              </a:lnSpc>
              <a:spcBef>
                <a:spcPts val="1015"/>
              </a:spcBef>
              <a:buAutoNum type="arabicPeriod"/>
              <a:tabLst>
                <a:tab pos="428625" algn="l"/>
              </a:tabLst>
            </a:pPr>
            <a:r>
              <a:rPr sz="1750" dirty="0">
                <a:latin typeface="Times New Roman"/>
                <a:cs typeface="Times New Roman"/>
              </a:rPr>
              <a:t>T</a:t>
            </a:r>
            <a:r>
              <a:rPr sz="1750" spc="-2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est</a:t>
            </a:r>
            <a:r>
              <a:rPr sz="1750" spc="2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2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search</a:t>
            </a:r>
            <a:r>
              <a:rPr sz="1750" spc="2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facility</a:t>
            </a:r>
            <a:r>
              <a:rPr sz="1750" spc="20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using</a:t>
            </a:r>
            <a:r>
              <a:rPr sz="1750" spc="295" dirty="0">
                <a:latin typeface="Times New Roman"/>
                <a:cs typeface="Times New Roman"/>
              </a:rPr>
              <a:t> </a:t>
            </a:r>
            <a:r>
              <a:rPr sz="1750" spc="-70" dirty="0">
                <a:latin typeface="Times New Roman"/>
                <a:cs typeface="Times New Roman"/>
              </a:rPr>
              <a:t>diff</a:t>
            </a:r>
            <a:r>
              <a:rPr sz="1750" spc="-1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erent</a:t>
            </a:r>
            <a:r>
              <a:rPr sz="1750" spc="2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queries</a:t>
            </a:r>
            <a:r>
              <a:rPr sz="1750" spc="3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against</a:t>
            </a:r>
            <a:r>
              <a:rPr sz="1750" spc="2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known</a:t>
            </a:r>
            <a:r>
              <a:rPr sz="1750" spc="29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sources</a:t>
            </a:r>
            <a:r>
              <a:rPr sz="1750" spc="229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to </a:t>
            </a:r>
            <a:r>
              <a:rPr sz="1750" dirty="0">
                <a:latin typeface="Times New Roman"/>
                <a:cs typeface="Times New Roman"/>
              </a:rPr>
              <a:t>check</a:t>
            </a:r>
            <a:r>
              <a:rPr sz="1750" spc="18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that</a:t>
            </a:r>
            <a:r>
              <a:rPr sz="1750" spc="10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search</a:t>
            </a:r>
            <a:r>
              <a:rPr sz="1750" spc="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mechanism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is</a:t>
            </a:r>
            <a:r>
              <a:rPr sz="1750" spc="1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actually finding</a:t>
            </a:r>
            <a:r>
              <a:rPr sz="1750" spc="14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documents.</a:t>
            </a:r>
            <a:endParaRPr sz="1750">
              <a:latin typeface="Times New Roman"/>
              <a:cs typeface="Times New Roman"/>
            </a:endParaRPr>
          </a:p>
          <a:p>
            <a:pPr marL="428625" marR="5080" indent="-416559">
              <a:lnSpc>
                <a:spcPct val="100000"/>
              </a:lnSpc>
              <a:spcBef>
                <a:spcPts val="1075"/>
              </a:spcBef>
              <a:buAutoNum type="arabicPeriod"/>
              <a:tabLst>
                <a:tab pos="428625" algn="l"/>
              </a:tabLst>
            </a:pPr>
            <a:r>
              <a:rPr sz="1750" dirty="0">
                <a:latin typeface="Times New Roman"/>
                <a:cs typeface="Times New Roman"/>
              </a:rPr>
              <a:t>T</a:t>
            </a:r>
            <a:r>
              <a:rPr sz="1750" spc="-2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est</a:t>
            </a:r>
            <a:r>
              <a:rPr sz="1750" spc="4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7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system</a:t>
            </a:r>
            <a:r>
              <a:rPr sz="1750" spc="5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presentation</a:t>
            </a:r>
            <a:r>
              <a:rPr sz="1750" spc="65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facility</a:t>
            </a:r>
            <a:r>
              <a:rPr sz="1750" spc="6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4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check</a:t>
            </a:r>
            <a:r>
              <a:rPr sz="1750" spc="4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that</a:t>
            </a:r>
            <a:r>
              <a:rPr sz="1750" spc="9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information</a:t>
            </a:r>
            <a:r>
              <a:rPr sz="1750" spc="60" dirty="0">
                <a:latin typeface="Times New Roman"/>
                <a:cs typeface="Times New Roman"/>
              </a:rPr>
              <a:t>  </a:t>
            </a:r>
            <a:r>
              <a:rPr sz="1750" spc="-10" dirty="0">
                <a:latin typeface="Times New Roman"/>
                <a:cs typeface="Times New Roman"/>
              </a:rPr>
              <a:t>about </a:t>
            </a:r>
            <a:r>
              <a:rPr sz="1750" dirty="0">
                <a:latin typeface="Times New Roman"/>
                <a:cs typeface="Times New Roman"/>
              </a:rPr>
              <a:t>documents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is</a:t>
            </a:r>
            <a:r>
              <a:rPr sz="1750" spc="19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displayed</a:t>
            </a:r>
            <a:r>
              <a:rPr sz="1750" spc="22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properly.</a:t>
            </a:r>
            <a:endParaRPr sz="1750">
              <a:latin typeface="Times New Roman"/>
              <a:cs typeface="Times New Roman"/>
            </a:endParaRPr>
          </a:p>
          <a:p>
            <a:pPr marL="427990" indent="-415290">
              <a:lnSpc>
                <a:spcPct val="100000"/>
              </a:lnSpc>
              <a:spcBef>
                <a:spcPts val="1030"/>
              </a:spcBef>
              <a:buAutoNum type="arabicPeriod"/>
              <a:tabLst>
                <a:tab pos="427990" algn="l"/>
              </a:tabLst>
            </a:pPr>
            <a:r>
              <a:rPr sz="1750" dirty="0">
                <a:latin typeface="Times New Roman"/>
                <a:cs typeface="Times New Roman"/>
              </a:rPr>
              <a:t>T</a:t>
            </a:r>
            <a:r>
              <a:rPr sz="1750" spc="-2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est</a:t>
            </a:r>
            <a:r>
              <a:rPr sz="1750" spc="1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mechanism</a:t>
            </a:r>
            <a:r>
              <a:rPr sz="1750" spc="204" dirty="0">
                <a:latin typeface="Times New Roman"/>
                <a:cs typeface="Times New Roman"/>
              </a:rPr>
              <a:t> </a:t>
            </a:r>
            <a:r>
              <a:rPr sz="1750" spc="-85" dirty="0">
                <a:latin typeface="Times New Roman"/>
                <a:cs typeface="Times New Roman"/>
              </a:rPr>
              <a:t>to</a:t>
            </a:r>
            <a:r>
              <a:rPr sz="1750" dirty="0">
                <a:latin typeface="Times New Roman"/>
                <a:cs typeface="Times New Roman"/>
              </a:rPr>
              <a:t> request</a:t>
            </a:r>
            <a:r>
              <a:rPr sz="1750" spc="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permission</a:t>
            </a:r>
            <a:r>
              <a:rPr sz="1750" spc="1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7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downloading.</a:t>
            </a:r>
            <a:endParaRPr sz="1750">
              <a:latin typeface="Times New Roman"/>
              <a:cs typeface="Times New Roman"/>
            </a:endParaRPr>
          </a:p>
          <a:p>
            <a:pPr marL="428625" marR="6985" indent="-416559">
              <a:lnSpc>
                <a:spcPct val="100000"/>
              </a:lnSpc>
              <a:spcBef>
                <a:spcPts val="1085"/>
              </a:spcBef>
              <a:buAutoNum type="arabicPeriod"/>
              <a:tabLst>
                <a:tab pos="428625" algn="l"/>
              </a:tabLst>
            </a:pPr>
            <a:r>
              <a:rPr sz="1750" dirty="0">
                <a:latin typeface="Times New Roman"/>
                <a:cs typeface="Times New Roman"/>
              </a:rPr>
              <a:t>T</a:t>
            </a:r>
            <a:r>
              <a:rPr sz="1750" spc="-2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est</a:t>
            </a:r>
            <a:r>
              <a:rPr sz="1750" spc="49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49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e-</a:t>
            </a:r>
            <a:r>
              <a:rPr sz="1750" dirty="0">
                <a:latin typeface="Times New Roman"/>
                <a:cs typeface="Times New Roman"/>
              </a:rPr>
              <a:t>mail</a:t>
            </a:r>
            <a:r>
              <a:rPr sz="1750" spc="5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response</a:t>
            </a:r>
            <a:r>
              <a:rPr sz="1750" spc="49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indicating</a:t>
            </a:r>
            <a:r>
              <a:rPr sz="1750" spc="65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that</a:t>
            </a:r>
            <a:r>
              <a:rPr sz="1750" spc="5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49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downloaded</a:t>
            </a:r>
            <a:r>
              <a:rPr sz="1750" spc="70" dirty="0">
                <a:latin typeface="Times New Roman"/>
                <a:cs typeface="Times New Roman"/>
              </a:rPr>
              <a:t>  </a:t>
            </a:r>
            <a:r>
              <a:rPr sz="1750" dirty="0">
                <a:latin typeface="Times New Roman"/>
                <a:cs typeface="Times New Roman"/>
              </a:rPr>
              <a:t>document</a:t>
            </a:r>
            <a:r>
              <a:rPr sz="1750" spc="49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is </a:t>
            </a:r>
            <a:r>
              <a:rPr sz="1750" spc="-10" dirty="0">
                <a:latin typeface="Times New Roman"/>
                <a:cs typeface="Times New Roman"/>
              </a:rPr>
              <a:t>available.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65834"/>
            <a:ext cx="7939405" cy="2957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Use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cases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can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be</a:t>
            </a:r>
            <a:r>
              <a:rPr sz="2700" spc="-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basis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for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deriving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65" dirty="0">
                <a:latin typeface="Lucida Sans Unicode"/>
                <a:cs typeface="Lucida Sans Unicode"/>
              </a:rPr>
              <a:t>tests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for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system.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They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help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identify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operations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spc="-25" dirty="0">
                <a:latin typeface="Lucida Sans Unicode"/>
                <a:cs typeface="Lucida Sans Unicode"/>
              </a:rPr>
              <a:t>to </a:t>
            </a:r>
            <a:r>
              <a:rPr sz="2700" dirty="0">
                <a:latin typeface="Lucida Sans Unicode"/>
                <a:cs typeface="Lucida Sans Unicode"/>
              </a:rPr>
              <a:t>be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tested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and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help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design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required</a:t>
            </a:r>
            <a:r>
              <a:rPr sz="2700" spc="-60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test </a:t>
            </a:r>
            <a:r>
              <a:rPr sz="2700" spc="-10" dirty="0">
                <a:latin typeface="Lucida Sans Unicode"/>
                <a:cs typeface="Lucida Sans Unicode"/>
              </a:rPr>
              <a:t>cases.</a:t>
            </a:r>
            <a:endParaRPr sz="2700">
              <a:latin typeface="Lucida Sans Unicode"/>
              <a:cs typeface="Lucida Sans Unicode"/>
            </a:endParaRPr>
          </a:p>
          <a:p>
            <a:pPr marL="268605" marR="74295" indent="-25654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From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an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associated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sequence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diagram,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spc="-25" dirty="0">
                <a:latin typeface="Lucida Sans Unicode"/>
                <a:cs typeface="Lucida Sans Unicode"/>
              </a:rPr>
              <a:t>the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inputs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and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outputs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be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created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for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tests </a:t>
            </a:r>
            <a:r>
              <a:rPr sz="2700" dirty="0">
                <a:latin typeface="Lucida Sans Unicode"/>
                <a:cs typeface="Lucida Sans Unicode"/>
              </a:rPr>
              <a:t>can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be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identified.</a:t>
            </a:r>
            <a:endParaRPr sz="27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594359"/>
            <a:ext cx="2423160" cy="4297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068" y="603504"/>
            <a:ext cx="8055864" cy="48463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38200" y="1524000"/>
            <a:ext cx="8001000" cy="4351655"/>
            <a:chOff x="838200" y="1524000"/>
            <a:chExt cx="8001000" cy="4351655"/>
          </a:xfrm>
        </p:grpSpPr>
        <p:sp>
          <p:nvSpPr>
            <p:cNvPr id="4" name="object 4"/>
            <p:cNvSpPr/>
            <p:nvPr/>
          </p:nvSpPr>
          <p:spPr>
            <a:xfrm>
              <a:off x="838200" y="1524000"/>
              <a:ext cx="8001000" cy="4267200"/>
            </a:xfrm>
            <a:custGeom>
              <a:avLst/>
              <a:gdLst/>
              <a:ahLst/>
              <a:cxnLst/>
              <a:rect l="l" t="t" r="r" b="b"/>
              <a:pathLst>
                <a:path w="8001000" h="4267200">
                  <a:moveTo>
                    <a:pt x="80010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8001000" y="4267200"/>
                  </a:lnTo>
                  <a:lnTo>
                    <a:pt x="80010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1200" y="1676336"/>
              <a:ext cx="5638800" cy="419900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65834"/>
            <a:ext cx="7876540" cy="2957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Part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release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testing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may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involve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testing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spc="-440" dirty="0">
                <a:latin typeface="Lucida Sans Unicode"/>
                <a:cs typeface="Lucida Sans Unicode"/>
              </a:rPr>
              <a:t>the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emergent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properties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system,</a:t>
            </a:r>
            <a:r>
              <a:rPr sz="2700" spc="-6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such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spc="-25" dirty="0">
                <a:latin typeface="Lucida Sans Unicode"/>
                <a:cs typeface="Lucida Sans Unicode"/>
              </a:rPr>
              <a:t>as </a:t>
            </a:r>
            <a:r>
              <a:rPr sz="2700" dirty="0">
                <a:latin typeface="Lucida Sans Unicode"/>
                <a:cs typeface="Lucida Sans Unicode"/>
              </a:rPr>
              <a:t>performance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and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reliability.</a:t>
            </a:r>
            <a:endParaRPr sz="2700">
              <a:latin typeface="Lucida Sans Unicode"/>
              <a:cs typeface="Lucida Sans Unicode"/>
            </a:endParaRPr>
          </a:p>
          <a:p>
            <a:pPr marL="268605" marR="203835" indent="-25654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Performance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tests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usually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involve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planning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spc="-1290" dirty="0">
                <a:latin typeface="Lucida Sans Unicode"/>
                <a:cs typeface="Lucida Sans Unicode"/>
              </a:rPr>
              <a:t>a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series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tests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where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load</a:t>
            </a:r>
            <a:r>
              <a:rPr sz="2700" spc="-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steadily </a:t>
            </a:r>
            <a:r>
              <a:rPr sz="2700" dirty="0">
                <a:latin typeface="Lucida Sans Unicode"/>
                <a:cs typeface="Lucida Sans Unicode"/>
              </a:rPr>
              <a:t>increased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until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system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performance </a:t>
            </a:r>
            <a:r>
              <a:rPr sz="2700" dirty="0">
                <a:latin typeface="Lucida Sans Unicode"/>
                <a:cs typeface="Lucida Sans Unicode"/>
              </a:rPr>
              <a:t>becomes</a:t>
            </a:r>
            <a:r>
              <a:rPr sz="2700" spc="-12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unacceptable.</a:t>
            </a:r>
            <a:endParaRPr sz="27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72" y="566927"/>
            <a:ext cx="5033771" cy="55321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70405"/>
            <a:ext cx="7776845" cy="378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89535" indent="-256540" algn="just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1600" spc="665" dirty="0">
                <a:solidFill>
                  <a:srgbClr val="2CA1BE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Exercises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system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beyond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maximum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325" dirty="0">
                <a:latin typeface="Lucida Sans Unicode"/>
                <a:cs typeface="Lucida Sans Unicode"/>
              </a:rPr>
              <a:t>design </a:t>
            </a:r>
            <a:r>
              <a:rPr sz="2400" dirty="0">
                <a:latin typeface="Lucida Sans Unicode"/>
                <a:cs typeface="Lucida Sans Unicode"/>
              </a:rPr>
              <a:t>load.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Stressing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system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often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causes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defects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to </a:t>
            </a:r>
            <a:r>
              <a:rPr sz="2400" dirty="0">
                <a:latin typeface="Lucida Sans Unicode"/>
                <a:cs typeface="Lucida Sans Unicode"/>
              </a:rPr>
              <a:t>come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light.</a:t>
            </a:r>
            <a:endParaRPr sz="2400">
              <a:latin typeface="Lucida Sans Unicode"/>
              <a:cs typeface="Lucida Sans Unicode"/>
            </a:endParaRPr>
          </a:p>
          <a:p>
            <a:pPr marL="268605" marR="199390" indent="-256540">
              <a:lnSpc>
                <a:spcPct val="100000"/>
              </a:lnSpc>
              <a:spcBef>
                <a:spcPts val="409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Stressing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system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failure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behaviour..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Systems</a:t>
            </a:r>
            <a:r>
              <a:rPr sz="2400" spc="-10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should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fail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catastrophically.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Stress 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checks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unacceptable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loss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service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or </a:t>
            </a:r>
            <a:r>
              <a:rPr sz="2400" spc="-20" dirty="0">
                <a:latin typeface="Lucida Sans Unicode"/>
                <a:cs typeface="Lucida Sans Unicode"/>
              </a:rPr>
              <a:t>data.</a:t>
            </a:r>
            <a:endParaRPr sz="2400">
              <a:latin typeface="Lucida Sans Unicode"/>
              <a:cs typeface="Lucida Sans Unicode"/>
            </a:endParaRPr>
          </a:p>
          <a:p>
            <a:pPr marL="268605" marR="5080" indent="-256540">
              <a:lnSpc>
                <a:spcPct val="100000"/>
              </a:lnSpc>
              <a:spcBef>
                <a:spcPts val="400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Stress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particularly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relevant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distributed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systems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exhibit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severe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degradation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a </a:t>
            </a:r>
            <a:r>
              <a:rPr sz="2400" dirty="0">
                <a:latin typeface="Lucida Sans Unicode"/>
                <a:cs typeface="Lucida Sans Unicode"/>
              </a:rPr>
              <a:t>network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becomes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overloaded.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85216"/>
            <a:ext cx="3396995" cy="5349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65834"/>
            <a:ext cx="7842884" cy="3297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295275" indent="-25654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Component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or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unit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testing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process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spc="-640" dirty="0">
                <a:latin typeface="Lucida Sans Unicode"/>
                <a:cs typeface="Lucida Sans Unicode"/>
              </a:rPr>
              <a:t>of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testing</a:t>
            </a:r>
            <a:r>
              <a:rPr sz="2700" spc="-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individual</a:t>
            </a:r>
            <a:r>
              <a:rPr sz="2700" spc="-8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components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isolation.</a:t>
            </a:r>
            <a:endParaRPr sz="2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1800" spc="153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700" spc="-5" dirty="0">
                <a:latin typeface="Lucida Sans Unicode"/>
                <a:cs typeface="Lucida Sans Unicode"/>
              </a:rPr>
              <a:t>I</a:t>
            </a:r>
            <a:r>
              <a:rPr sz="2700" dirty="0">
                <a:latin typeface="Lucida Sans Unicode"/>
                <a:cs typeface="Lucida Sans Unicode"/>
              </a:rPr>
              <a:t>t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</a:t>
            </a:r>
            <a:r>
              <a:rPr sz="2700" spc="-5" dirty="0">
                <a:latin typeface="Lucida Sans Unicode"/>
                <a:cs typeface="Lucida Sans Unicode"/>
              </a:rPr>
              <a:t> defec</a:t>
            </a:r>
            <a:r>
              <a:rPr sz="2700" dirty="0">
                <a:latin typeface="Lucida Sans Unicode"/>
                <a:cs typeface="Lucida Sans Unicode"/>
              </a:rPr>
              <a:t>t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testing </a:t>
            </a:r>
            <a:r>
              <a:rPr sz="2700" spc="-5" dirty="0">
                <a:latin typeface="Lucida Sans Unicode"/>
                <a:cs typeface="Lucida Sans Unicode"/>
              </a:rPr>
              <a:t>proc</a:t>
            </a:r>
            <a:r>
              <a:rPr sz="2700" spc="-15" dirty="0">
                <a:latin typeface="Lucida Sans Unicode"/>
                <a:cs typeface="Lucida Sans Unicode"/>
              </a:rPr>
              <a:t>e</a:t>
            </a:r>
            <a:r>
              <a:rPr sz="2700" spc="-5" dirty="0">
                <a:latin typeface="Lucida Sans Unicode"/>
                <a:cs typeface="Lucida Sans Unicode"/>
              </a:rPr>
              <a:t>ss.</a:t>
            </a:r>
            <a:endParaRPr sz="2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  <a:tabLst>
                <a:tab pos="268605" algn="l"/>
              </a:tabLst>
            </a:pPr>
            <a:r>
              <a:rPr sz="1800" spc="153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700" spc="-20" dirty="0">
                <a:latin typeface="Lucida Sans Unicode"/>
                <a:cs typeface="Lucida Sans Unicode"/>
              </a:rPr>
              <a:t>Components </a:t>
            </a:r>
            <a:r>
              <a:rPr sz="2700" spc="-25" dirty="0">
                <a:latin typeface="Lucida Sans Unicode"/>
                <a:cs typeface="Lucida Sans Unicode"/>
              </a:rPr>
              <a:t>may</a:t>
            </a:r>
            <a:r>
              <a:rPr sz="2700" spc="-5" dirty="0">
                <a:latin typeface="Lucida Sans Unicode"/>
                <a:cs typeface="Lucida Sans Unicode"/>
              </a:rPr>
              <a:t> be:</a:t>
            </a:r>
            <a:endParaRPr sz="27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36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latin typeface="Lucida Sans Unicode"/>
                <a:cs typeface="Lucida Sans Unicode"/>
              </a:rPr>
              <a:t>Individual</a:t>
            </a:r>
            <a:r>
              <a:rPr sz="2300" spc="-6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functions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or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methods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within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an</a:t>
            </a:r>
            <a:r>
              <a:rPr sz="2300" spc="-10" dirty="0">
                <a:latin typeface="Lucida Sans Unicode"/>
                <a:cs typeface="Lucida Sans Unicode"/>
              </a:rPr>
              <a:t> object;</a:t>
            </a:r>
            <a:endParaRPr sz="2300">
              <a:latin typeface="Lucida Sans Unicode"/>
              <a:cs typeface="Lucida Sans Unicode"/>
            </a:endParaRPr>
          </a:p>
          <a:p>
            <a:pPr marL="525145" lvl="1" indent="-229235">
              <a:lnSpc>
                <a:spcPct val="100000"/>
              </a:lnSpc>
              <a:spcBef>
                <a:spcPts val="305"/>
              </a:spcBef>
              <a:buClr>
                <a:srgbClr val="2CA1BE"/>
              </a:buClr>
              <a:buFont typeface="Verdana"/>
              <a:buChar char="◦"/>
              <a:tabLst>
                <a:tab pos="525145" algn="l"/>
              </a:tabLst>
            </a:pPr>
            <a:r>
              <a:rPr sz="2300" dirty="0">
                <a:latin typeface="Lucida Sans Unicode"/>
                <a:cs typeface="Lucida Sans Unicode"/>
              </a:rPr>
              <a:t>Object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classes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with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several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attributes</a:t>
            </a:r>
            <a:r>
              <a:rPr sz="2300" spc="-4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and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methods;</a:t>
            </a:r>
            <a:endParaRPr sz="2300">
              <a:latin typeface="Lucida Sans Unicode"/>
              <a:cs typeface="Lucida Sans Unicode"/>
            </a:endParaRPr>
          </a:p>
          <a:p>
            <a:pPr marL="524510" marR="610235" lvl="1" indent="-229235">
              <a:lnSpc>
                <a:spcPct val="100000"/>
              </a:lnSpc>
              <a:spcBef>
                <a:spcPts val="30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latin typeface="Lucida Sans Unicode"/>
                <a:cs typeface="Lucida Sans Unicode"/>
              </a:rPr>
              <a:t>Composite</a:t>
            </a:r>
            <a:r>
              <a:rPr sz="2300" spc="-8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components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with</a:t>
            </a:r>
            <a:r>
              <a:rPr sz="2300" spc="-5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defined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interfaces </a:t>
            </a:r>
            <a:r>
              <a:rPr sz="2300" dirty="0">
                <a:latin typeface="Lucida Sans Unicode"/>
                <a:cs typeface="Lucida Sans Unicode"/>
              </a:rPr>
              <a:t>used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to</a:t>
            </a:r>
            <a:r>
              <a:rPr sz="2300" spc="-1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access</a:t>
            </a:r>
            <a:r>
              <a:rPr sz="2300" spc="-1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their</a:t>
            </a:r>
            <a:r>
              <a:rPr sz="2300" spc="-2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functionality.</a:t>
            </a:r>
            <a:endParaRPr sz="23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85216"/>
            <a:ext cx="4837176" cy="5349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14042"/>
            <a:ext cx="7668895" cy="294005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R="361315" algn="r">
              <a:lnSpc>
                <a:spcPct val="100000"/>
              </a:lnSpc>
              <a:spcBef>
                <a:spcPts val="505"/>
              </a:spcBef>
              <a:tabLst>
                <a:tab pos="255904" algn="l"/>
              </a:tabLst>
            </a:pPr>
            <a:r>
              <a:rPr sz="1800" spc="153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700" spc="-5" dirty="0">
                <a:latin typeface="Lucida Sans Unicode"/>
                <a:cs typeface="Lucida Sans Unicode"/>
              </a:rPr>
              <a:t>Complet</a:t>
            </a:r>
            <a:r>
              <a:rPr sz="2700" dirty="0">
                <a:latin typeface="Lucida Sans Unicode"/>
                <a:cs typeface="Lucida Sans Unicode"/>
              </a:rPr>
              <a:t>e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tes</a:t>
            </a:r>
            <a:r>
              <a:rPr sz="2700" dirty="0">
                <a:latin typeface="Lucida Sans Unicode"/>
                <a:cs typeface="Lucida Sans Unicode"/>
              </a:rPr>
              <a:t>t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coverage</a:t>
            </a:r>
            <a:r>
              <a:rPr sz="2700" spc="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</a:t>
            </a:r>
            <a:r>
              <a:rPr sz="2700" spc="-5" dirty="0">
                <a:latin typeface="Lucida Sans Unicode"/>
                <a:cs typeface="Lucida Sans Unicode"/>
              </a:rPr>
              <a:t> cl</a:t>
            </a:r>
            <a:r>
              <a:rPr sz="2700" spc="-10" dirty="0">
                <a:latin typeface="Lucida Sans Unicode"/>
                <a:cs typeface="Lucida Sans Unicode"/>
              </a:rPr>
              <a:t>a</a:t>
            </a:r>
            <a:r>
              <a:rPr sz="2700" dirty="0">
                <a:latin typeface="Lucida Sans Unicode"/>
                <a:cs typeface="Lucida Sans Unicode"/>
              </a:rPr>
              <a:t>ss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involves</a:t>
            </a:r>
            <a:endParaRPr sz="2700">
              <a:latin typeface="Lucida Sans Unicode"/>
              <a:cs typeface="Lucida Sans Unicode"/>
            </a:endParaRPr>
          </a:p>
          <a:p>
            <a:pPr marL="228600" marR="287020" lvl="1" indent="-228600" algn="r">
              <a:lnSpc>
                <a:spcPct val="100000"/>
              </a:lnSpc>
              <a:spcBef>
                <a:spcPts val="355"/>
              </a:spcBef>
              <a:buClr>
                <a:srgbClr val="2CA1BE"/>
              </a:buClr>
              <a:buFont typeface="Verdana"/>
              <a:buChar char="◦"/>
              <a:tabLst>
                <a:tab pos="228600" algn="l"/>
              </a:tabLst>
            </a:pPr>
            <a:r>
              <a:rPr sz="2300" dirty="0">
                <a:latin typeface="Lucida Sans Unicode"/>
                <a:cs typeface="Lucida Sans Unicode"/>
              </a:rPr>
              <a:t>Testing</a:t>
            </a:r>
            <a:r>
              <a:rPr sz="2300" spc="-4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all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operations</a:t>
            </a:r>
            <a:r>
              <a:rPr sz="2300" spc="-5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associated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with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an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object;</a:t>
            </a:r>
            <a:endParaRPr sz="23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30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latin typeface="Lucida Sans Unicode"/>
                <a:cs typeface="Lucida Sans Unicode"/>
              </a:rPr>
              <a:t>Setting</a:t>
            </a:r>
            <a:r>
              <a:rPr sz="2300" spc="-5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and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interrogating</a:t>
            </a:r>
            <a:r>
              <a:rPr sz="2300" spc="-7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all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object</a:t>
            </a:r>
            <a:r>
              <a:rPr sz="2300" spc="-2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attributes;</a:t>
            </a:r>
            <a:endParaRPr sz="23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30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latin typeface="Lucida Sans Unicode"/>
                <a:cs typeface="Lucida Sans Unicode"/>
              </a:rPr>
              <a:t>Exercising</a:t>
            </a:r>
            <a:r>
              <a:rPr sz="2300" spc="-8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the</a:t>
            </a:r>
            <a:r>
              <a:rPr sz="2300" spc="-1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object</a:t>
            </a:r>
            <a:r>
              <a:rPr sz="2300" spc="-1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in</a:t>
            </a:r>
            <a:r>
              <a:rPr sz="2300" spc="-30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all</a:t>
            </a:r>
            <a:r>
              <a:rPr sz="2300" spc="-35" dirty="0">
                <a:latin typeface="Lucida Sans Unicode"/>
                <a:cs typeface="Lucida Sans Unicode"/>
              </a:rPr>
              <a:t> </a:t>
            </a:r>
            <a:r>
              <a:rPr sz="2300" dirty="0">
                <a:latin typeface="Lucida Sans Unicode"/>
                <a:cs typeface="Lucida Sans Unicode"/>
              </a:rPr>
              <a:t>possible</a:t>
            </a:r>
            <a:r>
              <a:rPr sz="2300" spc="-5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states.</a:t>
            </a:r>
            <a:endParaRPr sz="2300">
              <a:latin typeface="Lucida Sans Unicode"/>
              <a:cs typeface="Lucida Sans Unicode"/>
            </a:endParaRPr>
          </a:p>
          <a:p>
            <a:pPr marL="268605" marR="5080" indent="-256540">
              <a:lnSpc>
                <a:spcPct val="100000"/>
              </a:lnSpc>
              <a:spcBef>
                <a:spcPts val="34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Inheritance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makes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it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more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difficult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design</a:t>
            </a:r>
            <a:r>
              <a:rPr sz="2700" spc="6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object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class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tests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as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information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spc="-25" dirty="0">
                <a:latin typeface="Lucida Sans Unicode"/>
                <a:cs typeface="Lucida Sans Unicode"/>
              </a:rPr>
              <a:t>be </a:t>
            </a:r>
            <a:r>
              <a:rPr sz="2700" dirty="0">
                <a:latin typeface="Lucida Sans Unicode"/>
                <a:cs typeface="Lucida Sans Unicode"/>
              </a:rPr>
              <a:t>tested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not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localised.</a:t>
            </a:r>
            <a:endParaRPr sz="27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71500"/>
            <a:ext cx="4933187" cy="5486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33829"/>
            <a:ext cx="7798434" cy="345884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68605" marR="69850" indent="-256540">
              <a:lnSpc>
                <a:spcPts val="2920"/>
              </a:lnSpc>
              <a:spcBef>
                <a:spcPts val="459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Involves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designing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cases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(inputs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spc="-450" dirty="0">
                <a:latin typeface="Lucida Sans Unicode"/>
                <a:cs typeface="Lucida Sans Unicode"/>
              </a:rPr>
              <a:t>and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outputs)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used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system.</a:t>
            </a:r>
            <a:endParaRPr sz="2700">
              <a:latin typeface="Lucida Sans Unicode"/>
              <a:cs typeface="Lucida Sans Unicode"/>
            </a:endParaRPr>
          </a:p>
          <a:p>
            <a:pPr marL="268605" marR="5080" indent="-256540">
              <a:lnSpc>
                <a:spcPts val="2920"/>
              </a:lnSpc>
              <a:spcBef>
                <a:spcPts val="40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goal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case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design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create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spc="-425" dirty="0">
                <a:latin typeface="Lucida Sans Unicode"/>
                <a:cs typeface="Lucida Sans Unicode"/>
              </a:rPr>
              <a:t>set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tests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that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are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effective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validation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spc="-25" dirty="0">
                <a:latin typeface="Lucida Sans Unicode"/>
                <a:cs typeface="Lucida Sans Unicode"/>
              </a:rPr>
              <a:t>and </a:t>
            </a:r>
            <a:r>
              <a:rPr sz="2700" dirty="0">
                <a:latin typeface="Lucida Sans Unicode"/>
                <a:cs typeface="Lucida Sans Unicode"/>
              </a:rPr>
              <a:t>defect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testing.</a:t>
            </a:r>
            <a:endParaRPr sz="2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268605" algn="l"/>
              </a:tabLst>
            </a:pPr>
            <a:r>
              <a:rPr sz="1800" spc="153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700" dirty="0">
                <a:latin typeface="Lucida Sans Unicode"/>
                <a:cs typeface="Lucida Sans Unicode"/>
              </a:rPr>
              <a:t>Design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ap</a:t>
            </a:r>
            <a:r>
              <a:rPr sz="2700" dirty="0">
                <a:latin typeface="Lucida Sans Unicode"/>
                <a:cs typeface="Lucida Sans Unicode"/>
              </a:rPr>
              <a:t>p</a:t>
            </a:r>
            <a:r>
              <a:rPr sz="2700" spc="-5" dirty="0">
                <a:latin typeface="Lucida Sans Unicode"/>
                <a:cs typeface="Lucida Sans Unicode"/>
              </a:rPr>
              <a:t>roaches:</a:t>
            </a:r>
            <a:endParaRPr sz="27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8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spc="-10" dirty="0">
                <a:latin typeface="Lucida Sans Unicode"/>
                <a:cs typeface="Lucida Sans Unicode"/>
              </a:rPr>
              <a:t>Requirements-</a:t>
            </a:r>
            <a:r>
              <a:rPr sz="2300" dirty="0">
                <a:latin typeface="Lucida Sans Unicode"/>
                <a:cs typeface="Lucida Sans Unicode"/>
              </a:rPr>
              <a:t>based</a:t>
            </a:r>
            <a:r>
              <a:rPr sz="2300" spc="-105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testing;</a:t>
            </a:r>
            <a:endParaRPr sz="23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20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latin typeface="Lucida Sans Unicode"/>
                <a:cs typeface="Lucida Sans Unicode"/>
              </a:rPr>
              <a:t>Partition</a:t>
            </a:r>
            <a:r>
              <a:rPr sz="2300" spc="-7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testing;</a:t>
            </a:r>
            <a:endParaRPr sz="2300">
              <a:latin typeface="Lucida Sans Unicode"/>
              <a:cs typeface="Lucida Sans Unicode"/>
            </a:endParaRPr>
          </a:p>
          <a:p>
            <a:pPr marL="524510" lvl="1" indent="-228600">
              <a:lnSpc>
                <a:spcPct val="100000"/>
              </a:lnSpc>
              <a:spcBef>
                <a:spcPts val="25"/>
              </a:spcBef>
              <a:buClr>
                <a:srgbClr val="2CA1BE"/>
              </a:buClr>
              <a:buFont typeface="Verdana"/>
              <a:buChar char="◦"/>
              <a:tabLst>
                <a:tab pos="524510" algn="l"/>
              </a:tabLst>
            </a:pPr>
            <a:r>
              <a:rPr sz="2300" dirty="0">
                <a:latin typeface="Lucida Sans Unicode"/>
                <a:cs typeface="Lucida Sans Unicode"/>
              </a:rPr>
              <a:t>Structural</a:t>
            </a:r>
            <a:r>
              <a:rPr sz="2300" spc="-100" dirty="0">
                <a:latin typeface="Lucida Sans Unicode"/>
                <a:cs typeface="Lucida Sans Unicode"/>
              </a:rPr>
              <a:t> </a:t>
            </a:r>
            <a:r>
              <a:rPr sz="2300" spc="-10" dirty="0">
                <a:latin typeface="Lucida Sans Unicode"/>
                <a:cs typeface="Lucida Sans Unicode"/>
              </a:rPr>
              <a:t>testing.</a:t>
            </a:r>
            <a:endParaRPr sz="23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1" y="571500"/>
            <a:ext cx="4206240" cy="5486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65834"/>
            <a:ext cx="7767320" cy="2957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300355" indent="-25654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A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general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principle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requirements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engineering</a:t>
            </a:r>
            <a:r>
              <a:rPr sz="2700" spc="-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that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requirements</a:t>
            </a:r>
            <a:r>
              <a:rPr sz="2700" spc="-7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should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spc="-25" dirty="0">
                <a:latin typeface="Lucida Sans Unicode"/>
                <a:cs typeface="Lucida Sans Unicode"/>
              </a:rPr>
              <a:t>be </a:t>
            </a:r>
            <a:r>
              <a:rPr sz="2700" spc="-10" dirty="0">
                <a:latin typeface="Lucida Sans Unicode"/>
                <a:cs typeface="Lucida Sans Unicode"/>
              </a:rPr>
              <a:t>testable.</a:t>
            </a:r>
            <a:endParaRPr sz="2700">
              <a:latin typeface="Lucida Sans Unicode"/>
              <a:cs typeface="Lucida Sans Unicode"/>
            </a:endParaRPr>
          </a:p>
          <a:p>
            <a:pPr marL="268605" marR="5080" indent="-25654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spc="-10" dirty="0">
                <a:latin typeface="Lucida Sans Unicode"/>
                <a:cs typeface="Lucida Sans Unicode"/>
              </a:rPr>
              <a:t>Requirements-</a:t>
            </a:r>
            <a:r>
              <a:rPr sz="2700" dirty="0">
                <a:latin typeface="Lucida Sans Unicode"/>
                <a:cs typeface="Lucida Sans Unicode"/>
              </a:rPr>
              <a:t>based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testing</a:t>
            </a:r>
            <a:r>
              <a:rPr sz="2700" spc="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 a</a:t>
            </a:r>
            <a:r>
              <a:rPr sz="2700" spc="1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validation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testing</a:t>
            </a:r>
            <a:r>
              <a:rPr sz="2700" spc="-6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technique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where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you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consider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each </a:t>
            </a:r>
            <a:r>
              <a:rPr sz="2700" dirty="0">
                <a:latin typeface="Lucida Sans Unicode"/>
                <a:cs typeface="Lucida Sans Unicode"/>
              </a:rPr>
              <a:t>requirement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and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derive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set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tests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for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that </a:t>
            </a:r>
            <a:r>
              <a:rPr sz="2700" spc="-10" dirty="0">
                <a:latin typeface="Lucida Sans Unicode"/>
                <a:cs typeface="Lucida Sans Unicode"/>
              </a:rPr>
              <a:t>requirement.</a:t>
            </a:r>
            <a:endParaRPr sz="27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644" y="571500"/>
            <a:ext cx="7013448" cy="5486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585216"/>
            <a:ext cx="5116068" cy="53035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4800" y="1828800"/>
            <a:ext cx="8458200" cy="3429000"/>
          </a:xfrm>
          <a:prstGeom prst="rect">
            <a:avLst/>
          </a:prstGeom>
          <a:solidFill>
            <a:srgbClr val="CC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700">
              <a:latin typeface="Times New Roman"/>
              <a:cs typeface="Times New Roman"/>
            </a:endParaRPr>
          </a:p>
          <a:p>
            <a:pPr marL="457200" marR="614680">
              <a:lnSpc>
                <a:spcPts val="2010"/>
              </a:lnSpc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user</a:t>
            </a:r>
            <a:r>
              <a:rPr sz="1700" spc="1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shall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able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search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either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all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initial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set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databases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1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select</a:t>
            </a:r>
            <a:r>
              <a:rPr sz="1700" spc="200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a </a:t>
            </a:r>
            <a:r>
              <a:rPr sz="1700" dirty="0">
                <a:latin typeface="Times New Roman"/>
                <a:cs typeface="Times New Roman"/>
              </a:rPr>
              <a:t>subset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from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it.</a:t>
            </a:r>
            <a:endParaRPr sz="1700">
              <a:latin typeface="Times New Roman"/>
              <a:cs typeface="Times New Roman"/>
            </a:endParaRPr>
          </a:p>
          <a:p>
            <a:pPr marL="457200" marR="614680">
              <a:lnSpc>
                <a:spcPts val="2010"/>
              </a:lnSpc>
              <a:spcBef>
                <a:spcPts val="1050"/>
              </a:spcBef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system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shall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provide</a:t>
            </a:r>
            <a:r>
              <a:rPr sz="1700" spc="1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appropriate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viewers</a:t>
            </a:r>
            <a:r>
              <a:rPr sz="1700" spc="1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user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read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documents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100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document</a:t>
            </a:r>
            <a:r>
              <a:rPr sz="1700" spc="14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store.</a:t>
            </a:r>
            <a:endParaRPr sz="1700">
              <a:latin typeface="Times New Roman"/>
              <a:cs typeface="Times New Roman"/>
            </a:endParaRPr>
          </a:p>
          <a:p>
            <a:pPr marL="457200" marR="619125">
              <a:lnSpc>
                <a:spcPts val="2010"/>
              </a:lnSpc>
              <a:spcBef>
                <a:spcPts val="1050"/>
              </a:spcBef>
            </a:pPr>
            <a:r>
              <a:rPr sz="1700" dirty="0">
                <a:latin typeface="Times New Roman"/>
                <a:cs typeface="Times New Roman"/>
              </a:rPr>
              <a:t>Every</a:t>
            </a:r>
            <a:r>
              <a:rPr sz="1700" spc="1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order</a:t>
            </a:r>
            <a:r>
              <a:rPr sz="1700" spc="18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shall</a:t>
            </a:r>
            <a:r>
              <a:rPr sz="1700" spc="1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allocated</a:t>
            </a:r>
            <a:r>
              <a:rPr sz="1700" spc="2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unique</a:t>
            </a:r>
            <a:r>
              <a:rPr sz="1700" spc="1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identifier</a:t>
            </a:r>
            <a:r>
              <a:rPr sz="1700" spc="1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(ORDER_ID)</a:t>
            </a:r>
            <a:r>
              <a:rPr sz="1700" spc="2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2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user</a:t>
            </a:r>
            <a:r>
              <a:rPr sz="1700" spc="13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shall </a:t>
            </a:r>
            <a:r>
              <a:rPr sz="1700" dirty="0">
                <a:latin typeface="Times New Roman"/>
                <a:cs typeface="Times New Roman"/>
              </a:rPr>
              <a:t>be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able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copy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spc="-100" dirty="0">
                <a:latin typeface="Times New Roman"/>
                <a:cs typeface="Times New Roman"/>
              </a:rPr>
              <a:t>ac</a:t>
            </a:r>
            <a:r>
              <a:rPr sz="1700" spc="-27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45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50" dirty="0">
                <a:latin typeface="Times New Roman"/>
                <a:cs typeface="Times New Roman"/>
              </a:rPr>
              <a:t>t</a:t>
            </a:r>
            <a:r>
              <a:rPr sz="1700" spc="-675" dirty="0">
                <a:latin typeface="Times New Roman"/>
                <a:cs typeface="Times New Roman"/>
              </a:rPr>
              <a:t>Õ</a:t>
            </a:r>
            <a:r>
              <a:rPr sz="1700" spc="30" dirty="0">
                <a:latin typeface="Times New Roman"/>
                <a:cs typeface="Times New Roman"/>
              </a:rPr>
              <a:t>s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permanent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storage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area.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585216"/>
            <a:ext cx="2958083" cy="43891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14400" y="1600200"/>
            <a:ext cx="7924800" cy="4419600"/>
          </a:xfrm>
          <a:custGeom>
            <a:avLst/>
            <a:gdLst/>
            <a:ahLst/>
            <a:cxnLst/>
            <a:rect l="l" t="t" r="r" b="b"/>
            <a:pathLst>
              <a:path w="7924800" h="4419600">
                <a:moveTo>
                  <a:pt x="7924800" y="0"/>
                </a:moveTo>
                <a:lnTo>
                  <a:pt x="0" y="0"/>
                </a:lnTo>
                <a:lnTo>
                  <a:pt x="0" y="4419600"/>
                </a:lnTo>
                <a:lnTo>
                  <a:pt x="7924800" y="4419600"/>
                </a:lnTo>
                <a:lnTo>
                  <a:pt x="792480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30336" y="1837830"/>
            <a:ext cx="5916930" cy="405828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61950" marR="31750" indent="-349885">
              <a:lnSpc>
                <a:spcPct val="97800"/>
              </a:lnSpc>
              <a:spcBef>
                <a:spcPts val="180"/>
              </a:spcBef>
              <a:buFont typeface="Symbol"/>
              <a:buChar char=""/>
              <a:tabLst>
                <a:tab pos="361950" algn="l"/>
              </a:tabLst>
            </a:pPr>
            <a:r>
              <a:rPr sz="1800" dirty="0">
                <a:latin typeface="Times New Roman"/>
                <a:cs typeface="Times New Roman"/>
              </a:rPr>
              <a:t>Initiate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search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searches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Times New Roman"/>
                <a:cs typeface="Times New Roman"/>
              </a:rPr>
              <a:t>for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items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known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to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present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known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present,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dirty="0">
                <a:latin typeface="Times New Roman"/>
                <a:cs typeface="Times New Roman"/>
              </a:rPr>
              <a:t>databases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includes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database.</a:t>
            </a:r>
            <a:endParaRPr sz="1800">
              <a:latin typeface="Times New Roman"/>
              <a:cs typeface="Times New Roman"/>
            </a:endParaRPr>
          </a:p>
          <a:p>
            <a:pPr marL="361950" indent="-349250">
              <a:lnSpc>
                <a:spcPts val="2075"/>
              </a:lnSpc>
              <a:buFont typeface="Symbol"/>
              <a:buChar char=""/>
              <a:tabLst>
                <a:tab pos="361950" algn="l"/>
              </a:tabLst>
            </a:pPr>
            <a:r>
              <a:rPr sz="1800" dirty="0">
                <a:latin typeface="Times New Roman"/>
                <a:cs typeface="Times New Roman"/>
              </a:rPr>
              <a:t>Initiate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searches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Times New Roman"/>
                <a:cs typeface="Times New Roman"/>
              </a:rPr>
              <a:t>for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items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known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present</a:t>
            </a:r>
            <a:endParaRPr sz="1800">
              <a:latin typeface="Times New Roman"/>
              <a:cs typeface="Times New Roman"/>
            </a:endParaRPr>
          </a:p>
          <a:p>
            <a:pPr marL="361950" marR="371475">
              <a:lnSpc>
                <a:spcPts val="2090"/>
              </a:lnSpc>
              <a:spcBef>
                <a:spcPts val="114"/>
              </a:spcBef>
            </a:pP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known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present,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databases </a:t>
            </a:r>
            <a:r>
              <a:rPr sz="1800" dirty="0">
                <a:latin typeface="Times New Roman"/>
                <a:cs typeface="Times New Roman"/>
              </a:rPr>
              <a:t>includes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databases</a:t>
            </a:r>
            <a:endParaRPr sz="1800">
              <a:latin typeface="Times New Roman"/>
              <a:cs typeface="Times New Roman"/>
            </a:endParaRPr>
          </a:p>
          <a:p>
            <a:pPr marL="361950" marR="5080" indent="-349885">
              <a:lnSpc>
                <a:spcPts val="2090"/>
              </a:lnSpc>
              <a:spcBef>
                <a:spcPts val="40"/>
              </a:spcBef>
              <a:buFont typeface="Symbol"/>
              <a:buChar char=""/>
              <a:tabLst>
                <a:tab pos="361950" algn="l"/>
              </a:tabLst>
            </a:pPr>
            <a:r>
              <a:rPr sz="1800" dirty="0">
                <a:latin typeface="Times New Roman"/>
                <a:cs typeface="Times New Roman"/>
              </a:rPr>
              <a:t>Initiate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searches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Times New Roman"/>
                <a:cs typeface="Times New Roman"/>
              </a:rPr>
              <a:t>for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items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known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present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known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present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where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databases</a:t>
            </a:r>
            <a:endParaRPr sz="1800">
              <a:latin typeface="Times New Roman"/>
              <a:cs typeface="Times New Roman"/>
            </a:endParaRPr>
          </a:p>
          <a:p>
            <a:pPr marL="361950">
              <a:lnSpc>
                <a:spcPts val="2039"/>
              </a:lnSpc>
            </a:pPr>
            <a:r>
              <a:rPr sz="1800" dirty="0">
                <a:latin typeface="Times New Roman"/>
                <a:cs typeface="Times New Roman"/>
              </a:rPr>
              <a:t>includes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databas</a:t>
            </a:r>
            <a:r>
              <a:rPr sz="1800" spc="-229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es.</a:t>
            </a:r>
            <a:endParaRPr sz="1800">
              <a:latin typeface="Times New Roman"/>
              <a:cs typeface="Times New Roman"/>
            </a:endParaRPr>
          </a:p>
          <a:p>
            <a:pPr marL="361950" marR="245745" indent="-349885">
              <a:lnSpc>
                <a:spcPct val="97700"/>
              </a:lnSpc>
              <a:spcBef>
                <a:spcPts val="15"/>
              </a:spcBef>
              <a:buFont typeface="Symbol"/>
              <a:buChar char=""/>
              <a:tabLst>
                <a:tab pos="361950" algn="l"/>
              </a:tabLst>
            </a:pPr>
            <a:r>
              <a:rPr sz="1800" dirty="0">
                <a:latin typeface="Times New Roman"/>
                <a:cs typeface="Times New Roman"/>
              </a:rPr>
              <a:t>Select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database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databas</a:t>
            </a:r>
            <a:r>
              <a:rPr sz="1800" spc="-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es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initiate </a:t>
            </a:r>
            <a:r>
              <a:rPr sz="1800" dirty="0">
                <a:latin typeface="Times New Roman"/>
                <a:cs typeface="Times New Roman"/>
              </a:rPr>
              <a:t>user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searches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items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known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presen</a:t>
            </a:r>
            <a:r>
              <a:rPr sz="1800" spc="-2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and </a:t>
            </a:r>
            <a:r>
              <a:rPr sz="1800" dirty="0">
                <a:latin typeface="Times New Roman"/>
                <a:cs typeface="Times New Roman"/>
              </a:rPr>
              <a:t>known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present.</a:t>
            </a:r>
            <a:endParaRPr sz="1800">
              <a:latin typeface="Times New Roman"/>
              <a:cs typeface="Times New Roman"/>
            </a:endParaRPr>
          </a:p>
          <a:p>
            <a:pPr marL="361950" marR="69850" indent="-349885">
              <a:lnSpc>
                <a:spcPct val="97700"/>
              </a:lnSpc>
              <a:spcBef>
                <a:spcPts val="20"/>
              </a:spcBef>
              <a:buFont typeface="Symbol"/>
              <a:buChar char=""/>
              <a:tabLst>
                <a:tab pos="361950" algn="l"/>
              </a:tabLst>
            </a:pPr>
            <a:r>
              <a:rPr sz="1800" dirty="0">
                <a:latin typeface="Times New Roman"/>
                <a:cs typeface="Times New Roman"/>
              </a:rPr>
              <a:t>Select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more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</a:t>
            </a:r>
            <a:r>
              <a:rPr sz="1800" spc="-145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one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database</a:t>
            </a:r>
            <a:r>
              <a:rPr sz="1800" spc="-190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Times New Roman"/>
                <a:cs typeface="Times New Roman"/>
              </a:rPr>
              <a:t>from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set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databases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initiate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searches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items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known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present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known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present.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1459"/>
            <a:ext cx="553466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Testing</a:t>
            </a:r>
            <a:r>
              <a:rPr sz="3900" b="1" spc="-6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Documentation</a:t>
            </a:r>
            <a:endParaRPr sz="3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72079"/>
            <a:ext cx="8073390" cy="41440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330066"/>
              </a:buClr>
              <a:buSzPct val="68750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Testing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documents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prepared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different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–</a:t>
            </a:r>
            <a:endParaRPr sz="2400" dirty="0">
              <a:latin typeface="Arial MT"/>
              <a:cs typeface="Arial MT"/>
            </a:endParaRPr>
          </a:p>
          <a:p>
            <a:pPr marL="704850" lvl="1" indent="-348615">
              <a:lnSpc>
                <a:spcPct val="100000"/>
              </a:lnSpc>
              <a:spcBef>
                <a:spcPts val="575"/>
              </a:spcBef>
              <a:buClr>
                <a:srgbClr val="669999"/>
              </a:buClr>
              <a:buSzPct val="68750"/>
              <a:buFont typeface="Wingdings"/>
              <a:buChar char=""/>
              <a:tabLst>
                <a:tab pos="704215" algn="l"/>
                <a:tab pos="705485" algn="l"/>
              </a:tabLst>
            </a:pPr>
            <a:r>
              <a:rPr sz="2400" spc="-5" dirty="0">
                <a:latin typeface="Arial MT"/>
                <a:cs typeface="Arial MT"/>
              </a:rPr>
              <a:t>Before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Testing</a:t>
            </a:r>
            <a:endParaRPr sz="2400" dirty="0">
              <a:latin typeface="Arial MT"/>
              <a:cs typeface="Arial MT"/>
            </a:endParaRPr>
          </a:p>
          <a:p>
            <a:pPr marL="1000125" marR="6350" lvl="2" indent="-294640" algn="just">
              <a:lnSpc>
                <a:spcPct val="100000"/>
              </a:lnSpc>
              <a:spcBef>
                <a:spcPts val="445"/>
              </a:spcBef>
              <a:buClr>
                <a:srgbClr val="CCCC00"/>
              </a:buClr>
              <a:buSzPct val="69444"/>
              <a:buFont typeface="Wingdings"/>
              <a:buChar char=""/>
              <a:tabLst>
                <a:tab pos="1000760" algn="l"/>
              </a:tabLst>
            </a:pPr>
            <a:r>
              <a:rPr sz="1800" spc="-5" dirty="0">
                <a:latin typeface="Arial MT"/>
                <a:cs typeface="Arial MT"/>
              </a:rPr>
              <a:t>Testing </a:t>
            </a:r>
            <a:r>
              <a:rPr sz="1800" dirty="0">
                <a:latin typeface="Arial MT"/>
                <a:cs typeface="Arial MT"/>
              </a:rPr>
              <a:t>starts </a:t>
            </a:r>
            <a:r>
              <a:rPr sz="1800" spc="-5" dirty="0">
                <a:latin typeface="Arial MT"/>
                <a:cs typeface="Arial MT"/>
              </a:rPr>
              <a:t>with </a:t>
            </a:r>
            <a:r>
              <a:rPr sz="1800" dirty="0">
                <a:latin typeface="Arial MT"/>
                <a:cs typeface="Arial MT"/>
              </a:rPr>
              <a:t>test </a:t>
            </a:r>
            <a:r>
              <a:rPr sz="1800" spc="-5" dirty="0">
                <a:latin typeface="Arial MT"/>
                <a:cs typeface="Arial MT"/>
              </a:rPr>
              <a:t>cases generation. Following documents are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needed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reference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–</a:t>
            </a:r>
          </a:p>
          <a:p>
            <a:pPr marL="1294130" lvl="3" indent="-293370" algn="just">
              <a:lnSpc>
                <a:spcPct val="100000"/>
              </a:lnSpc>
              <a:spcBef>
                <a:spcPts val="395"/>
              </a:spcBef>
              <a:buClr>
                <a:srgbClr val="330066"/>
              </a:buClr>
              <a:buSzPct val="75000"/>
              <a:buFont typeface="Wingdings"/>
              <a:buChar char=""/>
              <a:tabLst>
                <a:tab pos="1294765" algn="l"/>
              </a:tabLst>
            </a:pPr>
            <a:r>
              <a:rPr sz="1600" b="1" spc="-5" dirty="0">
                <a:latin typeface="Arial"/>
                <a:cs typeface="Arial"/>
              </a:rPr>
              <a:t>SRS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document</a:t>
            </a:r>
            <a:r>
              <a:rPr sz="1600" b="1" spc="30" dirty="0">
                <a:latin typeface="Arial"/>
                <a:cs typeface="Arial"/>
              </a:rPr>
              <a:t> </a:t>
            </a:r>
            <a:r>
              <a:rPr sz="1600" spc="-5" dirty="0">
                <a:latin typeface="Arial MT"/>
                <a:cs typeface="Arial MT"/>
              </a:rPr>
              <a:t>-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Functional Requirements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document</a:t>
            </a:r>
            <a:endParaRPr sz="1600" dirty="0">
              <a:latin typeface="Arial MT"/>
              <a:cs typeface="Arial MT"/>
            </a:endParaRPr>
          </a:p>
          <a:p>
            <a:pPr marL="1294130" lvl="3" indent="-293370" algn="just">
              <a:lnSpc>
                <a:spcPct val="100000"/>
              </a:lnSpc>
              <a:spcBef>
                <a:spcPts val="385"/>
              </a:spcBef>
              <a:buClr>
                <a:srgbClr val="330066"/>
              </a:buClr>
              <a:buSzPct val="75000"/>
              <a:buFont typeface="Wingdings"/>
              <a:buChar char=""/>
              <a:tabLst>
                <a:tab pos="1294765" algn="l"/>
              </a:tabLst>
            </a:pPr>
            <a:r>
              <a:rPr sz="1600" b="1" spc="-5" dirty="0">
                <a:latin typeface="Arial"/>
                <a:cs typeface="Arial"/>
              </a:rPr>
              <a:t>Test</a:t>
            </a:r>
            <a:r>
              <a:rPr sz="1600" b="1" spc="1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Policy</a:t>
            </a:r>
            <a:r>
              <a:rPr sz="1600" b="1" spc="10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document</a:t>
            </a:r>
            <a:r>
              <a:rPr sz="1600" b="1" spc="135" dirty="0">
                <a:latin typeface="Arial"/>
                <a:cs typeface="Arial"/>
              </a:rPr>
              <a:t> </a:t>
            </a:r>
            <a:r>
              <a:rPr sz="1600" spc="-5" dirty="0">
                <a:latin typeface="Arial MT"/>
                <a:cs typeface="Arial MT"/>
              </a:rPr>
              <a:t>-</a:t>
            </a:r>
            <a:r>
              <a:rPr sz="1600" spc="1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This</a:t>
            </a:r>
            <a:r>
              <a:rPr sz="1600" spc="114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describes</a:t>
            </a:r>
            <a:r>
              <a:rPr sz="1600" spc="1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how</a:t>
            </a:r>
            <a:r>
              <a:rPr sz="1600" spc="1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far</a:t>
            </a:r>
            <a:r>
              <a:rPr sz="1600" spc="1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testing</a:t>
            </a:r>
            <a:r>
              <a:rPr sz="1600" spc="114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should</a:t>
            </a:r>
            <a:r>
              <a:rPr sz="1600" spc="114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take</a:t>
            </a:r>
            <a:r>
              <a:rPr sz="1600" spc="114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place</a:t>
            </a:r>
          </a:p>
          <a:p>
            <a:pPr marL="1294130" algn="just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before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releasing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product.</a:t>
            </a:r>
            <a:endParaRPr sz="1600" dirty="0">
              <a:latin typeface="Arial MT"/>
              <a:cs typeface="Arial MT"/>
            </a:endParaRPr>
          </a:p>
          <a:p>
            <a:pPr marL="1294130" marR="6350" lvl="3" indent="-292735" algn="just">
              <a:lnSpc>
                <a:spcPct val="100000"/>
              </a:lnSpc>
              <a:spcBef>
                <a:spcPts val="385"/>
              </a:spcBef>
              <a:buClr>
                <a:srgbClr val="330066"/>
              </a:buClr>
              <a:buSzPct val="75000"/>
              <a:buFont typeface="Wingdings"/>
              <a:buChar char=""/>
              <a:tabLst>
                <a:tab pos="1294765" algn="l"/>
              </a:tabLst>
            </a:pPr>
            <a:r>
              <a:rPr sz="1600" b="1" spc="-5" dirty="0">
                <a:latin typeface="Arial"/>
                <a:cs typeface="Arial"/>
              </a:rPr>
              <a:t>Test</a:t>
            </a:r>
            <a:r>
              <a:rPr sz="1600" b="1" spc="409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Strategy</a:t>
            </a:r>
            <a:r>
              <a:rPr sz="1600" b="1" spc="42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document</a:t>
            </a:r>
            <a:r>
              <a:rPr sz="1600" b="1" spc="430" dirty="0">
                <a:latin typeface="Arial"/>
                <a:cs typeface="Arial"/>
              </a:rPr>
              <a:t> </a:t>
            </a:r>
            <a:r>
              <a:rPr sz="1600" spc="-5" dirty="0">
                <a:latin typeface="Arial MT"/>
                <a:cs typeface="Arial MT"/>
              </a:rPr>
              <a:t>-</a:t>
            </a:r>
            <a:r>
              <a:rPr sz="1600" spc="4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4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mentions</a:t>
            </a:r>
            <a:r>
              <a:rPr sz="1600" spc="4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detail</a:t>
            </a:r>
            <a:r>
              <a:rPr sz="1600" spc="4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aspects</a:t>
            </a:r>
            <a:r>
              <a:rPr sz="1600" spc="4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of  test</a:t>
            </a:r>
            <a:r>
              <a:rPr sz="1600" spc="4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team,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responsibility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matrix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rights/responsibility</a:t>
            </a:r>
            <a:r>
              <a:rPr sz="1600" dirty="0">
                <a:latin typeface="Arial MT"/>
                <a:cs typeface="Arial MT"/>
              </a:rPr>
              <a:t> of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test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manager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test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engineer.</a:t>
            </a:r>
            <a:endParaRPr sz="1600" dirty="0">
              <a:latin typeface="Arial MT"/>
              <a:cs typeface="Arial MT"/>
            </a:endParaRPr>
          </a:p>
          <a:p>
            <a:pPr marL="1294130" marR="5715" lvl="3" indent="-292735" algn="just">
              <a:lnSpc>
                <a:spcPct val="100000"/>
              </a:lnSpc>
              <a:spcBef>
                <a:spcPts val="385"/>
              </a:spcBef>
              <a:buClr>
                <a:srgbClr val="330066"/>
              </a:buClr>
              <a:buSzPct val="75000"/>
              <a:buFont typeface="Wingdings"/>
              <a:buChar char=""/>
              <a:tabLst>
                <a:tab pos="1294765" algn="l"/>
              </a:tabLst>
            </a:pPr>
            <a:r>
              <a:rPr sz="1600" b="1" dirty="0">
                <a:latin typeface="Arial"/>
                <a:cs typeface="Arial"/>
              </a:rPr>
              <a:t>Traceability </a:t>
            </a:r>
            <a:r>
              <a:rPr sz="1600" b="1" spc="-5" dirty="0">
                <a:latin typeface="Arial"/>
                <a:cs typeface="Arial"/>
              </a:rPr>
              <a:t>Matrix document </a:t>
            </a:r>
            <a:r>
              <a:rPr sz="1600" spc="-5" dirty="0">
                <a:latin typeface="Arial MT"/>
                <a:cs typeface="Arial MT"/>
              </a:rPr>
              <a:t>- This </a:t>
            </a:r>
            <a:r>
              <a:rPr sz="1600" spc="-10" dirty="0">
                <a:latin typeface="Arial MT"/>
                <a:cs typeface="Arial MT"/>
              </a:rPr>
              <a:t>is </a:t>
            </a:r>
            <a:r>
              <a:rPr sz="1600" spc="-5" dirty="0">
                <a:latin typeface="Arial MT"/>
                <a:cs typeface="Arial MT"/>
              </a:rPr>
              <a:t>SDLC document, which </a:t>
            </a:r>
            <a:r>
              <a:rPr sz="1600" dirty="0">
                <a:latin typeface="Arial MT"/>
                <a:cs typeface="Arial MT"/>
              </a:rPr>
              <a:t>is </a:t>
            </a:r>
            <a:r>
              <a:rPr sz="1600" spc="-5" dirty="0">
                <a:latin typeface="Arial MT"/>
                <a:cs typeface="Arial MT"/>
              </a:rPr>
              <a:t>related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 requirement gathering </a:t>
            </a:r>
            <a:r>
              <a:rPr sz="1600" dirty="0">
                <a:latin typeface="Arial MT"/>
                <a:cs typeface="Arial MT"/>
              </a:rPr>
              <a:t>process. </a:t>
            </a:r>
            <a:r>
              <a:rPr sz="1600" spc="-5" dirty="0">
                <a:latin typeface="Arial MT"/>
                <a:cs typeface="Arial MT"/>
              </a:rPr>
              <a:t>As new requirements come, </a:t>
            </a:r>
            <a:r>
              <a:rPr sz="1600" dirty="0">
                <a:latin typeface="Arial MT"/>
                <a:cs typeface="Arial MT"/>
              </a:rPr>
              <a:t>they are 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added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this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matrix.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These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matrices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help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testers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know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source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of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requirement.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They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can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traced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forward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backward.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1459"/>
            <a:ext cx="553466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Testing</a:t>
            </a:r>
            <a:r>
              <a:rPr sz="3900" b="1" spc="-6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Documentation</a:t>
            </a:r>
            <a:endParaRPr sz="3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8801" y="2104644"/>
            <a:ext cx="3190875" cy="680085"/>
            <a:chOff x="908801" y="2104644"/>
            <a:chExt cx="3190875" cy="6800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801" y="2360279"/>
              <a:ext cx="151405" cy="1549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0036" y="2104644"/>
              <a:ext cx="1165860" cy="6797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7380" y="2104644"/>
              <a:ext cx="1182624" cy="6797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63011" y="2104644"/>
              <a:ext cx="1336548" cy="67970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1672079"/>
            <a:ext cx="8073390" cy="42310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330066"/>
              </a:buClr>
              <a:buSzPct val="68750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Testing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documents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prepared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at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stages –</a:t>
            </a:r>
          </a:p>
          <a:p>
            <a:pPr marL="704850" lvl="1" indent="-348615">
              <a:lnSpc>
                <a:spcPct val="100000"/>
              </a:lnSpc>
              <a:spcBef>
                <a:spcPts val="575"/>
              </a:spcBef>
              <a:buClr>
                <a:srgbClr val="669999"/>
              </a:buClr>
              <a:buSzPct val="68750"/>
              <a:buFont typeface="Wingdings"/>
              <a:buChar char=""/>
              <a:tabLst>
                <a:tab pos="704215" algn="l"/>
                <a:tab pos="705485" algn="l"/>
              </a:tabLst>
            </a:pPr>
            <a:endParaRPr lang="en-US" sz="2400" dirty="0">
              <a:latin typeface="Arial MT"/>
              <a:cs typeface="Arial MT"/>
            </a:endParaRPr>
          </a:p>
          <a:p>
            <a:pPr marL="704850" marR="8255" lvl="1" indent="-347980" algn="just">
              <a:lnSpc>
                <a:spcPct val="100000"/>
              </a:lnSpc>
              <a:spcBef>
                <a:spcPts val="465"/>
              </a:spcBef>
              <a:buClr>
                <a:srgbClr val="669999"/>
              </a:buClr>
              <a:buSzPct val="68421"/>
              <a:buFont typeface="Wingdings"/>
              <a:buChar char=""/>
              <a:tabLst>
                <a:tab pos="705485" algn="l"/>
              </a:tabLst>
            </a:pPr>
            <a:r>
              <a:rPr sz="1900" spc="-5" dirty="0">
                <a:latin typeface="Arial MT"/>
                <a:cs typeface="Arial MT"/>
              </a:rPr>
              <a:t>The </a:t>
            </a:r>
            <a:r>
              <a:rPr sz="1900" dirty="0">
                <a:latin typeface="Arial MT"/>
                <a:cs typeface="Arial MT"/>
              </a:rPr>
              <a:t>following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documents </a:t>
            </a:r>
            <a:r>
              <a:rPr sz="1900" spc="-5" dirty="0">
                <a:latin typeface="Arial MT"/>
                <a:cs typeface="Arial MT"/>
              </a:rPr>
              <a:t>may </a:t>
            </a:r>
            <a:r>
              <a:rPr sz="1900" dirty="0">
                <a:latin typeface="Arial MT"/>
                <a:cs typeface="Arial MT"/>
              </a:rPr>
              <a:t>be required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spc="-5" dirty="0">
                <a:latin typeface="Arial MT"/>
                <a:cs typeface="Arial MT"/>
              </a:rPr>
              <a:t>while testing</a:t>
            </a:r>
            <a:r>
              <a:rPr sz="1900" spc="515" dirty="0">
                <a:latin typeface="Arial MT"/>
                <a:cs typeface="Arial MT"/>
              </a:rPr>
              <a:t> </a:t>
            </a:r>
            <a:r>
              <a:rPr sz="1900" spc="-5" dirty="0">
                <a:latin typeface="Arial MT"/>
                <a:cs typeface="Arial MT"/>
              </a:rPr>
              <a:t>is </a:t>
            </a:r>
            <a:r>
              <a:rPr sz="1900" dirty="0">
                <a:latin typeface="Arial MT"/>
                <a:cs typeface="Arial MT"/>
              </a:rPr>
              <a:t>started 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spc="-5" dirty="0">
                <a:latin typeface="Arial MT"/>
                <a:cs typeface="Arial MT"/>
              </a:rPr>
              <a:t>and</a:t>
            </a:r>
            <a:r>
              <a:rPr sz="1900" spc="5" dirty="0">
                <a:latin typeface="Arial MT"/>
                <a:cs typeface="Arial MT"/>
              </a:rPr>
              <a:t> </a:t>
            </a:r>
            <a:r>
              <a:rPr sz="1900" spc="-5" dirty="0">
                <a:latin typeface="Arial MT"/>
                <a:cs typeface="Arial MT"/>
              </a:rPr>
              <a:t>is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spc="-5" dirty="0">
                <a:latin typeface="Arial MT"/>
                <a:cs typeface="Arial MT"/>
              </a:rPr>
              <a:t>being</a:t>
            </a:r>
            <a:r>
              <a:rPr sz="1900" spc="30" dirty="0">
                <a:latin typeface="Arial MT"/>
                <a:cs typeface="Arial MT"/>
              </a:rPr>
              <a:t> </a:t>
            </a:r>
            <a:r>
              <a:rPr sz="1900" spc="-5" dirty="0">
                <a:latin typeface="Arial MT"/>
                <a:cs typeface="Arial MT"/>
              </a:rPr>
              <a:t>done:</a:t>
            </a:r>
            <a:endParaRPr sz="1900" dirty="0">
              <a:latin typeface="Arial MT"/>
              <a:cs typeface="Arial MT"/>
            </a:endParaRPr>
          </a:p>
          <a:p>
            <a:pPr marL="1000125" marR="5080" lvl="2" indent="-294640" algn="just">
              <a:lnSpc>
                <a:spcPct val="100000"/>
              </a:lnSpc>
              <a:spcBef>
                <a:spcPts val="434"/>
              </a:spcBef>
              <a:buClr>
                <a:srgbClr val="CCCC00"/>
              </a:buClr>
              <a:buSzPct val="69444"/>
              <a:buFont typeface="Wingdings"/>
              <a:buChar char=""/>
              <a:tabLst>
                <a:tab pos="1000760" algn="l"/>
              </a:tabLst>
            </a:pPr>
            <a:r>
              <a:rPr sz="1800" b="1" spc="-5" dirty="0">
                <a:latin typeface="Arial"/>
                <a:cs typeface="Arial"/>
              </a:rPr>
              <a:t>Test Case document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- </a:t>
            </a:r>
            <a:r>
              <a:rPr sz="1800" spc="-5" dirty="0">
                <a:latin typeface="Arial MT"/>
                <a:cs typeface="Arial MT"/>
              </a:rPr>
              <a:t>This document contains list</a:t>
            </a:r>
            <a:r>
              <a:rPr sz="1800" spc="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of tests required </a:t>
            </a:r>
            <a:r>
              <a:rPr sz="1800" dirty="0">
                <a:latin typeface="Arial MT"/>
                <a:cs typeface="Arial MT"/>
              </a:rPr>
              <a:t> 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conducted.</a:t>
            </a:r>
            <a:r>
              <a:rPr sz="1800" dirty="0">
                <a:latin typeface="Arial MT"/>
                <a:cs typeface="Arial MT"/>
              </a:rPr>
              <a:t> It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includes</a:t>
            </a:r>
            <a:r>
              <a:rPr sz="1800" spc="-5" dirty="0">
                <a:latin typeface="Arial MT"/>
                <a:cs typeface="Arial MT"/>
              </a:rPr>
              <a:t> Unit</a:t>
            </a:r>
            <a:r>
              <a:rPr sz="1800" dirty="0">
                <a:latin typeface="Arial MT"/>
                <a:cs typeface="Arial MT"/>
              </a:rPr>
              <a:t> test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plan,</a:t>
            </a:r>
            <a:r>
              <a:rPr sz="1800" spc="-5" dirty="0">
                <a:latin typeface="Arial MT"/>
                <a:cs typeface="Arial MT"/>
              </a:rPr>
              <a:t> Integration</a:t>
            </a:r>
            <a:r>
              <a:rPr sz="1800" dirty="0">
                <a:latin typeface="Arial MT"/>
                <a:cs typeface="Arial MT"/>
              </a:rPr>
              <a:t> test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plan, </a:t>
            </a:r>
            <a:r>
              <a:rPr sz="1800" spc="-5" dirty="0">
                <a:latin typeface="Arial MT"/>
                <a:cs typeface="Arial MT"/>
              </a:rPr>
              <a:t> System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test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plan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Acceptance</a:t>
            </a:r>
            <a:r>
              <a:rPr sz="1800" dirty="0">
                <a:latin typeface="Arial MT"/>
                <a:cs typeface="Arial MT"/>
              </a:rPr>
              <a:t> test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plan.</a:t>
            </a:r>
            <a:endParaRPr sz="1800" dirty="0">
              <a:latin typeface="Arial MT"/>
              <a:cs typeface="Arial MT"/>
            </a:endParaRPr>
          </a:p>
          <a:p>
            <a:pPr marL="1000125" marR="5080" lvl="2" indent="-294640" algn="just">
              <a:lnSpc>
                <a:spcPct val="100000"/>
              </a:lnSpc>
              <a:spcBef>
                <a:spcPts val="434"/>
              </a:spcBef>
              <a:buClr>
                <a:srgbClr val="CCCC00"/>
              </a:buClr>
              <a:buSzPct val="69444"/>
              <a:buFont typeface="Wingdings"/>
              <a:buChar char=""/>
              <a:tabLst>
                <a:tab pos="1000760" algn="l"/>
              </a:tabLst>
            </a:pPr>
            <a:r>
              <a:rPr sz="1800" b="1" spc="-5" dirty="0">
                <a:latin typeface="Arial"/>
                <a:cs typeface="Arial"/>
              </a:rPr>
              <a:t>Test description </a:t>
            </a:r>
            <a:r>
              <a:rPr sz="1800" dirty="0">
                <a:latin typeface="Arial MT"/>
                <a:cs typeface="Arial MT"/>
              </a:rPr>
              <a:t>- </a:t>
            </a:r>
            <a:r>
              <a:rPr sz="1800" spc="-5" dirty="0">
                <a:latin typeface="Arial MT"/>
                <a:cs typeface="Arial MT"/>
              </a:rPr>
              <a:t>This document is a detailed description of all test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cases and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procedures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execute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them.</a:t>
            </a:r>
            <a:endParaRPr sz="1800" dirty="0">
              <a:latin typeface="Arial MT"/>
              <a:cs typeface="Arial MT"/>
            </a:endParaRPr>
          </a:p>
          <a:p>
            <a:pPr marL="1000125" lvl="2" indent="-294640" algn="just">
              <a:lnSpc>
                <a:spcPct val="100000"/>
              </a:lnSpc>
              <a:spcBef>
                <a:spcPts val="434"/>
              </a:spcBef>
              <a:buClr>
                <a:srgbClr val="CCCC00"/>
              </a:buClr>
              <a:buSzPct val="69444"/>
              <a:buFont typeface="Wingdings"/>
              <a:buChar char=""/>
              <a:tabLst>
                <a:tab pos="1000760" algn="l"/>
              </a:tabLst>
            </a:pPr>
            <a:r>
              <a:rPr sz="1800" b="1" spc="-5" dirty="0">
                <a:latin typeface="Arial"/>
                <a:cs typeface="Arial"/>
              </a:rPr>
              <a:t>Test</a:t>
            </a:r>
            <a:r>
              <a:rPr sz="1800" b="1" spc="38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case</a:t>
            </a:r>
            <a:r>
              <a:rPr sz="1800" b="1" spc="3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report</a:t>
            </a:r>
            <a:r>
              <a:rPr sz="1800" b="1" spc="39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-</a:t>
            </a:r>
            <a:r>
              <a:rPr sz="1800" spc="3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3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document</a:t>
            </a:r>
            <a:r>
              <a:rPr sz="1800" spc="3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contains</a:t>
            </a:r>
            <a:r>
              <a:rPr sz="1800" spc="3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test</a:t>
            </a:r>
            <a:r>
              <a:rPr sz="1800" spc="3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case</a:t>
            </a:r>
            <a:r>
              <a:rPr sz="1800" spc="38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report</a:t>
            </a:r>
            <a:r>
              <a:rPr sz="1800" spc="39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as</a:t>
            </a:r>
            <a:r>
              <a:rPr sz="1800" spc="3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</a:p>
          <a:p>
            <a:pPr marL="1000125" algn="just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result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test.</a:t>
            </a:r>
          </a:p>
          <a:p>
            <a:pPr marL="1000125" marR="5080" lvl="2" indent="-294640" algn="just">
              <a:lnSpc>
                <a:spcPct val="100000"/>
              </a:lnSpc>
              <a:spcBef>
                <a:spcPts val="434"/>
              </a:spcBef>
              <a:buClr>
                <a:srgbClr val="CCCC00"/>
              </a:buClr>
              <a:buSzPct val="69444"/>
              <a:buFont typeface="Wingdings"/>
              <a:buChar char=""/>
              <a:tabLst>
                <a:tab pos="1000760" algn="l"/>
              </a:tabLst>
            </a:pPr>
            <a:r>
              <a:rPr sz="1800" b="1" spc="-5" dirty="0">
                <a:latin typeface="Arial"/>
                <a:cs typeface="Arial"/>
              </a:rPr>
              <a:t>Test </a:t>
            </a:r>
            <a:r>
              <a:rPr sz="1800" b="1" dirty="0">
                <a:latin typeface="Arial"/>
                <a:cs typeface="Arial"/>
              </a:rPr>
              <a:t>logs </a:t>
            </a:r>
            <a:r>
              <a:rPr sz="1800" dirty="0">
                <a:latin typeface="Arial MT"/>
                <a:cs typeface="Arial MT"/>
              </a:rPr>
              <a:t>- This </a:t>
            </a:r>
            <a:r>
              <a:rPr sz="1800" spc="-5" dirty="0">
                <a:latin typeface="Arial MT"/>
                <a:cs typeface="Arial MT"/>
              </a:rPr>
              <a:t>document contains </a:t>
            </a:r>
            <a:r>
              <a:rPr sz="1800" dirty="0">
                <a:latin typeface="Arial MT"/>
                <a:cs typeface="Arial MT"/>
              </a:rPr>
              <a:t>test </a:t>
            </a:r>
            <a:r>
              <a:rPr sz="1800" spc="-5" dirty="0">
                <a:latin typeface="Arial MT"/>
                <a:cs typeface="Arial MT"/>
              </a:rPr>
              <a:t>logs </a:t>
            </a:r>
            <a:r>
              <a:rPr sz="1800" dirty="0">
                <a:latin typeface="Arial MT"/>
                <a:cs typeface="Arial MT"/>
              </a:rPr>
              <a:t>for </a:t>
            </a:r>
            <a:r>
              <a:rPr sz="1800" spc="-5" dirty="0">
                <a:latin typeface="Arial MT"/>
                <a:cs typeface="Arial MT"/>
              </a:rPr>
              <a:t>every </a:t>
            </a:r>
            <a:r>
              <a:rPr sz="1800" dirty="0">
                <a:latin typeface="Arial MT"/>
                <a:cs typeface="Arial MT"/>
              </a:rPr>
              <a:t>test </a:t>
            </a:r>
            <a:r>
              <a:rPr sz="1800" spc="-5" dirty="0">
                <a:latin typeface="Arial MT"/>
                <a:cs typeface="Arial MT"/>
              </a:rPr>
              <a:t>case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report.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1459"/>
            <a:ext cx="553466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Testing</a:t>
            </a:r>
            <a:r>
              <a:rPr sz="3900" b="1" spc="-6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330066"/>
                </a:solidFill>
                <a:latin typeface="Arial"/>
                <a:cs typeface="Arial"/>
              </a:rPr>
              <a:t>Documentation</a:t>
            </a:r>
            <a:endParaRPr sz="3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08801" y="2104644"/>
            <a:ext cx="2427605" cy="680085"/>
            <a:chOff x="908801" y="2104644"/>
            <a:chExt cx="2427605" cy="6800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801" y="2360279"/>
              <a:ext cx="151405" cy="1549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0036" y="2104644"/>
              <a:ext cx="2286000" cy="679703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35940" y="1672079"/>
            <a:ext cx="8074025" cy="3053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330066"/>
              </a:buClr>
              <a:buSzPct val="68750"/>
              <a:buFont typeface="Wingdings"/>
              <a:buChar char=""/>
              <a:tabLst>
                <a:tab pos="354965" algn="l"/>
                <a:tab pos="355600" algn="l"/>
              </a:tabLst>
            </a:pPr>
            <a:r>
              <a:rPr sz="2400" spc="-5" dirty="0">
                <a:latin typeface="Arial MT"/>
                <a:cs typeface="Arial MT"/>
              </a:rPr>
              <a:t>Testing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documents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prepared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different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–</a:t>
            </a:r>
            <a:endParaRPr sz="2400" dirty="0">
              <a:latin typeface="Arial MT"/>
              <a:cs typeface="Arial MT"/>
            </a:endParaRPr>
          </a:p>
          <a:p>
            <a:pPr marL="704850" lvl="1" indent="-348615">
              <a:lnSpc>
                <a:spcPct val="100000"/>
              </a:lnSpc>
              <a:spcBef>
                <a:spcPts val="575"/>
              </a:spcBef>
              <a:buClr>
                <a:srgbClr val="669999"/>
              </a:buClr>
              <a:buSzPct val="68750"/>
              <a:buFont typeface="Wingdings"/>
              <a:buChar char=""/>
              <a:tabLst>
                <a:tab pos="704215" algn="l"/>
                <a:tab pos="705485" algn="l"/>
              </a:tabLst>
            </a:pPr>
            <a:endParaRPr sz="2400" dirty="0">
              <a:latin typeface="Arial"/>
              <a:cs typeface="Arial"/>
            </a:endParaRPr>
          </a:p>
          <a:p>
            <a:pPr marL="704850" marR="6350" lvl="1" indent="-347980" algn="just">
              <a:lnSpc>
                <a:spcPct val="100000"/>
              </a:lnSpc>
              <a:spcBef>
                <a:spcPts val="580"/>
              </a:spcBef>
              <a:buClr>
                <a:srgbClr val="669999"/>
              </a:buClr>
              <a:buSzPct val="68750"/>
              <a:buFont typeface="Wingdings"/>
              <a:buChar char=""/>
              <a:tabLst>
                <a:tab pos="705485" algn="l"/>
              </a:tabLst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following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documents</a:t>
            </a:r>
            <a:r>
              <a:rPr sz="2400" dirty="0">
                <a:latin typeface="Arial MT"/>
                <a:cs typeface="Arial MT"/>
              </a:rPr>
              <a:t> may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generated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after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testing </a:t>
            </a:r>
            <a:r>
              <a:rPr sz="2400" dirty="0">
                <a:latin typeface="Arial MT"/>
                <a:cs typeface="Arial MT"/>
              </a:rPr>
              <a:t>:</a:t>
            </a:r>
          </a:p>
          <a:p>
            <a:pPr marL="1000125" marR="5080" lvl="2" indent="-294640" algn="just">
              <a:lnSpc>
                <a:spcPct val="100000"/>
              </a:lnSpc>
              <a:spcBef>
                <a:spcPts val="505"/>
              </a:spcBef>
              <a:buClr>
                <a:srgbClr val="CCCC00"/>
              </a:buClr>
              <a:buSzPct val="69047"/>
              <a:buFont typeface="Wingdings"/>
              <a:buChar char=""/>
              <a:tabLst>
                <a:tab pos="1000760" algn="l"/>
              </a:tabLst>
            </a:pPr>
            <a:r>
              <a:rPr sz="2100" b="1" spc="-5" dirty="0">
                <a:latin typeface="Arial"/>
                <a:cs typeface="Arial"/>
              </a:rPr>
              <a:t>Test summary </a:t>
            </a:r>
            <a:r>
              <a:rPr sz="2100" dirty="0">
                <a:latin typeface="Arial MT"/>
                <a:cs typeface="Arial MT"/>
              </a:rPr>
              <a:t>- This test </a:t>
            </a:r>
            <a:r>
              <a:rPr sz="2100" spc="-5" dirty="0">
                <a:latin typeface="Arial MT"/>
                <a:cs typeface="Arial MT"/>
              </a:rPr>
              <a:t>summary </a:t>
            </a:r>
            <a:r>
              <a:rPr sz="2100" dirty="0">
                <a:latin typeface="Arial MT"/>
                <a:cs typeface="Arial MT"/>
              </a:rPr>
              <a:t>is </a:t>
            </a:r>
            <a:r>
              <a:rPr sz="2100" spc="-5" dirty="0">
                <a:latin typeface="Arial MT"/>
                <a:cs typeface="Arial MT"/>
              </a:rPr>
              <a:t>collective </a:t>
            </a:r>
            <a:r>
              <a:rPr sz="2100" spc="-10" dirty="0">
                <a:latin typeface="Arial MT"/>
                <a:cs typeface="Arial MT"/>
              </a:rPr>
              <a:t>analysis </a:t>
            </a:r>
            <a:r>
              <a:rPr sz="2100" spc="-5" dirty="0">
                <a:latin typeface="Arial MT"/>
                <a:cs typeface="Arial MT"/>
              </a:rPr>
              <a:t>of </a:t>
            </a:r>
            <a:r>
              <a:rPr sz="210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all </a:t>
            </a:r>
            <a:r>
              <a:rPr sz="2100" dirty="0">
                <a:latin typeface="Arial MT"/>
                <a:cs typeface="Arial MT"/>
              </a:rPr>
              <a:t>test </a:t>
            </a:r>
            <a:r>
              <a:rPr sz="2100" spc="-5" dirty="0">
                <a:latin typeface="Arial MT"/>
                <a:cs typeface="Arial MT"/>
              </a:rPr>
              <a:t>reports and logs. </a:t>
            </a:r>
            <a:r>
              <a:rPr sz="2100" dirty="0">
                <a:latin typeface="Arial MT"/>
                <a:cs typeface="Arial MT"/>
              </a:rPr>
              <a:t>It </a:t>
            </a:r>
            <a:r>
              <a:rPr sz="2100" spc="-5" dirty="0">
                <a:latin typeface="Arial MT"/>
                <a:cs typeface="Arial MT"/>
              </a:rPr>
              <a:t>summarizes and concludes </a:t>
            </a:r>
            <a:r>
              <a:rPr sz="2100" spc="-10" dirty="0">
                <a:latin typeface="Arial MT"/>
                <a:cs typeface="Arial MT"/>
              </a:rPr>
              <a:t>if the </a:t>
            </a:r>
            <a:r>
              <a:rPr sz="2100" spc="-5" dirty="0">
                <a:latin typeface="Arial MT"/>
                <a:cs typeface="Arial MT"/>
              </a:rPr>
              <a:t> software </a:t>
            </a:r>
            <a:r>
              <a:rPr sz="2100" spc="-10" dirty="0">
                <a:latin typeface="Arial MT"/>
                <a:cs typeface="Arial MT"/>
              </a:rPr>
              <a:t>is ready </a:t>
            </a:r>
            <a:r>
              <a:rPr sz="2100" dirty="0">
                <a:latin typeface="Arial MT"/>
                <a:cs typeface="Arial MT"/>
              </a:rPr>
              <a:t>to </a:t>
            </a:r>
            <a:r>
              <a:rPr sz="2100" spc="-5" dirty="0">
                <a:latin typeface="Arial MT"/>
                <a:cs typeface="Arial MT"/>
              </a:rPr>
              <a:t>be launched. </a:t>
            </a:r>
            <a:r>
              <a:rPr sz="2100" dirty="0">
                <a:latin typeface="Arial MT"/>
                <a:cs typeface="Arial MT"/>
              </a:rPr>
              <a:t>The </a:t>
            </a:r>
            <a:r>
              <a:rPr sz="2100" spc="-5" dirty="0">
                <a:latin typeface="Arial MT"/>
                <a:cs typeface="Arial MT"/>
              </a:rPr>
              <a:t>software is released </a:t>
            </a:r>
            <a:r>
              <a:rPr sz="210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under</a:t>
            </a:r>
            <a:r>
              <a:rPr sz="2100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version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control</a:t>
            </a:r>
            <a:r>
              <a:rPr sz="2100" spc="-1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system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if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5" dirty="0">
                <a:latin typeface="Arial MT"/>
                <a:cs typeface="Arial MT"/>
              </a:rPr>
              <a:t> is ready</a:t>
            </a:r>
            <a:r>
              <a:rPr sz="2100" spc="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5" dirty="0">
                <a:latin typeface="Arial MT"/>
                <a:cs typeface="Arial MT"/>
              </a:rPr>
              <a:t>launch.</a:t>
            </a:r>
            <a:endParaRPr sz="2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252044" y="260350"/>
            <a:ext cx="7643495" cy="1440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ts val="3225"/>
              </a:lnSpc>
            </a:pPr>
            <a:r>
              <a:rPr sz="2800" b="1" spc="-5" dirty="0">
                <a:solidFill>
                  <a:srgbClr val="330066"/>
                </a:solidFill>
                <a:latin typeface="Arial"/>
                <a:cs typeface="Arial"/>
              </a:rPr>
              <a:t>Testing</a:t>
            </a:r>
            <a:r>
              <a:rPr sz="2800" b="1" spc="1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330066"/>
                </a:solidFill>
                <a:latin typeface="Arial"/>
                <a:cs typeface="Arial"/>
              </a:rPr>
              <a:t>vs. Quality</a:t>
            </a:r>
            <a:r>
              <a:rPr sz="2800" b="1" spc="1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330066"/>
                </a:solidFill>
                <a:latin typeface="Arial"/>
                <a:cs typeface="Arial"/>
              </a:rPr>
              <a:t>Control,</a:t>
            </a:r>
            <a:r>
              <a:rPr sz="2800" b="1" spc="1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330066"/>
                </a:solidFill>
                <a:latin typeface="Arial"/>
                <a:cs typeface="Arial"/>
              </a:rPr>
              <a:t>Quality</a:t>
            </a:r>
            <a:endParaRPr sz="2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800" b="1" spc="-5" dirty="0">
                <a:solidFill>
                  <a:srgbClr val="330066"/>
                </a:solidFill>
                <a:latin typeface="Arial"/>
                <a:cs typeface="Arial"/>
              </a:rPr>
              <a:t>Assurance</a:t>
            </a:r>
            <a:r>
              <a:rPr sz="2800" b="1" spc="1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330066"/>
                </a:solidFill>
                <a:latin typeface="Arial"/>
                <a:cs typeface="Arial"/>
              </a:rPr>
              <a:t>and</a:t>
            </a:r>
            <a:r>
              <a:rPr sz="2800" b="1" spc="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330066"/>
                </a:solidFill>
                <a:latin typeface="Arial"/>
                <a:cs typeface="Arial"/>
              </a:rPr>
              <a:t>Audit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7248" y="1797557"/>
            <a:ext cx="869950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Clr>
                <a:srgbClr val="330066"/>
              </a:buClr>
              <a:buSzPct val="69642"/>
              <a:buFont typeface="Wingdings"/>
              <a:buChar char=""/>
              <a:tabLst>
                <a:tab pos="355600" algn="l"/>
              </a:tabLst>
            </a:pPr>
            <a:r>
              <a:rPr sz="2800" spc="-5" dirty="0">
                <a:latin typeface="Arial MT"/>
                <a:cs typeface="Arial MT"/>
              </a:rPr>
              <a:t>We</a:t>
            </a:r>
            <a:r>
              <a:rPr sz="2800" dirty="0">
                <a:latin typeface="Arial MT"/>
                <a:cs typeface="Arial MT"/>
              </a:rPr>
              <a:t> need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dirty="0">
                <a:latin typeface="Arial MT"/>
                <a:cs typeface="Arial MT"/>
              </a:rPr>
              <a:t> understand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software</a:t>
            </a:r>
            <a:r>
              <a:rPr sz="2800" dirty="0">
                <a:latin typeface="Arial MT"/>
                <a:cs typeface="Arial MT"/>
              </a:rPr>
              <a:t> testing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is </a:t>
            </a:r>
            <a:r>
              <a:rPr sz="2800" dirty="0">
                <a:latin typeface="Arial MT"/>
                <a:cs typeface="Arial MT"/>
              </a:rPr>
              <a:t> different </a:t>
            </a:r>
            <a:r>
              <a:rPr sz="2800" spc="-5" dirty="0">
                <a:latin typeface="Arial MT"/>
                <a:cs typeface="Arial MT"/>
              </a:rPr>
              <a:t>from software </a:t>
            </a:r>
            <a:r>
              <a:rPr sz="2800" dirty="0">
                <a:latin typeface="Arial MT"/>
                <a:cs typeface="Arial MT"/>
              </a:rPr>
              <a:t>quality </a:t>
            </a:r>
            <a:r>
              <a:rPr sz="2800" spc="-5" dirty="0">
                <a:latin typeface="Arial MT"/>
                <a:cs typeface="Arial MT"/>
              </a:rPr>
              <a:t>assurance, software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quality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control and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software</a:t>
            </a:r>
            <a:r>
              <a:rPr sz="2800" dirty="0">
                <a:latin typeface="Arial MT"/>
                <a:cs typeface="Arial MT"/>
              </a:rPr>
              <a:t> auditing.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0220" y="3200400"/>
            <a:ext cx="5300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indent="-347980">
              <a:lnSpc>
                <a:spcPct val="100000"/>
              </a:lnSpc>
              <a:spcBef>
                <a:spcPts val="100"/>
              </a:spcBef>
              <a:buClr>
                <a:srgbClr val="669999"/>
              </a:buClr>
              <a:buSzPct val="68750"/>
              <a:buFont typeface="Wingdings"/>
              <a:buChar char=""/>
              <a:tabLst>
                <a:tab pos="360045" algn="l"/>
                <a:tab pos="360680" algn="l"/>
                <a:tab pos="994410" algn="l"/>
                <a:tab pos="2539365" algn="l"/>
                <a:tab pos="3778885" algn="l"/>
              </a:tabLst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(1)	Software	quality	assurance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41897" y="3202939"/>
            <a:ext cx="28428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2105" algn="l"/>
                <a:tab pos="1271270" algn="l"/>
                <a:tab pos="1871980" algn="l"/>
              </a:tabLst>
            </a:pPr>
            <a:r>
              <a:rPr sz="2000" dirty="0">
                <a:latin typeface="Arial MT"/>
                <a:cs typeface="Arial MT"/>
              </a:rPr>
              <a:t>-	T</a:t>
            </a:r>
            <a:r>
              <a:rPr sz="2000" spc="-10" dirty="0">
                <a:latin typeface="Arial MT"/>
                <a:cs typeface="Arial MT"/>
              </a:rPr>
              <a:t>he</a:t>
            </a:r>
            <a:r>
              <a:rPr sz="2000" dirty="0">
                <a:latin typeface="Arial MT"/>
                <a:cs typeface="Arial MT"/>
              </a:rPr>
              <a:t>se	</a:t>
            </a:r>
            <a:r>
              <a:rPr sz="2000" spc="-10" dirty="0">
                <a:latin typeface="Arial MT"/>
                <a:cs typeface="Arial MT"/>
              </a:rPr>
              <a:t>a</a:t>
            </a:r>
            <a:r>
              <a:rPr sz="2000" dirty="0">
                <a:latin typeface="Arial MT"/>
                <a:cs typeface="Arial MT"/>
              </a:rPr>
              <a:t>re	so</a:t>
            </a:r>
            <a:r>
              <a:rPr sz="2000" spc="-10" dirty="0">
                <a:latin typeface="Arial MT"/>
                <a:cs typeface="Arial MT"/>
              </a:rPr>
              <a:t>f</a:t>
            </a:r>
            <a:r>
              <a:rPr sz="2000" spc="-20" dirty="0">
                <a:latin typeface="Arial MT"/>
                <a:cs typeface="Arial MT"/>
              </a:rPr>
              <a:t>t</a:t>
            </a:r>
            <a:r>
              <a:rPr sz="2000" dirty="0">
                <a:latin typeface="Arial MT"/>
                <a:cs typeface="Arial MT"/>
              </a:rPr>
              <a:t>wa</a:t>
            </a:r>
            <a:r>
              <a:rPr sz="2000" spc="-10" dirty="0">
                <a:latin typeface="Arial MT"/>
                <a:cs typeface="Arial MT"/>
              </a:rPr>
              <a:t>r</a:t>
            </a:r>
            <a:r>
              <a:rPr sz="2000" dirty="0">
                <a:latin typeface="Arial MT"/>
                <a:cs typeface="Arial MT"/>
              </a:rPr>
              <a:t>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1672" y="3518661"/>
            <a:ext cx="8357234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0045" marR="825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development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process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monitoring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means,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it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assured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that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measures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taken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standards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organization.</a:t>
            </a:r>
          </a:p>
          <a:p>
            <a:pPr marL="360045" indent="-347980">
              <a:lnSpc>
                <a:spcPct val="100000"/>
              </a:lnSpc>
              <a:spcBef>
                <a:spcPts val="475"/>
              </a:spcBef>
              <a:buClr>
                <a:srgbClr val="669999"/>
              </a:buClr>
              <a:buSzPct val="70000"/>
              <a:buFont typeface="Wingdings"/>
              <a:buChar char=""/>
              <a:tabLst>
                <a:tab pos="360045" algn="l"/>
                <a:tab pos="360680" algn="l"/>
                <a:tab pos="1078230" algn="l"/>
                <a:tab pos="2501265" algn="l"/>
                <a:tab pos="2921000" algn="l"/>
                <a:tab pos="3722370" algn="l"/>
                <a:tab pos="4170679" algn="l"/>
                <a:tab pos="5026025" algn="l"/>
                <a:tab pos="5757545" algn="l"/>
                <a:tab pos="6414135" algn="l"/>
                <a:tab pos="7383780" algn="l"/>
              </a:tabLst>
            </a:pPr>
            <a:r>
              <a:rPr sz="2000" dirty="0">
                <a:latin typeface="Arial MT"/>
                <a:cs typeface="Arial MT"/>
              </a:rPr>
              <a:t>This	monitoring	</a:t>
            </a:r>
            <a:r>
              <a:rPr sz="2000" spc="-5" dirty="0">
                <a:latin typeface="Arial MT"/>
                <a:cs typeface="Arial MT"/>
              </a:rPr>
              <a:t>is	done	to	make	</a:t>
            </a:r>
            <a:r>
              <a:rPr sz="2000" dirty="0">
                <a:latin typeface="Arial MT"/>
                <a:cs typeface="Arial MT"/>
              </a:rPr>
              <a:t>sure	</a:t>
            </a:r>
            <a:r>
              <a:rPr sz="2000" spc="-5" dirty="0">
                <a:latin typeface="Arial MT"/>
                <a:cs typeface="Arial MT"/>
              </a:rPr>
              <a:t>that	proper	software</a:t>
            </a:r>
            <a:endParaRPr sz="2000" dirty="0">
              <a:latin typeface="Arial MT"/>
              <a:cs typeface="Arial MT"/>
            </a:endParaRPr>
          </a:p>
          <a:p>
            <a:pPr marL="36004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development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methods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followed.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577215" y="1676400"/>
            <a:ext cx="574738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330066"/>
              </a:buClr>
              <a:buSzPct val="69642"/>
              <a:buFont typeface="Wingdings"/>
              <a:buChar char=""/>
              <a:tabLst>
                <a:tab pos="354965" algn="l"/>
                <a:tab pos="355600" algn="l"/>
                <a:tab pos="1061085" algn="l"/>
                <a:tab pos="2834005" algn="l"/>
              </a:tabLst>
            </a:pP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(2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800" b="1" spc="-1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800" b="1" spc="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ware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	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qu</a:t>
            </a:r>
            <a:r>
              <a:rPr sz="280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li</a:t>
            </a:r>
            <a:r>
              <a:rPr sz="2800" b="1" spc="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00" b="1" spc="-5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lang="en-US" sz="2800" b="1" spc="-5" dirty="0">
                <a:solidFill>
                  <a:srgbClr val="FF0000"/>
                </a:solidFill>
                <a:latin typeface="Arial"/>
                <a:cs typeface="Arial"/>
              </a:rPr>
              <a:t> control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1596" y="2228164"/>
            <a:ext cx="7777480" cy="354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9690" marR="5080" algn="just">
              <a:lnSpc>
                <a:spcPct val="100000"/>
              </a:lnSpc>
              <a:spcBef>
                <a:spcPts val="105"/>
              </a:spcBef>
            </a:pPr>
            <a:r>
              <a:rPr lang="en-US" sz="3200" dirty="0">
                <a:latin typeface="Arial MT"/>
                <a:cs typeface="Arial MT"/>
              </a:rPr>
              <a:t>This is a </a:t>
            </a:r>
            <a:r>
              <a:rPr sz="3200" dirty="0">
                <a:latin typeface="Arial MT"/>
                <a:cs typeface="Arial MT"/>
              </a:rPr>
              <a:t>system </a:t>
            </a:r>
            <a:r>
              <a:rPr sz="3200" spc="-10" dirty="0">
                <a:latin typeface="Arial MT"/>
                <a:cs typeface="Arial MT"/>
              </a:rPr>
              <a:t>to </a:t>
            </a:r>
            <a:r>
              <a:rPr sz="3200" spc="-5" dirty="0">
                <a:latin typeface="Arial MT"/>
                <a:cs typeface="Arial MT"/>
              </a:rPr>
              <a:t>maintain the quality of software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product.</a:t>
            </a:r>
            <a:endParaRPr sz="3200" dirty="0">
              <a:latin typeface="Arial MT"/>
              <a:cs typeface="Arial MT"/>
            </a:endParaRPr>
          </a:p>
          <a:p>
            <a:pPr marL="355600" marR="5715" indent="-343535" algn="just">
              <a:lnSpc>
                <a:spcPct val="100000"/>
              </a:lnSpc>
              <a:spcBef>
                <a:spcPts val="690"/>
              </a:spcBef>
              <a:buClr>
                <a:srgbClr val="330066"/>
              </a:buClr>
              <a:buSzPct val="69642"/>
              <a:buFont typeface="Wingdings"/>
              <a:buChar char=""/>
              <a:tabLst>
                <a:tab pos="356235" algn="l"/>
              </a:tabLst>
            </a:pPr>
            <a:r>
              <a:rPr sz="2800" spc="-5" dirty="0">
                <a:latin typeface="Arial MT"/>
                <a:cs typeface="Arial MT"/>
              </a:rPr>
              <a:t>It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may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include</a:t>
            </a:r>
            <a:r>
              <a:rPr sz="2800" dirty="0">
                <a:latin typeface="Arial MT"/>
                <a:cs typeface="Arial MT"/>
              </a:rPr>
              <a:t> functional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non-functional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aspects</a:t>
            </a:r>
            <a:r>
              <a:rPr sz="2800" spc="7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75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software</a:t>
            </a:r>
            <a:r>
              <a:rPr sz="2800" spc="7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product,</a:t>
            </a:r>
            <a:r>
              <a:rPr sz="2800" spc="75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which</a:t>
            </a:r>
            <a:r>
              <a:rPr sz="2800" spc="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enhance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goodwill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organization.</a:t>
            </a:r>
          </a:p>
          <a:p>
            <a:pPr marL="355600" marR="5715" indent="-343535" algn="just">
              <a:lnSpc>
                <a:spcPct val="100000"/>
              </a:lnSpc>
              <a:spcBef>
                <a:spcPts val="595"/>
              </a:spcBef>
              <a:buClr>
                <a:srgbClr val="330066"/>
              </a:buClr>
              <a:buSzPct val="68750"/>
              <a:buFont typeface="Wingdings"/>
              <a:buChar char=""/>
              <a:tabLst>
                <a:tab pos="356235" algn="l"/>
              </a:tabLst>
            </a:pPr>
            <a:r>
              <a:rPr sz="2400" spc="-5" dirty="0">
                <a:latin typeface="Arial MT"/>
                <a:cs typeface="Arial MT"/>
              </a:rPr>
              <a:t>This </a:t>
            </a:r>
            <a:r>
              <a:rPr sz="2400" dirty="0">
                <a:latin typeface="Arial MT"/>
                <a:cs typeface="Arial MT"/>
              </a:rPr>
              <a:t>system makes </a:t>
            </a:r>
            <a:r>
              <a:rPr sz="2400" spc="-5" dirty="0">
                <a:latin typeface="Arial MT"/>
                <a:cs typeface="Arial MT"/>
              </a:rPr>
              <a:t>sure </a:t>
            </a:r>
            <a:r>
              <a:rPr sz="2400" dirty="0">
                <a:latin typeface="Arial MT"/>
                <a:cs typeface="Arial MT"/>
              </a:rPr>
              <a:t>that the customer </a:t>
            </a:r>
            <a:r>
              <a:rPr sz="2400" spc="-5" dirty="0">
                <a:latin typeface="Arial MT"/>
                <a:cs typeface="Arial MT"/>
              </a:rPr>
              <a:t>is receiving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quality </a:t>
            </a:r>
            <a:r>
              <a:rPr sz="2400" spc="-5" dirty="0">
                <a:latin typeface="Arial MT"/>
                <a:cs typeface="Arial MT"/>
              </a:rPr>
              <a:t>product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spc="-5" dirty="0">
                <a:latin typeface="Arial MT"/>
                <a:cs typeface="Arial MT"/>
              </a:rPr>
              <a:t>their </a:t>
            </a:r>
            <a:r>
              <a:rPr sz="2400" dirty="0">
                <a:latin typeface="Arial MT"/>
                <a:cs typeface="Arial MT"/>
              </a:rPr>
              <a:t>requirement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the product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certified as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‘fit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spc="-5" dirty="0">
                <a:latin typeface="Arial MT"/>
                <a:cs typeface="Arial MT"/>
              </a:rPr>
              <a:t>use’.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740535"/>
            <a:ext cx="8073390" cy="3834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15" indent="-342900" algn="just">
              <a:lnSpc>
                <a:spcPct val="100000"/>
              </a:lnSpc>
              <a:spcBef>
                <a:spcPts val="105"/>
              </a:spcBef>
              <a:buClr>
                <a:srgbClr val="330066"/>
              </a:buClr>
              <a:buSzPct val="70312"/>
              <a:buFont typeface="Wingdings"/>
              <a:buChar char=""/>
              <a:tabLst>
                <a:tab pos="355600" algn="l"/>
              </a:tabLst>
            </a:pPr>
            <a:r>
              <a:rPr sz="3200" b="1" spc="-5" dirty="0">
                <a:solidFill>
                  <a:srgbClr val="FF0000"/>
                </a:solidFill>
                <a:latin typeface="Arial"/>
                <a:cs typeface="Arial"/>
              </a:rPr>
              <a:t>(3) Software </a:t>
            </a: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audit </a:t>
            </a:r>
            <a:r>
              <a:rPr sz="3200" dirty="0">
                <a:latin typeface="Arial MT"/>
                <a:cs typeface="Arial MT"/>
              </a:rPr>
              <a:t>- </a:t>
            </a:r>
            <a:r>
              <a:rPr sz="3200" spc="-5" dirty="0">
                <a:latin typeface="Arial MT"/>
                <a:cs typeface="Arial MT"/>
              </a:rPr>
              <a:t>This is </a:t>
            </a:r>
            <a:r>
              <a:rPr sz="3200" dirty="0">
                <a:latin typeface="Arial MT"/>
                <a:cs typeface="Arial MT"/>
              </a:rPr>
              <a:t>a </a:t>
            </a:r>
            <a:r>
              <a:rPr sz="3200" spc="-5" dirty="0">
                <a:latin typeface="Arial MT"/>
                <a:cs typeface="Arial MT"/>
              </a:rPr>
              <a:t>review </a:t>
            </a:r>
            <a:r>
              <a:rPr sz="3200" spc="-10" dirty="0">
                <a:latin typeface="Arial MT"/>
                <a:cs typeface="Arial MT"/>
              </a:rPr>
              <a:t>of </a:t>
            </a:r>
            <a:r>
              <a:rPr sz="3200" spc="-5" dirty="0">
                <a:latin typeface="Arial MT"/>
                <a:cs typeface="Arial MT"/>
              </a:rPr>
              <a:t> procedure</a:t>
            </a:r>
            <a:r>
              <a:rPr sz="3200" dirty="0">
                <a:latin typeface="Arial MT"/>
                <a:cs typeface="Arial MT"/>
              </a:rPr>
              <a:t> used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by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the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organization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to </a:t>
            </a:r>
            <a:r>
              <a:rPr sz="3200" dirty="0">
                <a:latin typeface="Arial MT"/>
                <a:cs typeface="Arial MT"/>
              </a:rPr>
              <a:t> develop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software.</a:t>
            </a:r>
            <a:endParaRPr sz="3200">
              <a:latin typeface="Arial MT"/>
              <a:cs typeface="Arial MT"/>
            </a:endParaRPr>
          </a:p>
          <a:p>
            <a:pPr marL="651510" marR="5715" lvl="1" indent="-343535" algn="just">
              <a:lnSpc>
                <a:spcPct val="100000"/>
              </a:lnSpc>
              <a:spcBef>
                <a:spcPts val="610"/>
              </a:spcBef>
              <a:buClr>
                <a:srgbClr val="330066"/>
              </a:buClr>
              <a:buSzPct val="68750"/>
              <a:buFont typeface="Wingdings"/>
              <a:buChar char=""/>
              <a:tabLst>
                <a:tab pos="652145" algn="l"/>
              </a:tabLst>
            </a:pPr>
            <a:r>
              <a:rPr sz="2400" dirty="0">
                <a:latin typeface="Arial MT"/>
                <a:cs typeface="Arial MT"/>
              </a:rPr>
              <a:t>A team </a:t>
            </a:r>
            <a:r>
              <a:rPr sz="2400" spc="-5" dirty="0">
                <a:latin typeface="Arial MT"/>
                <a:cs typeface="Arial MT"/>
              </a:rPr>
              <a:t>of auditors, independent of development team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examines</a:t>
            </a:r>
            <a:r>
              <a:rPr sz="2400" dirty="0">
                <a:latin typeface="Arial MT"/>
                <a:cs typeface="Arial MT"/>
              </a:rPr>
              <a:t> 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software</a:t>
            </a:r>
            <a:r>
              <a:rPr sz="2400" dirty="0">
                <a:latin typeface="Arial MT"/>
                <a:cs typeface="Arial MT"/>
              </a:rPr>
              <a:t> process,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procedure,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requirements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other aspects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SDLC.</a:t>
            </a:r>
            <a:endParaRPr sz="2400">
              <a:latin typeface="Arial MT"/>
              <a:cs typeface="Arial MT"/>
            </a:endParaRPr>
          </a:p>
          <a:p>
            <a:pPr marL="651510" marR="5080" lvl="1" indent="-343535" algn="just">
              <a:lnSpc>
                <a:spcPct val="100000"/>
              </a:lnSpc>
              <a:spcBef>
                <a:spcPts val="575"/>
              </a:spcBef>
              <a:buClr>
                <a:srgbClr val="330066"/>
              </a:buClr>
              <a:buSzPct val="68750"/>
              <a:buFont typeface="Wingdings"/>
              <a:buChar char=""/>
              <a:tabLst>
                <a:tab pos="652145" algn="l"/>
              </a:tabLst>
            </a:pP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purpose </a:t>
            </a:r>
            <a:r>
              <a:rPr sz="2400" spc="-5" dirty="0">
                <a:latin typeface="Arial MT"/>
                <a:cs typeface="Arial MT"/>
              </a:rPr>
              <a:t>of software audit is </a:t>
            </a:r>
            <a:r>
              <a:rPr sz="2400" dirty="0">
                <a:latin typeface="Arial MT"/>
                <a:cs typeface="Arial MT"/>
              </a:rPr>
              <a:t>to </a:t>
            </a:r>
            <a:r>
              <a:rPr sz="2400" spc="-5" dirty="0">
                <a:latin typeface="Arial MT"/>
                <a:cs typeface="Arial MT"/>
              </a:rPr>
              <a:t>check </a:t>
            </a:r>
            <a:r>
              <a:rPr sz="2400" dirty="0">
                <a:latin typeface="Arial MT"/>
                <a:cs typeface="Arial MT"/>
              </a:rPr>
              <a:t>that </a:t>
            </a:r>
            <a:r>
              <a:rPr sz="2400" spc="-5" dirty="0">
                <a:latin typeface="Arial MT"/>
                <a:cs typeface="Arial MT"/>
              </a:rPr>
              <a:t>software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its development process, </a:t>
            </a:r>
            <a:r>
              <a:rPr sz="2400" spc="-5" dirty="0">
                <a:latin typeface="Arial MT"/>
                <a:cs typeface="Arial MT"/>
              </a:rPr>
              <a:t>both </a:t>
            </a:r>
            <a:r>
              <a:rPr sz="2400" dirty="0">
                <a:latin typeface="Arial MT"/>
                <a:cs typeface="Arial MT"/>
              </a:rPr>
              <a:t>conform standards,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rules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regulations.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058" y="1414364"/>
            <a:ext cx="7898765" cy="264604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268605" algn="l"/>
              </a:tabLst>
            </a:pPr>
            <a:r>
              <a:rPr sz="1800" spc="153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700" dirty="0">
                <a:latin typeface="Lucida Sans Unicode"/>
                <a:cs typeface="Lucida Sans Unicode"/>
              </a:rPr>
              <a:t>So</a:t>
            </a:r>
            <a:r>
              <a:rPr sz="2700" spc="-10" dirty="0">
                <a:latin typeface="Lucida Sans Unicode"/>
                <a:cs typeface="Lucida Sans Unicode"/>
              </a:rPr>
              <a:t>m</a:t>
            </a:r>
            <a:r>
              <a:rPr sz="2700" spc="-5" dirty="0">
                <a:latin typeface="Lucida Sans Unicode"/>
                <a:cs typeface="Lucida Sans Unicode"/>
              </a:rPr>
              <a:t>et</a:t>
            </a:r>
            <a:r>
              <a:rPr sz="2700" spc="-10" dirty="0">
                <a:latin typeface="Lucida Sans Unicode"/>
                <a:cs typeface="Lucida Sans Unicode"/>
              </a:rPr>
              <a:t>i</a:t>
            </a:r>
            <a:r>
              <a:rPr sz="2700" spc="-5" dirty="0">
                <a:latin typeface="Lucida Sans Unicode"/>
                <a:cs typeface="Lucida Sans Unicode"/>
              </a:rPr>
              <a:t>m</a:t>
            </a:r>
            <a:r>
              <a:rPr sz="2700" dirty="0">
                <a:latin typeface="Lucida Sans Unicode"/>
                <a:cs typeface="Lucida Sans Unicode"/>
              </a:rPr>
              <a:t>e</a:t>
            </a:r>
            <a:r>
              <a:rPr sz="2700" spc="-10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c</a:t>
            </a:r>
            <a:r>
              <a:rPr sz="2700" spc="-10" dirty="0">
                <a:latin typeface="Lucida Sans Unicode"/>
                <a:cs typeface="Lucida Sans Unicode"/>
              </a:rPr>
              <a:t>a</a:t>
            </a:r>
            <a:r>
              <a:rPr sz="2700" spc="-5" dirty="0">
                <a:latin typeface="Lucida Sans Unicode"/>
                <a:cs typeface="Lucida Sans Unicode"/>
              </a:rPr>
              <a:t>lle</a:t>
            </a:r>
            <a:r>
              <a:rPr sz="2700" dirty="0">
                <a:latin typeface="Lucida Sans Unicode"/>
                <a:cs typeface="Lucida Sans Unicode"/>
              </a:rPr>
              <a:t>d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whi</a:t>
            </a:r>
            <a:r>
              <a:rPr sz="2700" spc="-10" dirty="0">
                <a:latin typeface="Lucida Sans Unicode"/>
                <a:cs typeface="Lucida Sans Unicode"/>
              </a:rPr>
              <a:t>t</a:t>
            </a:r>
            <a:r>
              <a:rPr sz="2700" spc="-5" dirty="0">
                <a:latin typeface="Lucida Sans Unicode"/>
                <a:cs typeface="Lucida Sans Unicode"/>
              </a:rPr>
              <a:t>e-bo</a:t>
            </a:r>
            <a:r>
              <a:rPr sz="2700" dirty="0">
                <a:latin typeface="Lucida Sans Unicode"/>
                <a:cs typeface="Lucida Sans Unicode"/>
              </a:rPr>
              <a:t>x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tes</a:t>
            </a:r>
            <a:r>
              <a:rPr sz="2700" spc="-10" dirty="0">
                <a:latin typeface="Lucida Sans Unicode"/>
                <a:cs typeface="Lucida Sans Unicode"/>
              </a:rPr>
              <a:t>t</a:t>
            </a:r>
            <a:r>
              <a:rPr sz="2700" spc="-5" dirty="0">
                <a:latin typeface="Lucida Sans Unicode"/>
                <a:cs typeface="Lucida Sans Unicode"/>
              </a:rPr>
              <a:t>ing.</a:t>
            </a:r>
            <a:endParaRPr sz="2700" dirty="0">
              <a:latin typeface="Lucida Sans Unicode"/>
              <a:cs typeface="Lucida Sans Unicode"/>
            </a:endParaRPr>
          </a:p>
          <a:p>
            <a:pPr marL="268605" marR="5080" indent="-256540">
              <a:lnSpc>
                <a:spcPct val="100000"/>
              </a:lnSpc>
              <a:spcBef>
                <a:spcPts val="400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Derivation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cases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according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program</a:t>
            </a:r>
            <a:r>
              <a:rPr sz="2700" spc="6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structure.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Knowledge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program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used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identify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additional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cases.</a:t>
            </a:r>
            <a:endParaRPr sz="2700" dirty="0">
              <a:latin typeface="Lucida Sans Unicode"/>
              <a:cs typeface="Lucida Sans Unicode"/>
            </a:endParaRPr>
          </a:p>
          <a:p>
            <a:pPr marL="268605" marR="1089025" indent="-25654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Objective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exercise</a:t>
            </a:r>
            <a:r>
              <a:rPr sz="2700" spc="-6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all</a:t>
            </a:r>
            <a:r>
              <a:rPr sz="2700" spc="-6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program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statements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(not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all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path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combinations).</a:t>
            </a:r>
            <a:endParaRPr sz="2700" dirty="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71500"/>
            <a:ext cx="4334256" cy="5486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2" y="571500"/>
            <a:ext cx="4334256" cy="54863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81000" y="1676400"/>
            <a:ext cx="8458200" cy="4267200"/>
            <a:chOff x="381000" y="1676400"/>
            <a:chExt cx="8458200" cy="4267200"/>
          </a:xfrm>
        </p:grpSpPr>
        <p:sp>
          <p:nvSpPr>
            <p:cNvPr id="4" name="object 4"/>
            <p:cNvSpPr/>
            <p:nvPr/>
          </p:nvSpPr>
          <p:spPr>
            <a:xfrm>
              <a:off x="381000" y="1676400"/>
              <a:ext cx="8458200" cy="4267200"/>
            </a:xfrm>
            <a:custGeom>
              <a:avLst/>
              <a:gdLst/>
              <a:ahLst/>
              <a:cxnLst/>
              <a:rect l="l" t="t" r="r" b="b"/>
              <a:pathLst>
                <a:path w="8458200" h="4267200">
                  <a:moveTo>
                    <a:pt x="84582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8458200" y="426720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800" y="2209800"/>
              <a:ext cx="6629400" cy="307174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8763" y="1612773"/>
            <a:ext cx="7481570" cy="36747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400" spc="-15" dirty="0">
                <a:latin typeface="Lucida Sans Unicode"/>
                <a:cs typeface="Lucida Sans Unicode"/>
              </a:rPr>
              <a:t>Pre-conditions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satisfied,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spc="-5" dirty="0">
                <a:latin typeface="Lucida Sans Unicode"/>
                <a:cs typeface="Lucida Sans Unicode"/>
              </a:rPr>
              <a:t>ke</a:t>
            </a:r>
            <a:r>
              <a:rPr sz="2400" dirty="0">
                <a:latin typeface="Lucida Sans Unicode"/>
                <a:cs typeface="Lucida Sans Unicode"/>
              </a:rPr>
              <a:t>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element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in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array.</a:t>
            </a:r>
            <a:endParaRPr sz="2400">
              <a:latin typeface="Lucida Sans Unicode"/>
              <a:cs typeface="Lucida Sans Unicode"/>
            </a:endParaRPr>
          </a:p>
          <a:p>
            <a:pPr marL="268605" marR="731520" indent="-256540">
              <a:lnSpc>
                <a:spcPct val="100000"/>
              </a:lnSpc>
              <a:spcBef>
                <a:spcPts val="409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spc="-20" dirty="0">
                <a:latin typeface="Lucida Sans Unicode"/>
                <a:cs typeface="Lucida Sans Unicode"/>
              </a:rPr>
              <a:t>Pre-</a:t>
            </a:r>
            <a:r>
              <a:rPr sz="2400" dirty="0">
                <a:latin typeface="Lucida Sans Unicode"/>
                <a:cs typeface="Lucida Sans Unicode"/>
              </a:rPr>
              <a:t>conditions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satisfied,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key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element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spc="-455" dirty="0">
                <a:latin typeface="Lucida Sans Unicode"/>
                <a:cs typeface="Lucida Sans Unicode"/>
              </a:rPr>
              <a:t>in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spc="-10" dirty="0">
                <a:latin typeface="Lucida Sans Unicode"/>
                <a:cs typeface="Lucida Sans Unicode"/>
              </a:rPr>
              <a:t>array.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400" spc="-15" dirty="0">
                <a:latin typeface="Lucida Sans Unicode"/>
                <a:cs typeface="Lucida Sans Unicode"/>
              </a:rPr>
              <a:t>Pre-conditions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unsatisfied,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spc="-5" dirty="0">
                <a:latin typeface="Lucida Sans Unicode"/>
                <a:cs typeface="Lucida Sans Unicode"/>
              </a:rPr>
              <a:t>ke</a:t>
            </a:r>
            <a:r>
              <a:rPr sz="2400" dirty="0">
                <a:latin typeface="Lucida Sans Unicode"/>
                <a:cs typeface="Lucida Sans Unicode"/>
              </a:rPr>
              <a:t>y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element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in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array.</a:t>
            </a:r>
            <a:endParaRPr sz="2400">
              <a:latin typeface="Lucida Sans Unicode"/>
              <a:cs typeface="Lucida Sans Unicode"/>
            </a:endParaRPr>
          </a:p>
          <a:p>
            <a:pPr marL="268605" marR="353695" indent="-256540">
              <a:lnSpc>
                <a:spcPct val="100000"/>
              </a:lnSpc>
              <a:spcBef>
                <a:spcPts val="400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spc="-20" dirty="0">
                <a:latin typeface="Lucida Sans Unicode"/>
                <a:cs typeface="Lucida Sans Unicode"/>
              </a:rPr>
              <a:t>Pre-</a:t>
            </a:r>
            <a:r>
              <a:rPr sz="2400" dirty="0">
                <a:latin typeface="Lucida Sans Unicode"/>
                <a:cs typeface="Lucida Sans Unicode"/>
              </a:rPr>
              <a:t>conditions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unsatisfied,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key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element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spc="-470" dirty="0">
                <a:latin typeface="Lucida Sans Unicode"/>
                <a:cs typeface="Lucida Sans Unicode"/>
              </a:rPr>
              <a:t>in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spc="-10" dirty="0">
                <a:latin typeface="Lucida Sans Unicode"/>
                <a:cs typeface="Lucida Sans Unicode"/>
              </a:rPr>
              <a:t>array.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400" spc="-5" dirty="0">
                <a:latin typeface="Lucida Sans Unicode"/>
                <a:cs typeface="Lucida Sans Unicode"/>
              </a:rPr>
              <a:t>Inpu</a:t>
            </a:r>
            <a:r>
              <a:rPr sz="2400" dirty="0">
                <a:latin typeface="Lucida Sans Unicode"/>
                <a:cs typeface="Lucida Sans Unicode"/>
              </a:rPr>
              <a:t>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array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has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single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value.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400" spc="-5" dirty="0">
                <a:latin typeface="Lucida Sans Unicode"/>
                <a:cs typeface="Lucida Sans Unicode"/>
              </a:rPr>
              <a:t>Inpu</a:t>
            </a:r>
            <a:r>
              <a:rPr sz="2400" dirty="0">
                <a:latin typeface="Lucida Sans Unicode"/>
                <a:cs typeface="Lucida Sans Unicode"/>
              </a:rPr>
              <a:t>t</a:t>
            </a:r>
            <a:r>
              <a:rPr sz="2400" spc="-20" dirty="0">
                <a:latin typeface="Lucida Sans Unicode"/>
                <a:cs typeface="Lucida Sans Unicode"/>
              </a:rPr>
              <a:t> array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has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5" dirty="0">
                <a:latin typeface="Lucida Sans Unicode"/>
                <a:cs typeface="Lucida Sans Unicode"/>
              </a:rPr>
              <a:t> ev</a:t>
            </a:r>
            <a:r>
              <a:rPr sz="2400" spc="-10" dirty="0">
                <a:latin typeface="Lucida Sans Unicode"/>
                <a:cs typeface="Lucida Sans Unicode"/>
              </a:rPr>
              <a:t>e</a:t>
            </a:r>
            <a:r>
              <a:rPr sz="2400" dirty="0">
                <a:latin typeface="Lucida Sans Unicode"/>
                <a:cs typeface="Lucida Sans Unicode"/>
              </a:rPr>
              <a:t>n </a:t>
            </a:r>
            <a:r>
              <a:rPr sz="2400" spc="-10" dirty="0">
                <a:latin typeface="Lucida Sans Unicode"/>
                <a:cs typeface="Lucida Sans Unicode"/>
              </a:rPr>
              <a:t>number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of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values.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400" spc="-5" dirty="0">
                <a:latin typeface="Lucida Sans Unicode"/>
                <a:cs typeface="Lucida Sans Unicode"/>
              </a:rPr>
              <a:t>Inpu</a:t>
            </a:r>
            <a:r>
              <a:rPr sz="2400" dirty="0">
                <a:latin typeface="Lucida Sans Unicode"/>
                <a:cs typeface="Lucida Sans Unicode"/>
              </a:rPr>
              <a:t>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array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has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 </a:t>
            </a:r>
            <a:r>
              <a:rPr sz="2400" spc="-20" dirty="0">
                <a:latin typeface="Lucida Sans Unicode"/>
                <a:cs typeface="Lucida Sans Unicode"/>
              </a:rPr>
              <a:t>odd</a:t>
            </a:r>
            <a:r>
              <a:rPr sz="2400" spc="-5" dirty="0">
                <a:latin typeface="Lucida Sans Unicode"/>
                <a:cs typeface="Lucida Sans Unicode"/>
              </a:rPr>
              <a:t> numbe</a:t>
            </a:r>
            <a:r>
              <a:rPr sz="2400" dirty="0">
                <a:latin typeface="Lucida Sans Unicode"/>
                <a:cs typeface="Lucida Sans Unicode"/>
              </a:rPr>
              <a:t>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of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values.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348" y="539495"/>
            <a:ext cx="8078724" cy="5486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78</a:t>
            </a:fld>
            <a:endParaRPr spc="-25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72" y="571500"/>
            <a:ext cx="7616952" cy="54406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62000" y="1905000"/>
            <a:ext cx="8077200" cy="4038600"/>
            <a:chOff x="762000" y="1905000"/>
            <a:chExt cx="8077200" cy="4038600"/>
          </a:xfrm>
        </p:grpSpPr>
        <p:sp>
          <p:nvSpPr>
            <p:cNvPr id="4" name="object 4"/>
            <p:cNvSpPr/>
            <p:nvPr/>
          </p:nvSpPr>
          <p:spPr>
            <a:xfrm>
              <a:off x="762000" y="1905000"/>
              <a:ext cx="8077200" cy="4038600"/>
            </a:xfrm>
            <a:custGeom>
              <a:avLst/>
              <a:gdLst/>
              <a:ahLst/>
              <a:cxnLst/>
              <a:rect l="l" t="t" r="r" b="b"/>
              <a:pathLst>
                <a:path w="8077200" h="4038600">
                  <a:moveTo>
                    <a:pt x="8077200" y="0"/>
                  </a:moveTo>
                  <a:lnTo>
                    <a:pt x="0" y="0"/>
                  </a:lnTo>
                  <a:lnTo>
                    <a:pt x="0" y="4038600"/>
                  </a:lnTo>
                  <a:lnTo>
                    <a:pt x="8077200" y="403860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0200" y="2590800"/>
              <a:ext cx="6553200" cy="262724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79</a:t>
            </a:fld>
            <a:endParaRPr spc="-2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644" y="571500"/>
            <a:ext cx="6428232" cy="54406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04800" y="1828800"/>
            <a:ext cx="8458200" cy="3962400"/>
          </a:xfrm>
          <a:custGeom>
            <a:avLst/>
            <a:gdLst/>
            <a:ahLst/>
            <a:cxnLst/>
            <a:rect l="l" t="t" r="r" b="b"/>
            <a:pathLst>
              <a:path w="8458200" h="3962400">
                <a:moveTo>
                  <a:pt x="8458200" y="0"/>
                </a:moveTo>
                <a:lnTo>
                  <a:pt x="0" y="0"/>
                </a:lnTo>
                <a:lnTo>
                  <a:pt x="0" y="3962400"/>
                </a:lnTo>
                <a:lnTo>
                  <a:pt x="8458200" y="3962400"/>
                </a:lnTo>
                <a:lnTo>
                  <a:pt x="845820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98146" y="2365150"/>
          <a:ext cx="6638925" cy="258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3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830">
                <a:tc>
                  <a:txBody>
                    <a:bodyPr/>
                    <a:lstStyle/>
                    <a:p>
                      <a:pPr marL="113664">
                        <a:lnSpc>
                          <a:spcPts val="2195"/>
                        </a:lnSpc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900" b="1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array</a:t>
                      </a:r>
                      <a:r>
                        <a:rPr sz="19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50" spc="-2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)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97485" algn="ctr">
                        <a:lnSpc>
                          <a:spcPts val="2195"/>
                        </a:lnSpc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900" b="1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50" spc="-10" dirty="0">
                          <a:latin typeface="Arial MT"/>
                          <a:cs typeface="Arial MT"/>
                        </a:rPr>
                        <a:t>Key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2195"/>
                        </a:lnSpc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900" b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50" dirty="0">
                          <a:latin typeface="Arial MT"/>
                          <a:cs typeface="Arial MT"/>
                        </a:rPr>
                        <a:t>Found,</a:t>
                      </a:r>
                      <a:r>
                        <a:rPr sz="175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50" spc="-25" dirty="0">
                          <a:latin typeface="Arial MT"/>
                          <a:cs typeface="Arial MT"/>
                        </a:rPr>
                        <a:t>L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)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113664">
                        <a:lnSpc>
                          <a:spcPts val="2165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203200" algn="ctr">
                        <a:lnSpc>
                          <a:spcPts val="2165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216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true,</a:t>
                      </a:r>
                      <a:r>
                        <a:rPr sz="1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113664">
                        <a:lnSpc>
                          <a:spcPts val="216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97485" algn="ctr">
                        <a:lnSpc>
                          <a:spcPts val="2160"/>
                        </a:lnSpc>
                      </a:pP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216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false,</a:t>
                      </a:r>
                      <a:r>
                        <a:rPr sz="19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35" dirty="0">
                          <a:latin typeface="Times New Roman"/>
                          <a:cs typeface="Times New Roman"/>
                        </a:rPr>
                        <a:t>??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113664">
                        <a:lnSpc>
                          <a:spcPts val="216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17,</a:t>
                      </a:r>
                      <a:r>
                        <a:rPr sz="1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21,</a:t>
                      </a:r>
                      <a:r>
                        <a:rPr sz="1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23,</a:t>
                      </a:r>
                      <a:r>
                        <a:rPr sz="19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29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203200" algn="ctr">
                        <a:lnSpc>
                          <a:spcPts val="216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17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216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true,</a:t>
                      </a:r>
                      <a:r>
                        <a:rPr sz="1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113664">
                        <a:lnSpc>
                          <a:spcPts val="216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9,</a:t>
                      </a:r>
                      <a:r>
                        <a:rPr sz="19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16,</a:t>
                      </a:r>
                      <a:r>
                        <a:rPr sz="1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18,</a:t>
                      </a:r>
                      <a:r>
                        <a:rPr sz="1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30,</a:t>
                      </a:r>
                      <a:r>
                        <a:rPr sz="1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31,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41,</a:t>
                      </a:r>
                      <a:r>
                        <a:rPr sz="1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45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203200" algn="ctr">
                        <a:lnSpc>
                          <a:spcPts val="216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45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216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true,</a:t>
                      </a:r>
                      <a:r>
                        <a:rPr sz="1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113664">
                        <a:lnSpc>
                          <a:spcPts val="216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17,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18,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21,</a:t>
                      </a:r>
                      <a:r>
                        <a:rPr sz="1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23,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29,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38,</a:t>
                      </a:r>
                      <a:r>
                        <a:rPr sz="1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41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203200" algn="ctr">
                        <a:lnSpc>
                          <a:spcPts val="216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23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216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true,</a:t>
                      </a:r>
                      <a:r>
                        <a:rPr sz="1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13664">
                        <a:lnSpc>
                          <a:spcPts val="214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17,</a:t>
                      </a:r>
                      <a:r>
                        <a:rPr sz="19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18,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21,</a:t>
                      </a:r>
                      <a:r>
                        <a:rPr sz="1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23,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29,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33,</a:t>
                      </a:r>
                      <a:r>
                        <a:rPr sz="19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38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203200" algn="ctr">
                        <a:lnSpc>
                          <a:spcPts val="214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21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214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true,</a:t>
                      </a:r>
                      <a:r>
                        <a:rPr sz="1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13664">
                        <a:lnSpc>
                          <a:spcPts val="214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12,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18,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21,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23,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32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203200" algn="ctr">
                        <a:lnSpc>
                          <a:spcPts val="214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23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214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true,</a:t>
                      </a:r>
                      <a:r>
                        <a:rPr sz="19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 marL="113664">
                        <a:lnSpc>
                          <a:spcPts val="216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21,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23,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29,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33,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38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203200" algn="ctr">
                        <a:lnSpc>
                          <a:spcPts val="216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25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216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false,</a:t>
                      </a:r>
                      <a:r>
                        <a:rPr sz="19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35" dirty="0">
                          <a:latin typeface="Times New Roman"/>
                          <a:cs typeface="Times New Roman"/>
                        </a:rPr>
                        <a:t>??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80</a:t>
            </a:fld>
            <a:endParaRPr spc="-25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33829"/>
            <a:ext cx="7881620" cy="38728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68605" marR="5080" indent="-256540">
              <a:lnSpc>
                <a:spcPct val="90000"/>
              </a:lnSpc>
              <a:spcBef>
                <a:spcPts val="42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objective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path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testing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ensure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spc="-345" dirty="0">
                <a:latin typeface="Lucida Sans Unicode"/>
                <a:cs typeface="Lucida Sans Unicode"/>
              </a:rPr>
              <a:t>that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set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cases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such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that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each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path </a:t>
            </a:r>
            <a:r>
              <a:rPr sz="2700" dirty="0">
                <a:latin typeface="Lucida Sans Unicode"/>
                <a:cs typeface="Lucida Sans Unicode"/>
              </a:rPr>
              <a:t>through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program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executed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at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least </a:t>
            </a:r>
            <a:r>
              <a:rPr sz="2700" spc="-10" dirty="0">
                <a:latin typeface="Lucida Sans Unicode"/>
                <a:cs typeface="Lucida Sans Unicode"/>
              </a:rPr>
              <a:t>once.</a:t>
            </a:r>
            <a:endParaRPr sz="2700">
              <a:latin typeface="Lucida Sans Unicode"/>
              <a:cs typeface="Lucida Sans Unicode"/>
            </a:endParaRPr>
          </a:p>
          <a:p>
            <a:pPr marL="268605" marR="786130" indent="-256540">
              <a:lnSpc>
                <a:spcPct val="90000"/>
              </a:lnSpc>
              <a:spcBef>
                <a:spcPts val="40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starting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point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for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path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testing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is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spc="-50" dirty="0">
                <a:latin typeface="Lucida Sans Unicode"/>
                <a:cs typeface="Lucida Sans Unicode"/>
              </a:rPr>
              <a:t>a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program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flow</a:t>
            </a:r>
            <a:r>
              <a:rPr sz="2700" spc="-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graph</a:t>
            </a:r>
            <a:r>
              <a:rPr sz="2700" spc="-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that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shows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nodes </a:t>
            </a:r>
            <a:r>
              <a:rPr sz="2700" dirty="0">
                <a:latin typeface="Lucida Sans Unicode"/>
                <a:cs typeface="Lucida Sans Unicode"/>
              </a:rPr>
              <a:t>representing</a:t>
            </a:r>
            <a:r>
              <a:rPr sz="2700" spc="-8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program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decisions</a:t>
            </a:r>
            <a:r>
              <a:rPr sz="2700" spc="-6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and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arcs </a:t>
            </a:r>
            <a:r>
              <a:rPr sz="2700" dirty="0">
                <a:latin typeface="Lucida Sans Unicode"/>
                <a:cs typeface="Lucida Sans Unicode"/>
              </a:rPr>
              <a:t>representing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flow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of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control.</a:t>
            </a:r>
            <a:endParaRPr sz="2700">
              <a:latin typeface="Lucida Sans Unicode"/>
              <a:cs typeface="Lucida Sans Unicode"/>
            </a:endParaRPr>
          </a:p>
          <a:p>
            <a:pPr marL="268605" marR="832485" indent="-256540">
              <a:lnSpc>
                <a:spcPts val="2920"/>
              </a:lnSpc>
              <a:spcBef>
                <a:spcPts val="434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Statements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with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conditions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are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therefore</a:t>
            </a:r>
            <a:r>
              <a:rPr sz="2700" spc="6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nodes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in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the</a:t>
            </a:r>
            <a:r>
              <a:rPr sz="2700" spc="-1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flow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graph.</a:t>
            </a:r>
            <a:endParaRPr sz="27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72" y="571500"/>
            <a:ext cx="2958083" cy="5486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81</a:t>
            </a:fld>
            <a:endParaRPr spc="-25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566927"/>
            <a:ext cx="6190488" cy="55321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676400" y="1447800"/>
            <a:ext cx="6324600" cy="4826000"/>
            <a:chOff x="1676400" y="1447800"/>
            <a:chExt cx="6324600" cy="4826000"/>
          </a:xfrm>
        </p:grpSpPr>
        <p:sp>
          <p:nvSpPr>
            <p:cNvPr id="4" name="object 4"/>
            <p:cNvSpPr/>
            <p:nvPr/>
          </p:nvSpPr>
          <p:spPr>
            <a:xfrm>
              <a:off x="1676400" y="1447800"/>
              <a:ext cx="6324600" cy="4800600"/>
            </a:xfrm>
            <a:custGeom>
              <a:avLst/>
              <a:gdLst/>
              <a:ahLst/>
              <a:cxnLst/>
              <a:rect l="l" t="t" r="r" b="b"/>
              <a:pathLst>
                <a:path w="6324600" h="4800600">
                  <a:moveTo>
                    <a:pt x="6324600" y="0"/>
                  </a:moveTo>
                  <a:lnTo>
                    <a:pt x="0" y="0"/>
                  </a:lnTo>
                  <a:lnTo>
                    <a:pt x="0" y="4800600"/>
                  </a:lnTo>
                  <a:lnTo>
                    <a:pt x="6324600" y="4800600"/>
                  </a:lnTo>
                  <a:lnTo>
                    <a:pt x="63246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5600" y="1600200"/>
              <a:ext cx="4318000" cy="46736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82</a:t>
            </a:fld>
            <a:endParaRPr spc="-25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058" y="1414364"/>
            <a:ext cx="7694295" cy="362204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268605" algn="l"/>
              </a:tabLst>
            </a:pPr>
            <a:r>
              <a:rPr sz="1800" spc="153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700" spc="-5" dirty="0">
                <a:latin typeface="Lucida Sans Unicode"/>
                <a:cs typeface="Lucida Sans Unicode"/>
              </a:rPr>
              <a:t>1</a:t>
            </a:r>
            <a:r>
              <a:rPr sz="2700" dirty="0">
                <a:latin typeface="Lucida Sans Unicode"/>
                <a:cs typeface="Lucida Sans Unicode"/>
              </a:rPr>
              <a:t>,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spc="-5" dirty="0">
                <a:latin typeface="Lucida Sans Unicode"/>
                <a:cs typeface="Lucida Sans Unicode"/>
              </a:rPr>
              <a:t>2</a:t>
            </a:r>
            <a:r>
              <a:rPr sz="2700" dirty="0">
                <a:latin typeface="Lucida Sans Unicode"/>
                <a:cs typeface="Lucida Sans Unicode"/>
              </a:rPr>
              <a:t>,</a:t>
            </a:r>
            <a:r>
              <a:rPr sz="2700" spc="-5" dirty="0">
                <a:latin typeface="Lucida Sans Unicode"/>
                <a:cs typeface="Lucida Sans Unicode"/>
              </a:rPr>
              <a:t> 3</a:t>
            </a:r>
            <a:r>
              <a:rPr sz="2700" dirty="0">
                <a:latin typeface="Lucida Sans Unicode"/>
                <a:cs typeface="Lucida Sans Unicode"/>
              </a:rPr>
              <a:t>,</a:t>
            </a:r>
            <a:r>
              <a:rPr sz="2700" spc="-5" dirty="0">
                <a:latin typeface="Lucida Sans Unicode"/>
                <a:cs typeface="Lucida Sans Unicode"/>
              </a:rPr>
              <a:t> 4</a:t>
            </a:r>
            <a:r>
              <a:rPr sz="2700" dirty="0">
                <a:latin typeface="Lucida Sans Unicode"/>
                <a:cs typeface="Lucida Sans Unicode"/>
              </a:rPr>
              <a:t>,</a:t>
            </a:r>
            <a:r>
              <a:rPr sz="2700" spc="-5" dirty="0">
                <a:latin typeface="Lucida Sans Unicode"/>
                <a:cs typeface="Lucida Sans Unicode"/>
              </a:rPr>
              <a:t> 5</a:t>
            </a:r>
            <a:r>
              <a:rPr sz="2700" dirty="0">
                <a:latin typeface="Lucida Sans Unicode"/>
                <a:cs typeface="Lucida Sans Unicode"/>
              </a:rPr>
              <a:t>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6,</a:t>
            </a:r>
            <a:r>
              <a:rPr sz="2700" spc="-5" dirty="0">
                <a:latin typeface="Lucida Sans Unicode"/>
                <a:cs typeface="Lucida Sans Unicode"/>
              </a:rPr>
              <a:t> 7</a:t>
            </a:r>
            <a:r>
              <a:rPr sz="2700" dirty="0">
                <a:latin typeface="Lucida Sans Unicode"/>
                <a:cs typeface="Lucida Sans Unicode"/>
              </a:rPr>
              <a:t>,</a:t>
            </a:r>
            <a:r>
              <a:rPr sz="2700" spc="-5" dirty="0">
                <a:latin typeface="Lucida Sans Unicode"/>
                <a:cs typeface="Lucida Sans Unicode"/>
              </a:rPr>
              <a:t> 8</a:t>
            </a:r>
            <a:r>
              <a:rPr sz="2700" dirty="0">
                <a:latin typeface="Lucida Sans Unicode"/>
                <a:cs typeface="Lucida Sans Unicode"/>
              </a:rPr>
              <a:t>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9,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10,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5" dirty="0">
                <a:latin typeface="Lucida Sans Unicode"/>
                <a:cs typeface="Lucida Sans Unicode"/>
              </a:rPr>
              <a:t>14</a:t>
            </a:r>
            <a:endParaRPr sz="2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  <a:tabLst>
                <a:tab pos="268605" algn="l"/>
              </a:tabLst>
            </a:pPr>
            <a:r>
              <a:rPr sz="1800" spc="153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700" spc="-20" dirty="0">
                <a:latin typeface="Lucida Sans Unicode"/>
                <a:cs typeface="Lucida Sans Unicode"/>
              </a:rPr>
              <a:t>1, 2,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3,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4,</a:t>
            </a:r>
            <a:r>
              <a:rPr sz="2700" spc="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5,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5" dirty="0">
                <a:latin typeface="Lucida Sans Unicode"/>
                <a:cs typeface="Lucida Sans Unicode"/>
              </a:rPr>
              <a:t>14</a:t>
            </a:r>
            <a:endParaRPr sz="2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1800" spc="153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700" spc="-20" dirty="0">
                <a:latin typeface="Lucida Sans Unicode"/>
                <a:cs typeface="Lucida Sans Unicode"/>
              </a:rPr>
              <a:t>1, 2,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3,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4,</a:t>
            </a:r>
            <a:r>
              <a:rPr sz="2700" spc="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5,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6,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7,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11,</a:t>
            </a:r>
            <a:r>
              <a:rPr sz="2700" spc="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12,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5,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…</a:t>
            </a:r>
            <a:endParaRPr sz="2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  <a:tabLst>
                <a:tab pos="268605" algn="l"/>
              </a:tabLst>
            </a:pPr>
            <a:r>
              <a:rPr sz="1800" spc="153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700" spc="-20" dirty="0">
                <a:latin typeface="Lucida Sans Unicode"/>
                <a:cs typeface="Lucida Sans Unicode"/>
              </a:rPr>
              <a:t>1, 2,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3,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4,</a:t>
            </a:r>
            <a:r>
              <a:rPr sz="2700" spc="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6,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7,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2,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11,</a:t>
            </a:r>
            <a:r>
              <a:rPr sz="2700" spc="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13,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5,</a:t>
            </a:r>
            <a:r>
              <a:rPr sz="2700" spc="-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…</a:t>
            </a:r>
            <a:endParaRPr sz="2700">
              <a:latin typeface="Lucida Sans Unicode"/>
              <a:cs typeface="Lucida Sans Unicode"/>
            </a:endParaRPr>
          </a:p>
          <a:p>
            <a:pPr marL="268605" marR="412750" indent="-256540">
              <a:lnSpc>
                <a:spcPct val="100000"/>
              </a:lnSpc>
              <a:spcBef>
                <a:spcPts val="400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Test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cases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should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be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derived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so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that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all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spc="-625" dirty="0">
                <a:latin typeface="Lucida Sans Unicode"/>
                <a:cs typeface="Lucida Sans Unicode"/>
              </a:rPr>
              <a:t>of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these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paths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are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executed</a:t>
            </a:r>
            <a:endParaRPr sz="2700">
              <a:latin typeface="Lucida Sans Unicode"/>
              <a:cs typeface="Lucida Sans Unicode"/>
            </a:endParaRPr>
          </a:p>
          <a:p>
            <a:pPr marL="268605" marR="5080" indent="-25654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A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dynamic</a:t>
            </a:r>
            <a:r>
              <a:rPr sz="2700" spc="-4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program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analyser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may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be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used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spc="-655" dirty="0">
                <a:latin typeface="Lucida Sans Unicode"/>
                <a:cs typeface="Lucida Sans Unicode"/>
              </a:rPr>
              <a:t>to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dirty="0">
                <a:latin typeface="Lucida Sans Unicode"/>
                <a:cs typeface="Lucida Sans Unicode"/>
              </a:rPr>
              <a:t>check</a:t>
            </a:r>
            <a:r>
              <a:rPr sz="2700" spc="-3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that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paths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have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been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executed</a:t>
            </a:r>
            <a:endParaRPr sz="27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72" y="571500"/>
            <a:ext cx="4700016" cy="54406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83</a:t>
            </a:fld>
            <a:endParaRPr spc="-25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70405"/>
            <a:ext cx="7934959" cy="3470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expensive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process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phase.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Testing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workbenches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provide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range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tools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reduce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the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required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total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costs.</a:t>
            </a:r>
            <a:endParaRPr sz="2400">
              <a:latin typeface="Lucida Sans Unicode"/>
              <a:cs typeface="Lucida Sans Unicode"/>
            </a:endParaRPr>
          </a:p>
          <a:p>
            <a:pPr marL="268605" marR="1091565" indent="-256540">
              <a:lnSpc>
                <a:spcPct val="100000"/>
              </a:lnSpc>
              <a:spcBef>
                <a:spcPts val="409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Systems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Junit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support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automatic  </a:t>
            </a:r>
            <a:r>
              <a:rPr sz="2400" dirty="0">
                <a:latin typeface="Lucida Sans Unicode"/>
                <a:cs typeface="Lucida Sans Unicode"/>
              </a:rPr>
              <a:t>execution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tests.</a:t>
            </a:r>
            <a:endParaRPr sz="2400">
              <a:latin typeface="Lucida Sans Unicode"/>
              <a:cs typeface="Lucida Sans Unicode"/>
            </a:endParaRPr>
          </a:p>
          <a:p>
            <a:pPr marL="268605" marR="467995" indent="-25654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Most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workbenches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open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systems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because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needs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organisation-</a:t>
            </a:r>
            <a:r>
              <a:rPr sz="2400" spc="-10" dirty="0">
                <a:latin typeface="Lucida Sans Unicode"/>
                <a:cs typeface="Lucida Sans Unicode"/>
              </a:rPr>
              <a:t>specific.</a:t>
            </a:r>
            <a:endParaRPr sz="2400">
              <a:latin typeface="Lucida Sans Unicode"/>
              <a:cs typeface="Lucida Sans Unicode"/>
            </a:endParaRPr>
          </a:p>
          <a:p>
            <a:pPr marL="268605" marR="895985" indent="-256540">
              <a:lnSpc>
                <a:spcPct val="100000"/>
              </a:lnSpc>
              <a:spcBef>
                <a:spcPts val="400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They</a:t>
            </a:r>
            <a:r>
              <a:rPr sz="2400" spc="-9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sometimes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difficult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integrate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with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closed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design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analysis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workbenches.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1" y="594359"/>
            <a:ext cx="4137659" cy="42519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84</a:t>
            </a:fld>
            <a:endParaRPr spc="-25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923" y="571500"/>
            <a:ext cx="5202935" cy="54863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66800" y="1600200"/>
            <a:ext cx="7772400" cy="4378325"/>
            <a:chOff x="1066800" y="1600200"/>
            <a:chExt cx="7772400" cy="4378325"/>
          </a:xfrm>
        </p:grpSpPr>
        <p:sp>
          <p:nvSpPr>
            <p:cNvPr id="4" name="object 4"/>
            <p:cNvSpPr/>
            <p:nvPr/>
          </p:nvSpPr>
          <p:spPr>
            <a:xfrm>
              <a:off x="1066800" y="1600200"/>
              <a:ext cx="7772400" cy="4343400"/>
            </a:xfrm>
            <a:custGeom>
              <a:avLst/>
              <a:gdLst/>
              <a:ahLst/>
              <a:cxnLst/>
              <a:rect l="l" t="t" r="r" b="b"/>
              <a:pathLst>
                <a:path w="7772400" h="4343400">
                  <a:moveTo>
                    <a:pt x="7772400" y="0"/>
                  </a:moveTo>
                  <a:lnTo>
                    <a:pt x="0" y="0"/>
                  </a:lnTo>
                  <a:lnTo>
                    <a:pt x="0" y="4343400"/>
                  </a:lnTo>
                  <a:lnTo>
                    <a:pt x="7772400" y="4343400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1200" y="1676400"/>
              <a:ext cx="6096000" cy="43021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85</a:t>
            </a:fld>
            <a:endParaRPr spc="-25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65834"/>
            <a:ext cx="7493634" cy="3007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Scripts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may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be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developed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for</a:t>
            </a:r>
            <a:r>
              <a:rPr sz="2700" spc="-3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user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interface</a:t>
            </a:r>
            <a:r>
              <a:rPr sz="2700" spc="6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simulators</a:t>
            </a:r>
            <a:r>
              <a:rPr sz="2700" spc="-5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and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patterns</a:t>
            </a:r>
            <a:r>
              <a:rPr sz="2700" spc="-2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for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test</a:t>
            </a:r>
            <a:r>
              <a:rPr sz="2700" spc="-15" dirty="0">
                <a:latin typeface="Lucida Sans Unicode"/>
                <a:cs typeface="Lucida Sans Unicode"/>
              </a:rPr>
              <a:t> </a:t>
            </a:r>
            <a:r>
              <a:rPr sz="2700" spc="-20" dirty="0">
                <a:latin typeface="Lucida Sans Unicode"/>
                <a:cs typeface="Lucida Sans Unicode"/>
              </a:rPr>
              <a:t>data </a:t>
            </a:r>
            <a:r>
              <a:rPr sz="2700" spc="-10" dirty="0">
                <a:latin typeface="Lucida Sans Unicode"/>
                <a:cs typeface="Lucida Sans Unicode"/>
              </a:rPr>
              <a:t>generators.</a:t>
            </a:r>
            <a:endParaRPr sz="2700">
              <a:latin typeface="Lucida Sans Unicode"/>
              <a:cs typeface="Lucida Sans Unicode"/>
            </a:endParaRPr>
          </a:p>
          <a:p>
            <a:pPr marL="268605" marR="873125" indent="-25654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Lucida Sans Unicode"/>
                <a:cs typeface="Lucida Sans Unicode"/>
              </a:rPr>
              <a:t>Test</a:t>
            </a:r>
            <a:r>
              <a:rPr sz="2700" spc="-7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outputs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may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have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to</a:t>
            </a:r>
            <a:r>
              <a:rPr sz="2700" spc="-5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be</a:t>
            </a:r>
            <a:r>
              <a:rPr sz="2700" spc="-70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prepared  </a:t>
            </a:r>
            <a:r>
              <a:rPr sz="2700" dirty="0">
                <a:latin typeface="Lucida Sans Unicode"/>
                <a:cs typeface="Lucida Sans Unicode"/>
              </a:rPr>
              <a:t>manually</a:t>
            </a:r>
            <a:r>
              <a:rPr sz="2700" spc="-6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for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spc="-10" dirty="0">
                <a:latin typeface="Lucida Sans Unicode"/>
                <a:cs typeface="Lucida Sans Unicode"/>
              </a:rPr>
              <a:t>comparison.</a:t>
            </a:r>
            <a:endParaRPr sz="2700">
              <a:latin typeface="Lucida Sans Unicode"/>
              <a:cs typeface="Lucida Sans Unicode"/>
            </a:endParaRPr>
          </a:p>
          <a:p>
            <a:pPr marL="268605" marR="371475" indent="-256540">
              <a:lnSpc>
                <a:spcPct val="100000"/>
              </a:lnSpc>
              <a:spcBef>
                <a:spcPts val="400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700" spc="-10" dirty="0">
                <a:latin typeface="Lucida Sans Unicode"/>
                <a:cs typeface="Lucida Sans Unicode"/>
              </a:rPr>
              <a:t>Special-</a:t>
            </a:r>
            <a:r>
              <a:rPr sz="2700" dirty="0">
                <a:latin typeface="Lucida Sans Unicode"/>
                <a:cs typeface="Lucida Sans Unicode"/>
              </a:rPr>
              <a:t>purpose</a:t>
            </a:r>
            <a:r>
              <a:rPr sz="2700" spc="-80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file</a:t>
            </a:r>
            <a:r>
              <a:rPr sz="2700" spc="-6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comparators</a:t>
            </a:r>
            <a:r>
              <a:rPr sz="2700" spc="-25" dirty="0">
                <a:latin typeface="Lucida Sans Unicode"/>
                <a:cs typeface="Lucida Sans Unicode"/>
              </a:rPr>
              <a:t> </a:t>
            </a:r>
            <a:r>
              <a:rPr sz="2700" dirty="0">
                <a:latin typeface="Lucida Sans Unicode"/>
                <a:cs typeface="Lucida Sans Unicode"/>
              </a:rPr>
              <a:t>may</a:t>
            </a:r>
            <a:r>
              <a:rPr sz="2700" spc="-40" dirty="0">
                <a:latin typeface="Lucida Sans Unicode"/>
                <a:cs typeface="Lucida Sans Unicode"/>
              </a:rPr>
              <a:t> </a:t>
            </a:r>
            <a:r>
              <a:rPr sz="2700" spc="-640" dirty="0">
                <a:latin typeface="Lucida Sans Unicode"/>
                <a:cs typeface="Lucida Sans Unicode"/>
              </a:rPr>
              <a:t>be</a:t>
            </a:r>
            <a:r>
              <a:rPr sz="2700" spc="675" dirty="0">
                <a:latin typeface="Lucida Sans Unicode"/>
                <a:cs typeface="Lucida Sans Unicode"/>
              </a:rPr>
              <a:t>  </a:t>
            </a:r>
            <a:r>
              <a:rPr sz="2700" spc="-10" dirty="0">
                <a:latin typeface="Lucida Sans Unicode"/>
                <a:cs typeface="Lucida Sans Unicode"/>
              </a:rPr>
              <a:t>developed.</a:t>
            </a:r>
            <a:endParaRPr sz="27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923" y="571500"/>
            <a:ext cx="7685532" cy="54863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86</a:t>
            </a:fld>
            <a:endParaRPr spc="-25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058" y="1469212"/>
            <a:ext cx="7887334" cy="420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663575" indent="-25654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show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presence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faults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a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system;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cannot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prove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remaining faults.</a:t>
            </a:r>
            <a:endParaRPr sz="2400">
              <a:latin typeface="Lucida Sans Unicode"/>
              <a:cs typeface="Lucida Sans Unicode"/>
            </a:endParaRPr>
          </a:p>
          <a:p>
            <a:pPr marL="268605" marR="1290320" indent="-256540">
              <a:lnSpc>
                <a:spcPct val="100000"/>
              </a:lnSpc>
              <a:spcBef>
                <a:spcPts val="409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Component</a:t>
            </a:r>
            <a:r>
              <a:rPr sz="2400" spc="-1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developers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10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responsible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spc="-315" dirty="0">
                <a:latin typeface="Lucida Sans Unicode"/>
                <a:cs typeface="Lucida Sans Unicode"/>
              </a:rPr>
              <a:t>for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component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testing;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system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the </a:t>
            </a:r>
            <a:r>
              <a:rPr sz="2400" spc="-10" dirty="0">
                <a:latin typeface="Lucida Sans Unicode"/>
                <a:cs typeface="Lucida Sans Unicode"/>
              </a:rPr>
              <a:t>responsibility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separate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team.</a:t>
            </a:r>
            <a:endParaRPr sz="2400">
              <a:latin typeface="Lucida Sans Unicode"/>
              <a:cs typeface="Lucida Sans Unicode"/>
            </a:endParaRPr>
          </a:p>
          <a:p>
            <a:pPr marL="268605" marR="5080" indent="-256540">
              <a:lnSpc>
                <a:spcPct val="100000"/>
              </a:lnSpc>
              <a:spcBef>
                <a:spcPts val="400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Integration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increments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the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system;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release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involves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system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to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released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customer.</a:t>
            </a:r>
            <a:endParaRPr sz="2400">
              <a:latin typeface="Lucida Sans Unicode"/>
              <a:cs typeface="Lucida Sans Unicode"/>
            </a:endParaRPr>
          </a:p>
          <a:p>
            <a:pPr marL="268605" marR="63500" indent="-25654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Use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experience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guidelines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design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cases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defect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testing.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72" y="594359"/>
            <a:ext cx="2615183" cy="5212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87</a:t>
            </a:fld>
            <a:endParaRPr spc="-25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087" y="1594180"/>
            <a:ext cx="7480300" cy="3836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600" spc="131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	</a:t>
            </a:r>
            <a:r>
              <a:rPr sz="2400" spc="-5" dirty="0">
                <a:latin typeface="Lucida Sans Unicode"/>
                <a:cs typeface="Lucida Sans Unicode"/>
              </a:rPr>
              <a:t>Interfa</a:t>
            </a:r>
            <a:r>
              <a:rPr sz="2400" spc="-15" dirty="0">
                <a:latin typeface="Lucida Sans Unicode"/>
                <a:cs typeface="Lucida Sans Unicode"/>
              </a:rPr>
              <a:t>c</a:t>
            </a:r>
            <a:r>
              <a:rPr sz="2400" dirty="0">
                <a:latin typeface="Lucida Sans Unicode"/>
                <a:cs typeface="Lucida Sans Unicode"/>
              </a:rPr>
              <a:t>e</a:t>
            </a:r>
            <a:r>
              <a:rPr sz="2400" spc="-15" dirty="0">
                <a:latin typeface="Lucida Sans Unicode"/>
                <a:cs typeface="Lucida Sans Unicode"/>
              </a:rPr>
              <a:t> testing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designed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5" dirty="0">
                <a:latin typeface="Lucida Sans Unicode"/>
                <a:cs typeface="Lucida Sans Unicode"/>
              </a:rPr>
              <a:t>to</a:t>
            </a:r>
            <a:r>
              <a:rPr sz="2400" spc="-5" dirty="0">
                <a:latin typeface="Lucida Sans Unicode"/>
                <a:cs typeface="Lucida Sans Unicode"/>
              </a:rPr>
              <a:t> discove</a:t>
            </a:r>
            <a:r>
              <a:rPr sz="2400" dirty="0">
                <a:latin typeface="Lucida Sans Unicode"/>
                <a:cs typeface="Lucida Sans Unicode"/>
              </a:rPr>
              <a:t>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defects</a:t>
            </a:r>
            <a:endParaRPr sz="2400">
              <a:latin typeface="Lucida Sans Unicode"/>
              <a:cs typeface="Lucida Sans Unicode"/>
            </a:endParaRPr>
          </a:p>
          <a:p>
            <a:pPr marL="26860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8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interfaces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composite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components.</a:t>
            </a:r>
            <a:endParaRPr sz="2400">
              <a:latin typeface="Lucida Sans Unicode"/>
              <a:cs typeface="Lucida Sans Unicode"/>
            </a:endParaRPr>
          </a:p>
          <a:p>
            <a:pPr marL="268605" marR="180975" indent="-256540">
              <a:lnSpc>
                <a:spcPct val="100000"/>
              </a:lnSpc>
              <a:spcBef>
                <a:spcPts val="405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Equivalence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partitioning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way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discovering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test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cases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-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cases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partition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should </a:t>
            </a:r>
            <a:r>
              <a:rPr sz="2400" dirty="0">
                <a:latin typeface="Lucida Sans Unicode"/>
                <a:cs typeface="Lucida Sans Unicode"/>
              </a:rPr>
              <a:t>behave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same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way.</a:t>
            </a:r>
            <a:endParaRPr sz="2400">
              <a:latin typeface="Lucida Sans Unicode"/>
              <a:cs typeface="Lucida Sans Unicode"/>
            </a:endParaRPr>
          </a:p>
          <a:p>
            <a:pPr marL="268605" marR="5080" indent="-256540">
              <a:lnSpc>
                <a:spcPct val="100000"/>
              </a:lnSpc>
              <a:spcBef>
                <a:spcPts val="400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Structural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analysis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relies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analysing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program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deriving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from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this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analysis.</a:t>
            </a:r>
            <a:endParaRPr sz="2400">
              <a:latin typeface="Lucida Sans Unicode"/>
              <a:cs typeface="Lucida Sans Unicode"/>
            </a:endParaRPr>
          </a:p>
          <a:p>
            <a:pPr marL="268605" marR="799465" indent="-25654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2CA1BE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2CA1BE"/>
                </a:solidFill>
                <a:latin typeface="Microsoft Sans Serif"/>
                <a:cs typeface="Microsoft Sans Serif"/>
              </a:rPr>
              <a:t>​</a:t>
            </a:r>
            <a:r>
              <a:rPr sz="2400" dirty="0">
                <a:latin typeface="Lucida Sans Unicode"/>
                <a:cs typeface="Lucida Sans Unicode"/>
              </a:rPr>
              <a:t>Test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automation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reduces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testing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costs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by</a:t>
            </a:r>
            <a:r>
              <a:rPr sz="2400" spc="600" dirty="0">
                <a:latin typeface="Lucida Sans Unicode"/>
                <a:cs typeface="Lucida Sans Unicode"/>
              </a:rPr>
              <a:t>  </a:t>
            </a:r>
            <a:r>
              <a:rPr sz="2400" dirty="0">
                <a:latin typeface="Lucida Sans Unicode"/>
                <a:cs typeface="Lucida Sans Unicode"/>
              </a:rPr>
              <a:t>supporting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test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process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6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range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of </a:t>
            </a:r>
            <a:r>
              <a:rPr sz="2400" dirty="0">
                <a:latin typeface="Lucida Sans Unicode"/>
                <a:cs typeface="Lucida Sans Unicode"/>
              </a:rPr>
              <a:t>software</a:t>
            </a:r>
            <a:r>
              <a:rPr sz="2400" spc="-1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tools.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72" y="594359"/>
            <a:ext cx="2615183" cy="5212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88</a:t>
            </a:fld>
            <a:endParaRPr spc="-25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923" y="566927"/>
            <a:ext cx="5632704" cy="5486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28800" y="1600200"/>
            <a:ext cx="5334000" cy="4648200"/>
          </a:xfrm>
          <a:prstGeom prst="rect">
            <a:avLst/>
          </a:prstGeom>
          <a:solidFill>
            <a:srgbClr val="CCFFFF"/>
          </a:solidFill>
        </p:spPr>
        <p:txBody>
          <a:bodyPr vert="horz" wrap="square" lIns="0" tIns="635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endParaRPr sz="900">
              <a:latin typeface="Times New Roman"/>
              <a:cs typeface="Times New Roman"/>
            </a:endParaRPr>
          </a:p>
          <a:p>
            <a:pPr marL="753745">
              <a:lnSpc>
                <a:spcPct val="100000"/>
              </a:lnSpc>
            </a:pPr>
            <a:r>
              <a:rPr sz="900" b="1" dirty="0">
                <a:latin typeface="Arial"/>
                <a:cs typeface="Arial"/>
              </a:rPr>
              <a:t>The</a:t>
            </a:r>
            <a:r>
              <a:rPr sz="900" b="1" spc="8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testing</a:t>
            </a:r>
            <a:r>
              <a:rPr sz="900" b="1" spc="80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process</a:t>
            </a:r>
            <a:endParaRPr sz="900">
              <a:latin typeface="Arial"/>
              <a:cs typeface="Arial"/>
            </a:endParaRPr>
          </a:p>
          <a:p>
            <a:pPr marL="753745" marR="676275">
              <a:lnSpc>
                <a:spcPct val="105400"/>
              </a:lnSpc>
            </a:pPr>
            <a:r>
              <a:rPr sz="900" dirty="0">
                <a:latin typeface="Arial MT"/>
                <a:cs typeface="Arial MT"/>
              </a:rPr>
              <a:t>A</a:t>
            </a:r>
            <a:r>
              <a:rPr sz="900" spc="1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description</a:t>
            </a:r>
            <a:r>
              <a:rPr sz="900" spc="1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1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1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major</a:t>
            </a:r>
            <a:r>
              <a:rPr sz="900" spc="1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phases</a:t>
            </a:r>
            <a:r>
              <a:rPr sz="900" spc="1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1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1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testing</a:t>
            </a:r>
            <a:r>
              <a:rPr sz="900" spc="1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process.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These</a:t>
            </a:r>
            <a:r>
              <a:rPr sz="900" spc="7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might</a:t>
            </a:r>
            <a:r>
              <a:rPr sz="900" spc="15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be </a:t>
            </a:r>
            <a:r>
              <a:rPr sz="900" dirty="0">
                <a:latin typeface="Arial MT"/>
                <a:cs typeface="Arial MT"/>
              </a:rPr>
              <a:t>as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described</a:t>
            </a:r>
            <a:r>
              <a:rPr sz="900" spc="9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earlier</a:t>
            </a:r>
            <a:r>
              <a:rPr sz="900" spc="10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</a:t>
            </a:r>
            <a:r>
              <a:rPr sz="900" spc="9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this</a:t>
            </a:r>
            <a:r>
              <a:rPr sz="900" spc="15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chapter.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900">
              <a:latin typeface="Arial MT"/>
              <a:cs typeface="Arial MT"/>
            </a:endParaRPr>
          </a:p>
          <a:p>
            <a:pPr marL="753745">
              <a:lnSpc>
                <a:spcPct val="100000"/>
              </a:lnSpc>
            </a:pPr>
            <a:r>
              <a:rPr sz="900" b="1" dirty="0">
                <a:latin typeface="Arial"/>
                <a:cs typeface="Arial"/>
              </a:rPr>
              <a:t>Requirements</a:t>
            </a:r>
            <a:r>
              <a:rPr sz="900" b="1" spc="204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traceability</a:t>
            </a:r>
            <a:endParaRPr sz="900">
              <a:latin typeface="Arial"/>
              <a:cs typeface="Arial"/>
            </a:endParaRPr>
          </a:p>
          <a:p>
            <a:pPr marL="753745" marR="673100">
              <a:lnSpc>
                <a:spcPct val="105400"/>
              </a:lnSpc>
            </a:pPr>
            <a:r>
              <a:rPr sz="900" dirty="0">
                <a:latin typeface="Arial MT"/>
                <a:cs typeface="Arial MT"/>
              </a:rPr>
              <a:t>Users</a:t>
            </a:r>
            <a:r>
              <a:rPr sz="900" spc="30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are</a:t>
            </a:r>
            <a:r>
              <a:rPr sz="900" spc="27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most</a:t>
            </a:r>
            <a:r>
              <a:rPr sz="900" spc="2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interested</a:t>
            </a:r>
            <a:r>
              <a:rPr sz="900" spc="27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</a:t>
            </a:r>
            <a:r>
              <a:rPr sz="900" spc="30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27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system</a:t>
            </a:r>
            <a:r>
              <a:rPr sz="900" spc="26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meeting</a:t>
            </a:r>
            <a:r>
              <a:rPr sz="900" spc="27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its</a:t>
            </a:r>
            <a:r>
              <a:rPr sz="900" spc="27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requirements</a:t>
            </a:r>
            <a:r>
              <a:rPr sz="900" spc="27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and </a:t>
            </a:r>
            <a:r>
              <a:rPr sz="900" dirty="0">
                <a:latin typeface="Arial MT"/>
                <a:cs typeface="Arial MT"/>
              </a:rPr>
              <a:t>testing</a:t>
            </a:r>
            <a:r>
              <a:rPr sz="900" spc="114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should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be</a:t>
            </a:r>
            <a:r>
              <a:rPr sz="900" spc="1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planned</a:t>
            </a:r>
            <a:r>
              <a:rPr sz="900" spc="1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that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all</a:t>
            </a:r>
            <a:r>
              <a:rPr sz="900" spc="7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requirements</a:t>
            </a:r>
            <a:r>
              <a:rPr sz="900" spc="1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are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individually</a:t>
            </a:r>
            <a:r>
              <a:rPr sz="900" spc="15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tested.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Arial MT"/>
              <a:cs typeface="Arial MT"/>
            </a:endParaRPr>
          </a:p>
          <a:p>
            <a:pPr marL="753745">
              <a:lnSpc>
                <a:spcPct val="100000"/>
              </a:lnSpc>
            </a:pPr>
            <a:r>
              <a:rPr sz="900" b="1" dirty="0">
                <a:latin typeface="Arial"/>
                <a:cs typeface="Arial"/>
              </a:rPr>
              <a:t>Tested</a:t>
            </a:r>
            <a:r>
              <a:rPr sz="900" b="1" spc="114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items</a:t>
            </a:r>
            <a:endParaRPr sz="900">
              <a:latin typeface="Arial"/>
              <a:cs typeface="Arial"/>
            </a:endParaRPr>
          </a:p>
          <a:p>
            <a:pPr marL="753745" marR="676275">
              <a:lnSpc>
                <a:spcPct val="105400"/>
              </a:lnSpc>
            </a:pPr>
            <a:r>
              <a:rPr sz="900" dirty="0">
                <a:latin typeface="Arial MT"/>
                <a:cs typeface="Arial MT"/>
              </a:rPr>
              <a:t>The</a:t>
            </a:r>
            <a:r>
              <a:rPr sz="900" spc="28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products</a:t>
            </a:r>
            <a:r>
              <a:rPr sz="900" spc="254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2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28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software</a:t>
            </a:r>
            <a:r>
              <a:rPr sz="900" spc="29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process</a:t>
            </a:r>
            <a:r>
              <a:rPr sz="900" spc="254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that</a:t>
            </a:r>
            <a:r>
              <a:rPr sz="900" spc="29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are</a:t>
            </a:r>
            <a:r>
              <a:rPr sz="900" spc="254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28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be</a:t>
            </a:r>
            <a:r>
              <a:rPr sz="900" spc="2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tested</a:t>
            </a:r>
            <a:r>
              <a:rPr sz="900" spc="254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should</a:t>
            </a:r>
            <a:r>
              <a:rPr sz="900" spc="28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be </a:t>
            </a:r>
            <a:r>
              <a:rPr sz="900" spc="-10" dirty="0">
                <a:latin typeface="Arial MT"/>
                <a:cs typeface="Arial MT"/>
              </a:rPr>
              <a:t>specified.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Arial MT"/>
              <a:cs typeface="Arial MT"/>
            </a:endParaRPr>
          </a:p>
          <a:p>
            <a:pPr marL="753745">
              <a:lnSpc>
                <a:spcPct val="100000"/>
              </a:lnSpc>
            </a:pPr>
            <a:r>
              <a:rPr sz="900" b="1" dirty="0">
                <a:latin typeface="Arial"/>
                <a:cs typeface="Arial"/>
              </a:rPr>
              <a:t>Testing</a:t>
            </a:r>
            <a:r>
              <a:rPr sz="900" b="1" spc="110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schedule</a:t>
            </a:r>
            <a:endParaRPr sz="900">
              <a:latin typeface="Arial"/>
              <a:cs typeface="Arial"/>
            </a:endParaRPr>
          </a:p>
          <a:p>
            <a:pPr marL="753745">
              <a:lnSpc>
                <a:spcPct val="100000"/>
              </a:lnSpc>
              <a:spcBef>
                <a:spcPts val="60"/>
              </a:spcBef>
            </a:pPr>
            <a:r>
              <a:rPr sz="900" dirty="0">
                <a:latin typeface="Arial MT"/>
                <a:cs typeface="Arial MT"/>
              </a:rPr>
              <a:t>An</a:t>
            </a:r>
            <a:r>
              <a:rPr sz="900" spc="3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overall</a:t>
            </a:r>
            <a:r>
              <a:rPr sz="900" spc="3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testing</a:t>
            </a:r>
            <a:r>
              <a:rPr sz="900" spc="3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schedule</a:t>
            </a:r>
            <a:r>
              <a:rPr sz="900" spc="29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3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resource</a:t>
            </a:r>
            <a:r>
              <a:rPr sz="900" spc="3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allocation</a:t>
            </a:r>
            <a:r>
              <a:rPr sz="900" spc="3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</a:t>
            </a:r>
            <a:r>
              <a:rPr sz="900" spc="3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this</a:t>
            </a:r>
            <a:r>
              <a:rPr sz="900" spc="3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schedule.</a:t>
            </a:r>
            <a:endParaRPr sz="900">
              <a:latin typeface="Arial MT"/>
              <a:cs typeface="Arial MT"/>
            </a:endParaRPr>
          </a:p>
          <a:p>
            <a:pPr marL="753745" marR="676910">
              <a:lnSpc>
                <a:spcPct val="105400"/>
              </a:lnSpc>
            </a:pPr>
            <a:r>
              <a:rPr sz="900" dirty="0">
                <a:latin typeface="Arial MT"/>
                <a:cs typeface="Arial MT"/>
              </a:rPr>
              <a:t>This,</a:t>
            </a:r>
            <a:r>
              <a:rPr sz="900" spc="434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obv</a:t>
            </a:r>
            <a:r>
              <a:rPr sz="900" spc="-7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iously,</a:t>
            </a:r>
            <a:r>
              <a:rPr sz="900" spc="46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4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linked</a:t>
            </a:r>
            <a:r>
              <a:rPr sz="900" spc="4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4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4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more</a:t>
            </a:r>
            <a:r>
              <a:rPr sz="900" spc="4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general</a:t>
            </a:r>
            <a:r>
              <a:rPr sz="900" spc="46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project</a:t>
            </a:r>
            <a:r>
              <a:rPr sz="900" spc="38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development schedule.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Arial MT"/>
              <a:cs typeface="Arial MT"/>
            </a:endParaRPr>
          </a:p>
          <a:p>
            <a:pPr marL="753745">
              <a:lnSpc>
                <a:spcPct val="100000"/>
              </a:lnSpc>
            </a:pPr>
            <a:r>
              <a:rPr sz="900" b="1" dirty="0">
                <a:latin typeface="Arial"/>
                <a:cs typeface="Arial"/>
              </a:rPr>
              <a:t>Test</a:t>
            </a:r>
            <a:r>
              <a:rPr sz="900" b="1" spc="7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recording</a:t>
            </a:r>
            <a:r>
              <a:rPr sz="900" b="1" spc="26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procedures</a:t>
            </a:r>
            <a:endParaRPr sz="900">
              <a:latin typeface="Arial"/>
              <a:cs typeface="Arial"/>
            </a:endParaRPr>
          </a:p>
          <a:p>
            <a:pPr marL="753745">
              <a:lnSpc>
                <a:spcPct val="100000"/>
              </a:lnSpc>
              <a:spcBef>
                <a:spcPts val="60"/>
              </a:spcBef>
            </a:pPr>
            <a:r>
              <a:rPr sz="900" dirty="0">
                <a:latin typeface="Arial MT"/>
                <a:cs typeface="Arial MT"/>
              </a:rPr>
              <a:t>It</a:t>
            </a:r>
            <a:r>
              <a:rPr sz="900" spc="27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27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not</a:t>
            </a:r>
            <a:r>
              <a:rPr sz="900" spc="28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enough</a:t>
            </a:r>
            <a:r>
              <a:rPr sz="900" spc="27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simply</a:t>
            </a:r>
            <a:r>
              <a:rPr sz="900" spc="2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30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run</a:t>
            </a:r>
            <a:r>
              <a:rPr sz="900" spc="27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tests.</a:t>
            </a:r>
            <a:r>
              <a:rPr sz="900" spc="28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27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results</a:t>
            </a:r>
            <a:r>
              <a:rPr sz="900" spc="2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254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30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tests</a:t>
            </a:r>
            <a:r>
              <a:rPr sz="900" spc="19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must</a:t>
            </a:r>
            <a:r>
              <a:rPr sz="900" spc="28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be</a:t>
            </a:r>
            <a:endParaRPr sz="900">
              <a:latin typeface="Arial MT"/>
              <a:cs typeface="Arial MT"/>
            </a:endParaRPr>
          </a:p>
          <a:p>
            <a:pPr marL="753745" marR="673100">
              <a:lnSpc>
                <a:spcPct val="105400"/>
              </a:lnSpc>
            </a:pPr>
            <a:r>
              <a:rPr sz="900" dirty="0">
                <a:latin typeface="Arial MT"/>
                <a:cs typeface="Arial MT"/>
              </a:rPr>
              <a:t>systematically</a:t>
            </a:r>
            <a:r>
              <a:rPr sz="900" spc="19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recorded.</a:t>
            </a:r>
            <a:r>
              <a:rPr sz="900" spc="16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It</a:t>
            </a:r>
            <a:r>
              <a:rPr sz="900" spc="2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must</a:t>
            </a:r>
            <a:r>
              <a:rPr sz="900" spc="16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be</a:t>
            </a:r>
            <a:r>
              <a:rPr sz="900" spc="2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possible</a:t>
            </a:r>
            <a:r>
              <a:rPr sz="900" spc="18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2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audit</a:t>
            </a:r>
            <a:r>
              <a:rPr sz="900" spc="19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2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testing</a:t>
            </a:r>
            <a:r>
              <a:rPr sz="900" spc="18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process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check</a:t>
            </a:r>
            <a:r>
              <a:rPr sz="900" spc="6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that</a:t>
            </a:r>
            <a:r>
              <a:rPr sz="900" spc="185" dirty="0">
                <a:latin typeface="Arial MT"/>
                <a:cs typeface="Arial MT"/>
              </a:rPr>
              <a:t> </a:t>
            </a:r>
            <a:r>
              <a:rPr sz="900" spc="-35" dirty="0">
                <a:latin typeface="Arial MT"/>
                <a:cs typeface="Arial MT"/>
              </a:rPr>
              <a:t>it</a:t>
            </a:r>
            <a:r>
              <a:rPr sz="900" spc="7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been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carried</a:t>
            </a:r>
            <a:r>
              <a:rPr sz="900" spc="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out</a:t>
            </a:r>
            <a:r>
              <a:rPr sz="900" spc="7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correctly.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00">
              <a:latin typeface="Arial MT"/>
              <a:cs typeface="Arial MT"/>
            </a:endParaRPr>
          </a:p>
          <a:p>
            <a:pPr marL="753745">
              <a:lnSpc>
                <a:spcPct val="100000"/>
              </a:lnSpc>
            </a:pPr>
            <a:r>
              <a:rPr sz="900" b="1" dirty="0">
                <a:latin typeface="Arial"/>
                <a:cs typeface="Arial"/>
              </a:rPr>
              <a:t>Hardware</a:t>
            </a:r>
            <a:r>
              <a:rPr sz="900" b="1" spc="6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and</a:t>
            </a:r>
            <a:r>
              <a:rPr sz="900" b="1" spc="2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software</a:t>
            </a:r>
            <a:r>
              <a:rPr sz="900" b="1" spc="3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requirements</a:t>
            </a:r>
            <a:endParaRPr sz="900">
              <a:latin typeface="Arial"/>
              <a:cs typeface="Arial"/>
            </a:endParaRPr>
          </a:p>
          <a:p>
            <a:pPr marL="753745" marR="673100">
              <a:lnSpc>
                <a:spcPts val="1140"/>
              </a:lnSpc>
              <a:spcBef>
                <a:spcPts val="45"/>
              </a:spcBef>
            </a:pPr>
            <a:r>
              <a:rPr sz="900" dirty="0">
                <a:latin typeface="Arial MT"/>
                <a:cs typeface="Arial MT"/>
              </a:rPr>
              <a:t>This</a:t>
            </a:r>
            <a:r>
              <a:rPr sz="900" spc="135" dirty="0">
                <a:latin typeface="Arial MT"/>
                <a:cs typeface="Arial MT"/>
              </a:rPr>
              <a:t>  </a:t>
            </a:r>
            <a:r>
              <a:rPr sz="900" dirty="0">
                <a:latin typeface="Arial MT"/>
                <a:cs typeface="Arial MT"/>
              </a:rPr>
              <a:t>section</a:t>
            </a:r>
            <a:r>
              <a:rPr sz="900" spc="49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should</a:t>
            </a:r>
            <a:r>
              <a:rPr sz="900" spc="49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set</a:t>
            </a:r>
            <a:r>
              <a:rPr sz="900" spc="125" dirty="0">
                <a:latin typeface="Arial MT"/>
                <a:cs typeface="Arial MT"/>
              </a:rPr>
              <a:t>  </a:t>
            </a:r>
            <a:r>
              <a:rPr sz="900" dirty="0">
                <a:latin typeface="Arial MT"/>
                <a:cs typeface="Arial MT"/>
              </a:rPr>
              <a:t>out</a:t>
            </a:r>
            <a:r>
              <a:rPr sz="900" spc="48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software</a:t>
            </a:r>
            <a:r>
              <a:rPr sz="900" spc="46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tools</a:t>
            </a:r>
            <a:r>
              <a:rPr sz="900" spc="125" dirty="0">
                <a:latin typeface="Arial MT"/>
                <a:cs typeface="Arial MT"/>
              </a:rPr>
              <a:t>  </a:t>
            </a:r>
            <a:r>
              <a:rPr sz="900" dirty="0">
                <a:latin typeface="Arial MT"/>
                <a:cs typeface="Arial MT"/>
              </a:rPr>
              <a:t>required</a:t>
            </a:r>
            <a:r>
              <a:rPr sz="900" spc="135" dirty="0">
                <a:latin typeface="Arial MT"/>
                <a:cs typeface="Arial MT"/>
              </a:rPr>
              <a:t> 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125" dirty="0">
                <a:latin typeface="Arial MT"/>
                <a:cs typeface="Arial MT"/>
              </a:rPr>
              <a:t>  </a:t>
            </a:r>
            <a:r>
              <a:rPr sz="900" spc="-10" dirty="0">
                <a:latin typeface="Arial MT"/>
                <a:cs typeface="Arial MT"/>
              </a:rPr>
              <a:t>estimated </a:t>
            </a:r>
            <a:r>
              <a:rPr sz="900" dirty="0">
                <a:latin typeface="Arial MT"/>
                <a:cs typeface="Arial MT"/>
              </a:rPr>
              <a:t>hardware</a:t>
            </a:r>
            <a:r>
              <a:rPr sz="900" spc="15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utilisation.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900">
              <a:latin typeface="Arial MT"/>
              <a:cs typeface="Arial MT"/>
            </a:endParaRPr>
          </a:p>
          <a:p>
            <a:pPr marL="753745">
              <a:lnSpc>
                <a:spcPct val="100000"/>
              </a:lnSpc>
            </a:pPr>
            <a:r>
              <a:rPr sz="900" b="1" spc="-10" dirty="0">
                <a:latin typeface="Arial"/>
                <a:cs typeface="Arial"/>
              </a:rPr>
              <a:t>Constraints</a:t>
            </a:r>
            <a:endParaRPr sz="900">
              <a:latin typeface="Arial"/>
              <a:cs typeface="Arial"/>
            </a:endParaRPr>
          </a:p>
          <a:p>
            <a:pPr marL="753745" marR="673100">
              <a:lnSpc>
                <a:spcPts val="1140"/>
              </a:lnSpc>
              <a:spcBef>
                <a:spcPts val="45"/>
              </a:spcBef>
            </a:pPr>
            <a:r>
              <a:rPr sz="900" spc="20" dirty="0">
                <a:latin typeface="Arial MT"/>
                <a:cs typeface="Arial MT"/>
              </a:rPr>
              <a:t>Constraints</a:t>
            </a:r>
            <a:r>
              <a:rPr sz="900" spc="80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affecting</a:t>
            </a:r>
            <a:r>
              <a:rPr sz="900" spc="125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the</a:t>
            </a:r>
            <a:r>
              <a:rPr sz="900" spc="130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testing</a:t>
            </a:r>
            <a:r>
              <a:rPr sz="900" spc="130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process</a:t>
            </a:r>
            <a:r>
              <a:rPr sz="900" spc="105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such</a:t>
            </a:r>
            <a:r>
              <a:rPr sz="900" spc="80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as</a:t>
            </a:r>
            <a:r>
              <a:rPr sz="900" spc="130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staff</a:t>
            </a:r>
            <a:r>
              <a:rPr sz="900" spc="-65" dirty="0">
                <a:latin typeface="Arial MT"/>
                <a:cs typeface="Arial MT"/>
              </a:rPr>
              <a:t> </a:t>
            </a:r>
            <a:r>
              <a:rPr sz="900" spc="20" dirty="0">
                <a:latin typeface="Arial MT"/>
                <a:cs typeface="Arial MT"/>
              </a:rPr>
              <a:t>shortages</a:t>
            </a:r>
            <a:r>
              <a:rPr sz="900" spc="1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should </a:t>
            </a:r>
            <a:r>
              <a:rPr sz="900" dirty="0">
                <a:latin typeface="Arial MT"/>
                <a:cs typeface="Arial MT"/>
              </a:rPr>
              <a:t>be</a:t>
            </a:r>
            <a:r>
              <a:rPr sz="900" spc="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anticipated</a:t>
            </a:r>
            <a:r>
              <a:rPr sz="900" spc="8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</a:t>
            </a:r>
            <a:r>
              <a:rPr sz="900" spc="8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this</a:t>
            </a:r>
            <a:r>
              <a:rPr sz="900" spc="8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section.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89</a:t>
            </a:fld>
            <a:endParaRPr spc="-25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5900" y="1773681"/>
            <a:ext cx="8515985" cy="173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 algn="just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What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is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Software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Maintenance?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2915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Software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Maintenance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very</a:t>
            </a:r>
            <a:r>
              <a:rPr sz="2000" b="1" spc="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broad</a:t>
            </a:r>
            <a:r>
              <a:rPr sz="2000" b="1" spc="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activity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that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includes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error</a:t>
            </a:r>
            <a:r>
              <a:rPr sz="2000" b="1" spc="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corrections,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enhancements</a:t>
            </a:r>
            <a:r>
              <a:rPr sz="2000" b="1" spc="49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170" dirty="0">
                <a:solidFill>
                  <a:srgbClr val="003366"/>
                </a:solidFill>
                <a:latin typeface="Times New Roman"/>
                <a:cs typeface="Times New Roman"/>
              </a:rPr>
              <a:t> 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capabilities,</a:t>
            </a:r>
            <a:r>
              <a:rPr sz="2000" b="1" spc="170" dirty="0">
                <a:solidFill>
                  <a:srgbClr val="003366"/>
                </a:solidFill>
                <a:latin typeface="Times New Roman"/>
                <a:cs typeface="Times New Roman"/>
              </a:rPr>
              <a:t> 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deletion</a:t>
            </a:r>
            <a:r>
              <a:rPr sz="2000" b="1" spc="170" dirty="0">
                <a:solidFill>
                  <a:srgbClr val="003366"/>
                </a:solidFill>
                <a:latin typeface="Times New Roman"/>
                <a:cs typeface="Times New Roman"/>
              </a:rPr>
              <a:t> 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165" dirty="0">
                <a:solidFill>
                  <a:srgbClr val="003366"/>
                </a:solidFill>
                <a:latin typeface="Times New Roman"/>
                <a:cs typeface="Times New Roman"/>
              </a:rPr>
              <a:t> 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obsolete</a:t>
            </a:r>
            <a:r>
              <a:rPr sz="2000" b="1" spc="170" dirty="0">
                <a:solidFill>
                  <a:srgbClr val="003366"/>
                </a:solidFill>
                <a:latin typeface="Times New Roman"/>
                <a:cs typeface="Times New Roman"/>
              </a:rPr>
              <a:t> 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capabilities,</a:t>
            </a:r>
            <a:r>
              <a:rPr sz="2000" b="1" spc="165" dirty="0">
                <a:solidFill>
                  <a:srgbClr val="003366"/>
                </a:solidFill>
                <a:latin typeface="Times New Roman"/>
                <a:cs typeface="Times New Roman"/>
              </a:rPr>
              <a:t>  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and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optimization.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90</a:t>
            </a:fld>
            <a:endParaRPr spc="-25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0890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4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Software</a:t>
            </a:r>
            <a:r>
              <a:rPr spc="-175" dirty="0"/>
              <a:t> </a:t>
            </a:r>
            <a:r>
              <a:rPr spc="-315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91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444500" y="1240281"/>
            <a:ext cx="8514715" cy="5090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 algn="just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Categories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Maintenance</a:t>
            </a:r>
            <a:endParaRPr sz="2800">
              <a:latin typeface="Times New Roman"/>
              <a:cs typeface="Times New Roman"/>
            </a:endParaRPr>
          </a:p>
          <a:p>
            <a:pPr marL="484505" indent="-456565">
              <a:lnSpc>
                <a:spcPct val="100000"/>
              </a:lnSpc>
              <a:spcBef>
                <a:spcPts val="2980"/>
              </a:spcBef>
              <a:buFont typeface="Wingdings"/>
              <a:buChar char=""/>
              <a:tabLst>
                <a:tab pos="48450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Corrective</a:t>
            </a:r>
            <a:r>
              <a:rPr sz="24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maintenance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30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This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refer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modifications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initiated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by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defects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software.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indent="-456565">
              <a:lnSpc>
                <a:spcPct val="100000"/>
              </a:lnSpc>
              <a:buFont typeface="Wingdings"/>
              <a:buChar char=""/>
              <a:tabLst>
                <a:tab pos="48450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Adaptive</a:t>
            </a:r>
            <a:r>
              <a:rPr sz="24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maintenance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100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It</a:t>
            </a:r>
            <a:r>
              <a:rPr sz="2000" b="1" spc="4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includes</a:t>
            </a:r>
            <a:r>
              <a:rPr sz="2000" b="1" spc="4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modifying</a:t>
            </a:r>
            <a:r>
              <a:rPr sz="2000" b="1" spc="4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40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software</a:t>
            </a:r>
            <a:r>
              <a:rPr sz="2000" b="1" spc="40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40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match</a:t>
            </a:r>
            <a:r>
              <a:rPr sz="2000" b="1" spc="4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changes</a:t>
            </a:r>
            <a:r>
              <a:rPr sz="2000" b="1" spc="4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sz="2000" b="1" spc="409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4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ever</a:t>
            </a:r>
            <a:r>
              <a:rPr sz="2000" b="1" spc="3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changing environment.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indent="-456565">
              <a:lnSpc>
                <a:spcPct val="100000"/>
              </a:lnSpc>
              <a:buFont typeface="Wingdings"/>
              <a:buChar char=""/>
              <a:tabLst>
                <a:tab pos="48450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Perfective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maintenance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580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It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means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improving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processing</a:t>
            </a:r>
            <a:r>
              <a:rPr sz="2000" b="1" spc="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efficiency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performance, or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restructuring</a:t>
            </a:r>
            <a:r>
              <a:rPr sz="2000" b="1" spc="-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the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software</a:t>
            </a:r>
            <a:r>
              <a:rPr sz="2000" b="1" spc="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improve</a:t>
            </a:r>
            <a:r>
              <a:rPr sz="2000" b="1" spc="10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changeability.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This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may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include</a:t>
            </a:r>
            <a:r>
              <a:rPr sz="2000" b="1" spc="1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enhancement</a:t>
            </a:r>
            <a:r>
              <a:rPr sz="2000" b="1" spc="1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existing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system</a:t>
            </a:r>
            <a:r>
              <a:rPr sz="2000" b="1" spc="-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functionality,</a:t>
            </a:r>
            <a:r>
              <a:rPr sz="2000" b="1" spc="-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improvement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computational</a:t>
            </a:r>
            <a:r>
              <a:rPr sz="2000" b="1" spc="-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efficiency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etc.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92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307340" y="1927605"/>
            <a:ext cx="8547100" cy="2116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Other</a:t>
            </a:r>
            <a:r>
              <a:rPr sz="24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types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maintenance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2400">
              <a:latin typeface="Times New Roman"/>
              <a:cs typeface="Times New Roman"/>
            </a:endParaRPr>
          </a:p>
          <a:p>
            <a:pPr marL="149860" marR="5080" algn="just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There</a:t>
            </a:r>
            <a:r>
              <a:rPr sz="2000" b="1" spc="2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000" b="1" spc="2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long</a:t>
            </a:r>
            <a:r>
              <a:rPr sz="2000" b="1" spc="2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term</a:t>
            </a:r>
            <a:r>
              <a:rPr sz="2000" b="1" spc="2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effects</a:t>
            </a:r>
            <a:r>
              <a:rPr sz="2000" b="1" spc="2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2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corrective,</a:t>
            </a:r>
            <a:r>
              <a:rPr sz="2000" b="1" spc="2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adaptive</a:t>
            </a:r>
            <a:r>
              <a:rPr sz="2000" b="1" spc="2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sz="2000" b="1" spc="2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perfective</a:t>
            </a:r>
            <a:r>
              <a:rPr sz="2000" b="1" spc="2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changes.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This</a:t>
            </a:r>
            <a:r>
              <a:rPr sz="2000" b="1" spc="7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leads</a:t>
            </a:r>
            <a:r>
              <a:rPr sz="2000" b="1" spc="7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7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increase</a:t>
            </a:r>
            <a:r>
              <a:rPr sz="2000" b="1" spc="8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sz="2000" b="1" spc="7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8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complexity</a:t>
            </a:r>
            <a:r>
              <a:rPr sz="2000" b="1" spc="7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7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7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software,</a:t>
            </a:r>
            <a:r>
              <a:rPr sz="2000" b="1" spc="8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which</a:t>
            </a:r>
            <a:r>
              <a:rPr sz="2000" b="1" spc="7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reflect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deteriorating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structure.</a:t>
            </a:r>
            <a:r>
              <a:rPr sz="2000" b="1" spc="1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10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work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required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10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be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done</a:t>
            </a:r>
            <a:r>
              <a:rPr sz="2000" b="1" spc="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9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maintain</a:t>
            </a:r>
            <a:r>
              <a:rPr sz="2000" b="1" spc="10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it</a:t>
            </a:r>
            <a:r>
              <a:rPr sz="2000" b="1" spc="1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</a:t>
            </a:r>
            <a:r>
              <a:rPr sz="2000" b="1" spc="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to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reduce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it,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if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possible.</a:t>
            </a:r>
            <a:r>
              <a:rPr sz="2000" b="1" spc="-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This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work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may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be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named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as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preventive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maintenance.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22805" y="5616650"/>
            <a:ext cx="539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Fig.</a:t>
            </a:r>
            <a:r>
              <a:rPr sz="2400" b="1" spc="-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1:</a:t>
            </a:r>
            <a:r>
              <a:rPr sz="24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Distribution</a:t>
            </a:r>
            <a:r>
              <a:rPr sz="2400" b="1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4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maintenance</a:t>
            </a:r>
            <a:r>
              <a:rPr sz="24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effort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43506" y="1705144"/>
            <a:ext cx="3220085" cy="3225165"/>
            <a:chOff x="2443506" y="1705144"/>
            <a:chExt cx="3220085" cy="3225165"/>
          </a:xfrm>
        </p:grpSpPr>
        <p:sp>
          <p:nvSpPr>
            <p:cNvPr id="6" name="object 6"/>
            <p:cNvSpPr/>
            <p:nvPr/>
          </p:nvSpPr>
          <p:spPr>
            <a:xfrm>
              <a:off x="4039450" y="1718824"/>
              <a:ext cx="1619250" cy="3206750"/>
            </a:xfrm>
            <a:custGeom>
              <a:avLst/>
              <a:gdLst/>
              <a:ahLst/>
              <a:cxnLst/>
              <a:rect l="l" t="t" r="r" b="b"/>
              <a:pathLst>
                <a:path w="1619250" h="3206750">
                  <a:moveTo>
                    <a:pt x="9135" y="0"/>
                  </a:moveTo>
                  <a:lnTo>
                    <a:pt x="9135" y="1598650"/>
                  </a:lnTo>
                  <a:lnTo>
                    <a:pt x="1161" y="2994027"/>
                  </a:lnTo>
                  <a:lnTo>
                    <a:pt x="1035" y="3015996"/>
                  </a:lnTo>
                  <a:lnTo>
                    <a:pt x="916" y="3036876"/>
                  </a:lnTo>
                  <a:lnTo>
                    <a:pt x="803" y="3056645"/>
                  </a:lnTo>
                  <a:lnTo>
                    <a:pt x="696" y="3075285"/>
                  </a:lnTo>
                  <a:lnTo>
                    <a:pt x="596" y="3092775"/>
                  </a:lnTo>
                  <a:lnTo>
                    <a:pt x="503" y="3109094"/>
                  </a:lnTo>
                  <a:lnTo>
                    <a:pt x="417" y="3124224"/>
                  </a:lnTo>
                  <a:lnTo>
                    <a:pt x="337" y="3138143"/>
                  </a:lnTo>
                  <a:lnTo>
                    <a:pt x="265" y="3150832"/>
                  </a:lnTo>
                  <a:lnTo>
                    <a:pt x="199" y="3162271"/>
                  </a:lnTo>
                  <a:lnTo>
                    <a:pt x="90" y="3181316"/>
                  </a:lnTo>
                  <a:lnTo>
                    <a:pt x="0" y="3197240"/>
                  </a:lnTo>
                  <a:lnTo>
                    <a:pt x="9135" y="3197240"/>
                  </a:lnTo>
                  <a:lnTo>
                    <a:pt x="9135" y="3206354"/>
                  </a:lnTo>
                  <a:lnTo>
                    <a:pt x="57369" y="3205642"/>
                  </a:lnTo>
                  <a:lnTo>
                    <a:pt x="105257" y="3203519"/>
                  </a:lnTo>
                  <a:lnTo>
                    <a:pt x="152777" y="3200005"/>
                  </a:lnTo>
                  <a:lnTo>
                    <a:pt x="199911" y="3195119"/>
                  </a:lnTo>
                  <a:lnTo>
                    <a:pt x="246637" y="3188883"/>
                  </a:lnTo>
                  <a:lnTo>
                    <a:pt x="292936" y="3181316"/>
                  </a:lnTo>
                  <a:lnTo>
                    <a:pt x="338788" y="3172439"/>
                  </a:lnTo>
                  <a:lnTo>
                    <a:pt x="384172" y="3162271"/>
                  </a:lnTo>
                  <a:lnTo>
                    <a:pt x="429069" y="3150832"/>
                  </a:lnTo>
                  <a:lnTo>
                    <a:pt x="473458" y="3138143"/>
                  </a:lnTo>
                  <a:lnTo>
                    <a:pt x="517319" y="3124224"/>
                  </a:lnTo>
                  <a:lnTo>
                    <a:pt x="560632" y="3109094"/>
                  </a:lnTo>
                  <a:lnTo>
                    <a:pt x="603377" y="3092775"/>
                  </a:lnTo>
                  <a:lnTo>
                    <a:pt x="645534" y="3075285"/>
                  </a:lnTo>
                  <a:lnTo>
                    <a:pt x="687082" y="3056645"/>
                  </a:lnTo>
                  <a:lnTo>
                    <a:pt x="728002" y="3036876"/>
                  </a:lnTo>
                  <a:lnTo>
                    <a:pt x="768273" y="3015996"/>
                  </a:lnTo>
                  <a:lnTo>
                    <a:pt x="807876" y="2994027"/>
                  </a:lnTo>
                  <a:lnTo>
                    <a:pt x="846789" y="2970988"/>
                  </a:lnTo>
                  <a:lnTo>
                    <a:pt x="884994" y="2946900"/>
                  </a:lnTo>
                  <a:lnTo>
                    <a:pt x="922470" y="2921782"/>
                  </a:lnTo>
                  <a:lnTo>
                    <a:pt x="959196" y="2895655"/>
                  </a:lnTo>
                  <a:lnTo>
                    <a:pt x="995153" y="2868538"/>
                  </a:lnTo>
                  <a:lnTo>
                    <a:pt x="1030321" y="2840453"/>
                  </a:lnTo>
                  <a:lnTo>
                    <a:pt x="1064679" y="2811418"/>
                  </a:lnTo>
                  <a:lnTo>
                    <a:pt x="1098207" y="2781454"/>
                  </a:lnTo>
                  <a:lnTo>
                    <a:pt x="1130886" y="2750581"/>
                  </a:lnTo>
                  <a:lnTo>
                    <a:pt x="1162694" y="2718819"/>
                  </a:lnTo>
                  <a:lnTo>
                    <a:pt x="1193613" y="2686189"/>
                  </a:lnTo>
                  <a:lnTo>
                    <a:pt x="1223621" y="2652710"/>
                  </a:lnTo>
                  <a:lnTo>
                    <a:pt x="1252699" y="2618402"/>
                  </a:lnTo>
                  <a:lnTo>
                    <a:pt x="1280826" y="2583286"/>
                  </a:lnTo>
                  <a:lnTo>
                    <a:pt x="1307983" y="2547381"/>
                  </a:lnTo>
                  <a:lnTo>
                    <a:pt x="1334150" y="2510708"/>
                  </a:lnTo>
                  <a:lnTo>
                    <a:pt x="1359305" y="2473286"/>
                  </a:lnTo>
                  <a:lnTo>
                    <a:pt x="1383429" y="2435137"/>
                  </a:lnTo>
                  <a:lnTo>
                    <a:pt x="1406503" y="2396279"/>
                  </a:lnTo>
                  <a:lnTo>
                    <a:pt x="1428505" y="2356733"/>
                  </a:lnTo>
                  <a:lnTo>
                    <a:pt x="1449416" y="2316519"/>
                  </a:lnTo>
                  <a:lnTo>
                    <a:pt x="1469216" y="2275658"/>
                  </a:lnTo>
                  <a:lnTo>
                    <a:pt x="1487884" y="2234168"/>
                  </a:lnTo>
                  <a:lnTo>
                    <a:pt x="1505400" y="2192071"/>
                  </a:lnTo>
                  <a:lnTo>
                    <a:pt x="1521744" y="2149387"/>
                  </a:lnTo>
                  <a:lnTo>
                    <a:pt x="1536897" y="2106135"/>
                  </a:lnTo>
                  <a:lnTo>
                    <a:pt x="1550837" y="2062335"/>
                  </a:lnTo>
                  <a:lnTo>
                    <a:pt x="1563546" y="2018008"/>
                  </a:lnTo>
                  <a:lnTo>
                    <a:pt x="1575002" y="1973174"/>
                  </a:lnTo>
                  <a:lnTo>
                    <a:pt x="1585185" y="1927853"/>
                  </a:lnTo>
                  <a:lnTo>
                    <a:pt x="1594077" y="1882064"/>
                  </a:lnTo>
                  <a:lnTo>
                    <a:pt x="1601655" y="1835829"/>
                  </a:lnTo>
                  <a:lnTo>
                    <a:pt x="1607901" y="1789167"/>
                  </a:lnTo>
                  <a:lnTo>
                    <a:pt x="1612793" y="1742098"/>
                  </a:lnTo>
                  <a:lnTo>
                    <a:pt x="1616313" y="1694642"/>
                  </a:lnTo>
                  <a:lnTo>
                    <a:pt x="1618440" y="1646819"/>
                  </a:lnTo>
                  <a:lnTo>
                    <a:pt x="1619153" y="1598650"/>
                  </a:lnTo>
                  <a:lnTo>
                    <a:pt x="1618440" y="1550484"/>
                  </a:lnTo>
                  <a:lnTo>
                    <a:pt x="1616313" y="1502681"/>
                  </a:lnTo>
                  <a:lnTo>
                    <a:pt x="1612793" y="1455263"/>
                  </a:lnTo>
                  <a:lnTo>
                    <a:pt x="1607901" y="1408247"/>
                  </a:lnTo>
                  <a:lnTo>
                    <a:pt x="1601655" y="1361655"/>
                  </a:lnTo>
                  <a:lnTo>
                    <a:pt x="1594077" y="1315504"/>
                  </a:lnTo>
                  <a:lnTo>
                    <a:pt x="1585185" y="1269815"/>
                  </a:lnTo>
                  <a:lnTo>
                    <a:pt x="1575002" y="1224606"/>
                  </a:lnTo>
                  <a:lnTo>
                    <a:pt x="1563546" y="1179898"/>
                  </a:lnTo>
                  <a:lnTo>
                    <a:pt x="1550837" y="1135710"/>
                  </a:lnTo>
                  <a:lnTo>
                    <a:pt x="1536897" y="1092061"/>
                  </a:lnTo>
                  <a:lnTo>
                    <a:pt x="1521744" y="1048970"/>
                  </a:lnTo>
                  <a:lnTo>
                    <a:pt x="1505400" y="1006457"/>
                  </a:lnTo>
                  <a:lnTo>
                    <a:pt x="1487884" y="964542"/>
                  </a:lnTo>
                  <a:lnTo>
                    <a:pt x="1469216" y="923243"/>
                  </a:lnTo>
                  <a:lnTo>
                    <a:pt x="1449416" y="882581"/>
                  </a:lnTo>
                  <a:lnTo>
                    <a:pt x="1428505" y="842574"/>
                  </a:lnTo>
                  <a:lnTo>
                    <a:pt x="1406503" y="803242"/>
                  </a:lnTo>
                  <a:lnTo>
                    <a:pt x="1383429" y="764605"/>
                  </a:lnTo>
                  <a:lnTo>
                    <a:pt x="1359305" y="726681"/>
                  </a:lnTo>
                  <a:lnTo>
                    <a:pt x="1334150" y="689491"/>
                  </a:lnTo>
                  <a:lnTo>
                    <a:pt x="1307983" y="653054"/>
                  </a:lnTo>
                  <a:lnTo>
                    <a:pt x="1280826" y="617389"/>
                  </a:lnTo>
                  <a:lnTo>
                    <a:pt x="1252699" y="582515"/>
                  </a:lnTo>
                  <a:lnTo>
                    <a:pt x="1223621" y="548452"/>
                  </a:lnTo>
                  <a:lnTo>
                    <a:pt x="1193613" y="515220"/>
                  </a:lnTo>
                  <a:lnTo>
                    <a:pt x="1162694" y="482838"/>
                  </a:lnTo>
                  <a:lnTo>
                    <a:pt x="1130886" y="451325"/>
                  </a:lnTo>
                  <a:lnTo>
                    <a:pt x="1098207" y="420700"/>
                  </a:lnTo>
                  <a:lnTo>
                    <a:pt x="1064679" y="390984"/>
                  </a:lnTo>
                  <a:lnTo>
                    <a:pt x="1030321" y="362195"/>
                  </a:lnTo>
                  <a:lnTo>
                    <a:pt x="995153" y="334353"/>
                  </a:lnTo>
                  <a:lnTo>
                    <a:pt x="959196" y="307477"/>
                  </a:lnTo>
                  <a:lnTo>
                    <a:pt x="922470" y="281587"/>
                  </a:lnTo>
                  <a:lnTo>
                    <a:pt x="884994" y="256702"/>
                  </a:lnTo>
                  <a:lnTo>
                    <a:pt x="846789" y="232842"/>
                  </a:lnTo>
                  <a:lnTo>
                    <a:pt x="807876" y="210026"/>
                  </a:lnTo>
                  <a:lnTo>
                    <a:pt x="768273" y="188273"/>
                  </a:lnTo>
                  <a:lnTo>
                    <a:pt x="728002" y="167604"/>
                  </a:lnTo>
                  <a:lnTo>
                    <a:pt x="687082" y="148036"/>
                  </a:lnTo>
                  <a:lnTo>
                    <a:pt x="645534" y="129590"/>
                  </a:lnTo>
                  <a:lnTo>
                    <a:pt x="603377" y="112285"/>
                  </a:lnTo>
                  <a:lnTo>
                    <a:pt x="560632" y="96141"/>
                  </a:lnTo>
                  <a:lnTo>
                    <a:pt x="517319" y="81177"/>
                  </a:lnTo>
                  <a:lnTo>
                    <a:pt x="473458" y="67412"/>
                  </a:lnTo>
                  <a:lnTo>
                    <a:pt x="429069" y="54866"/>
                  </a:lnTo>
                  <a:lnTo>
                    <a:pt x="384172" y="43558"/>
                  </a:lnTo>
                  <a:lnTo>
                    <a:pt x="338788" y="33507"/>
                  </a:lnTo>
                  <a:lnTo>
                    <a:pt x="292936" y="24734"/>
                  </a:lnTo>
                  <a:lnTo>
                    <a:pt x="246637" y="17257"/>
                  </a:lnTo>
                  <a:lnTo>
                    <a:pt x="199911" y="11096"/>
                  </a:lnTo>
                  <a:lnTo>
                    <a:pt x="152777" y="6271"/>
                  </a:lnTo>
                  <a:lnTo>
                    <a:pt x="105257" y="2800"/>
                  </a:lnTo>
                  <a:lnTo>
                    <a:pt x="57369" y="703"/>
                  </a:lnTo>
                  <a:lnTo>
                    <a:pt x="9135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39450" y="1709710"/>
              <a:ext cx="1619250" cy="3215640"/>
            </a:xfrm>
            <a:custGeom>
              <a:avLst/>
              <a:gdLst/>
              <a:ahLst/>
              <a:cxnLst/>
              <a:rect l="l" t="t" r="r" b="b"/>
              <a:pathLst>
                <a:path w="1619250" h="3215640">
                  <a:moveTo>
                    <a:pt x="0" y="3206354"/>
                  </a:moveTo>
                  <a:lnTo>
                    <a:pt x="9135" y="3206354"/>
                  </a:lnTo>
                  <a:lnTo>
                    <a:pt x="9135" y="3215469"/>
                  </a:lnTo>
                  <a:lnTo>
                    <a:pt x="57369" y="3214756"/>
                  </a:lnTo>
                  <a:lnTo>
                    <a:pt x="105257" y="3212633"/>
                  </a:lnTo>
                  <a:lnTo>
                    <a:pt x="152777" y="3209119"/>
                  </a:lnTo>
                  <a:lnTo>
                    <a:pt x="199911" y="3204233"/>
                  </a:lnTo>
                  <a:lnTo>
                    <a:pt x="246637" y="3197997"/>
                  </a:lnTo>
                  <a:lnTo>
                    <a:pt x="292936" y="3190431"/>
                  </a:lnTo>
                  <a:lnTo>
                    <a:pt x="338788" y="3181553"/>
                  </a:lnTo>
                  <a:lnTo>
                    <a:pt x="384172" y="3171385"/>
                  </a:lnTo>
                  <a:lnTo>
                    <a:pt x="429069" y="3159946"/>
                  </a:lnTo>
                  <a:lnTo>
                    <a:pt x="473458" y="3147257"/>
                  </a:lnTo>
                  <a:lnTo>
                    <a:pt x="517319" y="3133338"/>
                  </a:lnTo>
                  <a:lnTo>
                    <a:pt x="560632" y="3118209"/>
                  </a:lnTo>
                  <a:lnTo>
                    <a:pt x="603377" y="3101889"/>
                  </a:lnTo>
                  <a:lnTo>
                    <a:pt x="645534" y="3084399"/>
                  </a:lnTo>
                  <a:lnTo>
                    <a:pt x="687082" y="3065759"/>
                  </a:lnTo>
                  <a:lnTo>
                    <a:pt x="728002" y="3045990"/>
                  </a:lnTo>
                  <a:lnTo>
                    <a:pt x="768273" y="3025110"/>
                  </a:lnTo>
                  <a:lnTo>
                    <a:pt x="807876" y="3003141"/>
                  </a:lnTo>
                  <a:lnTo>
                    <a:pt x="846789" y="2980103"/>
                  </a:lnTo>
                  <a:lnTo>
                    <a:pt x="884994" y="2956014"/>
                  </a:lnTo>
                  <a:lnTo>
                    <a:pt x="922470" y="2930896"/>
                  </a:lnTo>
                  <a:lnTo>
                    <a:pt x="959196" y="2904769"/>
                  </a:lnTo>
                  <a:lnTo>
                    <a:pt x="995153" y="2877653"/>
                  </a:lnTo>
                  <a:lnTo>
                    <a:pt x="1030321" y="2849567"/>
                  </a:lnTo>
                  <a:lnTo>
                    <a:pt x="1064679" y="2820532"/>
                  </a:lnTo>
                  <a:lnTo>
                    <a:pt x="1098207" y="2790568"/>
                  </a:lnTo>
                  <a:lnTo>
                    <a:pt x="1130886" y="2759695"/>
                  </a:lnTo>
                  <a:lnTo>
                    <a:pt x="1162694" y="2727934"/>
                  </a:lnTo>
                  <a:lnTo>
                    <a:pt x="1193613" y="2695303"/>
                  </a:lnTo>
                  <a:lnTo>
                    <a:pt x="1223621" y="2661824"/>
                  </a:lnTo>
                  <a:lnTo>
                    <a:pt x="1252699" y="2627516"/>
                  </a:lnTo>
                  <a:lnTo>
                    <a:pt x="1280826" y="2592400"/>
                  </a:lnTo>
                  <a:lnTo>
                    <a:pt x="1307983" y="2556495"/>
                  </a:lnTo>
                  <a:lnTo>
                    <a:pt x="1334150" y="2519822"/>
                  </a:lnTo>
                  <a:lnTo>
                    <a:pt x="1359305" y="2482400"/>
                  </a:lnTo>
                  <a:lnTo>
                    <a:pt x="1383429" y="2444251"/>
                  </a:lnTo>
                  <a:lnTo>
                    <a:pt x="1406503" y="2405393"/>
                  </a:lnTo>
                  <a:lnTo>
                    <a:pt x="1428505" y="2365847"/>
                  </a:lnTo>
                  <a:lnTo>
                    <a:pt x="1449416" y="2325633"/>
                  </a:lnTo>
                  <a:lnTo>
                    <a:pt x="1469215" y="2284772"/>
                  </a:lnTo>
                  <a:lnTo>
                    <a:pt x="1487883" y="2243283"/>
                  </a:lnTo>
                  <a:lnTo>
                    <a:pt x="1505400" y="2201186"/>
                  </a:lnTo>
                  <a:lnTo>
                    <a:pt x="1521744" y="2158501"/>
                  </a:lnTo>
                  <a:lnTo>
                    <a:pt x="1536897" y="2115249"/>
                  </a:lnTo>
                  <a:lnTo>
                    <a:pt x="1550837" y="2071449"/>
                  </a:lnTo>
                  <a:lnTo>
                    <a:pt x="1563546" y="2027122"/>
                  </a:lnTo>
                  <a:lnTo>
                    <a:pt x="1575002" y="1982288"/>
                  </a:lnTo>
                  <a:lnTo>
                    <a:pt x="1585185" y="1936967"/>
                  </a:lnTo>
                  <a:lnTo>
                    <a:pt x="1594076" y="1891179"/>
                  </a:lnTo>
                  <a:lnTo>
                    <a:pt x="1601655" y="1844943"/>
                  </a:lnTo>
                  <a:lnTo>
                    <a:pt x="1607901" y="1798281"/>
                  </a:lnTo>
                  <a:lnTo>
                    <a:pt x="1612793" y="1751212"/>
                  </a:lnTo>
                  <a:lnTo>
                    <a:pt x="1616313" y="1703756"/>
                  </a:lnTo>
                  <a:lnTo>
                    <a:pt x="1618440" y="1655934"/>
                  </a:lnTo>
                  <a:lnTo>
                    <a:pt x="1619153" y="1607764"/>
                  </a:lnTo>
                  <a:lnTo>
                    <a:pt x="1618440" y="1559598"/>
                  </a:lnTo>
                  <a:lnTo>
                    <a:pt x="1616313" y="1511796"/>
                  </a:lnTo>
                  <a:lnTo>
                    <a:pt x="1612793" y="1464377"/>
                  </a:lnTo>
                  <a:lnTo>
                    <a:pt x="1607901" y="1417362"/>
                  </a:lnTo>
                  <a:lnTo>
                    <a:pt x="1601655" y="1370769"/>
                  </a:lnTo>
                  <a:lnTo>
                    <a:pt x="1594076" y="1324618"/>
                  </a:lnTo>
                  <a:lnTo>
                    <a:pt x="1585185" y="1278929"/>
                  </a:lnTo>
                  <a:lnTo>
                    <a:pt x="1575002" y="1233721"/>
                  </a:lnTo>
                  <a:lnTo>
                    <a:pt x="1563546" y="1189013"/>
                  </a:lnTo>
                  <a:lnTo>
                    <a:pt x="1550837" y="1144824"/>
                  </a:lnTo>
                  <a:lnTo>
                    <a:pt x="1536897" y="1101175"/>
                  </a:lnTo>
                  <a:lnTo>
                    <a:pt x="1521744" y="1058084"/>
                  </a:lnTo>
                  <a:lnTo>
                    <a:pt x="1505400" y="1015571"/>
                  </a:lnTo>
                  <a:lnTo>
                    <a:pt x="1487883" y="973656"/>
                  </a:lnTo>
                  <a:lnTo>
                    <a:pt x="1469215" y="932357"/>
                  </a:lnTo>
                  <a:lnTo>
                    <a:pt x="1449416" y="891695"/>
                  </a:lnTo>
                  <a:lnTo>
                    <a:pt x="1428505" y="851688"/>
                  </a:lnTo>
                  <a:lnTo>
                    <a:pt x="1406503" y="812356"/>
                  </a:lnTo>
                  <a:lnTo>
                    <a:pt x="1383429" y="773719"/>
                  </a:lnTo>
                  <a:lnTo>
                    <a:pt x="1359305" y="735796"/>
                  </a:lnTo>
                  <a:lnTo>
                    <a:pt x="1334150" y="698606"/>
                  </a:lnTo>
                  <a:lnTo>
                    <a:pt x="1307983" y="662168"/>
                  </a:lnTo>
                  <a:lnTo>
                    <a:pt x="1280826" y="626503"/>
                  </a:lnTo>
                  <a:lnTo>
                    <a:pt x="1252699" y="591629"/>
                  </a:lnTo>
                  <a:lnTo>
                    <a:pt x="1223621" y="557567"/>
                  </a:lnTo>
                  <a:lnTo>
                    <a:pt x="1193613" y="524335"/>
                  </a:lnTo>
                  <a:lnTo>
                    <a:pt x="1162694" y="491952"/>
                  </a:lnTo>
                  <a:lnTo>
                    <a:pt x="1130886" y="460439"/>
                  </a:lnTo>
                  <a:lnTo>
                    <a:pt x="1098207" y="429814"/>
                  </a:lnTo>
                  <a:lnTo>
                    <a:pt x="1064679" y="400098"/>
                  </a:lnTo>
                  <a:lnTo>
                    <a:pt x="1030321" y="371309"/>
                  </a:lnTo>
                  <a:lnTo>
                    <a:pt x="995153" y="343467"/>
                  </a:lnTo>
                  <a:lnTo>
                    <a:pt x="959196" y="316591"/>
                  </a:lnTo>
                  <a:lnTo>
                    <a:pt x="922470" y="290701"/>
                  </a:lnTo>
                  <a:lnTo>
                    <a:pt x="884994" y="265817"/>
                  </a:lnTo>
                  <a:lnTo>
                    <a:pt x="846789" y="241957"/>
                  </a:lnTo>
                  <a:lnTo>
                    <a:pt x="807876" y="219140"/>
                  </a:lnTo>
                  <a:lnTo>
                    <a:pt x="768273" y="197388"/>
                  </a:lnTo>
                  <a:lnTo>
                    <a:pt x="728002" y="176718"/>
                  </a:lnTo>
                  <a:lnTo>
                    <a:pt x="687082" y="157150"/>
                  </a:lnTo>
                  <a:lnTo>
                    <a:pt x="645534" y="138704"/>
                  </a:lnTo>
                  <a:lnTo>
                    <a:pt x="603377" y="121400"/>
                  </a:lnTo>
                  <a:lnTo>
                    <a:pt x="560632" y="105255"/>
                  </a:lnTo>
                  <a:lnTo>
                    <a:pt x="517319" y="90291"/>
                  </a:lnTo>
                  <a:lnTo>
                    <a:pt x="473458" y="76526"/>
                  </a:lnTo>
                  <a:lnTo>
                    <a:pt x="429069" y="63980"/>
                  </a:lnTo>
                  <a:lnTo>
                    <a:pt x="384172" y="52672"/>
                  </a:lnTo>
                  <a:lnTo>
                    <a:pt x="338788" y="42622"/>
                  </a:lnTo>
                  <a:lnTo>
                    <a:pt x="292936" y="33848"/>
                  </a:lnTo>
                  <a:lnTo>
                    <a:pt x="246637" y="26371"/>
                  </a:lnTo>
                  <a:lnTo>
                    <a:pt x="199911" y="20210"/>
                  </a:lnTo>
                  <a:lnTo>
                    <a:pt x="152777" y="15385"/>
                  </a:lnTo>
                  <a:lnTo>
                    <a:pt x="105257" y="11914"/>
                  </a:lnTo>
                  <a:lnTo>
                    <a:pt x="57369" y="9817"/>
                  </a:lnTo>
                  <a:lnTo>
                    <a:pt x="9135" y="9114"/>
                  </a:lnTo>
                  <a:lnTo>
                    <a:pt x="9135" y="0"/>
                  </a:lnTo>
                  <a:lnTo>
                    <a:pt x="9135" y="9114"/>
                  </a:lnTo>
                  <a:lnTo>
                    <a:pt x="9135" y="1607764"/>
                  </a:lnTo>
                  <a:lnTo>
                    <a:pt x="0" y="3206354"/>
                  </a:lnTo>
                  <a:close/>
                </a:path>
              </a:pathLst>
            </a:custGeom>
            <a:ln w="91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48068" y="3317475"/>
              <a:ext cx="1600835" cy="1598930"/>
            </a:xfrm>
            <a:custGeom>
              <a:avLst/>
              <a:gdLst/>
              <a:ahLst/>
              <a:cxnLst/>
              <a:rect l="l" t="t" r="r" b="b"/>
              <a:pathLst>
                <a:path w="1600835" h="1598929">
                  <a:moveTo>
                    <a:pt x="1600517" y="0"/>
                  </a:moveTo>
                  <a:lnTo>
                    <a:pt x="0" y="0"/>
                  </a:lnTo>
                  <a:lnTo>
                    <a:pt x="223" y="48160"/>
                  </a:lnTo>
                  <a:lnTo>
                    <a:pt x="1878" y="95956"/>
                  </a:lnTo>
                  <a:lnTo>
                    <a:pt x="4943" y="143369"/>
                  </a:lnTo>
                  <a:lnTo>
                    <a:pt x="9397" y="190379"/>
                  </a:lnTo>
                  <a:lnTo>
                    <a:pt x="15219" y="236966"/>
                  </a:lnTo>
                  <a:lnTo>
                    <a:pt x="22388" y="283112"/>
                  </a:lnTo>
                  <a:lnTo>
                    <a:pt x="30885" y="328797"/>
                  </a:lnTo>
                  <a:lnTo>
                    <a:pt x="40687" y="374001"/>
                  </a:lnTo>
                  <a:lnTo>
                    <a:pt x="51775" y="418705"/>
                  </a:lnTo>
                  <a:lnTo>
                    <a:pt x="64126" y="462890"/>
                  </a:lnTo>
                  <a:lnTo>
                    <a:pt x="77722" y="506536"/>
                  </a:lnTo>
                  <a:lnTo>
                    <a:pt x="92540" y="549624"/>
                  </a:lnTo>
                  <a:lnTo>
                    <a:pt x="108560" y="592134"/>
                  </a:lnTo>
                  <a:lnTo>
                    <a:pt x="125761" y="634047"/>
                  </a:lnTo>
                  <a:lnTo>
                    <a:pt x="144123" y="675343"/>
                  </a:lnTo>
                  <a:lnTo>
                    <a:pt x="163624" y="716003"/>
                  </a:lnTo>
                  <a:lnTo>
                    <a:pt x="184245" y="756008"/>
                  </a:lnTo>
                  <a:lnTo>
                    <a:pt x="205963" y="795338"/>
                  </a:lnTo>
                  <a:lnTo>
                    <a:pt x="228758" y="833974"/>
                  </a:lnTo>
                  <a:lnTo>
                    <a:pt x="252610" y="871896"/>
                  </a:lnTo>
                  <a:lnTo>
                    <a:pt x="277497" y="909085"/>
                  </a:lnTo>
                  <a:lnTo>
                    <a:pt x="303399" y="945522"/>
                  </a:lnTo>
                  <a:lnTo>
                    <a:pt x="330295" y="981186"/>
                  </a:lnTo>
                  <a:lnTo>
                    <a:pt x="358165" y="1016059"/>
                  </a:lnTo>
                  <a:lnTo>
                    <a:pt x="386987" y="1050122"/>
                  </a:lnTo>
                  <a:lnTo>
                    <a:pt x="416740" y="1083354"/>
                  </a:lnTo>
                  <a:lnTo>
                    <a:pt x="447404" y="1115736"/>
                  </a:lnTo>
                  <a:lnTo>
                    <a:pt x="478959" y="1147249"/>
                  </a:lnTo>
                  <a:lnTo>
                    <a:pt x="511382" y="1177874"/>
                  </a:lnTo>
                  <a:lnTo>
                    <a:pt x="544654" y="1207590"/>
                  </a:lnTo>
                  <a:lnTo>
                    <a:pt x="578754" y="1236380"/>
                  </a:lnTo>
                  <a:lnTo>
                    <a:pt x="613661" y="1264222"/>
                  </a:lnTo>
                  <a:lnTo>
                    <a:pt x="649354" y="1291098"/>
                  </a:lnTo>
                  <a:lnTo>
                    <a:pt x="685812" y="1316989"/>
                  </a:lnTo>
                  <a:lnTo>
                    <a:pt x="723014" y="1341874"/>
                  </a:lnTo>
                  <a:lnTo>
                    <a:pt x="760940" y="1365735"/>
                  </a:lnTo>
                  <a:lnTo>
                    <a:pt x="799569" y="1388552"/>
                  </a:lnTo>
                  <a:lnTo>
                    <a:pt x="838880" y="1410305"/>
                  </a:lnTo>
                  <a:lnTo>
                    <a:pt x="878853" y="1430976"/>
                  </a:lnTo>
                  <a:lnTo>
                    <a:pt x="919466" y="1450544"/>
                  </a:lnTo>
                  <a:lnTo>
                    <a:pt x="960699" y="1468991"/>
                  </a:lnTo>
                  <a:lnTo>
                    <a:pt x="1002530" y="1486297"/>
                  </a:lnTo>
                  <a:lnTo>
                    <a:pt x="1044940" y="1502442"/>
                  </a:lnTo>
                  <a:lnTo>
                    <a:pt x="1087907" y="1517407"/>
                  </a:lnTo>
                  <a:lnTo>
                    <a:pt x="1131411" y="1531173"/>
                  </a:lnTo>
                  <a:lnTo>
                    <a:pt x="1175430" y="1543719"/>
                  </a:lnTo>
                  <a:lnTo>
                    <a:pt x="1219944" y="1555028"/>
                  </a:lnTo>
                  <a:lnTo>
                    <a:pt x="1264933" y="1565079"/>
                  </a:lnTo>
                  <a:lnTo>
                    <a:pt x="1310375" y="1573853"/>
                  </a:lnTo>
                  <a:lnTo>
                    <a:pt x="1356249" y="1581330"/>
                  </a:lnTo>
                  <a:lnTo>
                    <a:pt x="1402535" y="1587492"/>
                  </a:lnTo>
                  <a:lnTo>
                    <a:pt x="1449212" y="1592318"/>
                  </a:lnTo>
                  <a:lnTo>
                    <a:pt x="1496260" y="1595789"/>
                  </a:lnTo>
                  <a:lnTo>
                    <a:pt x="1543656" y="1597886"/>
                  </a:lnTo>
                  <a:lnTo>
                    <a:pt x="1591382" y="1598589"/>
                  </a:lnTo>
                  <a:lnTo>
                    <a:pt x="1600517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48068" y="3317475"/>
              <a:ext cx="1600835" cy="1598930"/>
            </a:xfrm>
            <a:custGeom>
              <a:avLst/>
              <a:gdLst/>
              <a:ahLst/>
              <a:cxnLst/>
              <a:rect l="l" t="t" r="r" b="b"/>
              <a:pathLst>
                <a:path w="1600835" h="1598929">
                  <a:moveTo>
                    <a:pt x="0" y="0"/>
                  </a:moveTo>
                  <a:lnTo>
                    <a:pt x="223" y="48160"/>
                  </a:lnTo>
                  <a:lnTo>
                    <a:pt x="1878" y="95956"/>
                  </a:lnTo>
                  <a:lnTo>
                    <a:pt x="4943" y="143369"/>
                  </a:lnTo>
                  <a:lnTo>
                    <a:pt x="9397" y="190379"/>
                  </a:lnTo>
                  <a:lnTo>
                    <a:pt x="15219" y="236966"/>
                  </a:lnTo>
                  <a:lnTo>
                    <a:pt x="22388" y="283112"/>
                  </a:lnTo>
                  <a:lnTo>
                    <a:pt x="30885" y="328797"/>
                  </a:lnTo>
                  <a:lnTo>
                    <a:pt x="40687" y="374001"/>
                  </a:lnTo>
                  <a:lnTo>
                    <a:pt x="51775" y="418705"/>
                  </a:lnTo>
                  <a:lnTo>
                    <a:pt x="64126" y="462890"/>
                  </a:lnTo>
                  <a:lnTo>
                    <a:pt x="77722" y="506536"/>
                  </a:lnTo>
                  <a:lnTo>
                    <a:pt x="92540" y="549624"/>
                  </a:lnTo>
                  <a:lnTo>
                    <a:pt x="108560" y="592134"/>
                  </a:lnTo>
                  <a:lnTo>
                    <a:pt x="125761" y="634047"/>
                  </a:lnTo>
                  <a:lnTo>
                    <a:pt x="144123" y="675343"/>
                  </a:lnTo>
                  <a:lnTo>
                    <a:pt x="163624" y="716003"/>
                  </a:lnTo>
                  <a:lnTo>
                    <a:pt x="184245" y="756008"/>
                  </a:lnTo>
                  <a:lnTo>
                    <a:pt x="205963" y="795338"/>
                  </a:lnTo>
                  <a:lnTo>
                    <a:pt x="228758" y="833974"/>
                  </a:lnTo>
                  <a:lnTo>
                    <a:pt x="252610" y="871896"/>
                  </a:lnTo>
                  <a:lnTo>
                    <a:pt x="277497" y="909085"/>
                  </a:lnTo>
                  <a:lnTo>
                    <a:pt x="303399" y="945522"/>
                  </a:lnTo>
                  <a:lnTo>
                    <a:pt x="330295" y="981186"/>
                  </a:lnTo>
                  <a:lnTo>
                    <a:pt x="358165" y="1016059"/>
                  </a:lnTo>
                  <a:lnTo>
                    <a:pt x="386987" y="1050122"/>
                  </a:lnTo>
                  <a:lnTo>
                    <a:pt x="416740" y="1083354"/>
                  </a:lnTo>
                  <a:lnTo>
                    <a:pt x="447404" y="1115736"/>
                  </a:lnTo>
                  <a:lnTo>
                    <a:pt x="478959" y="1147249"/>
                  </a:lnTo>
                  <a:lnTo>
                    <a:pt x="511382" y="1177874"/>
                  </a:lnTo>
                  <a:lnTo>
                    <a:pt x="544654" y="1207590"/>
                  </a:lnTo>
                  <a:lnTo>
                    <a:pt x="578754" y="1236380"/>
                  </a:lnTo>
                  <a:lnTo>
                    <a:pt x="613661" y="1264222"/>
                  </a:lnTo>
                  <a:lnTo>
                    <a:pt x="649354" y="1291098"/>
                  </a:lnTo>
                  <a:lnTo>
                    <a:pt x="685812" y="1316989"/>
                  </a:lnTo>
                  <a:lnTo>
                    <a:pt x="723014" y="1341874"/>
                  </a:lnTo>
                  <a:lnTo>
                    <a:pt x="760940" y="1365735"/>
                  </a:lnTo>
                  <a:lnTo>
                    <a:pt x="799569" y="1388552"/>
                  </a:lnTo>
                  <a:lnTo>
                    <a:pt x="838880" y="1410305"/>
                  </a:lnTo>
                  <a:lnTo>
                    <a:pt x="878853" y="1430976"/>
                  </a:lnTo>
                  <a:lnTo>
                    <a:pt x="919466" y="1450544"/>
                  </a:lnTo>
                  <a:lnTo>
                    <a:pt x="960699" y="1468991"/>
                  </a:lnTo>
                  <a:lnTo>
                    <a:pt x="1002530" y="1486297"/>
                  </a:lnTo>
                  <a:lnTo>
                    <a:pt x="1044940" y="1502442"/>
                  </a:lnTo>
                  <a:lnTo>
                    <a:pt x="1087907" y="1517407"/>
                  </a:lnTo>
                  <a:lnTo>
                    <a:pt x="1131411" y="1531173"/>
                  </a:lnTo>
                  <a:lnTo>
                    <a:pt x="1175430" y="1543719"/>
                  </a:lnTo>
                  <a:lnTo>
                    <a:pt x="1219944" y="1555028"/>
                  </a:lnTo>
                  <a:lnTo>
                    <a:pt x="1264933" y="1565079"/>
                  </a:lnTo>
                  <a:lnTo>
                    <a:pt x="1310375" y="1573853"/>
                  </a:lnTo>
                  <a:lnTo>
                    <a:pt x="1356249" y="1581330"/>
                  </a:lnTo>
                  <a:lnTo>
                    <a:pt x="1402535" y="1587492"/>
                  </a:lnTo>
                  <a:lnTo>
                    <a:pt x="1449212" y="1592318"/>
                  </a:lnTo>
                  <a:lnTo>
                    <a:pt x="1496260" y="1595789"/>
                  </a:lnTo>
                  <a:lnTo>
                    <a:pt x="1543656" y="1597886"/>
                  </a:lnTo>
                  <a:lnTo>
                    <a:pt x="1591382" y="1598589"/>
                  </a:lnTo>
                  <a:lnTo>
                    <a:pt x="1600517" y="0"/>
                  </a:lnTo>
                  <a:lnTo>
                    <a:pt x="0" y="0"/>
                  </a:lnTo>
                  <a:close/>
                </a:path>
              </a:pathLst>
            </a:custGeom>
            <a:ln w="9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48068" y="2933701"/>
              <a:ext cx="1600835" cy="384175"/>
            </a:xfrm>
            <a:custGeom>
              <a:avLst/>
              <a:gdLst/>
              <a:ahLst/>
              <a:cxnLst/>
              <a:rect l="l" t="t" r="r" b="b"/>
              <a:pathLst>
                <a:path w="1600835" h="384175">
                  <a:moveTo>
                    <a:pt x="45676" y="0"/>
                  </a:moveTo>
                  <a:lnTo>
                    <a:pt x="33222" y="44991"/>
                  </a:lnTo>
                  <a:lnTo>
                    <a:pt x="23123" y="90827"/>
                  </a:lnTo>
                  <a:lnTo>
                    <a:pt x="15166" y="137513"/>
                  </a:lnTo>
                  <a:lnTo>
                    <a:pt x="9135" y="185050"/>
                  </a:lnTo>
                  <a:lnTo>
                    <a:pt x="4817" y="233442"/>
                  </a:lnTo>
                  <a:lnTo>
                    <a:pt x="1998" y="282691"/>
                  </a:lnTo>
                  <a:lnTo>
                    <a:pt x="463" y="332801"/>
                  </a:lnTo>
                  <a:lnTo>
                    <a:pt x="0" y="383773"/>
                  </a:lnTo>
                  <a:lnTo>
                    <a:pt x="1600517" y="383773"/>
                  </a:lnTo>
                  <a:lnTo>
                    <a:pt x="45676" y="0"/>
                  </a:lnTo>
                  <a:close/>
                </a:path>
              </a:pathLst>
            </a:custGeom>
            <a:solidFill>
              <a:srgbClr val="FF81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48068" y="2933701"/>
              <a:ext cx="1600835" cy="384175"/>
            </a:xfrm>
            <a:custGeom>
              <a:avLst/>
              <a:gdLst/>
              <a:ahLst/>
              <a:cxnLst/>
              <a:rect l="l" t="t" r="r" b="b"/>
              <a:pathLst>
                <a:path w="1600835" h="384175">
                  <a:moveTo>
                    <a:pt x="45676" y="0"/>
                  </a:moveTo>
                  <a:lnTo>
                    <a:pt x="33222" y="44991"/>
                  </a:lnTo>
                  <a:lnTo>
                    <a:pt x="23123" y="90827"/>
                  </a:lnTo>
                  <a:lnTo>
                    <a:pt x="15166" y="137513"/>
                  </a:lnTo>
                  <a:lnTo>
                    <a:pt x="9135" y="185050"/>
                  </a:lnTo>
                  <a:lnTo>
                    <a:pt x="4817" y="233442"/>
                  </a:lnTo>
                  <a:lnTo>
                    <a:pt x="1998" y="282691"/>
                  </a:lnTo>
                  <a:lnTo>
                    <a:pt x="463" y="332801"/>
                  </a:lnTo>
                  <a:lnTo>
                    <a:pt x="0" y="383773"/>
                  </a:lnTo>
                  <a:lnTo>
                    <a:pt x="1600517" y="383773"/>
                  </a:lnTo>
                  <a:lnTo>
                    <a:pt x="45676" y="0"/>
                  </a:lnTo>
                  <a:close/>
                </a:path>
              </a:pathLst>
            </a:custGeom>
            <a:ln w="91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93745" y="1718824"/>
              <a:ext cx="1555115" cy="1598930"/>
            </a:xfrm>
            <a:custGeom>
              <a:avLst/>
              <a:gdLst/>
              <a:ahLst/>
              <a:cxnLst/>
              <a:rect l="l" t="t" r="r" b="b"/>
              <a:pathLst>
                <a:path w="1555114" h="1598929">
                  <a:moveTo>
                    <a:pt x="1554840" y="0"/>
                  </a:moveTo>
                  <a:lnTo>
                    <a:pt x="1505605" y="741"/>
                  </a:lnTo>
                  <a:lnTo>
                    <a:pt x="1456693" y="2952"/>
                  </a:lnTo>
                  <a:lnTo>
                    <a:pt x="1408128" y="6613"/>
                  </a:lnTo>
                  <a:lnTo>
                    <a:pt x="1359933" y="11705"/>
                  </a:lnTo>
                  <a:lnTo>
                    <a:pt x="1312133" y="18209"/>
                  </a:lnTo>
                  <a:lnTo>
                    <a:pt x="1264752" y="26106"/>
                  </a:lnTo>
                  <a:lnTo>
                    <a:pt x="1217813" y="35376"/>
                  </a:lnTo>
                  <a:lnTo>
                    <a:pt x="1171341" y="46000"/>
                  </a:lnTo>
                  <a:lnTo>
                    <a:pt x="1125361" y="57959"/>
                  </a:lnTo>
                  <a:lnTo>
                    <a:pt x="1079895" y="71233"/>
                  </a:lnTo>
                  <a:lnTo>
                    <a:pt x="1034968" y="85803"/>
                  </a:lnTo>
                  <a:lnTo>
                    <a:pt x="990605" y="101651"/>
                  </a:lnTo>
                  <a:lnTo>
                    <a:pt x="946828" y="118756"/>
                  </a:lnTo>
                  <a:lnTo>
                    <a:pt x="903663" y="137100"/>
                  </a:lnTo>
                  <a:lnTo>
                    <a:pt x="861134" y="156662"/>
                  </a:lnTo>
                  <a:lnTo>
                    <a:pt x="819263" y="177425"/>
                  </a:lnTo>
                  <a:lnTo>
                    <a:pt x="778076" y="199368"/>
                  </a:lnTo>
                  <a:lnTo>
                    <a:pt x="737597" y="222472"/>
                  </a:lnTo>
                  <a:lnTo>
                    <a:pt x="697849" y="246719"/>
                  </a:lnTo>
                  <a:lnTo>
                    <a:pt x="658857" y="272088"/>
                  </a:lnTo>
                  <a:lnTo>
                    <a:pt x="620644" y="298561"/>
                  </a:lnTo>
                  <a:lnTo>
                    <a:pt x="583235" y="326118"/>
                  </a:lnTo>
                  <a:lnTo>
                    <a:pt x="546654" y="354741"/>
                  </a:lnTo>
                  <a:lnTo>
                    <a:pt x="510925" y="384409"/>
                  </a:lnTo>
                  <a:lnTo>
                    <a:pt x="476072" y="415103"/>
                  </a:lnTo>
                  <a:lnTo>
                    <a:pt x="442118" y="446805"/>
                  </a:lnTo>
                  <a:lnTo>
                    <a:pt x="409089" y="479494"/>
                  </a:lnTo>
                  <a:lnTo>
                    <a:pt x="377008" y="513152"/>
                  </a:lnTo>
                  <a:lnTo>
                    <a:pt x="345899" y="547760"/>
                  </a:lnTo>
                  <a:lnTo>
                    <a:pt x="315786" y="583298"/>
                  </a:lnTo>
                  <a:lnTo>
                    <a:pt x="286693" y="619746"/>
                  </a:lnTo>
                  <a:lnTo>
                    <a:pt x="258645" y="657086"/>
                  </a:lnTo>
                  <a:lnTo>
                    <a:pt x="231665" y="695299"/>
                  </a:lnTo>
                  <a:lnTo>
                    <a:pt x="205778" y="734364"/>
                  </a:lnTo>
                  <a:lnTo>
                    <a:pt x="181007" y="774264"/>
                  </a:lnTo>
                  <a:lnTo>
                    <a:pt x="157376" y="814978"/>
                  </a:lnTo>
                  <a:lnTo>
                    <a:pt x="134911" y="856487"/>
                  </a:lnTo>
                  <a:lnTo>
                    <a:pt x="113634" y="898772"/>
                  </a:lnTo>
                  <a:lnTo>
                    <a:pt x="93570" y="941814"/>
                  </a:lnTo>
                  <a:lnTo>
                    <a:pt x="74742" y="985593"/>
                  </a:lnTo>
                  <a:lnTo>
                    <a:pt x="57176" y="1030090"/>
                  </a:lnTo>
                  <a:lnTo>
                    <a:pt x="40894" y="1075287"/>
                  </a:lnTo>
                  <a:lnTo>
                    <a:pt x="25921" y="1121163"/>
                  </a:lnTo>
                  <a:lnTo>
                    <a:pt x="12282" y="1167699"/>
                  </a:lnTo>
                  <a:lnTo>
                    <a:pt x="0" y="1214877"/>
                  </a:lnTo>
                  <a:lnTo>
                    <a:pt x="1554840" y="1598650"/>
                  </a:lnTo>
                  <a:lnTo>
                    <a:pt x="1554840" y="0"/>
                  </a:lnTo>
                  <a:close/>
                </a:path>
              </a:pathLst>
            </a:custGeom>
            <a:solidFill>
              <a:srgbClr val="44B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93745" y="1718824"/>
              <a:ext cx="1555115" cy="1598930"/>
            </a:xfrm>
            <a:custGeom>
              <a:avLst/>
              <a:gdLst/>
              <a:ahLst/>
              <a:cxnLst/>
              <a:rect l="l" t="t" r="r" b="b"/>
              <a:pathLst>
                <a:path w="1555114" h="1598929">
                  <a:moveTo>
                    <a:pt x="1554840" y="0"/>
                  </a:moveTo>
                  <a:lnTo>
                    <a:pt x="1505605" y="741"/>
                  </a:lnTo>
                  <a:lnTo>
                    <a:pt x="1456693" y="2952"/>
                  </a:lnTo>
                  <a:lnTo>
                    <a:pt x="1408128" y="6613"/>
                  </a:lnTo>
                  <a:lnTo>
                    <a:pt x="1359933" y="11705"/>
                  </a:lnTo>
                  <a:lnTo>
                    <a:pt x="1312133" y="18209"/>
                  </a:lnTo>
                  <a:lnTo>
                    <a:pt x="1264752" y="26106"/>
                  </a:lnTo>
                  <a:lnTo>
                    <a:pt x="1217813" y="35376"/>
                  </a:lnTo>
                  <a:lnTo>
                    <a:pt x="1171341" y="46000"/>
                  </a:lnTo>
                  <a:lnTo>
                    <a:pt x="1125361" y="57959"/>
                  </a:lnTo>
                  <a:lnTo>
                    <a:pt x="1079895" y="71233"/>
                  </a:lnTo>
                  <a:lnTo>
                    <a:pt x="1034968" y="85803"/>
                  </a:lnTo>
                  <a:lnTo>
                    <a:pt x="990605" y="101651"/>
                  </a:lnTo>
                  <a:lnTo>
                    <a:pt x="946828" y="118756"/>
                  </a:lnTo>
                  <a:lnTo>
                    <a:pt x="903663" y="137100"/>
                  </a:lnTo>
                  <a:lnTo>
                    <a:pt x="861134" y="156662"/>
                  </a:lnTo>
                  <a:lnTo>
                    <a:pt x="819263" y="177425"/>
                  </a:lnTo>
                  <a:lnTo>
                    <a:pt x="778076" y="199368"/>
                  </a:lnTo>
                  <a:lnTo>
                    <a:pt x="737597" y="222472"/>
                  </a:lnTo>
                  <a:lnTo>
                    <a:pt x="697849" y="246719"/>
                  </a:lnTo>
                  <a:lnTo>
                    <a:pt x="658857" y="272088"/>
                  </a:lnTo>
                  <a:lnTo>
                    <a:pt x="620644" y="298561"/>
                  </a:lnTo>
                  <a:lnTo>
                    <a:pt x="583235" y="326118"/>
                  </a:lnTo>
                  <a:lnTo>
                    <a:pt x="546654" y="354741"/>
                  </a:lnTo>
                  <a:lnTo>
                    <a:pt x="510925" y="384409"/>
                  </a:lnTo>
                  <a:lnTo>
                    <a:pt x="476072" y="415103"/>
                  </a:lnTo>
                  <a:lnTo>
                    <a:pt x="442118" y="446805"/>
                  </a:lnTo>
                  <a:lnTo>
                    <a:pt x="409089" y="479494"/>
                  </a:lnTo>
                  <a:lnTo>
                    <a:pt x="377008" y="513152"/>
                  </a:lnTo>
                  <a:lnTo>
                    <a:pt x="345899" y="547760"/>
                  </a:lnTo>
                  <a:lnTo>
                    <a:pt x="315786" y="583298"/>
                  </a:lnTo>
                  <a:lnTo>
                    <a:pt x="286693" y="619746"/>
                  </a:lnTo>
                  <a:lnTo>
                    <a:pt x="258645" y="657086"/>
                  </a:lnTo>
                  <a:lnTo>
                    <a:pt x="231665" y="695299"/>
                  </a:lnTo>
                  <a:lnTo>
                    <a:pt x="205778" y="734364"/>
                  </a:lnTo>
                  <a:lnTo>
                    <a:pt x="181007" y="774264"/>
                  </a:lnTo>
                  <a:lnTo>
                    <a:pt x="157376" y="814978"/>
                  </a:lnTo>
                  <a:lnTo>
                    <a:pt x="134911" y="856487"/>
                  </a:lnTo>
                  <a:lnTo>
                    <a:pt x="113634" y="898772"/>
                  </a:lnTo>
                  <a:lnTo>
                    <a:pt x="93570" y="941814"/>
                  </a:lnTo>
                  <a:lnTo>
                    <a:pt x="74742" y="985593"/>
                  </a:lnTo>
                  <a:lnTo>
                    <a:pt x="57176" y="1030090"/>
                  </a:lnTo>
                  <a:lnTo>
                    <a:pt x="40894" y="1075287"/>
                  </a:lnTo>
                  <a:lnTo>
                    <a:pt x="25921" y="1121163"/>
                  </a:lnTo>
                  <a:lnTo>
                    <a:pt x="12282" y="1167699"/>
                  </a:lnTo>
                  <a:lnTo>
                    <a:pt x="0" y="1214877"/>
                  </a:lnTo>
                  <a:lnTo>
                    <a:pt x="1554840" y="1598650"/>
                  </a:lnTo>
                  <a:lnTo>
                    <a:pt x="1554840" y="0"/>
                  </a:lnTo>
                  <a:close/>
                </a:path>
              </a:pathLst>
            </a:custGeom>
            <a:ln w="91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 rot="840000">
            <a:off x="5728031" y="3277859"/>
            <a:ext cx="1025845" cy="137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80"/>
              </a:lnSpc>
            </a:pPr>
            <a:r>
              <a:rPr sz="1575" spc="-15" baseline="7936" dirty="0">
                <a:latin typeface="Arial MT"/>
                <a:cs typeface="Arial MT"/>
              </a:rPr>
              <a:t>Pe</a:t>
            </a:r>
            <a:r>
              <a:rPr sz="1575" spc="-15" baseline="5291" dirty="0">
                <a:latin typeface="Arial MT"/>
                <a:cs typeface="Arial MT"/>
              </a:rPr>
              <a:t>rfect</a:t>
            </a:r>
            <a:r>
              <a:rPr sz="1575" spc="-15" baseline="2645" dirty="0">
                <a:latin typeface="Arial MT"/>
                <a:cs typeface="Arial MT"/>
              </a:rPr>
              <a:t>ive</a:t>
            </a:r>
            <a:r>
              <a:rPr sz="1575" spc="15" baseline="2645" dirty="0">
                <a:latin typeface="Arial MT"/>
                <a:cs typeface="Arial MT"/>
              </a:rPr>
              <a:t> </a:t>
            </a:r>
            <a:r>
              <a:rPr sz="1575" spc="-15" baseline="2645" dirty="0">
                <a:latin typeface="Arial MT"/>
                <a:cs typeface="Arial MT"/>
              </a:rPr>
              <a:t>(50</a:t>
            </a:r>
            <a:r>
              <a:rPr sz="1050" spc="-10" dirty="0">
                <a:latin typeface="Arial MT"/>
                <a:cs typeface="Arial MT"/>
              </a:rPr>
              <a:t>%)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 rot="840000">
            <a:off x="1960704" y="4673807"/>
            <a:ext cx="944101" cy="137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80"/>
              </a:lnSpc>
            </a:pPr>
            <a:r>
              <a:rPr sz="1575" spc="-15" baseline="5291" dirty="0">
                <a:latin typeface="Arial MT"/>
                <a:cs typeface="Arial MT"/>
              </a:rPr>
              <a:t>Adapt</a:t>
            </a:r>
            <a:r>
              <a:rPr sz="1575" spc="-15" baseline="2645" dirty="0">
                <a:latin typeface="Arial MT"/>
                <a:cs typeface="Arial MT"/>
              </a:rPr>
              <a:t>ive</a:t>
            </a:r>
            <a:r>
              <a:rPr sz="1575" spc="-75" baseline="2645" dirty="0">
                <a:latin typeface="Arial MT"/>
                <a:cs typeface="Arial MT"/>
              </a:rPr>
              <a:t> </a:t>
            </a:r>
            <a:r>
              <a:rPr sz="1575" spc="-15" baseline="2645" dirty="0">
                <a:latin typeface="Arial MT"/>
                <a:cs typeface="Arial MT"/>
              </a:rPr>
              <a:t>(25</a:t>
            </a:r>
            <a:r>
              <a:rPr sz="1050" spc="-10" dirty="0">
                <a:latin typeface="Arial MT"/>
                <a:cs typeface="Arial MT"/>
              </a:rPr>
              <a:t>%)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 rot="840000">
            <a:off x="1447925" y="3054000"/>
            <a:ext cx="989987" cy="137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80"/>
              </a:lnSpc>
            </a:pPr>
            <a:r>
              <a:rPr sz="1575" spc="-15" baseline="5291" dirty="0">
                <a:latin typeface="Arial MT"/>
                <a:cs typeface="Arial MT"/>
              </a:rPr>
              <a:t>Preven</a:t>
            </a:r>
            <a:r>
              <a:rPr sz="1575" spc="-15" baseline="2645" dirty="0">
                <a:latin typeface="Arial MT"/>
                <a:cs typeface="Arial MT"/>
              </a:rPr>
              <a:t>tive </a:t>
            </a:r>
            <a:r>
              <a:rPr sz="1575" spc="-30" baseline="2645" dirty="0">
                <a:latin typeface="Arial MT"/>
                <a:cs typeface="Arial MT"/>
              </a:rPr>
              <a:t>(4</a:t>
            </a:r>
            <a:r>
              <a:rPr sz="1050" spc="-20" dirty="0">
                <a:latin typeface="Arial MT"/>
                <a:cs typeface="Arial MT"/>
              </a:rPr>
              <a:t>%)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 rot="840000">
            <a:off x="2014326" y="1735406"/>
            <a:ext cx="1034656" cy="137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80"/>
              </a:lnSpc>
            </a:pPr>
            <a:r>
              <a:rPr sz="1575" spc="-15" baseline="7936" dirty="0">
                <a:latin typeface="Arial MT"/>
                <a:cs typeface="Arial MT"/>
              </a:rPr>
              <a:t>C</a:t>
            </a:r>
            <a:r>
              <a:rPr sz="1575" spc="-15" baseline="5291" dirty="0">
                <a:latin typeface="Arial MT"/>
                <a:cs typeface="Arial MT"/>
              </a:rPr>
              <a:t>orrect</a:t>
            </a:r>
            <a:r>
              <a:rPr sz="1575" spc="-15" baseline="2645" dirty="0">
                <a:latin typeface="Arial MT"/>
                <a:cs typeface="Arial MT"/>
              </a:rPr>
              <a:t>ive</a:t>
            </a:r>
            <a:r>
              <a:rPr sz="1575" spc="-75" baseline="2645" dirty="0">
                <a:latin typeface="Arial MT"/>
                <a:cs typeface="Arial MT"/>
              </a:rPr>
              <a:t> </a:t>
            </a:r>
            <a:r>
              <a:rPr sz="1575" spc="-15" baseline="2645" dirty="0">
                <a:latin typeface="Arial MT"/>
                <a:cs typeface="Arial MT"/>
              </a:rPr>
              <a:t>(21</a:t>
            </a:r>
            <a:r>
              <a:rPr sz="1050" spc="-10" dirty="0">
                <a:latin typeface="Arial MT"/>
                <a:cs typeface="Arial MT"/>
              </a:rPr>
              <a:t>%)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79643" y="1814458"/>
            <a:ext cx="109855" cy="109855"/>
            <a:chOff x="6879643" y="1814458"/>
            <a:chExt cx="109855" cy="109855"/>
          </a:xfrm>
        </p:grpSpPr>
        <p:sp>
          <p:nvSpPr>
            <p:cNvPr id="19" name="object 19"/>
            <p:cNvSpPr/>
            <p:nvPr/>
          </p:nvSpPr>
          <p:spPr>
            <a:xfrm>
              <a:off x="6884206" y="1819021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100489" y="0"/>
                  </a:moveTo>
                  <a:lnTo>
                    <a:pt x="0" y="0"/>
                  </a:lnTo>
                  <a:lnTo>
                    <a:pt x="0" y="100561"/>
                  </a:lnTo>
                  <a:lnTo>
                    <a:pt x="100489" y="100561"/>
                  </a:lnTo>
                  <a:lnTo>
                    <a:pt x="100489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84206" y="1819021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0" y="100561"/>
                  </a:moveTo>
                  <a:lnTo>
                    <a:pt x="100489" y="100561"/>
                  </a:lnTo>
                  <a:lnTo>
                    <a:pt x="100489" y="0"/>
                  </a:lnTo>
                  <a:lnTo>
                    <a:pt x="0" y="0"/>
                  </a:lnTo>
                  <a:lnTo>
                    <a:pt x="0" y="100561"/>
                  </a:lnTo>
                  <a:close/>
                </a:path>
              </a:pathLst>
            </a:custGeom>
            <a:ln w="9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6879643" y="2070267"/>
            <a:ext cx="109855" cy="109855"/>
            <a:chOff x="6879643" y="2070267"/>
            <a:chExt cx="109855" cy="109855"/>
          </a:xfrm>
        </p:grpSpPr>
        <p:sp>
          <p:nvSpPr>
            <p:cNvPr id="22" name="object 22"/>
            <p:cNvSpPr/>
            <p:nvPr/>
          </p:nvSpPr>
          <p:spPr>
            <a:xfrm>
              <a:off x="6884206" y="2074829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100489" y="0"/>
                  </a:moveTo>
                  <a:lnTo>
                    <a:pt x="0" y="0"/>
                  </a:lnTo>
                  <a:lnTo>
                    <a:pt x="0" y="100561"/>
                  </a:lnTo>
                  <a:lnTo>
                    <a:pt x="100489" y="100561"/>
                  </a:lnTo>
                  <a:lnTo>
                    <a:pt x="100489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884206" y="2074829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0" y="100561"/>
                  </a:moveTo>
                  <a:lnTo>
                    <a:pt x="100489" y="100561"/>
                  </a:lnTo>
                  <a:lnTo>
                    <a:pt x="100489" y="0"/>
                  </a:lnTo>
                  <a:lnTo>
                    <a:pt x="0" y="0"/>
                  </a:lnTo>
                  <a:lnTo>
                    <a:pt x="0" y="100561"/>
                  </a:lnTo>
                  <a:close/>
                </a:path>
              </a:pathLst>
            </a:custGeom>
            <a:ln w="9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6879643" y="2316961"/>
            <a:ext cx="109855" cy="109855"/>
            <a:chOff x="6879643" y="2316961"/>
            <a:chExt cx="109855" cy="109855"/>
          </a:xfrm>
        </p:grpSpPr>
        <p:sp>
          <p:nvSpPr>
            <p:cNvPr id="25" name="object 25"/>
            <p:cNvSpPr/>
            <p:nvPr/>
          </p:nvSpPr>
          <p:spPr>
            <a:xfrm>
              <a:off x="6884206" y="2321523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100489" y="0"/>
                  </a:moveTo>
                  <a:lnTo>
                    <a:pt x="0" y="0"/>
                  </a:lnTo>
                  <a:lnTo>
                    <a:pt x="0" y="100561"/>
                  </a:lnTo>
                  <a:lnTo>
                    <a:pt x="100489" y="100561"/>
                  </a:lnTo>
                  <a:lnTo>
                    <a:pt x="100489" y="0"/>
                  </a:lnTo>
                  <a:close/>
                </a:path>
              </a:pathLst>
            </a:custGeom>
            <a:solidFill>
              <a:srgbClr val="FF81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84206" y="2321523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0" y="100561"/>
                  </a:moveTo>
                  <a:lnTo>
                    <a:pt x="100489" y="100561"/>
                  </a:lnTo>
                  <a:lnTo>
                    <a:pt x="100489" y="0"/>
                  </a:lnTo>
                  <a:lnTo>
                    <a:pt x="0" y="0"/>
                  </a:lnTo>
                  <a:lnTo>
                    <a:pt x="0" y="100561"/>
                  </a:lnTo>
                  <a:close/>
                </a:path>
              </a:pathLst>
            </a:custGeom>
            <a:ln w="9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6879643" y="2572769"/>
            <a:ext cx="109855" cy="109855"/>
            <a:chOff x="6879643" y="2572769"/>
            <a:chExt cx="109855" cy="109855"/>
          </a:xfrm>
        </p:grpSpPr>
        <p:sp>
          <p:nvSpPr>
            <p:cNvPr id="28" name="object 28"/>
            <p:cNvSpPr/>
            <p:nvPr/>
          </p:nvSpPr>
          <p:spPr>
            <a:xfrm>
              <a:off x="6884206" y="2577332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100489" y="0"/>
                  </a:moveTo>
                  <a:lnTo>
                    <a:pt x="0" y="0"/>
                  </a:lnTo>
                  <a:lnTo>
                    <a:pt x="0" y="100561"/>
                  </a:lnTo>
                  <a:lnTo>
                    <a:pt x="100489" y="100561"/>
                  </a:lnTo>
                  <a:lnTo>
                    <a:pt x="100489" y="0"/>
                  </a:lnTo>
                  <a:close/>
                </a:path>
              </a:pathLst>
            </a:custGeom>
            <a:solidFill>
              <a:srgbClr val="44B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84206" y="2577332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4">
                  <a:moveTo>
                    <a:pt x="0" y="100561"/>
                  </a:moveTo>
                  <a:lnTo>
                    <a:pt x="100489" y="100561"/>
                  </a:lnTo>
                  <a:lnTo>
                    <a:pt x="100489" y="0"/>
                  </a:lnTo>
                  <a:lnTo>
                    <a:pt x="0" y="0"/>
                  </a:lnTo>
                  <a:lnTo>
                    <a:pt x="0" y="100561"/>
                  </a:lnTo>
                  <a:close/>
                </a:path>
              </a:pathLst>
            </a:custGeom>
            <a:ln w="91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692119" y="1727938"/>
            <a:ext cx="1409065" cy="1023619"/>
          </a:xfrm>
          <a:prstGeom prst="rect">
            <a:avLst/>
          </a:prstGeom>
          <a:ln w="9121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229"/>
              </a:spcBef>
            </a:pPr>
            <a:r>
              <a:rPr sz="1350" b="1" spc="-10" dirty="0">
                <a:latin typeface="Arial"/>
                <a:cs typeface="Arial"/>
              </a:rPr>
              <a:t>Perfective</a:t>
            </a:r>
            <a:endParaRPr sz="1350">
              <a:latin typeface="Arial"/>
              <a:cs typeface="Arial"/>
            </a:endParaRPr>
          </a:p>
          <a:p>
            <a:pPr marL="347345" marR="153670">
              <a:lnSpc>
                <a:spcPct val="122100"/>
              </a:lnSpc>
              <a:spcBef>
                <a:spcPts val="35"/>
              </a:spcBef>
            </a:pPr>
            <a:r>
              <a:rPr sz="1350" b="1" spc="-10" dirty="0">
                <a:latin typeface="Arial"/>
                <a:cs typeface="Arial"/>
              </a:rPr>
              <a:t>Adaptive Preventive Corrective</a:t>
            </a:r>
            <a:endParaRPr sz="135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93</a:t>
            </a:fld>
            <a:endParaRPr spc="-25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94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47599" y="1392681"/>
            <a:ext cx="8511540" cy="4467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/>
                <a:cs typeface="Times New Roman"/>
              </a:rPr>
              <a:t>Problems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During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Maintenance</a:t>
            </a:r>
            <a:endParaRPr sz="2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710"/>
              </a:spcBef>
              <a:buFont typeface="Wingdings"/>
              <a:buChar char=""/>
              <a:tabLst>
                <a:tab pos="46990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Often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program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written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by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another</a:t>
            </a:r>
            <a:r>
              <a:rPr sz="2000" b="1" spc="-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person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group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persons.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  <a:tab pos="1224280" algn="l"/>
                <a:tab pos="1699895" algn="l"/>
                <a:tab pos="2789555" algn="l"/>
                <a:tab pos="3094355" algn="l"/>
                <a:tab pos="4131945" algn="l"/>
                <a:tab pos="4536440" algn="l"/>
                <a:tab pos="5406390" algn="l"/>
                <a:tab pos="5995035" algn="l"/>
                <a:tab pos="6480810" algn="l"/>
                <a:tab pos="6970395" algn="l"/>
                <a:tab pos="8346440" algn="l"/>
              </a:tabLst>
            </a:pPr>
            <a:r>
              <a:rPr sz="2000" b="1" spc="-10" dirty="0">
                <a:solidFill>
                  <a:srgbClr val="339933"/>
                </a:solidFill>
                <a:latin typeface="Times New Roman"/>
                <a:cs typeface="Times New Roman"/>
              </a:rPr>
              <a:t>Often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339933"/>
                </a:solidFill>
                <a:latin typeface="Times New Roman"/>
                <a:cs typeface="Times New Roman"/>
              </a:rPr>
              <a:t>the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339933"/>
                </a:solidFill>
                <a:latin typeface="Times New Roman"/>
                <a:cs typeface="Times New Roman"/>
              </a:rPr>
              <a:t>program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339933"/>
                </a:solidFill>
                <a:latin typeface="Times New Roman"/>
                <a:cs typeface="Times New Roman"/>
              </a:rPr>
              <a:t>is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339933"/>
                </a:solidFill>
                <a:latin typeface="Times New Roman"/>
                <a:cs typeface="Times New Roman"/>
              </a:rPr>
              <a:t>changed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339933"/>
                </a:solidFill>
                <a:latin typeface="Times New Roman"/>
                <a:cs typeface="Times New Roman"/>
              </a:rPr>
              <a:t>by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339933"/>
                </a:solidFill>
                <a:latin typeface="Times New Roman"/>
                <a:cs typeface="Times New Roman"/>
              </a:rPr>
              <a:t>person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339933"/>
                </a:solidFill>
                <a:latin typeface="Times New Roman"/>
                <a:cs typeface="Times New Roman"/>
              </a:rPr>
              <a:t>who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339933"/>
                </a:solidFill>
                <a:latin typeface="Times New Roman"/>
                <a:cs typeface="Times New Roman"/>
              </a:rPr>
              <a:t>did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339933"/>
                </a:solidFill>
                <a:latin typeface="Times New Roman"/>
                <a:cs typeface="Times New Roman"/>
              </a:rPr>
              <a:t>not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339933"/>
                </a:solidFill>
                <a:latin typeface="Times New Roman"/>
                <a:cs typeface="Times New Roman"/>
              </a:rPr>
              <a:t>understand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339933"/>
                </a:solidFill>
                <a:latin typeface="Times New Roman"/>
                <a:cs typeface="Times New Roman"/>
              </a:rPr>
              <a:t>it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b="1" spc="-10" dirty="0">
                <a:solidFill>
                  <a:srgbClr val="339933"/>
                </a:solidFill>
                <a:latin typeface="Times New Roman"/>
                <a:cs typeface="Times New Roman"/>
              </a:rPr>
              <a:t>clearly.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2050"/>
              </a:spcBef>
              <a:buFont typeface="Wingdings"/>
              <a:buChar char=""/>
              <a:tabLst>
                <a:tab pos="46990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Program</a:t>
            </a:r>
            <a:r>
              <a:rPr sz="2000" b="1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listings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not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structured.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High</a:t>
            </a:r>
            <a:r>
              <a:rPr sz="2000" b="1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staff</a:t>
            </a:r>
            <a:r>
              <a:rPr sz="2000" b="1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turnover.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2055"/>
              </a:spcBef>
              <a:buFont typeface="Wingdings"/>
              <a:buChar char=""/>
              <a:tabLst>
                <a:tab pos="46990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Information</a:t>
            </a:r>
            <a:r>
              <a:rPr sz="2000" b="1" spc="-9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gap.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2050"/>
              </a:spcBef>
              <a:buFont typeface="Wingdings"/>
              <a:buChar char=""/>
              <a:tabLst>
                <a:tab pos="469900" algn="l"/>
              </a:tabLst>
            </a:pP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Systems</a:t>
            </a:r>
            <a:r>
              <a:rPr sz="2000" b="1" spc="-6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are</a:t>
            </a:r>
            <a:r>
              <a:rPr sz="2000" b="1" spc="-4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not</a:t>
            </a:r>
            <a:r>
              <a:rPr sz="2000" b="1" spc="-3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designed</a:t>
            </a:r>
            <a:r>
              <a:rPr sz="2000" b="1" spc="-3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for</a:t>
            </a:r>
            <a:r>
              <a:rPr sz="2000" b="1" spc="-6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339933"/>
                </a:solidFill>
                <a:latin typeface="Times New Roman"/>
                <a:cs typeface="Times New Roman"/>
              </a:rPr>
              <a:t>change.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768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95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15900" y="1011681"/>
            <a:ext cx="8511540" cy="181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Maintenance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Manageable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10"/>
              </a:spcBef>
            </a:pP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-1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common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misconception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about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maintenance</a:t>
            </a:r>
            <a:r>
              <a:rPr sz="2000" b="1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that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it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not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manageable.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205"/>
              </a:spcBef>
              <a:tabLst>
                <a:tab pos="907415" algn="l"/>
                <a:tab pos="1250315" algn="l"/>
                <a:tab pos="2101850" algn="l"/>
                <a:tab pos="3347720" algn="l"/>
                <a:tab pos="3746500" algn="l"/>
                <a:tab pos="4568190" algn="l"/>
                <a:tab pos="4911090" algn="l"/>
                <a:tab pos="6002655" algn="l"/>
                <a:tab pos="6668770" algn="l"/>
                <a:tab pos="7350125" algn="l"/>
              </a:tabLst>
            </a:pP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Report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survey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conducted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by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Lientz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&amp;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Swanson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gives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some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interesting observations: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95626" y="6073851"/>
            <a:ext cx="5609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Table</a:t>
            </a:r>
            <a:r>
              <a:rPr sz="2400" b="1" spc="-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1:</a:t>
            </a:r>
            <a:r>
              <a:rPr sz="24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Distribution</a:t>
            </a:r>
            <a:r>
              <a:rPr sz="2400" b="1" spc="-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400" b="1" spc="-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maintenance</a:t>
            </a:r>
            <a:r>
              <a:rPr sz="2400" b="1" spc="-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effort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09712" y="2982912"/>
          <a:ext cx="6172200" cy="294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b="1" spc="-5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Emergency</a:t>
                      </a:r>
                      <a:r>
                        <a:rPr sz="16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debugging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8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12.4%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600" b="1" spc="-5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Routine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debugging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17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600" b="1" spc="-2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9.3%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b="1" spc="-5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environment</a:t>
                      </a:r>
                      <a:r>
                        <a:rPr sz="16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adaptation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8905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6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17.3%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600" b="1" spc="-5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 hardware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OS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17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600" b="1" spc="-2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6.2%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600" b="1" spc="-5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Enhancements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users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890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41.8%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600" b="1" spc="-5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73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Documentation</a:t>
                      </a:r>
                      <a:r>
                        <a:rPr sz="16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Improvement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175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600" b="1" spc="-2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5.5%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600" b="1" spc="-5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efficiency</a:t>
                      </a:r>
                      <a:r>
                        <a:rPr sz="16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improvement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017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b="1" spc="-2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4.0%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600" b="1" spc="-5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95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Others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9539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600" b="1" spc="-2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3.5%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fld id="{81D60167-4931-47E6-BA6A-407CBD079E47}" type="slidenum">
              <a:rPr spc="-25" dirty="0"/>
              <a:t>96</a:t>
            </a:fld>
            <a:endParaRPr spc="-25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47737" y="2424112"/>
          <a:ext cx="6858000" cy="2252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b="1" spc="-5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reports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40.8%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00" b="1" spc="-5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 reports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6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27.1%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600" b="1" spc="-5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68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Reformed</a:t>
                      </a:r>
                      <a:r>
                        <a:rPr sz="16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reports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600" b="1" spc="-2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10%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600" b="1" spc="-5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Condense</a:t>
                      </a:r>
                      <a:r>
                        <a:rPr sz="16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reports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600" b="1" spc="-2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5.6%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5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Consolidate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reports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2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6.4%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600" b="1" spc="-5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Others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6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10.1%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051050" y="5159197"/>
            <a:ext cx="51473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Table</a:t>
            </a:r>
            <a:r>
              <a:rPr sz="24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2:</a:t>
            </a:r>
            <a:r>
              <a:rPr sz="24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Kinds</a:t>
            </a:r>
            <a:r>
              <a:rPr sz="24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4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66"/>
                </a:solidFill>
                <a:latin typeface="Times New Roman"/>
                <a:cs typeface="Times New Roman"/>
              </a:rPr>
              <a:t>maintenance</a:t>
            </a:r>
            <a:r>
              <a:rPr sz="24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requests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1613407"/>
            <a:ext cx="33540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Kinds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maintenance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requests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82304" y="6420466"/>
            <a:ext cx="153670" cy="31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25" dirty="0">
                <a:latin typeface="Times New Roman"/>
                <a:cs typeface="Times New Roman"/>
              </a:rPr>
              <a:t>10</a:t>
            </a:r>
            <a:endParaRPr sz="1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1000" spc="-50" dirty="0"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1849881"/>
            <a:ext cx="6850380" cy="2574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Potential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Solutions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Maintenance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Problems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800">
              <a:latin typeface="Times New Roman"/>
              <a:cs typeface="Times New Roman"/>
            </a:endParaRPr>
          </a:p>
          <a:p>
            <a:pPr marL="867410" indent="-457200">
              <a:lnSpc>
                <a:spcPct val="100000"/>
              </a:lnSpc>
              <a:buFont typeface="Wingdings"/>
              <a:buChar char=""/>
              <a:tabLst>
                <a:tab pos="867410" algn="l"/>
              </a:tabLst>
            </a:pPr>
            <a:r>
              <a:rPr sz="2000" b="1" dirty="0">
                <a:solidFill>
                  <a:srgbClr val="955125"/>
                </a:solidFill>
                <a:latin typeface="Times New Roman"/>
                <a:cs typeface="Times New Roman"/>
              </a:rPr>
              <a:t>Budget</a:t>
            </a:r>
            <a:r>
              <a:rPr sz="2000" b="1" spc="-2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55125"/>
                </a:solidFill>
                <a:latin typeface="Times New Roman"/>
                <a:cs typeface="Times New Roman"/>
              </a:rPr>
              <a:t>and</a:t>
            </a:r>
            <a:r>
              <a:rPr sz="2000" b="1" spc="-20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55125"/>
                </a:solidFill>
                <a:latin typeface="Times New Roman"/>
                <a:cs typeface="Times New Roman"/>
              </a:rPr>
              <a:t>effort</a:t>
            </a:r>
            <a:r>
              <a:rPr sz="2000" b="1" spc="-1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955125"/>
                </a:solidFill>
                <a:latin typeface="Times New Roman"/>
                <a:cs typeface="Times New Roman"/>
              </a:rPr>
              <a:t>reallocation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867410" indent="-457200">
              <a:lnSpc>
                <a:spcPct val="100000"/>
              </a:lnSpc>
              <a:buFont typeface="Wingdings"/>
              <a:buChar char=""/>
              <a:tabLst>
                <a:tab pos="867410" algn="l"/>
              </a:tabLst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Complete</a:t>
            </a:r>
            <a:r>
              <a:rPr sz="2000" b="1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replacement</a:t>
            </a:r>
            <a:r>
              <a:rPr sz="2000" b="1" spc="-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of</a:t>
            </a:r>
            <a:r>
              <a:rPr sz="2000" b="1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system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0"/>
              </a:spcBef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867410" indent="-457200">
              <a:lnSpc>
                <a:spcPct val="100000"/>
              </a:lnSpc>
              <a:buFont typeface="Wingdings"/>
              <a:buChar char=""/>
              <a:tabLst>
                <a:tab pos="86741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Maintenance</a:t>
            </a:r>
            <a:r>
              <a:rPr sz="2000" b="1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existing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system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371679"/>
            <a:ext cx="3981163" cy="502899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04800" y="8604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96692" y="-34036"/>
            <a:ext cx="41459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10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1140" y="935482"/>
            <a:ext cx="363283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Times New Roman"/>
                <a:cs typeface="Times New Roman"/>
              </a:rPr>
              <a:t>The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Maintenance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Process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6629" y="5011292"/>
            <a:ext cx="182181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3366"/>
                </a:solidFill>
                <a:latin typeface="Times New Roman"/>
                <a:cs typeface="Times New Roman"/>
              </a:rPr>
              <a:t>Fig.</a:t>
            </a:r>
            <a:r>
              <a:rPr sz="16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3366"/>
                </a:solidFill>
                <a:latin typeface="Times New Roman"/>
                <a:cs typeface="Times New Roman"/>
              </a:rPr>
              <a:t>2:</a:t>
            </a:r>
            <a:r>
              <a:rPr sz="16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16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software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003366"/>
                </a:solidFill>
                <a:latin typeface="Times New Roman"/>
                <a:cs typeface="Times New Roman"/>
              </a:rPr>
              <a:t>maintenance</a:t>
            </a:r>
            <a:r>
              <a:rPr sz="1600" b="1" spc="-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process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10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2100" y="1405605"/>
            <a:ext cx="8514715" cy="4010025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484505" indent="-457200">
              <a:lnSpc>
                <a:spcPct val="100000"/>
              </a:lnSpc>
              <a:spcBef>
                <a:spcPts val="1560"/>
              </a:spcBef>
              <a:buFont typeface="Wingdings"/>
              <a:buChar char=""/>
              <a:tabLst>
                <a:tab pos="48450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Program</a:t>
            </a:r>
            <a:r>
              <a:rPr sz="2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Understanding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000" b="1" dirty="0">
                <a:solidFill>
                  <a:srgbClr val="955125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55125"/>
                </a:solidFill>
                <a:latin typeface="Times New Roman"/>
                <a:cs typeface="Times New Roman"/>
              </a:rPr>
              <a:t>first</a:t>
            </a:r>
            <a:r>
              <a:rPr sz="2000" b="1" spc="-4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55125"/>
                </a:solidFill>
                <a:latin typeface="Times New Roman"/>
                <a:cs typeface="Times New Roman"/>
              </a:rPr>
              <a:t>phase</a:t>
            </a:r>
            <a:r>
              <a:rPr sz="2000" b="1" spc="-30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55125"/>
                </a:solidFill>
                <a:latin typeface="Times New Roman"/>
                <a:cs typeface="Times New Roman"/>
              </a:rPr>
              <a:t>consists</a:t>
            </a:r>
            <a:r>
              <a:rPr sz="2000" b="1" spc="-4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55125"/>
                </a:solidFill>
                <a:latin typeface="Times New Roman"/>
                <a:cs typeface="Times New Roman"/>
              </a:rPr>
              <a:t>of</a:t>
            </a:r>
            <a:r>
              <a:rPr sz="2000" b="1" spc="-2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55125"/>
                </a:solidFill>
                <a:latin typeface="Times New Roman"/>
                <a:cs typeface="Times New Roman"/>
              </a:rPr>
              <a:t>analyzing</a:t>
            </a:r>
            <a:r>
              <a:rPr sz="2000" b="1" spc="-4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55125"/>
                </a:solidFill>
                <a:latin typeface="Times New Roman"/>
                <a:cs typeface="Times New Roman"/>
              </a:rPr>
              <a:t>the</a:t>
            </a:r>
            <a:r>
              <a:rPr sz="2000" b="1" spc="-30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55125"/>
                </a:solidFill>
                <a:latin typeface="Times New Roman"/>
                <a:cs typeface="Times New Roman"/>
              </a:rPr>
              <a:t>program</a:t>
            </a:r>
            <a:r>
              <a:rPr sz="2000" b="1" spc="-4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55125"/>
                </a:solidFill>
                <a:latin typeface="Times New Roman"/>
                <a:cs typeface="Times New Roman"/>
              </a:rPr>
              <a:t>in</a:t>
            </a:r>
            <a:r>
              <a:rPr sz="2000" b="1" spc="-10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55125"/>
                </a:solidFill>
                <a:latin typeface="Times New Roman"/>
                <a:cs typeface="Times New Roman"/>
              </a:rPr>
              <a:t>order</a:t>
            </a:r>
            <a:r>
              <a:rPr sz="2000" b="1" spc="-70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55125"/>
                </a:solidFill>
                <a:latin typeface="Times New Roman"/>
                <a:cs typeface="Times New Roman"/>
              </a:rPr>
              <a:t>to</a:t>
            </a:r>
            <a:r>
              <a:rPr sz="2000" b="1" spc="-25" dirty="0">
                <a:solidFill>
                  <a:srgbClr val="955125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955125"/>
                </a:solidFill>
                <a:latin typeface="Times New Roman"/>
                <a:cs typeface="Times New Roman"/>
              </a:rPr>
              <a:t>understand.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indent="-457200">
              <a:lnSpc>
                <a:spcPct val="100000"/>
              </a:lnSpc>
              <a:buFont typeface="Wingdings"/>
              <a:buChar char=""/>
              <a:tabLst>
                <a:tab pos="48450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Generating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Particular</a:t>
            </a:r>
            <a:r>
              <a:rPr sz="24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Maintenance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Proposal</a:t>
            </a:r>
            <a:endParaRPr sz="2400">
              <a:latin typeface="Times New Roman"/>
              <a:cs typeface="Times New Roman"/>
            </a:endParaRPr>
          </a:p>
          <a:p>
            <a:pPr marL="12700" marR="5715">
              <a:lnSpc>
                <a:spcPct val="100000"/>
              </a:lnSpc>
              <a:spcBef>
                <a:spcPts val="1225"/>
              </a:spcBef>
            </a:pP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The</a:t>
            </a:r>
            <a:r>
              <a:rPr sz="2000" b="1" spc="6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second</a:t>
            </a:r>
            <a:r>
              <a:rPr sz="2000" b="1" spc="80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phase</a:t>
            </a:r>
            <a:r>
              <a:rPr sz="2000" b="1" spc="60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consists</a:t>
            </a:r>
            <a:r>
              <a:rPr sz="2000" b="1" spc="6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of</a:t>
            </a:r>
            <a:r>
              <a:rPr sz="2000" b="1" spc="6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generating</a:t>
            </a:r>
            <a:r>
              <a:rPr sz="2000" b="1" spc="5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a</a:t>
            </a:r>
            <a:r>
              <a:rPr sz="2000" b="1" spc="80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particular</a:t>
            </a:r>
            <a:r>
              <a:rPr sz="2000" b="1" spc="3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maintenance</a:t>
            </a:r>
            <a:r>
              <a:rPr sz="2000" b="1" spc="60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proposal</a:t>
            </a:r>
            <a:r>
              <a:rPr sz="2000" b="1" spc="6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DA1F28"/>
                </a:solidFill>
                <a:latin typeface="Times New Roman"/>
                <a:cs typeface="Times New Roman"/>
              </a:rPr>
              <a:t>to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accomplish</a:t>
            </a:r>
            <a:r>
              <a:rPr sz="2000" b="1" spc="-6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the</a:t>
            </a:r>
            <a:r>
              <a:rPr sz="2000" b="1" spc="-1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implementation</a:t>
            </a:r>
            <a:r>
              <a:rPr sz="2000" b="1" spc="-5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of</a:t>
            </a:r>
            <a:r>
              <a:rPr sz="2000" b="1" spc="-1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maintenance</a:t>
            </a:r>
            <a:r>
              <a:rPr sz="2000" b="1" spc="-4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DA1F28"/>
                </a:solidFill>
                <a:latin typeface="Times New Roman"/>
                <a:cs typeface="Times New Roman"/>
              </a:rPr>
              <a:t>objective.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indent="-457200">
              <a:lnSpc>
                <a:spcPct val="100000"/>
              </a:lnSpc>
              <a:buFont typeface="Wingdings"/>
              <a:buChar char=""/>
              <a:tabLst>
                <a:tab pos="48450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Ripple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(flow)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Effect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225"/>
              </a:spcBef>
              <a:tabLst>
                <a:tab pos="585470" algn="l"/>
                <a:tab pos="1285240" algn="l"/>
                <a:tab pos="2056130" algn="l"/>
                <a:tab pos="3035300" algn="l"/>
                <a:tab pos="3395979" algn="l"/>
                <a:tab pos="4729480" algn="l"/>
                <a:tab pos="5199380" algn="l"/>
                <a:tab pos="5615305" algn="l"/>
                <a:tab pos="5975350" algn="l"/>
                <a:tab pos="6463030" algn="l"/>
                <a:tab pos="7261859" algn="l"/>
                <a:tab pos="7999095" algn="l"/>
                <a:tab pos="8374380" algn="l"/>
              </a:tabLst>
            </a:pPr>
            <a:r>
              <a:rPr sz="2000" b="1" spc="-25" dirty="0">
                <a:solidFill>
                  <a:srgbClr val="FF8118"/>
                </a:solidFill>
                <a:latin typeface="Times New Roman"/>
                <a:cs typeface="Times New Roman"/>
              </a:rPr>
              <a:t>The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	</a:t>
            </a:r>
            <a:r>
              <a:rPr sz="2000" b="1" spc="-20" dirty="0">
                <a:solidFill>
                  <a:srgbClr val="FF8118"/>
                </a:solidFill>
                <a:latin typeface="Times New Roman"/>
                <a:cs typeface="Times New Roman"/>
              </a:rPr>
              <a:t>third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	</a:t>
            </a:r>
            <a:r>
              <a:rPr sz="2000" b="1" spc="-20" dirty="0">
                <a:solidFill>
                  <a:srgbClr val="FF8118"/>
                </a:solidFill>
                <a:latin typeface="Times New Roman"/>
                <a:cs typeface="Times New Roman"/>
              </a:rPr>
              <a:t>phase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8118"/>
                </a:solidFill>
                <a:latin typeface="Times New Roman"/>
                <a:cs typeface="Times New Roman"/>
              </a:rPr>
              <a:t>consists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FF8118"/>
                </a:solidFill>
                <a:latin typeface="Times New Roman"/>
                <a:cs typeface="Times New Roman"/>
              </a:rPr>
              <a:t>of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8118"/>
                </a:solidFill>
                <a:latin typeface="Times New Roman"/>
                <a:cs typeface="Times New Roman"/>
              </a:rPr>
              <a:t>accounting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FF8118"/>
                </a:solidFill>
                <a:latin typeface="Times New Roman"/>
                <a:cs typeface="Times New Roman"/>
              </a:rPr>
              <a:t>for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FF8118"/>
                </a:solidFill>
                <a:latin typeface="Times New Roman"/>
                <a:cs typeface="Times New Roman"/>
              </a:rPr>
              <a:t>all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FF8118"/>
                </a:solidFill>
                <a:latin typeface="Times New Roman"/>
                <a:cs typeface="Times New Roman"/>
              </a:rPr>
              <a:t>of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FF8118"/>
                </a:solidFill>
                <a:latin typeface="Times New Roman"/>
                <a:cs typeface="Times New Roman"/>
              </a:rPr>
              <a:t>the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8118"/>
                </a:solidFill>
                <a:latin typeface="Times New Roman"/>
                <a:cs typeface="Times New Roman"/>
              </a:rPr>
              <a:t>ripple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FF8118"/>
                </a:solidFill>
                <a:latin typeface="Times New Roman"/>
                <a:cs typeface="Times New Roman"/>
              </a:rPr>
              <a:t>effect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FF8118"/>
                </a:solidFill>
                <a:latin typeface="Times New Roman"/>
                <a:cs typeface="Times New Roman"/>
              </a:rPr>
              <a:t>as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	</a:t>
            </a:r>
            <a:r>
              <a:rPr sz="2000" b="1" spc="-50" dirty="0">
                <a:solidFill>
                  <a:srgbClr val="FF8118"/>
                </a:solidFill>
                <a:latin typeface="Times New Roman"/>
                <a:cs typeface="Times New Roman"/>
              </a:rPr>
              <a:t>a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consequence</a:t>
            </a:r>
            <a:r>
              <a:rPr sz="2000" b="1" spc="-7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of</a:t>
            </a:r>
            <a:r>
              <a:rPr sz="2000" b="1" spc="-35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program</a:t>
            </a:r>
            <a:r>
              <a:rPr sz="2000" b="1" spc="-4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8118"/>
                </a:solidFill>
                <a:latin typeface="Times New Roman"/>
                <a:cs typeface="Times New Roman"/>
              </a:rPr>
              <a:t>modifications.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10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2100" y="1405605"/>
            <a:ext cx="8515350" cy="3171825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484505" indent="-457200">
              <a:lnSpc>
                <a:spcPct val="100000"/>
              </a:lnSpc>
              <a:spcBef>
                <a:spcPts val="1560"/>
              </a:spcBef>
              <a:buFont typeface="Wingdings"/>
              <a:buChar char=""/>
              <a:tabLst>
                <a:tab pos="48450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Modified</a:t>
            </a:r>
            <a:r>
              <a:rPr sz="2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Program</a:t>
            </a:r>
            <a:r>
              <a:rPr sz="24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Testing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230"/>
              </a:spcBef>
            </a:pP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The</a:t>
            </a:r>
            <a:r>
              <a:rPr sz="2000" b="1" spc="15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fourth</a:t>
            </a:r>
            <a:r>
              <a:rPr sz="2000" b="1" spc="15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phase</a:t>
            </a:r>
            <a:r>
              <a:rPr sz="2000" b="1" spc="155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consists</a:t>
            </a:r>
            <a:r>
              <a:rPr sz="2000" b="1" spc="14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of</a:t>
            </a:r>
            <a:r>
              <a:rPr sz="2000" b="1" spc="15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testing</a:t>
            </a:r>
            <a:r>
              <a:rPr sz="2000" b="1" spc="15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the</a:t>
            </a:r>
            <a:r>
              <a:rPr sz="2000" b="1" spc="14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modified</a:t>
            </a:r>
            <a:r>
              <a:rPr sz="2000" b="1" spc="155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program</a:t>
            </a:r>
            <a:r>
              <a:rPr sz="2000" b="1" spc="14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to</a:t>
            </a:r>
            <a:r>
              <a:rPr sz="2000" b="1" spc="155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ensure</a:t>
            </a:r>
            <a:r>
              <a:rPr sz="2000" b="1" spc="14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that</a:t>
            </a:r>
            <a:r>
              <a:rPr sz="2000" b="1" spc="155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FF8118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modified</a:t>
            </a:r>
            <a:r>
              <a:rPr sz="2000" b="1" spc="-65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program</a:t>
            </a:r>
            <a:r>
              <a:rPr sz="2000" b="1" spc="-4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has</a:t>
            </a:r>
            <a:r>
              <a:rPr sz="2000" b="1" spc="-35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at</a:t>
            </a:r>
            <a:r>
              <a:rPr sz="2000" b="1" spc="-3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least</a:t>
            </a:r>
            <a:r>
              <a:rPr sz="2000" b="1" spc="-3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the</a:t>
            </a:r>
            <a:r>
              <a:rPr sz="2000" b="1" spc="-3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same</a:t>
            </a:r>
            <a:r>
              <a:rPr sz="2000" b="1" spc="-4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reliability</a:t>
            </a:r>
            <a:r>
              <a:rPr sz="2000" b="1" spc="-4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level</a:t>
            </a:r>
            <a:r>
              <a:rPr sz="2000" b="1" spc="-4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8118"/>
                </a:solidFill>
                <a:latin typeface="Times New Roman"/>
                <a:cs typeface="Times New Roman"/>
              </a:rPr>
              <a:t>as</a:t>
            </a:r>
            <a:r>
              <a:rPr sz="2000" b="1" spc="-20" dirty="0">
                <a:solidFill>
                  <a:srgbClr val="FF8118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8118"/>
                </a:solidFill>
                <a:latin typeface="Times New Roman"/>
                <a:cs typeface="Times New Roman"/>
              </a:rPr>
              <a:t>before.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indent="-457200">
              <a:lnSpc>
                <a:spcPct val="100000"/>
              </a:lnSpc>
              <a:buFont typeface="Wingdings"/>
              <a:buChar char=""/>
              <a:tabLst>
                <a:tab pos="484505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Maintainability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230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Each</a:t>
            </a:r>
            <a:r>
              <a:rPr sz="2000" b="1" spc="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9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these</a:t>
            </a:r>
            <a:r>
              <a:rPr sz="2000" b="1" spc="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four</a:t>
            </a:r>
            <a:r>
              <a:rPr sz="2000" b="1" spc="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phases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their</a:t>
            </a:r>
            <a:r>
              <a:rPr sz="2000" b="1" spc="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associated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software</a:t>
            </a:r>
            <a:r>
              <a:rPr sz="2000" b="1" spc="9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quality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attributes</a:t>
            </a:r>
            <a:r>
              <a:rPr sz="2000" b="1" spc="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are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critical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1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maintenance</a:t>
            </a:r>
            <a:r>
              <a:rPr sz="2000" b="1" spc="1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process.</a:t>
            </a:r>
            <a:r>
              <a:rPr sz="2000" b="1" spc="1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All</a:t>
            </a:r>
            <a:r>
              <a:rPr sz="2000" b="1" spc="1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1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these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factors</a:t>
            </a:r>
            <a:r>
              <a:rPr sz="2000" b="1" spc="1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must</a:t>
            </a:r>
            <a:r>
              <a:rPr sz="2000" b="1" spc="1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be</a:t>
            </a:r>
            <a:r>
              <a:rPr sz="2000" b="1" spc="1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combined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to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form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maintainability.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10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651" y="1392681"/>
            <a:ext cx="8723630" cy="4642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" algn="just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/>
                <a:cs typeface="Times New Roman"/>
              </a:rPr>
              <a:t>Regression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Testing</a:t>
            </a:r>
            <a:endParaRPr sz="2800">
              <a:latin typeface="Times New Roman"/>
              <a:cs typeface="Times New Roman"/>
            </a:endParaRPr>
          </a:p>
          <a:p>
            <a:pPr marL="12700" marR="156210" algn="just">
              <a:lnSpc>
                <a:spcPct val="100000"/>
              </a:lnSpc>
              <a:spcBef>
                <a:spcPts val="1710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Regression</a:t>
            </a:r>
            <a:r>
              <a:rPr sz="2000" b="1" spc="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testing</a:t>
            </a:r>
            <a:r>
              <a:rPr sz="2000" b="1" spc="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process</a:t>
            </a:r>
            <a:r>
              <a:rPr sz="2000" b="1" spc="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retesting</a:t>
            </a:r>
            <a:r>
              <a:rPr sz="2000" b="1" spc="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modified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parts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software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sz="2000" b="1" spc="3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ensuring</a:t>
            </a:r>
            <a:r>
              <a:rPr sz="2000" b="1" spc="3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that</a:t>
            </a:r>
            <a:r>
              <a:rPr sz="2000" b="1" spc="3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no</a:t>
            </a:r>
            <a:r>
              <a:rPr sz="2000" b="1" spc="3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new</a:t>
            </a:r>
            <a:r>
              <a:rPr sz="2000" b="1" spc="3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errors</a:t>
            </a:r>
            <a:r>
              <a:rPr sz="2000" b="1" spc="3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have</a:t>
            </a:r>
            <a:r>
              <a:rPr sz="2000" b="1" spc="3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been</a:t>
            </a:r>
            <a:r>
              <a:rPr sz="2000" b="1" spc="3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introduced</a:t>
            </a:r>
            <a:r>
              <a:rPr sz="2000" b="1" spc="3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into</a:t>
            </a:r>
            <a:r>
              <a:rPr sz="2000" b="1" spc="3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previously</a:t>
            </a:r>
            <a:r>
              <a:rPr sz="2000" b="1" spc="3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test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code.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205"/>
              </a:spcBef>
            </a:pPr>
            <a:r>
              <a:rPr sz="2000" b="1" dirty="0">
                <a:latin typeface="Times New Roman"/>
                <a:cs typeface="Times New Roman"/>
              </a:rPr>
              <a:t>“Regression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testing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tests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both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modified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code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other</a:t>
            </a:r>
            <a:r>
              <a:rPr sz="2000" b="1" spc="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parts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program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affected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program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change.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serves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many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purposes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75"/>
              </a:spcBef>
            </a:pPr>
            <a:endParaRPr sz="2000">
              <a:latin typeface="Times New Roman"/>
              <a:cs typeface="Times New Roman"/>
            </a:endParaRPr>
          </a:p>
          <a:p>
            <a:pPr marL="892175" indent="-457200">
              <a:lnSpc>
                <a:spcPct val="100000"/>
              </a:lnSpc>
              <a:buFont typeface="Wingdings"/>
              <a:buChar char=""/>
              <a:tabLst>
                <a:tab pos="892175" algn="l"/>
              </a:tabLst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increase</a:t>
            </a:r>
            <a:r>
              <a:rPr sz="20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confidence</a:t>
            </a:r>
            <a:r>
              <a:rPr sz="2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correctness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modified</a:t>
            </a:r>
            <a:r>
              <a:rPr sz="2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program</a:t>
            </a:r>
            <a:endParaRPr sz="2000">
              <a:latin typeface="Times New Roman"/>
              <a:cs typeface="Times New Roman"/>
            </a:endParaRPr>
          </a:p>
          <a:p>
            <a:pPr marL="892175" indent="-457200">
              <a:lnSpc>
                <a:spcPct val="100000"/>
              </a:lnSpc>
              <a:spcBef>
                <a:spcPts val="1430"/>
              </a:spcBef>
              <a:buFont typeface="Wingdings"/>
              <a:buChar char=""/>
              <a:tabLst>
                <a:tab pos="892175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locate</a:t>
            </a:r>
            <a:r>
              <a:rPr sz="2000" b="1" spc="-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errors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modified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program</a:t>
            </a:r>
            <a:endParaRPr sz="2000">
              <a:latin typeface="Times New Roman"/>
              <a:cs typeface="Times New Roman"/>
            </a:endParaRPr>
          </a:p>
          <a:p>
            <a:pPr marL="892175" indent="-457200">
              <a:lnSpc>
                <a:spcPct val="100000"/>
              </a:lnSpc>
              <a:spcBef>
                <a:spcPts val="1425"/>
              </a:spcBef>
              <a:buFont typeface="Wingdings"/>
              <a:buChar char=""/>
              <a:tabLst>
                <a:tab pos="892175" algn="l"/>
              </a:tabLst>
            </a:pP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preserve</a:t>
            </a:r>
            <a:r>
              <a:rPr sz="2000" b="1" spc="-5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quality</a:t>
            </a:r>
            <a:r>
              <a:rPr sz="2000" b="1" spc="-5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and</a:t>
            </a:r>
            <a:r>
              <a:rPr sz="2000" b="1" spc="-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reliability</a:t>
            </a:r>
            <a:r>
              <a:rPr sz="2000" b="1" spc="-5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2000" b="1" spc="-3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  <a:p>
            <a:pPr marL="892175" indent="-457200">
              <a:lnSpc>
                <a:spcPct val="100000"/>
              </a:lnSpc>
              <a:spcBef>
                <a:spcPts val="1550"/>
              </a:spcBef>
              <a:buFont typeface="Wingdings"/>
              <a:buChar char=""/>
              <a:tabLst>
                <a:tab pos="892175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ensure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software’s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continued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operation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10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394205"/>
            <a:ext cx="6640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r>
              <a:rPr sz="2400" b="1" spc="-1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Testing</a:t>
            </a:r>
            <a:r>
              <a:rPr sz="24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Versus</a:t>
            </a:r>
            <a:r>
              <a:rPr sz="24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Regression</a:t>
            </a:r>
            <a:r>
              <a:rPr sz="2400" b="1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Testing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0512" y="2119312"/>
          <a:ext cx="86106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1447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Sr.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113030">
                        <a:lnSpc>
                          <a:spcPct val="100000"/>
                        </a:lnSpc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No.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1F3FB"/>
                    </a:solidFill>
                  </a:tcPr>
                </a:tc>
                <a:tc>
                  <a:txBody>
                    <a:bodyPr/>
                    <a:lstStyle/>
                    <a:p>
                      <a:pPr marL="8985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Development</a:t>
                      </a:r>
                      <a:r>
                        <a:rPr sz="16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testing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1F3FB"/>
                    </a:solidFill>
                  </a:tcPr>
                </a:tc>
                <a:tc>
                  <a:txBody>
                    <a:bodyPr/>
                    <a:lstStyle/>
                    <a:p>
                      <a:pPr marL="12217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Regression</a:t>
                      </a:r>
                      <a:r>
                        <a:rPr sz="16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testing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1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1.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6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suites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plans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 marR="48133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make use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suite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plans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2.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6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components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680"/>
                        </a:spcBef>
                        <a:tabLst>
                          <a:tab pos="1169035" algn="l"/>
                          <a:tab pos="1986280" algn="l"/>
                          <a:tab pos="3153410" algn="l"/>
                          <a:tab pos="3630929" algn="l"/>
                        </a:tabLst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600" b="1" spc="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retest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affected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components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have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been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modified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modifications.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3.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Budget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gives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6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6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860" marR="217804">
                        <a:lnSpc>
                          <a:spcPct val="100000"/>
                        </a:lnSpc>
                        <a:spcBef>
                          <a:spcPts val="905"/>
                        </a:spcBef>
                        <a:tabLst>
                          <a:tab pos="963294" algn="l"/>
                          <a:tab pos="1600835" algn="l"/>
                          <a:tab pos="2178050" algn="l"/>
                          <a:tab pos="2655570" algn="l"/>
                          <a:tab pos="3201035" algn="l"/>
                          <a:tab pos="3782060" algn="l"/>
                        </a:tabLst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Budget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often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give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regression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testing.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4.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600" b="1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600" b="1" spc="4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600" b="1" spc="4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just</a:t>
                      </a:r>
                      <a:r>
                        <a:rPr sz="1600" b="1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once</a:t>
                      </a:r>
                      <a:r>
                        <a:rPr sz="1600" b="1" spc="40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600" b="1" spc="4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3335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product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6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regression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many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times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3398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16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life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product.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5.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655"/>
                        </a:spcBef>
                        <a:tabLst>
                          <a:tab pos="1237615" algn="l"/>
                          <a:tab pos="1937385" algn="l"/>
                          <a:tab pos="2391410" algn="l"/>
                          <a:tab pos="3315335" algn="l"/>
                        </a:tabLst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Performed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pressure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174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release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software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110" marR="14160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Performed</a:t>
                      </a:r>
                      <a:r>
                        <a:rPr sz="1600" b="1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b="1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crisis</a:t>
                      </a:r>
                      <a:r>
                        <a:rPr sz="1600" b="1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situations,</a:t>
                      </a:r>
                      <a:r>
                        <a:rPr sz="1600" b="1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600" b="1" spc="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greater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constraints.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100" y="1470405"/>
            <a:ext cx="8571230" cy="303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4505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84505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Regression</a:t>
            </a:r>
            <a:r>
              <a:rPr sz="24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Test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Selection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Regression</a:t>
            </a:r>
            <a:r>
              <a:rPr sz="2000" b="1" spc="11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testing</a:t>
            </a:r>
            <a:r>
              <a:rPr sz="2000" b="1" spc="1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1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very</a:t>
            </a:r>
            <a:r>
              <a:rPr sz="2000" b="1" spc="1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expensive</a:t>
            </a:r>
            <a:r>
              <a:rPr sz="2000" b="1" spc="10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activity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sz="2000" b="1" spc="11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consumes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significant</a:t>
            </a:r>
            <a:r>
              <a:rPr sz="2000" b="1" spc="11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amount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effort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/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cost.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Many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techniques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are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available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reduce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this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effort/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cost.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2000">
              <a:latin typeface="Times New Roman"/>
              <a:cs typeface="Times New Roman"/>
            </a:endParaRPr>
          </a:p>
          <a:p>
            <a:pPr marL="882650" lvl="1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88265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Reuse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whole</a:t>
            </a:r>
            <a:r>
              <a:rPr sz="2000" b="1" spc="-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test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suite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00"/>
              </a:spcBef>
              <a:buAutoNum type="arabicPeriod"/>
            </a:pPr>
            <a:endParaRPr sz="2000">
              <a:latin typeface="Times New Roman"/>
              <a:cs typeface="Times New Roman"/>
            </a:endParaRPr>
          </a:p>
          <a:p>
            <a:pPr marL="882650" marR="90170" lvl="1" indent="-457200">
              <a:lnSpc>
                <a:spcPct val="100000"/>
              </a:lnSpc>
              <a:buAutoNum type="arabicPeriod"/>
              <a:tabLst>
                <a:tab pos="882650" algn="l"/>
              </a:tabLst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Reuse</a:t>
            </a:r>
            <a:r>
              <a:rPr sz="2000" b="1" spc="2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the</a:t>
            </a:r>
            <a:r>
              <a:rPr sz="2000" b="1" spc="2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existing</a:t>
            </a:r>
            <a:r>
              <a:rPr sz="2000" b="1" spc="2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test</a:t>
            </a:r>
            <a:r>
              <a:rPr sz="2000" b="1" spc="254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suite,</a:t>
            </a:r>
            <a:r>
              <a:rPr sz="2000" b="1" spc="2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but</a:t>
            </a:r>
            <a:r>
              <a:rPr sz="2000" b="1" spc="2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to</a:t>
            </a:r>
            <a:r>
              <a:rPr sz="2000" b="1" spc="2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apply</a:t>
            </a:r>
            <a:r>
              <a:rPr sz="2000" b="1" spc="2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</a:t>
            </a:r>
            <a:r>
              <a:rPr sz="2000" b="1" spc="2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regression</a:t>
            </a:r>
            <a:r>
              <a:rPr sz="2000" b="1" spc="2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test</a:t>
            </a:r>
            <a:r>
              <a:rPr sz="2000" b="1" spc="2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selection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technique</a:t>
            </a:r>
            <a:r>
              <a:rPr sz="20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to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select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an</a:t>
            </a:r>
            <a:r>
              <a:rPr sz="20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appropriate</a:t>
            </a:r>
            <a:r>
              <a:rPr sz="20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subset</a:t>
            </a:r>
            <a:r>
              <a:rPr sz="20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of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test</a:t>
            </a:r>
            <a:r>
              <a:rPr sz="20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suite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to</a:t>
            </a:r>
            <a:r>
              <a:rPr sz="20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be </a:t>
            </a:r>
            <a:r>
              <a:rPr sz="20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run.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10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79866" y="4591649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5">
                <a:moveTo>
                  <a:pt x="0" y="0"/>
                </a:moveTo>
                <a:lnTo>
                  <a:pt x="140250" y="0"/>
                </a:lnTo>
              </a:path>
            </a:pathLst>
          </a:custGeom>
          <a:ln w="84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72742" y="4613479"/>
            <a:ext cx="417195" cy="0"/>
          </a:xfrm>
          <a:custGeom>
            <a:avLst/>
            <a:gdLst/>
            <a:ahLst/>
            <a:cxnLst/>
            <a:rect l="l" t="t" r="r" b="b"/>
            <a:pathLst>
              <a:path w="417195">
                <a:moveTo>
                  <a:pt x="0" y="0"/>
                </a:moveTo>
                <a:lnTo>
                  <a:pt x="416790" y="0"/>
                </a:lnTo>
              </a:path>
            </a:pathLst>
          </a:custGeom>
          <a:ln w="84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85912" y="1931987"/>
          <a:ext cx="6096000" cy="3099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7380">
                <a:tc gridSpan="2">
                  <a:txBody>
                    <a:bodyPr/>
                    <a:lstStyle/>
                    <a:p>
                      <a:pPr marL="99885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Fragment</a:t>
                      </a:r>
                      <a:r>
                        <a:rPr sz="16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2F88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36905" marR="629920" indent="356235">
                        <a:lnSpc>
                          <a:spcPts val="2300"/>
                        </a:lnSpc>
                        <a:spcBef>
                          <a:spcPts val="8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Fragment</a:t>
                      </a:r>
                      <a:r>
                        <a:rPr sz="16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B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(modified</a:t>
                      </a:r>
                      <a:r>
                        <a:rPr sz="16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form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A)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2F88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1</a:t>
                      </a:r>
                      <a:endParaRPr sz="1575" baseline="-21164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= (x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- 1)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* (x +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1)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’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y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= (x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1)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*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(x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+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1)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1164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(y =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0)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’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(y =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0)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3</a:t>
                      </a:r>
                      <a:endParaRPr sz="1575" baseline="-21164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return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(error)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’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return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(error)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4</a:t>
                      </a:r>
                      <a:endParaRPr sz="1575" baseline="-21164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else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’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latin typeface="Arial MT"/>
                          <a:cs typeface="Arial MT"/>
                        </a:rPr>
                        <a:t>else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0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5</a:t>
                      </a:r>
                      <a:endParaRPr sz="1575" baseline="-21164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R="304800" algn="ctr">
                        <a:lnSpc>
                          <a:spcPts val="1545"/>
                        </a:lnSpc>
                        <a:spcBef>
                          <a:spcPts val="1460"/>
                        </a:spcBef>
                      </a:pPr>
                      <a:r>
                        <a:rPr sz="2400" baseline="1736" dirty="0">
                          <a:latin typeface="Symbol"/>
                          <a:cs typeface="Symbol"/>
                        </a:rPr>
                        <a:t></a:t>
                      </a:r>
                      <a:r>
                        <a:rPr sz="2400" spc="-67" baseline="173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75" baseline="1736" dirty="0">
                          <a:latin typeface="Symbol"/>
                          <a:cs typeface="Symbol"/>
                        </a:rPr>
                        <a:t></a:t>
                      </a:r>
                      <a:endParaRPr sz="2400" baseline="1736">
                        <a:latin typeface="Symbol"/>
                        <a:cs typeface="Symbol"/>
                      </a:endParaRPr>
                    </a:p>
                    <a:p>
                      <a:pPr marL="91440">
                        <a:lnSpc>
                          <a:spcPts val="1300"/>
                        </a:lnSpc>
                        <a:tabLst>
                          <a:tab pos="811530" algn="l"/>
                          <a:tab pos="1083310" algn="l"/>
                        </a:tabLst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return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400" spc="-75" baseline="6944" dirty="0">
                          <a:latin typeface="Symbol"/>
                          <a:cs typeface="Symbol"/>
                        </a:rPr>
                        <a:t></a:t>
                      </a:r>
                      <a:r>
                        <a:rPr sz="2400" baseline="6944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75" baseline="6944" dirty="0">
                          <a:latin typeface="Symbol"/>
                          <a:cs typeface="Symbol"/>
                        </a:rPr>
                        <a:t></a:t>
                      </a:r>
                      <a:endParaRPr sz="2400" baseline="6944">
                        <a:latin typeface="Symbol"/>
                        <a:cs typeface="Symbol"/>
                      </a:endParaRPr>
                    </a:p>
                    <a:p>
                      <a:pPr marR="304800" algn="ctr">
                        <a:lnSpc>
                          <a:spcPts val="1675"/>
                        </a:lnSpc>
                      </a:pPr>
                      <a:r>
                        <a:rPr sz="1600" dirty="0">
                          <a:latin typeface="Symbol"/>
                          <a:cs typeface="Symbol"/>
                        </a:rPr>
                        <a:t></a:t>
                      </a:r>
                      <a:r>
                        <a:rPr sz="16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i="1" baseline="12152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400" i="1" spc="-104" baseline="12152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0" dirty="0">
                          <a:latin typeface="Symbol"/>
                          <a:cs typeface="Symbol"/>
                        </a:rPr>
                        <a:t></a:t>
                      </a:r>
                      <a:endParaRPr sz="1600">
                        <a:latin typeface="Symbol"/>
                        <a:cs typeface="Symbol"/>
                      </a:endParaRPr>
                    </a:p>
                  </a:txBody>
                  <a:tcPr marL="0" marR="0" marT="1854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’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ts val="950"/>
                        </a:lnSpc>
                        <a:tabLst>
                          <a:tab pos="785495" algn="l"/>
                          <a:tab pos="1048385" algn="l"/>
                          <a:tab pos="1332865" algn="l"/>
                        </a:tabLst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return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2400" spc="-75" baseline="36458" dirty="0">
                          <a:latin typeface="Symbol"/>
                          <a:cs typeface="Symbol"/>
                        </a:rPr>
                        <a:t></a:t>
                      </a:r>
                      <a:r>
                        <a:rPr sz="2400" baseline="36458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89" baseline="34722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400" baseline="34722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400" spc="-75" baseline="36458" dirty="0">
                          <a:latin typeface="Symbol"/>
                          <a:cs typeface="Symbol"/>
                        </a:rPr>
                        <a:t></a:t>
                      </a:r>
                      <a:endParaRPr sz="2400" baseline="36458">
                        <a:latin typeface="Symbol"/>
                        <a:cs typeface="Symbol"/>
                      </a:endParaRPr>
                    </a:p>
                    <a:p>
                      <a:pPr marL="786130">
                        <a:lnSpc>
                          <a:spcPts val="625"/>
                        </a:lnSpc>
                        <a:tabLst>
                          <a:tab pos="1332865" algn="l"/>
                        </a:tabLst>
                      </a:pPr>
                      <a:r>
                        <a:rPr sz="1600" spc="-50" dirty="0">
                          <a:latin typeface="Symbol"/>
                          <a:cs typeface="Symbol"/>
                        </a:rPr>
                        <a:t>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spc="-50" dirty="0">
                          <a:latin typeface="Symbol"/>
                          <a:cs typeface="Symbol"/>
                        </a:rPr>
                        <a:t></a:t>
                      </a:r>
                      <a:endParaRPr sz="1600">
                        <a:latin typeface="Symbol"/>
                        <a:cs typeface="Symbol"/>
                      </a:endParaRPr>
                    </a:p>
                    <a:p>
                      <a:pPr marL="786130">
                        <a:lnSpc>
                          <a:spcPts val="1595"/>
                        </a:lnSpc>
                      </a:pPr>
                      <a:r>
                        <a:rPr sz="2400" baseline="-12152" dirty="0">
                          <a:latin typeface="Symbol"/>
                          <a:cs typeface="Symbol"/>
                        </a:rPr>
                        <a:t></a:t>
                      </a:r>
                      <a:r>
                        <a:rPr sz="2400" spc="82" baseline="-12152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i="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6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1600" spc="-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600" spc="-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75" baseline="-12152" dirty="0">
                          <a:latin typeface="Symbol"/>
                          <a:cs typeface="Symbol"/>
                        </a:rPr>
                        <a:t></a:t>
                      </a:r>
                      <a:endParaRPr sz="2400" baseline="-12152">
                        <a:latin typeface="Symbol"/>
                        <a:cs typeface="Symbol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136519" y="5313121"/>
            <a:ext cx="32619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Fig.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8: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code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fragment</a:t>
            </a:r>
            <a:r>
              <a:rPr sz="2000" b="1" spc="-14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10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7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10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8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85912" y="1890712"/>
          <a:ext cx="6096000" cy="256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40" dirty="0">
                          <a:latin typeface="Arial MT"/>
                          <a:cs typeface="Arial MT"/>
                        </a:rPr>
                        <a:t>Test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cases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589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40" dirty="0">
                          <a:latin typeface="Arial MT"/>
                          <a:cs typeface="Arial MT"/>
                        </a:rPr>
                        <a:t>Test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number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1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1A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Execution</a:t>
                      </a:r>
                      <a:r>
                        <a:rPr sz="16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History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1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1</a:t>
                      </a:r>
                      <a:endParaRPr sz="1575" baseline="-21164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= 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baseline="-21164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,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baseline="-21164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,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3</a:t>
                      </a:r>
                      <a:endParaRPr sz="1575" baseline="-21164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2</a:t>
                      </a:r>
                      <a:endParaRPr sz="1575" baseline="-21164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16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baseline="-21164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,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baseline="-21164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,</a:t>
                      </a:r>
                      <a:r>
                        <a:rPr sz="16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3</a:t>
                      </a:r>
                      <a:endParaRPr sz="1575" baseline="-21164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3</a:t>
                      </a:r>
                      <a:endParaRPr sz="1575" baseline="-21164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= 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baseline="-21164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,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baseline="-21164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,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5</a:t>
                      </a:r>
                      <a:endParaRPr sz="1575" baseline="-21164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t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4</a:t>
                      </a:r>
                      <a:endParaRPr sz="1575" baseline="-21164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x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= </a:t>
                      </a:r>
                      <a:r>
                        <a:rPr sz="1600" spc="-50" dirty="0">
                          <a:latin typeface="Arial MT"/>
                          <a:cs typeface="Arial MT"/>
                        </a:rPr>
                        <a:t>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baseline="-21164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,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baseline="-21164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,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S</a:t>
                      </a:r>
                      <a:r>
                        <a:rPr sz="1575" spc="-37" baseline="-21164" dirty="0">
                          <a:latin typeface="Arial MT"/>
                          <a:cs typeface="Arial MT"/>
                        </a:rPr>
                        <a:t>5</a:t>
                      </a:r>
                      <a:endParaRPr sz="1575" baseline="-21164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183383" y="4703445"/>
            <a:ext cx="49955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Fig.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9: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40" dirty="0">
                <a:latin typeface="Times New Roman"/>
                <a:cs typeface="Times New Roman"/>
              </a:rPr>
              <a:t>Test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cases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code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fragment</a:t>
            </a:r>
            <a:r>
              <a:rPr sz="2000" b="1" spc="-1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Fig.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10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1300" y="1578609"/>
            <a:ext cx="8674100" cy="38182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0" marR="5588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execute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all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cases,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will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detect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this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divide</a:t>
            </a:r>
            <a:r>
              <a:rPr sz="2000" b="1" spc="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zero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fault.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But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have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2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minimize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suite.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From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fig.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9,</a:t>
            </a:r>
            <a:r>
              <a:rPr sz="2000" b="1" spc="22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clear</a:t>
            </a:r>
            <a:r>
              <a:rPr sz="2000" b="1" spc="1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2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2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cases</a:t>
            </a:r>
            <a:r>
              <a:rPr sz="2000" b="1" spc="2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</a:t>
            </a:r>
            <a:r>
              <a:rPr sz="1950" b="1" baseline="-21367" dirty="0">
                <a:latin typeface="Times New Roman"/>
                <a:cs typeface="Times New Roman"/>
              </a:rPr>
              <a:t>3</a:t>
            </a:r>
            <a:r>
              <a:rPr sz="1950" b="1" spc="615" baseline="-21367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21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</a:t>
            </a:r>
            <a:r>
              <a:rPr sz="1950" b="1" spc="-37" baseline="-21367" dirty="0">
                <a:latin typeface="Times New Roman"/>
                <a:cs typeface="Times New Roman"/>
              </a:rPr>
              <a:t>4 </a:t>
            </a:r>
            <a:r>
              <a:rPr sz="2000" b="1" dirty="0">
                <a:latin typeface="Times New Roman"/>
                <a:cs typeface="Times New Roman"/>
              </a:rPr>
              <a:t>have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same</a:t>
            </a:r>
            <a:r>
              <a:rPr sz="2000" b="1" spc="1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execution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history</a:t>
            </a:r>
            <a:r>
              <a:rPr sz="2000" b="1" spc="1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i.e.</a:t>
            </a:r>
            <a:r>
              <a:rPr sz="2000" b="1" spc="1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</a:t>
            </a:r>
            <a:r>
              <a:rPr sz="1950" b="1" baseline="-21367" dirty="0">
                <a:latin typeface="Times New Roman"/>
                <a:cs typeface="Times New Roman"/>
              </a:rPr>
              <a:t>1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1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</a:t>
            </a:r>
            <a:r>
              <a:rPr sz="1950" b="1" baseline="-21367" dirty="0">
                <a:latin typeface="Times New Roman"/>
                <a:cs typeface="Times New Roman"/>
              </a:rPr>
              <a:t>2</a:t>
            </a:r>
            <a:r>
              <a:rPr sz="2000" b="1" dirty="0">
                <a:latin typeface="Times New Roman"/>
                <a:cs typeface="Times New Roman"/>
              </a:rPr>
              <a:t>,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</a:t>
            </a:r>
            <a:r>
              <a:rPr sz="1950" b="1" baseline="-21367" dirty="0">
                <a:latin typeface="Times New Roman"/>
                <a:cs typeface="Times New Roman"/>
              </a:rPr>
              <a:t>5</a:t>
            </a:r>
            <a:r>
              <a:rPr sz="2000" b="1" dirty="0">
                <a:latin typeface="Times New Roman"/>
                <a:cs typeface="Times New Roman"/>
              </a:rPr>
              <a:t>.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1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few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cases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have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5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same </a:t>
            </a:r>
            <a:r>
              <a:rPr sz="2000" b="1" dirty="0">
                <a:latin typeface="Times New Roman"/>
                <a:cs typeface="Times New Roman"/>
              </a:rPr>
              <a:t>execution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history;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minimization</a:t>
            </a:r>
            <a:r>
              <a:rPr sz="2000" b="1" spc="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methods</a:t>
            </a:r>
            <a:r>
              <a:rPr sz="2000" b="1" spc="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select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only</a:t>
            </a:r>
            <a:r>
              <a:rPr sz="2000" b="1" spc="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one</a:t>
            </a:r>
            <a:r>
              <a:rPr sz="2000" b="1" spc="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case.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Hence, </a:t>
            </a:r>
            <a:r>
              <a:rPr sz="2000" b="1" dirty="0">
                <a:latin typeface="Times New Roman"/>
                <a:cs typeface="Times New Roman"/>
              </a:rPr>
              <a:t>either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</a:t>
            </a:r>
            <a:r>
              <a:rPr sz="1950" b="1" baseline="-21367" dirty="0">
                <a:latin typeface="Times New Roman"/>
                <a:cs typeface="Times New Roman"/>
              </a:rPr>
              <a:t>3</a:t>
            </a:r>
            <a:r>
              <a:rPr sz="1950" b="1" spc="232" baseline="-21367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</a:t>
            </a:r>
            <a:r>
              <a:rPr sz="1950" b="1" baseline="-21367" dirty="0">
                <a:latin typeface="Times New Roman"/>
                <a:cs typeface="Times New Roman"/>
              </a:rPr>
              <a:t>4</a:t>
            </a:r>
            <a:r>
              <a:rPr sz="1950" b="1" spc="232" baseline="-21367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will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selected.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we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select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</a:t>
            </a:r>
            <a:r>
              <a:rPr sz="1950" b="1" baseline="-21367" dirty="0">
                <a:latin typeface="Times New Roman"/>
                <a:cs typeface="Times New Roman"/>
              </a:rPr>
              <a:t>4 </a:t>
            </a:r>
            <a:r>
              <a:rPr sz="2000" b="1" dirty="0">
                <a:latin typeface="Times New Roman"/>
                <a:cs typeface="Times New Roman"/>
              </a:rPr>
              <a:t>then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fine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otherwise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fault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found.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0"/>
              </a:spcBef>
            </a:pPr>
            <a:endParaRPr sz="2000">
              <a:latin typeface="Times New Roman"/>
              <a:cs typeface="Times New Roman"/>
            </a:endParaRPr>
          </a:p>
          <a:p>
            <a:pPr marL="63500" marR="57785" algn="just">
              <a:lnSpc>
                <a:spcPct val="100000"/>
              </a:lnSpc>
            </a:pP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Minimization</a:t>
            </a:r>
            <a:r>
              <a:rPr sz="2000" b="1" spc="8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methods</a:t>
            </a:r>
            <a:r>
              <a:rPr sz="2000" b="1" spc="10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can</a:t>
            </a:r>
            <a:r>
              <a:rPr sz="2000" b="1" spc="114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omit</a:t>
            </a:r>
            <a:r>
              <a:rPr sz="2000" b="1" spc="10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some</a:t>
            </a:r>
            <a:r>
              <a:rPr sz="2000" b="1" spc="9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test</a:t>
            </a:r>
            <a:r>
              <a:rPr sz="2000" b="1" spc="12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cases</a:t>
            </a:r>
            <a:r>
              <a:rPr sz="2000" b="1" spc="10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that</a:t>
            </a:r>
            <a:r>
              <a:rPr sz="2000" b="1" spc="9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might</a:t>
            </a:r>
            <a:r>
              <a:rPr sz="2000" b="1" spc="12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expose</a:t>
            </a:r>
            <a:r>
              <a:rPr sz="2000" b="1" spc="10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fault</a:t>
            </a:r>
            <a:r>
              <a:rPr sz="2000" b="1" spc="114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in</a:t>
            </a:r>
            <a:r>
              <a:rPr sz="2000" b="1" spc="10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339933"/>
                </a:solidFill>
                <a:latin typeface="Times New Roman"/>
                <a:cs typeface="Times New Roman"/>
              </a:rPr>
              <a:t>the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modified</a:t>
            </a:r>
            <a:r>
              <a:rPr sz="2000" b="1" spc="-5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software</a:t>
            </a:r>
            <a:r>
              <a:rPr sz="2000" b="1" spc="-5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and</a:t>
            </a:r>
            <a:r>
              <a:rPr sz="2000" b="1" spc="-3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so,</a:t>
            </a:r>
            <a:r>
              <a:rPr sz="2000" b="1" spc="-1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they</a:t>
            </a:r>
            <a:r>
              <a:rPr sz="2000" b="1" spc="-4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are</a:t>
            </a:r>
            <a:r>
              <a:rPr sz="2000" b="1" spc="-2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not</a:t>
            </a:r>
            <a:r>
              <a:rPr sz="2000" b="1" spc="-3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339933"/>
                </a:solidFill>
                <a:latin typeface="Times New Roman"/>
                <a:cs typeface="Times New Roman"/>
              </a:rPr>
              <a:t>safe.</a:t>
            </a:r>
            <a:endParaRPr sz="2000">
              <a:latin typeface="Times New Roman"/>
              <a:cs typeface="Times New Roman"/>
            </a:endParaRPr>
          </a:p>
          <a:p>
            <a:pPr marL="63500" marR="55880" algn="just">
              <a:lnSpc>
                <a:spcPct val="100000"/>
              </a:lnSpc>
              <a:spcBef>
                <a:spcPts val="1805"/>
              </a:spcBef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</a:t>
            </a:r>
            <a:r>
              <a:rPr sz="2000" b="1" spc="225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safe</a:t>
            </a:r>
            <a:r>
              <a:rPr sz="2000" b="1" spc="280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regression</a:t>
            </a:r>
            <a:r>
              <a:rPr sz="2000" b="1" spc="275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test</a:t>
            </a:r>
            <a:r>
              <a:rPr sz="2000" b="1" spc="285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selection</a:t>
            </a:r>
            <a:r>
              <a:rPr sz="2000" b="1" spc="275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technique</a:t>
            </a:r>
            <a:r>
              <a:rPr sz="2000" b="1" spc="275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is</a:t>
            </a:r>
            <a:r>
              <a:rPr sz="2000" b="1" spc="280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one</a:t>
            </a:r>
            <a:r>
              <a:rPr sz="2000" b="1" spc="280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that,</a:t>
            </a:r>
            <a:r>
              <a:rPr sz="2000" b="1" spc="280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under</a:t>
            </a:r>
            <a:r>
              <a:rPr sz="2000" b="1" spc="265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certain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assumptions,</a:t>
            </a:r>
            <a:r>
              <a:rPr sz="2000" b="1" spc="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selects</a:t>
            </a:r>
            <a:r>
              <a:rPr sz="2000" b="1" spc="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every</a:t>
            </a:r>
            <a:r>
              <a:rPr sz="2000" b="1" spc="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test</a:t>
            </a:r>
            <a:r>
              <a:rPr sz="2000" b="1" spc="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case</a:t>
            </a:r>
            <a:r>
              <a:rPr sz="2000" b="1" spc="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from</a:t>
            </a:r>
            <a:r>
              <a:rPr sz="2000" b="1" spc="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the</a:t>
            </a:r>
            <a:r>
              <a:rPr sz="2000" b="1" spc="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original</a:t>
            </a:r>
            <a:r>
              <a:rPr sz="2000" b="1" spc="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test</a:t>
            </a:r>
            <a:r>
              <a:rPr sz="2000" b="1" spc="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suite</a:t>
            </a:r>
            <a:r>
              <a:rPr sz="2000" b="1" spc="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that</a:t>
            </a:r>
            <a:r>
              <a:rPr sz="2000" b="1" spc="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can</a:t>
            </a:r>
            <a:r>
              <a:rPr sz="2000" b="1" spc="7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expose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faults</a:t>
            </a:r>
            <a:r>
              <a:rPr sz="2000" b="1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in</a:t>
            </a:r>
            <a:r>
              <a:rPr sz="20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the</a:t>
            </a:r>
            <a:r>
              <a:rPr sz="2000" b="1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modified</a:t>
            </a:r>
            <a:r>
              <a:rPr sz="2000" b="1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program.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82304" y="6420466"/>
            <a:ext cx="153670" cy="31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25" dirty="0">
                <a:latin typeface="Times New Roman"/>
                <a:cs typeface="Times New Roman"/>
              </a:rPr>
              <a:t>11</a:t>
            </a:r>
            <a:endParaRPr sz="1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1000" spc="-50" dirty="0"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030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94030" algn="l"/>
              </a:tabLst>
            </a:pPr>
            <a:r>
              <a:rPr sz="2400" dirty="0">
                <a:solidFill>
                  <a:srgbClr val="FF0000"/>
                </a:solidFill>
              </a:rPr>
              <a:t>Selective</a:t>
            </a:r>
            <a:r>
              <a:rPr sz="2400" spc="-8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Retest</a:t>
            </a:r>
            <a:r>
              <a:rPr sz="2400" spc="-100" dirty="0">
                <a:solidFill>
                  <a:srgbClr val="FF0000"/>
                </a:solidFill>
              </a:rPr>
              <a:t> </a:t>
            </a:r>
            <a:r>
              <a:rPr sz="2400" spc="-10" dirty="0">
                <a:solidFill>
                  <a:srgbClr val="FF0000"/>
                </a:solidFill>
              </a:rPr>
              <a:t>Techniques</a:t>
            </a:r>
            <a:endParaRPr sz="2400"/>
          </a:p>
          <a:p>
            <a:pPr marL="12700" marR="747395">
              <a:lnSpc>
                <a:spcPct val="100000"/>
              </a:lnSpc>
              <a:spcBef>
                <a:spcPts val="1575"/>
              </a:spcBef>
            </a:pPr>
            <a:r>
              <a:rPr dirty="0"/>
              <a:t>Selective</a:t>
            </a:r>
            <a:r>
              <a:rPr spc="-65" dirty="0"/>
              <a:t> </a:t>
            </a:r>
            <a:r>
              <a:rPr dirty="0"/>
              <a:t>retest</a:t>
            </a:r>
            <a:r>
              <a:rPr spc="-25" dirty="0"/>
              <a:t> </a:t>
            </a:r>
            <a:r>
              <a:rPr dirty="0"/>
              <a:t>techniques</a:t>
            </a:r>
            <a:r>
              <a:rPr spc="-45" dirty="0"/>
              <a:t> </a:t>
            </a:r>
            <a:r>
              <a:rPr dirty="0"/>
              <a:t>may</a:t>
            </a:r>
            <a:r>
              <a:rPr spc="-25" dirty="0"/>
              <a:t> </a:t>
            </a:r>
            <a:r>
              <a:rPr dirty="0"/>
              <a:t>be</a:t>
            </a:r>
            <a:r>
              <a:rPr spc="-20" dirty="0"/>
              <a:t> </a:t>
            </a:r>
            <a:r>
              <a:rPr dirty="0"/>
              <a:t>more</a:t>
            </a:r>
            <a:r>
              <a:rPr spc="-20" dirty="0"/>
              <a:t> </a:t>
            </a:r>
            <a:r>
              <a:rPr dirty="0"/>
              <a:t>economical</a:t>
            </a:r>
            <a:r>
              <a:rPr spc="-55" dirty="0"/>
              <a:t> </a:t>
            </a:r>
            <a:r>
              <a:rPr dirty="0"/>
              <a:t>than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“retest-</a:t>
            </a:r>
            <a:r>
              <a:rPr spc="-20" dirty="0"/>
              <a:t>all” </a:t>
            </a:r>
            <a:r>
              <a:rPr spc="-10" dirty="0"/>
              <a:t>technique.</a:t>
            </a: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/>
              <a:t>Selective</a:t>
            </a:r>
            <a:r>
              <a:rPr spc="-75" dirty="0"/>
              <a:t> </a:t>
            </a:r>
            <a:r>
              <a:rPr dirty="0"/>
              <a:t>retest</a:t>
            </a:r>
            <a:r>
              <a:rPr spc="-40" dirty="0"/>
              <a:t> </a:t>
            </a:r>
            <a:r>
              <a:rPr dirty="0"/>
              <a:t>techniques</a:t>
            </a:r>
            <a:r>
              <a:rPr spc="-60" dirty="0"/>
              <a:t> </a:t>
            </a:r>
            <a:r>
              <a:rPr dirty="0"/>
              <a:t>are</a:t>
            </a:r>
            <a:r>
              <a:rPr spc="-40" dirty="0"/>
              <a:t> </a:t>
            </a:r>
            <a:r>
              <a:rPr dirty="0"/>
              <a:t>broadly</a:t>
            </a:r>
            <a:r>
              <a:rPr spc="-55" dirty="0"/>
              <a:t> </a:t>
            </a:r>
            <a:r>
              <a:rPr dirty="0"/>
              <a:t>classified</a:t>
            </a:r>
            <a:r>
              <a:rPr spc="-7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three</a:t>
            </a:r>
            <a:r>
              <a:rPr spc="-40" dirty="0"/>
              <a:t> </a:t>
            </a:r>
            <a:r>
              <a:rPr dirty="0"/>
              <a:t>categories</a:t>
            </a:r>
            <a:r>
              <a:rPr spc="-75" dirty="0"/>
              <a:t> </a:t>
            </a:r>
            <a:r>
              <a:rPr spc="-50" dirty="0"/>
              <a:t>:</a:t>
            </a:r>
          </a:p>
          <a:p>
            <a:pPr marL="554990" marR="83820" lvl="1" indent="-457200" algn="just">
              <a:lnSpc>
                <a:spcPct val="100000"/>
              </a:lnSpc>
              <a:spcBef>
                <a:spcPts val="1425"/>
              </a:spcBef>
              <a:buAutoNum type="arabicPeriod"/>
              <a:tabLst>
                <a:tab pos="554990" algn="l"/>
              </a:tabLst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Coverage</a:t>
            </a:r>
            <a:r>
              <a:rPr sz="2000" b="1" spc="3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techniques</a:t>
            </a:r>
            <a:r>
              <a:rPr sz="2000" b="1" spc="3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:</a:t>
            </a:r>
            <a:r>
              <a:rPr sz="2000" b="1" spc="3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They</a:t>
            </a:r>
            <a:r>
              <a:rPr sz="2000" b="1" spc="3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3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based</a:t>
            </a:r>
            <a:r>
              <a:rPr sz="2000" b="1" spc="3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3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3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coverage</a:t>
            </a:r>
            <a:r>
              <a:rPr sz="2000" b="1" spc="3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criteria.</a:t>
            </a:r>
            <a:r>
              <a:rPr sz="2000" b="1" spc="35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They </a:t>
            </a:r>
            <a:r>
              <a:rPr sz="2000" b="1" dirty="0">
                <a:latin typeface="Times New Roman"/>
                <a:cs typeface="Times New Roman"/>
              </a:rPr>
              <a:t>locate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coverable</a:t>
            </a:r>
            <a:r>
              <a:rPr sz="2000" b="1" spc="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program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components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have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been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modified,</a:t>
            </a:r>
            <a:r>
              <a:rPr sz="2000" b="1" spc="30" dirty="0">
                <a:latin typeface="Times New Roman"/>
                <a:cs typeface="Times New Roman"/>
              </a:rPr>
              <a:t>  </a:t>
            </a:r>
            <a:r>
              <a:rPr sz="2000" b="1" spc="-25" dirty="0">
                <a:latin typeface="Times New Roman"/>
                <a:cs typeface="Times New Roman"/>
              </a:rPr>
              <a:t>and </a:t>
            </a:r>
            <a:r>
              <a:rPr sz="2000" b="1" dirty="0">
                <a:latin typeface="Times New Roman"/>
                <a:cs typeface="Times New Roman"/>
              </a:rPr>
              <a:t>select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cases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exercise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these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components.</a:t>
            </a:r>
            <a:endParaRPr sz="2000">
              <a:latin typeface="Times New Roman"/>
              <a:cs typeface="Times New Roman"/>
            </a:endParaRPr>
          </a:p>
          <a:p>
            <a:pPr marL="554990" marR="6350" lvl="1" indent="-457200" algn="just">
              <a:lnSpc>
                <a:spcPct val="100000"/>
              </a:lnSpc>
              <a:spcBef>
                <a:spcPts val="1805"/>
              </a:spcBef>
              <a:buAutoNum type="arabicPeriod"/>
              <a:tabLst>
                <a:tab pos="554990" algn="l"/>
              </a:tabLst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Minimization</a:t>
            </a:r>
            <a:r>
              <a:rPr sz="2000" b="1" spc="484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techniques:</a:t>
            </a:r>
            <a:r>
              <a:rPr sz="2000" b="1" spc="49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They  work</a:t>
            </a:r>
            <a:r>
              <a:rPr sz="2000" b="1" spc="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like</a:t>
            </a:r>
            <a:r>
              <a:rPr sz="2000" b="1" spc="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coverage</a:t>
            </a:r>
            <a:r>
              <a:rPr sz="2000" b="1" spc="4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techniques,</a:t>
            </a:r>
            <a:r>
              <a:rPr sz="2000" b="1" spc="5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except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they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select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minimal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sets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cases.</a:t>
            </a:r>
            <a:endParaRPr sz="2000">
              <a:latin typeface="Times New Roman"/>
              <a:cs typeface="Times New Roman"/>
            </a:endParaRPr>
          </a:p>
          <a:p>
            <a:pPr marL="553720" marR="5080" lvl="1" indent="-455930" algn="just">
              <a:lnSpc>
                <a:spcPct val="100000"/>
              </a:lnSpc>
              <a:spcBef>
                <a:spcPts val="1800"/>
              </a:spcBef>
              <a:buAutoNum type="arabicPeriod"/>
              <a:tabLst>
                <a:tab pos="554990" algn="l"/>
              </a:tabLst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Safe</a:t>
            </a:r>
            <a:r>
              <a:rPr sz="2000" b="1" spc="409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techniques:</a:t>
            </a:r>
            <a:r>
              <a:rPr sz="2000" b="1" spc="4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They</a:t>
            </a:r>
            <a:r>
              <a:rPr sz="2000" b="1" spc="4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</a:t>
            </a:r>
            <a:r>
              <a:rPr sz="2000" b="1" spc="4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4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focus</a:t>
            </a:r>
            <a:r>
              <a:rPr sz="2000" b="1" spc="4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</a:t>
            </a:r>
            <a:r>
              <a:rPr sz="2000" b="1" spc="40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coverage</a:t>
            </a:r>
            <a:r>
              <a:rPr sz="2000" b="1" spc="4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criteria;</a:t>
            </a:r>
            <a:r>
              <a:rPr sz="2000" b="1" spc="4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instead</a:t>
            </a:r>
            <a:r>
              <a:rPr sz="2000" b="1" spc="41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they 	</a:t>
            </a:r>
            <a:r>
              <a:rPr sz="2000" b="1" dirty="0">
                <a:latin typeface="Times New Roman"/>
                <a:cs typeface="Times New Roman"/>
              </a:rPr>
              <a:t>select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every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case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that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cause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modified</a:t>
            </a:r>
            <a:r>
              <a:rPr sz="2000" b="1" spc="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program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produce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different 	</a:t>
            </a:r>
            <a:r>
              <a:rPr sz="2000" b="1" dirty="0">
                <a:latin typeface="Times New Roman"/>
                <a:cs typeface="Times New Roman"/>
              </a:rPr>
              <a:t>output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original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version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11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651" y="1502409"/>
            <a:ext cx="8571865" cy="4815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Rothermal</a:t>
            </a:r>
            <a:r>
              <a:rPr sz="2000" b="1" spc="2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identified</a:t>
            </a:r>
            <a:r>
              <a:rPr sz="2000" b="1" spc="2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categories</a:t>
            </a:r>
            <a:r>
              <a:rPr sz="2000" b="1" spc="2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2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which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regression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2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selection</a:t>
            </a:r>
            <a:r>
              <a:rPr sz="2000" b="1" spc="27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techniques </a:t>
            </a:r>
            <a:r>
              <a:rPr sz="2000" b="1" dirty="0">
                <a:latin typeface="Times New Roman"/>
                <a:cs typeface="Times New Roman"/>
              </a:rPr>
              <a:t>can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compared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evaluated.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These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categories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are:</a:t>
            </a:r>
            <a:endParaRPr sz="2000">
              <a:latin typeface="Times New Roman"/>
              <a:cs typeface="Times New Roman"/>
            </a:endParaRPr>
          </a:p>
          <a:p>
            <a:pPr marL="21590" marR="80010" algn="just">
              <a:lnSpc>
                <a:spcPct val="100000"/>
              </a:lnSpc>
              <a:spcBef>
                <a:spcPts val="1800"/>
              </a:spcBef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Inclusiveness</a:t>
            </a:r>
            <a:r>
              <a:rPr sz="2000" b="1" spc="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measures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extent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which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technique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chooses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cases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that </a:t>
            </a:r>
            <a:r>
              <a:rPr sz="2000" b="1" dirty="0">
                <a:latin typeface="Times New Roman"/>
                <a:cs typeface="Times New Roman"/>
              </a:rPr>
              <a:t>will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cause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modified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program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produce</a:t>
            </a:r>
            <a:r>
              <a:rPr sz="2000" b="1" spc="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output</a:t>
            </a:r>
            <a:r>
              <a:rPr sz="2000" b="1" spc="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than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original </a:t>
            </a:r>
            <a:r>
              <a:rPr sz="2000" b="1" dirty="0">
                <a:latin typeface="Times New Roman"/>
                <a:cs typeface="Times New Roman"/>
              </a:rPr>
              <a:t>program,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thereby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expose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faults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caused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modifications.</a:t>
            </a:r>
            <a:endParaRPr sz="2000">
              <a:latin typeface="Times New Roman"/>
              <a:cs typeface="Times New Roman"/>
            </a:endParaRPr>
          </a:p>
          <a:p>
            <a:pPr marL="21590" marR="79375" algn="just">
              <a:lnSpc>
                <a:spcPct val="100000"/>
              </a:lnSpc>
              <a:spcBef>
                <a:spcPts val="1550"/>
              </a:spcBef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Precision</a:t>
            </a:r>
            <a:r>
              <a:rPr sz="2000" b="1" spc="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measures</a:t>
            </a:r>
            <a:r>
              <a:rPr sz="2000" b="1" spc="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ability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technique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avoid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choosing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cases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that </a:t>
            </a:r>
            <a:r>
              <a:rPr sz="2000" b="1" dirty="0">
                <a:latin typeface="Times New Roman"/>
                <a:cs typeface="Times New Roman"/>
              </a:rPr>
              <a:t>will</a:t>
            </a:r>
            <a:r>
              <a:rPr sz="2000" b="1" spc="3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3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cause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modified</a:t>
            </a:r>
            <a:r>
              <a:rPr sz="2000" b="1" spc="4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program</a:t>
            </a:r>
            <a:r>
              <a:rPr sz="2000" b="1" spc="3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produce</a:t>
            </a:r>
            <a:r>
              <a:rPr sz="2000" b="1" spc="3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3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output</a:t>
            </a:r>
            <a:r>
              <a:rPr sz="2000" b="1" spc="3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than</a:t>
            </a:r>
            <a:r>
              <a:rPr sz="2000" b="1" spc="38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 </a:t>
            </a:r>
            <a:r>
              <a:rPr sz="2000" b="1" dirty="0">
                <a:latin typeface="Times New Roman"/>
                <a:cs typeface="Times New Roman"/>
              </a:rPr>
              <a:t>original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program.</a:t>
            </a:r>
            <a:endParaRPr sz="2000">
              <a:latin typeface="Times New Roman"/>
              <a:cs typeface="Times New Roman"/>
            </a:endParaRPr>
          </a:p>
          <a:p>
            <a:pPr marL="21590" marR="82550" algn="just">
              <a:lnSpc>
                <a:spcPct val="100000"/>
              </a:lnSpc>
              <a:spcBef>
                <a:spcPts val="1455"/>
              </a:spcBef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Efficiency</a:t>
            </a:r>
            <a:r>
              <a:rPr sz="2000" b="1" spc="130" dirty="0">
                <a:solidFill>
                  <a:srgbClr val="0033CC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measures</a:t>
            </a:r>
            <a:r>
              <a:rPr sz="2000" b="1" spc="1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computational</a:t>
            </a:r>
            <a:r>
              <a:rPr sz="2000" b="1" spc="1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cost,</a:t>
            </a:r>
            <a:r>
              <a:rPr sz="2000" b="1" spc="1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1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thus,</a:t>
            </a:r>
            <a:r>
              <a:rPr sz="2000" b="1" spc="1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practically,</a:t>
            </a:r>
            <a:r>
              <a:rPr sz="2000" b="1" spc="13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30" dirty="0">
                <a:latin typeface="Times New Roman"/>
                <a:cs typeface="Times New Roman"/>
              </a:rPr>
              <a:t>  </a:t>
            </a:r>
            <a:r>
              <a:rPr sz="2000" b="1" spc="-50" dirty="0">
                <a:latin typeface="Times New Roman"/>
                <a:cs typeface="Times New Roman"/>
              </a:rPr>
              <a:t>a </a:t>
            </a:r>
            <a:r>
              <a:rPr sz="2000" b="1" spc="-10" dirty="0">
                <a:latin typeface="Times New Roman"/>
                <a:cs typeface="Times New Roman"/>
              </a:rPr>
              <a:t>technique.</a:t>
            </a:r>
            <a:endParaRPr sz="2000">
              <a:latin typeface="Times New Roman"/>
              <a:cs typeface="Times New Roman"/>
            </a:endParaRPr>
          </a:p>
          <a:p>
            <a:pPr marL="21590" marR="81280" algn="just">
              <a:lnSpc>
                <a:spcPct val="100000"/>
              </a:lnSpc>
              <a:spcBef>
                <a:spcPts val="1700"/>
              </a:spcBef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Generality</a:t>
            </a:r>
            <a:r>
              <a:rPr sz="2000" b="1" spc="10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measures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ability</a:t>
            </a:r>
            <a:r>
              <a:rPr sz="2000" b="1" spc="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technique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handle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realistic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diverse </a:t>
            </a:r>
            <a:r>
              <a:rPr sz="2000" b="1" dirty="0">
                <a:latin typeface="Times New Roman"/>
                <a:cs typeface="Times New Roman"/>
              </a:rPr>
              <a:t>language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constructs,</a:t>
            </a:r>
            <a:r>
              <a:rPr sz="2000" b="1" spc="2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arbitrarily</a:t>
            </a:r>
            <a:r>
              <a:rPr sz="2000" b="1" spc="2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complex</a:t>
            </a:r>
            <a:r>
              <a:rPr sz="2000" b="1" spc="2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modifications,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2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realistic</a:t>
            </a:r>
            <a:r>
              <a:rPr sz="2000" b="1" spc="29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testing applications.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11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545081"/>
            <a:ext cx="8594725" cy="135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Reverse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>
              <a:latin typeface="Times New Roman"/>
              <a:cs typeface="Times New Roman"/>
            </a:endParaRPr>
          </a:p>
          <a:p>
            <a:pPr marL="35560" marR="5080">
              <a:lnSpc>
                <a:spcPct val="100000"/>
              </a:lnSpc>
              <a:spcBef>
                <a:spcPts val="2315"/>
              </a:spcBef>
              <a:tabLst>
                <a:tab pos="2364105" algn="l"/>
              </a:tabLst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Reverse</a:t>
            </a:r>
            <a:r>
              <a:rPr sz="2000" b="1" spc="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engineering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	is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the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process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followed in</a:t>
            </a:r>
            <a:r>
              <a:rPr sz="20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order</a:t>
            </a:r>
            <a:r>
              <a:rPr sz="2000" b="1" spc="-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to</a:t>
            </a:r>
            <a:r>
              <a:rPr sz="20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find difficult,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unknown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2000" b="1" spc="-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hidden</a:t>
            </a:r>
            <a:r>
              <a:rPr sz="20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information</a:t>
            </a:r>
            <a:r>
              <a:rPr sz="2000" b="1" spc="-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about</a:t>
            </a:r>
            <a:r>
              <a:rPr sz="2000" b="1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</a:t>
            </a:r>
            <a:r>
              <a:rPr sz="20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software</a:t>
            </a:r>
            <a:r>
              <a:rPr sz="2000" b="1" spc="-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system.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11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6900" y="2497048"/>
            <a:ext cx="5599430" cy="138811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75"/>
              </a:spcBef>
              <a:buAutoNum type="arabicPeriod"/>
              <a:tabLst>
                <a:tab pos="46990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Program</a:t>
            </a:r>
            <a:r>
              <a:rPr sz="2000" b="1" spc="-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comprehension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469900" algn="l"/>
              </a:tabLst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Redocumentation</a:t>
            </a:r>
            <a:r>
              <a:rPr sz="20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and/</a:t>
            </a:r>
            <a:r>
              <a:rPr sz="20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or</a:t>
            </a:r>
            <a:r>
              <a:rPr sz="2000" b="1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document</a:t>
            </a:r>
            <a:r>
              <a:rPr sz="2000" b="1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generation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469900" algn="l"/>
                <a:tab pos="1658620" algn="l"/>
              </a:tabLst>
            </a:pP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Recovery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25598" y="3553790"/>
            <a:ext cx="62280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5030" algn="l"/>
                <a:tab pos="2071370" algn="l"/>
                <a:tab pos="2654300" algn="l"/>
                <a:tab pos="3516629" algn="l"/>
                <a:tab pos="4389755" algn="l"/>
                <a:tab pos="4772660" algn="l"/>
                <a:tab pos="5340985" algn="l"/>
                <a:tab pos="6003925" algn="l"/>
              </a:tabLst>
            </a:pP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design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approach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design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details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at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any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level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6900" y="3742347"/>
            <a:ext cx="5626100" cy="226377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19"/>
              </a:spcBef>
            </a:pP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abstraction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925"/>
              </a:spcBef>
              <a:buAutoNum type="arabicPeriod" startAt="4"/>
              <a:tabLst>
                <a:tab pos="469900" algn="l"/>
              </a:tabLst>
            </a:pP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Identifying</a:t>
            </a:r>
            <a:r>
              <a:rPr sz="2000" b="1" spc="-8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reusable</a:t>
            </a:r>
            <a:r>
              <a:rPr sz="2000" b="1" spc="-5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components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175"/>
              </a:spcBef>
              <a:buAutoNum type="arabicPeriod" startAt="4"/>
              <a:tabLst>
                <a:tab pos="46990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Identifying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components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that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need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restructuring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0"/>
              </a:spcBef>
              <a:buAutoNum type="arabicPeriod" startAt="4"/>
              <a:tabLst>
                <a:tab pos="469900" algn="l"/>
              </a:tabLst>
            </a:pP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Recovering</a:t>
            </a:r>
            <a:r>
              <a:rPr sz="2000" b="1" spc="-5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business</a:t>
            </a:r>
            <a:r>
              <a:rPr sz="2000" b="1" spc="-4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rules,</a:t>
            </a:r>
            <a:r>
              <a:rPr sz="2000" b="1" spc="-2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339933"/>
                </a:solidFill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0"/>
              </a:spcBef>
              <a:buAutoNum type="arabicPeriod" startAt="4"/>
              <a:tabLst>
                <a:tab pos="46990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Understanding</a:t>
            </a:r>
            <a:r>
              <a:rPr sz="2000" b="1" spc="-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high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level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system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description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751" y="1394205"/>
            <a:ext cx="8347075" cy="928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2130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53213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Scope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Tasks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areas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there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reverse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engineering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applicable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include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(but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limited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to):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18042" y="6559092"/>
            <a:ext cx="21780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imes New Roman"/>
                <a:cs typeface="Times New Roman"/>
              </a:rPr>
              <a:t>114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8382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11426" y="6075375"/>
            <a:ext cx="55753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9495" marR="5080" indent="-229743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Fig.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10: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Mapping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between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application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domains program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21138" y="2500312"/>
            <a:ext cx="2437130" cy="3609975"/>
            <a:chOff x="3521138" y="2500312"/>
            <a:chExt cx="2437130" cy="3609975"/>
          </a:xfrm>
        </p:grpSpPr>
        <p:sp>
          <p:nvSpPr>
            <p:cNvPr id="7" name="object 7"/>
            <p:cNvSpPr/>
            <p:nvPr/>
          </p:nvSpPr>
          <p:spPr>
            <a:xfrm>
              <a:off x="3535426" y="2514600"/>
              <a:ext cx="2408555" cy="1216025"/>
            </a:xfrm>
            <a:custGeom>
              <a:avLst/>
              <a:gdLst/>
              <a:ahLst/>
              <a:cxnLst/>
              <a:rect l="l" t="t" r="r" b="b"/>
              <a:pathLst>
                <a:path w="2408554" h="1216025">
                  <a:moveTo>
                    <a:pt x="1204087" y="0"/>
                  </a:moveTo>
                  <a:lnTo>
                    <a:pt x="1142116" y="790"/>
                  </a:lnTo>
                  <a:lnTo>
                    <a:pt x="1080959" y="3138"/>
                  </a:lnTo>
                  <a:lnTo>
                    <a:pt x="1020693" y="7004"/>
                  </a:lnTo>
                  <a:lnTo>
                    <a:pt x="961392" y="12350"/>
                  </a:lnTo>
                  <a:lnTo>
                    <a:pt x="903133" y="19138"/>
                  </a:lnTo>
                  <a:lnTo>
                    <a:pt x="845991" y="27330"/>
                  </a:lnTo>
                  <a:lnTo>
                    <a:pt x="790041" y="36888"/>
                  </a:lnTo>
                  <a:lnTo>
                    <a:pt x="735359" y="47773"/>
                  </a:lnTo>
                  <a:lnTo>
                    <a:pt x="682021" y="59948"/>
                  </a:lnTo>
                  <a:lnTo>
                    <a:pt x="630103" y="73374"/>
                  </a:lnTo>
                  <a:lnTo>
                    <a:pt x="579679" y="88013"/>
                  </a:lnTo>
                  <a:lnTo>
                    <a:pt x="530826" y="103827"/>
                  </a:lnTo>
                  <a:lnTo>
                    <a:pt x="483619" y="120778"/>
                  </a:lnTo>
                  <a:lnTo>
                    <a:pt x="438134" y="138827"/>
                  </a:lnTo>
                  <a:lnTo>
                    <a:pt x="394446" y="157937"/>
                  </a:lnTo>
                  <a:lnTo>
                    <a:pt x="352631" y="178069"/>
                  </a:lnTo>
                  <a:lnTo>
                    <a:pt x="312764" y="199186"/>
                  </a:lnTo>
                  <a:lnTo>
                    <a:pt x="274922" y="221248"/>
                  </a:lnTo>
                  <a:lnTo>
                    <a:pt x="239180" y="244218"/>
                  </a:lnTo>
                  <a:lnTo>
                    <a:pt x="205612" y="268058"/>
                  </a:lnTo>
                  <a:lnTo>
                    <a:pt x="174296" y="292729"/>
                  </a:lnTo>
                  <a:lnTo>
                    <a:pt x="145306" y="318193"/>
                  </a:lnTo>
                  <a:lnTo>
                    <a:pt x="94609" y="371349"/>
                  </a:lnTo>
                  <a:lnTo>
                    <a:pt x="54124" y="427221"/>
                  </a:lnTo>
                  <a:lnTo>
                    <a:pt x="24458" y="485503"/>
                  </a:lnTo>
                  <a:lnTo>
                    <a:pt x="6215" y="545889"/>
                  </a:lnTo>
                  <a:lnTo>
                    <a:pt x="0" y="608076"/>
                  </a:lnTo>
                  <a:lnTo>
                    <a:pt x="1566" y="639363"/>
                  </a:lnTo>
                  <a:lnTo>
                    <a:pt x="13871" y="700666"/>
                  </a:lnTo>
                  <a:lnTo>
                    <a:pt x="37901" y="760020"/>
                  </a:lnTo>
                  <a:lnTo>
                    <a:pt x="73052" y="817120"/>
                  </a:lnTo>
                  <a:lnTo>
                    <a:pt x="118718" y="871658"/>
                  </a:lnTo>
                  <a:lnTo>
                    <a:pt x="174296" y="923331"/>
                  </a:lnTo>
                  <a:lnTo>
                    <a:pt x="205612" y="947997"/>
                  </a:lnTo>
                  <a:lnTo>
                    <a:pt x="239180" y="971833"/>
                  </a:lnTo>
                  <a:lnTo>
                    <a:pt x="274922" y="994799"/>
                  </a:lnTo>
                  <a:lnTo>
                    <a:pt x="312764" y="1016857"/>
                  </a:lnTo>
                  <a:lnTo>
                    <a:pt x="352631" y="1037970"/>
                  </a:lnTo>
                  <a:lnTo>
                    <a:pt x="394446" y="1058100"/>
                  </a:lnTo>
                  <a:lnTo>
                    <a:pt x="438134" y="1077207"/>
                  </a:lnTo>
                  <a:lnTo>
                    <a:pt x="483619" y="1095255"/>
                  </a:lnTo>
                  <a:lnTo>
                    <a:pt x="530826" y="1112203"/>
                  </a:lnTo>
                  <a:lnTo>
                    <a:pt x="579679" y="1128016"/>
                  </a:lnTo>
                  <a:lnTo>
                    <a:pt x="630103" y="1142654"/>
                  </a:lnTo>
                  <a:lnTo>
                    <a:pt x="682021" y="1156079"/>
                  </a:lnTo>
                  <a:lnTo>
                    <a:pt x="735359" y="1168253"/>
                  </a:lnTo>
                  <a:lnTo>
                    <a:pt x="790041" y="1179137"/>
                  </a:lnTo>
                  <a:lnTo>
                    <a:pt x="845991" y="1188695"/>
                  </a:lnTo>
                  <a:lnTo>
                    <a:pt x="903133" y="1196886"/>
                  </a:lnTo>
                  <a:lnTo>
                    <a:pt x="961392" y="1203674"/>
                  </a:lnTo>
                  <a:lnTo>
                    <a:pt x="1020693" y="1209020"/>
                  </a:lnTo>
                  <a:lnTo>
                    <a:pt x="1080959" y="1212886"/>
                  </a:lnTo>
                  <a:lnTo>
                    <a:pt x="1142116" y="1215234"/>
                  </a:lnTo>
                  <a:lnTo>
                    <a:pt x="1204087" y="1216025"/>
                  </a:lnTo>
                  <a:lnTo>
                    <a:pt x="1266046" y="1215234"/>
                  </a:lnTo>
                  <a:lnTo>
                    <a:pt x="1327193" y="1212886"/>
                  </a:lnTo>
                  <a:lnTo>
                    <a:pt x="1387451" y="1209020"/>
                  </a:lnTo>
                  <a:lnTo>
                    <a:pt x="1446744" y="1203674"/>
                  </a:lnTo>
                  <a:lnTo>
                    <a:pt x="1504998" y="1196886"/>
                  </a:lnTo>
                  <a:lnTo>
                    <a:pt x="1562135" y="1188695"/>
                  </a:lnTo>
                  <a:lnTo>
                    <a:pt x="1618081" y="1179137"/>
                  </a:lnTo>
                  <a:lnTo>
                    <a:pt x="1672760" y="1168253"/>
                  </a:lnTo>
                  <a:lnTo>
                    <a:pt x="1726096" y="1156079"/>
                  </a:lnTo>
                  <a:lnTo>
                    <a:pt x="1778014" y="1142654"/>
                  </a:lnTo>
                  <a:lnTo>
                    <a:pt x="1828437" y="1128016"/>
                  </a:lnTo>
                  <a:lnTo>
                    <a:pt x="1877291" y="1112203"/>
                  </a:lnTo>
                  <a:lnTo>
                    <a:pt x="1924499" y="1095255"/>
                  </a:lnTo>
                  <a:lnTo>
                    <a:pt x="1969986" y="1077207"/>
                  </a:lnTo>
                  <a:lnTo>
                    <a:pt x="2013677" y="1058100"/>
                  </a:lnTo>
                  <a:lnTo>
                    <a:pt x="2055494" y="1037970"/>
                  </a:lnTo>
                  <a:lnTo>
                    <a:pt x="2095364" y="1016857"/>
                  </a:lnTo>
                  <a:lnTo>
                    <a:pt x="2133210" y="994799"/>
                  </a:lnTo>
                  <a:lnTo>
                    <a:pt x="2168956" y="971833"/>
                  </a:lnTo>
                  <a:lnTo>
                    <a:pt x="2202527" y="947997"/>
                  </a:lnTo>
                  <a:lnTo>
                    <a:pt x="2233848" y="923331"/>
                  </a:lnTo>
                  <a:lnTo>
                    <a:pt x="2262841" y="897872"/>
                  </a:lnTo>
                  <a:lnTo>
                    <a:pt x="2313547" y="844728"/>
                  </a:lnTo>
                  <a:lnTo>
                    <a:pt x="2354038" y="788871"/>
                  </a:lnTo>
                  <a:lnTo>
                    <a:pt x="2383710" y="730606"/>
                  </a:lnTo>
                  <a:lnTo>
                    <a:pt x="2401957" y="670239"/>
                  </a:lnTo>
                  <a:lnTo>
                    <a:pt x="2408174" y="608076"/>
                  </a:lnTo>
                  <a:lnTo>
                    <a:pt x="2406607" y="576777"/>
                  </a:lnTo>
                  <a:lnTo>
                    <a:pt x="2394299" y="515452"/>
                  </a:lnTo>
                  <a:lnTo>
                    <a:pt x="2370264" y="456080"/>
                  </a:lnTo>
                  <a:lnTo>
                    <a:pt x="2335107" y="398965"/>
                  </a:lnTo>
                  <a:lnTo>
                    <a:pt x="2289433" y="344413"/>
                  </a:lnTo>
                  <a:lnTo>
                    <a:pt x="2233848" y="292729"/>
                  </a:lnTo>
                  <a:lnTo>
                    <a:pt x="2202527" y="268058"/>
                  </a:lnTo>
                  <a:lnTo>
                    <a:pt x="2168956" y="244218"/>
                  </a:lnTo>
                  <a:lnTo>
                    <a:pt x="2133210" y="221248"/>
                  </a:lnTo>
                  <a:lnTo>
                    <a:pt x="2095364" y="199186"/>
                  </a:lnTo>
                  <a:lnTo>
                    <a:pt x="2055495" y="178069"/>
                  </a:lnTo>
                  <a:lnTo>
                    <a:pt x="2013677" y="157937"/>
                  </a:lnTo>
                  <a:lnTo>
                    <a:pt x="1969986" y="138827"/>
                  </a:lnTo>
                  <a:lnTo>
                    <a:pt x="1924499" y="120778"/>
                  </a:lnTo>
                  <a:lnTo>
                    <a:pt x="1877291" y="103827"/>
                  </a:lnTo>
                  <a:lnTo>
                    <a:pt x="1828437" y="88013"/>
                  </a:lnTo>
                  <a:lnTo>
                    <a:pt x="1778014" y="73374"/>
                  </a:lnTo>
                  <a:lnTo>
                    <a:pt x="1726096" y="59948"/>
                  </a:lnTo>
                  <a:lnTo>
                    <a:pt x="1672760" y="47773"/>
                  </a:lnTo>
                  <a:lnTo>
                    <a:pt x="1618081" y="36888"/>
                  </a:lnTo>
                  <a:lnTo>
                    <a:pt x="1562135" y="27330"/>
                  </a:lnTo>
                  <a:lnTo>
                    <a:pt x="1504998" y="19138"/>
                  </a:lnTo>
                  <a:lnTo>
                    <a:pt x="1446744" y="12350"/>
                  </a:lnTo>
                  <a:lnTo>
                    <a:pt x="1387451" y="7004"/>
                  </a:lnTo>
                  <a:lnTo>
                    <a:pt x="1327193" y="3138"/>
                  </a:lnTo>
                  <a:lnTo>
                    <a:pt x="1266046" y="790"/>
                  </a:lnTo>
                  <a:lnTo>
                    <a:pt x="1204087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35426" y="2514600"/>
              <a:ext cx="2408555" cy="1216025"/>
            </a:xfrm>
            <a:custGeom>
              <a:avLst/>
              <a:gdLst/>
              <a:ahLst/>
              <a:cxnLst/>
              <a:rect l="l" t="t" r="r" b="b"/>
              <a:pathLst>
                <a:path w="2408554" h="1216025">
                  <a:moveTo>
                    <a:pt x="0" y="608076"/>
                  </a:moveTo>
                  <a:lnTo>
                    <a:pt x="6215" y="545889"/>
                  </a:lnTo>
                  <a:lnTo>
                    <a:pt x="24458" y="485503"/>
                  </a:lnTo>
                  <a:lnTo>
                    <a:pt x="54124" y="427221"/>
                  </a:lnTo>
                  <a:lnTo>
                    <a:pt x="94609" y="371349"/>
                  </a:lnTo>
                  <a:lnTo>
                    <a:pt x="145306" y="318193"/>
                  </a:lnTo>
                  <a:lnTo>
                    <a:pt x="174296" y="292729"/>
                  </a:lnTo>
                  <a:lnTo>
                    <a:pt x="205612" y="268058"/>
                  </a:lnTo>
                  <a:lnTo>
                    <a:pt x="239180" y="244218"/>
                  </a:lnTo>
                  <a:lnTo>
                    <a:pt x="274922" y="221248"/>
                  </a:lnTo>
                  <a:lnTo>
                    <a:pt x="312764" y="199186"/>
                  </a:lnTo>
                  <a:lnTo>
                    <a:pt x="352631" y="178069"/>
                  </a:lnTo>
                  <a:lnTo>
                    <a:pt x="394446" y="157937"/>
                  </a:lnTo>
                  <a:lnTo>
                    <a:pt x="438134" y="138827"/>
                  </a:lnTo>
                  <a:lnTo>
                    <a:pt x="483619" y="120778"/>
                  </a:lnTo>
                  <a:lnTo>
                    <a:pt x="530826" y="103827"/>
                  </a:lnTo>
                  <a:lnTo>
                    <a:pt x="579679" y="88013"/>
                  </a:lnTo>
                  <a:lnTo>
                    <a:pt x="630103" y="73374"/>
                  </a:lnTo>
                  <a:lnTo>
                    <a:pt x="682021" y="59948"/>
                  </a:lnTo>
                  <a:lnTo>
                    <a:pt x="735359" y="47773"/>
                  </a:lnTo>
                  <a:lnTo>
                    <a:pt x="790041" y="36888"/>
                  </a:lnTo>
                  <a:lnTo>
                    <a:pt x="845991" y="27330"/>
                  </a:lnTo>
                  <a:lnTo>
                    <a:pt x="903133" y="19138"/>
                  </a:lnTo>
                  <a:lnTo>
                    <a:pt x="961392" y="12350"/>
                  </a:lnTo>
                  <a:lnTo>
                    <a:pt x="1020693" y="7004"/>
                  </a:lnTo>
                  <a:lnTo>
                    <a:pt x="1080959" y="3138"/>
                  </a:lnTo>
                  <a:lnTo>
                    <a:pt x="1142116" y="790"/>
                  </a:lnTo>
                  <a:lnTo>
                    <a:pt x="1204087" y="0"/>
                  </a:lnTo>
                  <a:lnTo>
                    <a:pt x="1266046" y="790"/>
                  </a:lnTo>
                  <a:lnTo>
                    <a:pt x="1327193" y="3138"/>
                  </a:lnTo>
                  <a:lnTo>
                    <a:pt x="1387451" y="7004"/>
                  </a:lnTo>
                  <a:lnTo>
                    <a:pt x="1446744" y="12350"/>
                  </a:lnTo>
                  <a:lnTo>
                    <a:pt x="1504998" y="19138"/>
                  </a:lnTo>
                  <a:lnTo>
                    <a:pt x="1562135" y="27330"/>
                  </a:lnTo>
                  <a:lnTo>
                    <a:pt x="1618081" y="36888"/>
                  </a:lnTo>
                  <a:lnTo>
                    <a:pt x="1672760" y="47773"/>
                  </a:lnTo>
                  <a:lnTo>
                    <a:pt x="1726096" y="59948"/>
                  </a:lnTo>
                  <a:lnTo>
                    <a:pt x="1778014" y="73374"/>
                  </a:lnTo>
                  <a:lnTo>
                    <a:pt x="1828437" y="88013"/>
                  </a:lnTo>
                  <a:lnTo>
                    <a:pt x="1877291" y="103827"/>
                  </a:lnTo>
                  <a:lnTo>
                    <a:pt x="1924499" y="120778"/>
                  </a:lnTo>
                  <a:lnTo>
                    <a:pt x="1969986" y="138827"/>
                  </a:lnTo>
                  <a:lnTo>
                    <a:pt x="2013677" y="157937"/>
                  </a:lnTo>
                  <a:lnTo>
                    <a:pt x="2055494" y="178069"/>
                  </a:lnTo>
                  <a:lnTo>
                    <a:pt x="2095364" y="199186"/>
                  </a:lnTo>
                  <a:lnTo>
                    <a:pt x="2133210" y="221248"/>
                  </a:lnTo>
                  <a:lnTo>
                    <a:pt x="2168956" y="244218"/>
                  </a:lnTo>
                  <a:lnTo>
                    <a:pt x="2202527" y="268058"/>
                  </a:lnTo>
                  <a:lnTo>
                    <a:pt x="2233848" y="292729"/>
                  </a:lnTo>
                  <a:lnTo>
                    <a:pt x="2262841" y="318193"/>
                  </a:lnTo>
                  <a:lnTo>
                    <a:pt x="2313547" y="371349"/>
                  </a:lnTo>
                  <a:lnTo>
                    <a:pt x="2354038" y="427221"/>
                  </a:lnTo>
                  <a:lnTo>
                    <a:pt x="2383710" y="485503"/>
                  </a:lnTo>
                  <a:lnTo>
                    <a:pt x="2401957" y="545889"/>
                  </a:lnTo>
                  <a:lnTo>
                    <a:pt x="2408174" y="608076"/>
                  </a:lnTo>
                  <a:lnTo>
                    <a:pt x="2406607" y="639363"/>
                  </a:lnTo>
                  <a:lnTo>
                    <a:pt x="2401957" y="670239"/>
                  </a:lnTo>
                  <a:lnTo>
                    <a:pt x="2383710" y="730606"/>
                  </a:lnTo>
                  <a:lnTo>
                    <a:pt x="2354038" y="788871"/>
                  </a:lnTo>
                  <a:lnTo>
                    <a:pt x="2313547" y="844728"/>
                  </a:lnTo>
                  <a:lnTo>
                    <a:pt x="2262841" y="897872"/>
                  </a:lnTo>
                  <a:lnTo>
                    <a:pt x="2233848" y="923331"/>
                  </a:lnTo>
                  <a:lnTo>
                    <a:pt x="2202527" y="947997"/>
                  </a:lnTo>
                  <a:lnTo>
                    <a:pt x="2168956" y="971833"/>
                  </a:lnTo>
                  <a:lnTo>
                    <a:pt x="2133210" y="994799"/>
                  </a:lnTo>
                  <a:lnTo>
                    <a:pt x="2095364" y="1016857"/>
                  </a:lnTo>
                  <a:lnTo>
                    <a:pt x="2055494" y="1037970"/>
                  </a:lnTo>
                  <a:lnTo>
                    <a:pt x="2013677" y="1058100"/>
                  </a:lnTo>
                  <a:lnTo>
                    <a:pt x="1969986" y="1077207"/>
                  </a:lnTo>
                  <a:lnTo>
                    <a:pt x="1924499" y="1095255"/>
                  </a:lnTo>
                  <a:lnTo>
                    <a:pt x="1877291" y="1112203"/>
                  </a:lnTo>
                  <a:lnTo>
                    <a:pt x="1828437" y="1128016"/>
                  </a:lnTo>
                  <a:lnTo>
                    <a:pt x="1778014" y="1142654"/>
                  </a:lnTo>
                  <a:lnTo>
                    <a:pt x="1726096" y="1156079"/>
                  </a:lnTo>
                  <a:lnTo>
                    <a:pt x="1672760" y="1168253"/>
                  </a:lnTo>
                  <a:lnTo>
                    <a:pt x="1618081" y="1179137"/>
                  </a:lnTo>
                  <a:lnTo>
                    <a:pt x="1562135" y="1188695"/>
                  </a:lnTo>
                  <a:lnTo>
                    <a:pt x="1504998" y="1196886"/>
                  </a:lnTo>
                  <a:lnTo>
                    <a:pt x="1446744" y="1203674"/>
                  </a:lnTo>
                  <a:lnTo>
                    <a:pt x="1387451" y="1209020"/>
                  </a:lnTo>
                  <a:lnTo>
                    <a:pt x="1327193" y="1212886"/>
                  </a:lnTo>
                  <a:lnTo>
                    <a:pt x="1266046" y="1215234"/>
                  </a:lnTo>
                  <a:lnTo>
                    <a:pt x="1204087" y="1216025"/>
                  </a:lnTo>
                  <a:lnTo>
                    <a:pt x="1142116" y="1215234"/>
                  </a:lnTo>
                  <a:lnTo>
                    <a:pt x="1080959" y="1212886"/>
                  </a:lnTo>
                  <a:lnTo>
                    <a:pt x="1020693" y="1209020"/>
                  </a:lnTo>
                  <a:lnTo>
                    <a:pt x="961392" y="1203674"/>
                  </a:lnTo>
                  <a:lnTo>
                    <a:pt x="903133" y="1196886"/>
                  </a:lnTo>
                  <a:lnTo>
                    <a:pt x="845991" y="1188695"/>
                  </a:lnTo>
                  <a:lnTo>
                    <a:pt x="790041" y="1179137"/>
                  </a:lnTo>
                  <a:lnTo>
                    <a:pt x="735359" y="1168253"/>
                  </a:lnTo>
                  <a:lnTo>
                    <a:pt x="682021" y="1156079"/>
                  </a:lnTo>
                  <a:lnTo>
                    <a:pt x="630103" y="1142654"/>
                  </a:lnTo>
                  <a:lnTo>
                    <a:pt x="579679" y="1128016"/>
                  </a:lnTo>
                  <a:lnTo>
                    <a:pt x="530826" y="1112203"/>
                  </a:lnTo>
                  <a:lnTo>
                    <a:pt x="483619" y="1095255"/>
                  </a:lnTo>
                  <a:lnTo>
                    <a:pt x="438134" y="1077207"/>
                  </a:lnTo>
                  <a:lnTo>
                    <a:pt x="394446" y="1058100"/>
                  </a:lnTo>
                  <a:lnTo>
                    <a:pt x="352631" y="1037970"/>
                  </a:lnTo>
                  <a:lnTo>
                    <a:pt x="312764" y="1016857"/>
                  </a:lnTo>
                  <a:lnTo>
                    <a:pt x="274922" y="994799"/>
                  </a:lnTo>
                  <a:lnTo>
                    <a:pt x="239180" y="971833"/>
                  </a:lnTo>
                  <a:lnTo>
                    <a:pt x="205612" y="947997"/>
                  </a:lnTo>
                  <a:lnTo>
                    <a:pt x="174296" y="923331"/>
                  </a:lnTo>
                  <a:lnTo>
                    <a:pt x="145306" y="897872"/>
                  </a:lnTo>
                  <a:lnTo>
                    <a:pt x="94609" y="844728"/>
                  </a:lnTo>
                  <a:lnTo>
                    <a:pt x="54124" y="788871"/>
                  </a:lnTo>
                  <a:lnTo>
                    <a:pt x="24458" y="730606"/>
                  </a:lnTo>
                  <a:lnTo>
                    <a:pt x="6215" y="670239"/>
                  </a:lnTo>
                  <a:lnTo>
                    <a:pt x="0" y="60807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35426" y="4879975"/>
              <a:ext cx="2408555" cy="1216025"/>
            </a:xfrm>
            <a:custGeom>
              <a:avLst/>
              <a:gdLst/>
              <a:ahLst/>
              <a:cxnLst/>
              <a:rect l="l" t="t" r="r" b="b"/>
              <a:pathLst>
                <a:path w="2408554" h="1216025">
                  <a:moveTo>
                    <a:pt x="1204087" y="0"/>
                  </a:moveTo>
                  <a:lnTo>
                    <a:pt x="1142116" y="790"/>
                  </a:lnTo>
                  <a:lnTo>
                    <a:pt x="1080959" y="3138"/>
                  </a:lnTo>
                  <a:lnTo>
                    <a:pt x="1020693" y="7004"/>
                  </a:lnTo>
                  <a:lnTo>
                    <a:pt x="961392" y="12350"/>
                  </a:lnTo>
                  <a:lnTo>
                    <a:pt x="903133" y="19138"/>
                  </a:lnTo>
                  <a:lnTo>
                    <a:pt x="845991" y="27330"/>
                  </a:lnTo>
                  <a:lnTo>
                    <a:pt x="790041" y="36888"/>
                  </a:lnTo>
                  <a:lnTo>
                    <a:pt x="735359" y="47773"/>
                  </a:lnTo>
                  <a:lnTo>
                    <a:pt x="682021" y="59948"/>
                  </a:lnTo>
                  <a:lnTo>
                    <a:pt x="630103" y="73374"/>
                  </a:lnTo>
                  <a:lnTo>
                    <a:pt x="579679" y="88013"/>
                  </a:lnTo>
                  <a:lnTo>
                    <a:pt x="530826" y="103827"/>
                  </a:lnTo>
                  <a:lnTo>
                    <a:pt x="483619" y="120778"/>
                  </a:lnTo>
                  <a:lnTo>
                    <a:pt x="438134" y="138827"/>
                  </a:lnTo>
                  <a:lnTo>
                    <a:pt x="394446" y="157937"/>
                  </a:lnTo>
                  <a:lnTo>
                    <a:pt x="352631" y="178069"/>
                  </a:lnTo>
                  <a:lnTo>
                    <a:pt x="312764" y="199186"/>
                  </a:lnTo>
                  <a:lnTo>
                    <a:pt x="274922" y="221248"/>
                  </a:lnTo>
                  <a:lnTo>
                    <a:pt x="239180" y="244218"/>
                  </a:lnTo>
                  <a:lnTo>
                    <a:pt x="205612" y="268058"/>
                  </a:lnTo>
                  <a:lnTo>
                    <a:pt x="174296" y="292729"/>
                  </a:lnTo>
                  <a:lnTo>
                    <a:pt x="145306" y="318193"/>
                  </a:lnTo>
                  <a:lnTo>
                    <a:pt x="94609" y="371349"/>
                  </a:lnTo>
                  <a:lnTo>
                    <a:pt x="54124" y="427221"/>
                  </a:lnTo>
                  <a:lnTo>
                    <a:pt x="24458" y="485503"/>
                  </a:lnTo>
                  <a:lnTo>
                    <a:pt x="6215" y="545889"/>
                  </a:lnTo>
                  <a:lnTo>
                    <a:pt x="0" y="608076"/>
                  </a:lnTo>
                  <a:lnTo>
                    <a:pt x="1566" y="639358"/>
                  </a:lnTo>
                  <a:lnTo>
                    <a:pt x="13871" y="700655"/>
                  </a:lnTo>
                  <a:lnTo>
                    <a:pt x="37901" y="760003"/>
                  </a:lnTo>
                  <a:lnTo>
                    <a:pt x="73052" y="817099"/>
                  </a:lnTo>
                  <a:lnTo>
                    <a:pt x="118718" y="871636"/>
                  </a:lnTo>
                  <a:lnTo>
                    <a:pt x="174296" y="923309"/>
                  </a:lnTo>
                  <a:lnTo>
                    <a:pt x="205612" y="947975"/>
                  </a:lnTo>
                  <a:lnTo>
                    <a:pt x="239180" y="971811"/>
                  </a:lnTo>
                  <a:lnTo>
                    <a:pt x="274922" y="994778"/>
                  </a:lnTo>
                  <a:lnTo>
                    <a:pt x="312764" y="1016837"/>
                  </a:lnTo>
                  <a:lnTo>
                    <a:pt x="352631" y="1037951"/>
                  </a:lnTo>
                  <a:lnTo>
                    <a:pt x="394446" y="1058082"/>
                  </a:lnTo>
                  <a:lnTo>
                    <a:pt x="438134" y="1077191"/>
                  </a:lnTo>
                  <a:lnTo>
                    <a:pt x="483619" y="1095240"/>
                  </a:lnTo>
                  <a:lnTo>
                    <a:pt x="530826" y="1112190"/>
                  </a:lnTo>
                  <a:lnTo>
                    <a:pt x="579679" y="1128004"/>
                  </a:lnTo>
                  <a:lnTo>
                    <a:pt x="630103" y="1142644"/>
                  </a:lnTo>
                  <a:lnTo>
                    <a:pt x="682021" y="1156070"/>
                  </a:lnTo>
                  <a:lnTo>
                    <a:pt x="735359" y="1168246"/>
                  </a:lnTo>
                  <a:lnTo>
                    <a:pt x="790041" y="1179132"/>
                  </a:lnTo>
                  <a:lnTo>
                    <a:pt x="845991" y="1188690"/>
                  </a:lnTo>
                  <a:lnTo>
                    <a:pt x="903133" y="1196883"/>
                  </a:lnTo>
                  <a:lnTo>
                    <a:pt x="961392" y="1203672"/>
                  </a:lnTo>
                  <a:lnTo>
                    <a:pt x="1020693" y="1209019"/>
                  </a:lnTo>
                  <a:lnTo>
                    <a:pt x="1080959" y="1212885"/>
                  </a:lnTo>
                  <a:lnTo>
                    <a:pt x="1142116" y="1215233"/>
                  </a:lnTo>
                  <a:lnTo>
                    <a:pt x="1204087" y="1216025"/>
                  </a:lnTo>
                  <a:lnTo>
                    <a:pt x="1266046" y="1215233"/>
                  </a:lnTo>
                  <a:lnTo>
                    <a:pt x="1327193" y="1212885"/>
                  </a:lnTo>
                  <a:lnTo>
                    <a:pt x="1387451" y="1209019"/>
                  </a:lnTo>
                  <a:lnTo>
                    <a:pt x="1446744" y="1203672"/>
                  </a:lnTo>
                  <a:lnTo>
                    <a:pt x="1504998" y="1196883"/>
                  </a:lnTo>
                  <a:lnTo>
                    <a:pt x="1562135" y="1188690"/>
                  </a:lnTo>
                  <a:lnTo>
                    <a:pt x="1618081" y="1179132"/>
                  </a:lnTo>
                  <a:lnTo>
                    <a:pt x="1672760" y="1168246"/>
                  </a:lnTo>
                  <a:lnTo>
                    <a:pt x="1726096" y="1156070"/>
                  </a:lnTo>
                  <a:lnTo>
                    <a:pt x="1778014" y="1142644"/>
                  </a:lnTo>
                  <a:lnTo>
                    <a:pt x="1828437" y="1128004"/>
                  </a:lnTo>
                  <a:lnTo>
                    <a:pt x="1877291" y="1112190"/>
                  </a:lnTo>
                  <a:lnTo>
                    <a:pt x="1924499" y="1095240"/>
                  </a:lnTo>
                  <a:lnTo>
                    <a:pt x="1969986" y="1077191"/>
                  </a:lnTo>
                  <a:lnTo>
                    <a:pt x="2013677" y="1058082"/>
                  </a:lnTo>
                  <a:lnTo>
                    <a:pt x="2055494" y="1037951"/>
                  </a:lnTo>
                  <a:lnTo>
                    <a:pt x="2095364" y="1016837"/>
                  </a:lnTo>
                  <a:lnTo>
                    <a:pt x="2133210" y="994778"/>
                  </a:lnTo>
                  <a:lnTo>
                    <a:pt x="2168956" y="971811"/>
                  </a:lnTo>
                  <a:lnTo>
                    <a:pt x="2202527" y="947975"/>
                  </a:lnTo>
                  <a:lnTo>
                    <a:pt x="2233848" y="923309"/>
                  </a:lnTo>
                  <a:lnTo>
                    <a:pt x="2262841" y="897850"/>
                  </a:lnTo>
                  <a:lnTo>
                    <a:pt x="2313547" y="844707"/>
                  </a:lnTo>
                  <a:lnTo>
                    <a:pt x="2354038" y="788852"/>
                  </a:lnTo>
                  <a:lnTo>
                    <a:pt x="2383710" y="730592"/>
                  </a:lnTo>
                  <a:lnTo>
                    <a:pt x="2401957" y="670231"/>
                  </a:lnTo>
                  <a:lnTo>
                    <a:pt x="2408174" y="608076"/>
                  </a:lnTo>
                  <a:lnTo>
                    <a:pt x="2406607" y="576777"/>
                  </a:lnTo>
                  <a:lnTo>
                    <a:pt x="2394299" y="515452"/>
                  </a:lnTo>
                  <a:lnTo>
                    <a:pt x="2370264" y="456080"/>
                  </a:lnTo>
                  <a:lnTo>
                    <a:pt x="2335107" y="398965"/>
                  </a:lnTo>
                  <a:lnTo>
                    <a:pt x="2289433" y="344413"/>
                  </a:lnTo>
                  <a:lnTo>
                    <a:pt x="2233848" y="292729"/>
                  </a:lnTo>
                  <a:lnTo>
                    <a:pt x="2202527" y="268058"/>
                  </a:lnTo>
                  <a:lnTo>
                    <a:pt x="2168956" y="244218"/>
                  </a:lnTo>
                  <a:lnTo>
                    <a:pt x="2133210" y="221248"/>
                  </a:lnTo>
                  <a:lnTo>
                    <a:pt x="2095364" y="199186"/>
                  </a:lnTo>
                  <a:lnTo>
                    <a:pt x="2055495" y="178069"/>
                  </a:lnTo>
                  <a:lnTo>
                    <a:pt x="2013677" y="157937"/>
                  </a:lnTo>
                  <a:lnTo>
                    <a:pt x="1969986" y="138827"/>
                  </a:lnTo>
                  <a:lnTo>
                    <a:pt x="1924499" y="120778"/>
                  </a:lnTo>
                  <a:lnTo>
                    <a:pt x="1877291" y="103827"/>
                  </a:lnTo>
                  <a:lnTo>
                    <a:pt x="1828437" y="88013"/>
                  </a:lnTo>
                  <a:lnTo>
                    <a:pt x="1778014" y="73374"/>
                  </a:lnTo>
                  <a:lnTo>
                    <a:pt x="1726096" y="59948"/>
                  </a:lnTo>
                  <a:lnTo>
                    <a:pt x="1672760" y="47773"/>
                  </a:lnTo>
                  <a:lnTo>
                    <a:pt x="1618081" y="36888"/>
                  </a:lnTo>
                  <a:lnTo>
                    <a:pt x="1562135" y="27330"/>
                  </a:lnTo>
                  <a:lnTo>
                    <a:pt x="1504998" y="19138"/>
                  </a:lnTo>
                  <a:lnTo>
                    <a:pt x="1446744" y="12350"/>
                  </a:lnTo>
                  <a:lnTo>
                    <a:pt x="1387451" y="7004"/>
                  </a:lnTo>
                  <a:lnTo>
                    <a:pt x="1327193" y="3138"/>
                  </a:lnTo>
                  <a:lnTo>
                    <a:pt x="1266046" y="790"/>
                  </a:lnTo>
                  <a:lnTo>
                    <a:pt x="1204087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35426" y="4879975"/>
              <a:ext cx="2408555" cy="1216025"/>
            </a:xfrm>
            <a:custGeom>
              <a:avLst/>
              <a:gdLst/>
              <a:ahLst/>
              <a:cxnLst/>
              <a:rect l="l" t="t" r="r" b="b"/>
              <a:pathLst>
                <a:path w="2408554" h="1216025">
                  <a:moveTo>
                    <a:pt x="0" y="608076"/>
                  </a:moveTo>
                  <a:lnTo>
                    <a:pt x="6215" y="545889"/>
                  </a:lnTo>
                  <a:lnTo>
                    <a:pt x="24458" y="485503"/>
                  </a:lnTo>
                  <a:lnTo>
                    <a:pt x="54124" y="427221"/>
                  </a:lnTo>
                  <a:lnTo>
                    <a:pt x="94609" y="371349"/>
                  </a:lnTo>
                  <a:lnTo>
                    <a:pt x="145306" y="318193"/>
                  </a:lnTo>
                  <a:lnTo>
                    <a:pt x="174296" y="292729"/>
                  </a:lnTo>
                  <a:lnTo>
                    <a:pt x="205612" y="268058"/>
                  </a:lnTo>
                  <a:lnTo>
                    <a:pt x="239180" y="244218"/>
                  </a:lnTo>
                  <a:lnTo>
                    <a:pt x="274922" y="221248"/>
                  </a:lnTo>
                  <a:lnTo>
                    <a:pt x="312764" y="199186"/>
                  </a:lnTo>
                  <a:lnTo>
                    <a:pt x="352631" y="178069"/>
                  </a:lnTo>
                  <a:lnTo>
                    <a:pt x="394446" y="157937"/>
                  </a:lnTo>
                  <a:lnTo>
                    <a:pt x="438134" y="138827"/>
                  </a:lnTo>
                  <a:lnTo>
                    <a:pt x="483619" y="120778"/>
                  </a:lnTo>
                  <a:lnTo>
                    <a:pt x="530826" y="103827"/>
                  </a:lnTo>
                  <a:lnTo>
                    <a:pt x="579679" y="88013"/>
                  </a:lnTo>
                  <a:lnTo>
                    <a:pt x="630103" y="73374"/>
                  </a:lnTo>
                  <a:lnTo>
                    <a:pt x="682021" y="59948"/>
                  </a:lnTo>
                  <a:lnTo>
                    <a:pt x="735359" y="47773"/>
                  </a:lnTo>
                  <a:lnTo>
                    <a:pt x="790041" y="36888"/>
                  </a:lnTo>
                  <a:lnTo>
                    <a:pt x="845991" y="27330"/>
                  </a:lnTo>
                  <a:lnTo>
                    <a:pt x="903133" y="19138"/>
                  </a:lnTo>
                  <a:lnTo>
                    <a:pt x="961392" y="12350"/>
                  </a:lnTo>
                  <a:lnTo>
                    <a:pt x="1020693" y="7004"/>
                  </a:lnTo>
                  <a:lnTo>
                    <a:pt x="1080959" y="3138"/>
                  </a:lnTo>
                  <a:lnTo>
                    <a:pt x="1142116" y="790"/>
                  </a:lnTo>
                  <a:lnTo>
                    <a:pt x="1204087" y="0"/>
                  </a:lnTo>
                  <a:lnTo>
                    <a:pt x="1266046" y="790"/>
                  </a:lnTo>
                  <a:lnTo>
                    <a:pt x="1327193" y="3138"/>
                  </a:lnTo>
                  <a:lnTo>
                    <a:pt x="1387451" y="7004"/>
                  </a:lnTo>
                  <a:lnTo>
                    <a:pt x="1446744" y="12350"/>
                  </a:lnTo>
                  <a:lnTo>
                    <a:pt x="1504998" y="19138"/>
                  </a:lnTo>
                  <a:lnTo>
                    <a:pt x="1562135" y="27330"/>
                  </a:lnTo>
                  <a:lnTo>
                    <a:pt x="1618081" y="36888"/>
                  </a:lnTo>
                  <a:lnTo>
                    <a:pt x="1672760" y="47773"/>
                  </a:lnTo>
                  <a:lnTo>
                    <a:pt x="1726096" y="59948"/>
                  </a:lnTo>
                  <a:lnTo>
                    <a:pt x="1778014" y="73374"/>
                  </a:lnTo>
                  <a:lnTo>
                    <a:pt x="1828437" y="88013"/>
                  </a:lnTo>
                  <a:lnTo>
                    <a:pt x="1877291" y="103827"/>
                  </a:lnTo>
                  <a:lnTo>
                    <a:pt x="1924499" y="120778"/>
                  </a:lnTo>
                  <a:lnTo>
                    <a:pt x="1969986" y="138827"/>
                  </a:lnTo>
                  <a:lnTo>
                    <a:pt x="2013677" y="157937"/>
                  </a:lnTo>
                  <a:lnTo>
                    <a:pt x="2055494" y="178069"/>
                  </a:lnTo>
                  <a:lnTo>
                    <a:pt x="2095364" y="199186"/>
                  </a:lnTo>
                  <a:lnTo>
                    <a:pt x="2133210" y="221248"/>
                  </a:lnTo>
                  <a:lnTo>
                    <a:pt x="2168956" y="244218"/>
                  </a:lnTo>
                  <a:lnTo>
                    <a:pt x="2202527" y="268058"/>
                  </a:lnTo>
                  <a:lnTo>
                    <a:pt x="2233848" y="292729"/>
                  </a:lnTo>
                  <a:lnTo>
                    <a:pt x="2262841" y="318193"/>
                  </a:lnTo>
                  <a:lnTo>
                    <a:pt x="2313547" y="371349"/>
                  </a:lnTo>
                  <a:lnTo>
                    <a:pt x="2354038" y="427221"/>
                  </a:lnTo>
                  <a:lnTo>
                    <a:pt x="2383710" y="485503"/>
                  </a:lnTo>
                  <a:lnTo>
                    <a:pt x="2401957" y="545889"/>
                  </a:lnTo>
                  <a:lnTo>
                    <a:pt x="2408174" y="608076"/>
                  </a:lnTo>
                  <a:lnTo>
                    <a:pt x="2406607" y="639358"/>
                  </a:lnTo>
                  <a:lnTo>
                    <a:pt x="2401957" y="670231"/>
                  </a:lnTo>
                  <a:lnTo>
                    <a:pt x="2383710" y="730592"/>
                  </a:lnTo>
                  <a:lnTo>
                    <a:pt x="2354038" y="788852"/>
                  </a:lnTo>
                  <a:lnTo>
                    <a:pt x="2313547" y="844707"/>
                  </a:lnTo>
                  <a:lnTo>
                    <a:pt x="2262841" y="897850"/>
                  </a:lnTo>
                  <a:lnTo>
                    <a:pt x="2233848" y="923309"/>
                  </a:lnTo>
                  <a:lnTo>
                    <a:pt x="2202527" y="947975"/>
                  </a:lnTo>
                  <a:lnTo>
                    <a:pt x="2168956" y="971811"/>
                  </a:lnTo>
                  <a:lnTo>
                    <a:pt x="2133210" y="994778"/>
                  </a:lnTo>
                  <a:lnTo>
                    <a:pt x="2095364" y="1016837"/>
                  </a:lnTo>
                  <a:lnTo>
                    <a:pt x="2055494" y="1037951"/>
                  </a:lnTo>
                  <a:lnTo>
                    <a:pt x="2013677" y="1058082"/>
                  </a:lnTo>
                  <a:lnTo>
                    <a:pt x="1969986" y="1077191"/>
                  </a:lnTo>
                  <a:lnTo>
                    <a:pt x="1924499" y="1095240"/>
                  </a:lnTo>
                  <a:lnTo>
                    <a:pt x="1877291" y="1112190"/>
                  </a:lnTo>
                  <a:lnTo>
                    <a:pt x="1828437" y="1128004"/>
                  </a:lnTo>
                  <a:lnTo>
                    <a:pt x="1778014" y="1142644"/>
                  </a:lnTo>
                  <a:lnTo>
                    <a:pt x="1726096" y="1156070"/>
                  </a:lnTo>
                  <a:lnTo>
                    <a:pt x="1672760" y="1168246"/>
                  </a:lnTo>
                  <a:lnTo>
                    <a:pt x="1618081" y="1179132"/>
                  </a:lnTo>
                  <a:lnTo>
                    <a:pt x="1562135" y="1188690"/>
                  </a:lnTo>
                  <a:lnTo>
                    <a:pt x="1504998" y="1196883"/>
                  </a:lnTo>
                  <a:lnTo>
                    <a:pt x="1446744" y="1203672"/>
                  </a:lnTo>
                  <a:lnTo>
                    <a:pt x="1387451" y="1209019"/>
                  </a:lnTo>
                  <a:lnTo>
                    <a:pt x="1327193" y="1212885"/>
                  </a:lnTo>
                  <a:lnTo>
                    <a:pt x="1266046" y="1215233"/>
                  </a:lnTo>
                  <a:lnTo>
                    <a:pt x="1204087" y="1216025"/>
                  </a:lnTo>
                  <a:lnTo>
                    <a:pt x="1142116" y="1215233"/>
                  </a:lnTo>
                  <a:lnTo>
                    <a:pt x="1080959" y="1212885"/>
                  </a:lnTo>
                  <a:lnTo>
                    <a:pt x="1020693" y="1209019"/>
                  </a:lnTo>
                  <a:lnTo>
                    <a:pt x="961392" y="1203672"/>
                  </a:lnTo>
                  <a:lnTo>
                    <a:pt x="903133" y="1196883"/>
                  </a:lnTo>
                  <a:lnTo>
                    <a:pt x="845991" y="1188690"/>
                  </a:lnTo>
                  <a:lnTo>
                    <a:pt x="790041" y="1179132"/>
                  </a:lnTo>
                  <a:lnTo>
                    <a:pt x="735359" y="1168246"/>
                  </a:lnTo>
                  <a:lnTo>
                    <a:pt x="682021" y="1156070"/>
                  </a:lnTo>
                  <a:lnTo>
                    <a:pt x="630103" y="1142644"/>
                  </a:lnTo>
                  <a:lnTo>
                    <a:pt x="579679" y="1128004"/>
                  </a:lnTo>
                  <a:lnTo>
                    <a:pt x="530826" y="1112190"/>
                  </a:lnTo>
                  <a:lnTo>
                    <a:pt x="483619" y="1095240"/>
                  </a:lnTo>
                  <a:lnTo>
                    <a:pt x="438134" y="1077191"/>
                  </a:lnTo>
                  <a:lnTo>
                    <a:pt x="394446" y="1058082"/>
                  </a:lnTo>
                  <a:lnTo>
                    <a:pt x="352631" y="1037951"/>
                  </a:lnTo>
                  <a:lnTo>
                    <a:pt x="312764" y="1016837"/>
                  </a:lnTo>
                  <a:lnTo>
                    <a:pt x="274922" y="994778"/>
                  </a:lnTo>
                  <a:lnTo>
                    <a:pt x="239180" y="971811"/>
                  </a:lnTo>
                  <a:lnTo>
                    <a:pt x="205612" y="947975"/>
                  </a:lnTo>
                  <a:lnTo>
                    <a:pt x="174296" y="923309"/>
                  </a:lnTo>
                  <a:lnTo>
                    <a:pt x="145306" y="897850"/>
                  </a:lnTo>
                  <a:lnTo>
                    <a:pt x="94609" y="844707"/>
                  </a:lnTo>
                  <a:lnTo>
                    <a:pt x="54124" y="788852"/>
                  </a:lnTo>
                  <a:lnTo>
                    <a:pt x="24458" y="730592"/>
                  </a:lnTo>
                  <a:lnTo>
                    <a:pt x="6215" y="670231"/>
                  </a:lnTo>
                  <a:lnTo>
                    <a:pt x="0" y="608076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67200" y="3697223"/>
              <a:ext cx="944880" cy="1217930"/>
            </a:xfrm>
            <a:custGeom>
              <a:avLst/>
              <a:gdLst/>
              <a:ahLst/>
              <a:cxnLst/>
              <a:rect l="l" t="t" r="r" b="b"/>
              <a:pathLst>
                <a:path w="944879" h="1217929">
                  <a:moveTo>
                    <a:pt x="142875" y="144526"/>
                  </a:moveTo>
                  <a:lnTo>
                    <a:pt x="114274" y="87376"/>
                  </a:lnTo>
                  <a:lnTo>
                    <a:pt x="71374" y="1651"/>
                  </a:lnTo>
                  <a:lnTo>
                    <a:pt x="0" y="144526"/>
                  </a:lnTo>
                  <a:lnTo>
                    <a:pt x="57048" y="98856"/>
                  </a:lnTo>
                  <a:lnTo>
                    <a:pt x="57150" y="87376"/>
                  </a:lnTo>
                  <a:lnTo>
                    <a:pt x="57150" y="98856"/>
                  </a:lnTo>
                  <a:lnTo>
                    <a:pt x="57150" y="1120571"/>
                  </a:lnTo>
                  <a:lnTo>
                    <a:pt x="0" y="1074801"/>
                  </a:lnTo>
                  <a:lnTo>
                    <a:pt x="71374" y="1217676"/>
                  </a:lnTo>
                  <a:lnTo>
                    <a:pt x="114274" y="1131951"/>
                  </a:lnTo>
                  <a:lnTo>
                    <a:pt x="142875" y="1074801"/>
                  </a:lnTo>
                  <a:lnTo>
                    <a:pt x="85725" y="1120571"/>
                  </a:lnTo>
                  <a:lnTo>
                    <a:pt x="71374" y="1131951"/>
                  </a:lnTo>
                  <a:lnTo>
                    <a:pt x="85610" y="1120571"/>
                  </a:lnTo>
                  <a:lnTo>
                    <a:pt x="85725" y="98856"/>
                  </a:lnTo>
                  <a:lnTo>
                    <a:pt x="142875" y="144526"/>
                  </a:lnTo>
                  <a:close/>
                </a:path>
                <a:path w="944879" h="1217929">
                  <a:moveTo>
                    <a:pt x="539750" y="180975"/>
                  </a:moveTo>
                  <a:lnTo>
                    <a:pt x="511149" y="123825"/>
                  </a:lnTo>
                  <a:lnTo>
                    <a:pt x="468249" y="38100"/>
                  </a:lnTo>
                  <a:lnTo>
                    <a:pt x="396875" y="180975"/>
                  </a:lnTo>
                  <a:lnTo>
                    <a:pt x="453923" y="135305"/>
                  </a:lnTo>
                  <a:lnTo>
                    <a:pt x="454025" y="123825"/>
                  </a:lnTo>
                  <a:lnTo>
                    <a:pt x="454025" y="135305"/>
                  </a:lnTo>
                  <a:lnTo>
                    <a:pt x="454025" y="1088821"/>
                  </a:lnTo>
                  <a:lnTo>
                    <a:pt x="396875" y="1043051"/>
                  </a:lnTo>
                  <a:lnTo>
                    <a:pt x="468249" y="1185926"/>
                  </a:lnTo>
                  <a:lnTo>
                    <a:pt x="511149" y="1100201"/>
                  </a:lnTo>
                  <a:lnTo>
                    <a:pt x="539750" y="1043051"/>
                  </a:lnTo>
                  <a:lnTo>
                    <a:pt x="482600" y="1088821"/>
                  </a:lnTo>
                  <a:lnTo>
                    <a:pt x="468249" y="1100201"/>
                  </a:lnTo>
                  <a:lnTo>
                    <a:pt x="482485" y="1088821"/>
                  </a:lnTo>
                  <a:lnTo>
                    <a:pt x="482600" y="135305"/>
                  </a:lnTo>
                  <a:lnTo>
                    <a:pt x="539750" y="180975"/>
                  </a:lnTo>
                  <a:close/>
                </a:path>
                <a:path w="944879" h="1217929">
                  <a:moveTo>
                    <a:pt x="944499" y="142875"/>
                  </a:moveTo>
                  <a:lnTo>
                    <a:pt x="915949" y="85725"/>
                  </a:lnTo>
                  <a:lnTo>
                    <a:pt x="873125" y="0"/>
                  </a:lnTo>
                  <a:lnTo>
                    <a:pt x="801624" y="142875"/>
                  </a:lnTo>
                  <a:lnTo>
                    <a:pt x="858774" y="97205"/>
                  </a:lnTo>
                  <a:lnTo>
                    <a:pt x="858875" y="1118920"/>
                  </a:lnTo>
                  <a:lnTo>
                    <a:pt x="858774" y="1130300"/>
                  </a:lnTo>
                  <a:lnTo>
                    <a:pt x="858774" y="1118920"/>
                  </a:lnTo>
                  <a:lnTo>
                    <a:pt x="801624" y="1073150"/>
                  </a:lnTo>
                  <a:lnTo>
                    <a:pt x="873125" y="1216025"/>
                  </a:lnTo>
                  <a:lnTo>
                    <a:pt x="915949" y="1130300"/>
                  </a:lnTo>
                  <a:lnTo>
                    <a:pt x="944499" y="1073150"/>
                  </a:lnTo>
                  <a:lnTo>
                    <a:pt x="887349" y="1118920"/>
                  </a:lnTo>
                  <a:lnTo>
                    <a:pt x="887349" y="97205"/>
                  </a:lnTo>
                  <a:lnTo>
                    <a:pt x="873125" y="85725"/>
                  </a:lnTo>
                  <a:lnTo>
                    <a:pt x="887437" y="97205"/>
                  </a:lnTo>
                  <a:lnTo>
                    <a:pt x="944499" y="142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27094" y="5187822"/>
            <a:ext cx="1655445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8288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Programming/ </a:t>
            </a:r>
            <a:r>
              <a:rPr sz="1600" b="1" dirty="0">
                <a:solidFill>
                  <a:srgbClr val="0000FF"/>
                </a:solidFill>
                <a:latin typeface="Times New Roman"/>
                <a:cs typeface="Times New Roman"/>
              </a:rPr>
              <a:t>implement</a:t>
            </a:r>
            <a:r>
              <a:rPr sz="16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domain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35910" y="4185615"/>
            <a:ext cx="815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Mapping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2100" y="1058036"/>
            <a:ext cx="8639810" cy="2244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Reverse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Engineering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encompasses</a:t>
            </a:r>
            <a:r>
              <a:rPr sz="2400" b="1" spc="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wide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array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tasks</a:t>
            </a:r>
            <a:r>
              <a:rPr sz="2400" b="1" spc="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related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to </a:t>
            </a:r>
            <a:r>
              <a:rPr sz="2400" b="1" dirty="0">
                <a:latin typeface="Times New Roman"/>
                <a:cs typeface="Times New Roman"/>
              </a:rPr>
              <a:t>understanding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modifying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software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system.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This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array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tasks </a:t>
            </a:r>
            <a:r>
              <a:rPr sz="2400" b="1" dirty="0">
                <a:latin typeface="Times New Roman"/>
                <a:cs typeface="Times New Roman"/>
              </a:rPr>
              <a:t>can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broken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into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number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classes.</a:t>
            </a:r>
            <a:endParaRPr sz="2400">
              <a:latin typeface="Times New Roman"/>
              <a:cs typeface="Times New Roman"/>
            </a:endParaRPr>
          </a:p>
          <a:p>
            <a:pPr marL="545465" indent="-456565" algn="just">
              <a:lnSpc>
                <a:spcPts val="2020"/>
              </a:lnSpc>
              <a:buFont typeface="Wingdings"/>
              <a:buChar char=""/>
              <a:tabLst>
                <a:tab pos="545465" algn="l"/>
              </a:tabLst>
            </a:pP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Mapping</a:t>
            </a:r>
            <a:r>
              <a:rPr sz="2200" b="1" spc="-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between</a:t>
            </a:r>
            <a:r>
              <a:rPr sz="2200" b="1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application</a:t>
            </a:r>
            <a:r>
              <a:rPr sz="2200" b="1" spc="-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2200" b="1" spc="-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program</a:t>
            </a:r>
            <a:r>
              <a:rPr sz="2200" b="1" spc="-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domains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2200">
              <a:latin typeface="Times New Roman"/>
              <a:cs typeface="Times New Roman"/>
            </a:endParaRPr>
          </a:p>
          <a:p>
            <a:pPr marL="247650" algn="ctr">
              <a:lnSpc>
                <a:spcPct val="100000"/>
              </a:lnSpc>
            </a:pPr>
            <a:r>
              <a:rPr sz="16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Problem/</a:t>
            </a:r>
            <a:r>
              <a:rPr sz="16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application</a:t>
            </a:r>
            <a:endParaRPr sz="1600">
              <a:latin typeface="Times New Roman"/>
              <a:cs typeface="Times New Roman"/>
            </a:endParaRPr>
          </a:p>
          <a:p>
            <a:pPr marL="248920" algn="ctr">
              <a:lnSpc>
                <a:spcPct val="100000"/>
              </a:lnSpc>
            </a:pPr>
            <a:r>
              <a:rPr sz="16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domain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11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3100" y="1835911"/>
            <a:ext cx="7795895" cy="2389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469900" algn="l"/>
              </a:tabLst>
            </a:pPr>
            <a:r>
              <a:rPr sz="2200" b="1" dirty="0">
                <a:solidFill>
                  <a:srgbClr val="003366"/>
                </a:solidFill>
                <a:latin typeface="Times New Roman"/>
                <a:cs typeface="Times New Roman"/>
              </a:rPr>
              <a:t>Mapping</a:t>
            </a:r>
            <a:r>
              <a:rPr sz="2200" b="1" spc="-9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66"/>
                </a:solidFill>
                <a:latin typeface="Times New Roman"/>
                <a:cs typeface="Times New Roman"/>
              </a:rPr>
              <a:t>between</a:t>
            </a:r>
            <a:r>
              <a:rPr sz="2200" b="1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66"/>
                </a:solidFill>
                <a:latin typeface="Times New Roman"/>
                <a:cs typeface="Times New Roman"/>
              </a:rPr>
              <a:t>concrete</a:t>
            </a:r>
            <a:r>
              <a:rPr sz="2200" b="1" spc="-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sz="2200" b="1" spc="-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66"/>
                </a:solidFill>
                <a:latin typeface="Times New Roman"/>
                <a:cs typeface="Times New Roman"/>
              </a:rPr>
              <a:t>abstract</a:t>
            </a:r>
            <a:r>
              <a:rPr sz="2200" b="1" spc="-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levels</a:t>
            </a:r>
            <a:endParaRPr sz="2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935"/>
              </a:spcBef>
              <a:buFont typeface="Wingdings"/>
              <a:buChar char=""/>
              <a:tabLst>
                <a:tab pos="469900" algn="l"/>
              </a:tabLst>
            </a:pPr>
            <a:r>
              <a:rPr sz="22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Rediscovering</a:t>
            </a:r>
            <a:r>
              <a:rPr sz="2200" b="1" spc="-3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high</a:t>
            </a:r>
            <a:r>
              <a:rPr sz="2200" b="1" spc="-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level</a:t>
            </a:r>
            <a:r>
              <a:rPr sz="2200" b="1" spc="-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structures</a:t>
            </a:r>
            <a:endParaRPr sz="2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2060"/>
              </a:spcBef>
              <a:buFont typeface="Wingdings"/>
              <a:buChar char=""/>
              <a:tabLst>
                <a:tab pos="469900" algn="l"/>
              </a:tabLst>
            </a:pP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Finding</a:t>
            </a:r>
            <a:r>
              <a:rPr sz="2200" b="1" spc="-8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missing</a:t>
            </a:r>
            <a:r>
              <a:rPr sz="22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links</a:t>
            </a:r>
            <a:r>
              <a:rPr sz="2200" b="1" spc="-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between</a:t>
            </a:r>
            <a:r>
              <a:rPr sz="2200" b="1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program</a:t>
            </a:r>
            <a:r>
              <a:rPr sz="2200" b="1" spc="-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syntax</a:t>
            </a:r>
            <a:r>
              <a:rPr sz="2200" b="1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2200" b="1" spc="-8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semantics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35"/>
              </a:spcBef>
              <a:buFont typeface="Wingdings"/>
              <a:buChar char=""/>
            </a:pPr>
            <a:endParaRPr sz="22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200" b="1" spc="-80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2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66"/>
                </a:solidFill>
                <a:latin typeface="Times New Roman"/>
                <a:cs typeface="Times New Roman"/>
              </a:rPr>
              <a:t>extract</a:t>
            </a:r>
            <a:r>
              <a:rPr sz="2200" b="1" spc="-11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3366"/>
                </a:solidFill>
                <a:latin typeface="Times New Roman"/>
                <a:cs typeface="Times New Roman"/>
              </a:rPr>
              <a:t>reusable</a:t>
            </a:r>
            <a:r>
              <a:rPr sz="2200" b="1" spc="-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component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11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489709"/>
            <a:ext cx="8557260" cy="2401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Levels</a:t>
            </a:r>
            <a:r>
              <a:rPr sz="24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Reverse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Engineering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2400">
              <a:latin typeface="Times New Roman"/>
              <a:cs typeface="Times New Roman"/>
            </a:endParaRPr>
          </a:p>
          <a:p>
            <a:pPr marL="73660" marR="6985">
              <a:lnSpc>
                <a:spcPct val="100000"/>
              </a:lnSpc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Reverse</a:t>
            </a:r>
            <a:r>
              <a:rPr sz="2000" b="1" spc="4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Engineers</a:t>
            </a:r>
            <a:r>
              <a:rPr sz="2000" b="1" spc="434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detect</a:t>
            </a:r>
            <a:r>
              <a:rPr sz="2000" b="1" spc="4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low</a:t>
            </a:r>
            <a:r>
              <a:rPr sz="2000" b="1" spc="4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level</a:t>
            </a:r>
            <a:r>
              <a:rPr sz="2000" b="1" spc="4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implementation</a:t>
            </a:r>
            <a:r>
              <a:rPr sz="2000" b="1" spc="4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constructs</a:t>
            </a:r>
            <a:r>
              <a:rPr sz="2000" b="1" spc="4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and</a:t>
            </a:r>
            <a:r>
              <a:rPr sz="2000" b="1" spc="4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replace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them</a:t>
            </a:r>
            <a:r>
              <a:rPr sz="2000" b="1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with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their</a:t>
            </a:r>
            <a:r>
              <a:rPr sz="2000" b="1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high</a:t>
            </a:r>
            <a:r>
              <a:rPr sz="2000" b="1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level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counterparts.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2000">
              <a:latin typeface="Times New Roman"/>
              <a:cs typeface="Times New Roman"/>
            </a:endParaRPr>
          </a:p>
          <a:p>
            <a:pPr marL="73660" marR="5080">
              <a:lnSpc>
                <a:spcPct val="100000"/>
              </a:lnSpc>
              <a:tabLst>
                <a:tab pos="631190" algn="l"/>
                <a:tab pos="1564005" algn="l"/>
                <a:tab pos="2812415" algn="l"/>
                <a:tab pos="3660140" algn="l"/>
                <a:tab pos="4004310" algn="l"/>
                <a:tab pos="4406900" algn="l"/>
                <a:tab pos="5830570" algn="l"/>
                <a:tab pos="7048500" algn="l"/>
                <a:tab pos="7394575" algn="l"/>
                <a:tab pos="7796530" algn="l"/>
              </a:tabLst>
            </a:pPr>
            <a:r>
              <a:rPr sz="2000" b="1" spc="-25" dirty="0">
                <a:latin typeface="Times New Roman"/>
                <a:cs typeface="Times New Roman"/>
              </a:rPr>
              <a:t>The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process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eventually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results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in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an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incremental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formation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25" dirty="0">
                <a:latin typeface="Times New Roman"/>
                <a:cs typeface="Times New Roman"/>
              </a:rPr>
              <a:t>an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overall architecture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 </a:t>
            </a:r>
            <a:r>
              <a:rPr sz="2000" b="1" spc="-10" dirty="0">
                <a:latin typeface="Times New Roman"/>
                <a:cs typeface="Times New Roman"/>
              </a:rPr>
              <a:t>program.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1530" y="1670240"/>
            <a:ext cx="6644626" cy="35181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99714" y="5692850"/>
            <a:ext cx="3773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Fig.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11: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Levels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abstraction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11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7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11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530858"/>
            <a:ext cx="8595360" cy="38944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/>
                <a:cs typeface="Times New Roman"/>
              </a:rPr>
              <a:t>Redocumentation</a:t>
            </a:r>
            <a:endParaRPr sz="2400">
              <a:latin typeface="Times New Roman"/>
              <a:cs typeface="Times New Roman"/>
            </a:endParaRPr>
          </a:p>
          <a:p>
            <a:pPr marL="35560" marR="8255">
              <a:lnSpc>
                <a:spcPct val="100000"/>
              </a:lnSpc>
              <a:spcBef>
                <a:spcPts val="1775"/>
              </a:spcBef>
            </a:pPr>
            <a:r>
              <a:rPr sz="2000" b="1" dirty="0">
                <a:latin typeface="Times New Roman"/>
                <a:cs typeface="Times New Roman"/>
              </a:rPr>
              <a:t>Redocumentation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recreation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semantically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equivalent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representation </a:t>
            </a:r>
            <a:r>
              <a:rPr sz="2000" b="1" dirty="0">
                <a:latin typeface="Times New Roman"/>
                <a:cs typeface="Times New Roman"/>
              </a:rPr>
              <a:t>within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same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relative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abstraction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level.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Design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recovery</a:t>
            </a:r>
            <a:endParaRPr sz="2400">
              <a:latin typeface="Times New Roman"/>
              <a:cs typeface="Times New Roman"/>
            </a:endParaRPr>
          </a:p>
          <a:p>
            <a:pPr marL="35560" marR="5080" algn="just">
              <a:lnSpc>
                <a:spcPct val="100000"/>
              </a:lnSpc>
              <a:spcBef>
                <a:spcPts val="1780"/>
              </a:spcBef>
            </a:pP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Design</a:t>
            </a:r>
            <a:r>
              <a:rPr sz="2000" b="1" spc="1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recovery</a:t>
            </a:r>
            <a:r>
              <a:rPr sz="2000" b="1" spc="1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entails</a:t>
            </a:r>
            <a:r>
              <a:rPr sz="2000" b="1" spc="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identifying</a:t>
            </a:r>
            <a:r>
              <a:rPr sz="2000" b="1" spc="1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and</a:t>
            </a:r>
            <a:r>
              <a:rPr sz="2000" b="1" spc="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extracting</a:t>
            </a:r>
            <a:r>
              <a:rPr sz="2000" b="1" spc="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meaningful</a:t>
            </a:r>
            <a:r>
              <a:rPr sz="2000" b="1" spc="1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higher</a:t>
            </a:r>
            <a:r>
              <a:rPr sz="2000" b="1" spc="484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level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abstractions</a:t>
            </a:r>
            <a:r>
              <a:rPr sz="2000" b="1" spc="31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beyond</a:t>
            </a:r>
            <a:r>
              <a:rPr sz="2000" b="1" spc="30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those</a:t>
            </a:r>
            <a:r>
              <a:rPr sz="2000" b="1" spc="3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obtained</a:t>
            </a:r>
            <a:r>
              <a:rPr sz="2000" b="1" spc="3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directly</a:t>
            </a:r>
            <a:r>
              <a:rPr sz="2000" b="1" spc="3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from</a:t>
            </a:r>
            <a:r>
              <a:rPr sz="2000" b="1" spc="3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examination</a:t>
            </a:r>
            <a:r>
              <a:rPr sz="2000" b="1" spc="31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2000" b="1" spc="30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spc="3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source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code.</a:t>
            </a:r>
            <a:r>
              <a:rPr sz="2000" b="1" spc="4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This</a:t>
            </a:r>
            <a:r>
              <a:rPr sz="2000" b="1" spc="4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may</a:t>
            </a:r>
            <a:r>
              <a:rPr sz="2000" b="1" spc="3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be</a:t>
            </a:r>
            <a:r>
              <a:rPr sz="2000" b="1" spc="4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achieved</a:t>
            </a:r>
            <a:r>
              <a:rPr sz="2000" b="1" spc="4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from</a:t>
            </a:r>
            <a:r>
              <a:rPr sz="2000" b="1" spc="4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</a:t>
            </a:r>
            <a:r>
              <a:rPr sz="2000" b="1" spc="4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combination</a:t>
            </a:r>
            <a:r>
              <a:rPr sz="2000" b="1" spc="4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2000" b="1" spc="4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code,</a:t>
            </a:r>
            <a:r>
              <a:rPr sz="2000" b="1" spc="4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existing</a:t>
            </a:r>
            <a:r>
              <a:rPr sz="2000" b="1" spc="4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design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documentation,</a:t>
            </a:r>
            <a:r>
              <a:rPr sz="2000" b="1" spc="10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personal</a:t>
            </a:r>
            <a:r>
              <a:rPr sz="2000" b="1" spc="11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experience,</a:t>
            </a:r>
            <a:r>
              <a:rPr sz="2000" b="1" spc="10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and</a:t>
            </a:r>
            <a:r>
              <a:rPr sz="2000" b="1" spc="114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knowledge</a:t>
            </a:r>
            <a:r>
              <a:rPr sz="2000" b="1" spc="10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2000" b="1" spc="11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spc="11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problem</a:t>
            </a:r>
            <a:r>
              <a:rPr sz="2000" b="1" spc="10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and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application</a:t>
            </a:r>
            <a:r>
              <a:rPr sz="2000" b="1" spc="-7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domains.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11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545081"/>
            <a:ext cx="8593455" cy="227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Times New Roman"/>
                <a:cs typeface="Times New Roman"/>
              </a:rPr>
              <a:t>Software</a:t>
            </a:r>
            <a:r>
              <a:rPr sz="2800" b="1" spc="-105" dirty="0">
                <a:latin typeface="Times New Roman"/>
                <a:cs typeface="Times New Roman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RE-</a:t>
            </a:r>
            <a:r>
              <a:rPr sz="2800" b="1" spc="-10" dirty="0">
                <a:latin typeface="Times New Roman"/>
                <a:cs typeface="Times New Roman"/>
              </a:rPr>
              <a:t>Engineering</a:t>
            </a:r>
            <a:endParaRPr sz="2800">
              <a:latin typeface="Times New Roman"/>
              <a:cs typeface="Times New Roman"/>
            </a:endParaRPr>
          </a:p>
          <a:p>
            <a:pPr marL="35560" marR="5080">
              <a:lnSpc>
                <a:spcPct val="100000"/>
              </a:lnSpc>
              <a:spcBef>
                <a:spcPts val="2315"/>
              </a:spcBef>
              <a:tabLst>
                <a:tab pos="2818765" algn="l"/>
              </a:tabLst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Software</a:t>
            </a:r>
            <a:r>
              <a:rPr sz="2000" b="1" spc="10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re-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engineering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	is</a:t>
            </a:r>
            <a:r>
              <a:rPr sz="2000" b="1" spc="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concerned</a:t>
            </a:r>
            <a:r>
              <a:rPr sz="2000" b="1" spc="10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with</a:t>
            </a:r>
            <a:r>
              <a:rPr sz="2000" b="1" spc="10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taking</a:t>
            </a:r>
            <a:r>
              <a:rPr sz="2000" b="1" spc="10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existing</a:t>
            </a:r>
            <a:r>
              <a:rPr sz="2000" b="1" spc="1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legacy</a:t>
            </a:r>
            <a:r>
              <a:rPr sz="2000" b="1" spc="10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systems</a:t>
            </a:r>
            <a:r>
              <a:rPr sz="2000" b="1" spc="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and </a:t>
            </a:r>
            <a:r>
              <a:rPr sz="20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re-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implementing</a:t>
            </a:r>
            <a:r>
              <a:rPr sz="2000" b="1" spc="-8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them</a:t>
            </a:r>
            <a:r>
              <a:rPr sz="2000" b="1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to</a:t>
            </a:r>
            <a:r>
              <a:rPr sz="2000" b="1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make</a:t>
            </a:r>
            <a:r>
              <a:rPr sz="2000" b="1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them</a:t>
            </a:r>
            <a:r>
              <a:rPr sz="20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more</a:t>
            </a:r>
            <a:r>
              <a:rPr sz="2000" b="1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maintainable.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32384" marR="7620">
              <a:lnSpc>
                <a:spcPct val="100000"/>
              </a:lnSpc>
            </a:pP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spc="6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critical</a:t>
            </a:r>
            <a:r>
              <a:rPr sz="2000" b="1" spc="5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distinction</a:t>
            </a:r>
            <a:r>
              <a:rPr sz="2000" b="1" spc="7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between</a:t>
            </a:r>
            <a:r>
              <a:rPr sz="2000" b="1" spc="6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re-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engineering</a:t>
            </a:r>
            <a:r>
              <a:rPr sz="2000" b="1" spc="6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and</a:t>
            </a:r>
            <a:r>
              <a:rPr sz="2000" b="1" spc="5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new</a:t>
            </a:r>
            <a:r>
              <a:rPr sz="2000" b="1" spc="6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software</a:t>
            </a:r>
            <a:r>
              <a:rPr sz="2000" b="1" spc="6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development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is</a:t>
            </a:r>
            <a:r>
              <a:rPr sz="2000" b="1" spc="-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spc="-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starting</a:t>
            </a:r>
            <a:r>
              <a:rPr sz="2000" b="1" spc="-5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point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for</a:t>
            </a:r>
            <a:r>
              <a:rPr sz="2000" b="1" spc="-6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spc="-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development</a:t>
            </a:r>
            <a:r>
              <a:rPr sz="2000" b="1" spc="-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as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shown</a:t>
            </a:r>
            <a:r>
              <a:rPr sz="2000" b="1" spc="-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in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 Fig.12.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2304" y="6406692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imes New Roman"/>
                <a:cs typeface="Times New Roman"/>
              </a:rPr>
              <a:t>12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8604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41094" y="5921451"/>
            <a:ext cx="65462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1520" marR="5080" indent="-198945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Fig.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12: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Comparison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new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software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development </a:t>
            </a:r>
            <a:r>
              <a:rPr sz="2400" b="1" dirty="0">
                <a:latin typeface="Times New Roman"/>
                <a:cs typeface="Times New Roman"/>
              </a:rPr>
              <a:t>with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re-</a:t>
            </a:r>
            <a:r>
              <a:rPr sz="2400" b="1" spc="-10" dirty="0">
                <a:latin typeface="Times New Roman"/>
                <a:cs typeface="Times New Roman"/>
              </a:rPr>
              <a:t>engineering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89200" y="981075"/>
            <a:ext cx="1466850" cy="1390650"/>
            <a:chOff x="2489200" y="981075"/>
            <a:chExt cx="1466850" cy="1390650"/>
          </a:xfrm>
        </p:grpSpPr>
        <p:sp>
          <p:nvSpPr>
            <p:cNvPr id="7" name="object 7"/>
            <p:cNvSpPr/>
            <p:nvPr/>
          </p:nvSpPr>
          <p:spPr>
            <a:xfrm>
              <a:off x="2498725" y="990600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723900" y="0"/>
                  </a:moveTo>
                  <a:lnTo>
                    <a:pt x="674337" y="1582"/>
                  </a:lnTo>
                  <a:lnTo>
                    <a:pt x="625671" y="6261"/>
                  </a:lnTo>
                  <a:lnTo>
                    <a:pt x="578009" y="13934"/>
                  </a:lnTo>
                  <a:lnTo>
                    <a:pt x="531459" y="24500"/>
                  </a:lnTo>
                  <a:lnTo>
                    <a:pt x="486129" y="37856"/>
                  </a:lnTo>
                  <a:lnTo>
                    <a:pt x="442126" y="53899"/>
                  </a:lnTo>
                  <a:lnTo>
                    <a:pt x="399559" y="72528"/>
                  </a:lnTo>
                  <a:lnTo>
                    <a:pt x="358535" y="93641"/>
                  </a:lnTo>
                  <a:lnTo>
                    <a:pt x="319161" y="117135"/>
                  </a:lnTo>
                  <a:lnTo>
                    <a:pt x="281547" y="142908"/>
                  </a:lnTo>
                  <a:lnTo>
                    <a:pt x="245799" y="170857"/>
                  </a:lnTo>
                  <a:lnTo>
                    <a:pt x="212026" y="200882"/>
                  </a:lnTo>
                  <a:lnTo>
                    <a:pt x="180335" y="232879"/>
                  </a:lnTo>
                  <a:lnTo>
                    <a:pt x="150834" y="266746"/>
                  </a:lnTo>
                  <a:lnTo>
                    <a:pt x="123631" y="302381"/>
                  </a:lnTo>
                  <a:lnTo>
                    <a:pt x="98834" y="339682"/>
                  </a:lnTo>
                  <a:lnTo>
                    <a:pt x="76550" y="378547"/>
                  </a:lnTo>
                  <a:lnTo>
                    <a:pt x="56888" y="418873"/>
                  </a:lnTo>
                  <a:lnTo>
                    <a:pt x="39954" y="460559"/>
                  </a:lnTo>
                  <a:lnTo>
                    <a:pt x="25858" y="503502"/>
                  </a:lnTo>
                  <a:lnTo>
                    <a:pt x="14707" y="547599"/>
                  </a:lnTo>
                  <a:lnTo>
                    <a:pt x="6608" y="592750"/>
                  </a:lnTo>
                  <a:lnTo>
                    <a:pt x="1670" y="638850"/>
                  </a:lnTo>
                  <a:lnTo>
                    <a:pt x="0" y="685800"/>
                  </a:lnTo>
                  <a:lnTo>
                    <a:pt x="1670" y="732749"/>
                  </a:lnTo>
                  <a:lnTo>
                    <a:pt x="6608" y="778849"/>
                  </a:lnTo>
                  <a:lnTo>
                    <a:pt x="14707" y="824000"/>
                  </a:lnTo>
                  <a:lnTo>
                    <a:pt x="25858" y="868097"/>
                  </a:lnTo>
                  <a:lnTo>
                    <a:pt x="39954" y="911040"/>
                  </a:lnTo>
                  <a:lnTo>
                    <a:pt x="56888" y="952726"/>
                  </a:lnTo>
                  <a:lnTo>
                    <a:pt x="76550" y="993052"/>
                  </a:lnTo>
                  <a:lnTo>
                    <a:pt x="98834" y="1031917"/>
                  </a:lnTo>
                  <a:lnTo>
                    <a:pt x="123631" y="1069218"/>
                  </a:lnTo>
                  <a:lnTo>
                    <a:pt x="150834" y="1104853"/>
                  </a:lnTo>
                  <a:lnTo>
                    <a:pt x="180335" y="1138720"/>
                  </a:lnTo>
                  <a:lnTo>
                    <a:pt x="212026" y="1170717"/>
                  </a:lnTo>
                  <a:lnTo>
                    <a:pt x="245799" y="1200742"/>
                  </a:lnTo>
                  <a:lnTo>
                    <a:pt x="281547" y="1228691"/>
                  </a:lnTo>
                  <a:lnTo>
                    <a:pt x="319161" y="1254464"/>
                  </a:lnTo>
                  <a:lnTo>
                    <a:pt x="358535" y="1277958"/>
                  </a:lnTo>
                  <a:lnTo>
                    <a:pt x="399559" y="1299071"/>
                  </a:lnTo>
                  <a:lnTo>
                    <a:pt x="442126" y="1317700"/>
                  </a:lnTo>
                  <a:lnTo>
                    <a:pt x="486129" y="1333743"/>
                  </a:lnTo>
                  <a:lnTo>
                    <a:pt x="531459" y="1347099"/>
                  </a:lnTo>
                  <a:lnTo>
                    <a:pt x="578009" y="1357665"/>
                  </a:lnTo>
                  <a:lnTo>
                    <a:pt x="625671" y="1365338"/>
                  </a:lnTo>
                  <a:lnTo>
                    <a:pt x="674337" y="1370017"/>
                  </a:lnTo>
                  <a:lnTo>
                    <a:pt x="723900" y="1371600"/>
                  </a:lnTo>
                  <a:lnTo>
                    <a:pt x="773462" y="1370017"/>
                  </a:lnTo>
                  <a:lnTo>
                    <a:pt x="822128" y="1365338"/>
                  </a:lnTo>
                  <a:lnTo>
                    <a:pt x="869790" y="1357665"/>
                  </a:lnTo>
                  <a:lnTo>
                    <a:pt x="916340" y="1347099"/>
                  </a:lnTo>
                  <a:lnTo>
                    <a:pt x="961670" y="1333743"/>
                  </a:lnTo>
                  <a:lnTo>
                    <a:pt x="1005673" y="1317700"/>
                  </a:lnTo>
                  <a:lnTo>
                    <a:pt x="1048240" y="1299071"/>
                  </a:lnTo>
                  <a:lnTo>
                    <a:pt x="1089264" y="1277958"/>
                  </a:lnTo>
                  <a:lnTo>
                    <a:pt x="1128638" y="1254464"/>
                  </a:lnTo>
                  <a:lnTo>
                    <a:pt x="1166252" y="1228691"/>
                  </a:lnTo>
                  <a:lnTo>
                    <a:pt x="1202000" y="1200742"/>
                  </a:lnTo>
                  <a:lnTo>
                    <a:pt x="1235773" y="1170717"/>
                  </a:lnTo>
                  <a:lnTo>
                    <a:pt x="1267464" y="1138720"/>
                  </a:lnTo>
                  <a:lnTo>
                    <a:pt x="1296965" y="1104853"/>
                  </a:lnTo>
                  <a:lnTo>
                    <a:pt x="1324168" y="1069218"/>
                  </a:lnTo>
                  <a:lnTo>
                    <a:pt x="1348965" y="1031917"/>
                  </a:lnTo>
                  <a:lnTo>
                    <a:pt x="1371249" y="993052"/>
                  </a:lnTo>
                  <a:lnTo>
                    <a:pt x="1390911" y="952726"/>
                  </a:lnTo>
                  <a:lnTo>
                    <a:pt x="1407845" y="911040"/>
                  </a:lnTo>
                  <a:lnTo>
                    <a:pt x="1421941" y="868097"/>
                  </a:lnTo>
                  <a:lnTo>
                    <a:pt x="1433092" y="824000"/>
                  </a:lnTo>
                  <a:lnTo>
                    <a:pt x="1441191" y="778849"/>
                  </a:lnTo>
                  <a:lnTo>
                    <a:pt x="1446129" y="732749"/>
                  </a:lnTo>
                  <a:lnTo>
                    <a:pt x="1447800" y="685800"/>
                  </a:lnTo>
                  <a:lnTo>
                    <a:pt x="1446129" y="638850"/>
                  </a:lnTo>
                  <a:lnTo>
                    <a:pt x="1441191" y="592750"/>
                  </a:lnTo>
                  <a:lnTo>
                    <a:pt x="1433092" y="547599"/>
                  </a:lnTo>
                  <a:lnTo>
                    <a:pt x="1421941" y="503502"/>
                  </a:lnTo>
                  <a:lnTo>
                    <a:pt x="1407845" y="460559"/>
                  </a:lnTo>
                  <a:lnTo>
                    <a:pt x="1390911" y="418873"/>
                  </a:lnTo>
                  <a:lnTo>
                    <a:pt x="1371249" y="378547"/>
                  </a:lnTo>
                  <a:lnTo>
                    <a:pt x="1348965" y="339682"/>
                  </a:lnTo>
                  <a:lnTo>
                    <a:pt x="1324168" y="302381"/>
                  </a:lnTo>
                  <a:lnTo>
                    <a:pt x="1296965" y="266746"/>
                  </a:lnTo>
                  <a:lnTo>
                    <a:pt x="1267464" y="232879"/>
                  </a:lnTo>
                  <a:lnTo>
                    <a:pt x="1235773" y="200882"/>
                  </a:lnTo>
                  <a:lnTo>
                    <a:pt x="1202000" y="170857"/>
                  </a:lnTo>
                  <a:lnTo>
                    <a:pt x="1166252" y="142908"/>
                  </a:lnTo>
                  <a:lnTo>
                    <a:pt x="1128638" y="117135"/>
                  </a:lnTo>
                  <a:lnTo>
                    <a:pt x="1089264" y="93641"/>
                  </a:lnTo>
                  <a:lnTo>
                    <a:pt x="1048240" y="72528"/>
                  </a:lnTo>
                  <a:lnTo>
                    <a:pt x="1005673" y="53899"/>
                  </a:lnTo>
                  <a:lnTo>
                    <a:pt x="961670" y="37856"/>
                  </a:lnTo>
                  <a:lnTo>
                    <a:pt x="916340" y="24500"/>
                  </a:lnTo>
                  <a:lnTo>
                    <a:pt x="869790" y="13934"/>
                  </a:lnTo>
                  <a:lnTo>
                    <a:pt x="822128" y="6261"/>
                  </a:lnTo>
                  <a:lnTo>
                    <a:pt x="773462" y="1582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8725" y="990600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0" y="685800"/>
                  </a:moveTo>
                  <a:lnTo>
                    <a:pt x="1670" y="638850"/>
                  </a:lnTo>
                  <a:lnTo>
                    <a:pt x="6608" y="592750"/>
                  </a:lnTo>
                  <a:lnTo>
                    <a:pt x="14707" y="547599"/>
                  </a:lnTo>
                  <a:lnTo>
                    <a:pt x="25858" y="503502"/>
                  </a:lnTo>
                  <a:lnTo>
                    <a:pt x="39954" y="460559"/>
                  </a:lnTo>
                  <a:lnTo>
                    <a:pt x="56888" y="418873"/>
                  </a:lnTo>
                  <a:lnTo>
                    <a:pt x="76550" y="378547"/>
                  </a:lnTo>
                  <a:lnTo>
                    <a:pt x="98834" y="339682"/>
                  </a:lnTo>
                  <a:lnTo>
                    <a:pt x="123631" y="302381"/>
                  </a:lnTo>
                  <a:lnTo>
                    <a:pt x="150834" y="266746"/>
                  </a:lnTo>
                  <a:lnTo>
                    <a:pt x="180335" y="232879"/>
                  </a:lnTo>
                  <a:lnTo>
                    <a:pt x="212026" y="200882"/>
                  </a:lnTo>
                  <a:lnTo>
                    <a:pt x="245799" y="170857"/>
                  </a:lnTo>
                  <a:lnTo>
                    <a:pt x="281547" y="142908"/>
                  </a:lnTo>
                  <a:lnTo>
                    <a:pt x="319161" y="117135"/>
                  </a:lnTo>
                  <a:lnTo>
                    <a:pt x="358535" y="93641"/>
                  </a:lnTo>
                  <a:lnTo>
                    <a:pt x="399559" y="72528"/>
                  </a:lnTo>
                  <a:lnTo>
                    <a:pt x="442126" y="53899"/>
                  </a:lnTo>
                  <a:lnTo>
                    <a:pt x="486129" y="37856"/>
                  </a:lnTo>
                  <a:lnTo>
                    <a:pt x="531459" y="24500"/>
                  </a:lnTo>
                  <a:lnTo>
                    <a:pt x="578009" y="13934"/>
                  </a:lnTo>
                  <a:lnTo>
                    <a:pt x="625671" y="6261"/>
                  </a:lnTo>
                  <a:lnTo>
                    <a:pt x="674337" y="1582"/>
                  </a:lnTo>
                  <a:lnTo>
                    <a:pt x="723900" y="0"/>
                  </a:lnTo>
                  <a:lnTo>
                    <a:pt x="773462" y="1582"/>
                  </a:lnTo>
                  <a:lnTo>
                    <a:pt x="822128" y="6261"/>
                  </a:lnTo>
                  <a:lnTo>
                    <a:pt x="869790" y="13934"/>
                  </a:lnTo>
                  <a:lnTo>
                    <a:pt x="916340" y="24500"/>
                  </a:lnTo>
                  <a:lnTo>
                    <a:pt x="961670" y="37856"/>
                  </a:lnTo>
                  <a:lnTo>
                    <a:pt x="1005673" y="53899"/>
                  </a:lnTo>
                  <a:lnTo>
                    <a:pt x="1048240" y="72528"/>
                  </a:lnTo>
                  <a:lnTo>
                    <a:pt x="1089264" y="93641"/>
                  </a:lnTo>
                  <a:lnTo>
                    <a:pt x="1128638" y="117135"/>
                  </a:lnTo>
                  <a:lnTo>
                    <a:pt x="1166252" y="142908"/>
                  </a:lnTo>
                  <a:lnTo>
                    <a:pt x="1202000" y="170857"/>
                  </a:lnTo>
                  <a:lnTo>
                    <a:pt x="1235773" y="200882"/>
                  </a:lnTo>
                  <a:lnTo>
                    <a:pt x="1267464" y="232879"/>
                  </a:lnTo>
                  <a:lnTo>
                    <a:pt x="1296965" y="266746"/>
                  </a:lnTo>
                  <a:lnTo>
                    <a:pt x="1324168" y="302381"/>
                  </a:lnTo>
                  <a:lnTo>
                    <a:pt x="1348965" y="339682"/>
                  </a:lnTo>
                  <a:lnTo>
                    <a:pt x="1371249" y="378547"/>
                  </a:lnTo>
                  <a:lnTo>
                    <a:pt x="1390911" y="418873"/>
                  </a:lnTo>
                  <a:lnTo>
                    <a:pt x="1407845" y="460559"/>
                  </a:lnTo>
                  <a:lnTo>
                    <a:pt x="1421941" y="503502"/>
                  </a:lnTo>
                  <a:lnTo>
                    <a:pt x="1433092" y="547599"/>
                  </a:lnTo>
                  <a:lnTo>
                    <a:pt x="1441191" y="592750"/>
                  </a:lnTo>
                  <a:lnTo>
                    <a:pt x="1446129" y="638850"/>
                  </a:lnTo>
                  <a:lnTo>
                    <a:pt x="1447800" y="685800"/>
                  </a:lnTo>
                  <a:lnTo>
                    <a:pt x="1446129" y="732749"/>
                  </a:lnTo>
                  <a:lnTo>
                    <a:pt x="1441191" y="778849"/>
                  </a:lnTo>
                  <a:lnTo>
                    <a:pt x="1433092" y="824000"/>
                  </a:lnTo>
                  <a:lnTo>
                    <a:pt x="1421941" y="868097"/>
                  </a:lnTo>
                  <a:lnTo>
                    <a:pt x="1407845" y="911040"/>
                  </a:lnTo>
                  <a:lnTo>
                    <a:pt x="1390911" y="952726"/>
                  </a:lnTo>
                  <a:lnTo>
                    <a:pt x="1371249" y="993052"/>
                  </a:lnTo>
                  <a:lnTo>
                    <a:pt x="1348965" y="1031917"/>
                  </a:lnTo>
                  <a:lnTo>
                    <a:pt x="1324168" y="1069218"/>
                  </a:lnTo>
                  <a:lnTo>
                    <a:pt x="1296965" y="1104853"/>
                  </a:lnTo>
                  <a:lnTo>
                    <a:pt x="1267464" y="1138720"/>
                  </a:lnTo>
                  <a:lnTo>
                    <a:pt x="1235773" y="1170717"/>
                  </a:lnTo>
                  <a:lnTo>
                    <a:pt x="1202000" y="1200742"/>
                  </a:lnTo>
                  <a:lnTo>
                    <a:pt x="1166252" y="1228691"/>
                  </a:lnTo>
                  <a:lnTo>
                    <a:pt x="1128638" y="1254464"/>
                  </a:lnTo>
                  <a:lnTo>
                    <a:pt x="1089264" y="1277958"/>
                  </a:lnTo>
                  <a:lnTo>
                    <a:pt x="1048240" y="1299071"/>
                  </a:lnTo>
                  <a:lnTo>
                    <a:pt x="1005673" y="1317700"/>
                  </a:lnTo>
                  <a:lnTo>
                    <a:pt x="961670" y="1333743"/>
                  </a:lnTo>
                  <a:lnTo>
                    <a:pt x="916340" y="1347099"/>
                  </a:lnTo>
                  <a:lnTo>
                    <a:pt x="869790" y="1357665"/>
                  </a:lnTo>
                  <a:lnTo>
                    <a:pt x="822128" y="1365338"/>
                  </a:lnTo>
                  <a:lnTo>
                    <a:pt x="773462" y="1370017"/>
                  </a:lnTo>
                  <a:lnTo>
                    <a:pt x="723900" y="1371600"/>
                  </a:lnTo>
                  <a:lnTo>
                    <a:pt x="674337" y="1370017"/>
                  </a:lnTo>
                  <a:lnTo>
                    <a:pt x="625671" y="1365338"/>
                  </a:lnTo>
                  <a:lnTo>
                    <a:pt x="578009" y="1357665"/>
                  </a:lnTo>
                  <a:lnTo>
                    <a:pt x="531459" y="1347099"/>
                  </a:lnTo>
                  <a:lnTo>
                    <a:pt x="486129" y="1333743"/>
                  </a:lnTo>
                  <a:lnTo>
                    <a:pt x="442126" y="1317700"/>
                  </a:lnTo>
                  <a:lnTo>
                    <a:pt x="399559" y="1299071"/>
                  </a:lnTo>
                  <a:lnTo>
                    <a:pt x="358535" y="1277958"/>
                  </a:lnTo>
                  <a:lnTo>
                    <a:pt x="319161" y="1254464"/>
                  </a:lnTo>
                  <a:lnTo>
                    <a:pt x="281547" y="1228691"/>
                  </a:lnTo>
                  <a:lnTo>
                    <a:pt x="245799" y="1200742"/>
                  </a:lnTo>
                  <a:lnTo>
                    <a:pt x="212026" y="1170717"/>
                  </a:lnTo>
                  <a:lnTo>
                    <a:pt x="180335" y="1138720"/>
                  </a:lnTo>
                  <a:lnTo>
                    <a:pt x="150834" y="1104853"/>
                  </a:lnTo>
                  <a:lnTo>
                    <a:pt x="123631" y="1069218"/>
                  </a:lnTo>
                  <a:lnTo>
                    <a:pt x="98834" y="1031917"/>
                  </a:lnTo>
                  <a:lnTo>
                    <a:pt x="76550" y="993052"/>
                  </a:lnTo>
                  <a:lnTo>
                    <a:pt x="56888" y="952726"/>
                  </a:lnTo>
                  <a:lnTo>
                    <a:pt x="39954" y="911040"/>
                  </a:lnTo>
                  <a:lnTo>
                    <a:pt x="25858" y="868097"/>
                  </a:lnTo>
                  <a:lnTo>
                    <a:pt x="14707" y="824000"/>
                  </a:lnTo>
                  <a:lnTo>
                    <a:pt x="6608" y="778849"/>
                  </a:lnTo>
                  <a:lnTo>
                    <a:pt x="1670" y="732749"/>
                  </a:lnTo>
                  <a:lnTo>
                    <a:pt x="0" y="6858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61869" y="1429257"/>
            <a:ext cx="97790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03835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System specification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89200" y="2733675"/>
            <a:ext cx="1466850" cy="1390650"/>
            <a:chOff x="2489200" y="2733675"/>
            <a:chExt cx="1466850" cy="1390650"/>
          </a:xfrm>
        </p:grpSpPr>
        <p:sp>
          <p:nvSpPr>
            <p:cNvPr id="11" name="object 11"/>
            <p:cNvSpPr/>
            <p:nvPr/>
          </p:nvSpPr>
          <p:spPr>
            <a:xfrm>
              <a:off x="2498725" y="2743200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723900" y="0"/>
                  </a:moveTo>
                  <a:lnTo>
                    <a:pt x="674337" y="1582"/>
                  </a:lnTo>
                  <a:lnTo>
                    <a:pt x="625671" y="6261"/>
                  </a:lnTo>
                  <a:lnTo>
                    <a:pt x="578009" y="13934"/>
                  </a:lnTo>
                  <a:lnTo>
                    <a:pt x="531459" y="24500"/>
                  </a:lnTo>
                  <a:lnTo>
                    <a:pt x="486129" y="37856"/>
                  </a:lnTo>
                  <a:lnTo>
                    <a:pt x="442126" y="53899"/>
                  </a:lnTo>
                  <a:lnTo>
                    <a:pt x="399559" y="72528"/>
                  </a:lnTo>
                  <a:lnTo>
                    <a:pt x="358535" y="93641"/>
                  </a:lnTo>
                  <a:lnTo>
                    <a:pt x="319161" y="117135"/>
                  </a:lnTo>
                  <a:lnTo>
                    <a:pt x="281547" y="142908"/>
                  </a:lnTo>
                  <a:lnTo>
                    <a:pt x="245799" y="170857"/>
                  </a:lnTo>
                  <a:lnTo>
                    <a:pt x="212026" y="200882"/>
                  </a:lnTo>
                  <a:lnTo>
                    <a:pt x="180335" y="232879"/>
                  </a:lnTo>
                  <a:lnTo>
                    <a:pt x="150834" y="266746"/>
                  </a:lnTo>
                  <a:lnTo>
                    <a:pt x="123631" y="302381"/>
                  </a:lnTo>
                  <a:lnTo>
                    <a:pt x="98834" y="339682"/>
                  </a:lnTo>
                  <a:lnTo>
                    <a:pt x="76550" y="378547"/>
                  </a:lnTo>
                  <a:lnTo>
                    <a:pt x="56888" y="418873"/>
                  </a:lnTo>
                  <a:lnTo>
                    <a:pt x="39954" y="460559"/>
                  </a:lnTo>
                  <a:lnTo>
                    <a:pt x="25858" y="503502"/>
                  </a:lnTo>
                  <a:lnTo>
                    <a:pt x="14707" y="547599"/>
                  </a:lnTo>
                  <a:lnTo>
                    <a:pt x="6608" y="592750"/>
                  </a:lnTo>
                  <a:lnTo>
                    <a:pt x="1670" y="638850"/>
                  </a:lnTo>
                  <a:lnTo>
                    <a:pt x="0" y="685800"/>
                  </a:lnTo>
                  <a:lnTo>
                    <a:pt x="1670" y="732749"/>
                  </a:lnTo>
                  <a:lnTo>
                    <a:pt x="6608" y="778849"/>
                  </a:lnTo>
                  <a:lnTo>
                    <a:pt x="14707" y="824000"/>
                  </a:lnTo>
                  <a:lnTo>
                    <a:pt x="25858" y="868097"/>
                  </a:lnTo>
                  <a:lnTo>
                    <a:pt x="39954" y="911040"/>
                  </a:lnTo>
                  <a:lnTo>
                    <a:pt x="56888" y="952726"/>
                  </a:lnTo>
                  <a:lnTo>
                    <a:pt x="76550" y="993052"/>
                  </a:lnTo>
                  <a:lnTo>
                    <a:pt x="98834" y="1031917"/>
                  </a:lnTo>
                  <a:lnTo>
                    <a:pt x="123631" y="1069218"/>
                  </a:lnTo>
                  <a:lnTo>
                    <a:pt x="150834" y="1104853"/>
                  </a:lnTo>
                  <a:lnTo>
                    <a:pt x="180335" y="1138720"/>
                  </a:lnTo>
                  <a:lnTo>
                    <a:pt x="212026" y="1170717"/>
                  </a:lnTo>
                  <a:lnTo>
                    <a:pt x="245799" y="1200742"/>
                  </a:lnTo>
                  <a:lnTo>
                    <a:pt x="281547" y="1228691"/>
                  </a:lnTo>
                  <a:lnTo>
                    <a:pt x="319161" y="1254464"/>
                  </a:lnTo>
                  <a:lnTo>
                    <a:pt x="358535" y="1277958"/>
                  </a:lnTo>
                  <a:lnTo>
                    <a:pt x="399559" y="1299071"/>
                  </a:lnTo>
                  <a:lnTo>
                    <a:pt x="442126" y="1317700"/>
                  </a:lnTo>
                  <a:lnTo>
                    <a:pt x="486129" y="1333743"/>
                  </a:lnTo>
                  <a:lnTo>
                    <a:pt x="531459" y="1347099"/>
                  </a:lnTo>
                  <a:lnTo>
                    <a:pt x="578009" y="1357665"/>
                  </a:lnTo>
                  <a:lnTo>
                    <a:pt x="625671" y="1365338"/>
                  </a:lnTo>
                  <a:lnTo>
                    <a:pt x="674337" y="1370017"/>
                  </a:lnTo>
                  <a:lnTo>
                    <a:pt x="723900" y="1371600"/>
                  </a:lnTo>
                  <a:lnTo>
                    <a:pt x="773462" y="1370017"/>
                  </a:lnTo>
                  <a:lnTo>
                    <a:pt x="822128" y="1365338"/>
                  </a:lnTo>
                  <a:lnTo>
                    <a:pt x="869790" y="1357665"/>
                  </a:lnTo>
                  <a:lnTo>
                    <a:pt x="916340" y="1347099"/>
                  </a:lnTo>
                  <a:lnTo>
                    <a:pt x="961670" y="1333743"/>
                  </a:lnTo>
                  <a:lnTo>
                    <a:pt x="1005673" y="1317700"/>
                  </a:lnTo>
                  <a:lnTo>
                    <a:pt x="1048240" y="1299071"/>
                  </a:lnTo>
                  <a:lnTo>
                    <a:pt x="1089264" y="1277958"/>
                  </a:lnTo>
                  <a:lnTo>
                    <a:pt x="1128638" y="1254464"/>
                  </a:lnTo>
                  <a:lnTo>
                    <a:pt x="1166252" y="1228691"/>
                  </a:lnTo>
                  <a:lnTo>
                    <a:pt x="1202000" y="1200742"/>
                  </a:lnTo>
                  <a:lnTo>
                    <a:pt x="1235773" y="1170717"/>
                  </a:lnTo>
                  <a:lnTo>
                    <a:pt x="1267464" y="1138720"/>
                  </a:lnTo>
                  <a:lnTo>
                    <a:pt x="1296965" y="1104853"/>
                  </a:lnTo>
                  <a:lnTo>
                    <a:pt x="1324168" y="1069218"/>
                  </a:lnTo>
                  <a:lnTo>
                    <a:pt x="1348965" y="1031917"/>
                  </a:lnTo>
                  <a:lnTo>
                    <a:pt x="1371249" y="993052"/>
                  </a:lnTo>
                  <a:lnTo>
                    <a:pt x="1390911" y="952726"/>
                  </a:lnTo>
                  <a:lnTo>
                    <a:pt x="1407845" y="911040"/>
                  </a:lnTo>
                  <a:lnTo>
                    <a:pt x="1421941" y="868097"/>
                  </a:lnTo>
                  <a:lnTo>
                    <a:pt x="1433092" y="824000"/>
                  </a:lnTo>
                  <a:lnTo>
                    <a:pt x="1441191" y="778849"/>
                  </a:lnTo>
                  <a:lnTo>
                    <a:pt x="1446129" y="732749"/>
                  </a:lnTo>
                  <a:lnTo>
                    <a:pt x="1447800" y="685800"/>
                  </a:lnTo>
                  <a:lnTo>
                    <a:pt x="1446129" y="638850"/>
                  </a:lnTo>
                  <a:lnTo>
                    <a:pt x="1441191" y="592750"/>
                  </a:lnTo>
                  <a:lnTo>
                    <a:pt x="1433092" y="547599"/>
                  </a:lnTo>
                  <a:lnTo>
                    <a:pt x="1421941" y="503502"/>
                  </a:lnTo>
                  <a:lnTo>
                    <a:pt x="1407845" y="460559"/>
                  </a:lnTo>
                  <a:lnTo>
                    <a:pt x="1390911" y="418873"/>
                  </a:lnTo>
                  <a:lnTo>
                    <a:pt x="1371249" y="378547"/>
                  </a:lnTo>
                  <a:lnTo>
                    <a:pt x="1348965" y="339682"/>
                  </a:lnTo>
                  <a:lnTo>
                    <a:pt x="1324168" y="302381"/>
                  </a:lnTo>
                  <a:lnTo>
                    <a:pt x="1296965" y="266746"/>
                  </a:lnTo>
                  <a:lnTo>
                    <a:pt x="1267464" y="232879"/>
                  </a:lnTo>
                  <a:lnTo>
                    <a:pt x="1235773" y="200882"/>
                  </a:lnTo>
                  <a:lnTo>
                    <a:pt x="1202000" y="170857"/>
                  </a:lnTo>
                  <a:lnTo>
                    <a:pt x="1166252" y="142908"/>
                  </a:lnTo>
                  <a:lnTo>
                    <a:pt x="1128638" y="117135"/>
                  </a:lnTo>
                  <a:lnTo>
                    <a:pt x="1089264" y="93641"/>
                  </a:lnTo>
                  <a:lnTo>
                    <a:pt x="1048240" y="72528"/>
                  </a:lnTo>
                  <a:lnTo>
                    <a:pt x="1005673" y="53899"/>
                  </a:lnTo>
                  <a:lnTo>
                    <a:pt x="961670" y="37856"/>
                  </a:lnTo>
                  <a:lnTo>
                    <a:pt x="916340" y="24500"/>
                  </a:lnTo>
                  <a:lnTo>
                    <a:pt x="869790" y="13934"/>
                  </a:lnTo>
                  <a:lnTo>
                    <a:pt x="822128" y="6261"/>
                  </a:lnTo>
                  <a:lnTo>
                    <a:pt x="773462" y="1582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98725" y="2743200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0" y="685800"/>
                  </a:moveTo>
                  <a:lnTo>
                    <a:pt x="1670" y="638850"/>
                  </a:lnTo>
                  <a:lnTo>
                    <a:pt x="6608" y="592750"/>
                  </a:lnTo>
                  <a:lnTo>
                    <a:pt x="14707" y="547599"/>
                  </a:lnTo>
                  <a:lnTo>
                    <a:pt x="25858" y="503502"/>
                  </a:lnTo>
                  <a:lnTo>
                    <a:pt x="39954" y="460559"/>
                  </a:lnTo>
                  <a:lnTo>
                    <a:pt x="56888" y="418873"/>
                  </a:lnTo>
                  <a:lnTo>
                    <a:pt x="76550" y="378547"/>
                  </a:lnTo>
                  <a:lnTo>
                    <a:pt x="98834" y="339682"/>
                  </a:lnTo>
                  <a:lnTo>
                    <a:pt x="123631" y="302381"/>
                  </a:lnTo>
                  <a:lnTo>
                    <a:pt x="150834" y="266746"/>
                  </a:lnTo>
                  <a:lnTo>
                    <a:pt x="180335" y="232879"/>
                  </a:lnTo>
                  <a:lnTo>
                    <a:pt x="212026" y="200882"/>
                  </a:lnTo>
                  <a:lnTo>
                    <a:pt x="245799" y="170857"/>
                  </a:lnTo>
                  <a:lnTo>
                    <a:pt x="281547" y="142908"/>
                  </a:lnTo>
                  <a:lnTo>
                    <a:pt x="319161" y="117135"/>
                  </a:lnTo>
                  <a:lnTo>
                    <a:pt x="358535" y="93641"/>
                  </a:lnTo>
                  <a:lnTo>
                    <a:pt x="399559" y="72528"/>
                  </a:lnTo>
                  <a:lnTo>
                    <a:pt x="442126" y="53899"/>
                  </a:lnTo>
                  <a:lnTo>
                    <a:pt x="486129" y="37856"/>
                  </a:lnTo>
                  <a:lnTo>
                    <a:pt x="531459" y="24500"/>
                  </a:lnTo>
                  <a:lnTo>
                    <a:pt x="578009" y="13934"/>
                  </a:lnTo>
                  <a:lnTo>
                    <a:pt x="625671" y="6261"/>
                  </a:lnTo>
                  <a:lnTo>
                    <a:pt x="674337" y="1582"/>
                  </a:lnTo>
                  <a:lnTo>
                    <a:pt x="723900" y="0"/>
                  </a:lnTo>
                  <a:lnTo>
                    <a:pt x="773462" y="1582"/>
                  </a:lnTo>
                  <a:lnTo>
                    <a:pt x="822128" y="6261"/>
                  </a:lnTo>
                  <a:lnTo>
                    <a:pt x="869790" y="13934"/>
                  </a:lnTo>
                  <a:lnTo>
                    <a:pt x="916340" y="24500"/>
                  </a:lnTo>
                  <a:lnTo>
                    <a:pt x="961670" y="37856"/>
                  </a:lnTo>
                  <a:lnTo>
                    <a:pt x="1005673" y="53899"/>
                  </a:lnTo>
                  <a:lnTo>
                    <a:pt x="1048240" y="72528"/>
                  </a:lnTo>
                  <a:lnTo>
                    <a:pt x="1089264" y="93641"/>
                  </a:lnTo>
                  <a:lnTo>
                    <a:pt x="1128638" y="117135"/>
                  </a:lnTo>
                  <a:lnTo>
                    <a:pt x="1166252" y="142908"/>
                  </a:lnTo>
                  <a:lnTo>
                    <a:pt x="1202000" y="170857"/>
                  </a:lnTo>
                  <a:lnTo>
                    <a:pt x="1235773" y="200882"/>
                  </a:lnTo>
                  <a:lnTo>
                    <a:pt x="1267464" y="232879"/>
                  </a:lnTo>
                  <a:lnTo>
                    <a:pt x="1296965" y="266746"/>
                  </a:lnTo>
                  <a:lnTo>
                    <a:pt x="1324168" y="302381"/>
                  </a:lnTo>
                  <a:lnTo>
                    <a:pt x="1348965" y="339682"/>
                  </a:lnTo>
                  <a:lnTo>
                    <a:pt x="1371249" y="378547"/>
                  </a:lnTo>
                  <a:lnTo>
                    <a:pt x="1390911" y="418873"/>
                  </a:lnTo>
                  <a:lnTo>
                    <a:pt x="1407845" y="460559"/>
                  </a:lnTo>
                  <a:lnTo>
                    <a:pt x="1421941" y="503502"/>
                  </a:lnTo>
                  <a:lnTo>
                    <a:pt x="1433092" y="547599"/>
                  </a:lnTo>
                  <a:lnTo>
                    <a:pt x="1441191" y="592750"/>
                  </a:lnTo>
                  <a:lnTo>
                    <a:pt x="1446129" y="638850"/>
                  </a:lnTo>
                  <a:lnTo>
                    <a:pt x="1447800" y="685800"/>
                  </a:lnTo>
                  <a:lnTo>
                    <a:pt x="1446129" y="732749"/>
                  </a:lnTo>
                  <a:lnTo>
                    <a:pt x="1441191" y="778849"/>
                  </a:lnTo>
                  <a:lnTo>
                    <a:pt x="1433092" y="824000"/>
                  </a:lnTo>
                  <a:lnTo>
                    <a:pt x="1421941" y="868097"/>
                  </a:lnTo>
                  <a:lnTo>
                    <a:pt x="1407845" y="911040"/>
                  </a:lnTo>
                  <a:lnTo>
                    <a:pt x="1390911" y="952726"/>
                  </a:lnTo>
                  <a:lnTo>
                    <a:pt x="1371249" y="993052"/>
                  </a:lnTo>
                  <a:lnTo>
                    <a:pt x="1348965" y="1031917"/>
                  </a:lnTo>
                  <a:lnTo>
                    <a:pt x="1324168" y="1069218"/>
                  </a:lnTo>
                  <a:lnTo>
                    <a:pt x="1296965" y="1104853"/>
                  </a:lnTo>
                  <a:lnTo>
                    <a:pt x="1267464" y="1138720"/>
                  </a:lnTo>
                  <a:lnTo>
                    <a:pt x="1235773" y="1170717"/>
                  </a:lnTo>
                  <a:lnTo>
                    <a:pt x="1202000" y="1200742"/>
                  </a:lnTo>
                  <a:lnTo>
                    <a:pt x="1166252" y="1228691"/>
                  </a:lnTo>
                  <a:lnTo>
                    <a:pt x="1128638" y="1254464"/>
                  </a:lnTo>
                  <a:lnTo>
                    <a:pt x="1089264" y="1277958"/>
                  </a:lnTo>
                  <a:lnTo>
                    <a:pt x="1048240" y="1299071"/>
                  </a:lnTo>
                  <a:lnTo>
                    <a:pt x="1005673" y="1317700"/>
                  </a:lnTo>
                  <a:lnTo>
                    <a:pt x="961670" y="1333743"/>
                  </a:lnTo>
                  <a:lnTo>
                    <a:pt x="916340" y="1347099"/>
                  </a:lnTo>
                  <a:lnTo>
                    <a:pt x="869790" y="1357665"/>
                  </a:lnTo>
                  <a:lnTo>
                    <a:pt x="822128" y="1365338"/>
                  </a:lnTo>
                  <a:lnTo>
                    <a:pt x="773462" y="1370017"/>
                  </a:lnTo>
                  <a:lnTo>
                    <a:pt x="723900" y="1371600"/>
                  </a:lnTo>
                  <a:lnTo>
                    <a:pt x="674337" y="1370017"/>
                  </a:lnTo>
                  <a:lnTo>
                    <a:pt x="625671" y="1365338"/>
                  </a:lnTo>
                  <a:lnTo>
                    <a:pt x="578009" y="1357665"/>
                  </a:lnTo>
                  <a:lnTo>
                    <a:pt x="531459" y="1347099"/>
                  </a:lnTo>
                  <a:lnTo>
                    <a:pt x="486129" y="1333743"/>
                  </a:lnTo>
                  <a:lnTo>
                    <a:pt x="442126" y="1317700"/>
                  </a:lnTo>
                  <a:lnTo>
                    <a:pt x="399559" y="1299071"/>
                  </a:lnTo>
                  <a:lnTo>
                    <a:pt x="358535" y="1277958"/>
                  </a:lnTo>
                  <a:lnTo>
                    <a:pt x="319161" y="1254464"/>
                  </a:lnTo>
                  <a:lnTo>
                    <a:pt x="281547" y="1228691"/>
                  </a:lnTo>
                  <a:lnTo>
                    <a:pt x="245799" y="1200742"/>
                  </a:lnTo>
                  <a:lnTo>
                    <a:pt x="212026" y="1170717"/>
                  </a:lnTo>
                  <a:lnTo>
                    <a:pt x="180335" y="1138720"/>
                  </a:lnTo>
                  <a:lnTo>
                    <a:pt x="150834" y="1104853"/>
                  </a:lnTo>
                  <a:lnTo>
                    <a:pt x="123631" y="1069218"/>
                  </a:lnTo>
                  <a:lnTo>
                    <a:pt x="98834" y="1031917"/>
                  </a:lnTo>
                  <a:lnTo>
                    <a:pt x="76550" y="993052"/>
                  </a:lnTo>
                  <a:lnTo>
                    <a:pt x="56888" y="952726"/>
                  </a:lnTo>
                  <a:lnTo>
                    <a:pt x="39954" y="911040"/>
                  </a:lnTo>
                  <a:lnTo>
                    <a:pt x="25858" y="868097"/>
                  </a:lnTo>
                  <a:lnTo>
                    <a:pt x="14707" y="824000"/>
                  </a:lnTo>
                  <a:lnTo>
                    <a:pt x="6608" y="778849"/>
                  </a:lnTo>
                  <a:lnTo>
                    <a:pt x="1670" y="732749"/>
                  </a:lnTo>
                  <a:lnTo>
                    <a:pt x="0" y="6858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624454" y="3182238"/>
            <a:ext cx="122301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7526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00FF"/>
                </a:solidFill>
                <a:latin typeface="Times New Roman"/>
                <a:cs typeface="Times New Roman"/>
              </a:rPr>
              <a:t>Design</a:t>
            </a:r>
            <a:r>
              <a:rPr sz="14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4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and </a:t>
            </a:r>
            <a:r>
              <a:rPr sz="1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implementation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505075" y="4489450"/>
            <a:ext cx="1466850" cy="1390650"/>
            <a:chOff x="2505075" y="4489450"/>
            <a:chExt cx="1466850" cy="1390650"/>
          </a:xfrm>
        </p:grpSpPr>
        <p:sp>
          <p:nvSpPr>
            <p:cNvPr id="15" name="object 15"/>
            <p:cNvSpPr/>
            <p:nvPr/>
          </p:nvSpPr>
          <p:spPr>
            <a:xfrm>
              <a:off x="2514600" y="4498975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723900" y="0"/>
                  </a:moveTo>
                  <a:lnTo>
                    <a:pt x="674337" y="1582"/>
                  </a:lnTo>
                  <a:lnTo>
                    <a:pt x="625671" y="6261"/>
                  </a:lnTo>
                  <a:lnTo>
                    <a:pt x="578009" y="13934"/>
                  </a:lnTo>
                  <a:lnTo>
                    <a:pt x="531459" y="24500"/>
                  </a:lnTo>
                  <a:lnTo>
                    <a:pt x="486129" y="37856"/>
                  </a:lnTo>
                  <a:lnTo>
                    <a:pt x="442126" y="53899"/>
                  </a:lnTo>
                  <a:lnTo>
                    <a:pt x="399559" y="72528"/>
                  </a:lnTo>
                  <a:lnTo>
                    <a:pt x="358535" y="93641"/>
                  </a:lnTo>
                  <a:lnTo>
                    <a:pt x="319161" y="117135"/>
                  </a:lnTo>
                  <a:lnTo>
                    <a:pt x="281547" y="142908"/>
                  </a:lnTo>
                  <a:lnTo>
                    <a:pt x="245799" y="170857"/>
                  </a:lnTo>
                  <a:lnTo>
                    <a:pt x="212026" y="200882"/>
                  </a:lnTo>
                  <a:lnTo>
                    <a:pt x="180335" y="232879"/>
                  </a:lnTo>
                  <a:lnTo>
                    <a:pt x="150834" y="266746"/>
                  </a:lnTo>
                  <a:lnTo>
                    <a:pt x="123631" y="302381"/>
                  </a:lnTo>
                  <a:lnTo>
                    <a:pt x="98834" y="339682"/>
                  </a:lnTo>
                  <a:lnTo>
                    <a:pt x="76550" y="378547"/>
                  </a:lnTo>
                  <a:lnTo>
                    <a:pt x="56888" y="418873"/>
                  </a:lnTo>
                  <a:lnTo>
                    <a:pt x="39954" y="460559"/>
                  </a:lnTo>
                  <a:lnTo>
                    <a:pt x="25858" y="503502"/>
                  </a:lnTo>
                  <a:lnTo>
                    <a:pt x="14707" y="547599"/>
                  </a:lnTo>
                  <a:lnTo>
                    <a:pt x="6608" y="592750"/>
                  </a:lnTo>
                  <a:lnTo>
                    <a:pt x="1670" y="638850"/>
                  </a:lnTo>
                  <a:lnTo>
                    <a:pt x="0" y="685800"/>
                  </a:lnTo>
                  <a:lnTo>
                    <a:pt x="1670" y="732749"/>
                  </a:lnTo>
                  <a:lnTo>
                    <a:pt x="6608" y="778849"/>
                  </a:lnTo>
                  <a:lnTo>
                    <a:pt x="14707" y="824000"/>
                  </a:lnTo>
                  <a:lnTo>
                    <a:pt x="25858" y="868097"/>
                  </a:lnTo>
                  <a:lnTo>
                    <a:pt x="39954" y="911040"/>
                  </a:lnTo>
                  <a:lnTo>
                    <a:pt x="56888" y="952726"/>
                  </a:lnTo>
                  <a:lnTo>
                    <a:pt x="76550" y="993052"/>
                  </a:lnTo>
                  <a:lnTo>
                    <a:pt x="98834" y="1031917"/>
                  </a:lnTo>
                  <a:lnTo>
                    <a:pt x="123631" y="1069218"/>
                  </a:lnTo>
                  <a:lnTo>
                    <a:pt x="150834" y="1104853"/>
                  </a:lnTo>
                  <a:lnTo>
                    <a:pt x="180335" y="1138720"/>
                  </a:lnTo>
                  <a:lnTo>
                    <a:pt x="212026" y="1170717"/>
                  </a:lnTo>
                  <a:lnTo>
                    <a:pt x="245799" y="1200742"/>
                  </a:lnTo>
                  <a:lnTo>
                    <a:pt x="281547" y="1228691"/>
                  </a:lnTo>
                  <a:lnTo>
                    <a:pt x="319161" y="1254464"/>
                  </a:lnTo>
                  <a:lnTo>
                    <a:pt x="358535" y="1277958"/>
                  </a:lnTo>
                  <a:lnTo>
                    <a:pt x="399559" y="1299071"/>
                  </a:lnTo>
                  <a:lnTo>
                    <a:pt x="442126" y="1317700"/>
                  </a:lnTo>
                  <a:lnTo>
                    <a:pt x="486129" y="1333743"/>
                  </a:lnTo>
                  <a:lnTo>
                    <a:pt x="531459" y="1347099"/>
                  </a:lnTo>
                  <a:lnTo>
                    <a:pt x="578009" y="1357665"/>
                  </a:lnTo>
                  <a:lnTo>
                    <a:pt x="625671" y="1365338"/>
                  </a:lnTo>
                  <a:lnTo>
                    <a:pt x="674337" y="1370017"/>
                  </a:lnTo>
                  <a:lnTo>
                    <a:pt x="723900" y="1371600"/>
                  </a:lnTo>
                  <a:lnTo>
                    <a:pt x="773462" y="1370017"/>
                  </a:lnTo>
                  <a:lnTo>
                    <a:pt x="822128" y="1365338"/>
                  </a:lnTo>
                  <a:lnTo>
                    <a:pt x="869790" y="1357665"/>
                  </a:lnTo>
                  <a:lnTo>
                    <a:pt x="916340" y="1347099"/>
                  </a:lnTo>
                  <a:lnTo>
                    <a:pt x="961670" y="1333743"/>
                  </a:lnTo>
                  <a:lnTo>
                    <a:pt x="1005673" y="1317700"/>
                  </a:lnTo>
                  <a:lnTo>
                    <a:pt x="1048240" y="1299071"/>
                  </a:lnTo>
                  <a:lnTo>
                    <a:pt x="1089264" y="1277958"/>
                  </a:lnTo>
                  <a:lnTo>
                    <a:pt x="1128638" y="1254464"/>
                  </a:lnTo>
                  <a:lnTo>
                    <a:pt x="1166252" y="1228691"/>
                  </a:lnTo>
                  <a:lnTo>
                    <a:pt x="1202000" y="1200742"/>
                  </a:lnTo>
                  <a:lnTo>
                    <a:pt x="1235773" y="1170717"/>
                  </a:lnTo>
                  <a:lnTo>
                    <a:pt x="1267464" y="1138720"/>
                  </a:lnTo>
                  <a:lnTo>
                    <a:pt x="1296965" y="1104853"/>
                  </a:lnTo>
                  <a:lnTo>
                    <a:pt x="1324168" y="1069218"/>
                  </a:lnTo>
                  <a:lnTo>
                    <a:pt x="1348965" y="1031917"/>
                  </a:lnTo>
                  <a:lnTo>
                    <a:pt x="1371249" y="993052"/>
                  </a:lnTo>
                  <a:lnTo>
                    <a:pt x="1390911" y="952726"/>
                  </a:lnTo>
                  <a:lnTo>
                    <a:pt x="1407845" y="911040"/>
                  </a:lnTo>
                  <a:lnTo>
                    <a:pt x="1421941" y="868097"/>
                  </a:lnTo>
                  <a:lnTo>
                    <a:pt x="1433092" y="824000"/>
                  </a:lnTo>
                  <a:lnTo>
                    <a:pt x="1441191" y="778849"/>
                  </a:lnTo>
                  <a:lnTo>
                    <a:pt x="1446129" y="732749"/>
                  </a:lnTo>
                  <a:lnTo>
                    <a:pt x="1447800" y="685800"/>
                  </a:lnTo>
                  <a:lnTo>
                    <a:pt x="1446129" y="638850"/>
                  </a:lnTo>
                  <a:lnTo>
                    <a:pt x="1441191" y="592750"/>
                  </a:lnTo>
                  <a:lnTo>
                    <a:pt x="1433092" y="547599"/>
                  </a:lnTo>
                  <a:lnTo>
                    <a:pt x="1421941" y="503502"/>
                  </a:lnTo>
                  <a:lnTo>
                    <a:pt x="1407845" y="460559"/>
                  </a:lnTo>
                  <a:lnTo>
                    <a:pt x="1390911" y="418873"/>
                  </a:lnTo>
                  <a:lnTo>
                    <a:pt x="1371249" y="378547"/>
                  </a:lnTo>
                  <a:lnTo>
                    <a:pt x="1348965" y="339682"/>
                  </a:lnTo>
                  <a:lnTo>
                    <a:pt x="1324168" y="302381"/>
                  </a:lnTo>
                  <a:lnTo>
                    <a:pt x="1296965" y="266746"/>
                  </a:lnTo>
                  <a:lnTo>
                    <a:pt x="1267464" y="232879"/>
                  </a:lnTo>
                  <a:lnTo>
                    <a:pt x="1235773" y="200882"/>
                  </a:lnTo>
                  <a:lnTo>
                    <a:pt x="1202000" y="170857"/>
                  </a:lnTo>
                  <a:lnTo>
                    <a:pt x="1166252" y="142908"/>
                  </a:lnTo>
                  <a:lnTo>
                    <a:pt x="1128638" y="117135"/>
                  </a:lnTo>
                  <a:lnTo>
                    <a:pt x="1089264" y="93641"/>
                  </a:lnTo>
                  <a:lnTo>
                    <a:pt x="1048240" y="72528"/>
                  </a:lnTo>
                  <a:lnTo>
                    <a:pt x="1005673" y="53899"/>
                  </a:lnTo>
                  <a:lnTo>
                    <a:pt x="961670" y="37856"/>
                  </a:lnTo>
                  <a:lnTo>
                    <a:pt x="916340" y="24500"/>
                  </a:lnTo>
                  <a:lnTo>
                    <a:pt x="869790" y="13934"/>
                  </a:lnTo>
                  <a:lnTo>
                    <a:pt x="822128" y="6261"/>
                  </a:lnTo>
                  <a:lnTo>
                    <a:pt x="773462" y="1582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14600" y="4498975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0" y="685800"/>
                  </a:moveTo>
                  <a:lnTo>
                    <a:pt x="1670" y="638850"/>
                  </a:lnTo>
                  <a:lnTo>
                    <a:pt x="6608" y="592750"/>
                  </a:lnTo>
                  <a:lnTo>
                    <a:pt x="14707" y="547599"/>
                  </a:lnTo>
                  <a:lnTo>
                    <a:pt x="25858" y="503502"/>
                  </a:lnTo>
                  <a:lnTo>
                    <a:pt x="39954" y="460559"/>
                  </a:lnTo>
                  <a:lnTo>
                    <a:pt x="56888" y="418873"/>
                  </a:lnTo>
                  <a:lnTo>
                    <a:pt x="76550" y="378547"/>
                  </a:lnTo>
                  <a:lnTo>
                    <a:pt x="98834" y="339682"/>
                  </a:lnTo>
                  <a:lnTo>
                    <a:pt x="123631" y="302381"/>
                  </a:lnTo>
                  <a:lnTo>
                    <a:pt x="150834" y="266746"/>
                  </a:lnTo>
                  <a:lnTo>
                    <a:pt x="180335" y="232879"/>
                  </a:lnTo>
                  <a:lnTo>
                    <a:pt x="212026" y="200882"/>
                  </a:lnTo>
                  <a:lnTo>
                    <a:pt x="245799" y="170857"/>
                  </a:lnTo>
                  <a:lnTo>
                    <a:pt x="281547" y="142908"/>
                  </a:lnTo>
                  <a:lnTo>
                    <a:pt x="319161" y="117135"/>
                  </a:lnTo>
                  <a:lnTo>
                    <a:pt x="358535" y="93641"/>
                  </a:lnTo>
                  <a:lnTo>
                    <a:pt x="399559" y="72528"/>
                  </a:lnTo>
                  <a:lnTo>
                    <a:pt x="442126" y="53899"/>
                  </a:lnTo>
                  <a:lnTo>
                    <a:pt x="486129" y="37856"/>
                  </a:lnTo>
                  <a:lnTo>
                    <a:pt x="531459" y="24500"/>
                  </a:lnTo>
                  <a:lnTo>
                    <a:pt x="578009" y="13934"/>
                  </a:lnTo>
                  <a:lnTo>
                    <a:pt x="625671" y="6261"/>
                  </a:lnTo>
                  <a:lnTo>
                    <a:pt x="674337" y="1582"/>
                  </a:lnTo>
                  <a:lnTo>
                    <a:pt x="723900" y="0"/>
                  </a:lnTo>
                  <a:lnTo>
                    <a:pt x="773462" y="1582"/>
                  </a:lnTo>
                  <a:lnTo>
                    <a:pt x="822128" y="6261"/>
                  </a:lnTo>
                  <a:lnTo>
                    <a:pt x="869790" y="13934"/>
                  </a:lnTo>
                  <a:lnTo>
                    <a:pt x="916340" y="24500"/>
                  </a:lnTo>
                  <a:lnTo>
                    <a:pt x="961670" y="37856"/>
                  </a:lnTo>
                  <a:lnTo>
                    <a:pt x="1005673" y="53899"/>
                  </a:lnTo>
                  <a:lnTo>
                    <a:pt x="1048240" y="72528"/>
                  </a:lnTo>
                  <a:lnTo>
                    <a:pt x="1089264" y="93641"/>
                  </a:lnTo>
                  <a:lnTo>
                    <a:pt x="1128638" y="117135"/>
                  </a:lnTo>
                  <a:lnTo>
                    <a:pt x="1166252" y="142908"/>
                  </a:lnTo>
                  <a:lnTo>
                    <a:pt x="1202000" y="170857"/>
                  </a:lnTo>
                  <a:lnTo>
                    <a:pt x="1235773" y="200882"/>
                  </a:lnTo>
                  <a:lnTo>
                    <a:pt x="1267464" y="232879"/>
                  </a:lnTo>
                  <a:lnTo>
                    <a:pt x="1296965" y="266746"/>
                  </a:lnTo>
                  <a:lnTo>
                    <a:pt x="1324168" y="302381"/>
                  </a:lnTo>
                  <a:lnTo>
                    <a:pt x="1348965" y="339682"/>
                  </a:lnTo>
                  <a:lnTo>
                    <a:pt x="1371249" y="378547"/>
                  </a:lnTo>
                  <a:lnTo>
                    <a:pt x="1390911" y="418873"/>
                  </a:lnTo>
                  <a:lnTo>
                    <a:pt x="1407845" y="460559"/>
                  </a:lnTo>
                  <a:lnTo>
                    <a:pt x="1421941" y="503502"/>
                  </a:lnTo>
                  <a:lnTo>
                    <a:pt x="1433092" y="547599"/>
                  </a:lnTo>
                  <a:lnTo>
                    <a:pt x="1441191" y="592750"/>
                  </a:lnTo>
                  <a:lnTo>
                    <a:pt x="1446129" y="638850"/>
                  </a:lnTo>
                  <a:lnTo>
                    <a:pt x="1447800" y="685800"/>
                  </a:lnTo>
                  <a:lnTo>
                    <a:pt x="1446129" y="732749"/>
                  </a:lnTo>
                  <a:lnTo>
                    <a:pt x="1441191" y="778849"/>
                  </a:lnTo>
                  <a:lnTo>
                    <a:pt x="1433092" y="824000"/>
                  </a:lnTo>
                  <a:lnTo>
                    <a:pt x="1421941" y="868097"/>
                  </a:lnTo>
                  <a:lnTo>
                    <a:pt x="1407845" y="911040"/>
                  </a:lnTo>
                  <a:lnTo>
                    <a:pt x="1390911" y="952726"/>
                  </a:lnTo>
                  <a:lnTo>
                    <a:pt x="1371249" y="993052"/>
                  </a:lnTo>
                  <a:lnTo>
                    <a:pt x="1348965" y="1031917"/>
                  </a:lnTo>
                  <a:lnTo>
                    <a:pt x="1324168" y="1069218"/>
                  </a:lnTo>
                  <a:lnTo>
                    <a:pt x="1296965" y="1104853"/>
                  </a:lnTo>
                  <a:lnTo>
                    <a:pt x="1267464" y="1138720"/>
                  </a:lnTo>
                  <a:lnTo>
                    <a:pt x="1235773" y="1170717"/>
                  </a:lnTo>
                  <a:lnTo>
                    <a:pt x="1202000" y="1200742"/>
                  </a:lnTo>
                  <a:lnTo>
                    <a:pt x="1166252" y="1228691"/>
                  </a:lnTo>
                  <a:lnTo>
                    <a:pt x="1128638" y="1254464"/>
                  </a:lnTo>
                  <a:lnTo>
                    <a:pt x="1089264" y="1277958"/>
                  </a:lnTo>
                  <a:lnTo>
                    <a:pt x="1048240" y="1299071"/>
                  </a:lnTo>
                  <a:lnTo>
                    <a:pt x="1005673" y="1317700"/>
                  </a:lnTo>
                  <a:lnTo>
                    <a:pt x="961670" y="1333743"/>
                  </a:lnTo>
                  <a:lnTo>
                    <a:pt x="916340" y="1347099"/>
                  </a:lnTo>
                  <a:lnTo>
                    <a:pt x="869790" y="1357665"/>
                  </a:lnTo>
                  <a:lnTo>
                    <a:pt x="822128" y="1365338"/>
                  </a:lnTo>
                  <a:lnTo>
                    <a:pt x="773462" y="1370017"/>
                  </a:lnTo>
                  <a:lnTo>
                    <a:pt x="723900" y="1371600"/>
                  </a:lnTo>
                  <a:lnTo>
                    <a:pt x="674337" y="1370017"/>
                  </a:lnTo>
                  <a:lnTo>
                    <a:pt x="625671" y="1365338"/>
                  </a:lnTo>
                  <a:lnTo>
                    <a:pt x="578009" y="1357665"/>
                  </a:lnTo>
                  <a:lnTo>
                    <a:pt x="531459" y="1347099"/>
                  </a:lnTo>
                  <a:lnTo>
                    <a:pt x="486129" y="1333743"/>
                  </a:lnTo>
                  <a:lnTo>
                    <a:pt x="442126" y="1317700"/>
                  </a:lnTo>
                  <a:lnTo>
                    <a:pt x="399559" y="1299071"/>
                  </a:lnTo>
                  <a:lnTo>
                    <a:pt x="358535" y="1277958"/>
                  </a:lnTo>
                  <a:lnTo>
                    <a:pt x="319161" y="1254464"/>
                  </a:lnTo>
                  <a:lnTo>
                    <a:pt x="281547" y="1228691"/>
                  </a:lnTo>
                  <a:lnTo>
                    <a:pt x="245799" y="1200742"/>
                  </a:lnTo>
                  <a:lnTo>
                    <a:pt x="212026" y="1170717"/>
                  </a:lnTo>
                  <a:lnTo>
                    <a:pt x="180335" y="1138720"/>
                  </a:lnTo>
                  <a:lnTo>
                    <a:pt x="150834" y="1104853"/>
                  </a:lnTo>
                  <a:lnTo>
                    <a:pt x="123631" y="1069218"/>
                  </a:lnTo>
                  <a:lnTo>
                    <a:pt x="98834" y="1031917"/>
                  </a:lnTo>
                  <a:lnTo>
                    <a:pt x="76550" y="993052"/>
                  </a:lnTo>
                  <a:lnTo>
                    <a:pt x="56888" y="952726"/>
                  </a:lnTo>
                  <a:lnTo>
                    <a:pt x="39954" y="911040"/>
                  </a:lnTo>
                  <a:lnTo>
                    <a:pt x="25858" y="868097"/>
                  </a:lnTo>
                  <a:lnTo>
                    <a:pt x="14707" y="824000"/>
                  </a:lnTo>
                  <a:lnTo>
                    <a:pt x="6608" y="778849"/>
                  </a:lnTo>
                  <a:lnTo>
                    <a:pt x="1670" y="732749"/>
                  </a:lnTo>
                  <a:lnTo>
                    <a:pt x="0" y="6858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774950" y="5052822"/>
            <a:ext cx="9213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00FF"/>
                </a:solidFill>
                <a:latin typeface="Times New Roman"/>
                <a:cs typeface="Times New Roman"/>
              </a:rPr>
              <a:t>New</a:t>
            </a:r>
            <a:r>
              <a:rPr sz="1400" b="1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system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136900" y="981075"/>
            <a:ext cx="3486150" cy="3514725"/>
            <a:chOff x="3136900" y="981075"/>
            <a:chExt cx="3486150" cy="3514725"/>
          </a:xfrm>
        </p:grpSpPr>
        <p:sp>
          <p:nvSpPr>
            <p:cNvPr id="19" name="object 19"/>
            <p:cNvSpPr/>
            <p:nvPr/>
          </p:nvSpPr>
          <p:spPr>
            <a:xfrm>
              <a:off x="3136900" y="2362199"/>
              <a:ext cx="127000" cy="2133600"/>
            </a:xfrm>
            <a:custGeom>
              <a:avLst/>
              <a:gdLst/>
              <a:ahLst/>
              <a:cxnLst/>
              <a:rect l="l" t="t" r="r" b="b"/>
              <a:pathLst>
                <a:path w="127000" h="2133600">
                  <a:moveTo>
                    <a:pt x="127000" y="2006600"/>
                  </a:moveTo>
                  <a:lnTo>
                    <a:pt x="73025" y="2049780"/>
                  </a:lnTo>
                  <a:lnTo>
                    <a:pt x="73025" y="1752600"/>
                  </a:lnTo>
                  <a:lnTo>
                    <a:pt x="53975" y="1752600"/>
                  </a:lnTo>
                  <a:lnTo>
                    <a:pt x="53975" y="2049780"/>
                  </a:lnTo>
                  <a:lnTo>
                    <a:pt x="0" y="2006600"/>
                  </a:lnTo>
                  <a:lnTo>
                    <a:pt x="63500" y="2133600"/>
                  </a:lnTo>
                  <a:lnTo>
                    <a:pt x="101600" y="2057400"/>
                  </a:lnTo>
                  <a:lnTo>
                    <a:pt x="127000" y="2006600"/>
                  </a:lnTo>
                  <a:close/>
                </a:path>
                <a:path w="127000" h="2133600">
                  <a:moveTo>
                    <a:pt x="127000" y="254000"/>
                  </a:moveTo>
                  <a:lnTo>
                    <a:pt x="73025" y="297180"/>
                  </a:lnTo>
                  <a:lnTo>
                    <a:pt x="73025" y="0"/>
                  </a:lnTo>
                  <a:lnTo>
                    <a:pt x="53975" y="0"/>
                  </a:lnTo>
                  <a:lnTo>
                    <a:pt x="53975" y="297180"/>
                  </a:lnTo>
                  <a:lnTo>
                    <a:pt x="0" y="254000"/>
                  </a:lnTo>
                  <a:lnTo>
                    <a:pt x="63500" y="381000"/>
                  </a:lnTo>
                  <a:lnTo>
                    <a:pt x="101600" y="304800"/>
                  </a:lnTo>
                  <a:lnTo>
                    <a:pt x="127000" y="254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65725" y="990600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723900" y="0"/>
                  </a:moveTo>
                  <a:lnTo>
                    <a:pt x="674337" y="1582"/>
                  </a:lnTo>
                  <a:lnTo>
                    <a:pt x="625671" y="6261"/>
                  </a:lnTo>
                  <a:lnTo>
                    <a:pt x="578009" y="13934"/>
                  </a:lnTo>
                  <a:lnTo>
                    <a:pt x="531459" y="24500"/>
                  </a:lnTo>
                  <a:lnTo>
                    <a:pt x="486129" y="37856"/>
                  </a:lnTo>
                  <a:lnTo>
                    <a:pt x="442126" y="53899"/>
                  </a:lnTo>
                  <a:lnTo>
                    <a:pt x="399559" y="72528"/>
                  </a:lnTo>
                  <a:lnTo>
                    <a:pt x="358535" y="93641"/>
                  </a:lnTo>
                  <a:lnTo>
                    <a:pt x="319161" y="117135"/>
                  </a:lnTo>
                  <a:lnTo>
                    <a:pt x="281547" y="142908"/>
                  </a:lnTo>
                  <a:lnTo>
                    <a:pt x="245799" y="170857"/>
                  </a:lnTo>
                  <a:lnTo>
                    <a:pt x="212026" y="200882"/>
                  </a:lnTo>
                  <a:lnTo>
                    <a:pt x="180335" y="232879"/>
                  </a:lnTo>
                  <a:lnTo>
                    <a:pt x="150834" y="266746"/>
                  </a:lnTo>
                  <a:lnTo>
                    <a:pt x="123631" y="302381"/>
                  </a:lnTo>
                  <a:lnTo>
                    <a:pt x="98834" y="339682"/>
                  </a:lnTo>
                  <a:lnTo>
                    <a:pt x="76550" y="378547"/>
                  </a:lnTo>
                  <a:lnTo>
                    <a:pt x="56888" y="418873"/>
                  </a:lnTo>
                  <a:lnTo>
                    <a:pt x="39954" y="460559"/>
                  </a:lnTo>
                  <a:lnTo>
                    <a:pt x="25858" y="503502"/>
                  </a:lnTo>
                  <a:lnTo>
                    <a:pt x="14707" y="547599"/>
                  </a:lnTo>
                  <a:lnTo>
                    <a:pt x="6608" y="592750"/>
                  </a:lnTo>
                  <a:lnTo>
                    <a:pt x="1670" y="638850"/>
                  </a:lnTo>
                  <a:lnTo>
                    <a:pt x="0" y="685800"/>
                  </a:lnTo>
                  <a:lnTo>
                    <a:pt x="1670" y="732749"/>
                  </a:lnTo>
                  <a:lnTo>
                    <a:pt x="6608" y="778849"/>
                  </a:lnTo>
                  <a:lnTo>
                    <a:pt x="14707" y="824000"/>
                  </a:lnTo>
                  <a:lnTo>
                    <a:pt x="25858" y="868097"/>
                  </a:lnTo>
                  <a:lnTo>
                    <a:pt x="39954" y="911040"/>
                  </a:lnTo>
                  <a:lnTo>
                    <a:pt x="56888" y="952726"/>
                  </a:lnTo>
                  <a:lnTo>
                    <a:pt x="76550" y="993052"/>
                  </a:lnTo>
                  <a:lnTo>
                    <a:pt x="98834" y="1031917"/>
                  </a:lnTo>
                  <a:lnTo>
                    <a:pt x="123631" y="1069218"/>
                  </a:lnTo>
                  <a:lnTo>
                    <a:pt x="150834" y="1104853"/>
                  </a:lnTo>
                  <a:lnTo>
                    <a:pt x="180335" y="1138720"/>
                  </a:lnTo>
                  <a:lnTo>
                    <a:pt x="212026" y="1170717"/>
                  </a:lnTo>
                  <a:lnTo>
                    <a:pt x="245799" y="1200742"/>
                  </a:lnTo>
                  <a:lnTo>
                    <a:pt x="281547" y="1228691"/>
                  </a:lnTo>
                  <a:lnTo>
                    <a:pt x="319161" y="1254464"/>
                  </a:lnTo>
                  <a:lnTo>
                    <a:pt x="358535" y="1277958"/>
                  </a:lnTo>
                  <a:lnTo>
                    <a:pt x="399559" y="1299071"/>
                  </a:lnTo>
                  <a:lnTo>
                    <a:pt x="442126" y="1317700"/>
                  </a:lnTo>
                  <a:lnTo>
                    <a:pt x="486129" y="1333743"/>
                  </a:lnTo>
                  <a:lnTo>
                    <a:pt x="531459" y="1347099"/>
                  </a:lnTo>
                  <a:lnTo>
                    <a:pt x="578009" y="1357665"/>
                  </a:lnTo>
                  <a:lnTo>
                    <a:pt x="625671" y="1365338"/>
                  </a:lnTo>
                  <a:lnTo>
                    <a:pt x="674337" y="1370017"/>
                  </a:lnTo>
                  <a:lnTo>
                    <a:pt x="723900" y="1371600"/>
                  </a:lnTo>
                  <a:lnTo>
                    <a:pt x="773462" y="1370017"/>
                  </a:lnTo>
                  <a:lnTo>
                    <a:pt x="822128" y="1365338"/>
                  </a:lnTo>
                  <a:lnTo>
                    <a:pt x="869790" y="1357665"/>
                  </a:lnTo>
                  <a:lnTo>
                    <a:pt x="916340" y="1347099"/>
                  </a:lnTo>
                  <a:lnTo>
                    <a:pt x="961670" y="1333743"/>
                  </a:lnTo>
                  <a:lnTo>
                    <a:pt x="1005673" y="1317700"/>
                  </a:lnTo>
                  <a:lnTo>
                    <a:pt x="1048240" y="1299071"/>
                  </a:lnTo>
                  <a:lnTo>
                    <a:pt x="1089264" y="1277958"/>
                  </a:lnTo>
                  <a:lnTo>
                    <a:pt x="1128638" y="1254464"/>
                  </a:lnTo>
                  <a:lnTo>
                    <a:pt x="1166252" y="1228691"/>
                  </a:lnTo>
                  <a:lnTo>
                    <a:pt x="1202000" y="1200742"/>
                  </a:lnTo>
                  <a:lnTo>
                    <a:pt x="1235773" y="1170717"/>
                  </a:lnTo>
                  <a:lnTo>
                    <a:pt x="1267464" y="1138720"/>
                  </a:lnTo>
                  <a:lnTo>
                    <a:pt x="1296965" y="1104853"/>
                  </a:lnTo>
                  <a:lnTo>
                    <a:pt x="1324168" y="1069218"/>
                  </a:lnTo>
                  <a:lnTo>
                    <a:pt x="1348965" y="1031917"/>
                  </a:lnTo>
                  <a:lnTo>
                    <a:pt x="1371249" y="993052"/>
                  </a:lnTo>
                  <a:lnTo>
                    <a:pt x="1390911" y="952726"/>
                  </a:lnTo>
                  <a:lnTo>
                    <a:pt x="1407845" y="911040"/>
                  </a:lnTo>
                  <a:lnTo>
                    <a:pt x="1421941" y="868097"/>
                  </a:lnTo>
                  <a:lnTo>
                    <a:pt x="1433092" y="824000"/>
                  </a:lnTo>
                  <a:lnTo>
                    <a:pt x="1441191" y="778849"/>
                  </a:lnTo>
                  <a:lnTo>
                    <a:pt x="1446129" y="732749"/>
                  </a:lnTo>
                  <a:lnTo>
                    <a:pt x="1447800" y="685800"/>
                  </a:lnTo>
                  <a:lnTo>
                    <a:pt x="1446129" y="638850"/>
                  </a:lnTo>
                  <a:lnTo>
                    <a:pt x="1441191" y="592750"/>
                  </a:lnTo>
                  <a:lnTo>
                    <a:pt x="1433092" y="547599"/>
                  </a:lnTo>
                  <a:lnTo>
                    <a:pt x="1421941" y="503502"/>
                  </a:lnTo>
                  <a:lnTo>
                    <a:pt x="1407845" y="460559"/>
                  </a:lnTo>
                  <a:lnTo>
                    <a:pt x="1390911" y="418873"/>
                  </a:lnTo>
                  <a:lnTo>
                    <a:pt x="1371249" y="378547"/>
                  </a:lnTo>
                  <a:lnTo>
                    <a:pt x="1348965" y="339682"/>
                  </a:lnTo>
                  <a:lnTo>
                    <a:pt x="1324168" y="302381"/>
                  </a:lnTo>
                  <a:lnTo>
                    <a:pt x="1296965" y="266746"/>
                  </a:lnTo>
                  <a:lnTo>
                    <a:pt x="1267464" y="232879"/>
                  </a:lnTo>
                  <a:lnTo>
                    <a:pt x="1235773" y="200882"/>
                  </a:lnTo>
                  <a:lnTo>
                    <a:pt x="1202000" y="170857"/>
                  </a:lnTo>
                  <a:lnTo>
                    <a:pt x="1166252" y="142908"/>
                  </a:lnTo>
                  <a:lnTo>
                    <a:pt x="1128638" y="117135"/>
                  </a:lnTo>
                  <a:lnTo>
                    <a:pt x="1089264" y="93641"/>
                  </a:lnTo>
                  <a:lnTo>
                    <a:pt x="1048240" y="72528"/>
                  </a:lnTo>
                  <a:lnTo>
                    <a:pt x="1005673" y="53899"/>
                  </a:lnTo>
                  <a:lnTo>
                    <a:pt x="961670" y="37856"/>
                  </a:lnTo>
                  <a:lnTo>
                    <a:pt x="916340" y="24500"/>
                  </a:lnTo>
                  <a:lnTo>
                    <a:pt x="869790" y="13934"/>
                  </a:lnTo>
                  <a:lnTo>
                    <a:pt x="822128" y="6261"/>
                  </a:lnTo>
                  <a:lnTo>
                    <a:pt x="773462" y="1582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65725" y="990600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0" y="685800"/>
                  </a:moveTo>
                  <a:lnTo>
                    <a:pt x="1670" y="638850"/>
                  </a:lnTo>
                  <a:lnTo>
                    <a:pt x="6608" y="592750"/>
                  </a:lnTo>
                  <a:lnTo>
                    <a:pt x="14707" y="547599"/>
                  </a:lnTo>
                  <a:lnTo>
                    <a:pt x="25858" y="503502"/>
                  </a:lnTo>
                  <a:lnTo>
                    <a:pt x="39954" y="460559"/>
                  </a:lnTo>
                  <a:lnTo>
                    <a:pt x="56888" y="418873"/>
                  </a:lnTo>
                  <a:lnTo>
                    <a:pt x="76550" y="378547"/>
                  </a:lnTo>
                  <a:lnTo>
                    <a:pt x="98834" y="339682"/>
                  </a:lnTo>
                  <a:lnTo>
                    <a:pt x="123631" y="302381"/>
                  </a:lnTo>
                  <a:lnTo>
                    <a:pt x="150834" y="266746"/>
                  </a:lnTo>
                  <a:lnTo>
                    <a:pt x="180335" y="232879"/>
                  </a:lnTo>
                  <a:lnTo>
                    <a:pt x="212026" y="200882"/>
                  </a:lnTo>
                  <a:lnTo>
                    <a:pt x="245799" y="170857"/>
                  </a:lnTo>
                  <a:lnTo>
                    <a:pt x="281547" y="142908"/>
                  </a:lnTo>
                  <a:lnTo>
                    <a:pt x="319161" y="117135"/>
                  </a:lnTo>
                  <a:lnTo>
                    <a:pt x="358535" y="93641"/>
                  </a:lnTo>
                  <a:lnTo>
                    <a:pt x="399559" y="72528"/>
                  </a:lnTo>
                  <a:lnTo>
                    <a:pt x="442126" y="53899"/>
                  </a:lnTo>
                  <a:lnTo>
                    <a:pt x="486129" y="37856"/>
                  </a:lnTo>
                  <a:lnTo>
                    <a:pt x="531459" y="24500"/>
                  </a:lnTo>
                  <a:lnTo>
                    <a:pt x="578009" y="13934"/>
                  </a:lnTo>
                  <a:lnTo>
                    <a:pt x="625671" y="6261"/>
                  </a:lnTo>
                  <a:lnTo>
                    <a:pt x="674337" y="1582"/>
                  </a:lnTo>
                  <a:lnTo>
                    <a:pt x="723900" y="0"/>
                  </a:lnTo>
                  <a:lnTo>
                    <a:pt x="773462" y="1582"/>
                  </a:lnTo>
                  <a:lnTo>
                    <a:pt x="822128" y="6261"/>
                  </a:lnTo>
                  <a:lnTo>
                    <a:pt x="869790" y="13934"/>
                  </a:lnTo>
                  <a:lnTo>
                    <a:pt x="916340" y="24500"/>
                  </a:lnTo>
                  <a:lnTo>
                    <a:pt x="961670" y="37856"/>
                  </a:lnTo>
                  <a:lnTo>
                    <a:pt x="1005673" y="53899"/>
                  </a:lnTo>
                  <a:lnTo>
                    <a:pt x="1048240" y="72528"/>
                  </a:lnTo>
                  <a:lnTo>
                    <a:pt x="1089264" y="93641"/>
                  </a:lnTo>
                  <a:lnTo>
                    <a:pt x="1128638" y="117135"/>
                  </a:lnTo>
                  <a:lnTo>
                    <a:pt x="1166252" y="142908"/>
                  </a:lnTo>
                  <a:lnTo>
                    <a:pt x="1202000" y="170857"/>
                  </a:lnTo>
                  <a:lnTo>
                    <a:pt x="1235773" y="200882"/>
                  </a:lnTo>
                  <a:lnTo>
                    <a:pt x="1267464" y="232879"/>
                  </a:lnTo>
                  <a:lnTo>
                    <a:pt x="1296965" y="266746"/>
                  </a:lnTo>
                  <a:lnTo>
                    <a:pt x="1324168" y="302381"/>
                  </a:lnTo>
                  <a:lnTo>
                    <a:pt x="1348965" y="339682"/>
                  </a:lnTo>
                  <a:lnTo>
                    <a:pt x="1371249" y="378547"/>
                  </a:lnTo>
                  <a:lnTo>
                    <a:pt x="1390911" y="418873"/>
                  </a:lnTo>
                  <a:lnTo>
                    <a:pt x="1407845" y="460559"/>
                  </a:lnTo>
                  <a:lnTo>
                    <a:pt x="1421941" y="503502"/>
                  </a:lnTo>
                  <a:lnTo>
                    <a:pt x="1433092" y="547599"/>
                  </a:lnTo>
                  <a:lnTo>
                    <a:pt x="1441191" y="592750"/>
                  </a:lnTo>
                  <a:lnTo>
                    <a:pt x="1446129" y="638850"/>
                  </a:lnTo>
                  <a:lnTo>
                    <a:pt x="1447800" y="685800"/>
                  </a:lnTo>
                  <a:lnTo>
                    <a:pt x="1446129" y="732749"/>
                  </a:lnTo>
                  <a:lnTo>
                    <a:pt x="1441191" y="778849"/>
                  </a:lnTo>
                  <a:lnTo>
                    <a:pt x="1433092" y="824000"/>
                  </a:lnTo>
                  <a:lnTo>
                    <a:pt x="1421941" y="868097"/>
                  </a:lnTo>
                  <a:lnTo>
                    <a:pt x="1407845" y="911040"/>
                  </a:lnTo>
                  <a:lnTo>
                    <a:pt x="1390911" y="952726"/>
                  </a:lnTo>
                  <a:lnTo>
                    <a:pt x="1371249" y="993052"/>
                  </a:lnTo>
                  <a:lnTo>
                    <a:pt x="1348965" y="1031917"/>
                  </a:lnTo>
                  <a:lnTo>
                    <a:pt x="1324168" y="1069218"/>
                  </a:lnTo>
                  <a:lnTo>
                    <a:pt x="1296965" y="1104853"/>
                  </a:lnTo>
                  <a:lnTo>
                    <a:pt x="1267464" y="1138720"/>
                  </a:lnTo>
                  <a:lnTo>
                    <a:pt x="1235773" y="1170717"/>
                  </a:lnTo>
                  <a:lnTo>
                    <a:pt x="1202000" y="1200742"/>
                  </a:lnTo>
                  <a:lnTo>
                    <a:pt x="1166252" y="1228691"/>
                  </a:lnTo>
                  <a:lnTo>
                    <a:pt x="1128638" y="1254464"/>
                  </a:lnTo>
                  <a:lnTo>
                    <a:pt x="1089264" y="1277958"/>
                  </a:lnTo>
                  <a:lnTo>
                    <a:pt x="1048240" y="1299071"/>
                  </a:lnTo>
                  <a:lnTo>
                    <a:pt x="1005673" y="1317700"/>
                  </a:lnTo>
                  <a:lnTo>
                    <a:pt x="961670" y="1333743"/>
                  </a:lnTo>
                  <a:lnTo>
                    <a:pt x="916340" y="1347099"/>
                  </a:lnTo>
                  <a:lnTo>
                    <a:pt x="869790" y="1357665"/>
                  </a:lnTo>
                  <a:lnTo>
                    <a:pt x="822128" y="1365338"/>
                  </a:lnTo>
                  <a:lnTo>
                    <a:pt x="773462" y="1370017"/>
                  </a:lnTo>
                  <a:lnTo>
                    <a:pt x="723900" y="1371600"/>
                  </a:lnTo>
                  <a:lnTo>
                    <a:pt x="674337" y="1370017"/>
                  </a:lnTo>
                  <a:lnTo>
                    <a:pt x="625671" y="1365338"/>
                  </a:lnTo>
                  <a:lnTo>
                    <a:pt x="578009" y="1357665"/>
                  </a:lnTo>
                  <a:lnTo>
                    <a:pt x="531459" y="1347099"/>
                  </a:lnTo>
                  <a:lnTo>
                    <a:pt x="486129" y="1333743"/>
                  </a:lnTo>
                  <a:lnTo>
                    <a:pt x="442126" y="1317700"/>
                  </a:lnTo>
                  <a:lnTo>
                    <a:pt x="399559" y="1299071"/>
                  </a:lnTo>
                  <a:lnTo>
                    <a:pt x="358535" y="1277958"/>
                  </a:lnTo>
                  <a:lnTo>
                    <a:pt x="319161" y="1254464"/>
                  </a:lnTo>
                  <a:lnTo>
                    <a:pt x="281547" y="1228691"/>
                  </a:lnTo>
                  <a:lnTo>
                    <a:pt x="245799" y="1200742"/>
                  </a:lnTo>
                  <a:lnTo>
                    <a:pt x="212026" y="1170717"/>
                  </a:lnTo>
                  <a:lnTo>
                    <a:pt x="180335" y="1138720"/>
                  </a:lnTo>
                  <a:lnTo>
                    <a:pt x="150834" y="1104853"/>
                  </a:lnTo>
                  <a:lnTo>
                    <a:pt x="123631" y="1069218"/>
                  </a:lnTo>
                  <a:lnTo>
                    <a:pt x="98834" y="1031917"/>
                  </a:lnTo>
                  <a:lnTo>
                    <a:pt x="76550" y="993052"/>
                  </a:lnTo>
                  <a:lnTo>
                    <a:pt x="56888" y="952726"/>
                  </a:lnTo>
                  <a:lnTo>
                    <a:pt x="39954" y="911040"/>
                  </a:lnTo>
                  <a:lnTo>
                    <a:pt x="25858" y="868097"/>
                  </a:lnTo>
                  <a:lnTo>
                    <a:pt x="14707" y="824000"/>
                  </a:lnTo>
                  <a:lnTo>
                    <a:pt x="6608" y="778849"/>
                  </a:lnTo>
                  <a:lnTo>
                    <a:pt x="1670" y="732749"/>
                  </a:lnTo>
                  <a:lnTo>
                    <a:pt x="0" y="6858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02758" y="1318006"/>
            <a:ext cx="123380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Existing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software</a:t>
            </a:r>
            <a:r>
              <a:rPr sz="1400" b="1" spc="-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system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156200" y="2733675"/>
            <a:ext cx="1466850" cy="1390650"/>
            <a:chOff x="5156200" y="2733675"/>
            <a:chExt cx="1466850" cy="1390650"/>
          </a:xfrm>
        </p:grpSpPr>
        <p:sp>
          <p:nvSpPr>
            <p:cNvPr id="24" name="object 24"/>
            <p:cNvSpPr/>
            <p:nvPr/>
          </p:nvSpPr>
          <p:spPr>
            <a:xfrm>
              <a:off x="5165725" y="2743200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723900" y="0"/>
                  </a:moveTo>
                  <a:lnTo>
                    <a:pt x="674337" y="1582"/>
                  </a:lnTo>
                  <a:lnTo>
                    <a:pt x="625671" y="6261"/>
                  </a:lnTo>
                  <a:lnTo>
                    <a:pt x="578009" y="13934"/>
                  </a:lnTo>
                  <a:lnTo>
                    <a:pt x="531459" y="24500"/>
                  </a:lnTo>
                  <a:lnTo>
                    <a:pt x="486129" y="37856"/>
                  </a:lnTo>
                  <a:lnTo>
                    <a:pt x="442126" y="53899"/>
                  </a:lnTo>
                  <a:lnTo>
                    <a:pt x="399559" y="72528"/>
                  </a:lnTo>
                  <a:lnTo>
                    <a:pt x="358535" y="93641"/>
                  </a:lnTo>
                  <a:lnTo>
                    <a:pt x="319161" y="117135"/>
                  </a:lnTo>
                  <a:lnTo>
                    <a:pt x="281547" y="142908"/>
                  </a:lnTo>
                  <a:lnTo>
                    <a:pt x="245799" y="170857"/>
                  </a:lnTo>
                  <a:lnTo>
                    <a:pt x="212026" y="200882"/>
                  </a:lnTo>
                  <a:lnTo>
                    <a:pt x="180335" y="232879"/>
                  </a:lnTo>
                  <a:lnTo>
                    <a:pt x="150834" y="266746"/>
                  </a:lnTo>
                  <a:lnTo>
                    <a:pt x="123631" y="302381"/>
                  </a:lnTo>
                  <a:lnTo>
                    <a:pt x="98834" y="339682"/>
                  </a:lnTo>
                  <a:lnTo>
                    <a:pt x="76550" y="378547"/>
                  </a:lnTo>
                  <a:lnTo>
                    <a:pt x="56888" y="418873"/>
                  </a:lnTo>
                  <a:lnTo>
                    <a:pt x="39954" y="460559"/>
                  </a:lnTo>
                  <a:lnTo>
                    <a:pt x="25858" y="503502"/>
                  </a:lnTo>
                  <a:lnTo>
                    <a:pt x="14707" y="547599"/>
                  </a:lnTo>
                  <a:lnTo>
                    <a:pt x="6608" y="592750"/>
                  </a:lnTo>
                  <a:lnTo>
                    <a:pt x="1670" y="638850"/>
                  </a:lnTo>
                  <a:lnTo>
                    <a:pt x="0" y="685800"/>
                  </a:lnTo>
                  <a:lnTo>
                    <a:pt x="1670" y="732749"/>
                  </a:lnTo>
                  <a:lnTo>
                    <a:pt x="6608" y="778849"/>
                  </a:lnTo>
                  <a:lnTo>
                    <a:pt x="14707" y="824000"/>
                  </a:lnTo>
                  <a:lnTo>
                    <a:pt x="25858" y="868097"/>
                  </a:lnTo>
                  <a:lnTo>
                    <a:pt x="39954" y="911040"/>
                  </a:lnTo>
                  <a:lnTo>
                    <a:pt x="56888" y="952726"/>
                  </a:lnTo>
                  <a:lnTo>
                    <a:pt x="76550" y="993052"/>
                  </a:lnTo>
                  <a:lnTo>
                    <a:pt x="98834" y="1031917"/>
                  </a:lnTo>
                  <a:lnTo>
                    <a:pt x="123631" y="1069218"/>
                  </a:lnTo>
                  <a:lnTo>
                    <a:pt x="150834" y="1104853"/>
                  </a:lnTo>
                  <a:lnTo>
                    <a:pt x="180335" y="1138720"/>
                  </a:lnTo>
                  <a:lnTo>
                    <a:pt x="212026" y="1170717"/>
                  </a:lnTo>
                  <a:lnTo>
                    <a:pt x="245799" y="1200742"/>
                  </a:lnTo>
                  <a:lnTo>
                    <a:pt x="281547" y="1228691"/>
                  </a:lnTo>
                  <a:lnTo>
                    <a:pt x="319161" y="1254464"/>
                  </a:lnTo>
                  <a:lnTo>
                    <a:pt x="358535" y="1277958"/>
                  </a:lnTo>
                  <a:lnTo>
                    <a:pt x="399559" y="1299071"/>
                  </a:lnTo>
                  <a:lnTo>
                    <a:pt x="442126" y="1317700"/>
                  </a:lnTo>
                  <a:lnTo>
                    <a:pt x="486129" y="1333743"/>
                  </a:lnTo>
                  <a:lnTo>
                    <a:pt x="531459" y="1347099"/>
                  </a:lnTo>
                  <a:lnTo>
                    <a:pt x="578009" y="1357665"/>
                  </a:lnTo>
                  <a:lnTo>
                    <a:pt x="625671" y="1365338"/>
                  </a:lnTo>
                  <a:lnTo>
                    <a:pt x="674337" y="1370017"/>
                  </a:lnTo>
                  <a:lnTo>
                    <a:pt x="723900" y="1371600"/>
                  </a:lnTo>
                  <a:lnTo>
                    <a:pt x="773462" y="1370017"/>
                  </a:lnTo>
                  <a:lnTo>
                    <a:pt x="822128" y="1365338"/>
                  </a:lnTo>
                  <a:lnTo>
                    <a:pt x="869790" y="1357665"/>
                  </a:lnTo>
                  <a:lnTo>
                    <a:pt x="916340" y="1347099"/>
                  </a:lnTo>
                  <a:lnTo>
                    <a:pt x="961670" y="1333743"/>
                  </a:lnTo>
                  <a:lnTo>
                    <a:pt x="1005673" y="1317700"/>
                  </a:lnTo>
                  <a:lnTo>
                    <a:pt x="1048240" y="1299071"/>
                  </a:lnTo>
                  <a:lnTo>
                    <a:pt x="1089264" y="1277958"/>
                  </a:lnTo>
                  <a:lnTo>
                    <a:pt x="1128638" y="1254464"/>
                  </a:lnTo>
                  <a:lnTo>
                    <a:pt x="1166252" y="1228691"/>
                  </a:lnTo>
                  <a:lnTo>
                    <a:pt x="1202000" y="1200742"/>
                  </a:lnTo>
                  <a:lnTo>
                    <a:pt x="1235773" y="1170717"/>
                  </a:lnTo>
                  <a:lnTo>
                    <a:pt x="1267464" y="1138720"/>
                  </a:lnTo>
                  <a:lnTo>
                    <a:pt x="1296965" y="1104853"/>
                  </a:lnTo>
                  <a:lnTo>
                    <a:pt x="1324168" y="1069218"/>
                  </a:lnTo>
                  <a:lnTo>
                    <a:pt x="1348965" y="1031917"/>
                  </a:lnTo>
                  <a:lnTo>
                    <a:pt x="1371249" y="993052"/>
                  </a:lnTo>
                  <a:lnTo>
                    <a:pt x="1390911" y="952726"/>
                  </a:lnTo>
                  <a:lnTo>
                    <a:pt x="1407845" y="911040"/>
                  </a:lnTo>
                  <a:lnTo>
                    <a:pt x="1421941" y="868097"/>
                  </a:lnTo>
                  <a:lnTo>
                    <a:pt x="1433092" y="824000"/>
                  </a:lnTo>
                  <a:lnTo>
                    <a:pt x="1441191" y="778849"/>
                  </a:lnTo>
                  <a:lnTo>
                    <a:pt x="1446129" y="732749"/>
                  </a:lnTo>
                  <a:lnTo>
                    <a:pt x="1447800" y="685800"/>
                  </a:lnTo>
                  <a:lnTo>
                    <a:pt x="1446129" y="638850"/>
                  </a:lnTo>
                  <a:lnTo>
                    <a:pt x="1441191" y="592750"/>
                  </a:lnTo>
                  <a:lnTo>
                    <a:pt x="1433092" y="547599"/>
                  </a:lnTo>
                  <a:lnTo>
                    <a:pt x="1421941" y="503502"/>
                  </a:lnTo>
                  <a:lnTo>
                    <a:pt x="1407845" y="460559"/>
                  </a:lnTo>
                  <a:lnTo>
                    <a:pt x="1390911" y="418873"/>
                  </a:lnTo>
                  <a:lnTo>
                    <a:pt x="1371249" y="378547"/>
                  </a:lnTo>
                  <a:lnTo>
                    <a:pt x="1348965" y="339682"/>
                  </a:lnTo>
                  <a:lnTo>
                    <a:pt x="1324168" y="302381"/>
                  </a:lnTo>
                  <a:lnTo>
                    <a:pt x="1296965" y="266746"/>
                  </a:lnTo>
                  <a:lnTo>
                    <a:pt x="1267464" y="232879"/>
                  </a:lnTo>
                  <a:lnTo>
                    <a:pt x="1235773" y="200882"/>
                  </a:lnTo>
                  <a:lnTo>
                    <a:pt x="1202000" y="170857"/>
                  </a:lnTo>
                  <a:lnTo>
                    <a:pt x="1166252" y="142908"/>
                  </a:lnTo>
                  <a:lnTo>
                    <a:pt x="1128638" y="117135"/>
                  </a:lnTo>
                  <a:lnTo>
                    <a:pt x="1089264" y="93641"/>
                  </a:lnTo>
                  <a:lnTo>
                    <a:pt x="1048240" y="72528"/>
                  </a:lnTo>
                  <a:lnTo>
                    <a:pt x="1005673" y="53899"/>
                  </a:lnTo>
                  <a:lnTo>
                    <a:pt x="961670" y="37856"/>
                  </a:lnTo>
                  <a:lnTo>
                    <a:pt x="916340" y="24500"/>
                  </a:lnTo>
                  <a:lnTo>
                    <a:pt x="869790" y="13934"/>
                  </a:lnTo>
                  <a:lnTo>
                    <a:pt x="822128" y="6261"/>
                  </a:lnTo>
                  <a:lnTo>
                    <a:pt x="773462" y="1582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65725" y="2743200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0" y="685800"/>
                  </a:moveTo>
                  <a:lnTo>
                    <a:pt x="1670" y="638850"/>
                  </a:lnTo>
                  <a:lnTo>
                    <a:pt x="6608" y="592750"/>
                  </a:lnTo>
                  <a:lnTo>
                    <a:pt x="14707" y="547599"/>
                  </a:lnTo>
                  <a:lnTo>
                    <a:pt x="25858" y="503502"/>
                  </a:lnTo>
                  <a:lnTo>
                    <a:pt x="39954" y="460559"/>
                  </a:lnTo>
                  <a:lnTo>
                    <a:pt x="56888" y="418873"/>
                  </a:lnTo>
                  <a:lnTo>
                    <a:pt x="76550" y="378547"/>
                  </a:lnTo>
                  <a:lnTo>
                    <a:pt x="98834" y="339682"/>
                  </a:lnTo>
                  <a:lnTo>
                    <a:pt x="123631" y="302381"/>
                  </a:lnTo>
                  <a:lnTo>
                    <a:pt x="150834" y="266746"/>
                  </a:lnTo>
                  <a:lnTo>
                    <a:pt x="180335" y="232879"/>
                  </a:lnTo>
                  <a:lnTo>
                    <a:pt x="212026" y="200882"/>
                  </a:lnTo>
                  <a:lnTo>
                    <a:pt x="245799" y="170857"/>
                  </a:lnTo>
                  <a:lnTo>
                    <a:pt x="281547" y="142908"/>
                  </a:lnTo>
                  <a:lnTo>
                    <a:pt x="319161" y="117135"/>
                  </a:lnTo>
                  <a:lnTo>
                    <a:pt x="358535" y="93641"/>
                  </a:lnTo>
                  <a:lnTo>
                    <a:pt x="399559" y="72528"/>
                  </a:lnTo>
                  <a:lnTo>
                    <a:pt x="442126" y="53899"/>
                  </a:lnTo>
                  <a:lnTo>
                    <a:pt x="486129" y="37856"/>
                  </a:lnTo>
                  <a:lnTo>
                    <a:pt x="531459" y="24500"/>
                  </a:lnTo>
                  <a:lnTo>
                    <a:pt x="578009" y="13934"/>
                  </a:lnTo>
                  <a:lnTo>
                    <a:pt x="625671" y="6261"/>
                  </a:lnTo>
                  <a:lnTo>
                    <a:pt x="674337" y="1582"/>
                  </a:lnTo>
                  <a:lnTo>
                    <a:pt x="723900" y="0"/>
                  </a:lnTo>
                  <a:lnTo>
                    <a:pt x="773462" y="1582"/>
                  </a:lnTo>
                  <a:lnTo>
                    <a:pt x="822128" y="6261"/>
                  </a:lnTo>
                  <a:lnTo>
                    <a:pt x="869790" y="13934"/>
                  </a:lnTo>
                  <a:lnTo>
                    <a:pt x="916340" y="24500"/>
                  </a:lnTo>
                  <a:lnTo>
                    <a:pt x="961670" y="37856"/>
                  </a:lnTo>
                  <a:lnTo>
                    <a:pt x="1005673" y="53899"/>
                  </a:lnTo>
                  <a:lnTo>
                    <a:pt x="1048240" y="72528"/>
                  </a:lnTo>
                  <a:lnTo>
                    <a:pt x="1089264" y="93641"/>
                  </a:lnTo>
                  <a:lnTo>
                    <a:pt x="1128638" y="117135"/>
                  </a:lnTo>
                  <a:lnTo>
                    <a:pt x="1166252" y="142908"/>
                  </a:lnTo>
                  <a:lnTo>
                    <a:pt x="1202000" y="170857"/>
                  </a:lnTo>
                  <a:lnTo>
                    <a:pt x="1235773" y="200882"/>
                  </a:lnTo>
                  <a:lnTo>
                    <a:pt x="1267464" y="232879"/>
                  </a:lnTo>
                  <a:lnTo>
                    <a:pt x="1296965" y="266746"/>
                  </a:lnTo>
                  <a:lnTo>
                    <a:pt x="1324168" y="302381"/>
                  </a:lnTo>
                  <a:lnTo>
                    <a:pt x="1348965" y="339682"/>
                  </a:lnTo>
                  <a:lnTo>
                    <a:pt x="1371249" y="378547"/>
                  </a:lnTo>
                  <a:lnTo>
                    <a:pt x="1390911" y="418873"/>
                  </a:lnTo>
                  <a:lnTo>
                    <a:pt x="1407845" y="460559"/>
                  </a:lnTo>
                  <a:lnTo>
                    <a:pt x="1421941" y="503502"/>
                  </a:lnTo>
                  <a:lnTo>
                    <a:pt x="1433092" y="547599"/>
                  </a:lnTo>
                  <a:lnTo>
                    <a:pt x="1441191" y="592750"/>
                  </a:lnTo>
                  <a:lnTo>
                    <a:pt x="1446129" y="638850"/>
                  </a:lnTo>
                  <a:lnTo>
                    <a:pt x="1447800" y="685800"/>
                  </a:lnTo>
                  <a:lnTo>
                    <a:pt x="1446129" y="732749"/>
                  </a:lnTo>
                  <a:lnTo>
                    <a:pt x="1441191" y="778849"/>
                  </a:lnTo>
                  <a:lnTo>
                    <a:pt x="1433092" y="824000"/>
                  </a:lnTo>
                  <a:lnTo>
                    <a:pt x="1421941" y="868097"/>
                  </a:lnTo>
                  <a:lnTo>
                    <a:pt x="1407845" y="911040"/>
                  </a:lnTo>
                  <a:lnTo>
                    <a:pt x="1390911" y="952726"/>
                  </a:lnTo>
                  <a:lnTo>
                    <a:pt x="1371249" y="993052"/>
                  </a:lnTo>
                  <a:lnTo>
                    <a:pt x="1348965" y="1031917"/>
                  </a:lnTo>
                  <a:lnTo>
                    <a:pt x="1324168" y="1069218"/>
                  </a:lnTo>
                  <a:lnTo>
                    <a:pt x="1296965" y="1104853"/>
                  </a:lnTo>
                  <a:lnTo>
                    <a:pt x="1267464" y="1138720"/>
                  </a:lnTo>
                  <a:lnTo>
                    <a:pt x="1235773" y="1170717"/>
                  </a:lnTo>
                  <a:lnTo>
                    <a:pt x="1202000" y="1200742"/>
                  </a:lnTo>
                  <a:lnTo>
                    <a:pt x="1166252" y="1228691"/>
                  </a:lnTo>
                  <a:lnTo>
                    <a:pt x="1128638" y="1254464"/>
                  </a:lnTo>
                  <a:lnTo>
                    <a:pt x="1089264" y="1277958"/>
                  </a:lnTo>
                  <a:lnTo>
                    <a:pt x="1048240" y="1299071"/>
                  </a:lnTo>
                  <a:lnTo>
                    <a:pt x="1005673" y="1317700"/>
                  </a:lnTo>
                  <a:lnTo>
                    <a:pt x="961670" y="1333743"/>
                  </a:lnTo>
                  <a:lnTo>
                    <a:pt x="916340" y="1347099"/>
                  </a:lnTo>
                  <a:lnTo>
                    <a:pt x="869790" y="1357665"/>
                  </a:lnTo>
                  <a:lnTo>
                    <a:pt x="822128" y="1365338"/>
                  </a:lnTo>
                  <a:lnTo>
                    <a:pt x="773462" y="1370017"/>
                  </a:lnTo>
                  <a:lnTo>
                    <a:pt x="723900" y="1371600"/>
                  </a:lnTo>
                  <a:lnTo>
                    <a:pt x="674337" y="1370017"/>
                  </a:lnTo>
                  <a:lnTo>
                    <a:pt x="625671" y="1365338"/>
                  </a:lnTo>
                  <a:lnTo>
                    <a:pt x="578009" y="1357665"/>
                  </a:lnTo>
                  <a:lnTo>
                    <a:pt x="531459" y="1347099"/>
                  </a:lnTo>
                  <a:lnTo>
                    <a:pt x="486129" y="1333743"/>
                  </a:lnTo>
                  <a:lnTo>
                    <a:pt x="442126" y="1317700"/>
                  </a:lnTo>
                  <a:lnTo>
                    <a:pt x="399559" y="1299071"/>
                  </a:lnTo>
                  <a:lnTo>
                    <a:pt x="358535" y="1277958"/>
                  </a:lnTo>
                  <a:lnTo>
                    <a:pt x="319161" y="1254464"/>
                  </a:lnTo>
                  <a:lnTo>
                    <a:pt x="281547" y="1228691"/>
                  </a:lnTo>
                  <a:lnTo>
                    <a:pt x="245799" y="1200742"/>
                  </a:lnTo>
                  <a:lnTo>
                    <a:pt x="212026" y="1170717"/>
                  </a:lnTo>
                  <a:lnTo>
                    <a:pt x="180335" y="1138720"/>
                  </a:lnTo>
                  <a:lnTo>
                    <a:pt x="150834" y="1104853"/>
                  </a:lnTo>
                  <a:lnTo>
                    <a:pt x="123631" y="1069218"/>
                  </a:lnTo>
                  <a:lnTo>
                    <a:pt x="98834" y="1031917"/>
                  </a:lnTo>
                  <a:lnTo>
                    <a:pt x="76550" y="993052"/>
                  </a:lnTo>
                  <a:lnTo>
                    <a:pt x="56888" y="952726"/>
                  </a:lnTo>
                  <a:lnTo>
                    <a:pt x="39954" y="911040"/>
                  </a:lnTo>
                  <a:lnTo>
                    <a:pt x="25858" y="868097"/>
                  </a:lnTo>
                  <a:lnTo>
                    <a:pt x="14707" y="824000"/>
                  </a:lnTo>
                  <a:lnTo>
                    <a:pt x="6608" y="778849"/>
                  </a:lnTo>
                  <a:lnTo>
                    <a:pt x="1670" y="732749"/>
                  </a:lnTo>
                  <a:lnTo>
                    <a:pt x="0" y="6858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311521" y="3070987"/>
            <a:ext cx="118491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Understanding </a:t>
            </a:r>
            <a:r>
              <a:rPr sz="14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and </a:t>
            </a:r>
            <a:r>
              <a:rPr sz="1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transformation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172075" y="4489450"/>
            <a:ext cx="1466850" cy="1390650"/>
            <a:chOff x="5172075" y="4489450"/>
            <a:chExt cx="1466850" cy="1390650"/>
          </a:xfrm>
        </p:grpSpPr>
        <p:sp>
          <p:nvSpPr>
            <p:cNvPr id="28" name="object 28"/>
            <p:cNvSpPr/>
            <p:nvPr/>
          </p:nvSpPr>
          <p:spPr>
            <a:xfrm>
              <a:off x="5181600" y="4498975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723900" y="0"/>
                  </a:moveTo>
                  <a:lnTo>
                    <a:pt x="674337" y="1582"/>
                  </a:lnTo>
                  <a:lnTo>
                    <a:pt x="625671" y="6261"/>
                  </a:lnTo>
                  <a:lnTo>
                    <a:pt x="578009" y="13934"/>
                  </a:lnTo>
                  <a:lnTo>
                    <a:pt x="531459" y="24500"/>
                  </a:lnTo>
                  <a:lnTo>
                    <a:pt x="486129" y="37856"/>
                  </a:lnTo>
                  <a:lnTo>
                    <a:pt x="442126" y="53899"/>
                  </a:lnTo>
                  <a:lnTo>
                    <a:pt x="399559" y="72528"/>
                  </a:lnTo>
                  <a:lnTo>
                    <a:pt x="358535" y="93641"/>
                  </a:lnTo>
                  <a:lnTo>
                    <a:pt x="319161" y="117135"/>
                  </a:lnTo>
                  <a:lnTo>
                    <a:pt x="281547" y="142908"/>
                  </a:lnTo>
                  <a:lnTo>
                    <a:pt x="245799" y="170857"/>
                  </a:lnTo>
                  <a:lnTo>
                    <a:pt x="212026" y="200882"/>
                  </a:lnTo>
                  <a:lnTo>
                    <a:pt x="180335" y="232879"/>
                  </a:lnTo>
                  <a:lnTo>
                    <a:pt x="150834" y="266746"/>
                  </a:lnTo>
                  <a:lnTo>
                    <a:pt x="123631" y="302381"/>
                  </a:lnTo>
                  <a:lnTo>
                    <a:pt x="98834" y="339682"/>
                  </a:lnTo>
                  <a:lnTo>
                    <a:pt x="76550" y="378547"/>
                  </a:lnTo>
                  <a:lnTo>
                    <a:pt x="56888" y="418873"/>
                  </a:lnTo>
                  <a:lnTo>
                    <a:pt x="39954" y="460559"/>
                  </a:lnTo>
                  <a:lnTo>
                    <a:pt x="25858" y="503502"/>
                  </a:lnTo>
                  <a:lnTo>
                    <a:pt x="14707" y="547599"/>
                  </a:lnTo>
                  <a:lnTo>
                    <a:pt x="6608" y="592750"/>
                  </a:lnTo>
                  <a:lnTo>
                    <a:pt x="1670" y="638850"/>
                  </a:lnTo>
                  <a:lnTo>
                    <a:pt x="0" y="685800"/>
                  </a:lnTo>
                  <a:lnTo>
                    <a:pt x="1670" y="732749"/>
                  </a:lnTo>
                  <a:lnTo>
                    <a:pt x="6608" y="778849"/>
                  </a:lnTo>
                  <a:lnTo>
                    <a:pt x="14707" y="824000"/>
                  </a:lnTo>
                  <a:lnTo>
                    <a:pt x="25858" y="868097"/>
                  </a:lnTo>
                  <a:lnTo>
                    <a:pt x="39954" y="911040"/>
                  </a:lnTo>
                  <a:lnTo>
                    <a:pt x="56888" y="952726"/>
                  </a:lnTo>
                  <a:lnTo>
                    <a:pt x="76550" y="993052"/>
                  </a:lnTo>
                  <a:lnTo>
                    <a:pt x="98834" y="1031917"/>
                  </a:lnTo>
                  <a:lnTo>
                    <a:pt x="123631" y="1069218"/>
                  </a:lnTo>
                  <a:lnTo>
                    <a:pt x="150834" y="1104853"/>
                  </a:lnTo>
                  <a:lnTo>
                    <a:pt x="180335" y="1138720"/>
                  </a:lnTo>
                  <a:lnTo>
                    <a:pt x="212026" y="1170717"/>
                  </a:lnTo>
                  <a:lnTo>
                    <a:pt x="245799" y="1200742"/>
                  </a:lnTo>
                  <a:lnTo>
                    <a:pt x="281547" y="1228691"/>
                  </a:lnTo>
                  <a:lnTo>
                    <a:pt x="319161" y="1254464"/>
                  </a:lnTo>
                  <a:lnTo>
                    <a:pt x="358535" y="1277958"/>
                  </a:lnTo>
                  <a:lnTo>
                    <a:pt x="399559" y="1299071"/>
                  </a:lnTo>
                  <a:lnTo>
                    <a:pt x="442126" y="1317700"/>
                  </a:lnTo>
                  <a:lnTo>
                    <a:pt x="486129" y="1333743"/>
                  </a:lnTo>
                  <a:lnTo>
                    <a:pt x="531459" y="1347099"/>
                  </a:lnTo>
                  <a:lnTo>
                    <a:pt x="578009" y="1357665"/>
                  </a:lnTo>
                  <a:lnTo>
                    <a:pt x="625671" y="1365338"/>
                  </a:lnTo>
                  <a:lnTo>
                    <a:pt x="674337" y="1370017"/>
                  </a:lnTo>
                  <a:lnTo>
                    <a:pt x="723900" y="1371600"/>
                  </a:lnTo>
                  <a:lnTo>
                    <a:pt x="773462" y="1370017"/>
                  </a:lnTo>
                  <a:lnTo>
                    <a:pt x="822128" y="1365338"/>
                  </a:lnTo>
                  <a:lnTo>
                    <a:pt x="869790" y="1357665"/>
                  </a:lnTo>
                  <a:lnTo>
                    <a:pt x="916340" y="1347099"/>
                  </a:lnTo>
                  <a:lnTo>
                    <a:pt x="961670" y="1333743"/>
                  </a:lnTo>
                  <a:lnTo>
                    <a:pt x="1005673" y="1317700"/>
                  </a:lnTo>
                  <a:lnTo>
                    <a:pt x="1048240" y="1299071"/>
                  </a:lnTo>
                  <a:lnTo>
                    <a:pt x="1089264" y="1277958"/>
                  </a:lnTo>
                  <a:lnTo>
                    <a:pt x="1128638" y="1254464"/>
                  </a:lnTo>
                  <a:lnTo>
                    <a:pt x="1166252" y="1228691"/>
                  </a:lnTo>
                  <a:lnTo>
                    <a:pt x="1202000" y="1200742"/>
                  </a:lnTo>
                  <a:lnTo>
                    <a:pt x="1235773" y="1170717"/>
                  </a:lnTo>
                  <a:lnTo>
                    <a:pt x="1267464" y="1138720"/>
                  </a:lnTo>
                  <a:lnTo>
                    <a:pt x="1296965" y="1104853"/>
                  </a:lnTo>
                  <a:lnTo>
                    <a:pt x="1324168" y="1069218"/>
                  </a:lnTo>
                  <a:lnTo>
                    <a:pt x="1348965" y="1031917"/>
                  </a:lnTo>
                  <a:lnTo>
                    <a:pt x="1371249" y="993052"/>
                  </a:lnTo>
                  <a:lnTo>
                    <a:pt x="1390911" y="952726"/>
                  </a:lnTo>
                  <a:lnTo>
                    <a:pt x="1407845" y="911040"/>
                  </a:lnTo>
                  <a:lnTo>
                    <a:pt x="1421941" y="868097"/>
                  </a:lnTo>
                  <a:lnTo>
                    <a:pt x="1433092" y="824000"/>
                  </a:lnTo>
                  <a:lnTo>
                    <a:pt x="1441191" y="778849"/>
                  </a:lnTo>
                  <a:lnTo>
                    <a:pt x="1446129" y="732749"/>
                  </a:lnTo>
                  <a:lnTo>
                    <a:pt x="1447800" y="685800"/>
                  </a:lnTo>
                  <a:lnTo>
                    <a:pt x="1446129" y="638850"/>
                  </a:lnTo>
                  <a:lnTo>
                    <a:pt x="1441191" y="592750"/>
                  </a:lnTo>
                  <a:lnTo>
                    <a:pt x="1433092" y="547599"/>
                  </a:lnTo>
                  <a:lnTo>
                    <a:pt x="1421941" y="503502"/>
                  </a:lnTo>
                  <a:lnTo>
                    <a:pt x="1407845" y="460559"/>
                  </a:lnTo>
                  <a:lnTo>
                    <a:pt x="1390911" y="418873"/>
                  </a:lnTo>
                  <a:lnTo>
                    <a:pt x="1371249" y="378547"/>
                  </a:lnTo>
                  <a:lnTo>
                    <a:pt x="1348965" y="339682"/>
                  </a:lnTo>
                  <a:lnTo>
                    <a:pt x="1324168" y="302381"/>
                  </a:lnTo>
                  <a:lnTo>
                    <a:pt x="1296965" y="266746"/>
                  </a:lnTo>
                  <a:lnTo>
                    <a:pt x="1267464" y="232879"/>
                  </a:lnTo>
                  <a:lnTo>
                    <a:pt x="1235773" y="200882"/>
                  </a:lnTo>
                  <a:lnTo>
                    <a:pt x="1202000" y="170857"/>
                  </a:lnTo>
                  <a:lnTo>
                    <a:pt x="1166252" y="142908"/>
                  </a:lnTo>
                  <a:lnTo>
                    <a:pt x="1128638" y="117135"/>
                  </a:lnTo>
                  <a:lnTo>
                    <a:pt x="1089264" y="93641"/>
                  </a:lnTo>
                  <a:lnTo>
                    <a:pt x="1048240" y="72528"/>
                  </a:lnTo>
                  <a:lnTo>
                    <a:pt x="1005673" y="53899"/>
                  </a:lnTo>
                  <a:lnTo>
                    <a:pt x="961670" y="37856"/>
                  </a:lnTo>
                  <a:lnTo>
                    <a:pt x="916340" y="24500"/>
                  </a:lnTo>
                  <a:lnTo>
                    <a:pt x="869790" y="13934"/>
                  </a:lnTo>
                  <a:lnTo>
                    <a:pt x="822128" y="6261"/>
                  </a:lnTo>
                  <a:lnTo>
                    <a:pt x="773462" y="1582"/>
                  </a:lnTo>
                  <a:lnTo>
                    <a:pt x="723900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81600" y="4498975"/>
              <a:ext cx="1447800" cy="1371600"/>
            </a:xfrm>
            <a:custGeom>
              <a:avLst/>
              <a:gdLst/>
              <a:ahLst/>
              <a:cxnLst/>
              <a:rect l="l" t="t" r="r" b="b"/>
              <a:pathLst>
                <a:path w="1447800" h="1371600">
                  <a:moveTo>
                    <a:pt x="0" y="685800"/>
                  </a:moveTo>
                  <a:lnTo>
                    <a:pt x="1670" y="638850"/>
                  </a:lnTo>
                  <a:lnTo>
                    <a:pt x="6608" y="592750"/>
                  </a:lnTo>
                  <a:lnTo>
                    <a:pt x="14707" y="547599"/>
                  </a:lnTo>
                  <a:lnTo>
                    <a:pt x="25858" y="503502"/>
                  </a:lnTo>
                  <a:lnTo>
                    <a:pt x="39954" y="460559"/>
                  </a:lnTo>
                  <a:lnTo>
                    <a:pt x="56888" y="418873"/>
                  </a:lnTo>
                  <a:lnTo>
                    <a:pt x="76550" y="378547"/>
                  </a:lnTo>
                  <a:lnTo>
                    <a:pt x="98834" y="339682"/>
                  </a:lnTo>
                  <a:lnTo>
                    <a:pt x="123631" y="302381"/>
                  </a:lnTo>
                  <a:lnTo>
                    <a:pt x="150834" y="266746"/>
                  </a:lnTo>
                  <a:lnTo>
                    <a:pt x="180335" y="232879"/>
                  </a:lnTo>
                  <a:lnTo>
                    <a:pt x="212026" y="200882"/>
                  </a:lnTo>
                  <a:lnTo>
                    <a:pt x="245799" y="170857"/>
                  </a:lnTo>
                  <a:lnTo>
                    <a:pt x="281547" y="142908"/>
                  </a:lnTo>
                  <a:lnTo>
                    <a:pt x="319161" y="117135"/>
                  </a:lnTo>
                  <a:lnTo>
                    <a:pt x="358535" y="93641"/>
                  </a:lnTo>
                  <a:lnTo>
                    <a:pt x="399559" y="72528"/>
                  </a:lnTo>
                  <a:lnTo>
                    <a:pt x="442126" y="53899"/>
                  </a:lnTo>
                  <a:lnTo>
                    <a:pt x="486129" y="37856"/>
                  </a:lnTo>
                  <a:lnTo>
                    <a:pt x="531459" y="24500"/>
                  </a:lnTo>
                  <a:lnTo>
                    <a:pt x="578009" y="13934"/>
                  </a:lnTo>
                  <a:lnTo>
                    <a:pt x="625671" y="6261"/>
                  </a:lnTo>
                  <a:lnTo>
                    <a:pt x="674337" y="1582"/>
                  </a:lnTo>
                  <a:lnTo>
                    <a:pt x="723900" y="0"/>
                  </a:lnTo>
                  <a:lnTo>
                    <a:pt x="773462" y="1582"/>
                  </a:lnTo>
                  <a:lnTo>
                    <a:pt x="822128" y="6261"/>
                  </a:lnTo>
                  <a:lnTo>
                    <a:pt x="869790" y="13934"/>
                  </a:lnTo>
                  <a:lnTo>
                    <a:pt x="916340" y="24500"/>
                  </a:lnTo>
                  <a:lnTo>
                    <a:pt x="961670" y="37856"/>
                  </a:lnTo>
                  <a:lnTo>
                    <a:pt x="1005673" y="53899"/>
                  </a:lnTo>
                  <a:lnTo>
                    <a:pt x="1048240" y="72528"/>
                  </a:lnTo>
                  <a:lnTo>
                    <a:pt x="1089264" y="93641"/>
                  </a:lnTo>
                  <a:lnTo>
                    <a:pt x="1128638" y="117135"/>
                  </a:lnTo>
                  <a:lnTo>
                    <a:pt x="1166252" y="142908"/>
                  </a:lnTo>
                  <a:lnTo>
                    <a:pt x="1202000" y="170857"/>
                  </a:lnTo>
                  <a:lnTo>
                    <a:pt x="1235773" y="200882"/>
                  </a:lnTo>
                  <a:lnTo>
                    <a:pt x="1267464" y="232879"/>
                  </a:lnTo>
                  <a:lnTo>
                    <a:pt x="1296965" y="266746"/>
                  </a:lnTo>
                  <a:lnTo>
                    <a:pt x="1324168" y="302381"/>
                  </a:lnTo>
                  <a:lnTo>
                    <a:pt x="1348965" y="339682"/>
                  </a:lnTo>
                  <a:lnTo>
                    <a:pt x="1371249" y="378547"/>
                  </a:lnTo>
                  <a:lnTo>
                    <a:pt x="1390911" y="418873"/>
                  </a:lnTo>
                  <a:lnTo>
                    <a:pt x="1407845" y="460559"/>
                  </a:lnTo>
                  <a:lnTo>
                    <a:pt x="1421941" y="503502"/>
                  </a:lnTo>
                  <a:lnTo>
                    <a:pt x="1433092" y="547599"/>
                  </a:lnTo>
                  <a:lnTo>
                    <a:pt x="1441191" y="592750"/>
                  </a:lnTo>
                  <a:lnTo>
                    <a:pt x="1446129" y="638850"/>
                  </a:lnTo>
                  <a:lnTo>
                    <a:pt x="1447800" y="685800"/>
                  </a:lnTo>
                  <a:lnTo>
                    <a:pt x="1446129" y="732749"/>
                  </a:lnTo>
                  <a:lnTo>
                    <a:pt x="1441191" y="778849"/>
                  </a:lnTo>
                  <a:lnTo>
                    <a:pt x="1433092" y="824000"/>
                  </a:lnTo>
                  <a:lnTo>
                    <a:pt x="1421941" y="868097"/>
                  </a:lnTo>
                  <a:lnTo>
                    <a:pt x="1407845" y="911040"/>
                  </a:lnTo>
                  <a:lnTo>
                    <a:pt x="1390911" y="952726"/>
                  </a:lnTo>
                  <a:lnTo>
                    <a:pt x="1371249" y="993052"/>
                  </a:lnTo>
                  <a:lnTo>
                    <a:pt x="1348965" y="1031917"/>
                  </a:lnTo>
                  <a:lnTo>
                    <a:pt x="1324168" y="1069218"/>
                  </a:lnTo>
                  <a:lnTo>
                    <a:pt x="1296965" y="1104853"/>
                  </a:lnTo>
                  <a:lnTo>
                    <a:pt x="1267464" y="1138720"/>
                  </a:lnTo>
                  <a:lnTo>
                    <a:pt x="1235773" y="1170717"/>
                  </a:lnTo>
                  <a:lnTo>
                    <a:pt x="1202000" y="1200742"/>
                  </a:lnTo>
                  <a:lnTo>
                    <a:pt x="1166252" y="1228691"/>
                  </a:lnTo>
                  <a:lnTo>
                    <a:pt x="1128638" y="1254464"/>
                  </a:lnTo>
                  <a:lnTo>
                    <a:pt x="1089264" y="1277958"/>
                  </a:lnTo>
                  <a:lnTo>
                    <a:pt x="1048240" y="1299071"/>
                  </a:lnTo>
                  <a:lnTo>
                    <a:pt x="1005673" y="1317700"/>
                  </a:lnTo>
                  <a:lnTo>
                    <a:pt x="961670" y="1333743"/>
                  </a:lnTo>
                  <a:lnTo>
                    <a:pt x="916340" y="1347099"/>
                  </a:lnTo>
                  <a:lnTo>
                    <a:pt x="869790" y="1357665"/>
                  </a:lnTo>
                  <a:lnTo>
                    <a:pt x="822128" y="1365338"/>
                  </a:lnTo>
                  <a:lnTo>
                    <a:pt x="773462" y="1370017"/>
                  </a:lnTo>
                  <a:lnTo>
                    <a:pt x="723900" y="1371600"/>
                  </a:lnTo>
                  <a:lnTo>
                    <a:pt x="674337" y="1370017"/>
                  </a:lnTo>
                  <a:lnTo>
                    <a:pt x="625671" y="1365338"/>
                  </a:lnTo>
                  <a:lnTo>
                    <a:pt x="578009" y="1357665"/>
                  </a:lnTo>
                  <a:lnTo>
                    <a:pt x="531459" y="1347099"/>
                  </a:lnTo>
                  <a:lnTo>
                    <a:pt x="486129" y="1333743"/>
                  </a:lnTo>
                  <a:lnTo>
                    <a:pt x="442126" y="1317700"/>
                  </a:lnTo>
                  <a:lnTo>
                    <a:pt x="399559" y="1299071"/>
                  </a:lnTo>
                  <a:lnTo>
                    <a:pt x="358535" y="1277958"/>
                  </a:lnTo>
                  <a:lnTo>
                    <a:pt x="319161" y="1254464"/>
                  </a:lnTo>
                  <a:lnTo>
                    <a:pt x="281547" y="1228691"/>
                  </a:lnTo>
                  <a:lnTo>
                    <a:pt x="245799" y="1200742"/>
                  </a:lnTo>
                  <a:lnTo>
                    <a:pt x="212026" y="1170717"/>
                  </a:lnTo>
                  <a:lnTo>
                    <a:pt x="180335" y="1138720"/>
                  </a:lnTo>
                  <a:lnTo>
                    <a:pt x="150834" y="1104853"/>
                  </a:lnTo>
                  <a:lnTo>
                    <a:pt x="123631" y="1069218"/>
                  </a:lnTo>
                  <a:lnTo>
                    <a:pt x="98834" y="1031917"/>
                  </a:lnTo>
                  <a:lnTo>
                    <a:pt x="76550" y="993052"/>
                  </a:lnTo>
                  <a:lnTo>
                    <a:pt x="56888" y="952726"/>
                  </a:lnTo>
                  <a:lnTo>
                    <a:pt x="39954" y="911040"/>
                  </a:lnTo>
                  <a:lnTo>
                    <a:pt x="25858" y="868097"/>
                  </a:lnTo>
                  <a:lnTo>
                    <a:pt x="14707" y="824000"/>
                  </a:lnTo>
                  <a:lnTo>
                    <a:pt x="6608" y="778849"/>
                  </a:lnTo>
                  <a:lnTo>
                    <a:pt x="1670" y="732749"/>
                  </a:lnTo>
                  <a:lnTo>
                    <a:pt x="0" y="6858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373370" y="4989067"/>
            <a:ext cx="112268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Re-engineered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system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803900" y="2362199"/>
            <a:ext cx="127000" cy="2133600"/>
          </a:xfrm>
          <a:custGeom>
            <a:avLst/>
            <a:gdLst/>
            <a:ahLst/>
            <a:cxnLst/>
            <a:rect l="l" t="t" r="r" b="b"/>
            <a:pathLst>
              <a:path w="127000" h="2133600">
                <a:moveTo>
                  <a:pt x="127000" y="2006600"/>
                </a:moveTo>
                <a:lnTo>
                  <a:pt x="73025" y="2049780"/>
                </a:lnTo>
                <a:lnTo>
                  <a:pt x="73025" y="1752600"/>
                </a:lnTo>
                <a:lnTo>
                  <a:pt x="53975" y="1752600"/>
                </a:lnTo>
                <a:lnTo>
                  <a:pt x="53975" y="2049780"/>
                </a:lnTo>
                <a:lnTo>
                  <a:pt x="0" y="2006600"/>
                </a:lnTo>
                <a:lnTo>
                  <a:pt x="63500" y="2133600"/>
                </a:lnTo>
                <a:lnTo>
                  <a:pt x="101600" y="2057400"/>
                </a:lnTo>
                <a:lnTo>
                  <a:pt x="127000" y="2006600"/>
                </a:lnTo>
                <a:close/>
              </a:path>
              <a:path w="127000" h="2133600">
                <a:moveTo>
                  <a:pt x="127000" y="254000"/>
                </a:moveTo>
                <a:lnTo>
                  <a:pt x="73025" y="297180"/>
                </a:lnTo>
                <a:lnTo>
                  <a:pt x="73025" y="0"/>
                </a:lnTo>
                <a:lnTo>
                  <a:pt x="53975" y="0"/>
                </a:lnTo>
                <a:lnTo>
                  <a:pt x="53975" y="297180"/>
                </a:lnTo>
                <a:lnTo>
                  <a:pt x="0" y="254000"/>
                </a:lnTo>
                <a:lnTo>
                  <a:pt x="63500" y="381000"/>
                </a:lnTo>
                <a:lnTo>
                  <a:pt x="101600" y="304800"/>
                </a:lnTo>
                <a:lnTo>
                  <a:pt x="127000" y="254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846311" y="6572866"/>
            <a:ext cx="8890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50" dirty="0"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12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1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525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335" dirty="0"/>
              <a:t> </a:t>
            </a:r>
            <a:r>
              <a:rPr dirty="0"/>
              <a:t>following</a:t>
            </a:r>
            <a:r>
              <a:rPr spc="340" dirty="0"/>
              <a:t> </a:t>
            </a:r>
            <a:r>
              <a:rPr dirty="0"/>
              <a:t>suggestions</a:t>
            </a:r>
            <a:r>
              <a:rPr spc="320" dirty="0"/>
              <a:t> </a:t>
            </a:r>
            <a:r>
              <a:rPr dirty="0"/>
              <a:t>may</a:t>
            </a:r>
            <a:r>
              <a:rPr spc="340" dirty="0"/>
              <a:t> </a:t>
            </a:r>
            <a:r>
              <a:rPr dirty="0"/>
              <a:t>be</a:t>
            </a:r>
            <a:r>
              <a:rPr spc="335" dirty="0"/>
              <a:t> </a:t>
            </a:r>
            <a:r>
              <a:rPr dirty="0"/>
              <a:t>useful</a:t>
            </a:r>
            <a:r>
              <a:rPr spc="315" dirty="0"/>
              <a:t> </a:t>
            </a:r>
            <a:r>
              <a:rPr dirty="0"/>
              <a:t>for</a:t>
            </a:r>
            <a:r>
              <a:rPr spc="290" dirty="0"/>
              <a:t> </a:t>
            </a:r>
            <a:r>
              <a:rPr dirty="0"/>
              <a:t>the</a:t>
            </a:r>
            <a:r>
              <a:rPr spc="335" dirty="0"/>
              <a:t> </a:t>
            </a:r>
            <a:r>
              <a:rPr dirty="0"/>
              <a:t>modification</a:t>
            </a:r>
            <a:r>
              <a:rPr spc="325" dirty="0"/>
              <a:t> </a:t>
            </a:r>
            <a:r>
              <a:rPr dirty="0"/>
              <a:t>of</a:t>
            </a:r>
            <a:r>
              <a:rPr spc="340" dirty="0"/>
              <a:t> </a:t>
            </a:r>
            <a:r>
              <a:rPr dirty="0"/>
              <a:t>the</a:t>
            </a:r>
            <a:r>
              <a:rPr spc="340" dirty="0"/>
              <a:t> </a:t>
            </a:r>
            <a:r>
              <a:rPr spc="-10" dirty="0"/>
              <a:t>legacy code:</a:t>
            </a:r>
          </a:p>
          <a:p>
            <a:pPr marL="751840" indent="-457200">
              <a:lnSpc>
                <a:spcPct val="100000"/>
              </a:lnSpc>
              <a:spcBef>
                <a:spcPts val="800"/>
              </a:spcBef>
              <a:buFont typeface="Wingdings"/>
              <a:buChar char=""/>
              <a:tabLst>
                <a:tab pos="751840" algn="l"/>
              </a:tabLst>
            </a:pPr>
            <a:r>
              <a:rPr dirty="0">
                <a:solidFill>
                  <a:srgbClr val="003366"/>
                </a:solidFill>
              </a:rPr>
              <a:t>Study</a:t>
            </a:r>
            <a:r>
              <a:rPr spc="-50" dirty="0">
                <a:solidFill>
                  <a:srgbClr val="003366"/>
                </a:solidFill>
              </a:rPr>
              <a:t> </a:t>
            </a:r>
            <a:r>
              <a:rPr dirty="0">
                <a:solidFill>
                  <a:srgbClr val="003366"/>
                </a:solidFill>
              </a:rPr>
              <a:t>code</a:t>
            </a:r>
            <a:r>
              <a:rPr spc="-15" dirty="0">
                <a:solidFill>
                  <a:srgbClr val="003366"/>
                </a:solidFill>
              </a:rPr>
              <a:t> </a:t>
            </a:r>
            <a:r>
              <a:rPr dirty="0">
                <a:solidFill>
                  <a:srgbClr val="003366"/>
                </a:solidFill>
              </a:rPr>
              <a:t>well</a:t>
            </a:r>
            <a:r>
              <a:rPr spc="-15" dirty="0">
                <a:solidFill>
                  <a:srgbClr val="003366"/>
                </a:solidFill>
              </a:rPr>
              <a:t> </a:t>
            </a:r>
            <a:r>
              <a:rPr dirty="0">
                <a:solidFill>
                  <a:srgbClr val="003366"/>
                </a:solidFill>
              </a:rPr>
              <a:t>before</a:t>
            </a:r>
            <a:r>
              <a:rPr spc="-30" dirty="0">
                <a:solidFill>
                  <a:srgbClr val="003366"/>
                </a:solidFill>
              </a:rPr>
              <a:t> </a:t>
            </a:r>
            <a:r>
              <a:rPr dirty="0">
                <a:solidFill>
                  <a:srgbClr val="003366"/>
                </a:solidFill>
              </a:rPr>
              <a:t>attempting</a:t>
            </a:r>
            <a:r>
              <a:rPr spc="-60" dirty="0">
                <a:solidFill>
                  <a:srgbClr val="003366"/>
                </a:solidFill>
              </a:rPr>
              <a:t> </a:t>
            </a:r>
            <a:r>
              <a:rPr spc="-10" dirty="0">
                <a:solidFill>
                  <a:srgbClr val="003366"/>
                </a:solidFill>
              </a:rPr>
              <a:t>changes</a:t>
            </a:r>
          </a:p>
          <a:p>
            <a:pPr marL="751840" indent="-457200">
              <a:lnSpc>
                <a:spcPct val="100000"/>
              </a:lnSpc>
              <a:spcBef>
                <a:spcPts val="1175"/>
              </a:spcBef>
              <a:buFont typeface="Wingdings"/>
              <a:buChar char=""/>
              <a:tabLst>
                <a:tab pos="751840" algn="l"/>
              </a:tabLst>
            </a:pPr>
            <a:r>
              <a:rPr dirty="0">
                <a:solidFill>
                  <a:srgbClr val="339933"/>
                </a:solidFill>
              </a:rPr>
              <a:t>Concentrate</a:t>
            </a:r>
            <a:r>
              <a:rPr spc="-50" dirty="0">
                <a:solidFill>
                  <a:srgbClr val="339933"/>
                </a:solidFill>
              </a:rPr>
              <a:t> </a:t>
            </a:r>
            <a:r>
              <a:rPr dirty="0">
                <a:solidFill>
                  <a:srgbClr val="339933"/>
                </a:solidFill>
              </a:rPr>
              <a:t>on</a:t>
            </a:r>
            <a:r>
              <a:rPr spc="-15" dirty="0">
                <a:solidFill>
                  <a:srgbClr val="339933"/>
                </a:solidFill>
              </a:rPr>
              <a:t> </a:t>
            </a:r>
            <a:r>
              <a:rPr dirty="0">
                <a:solidFill>
                  <a:srgbClr val="339933"/>
                </a:solidFill>
              </a:rPr>
              <a:t>overall</a:t>
            </a:r>
            <a:r>
              <a:rPr spc="-50" dirty="0">
                <a:solidFill>
                  <a:srgbClr val="339933"/>
                </a:solidFill>
              </a:rPr>
              <a:t> </a:t>
            </a:r>
            <a:r>
              <a:rPr dirty="0">
                <a:solidFill>
                  <a:srgbClr val="339933"/>
                </a:solidFill>
              </a:rPr>
              <a:t>control</a:t>
            </a:r>
            <a:r>
              <a:rPr spc="-35" dirty="0">
                <a:solidFill>
                  <a:srgbClr val="339933"/>
                </a:solidFill>
              </a:rPr>
              <a:t> </a:t>
            </a:r>
            <a:r>
              <a:rPr dirty="0">
                <a:solidFill>
                  <a:srgbClr val="339933"/>
                </a:solidFill>
              </a:rPr>
              <a:t>flow</a:t>
            </a:r>
            <a:r>
              <a:rPr spc="-20" dirty="0">
                <a:solidFill>
                  <a:srgbClr val="339933"/>
                </a:solidFill>
              </a:rPr>
              <a:t> </a:t>
            </a:r>
            <a:r>
              <a:rPr dirty="0">
                <a:solidFill>
                  <a:srgbClr val="339933"/>
                </a:solidFill>
              </a:rPr>
              <a:t>and</a:t>
            </a:r>
            <a:r>
              <a:rPr spc="-25" dirty="0">
                <a:solidFill>
                  <a:srgbClr val="339933"/>
                </a:solidFill>
              </a:rPr>
              <a:t> </a:t>
            </a:r>
            <a:r>
              <a:rPr dirty="0">
                <a:solidFill>
                  <a:srgbClr val="339933"/>
                </a:solidFill>
              </a:rPr>
              <a:t>not</a:t>
            </a:r>
            <a:r>
              <a:rPr spc="-20" dirty="0">
                <a:solidFill>
                  <a:srgbClr val="339933"/>
                </a:solidFill>
              </a:rPr>
              <a:t> </a:t>
            </a:r>
            <a:r>
              <a:rPr spc="-10" dirty="0">
                <a:solidFill>
                  <a:srgbClr val="339933"/>
                </a:solidFill>
              </a:rPr>
              <a:t>coding</a:t>
            </a:r>
          </a:p>
          <a:p>
            <a:pPr marL="751840" indent="-457200">
              <a:lnSpc>
                <a:spcPct val="100000"/>
              </a:lnSpc>
              <a:spcBef>
                <a:spcPts val="1175"/>
              </a:spcBef>
              <a:buFont typeface="Wingdings"/>
              <a:buChar char=""/>
              <a:tabLst>
                <a:tab pos="751840" algn="l"/>
              </a:tabLst>
            </a:pPr>
            <a:r>
              <a:rPr dirty="0">
                <a:solidFill>
                  <a:srgbClr val="003366"/>
                </a:solidFill>
              </a:rPr>
              <a:t>Heavily</a:t>
            </a:r>
            <a:r>
              <a:rPr spc="-50" dirty="0">
                <a:solidFill>
                  <a:srgbClr val="003366"/>
                </a:solidFill>
              </a:rPr>
              <a:t> </a:t>
            </a:r>
            <a:r>
              <a:rPr dirty="0">
                <a:solidFill>
                  <a:srgbClr val="003366"/>
                </a:solidFill>
              </a:rPr>
              <a:t>comment</a:t>
            </a:r>
            <a:r>
              <a:rPr spc="-25" dirty="0">
                <a:solidFill>
                  <a:srgbClr val="003366"/>
                </a:solidFill>
              </a:rPr>
              <a:t> </a:t>
            </a:r>
            <a:r>
              <a:rPr dirty="0">
                <a:solidFill>
                  <a:srgbClr val="003366"/>
                </a:solidFill>
              </a:rPr>
              <a:t>internal</a:t>
            </a:r>
            <a:r>
              <a:rPr spc="-15" dirty="0">
                <a:solidFill>
                  <a:srgbClr val="003366"/>
                </a:solidFill>
              </a:rPr>
              <a:t> </a:t>
            </a:r>
            <a:r>
              <a:rPr spc="-20" dirty="0">
                <a:solidFill>
                  <a:srgbClr val="003366"/>
                </a:solidFill>
              </a:rPr>
              <a:t>code</a:t>
            </a:r>
          </a:p>
          <a:p>
            <a:pPr marL="751840" indent="-457200">
              <a:lnSpc>
                <a:spcPct val="100000"/>
              </a:lnSpc>
              <a:spcBef>
                <a:spcPts val="1375"/>
              </a:spcBef>
              <a:buFont typeface="Wingdings"/>
              <a:buChar char=""/>
              <a:tabLst>
                <a:tab pos="751840" algn="l"/>
              </a:tabLst>
            </a:pPr>
            <a:r>
              <a:rPr dirty="0">
                <a:solidFill>
                  <a:srgbClr val="DA1F28"/>
                </a:solidFill>
              </a:rPr>
              <a:t>Create</a:t>
            </a:r>
            <a:r>
              <a:rPr spc="-90" dirty="0">
                <a:solidFill>
                  <a:srgbClr val="DA1F28"/>
                </a:solidFill>
              </a:rPr>
              <a:t> </a:t>
            </a:r>
            <a:r>
              <a:rPr dirty="0">
                <a:solidFill>
                  <a:srgbClr val="DA1F28"/>
                </a:solidFill>
              </a:rPr>
              <a:t>Cross</a:t>
            </a:r>
            <a:r>
              <a:rPr spc="-80" dirty="0">
                <a:solidFill>
                  <a:srgbClr val="DA1F28"/>
                </a:solidFill>
              </a:rPr>
              <a:t> </a:t>
            </a:r>
            <a:r>
              <a:rPr spc="-10" dirty="0">
                <a:solidFill>
                  <a:srgbClr val="DA1F28"/>
                </a:solidFill>
              </a:rPr>
              <a:t>References</a:t>
            </a:r>
          </a:p>
          <a:p>
            <a:pPr marL="751840" indent="-457200">
              <a:lnSpc>
                <a:spcPct val="100000"/>
              </a:lnSpc>
              <a:spcBef>
                <a:spcPts val="1180"/>
              </a:spcBef>
              <a:buFont typeface="Wingdings"/>
              <a:buChar char=""/>
              <a:tabLst>
                <a:tab pos="751840" algn="l"/>
              </a:tabLst>
            </a:pPr>
            <a:r>
              <a:rPr dirty="0">
                <a:solidFill>
                  <a:srgbClr val="003366"/>
                </a:solidFill>
              </a:rPr>
              <a:t>Build</a:t>
            </a:r>
            <a:r>
              <a:rPr spc="-30" dirty="0">
                <a:solidFill>
                  <a:srgbClr val="003366"/>
                </a:solidFill>
              </a:rPr>
              <a:t> </a:t>
            </a:r>
            <a:r>
              <a:rPr dirty="0">
                <a:solidFill>
                  <a:srgbClr val="003366"/>
                </a:solidFill>
              </a:rPr>
              <a:t>Symbol</a:t>
            </a:r>
            <a:r>
              <a:rPr spc="-35" dirty="0">
                <a:solidFill>
                  <a:srgbClr val="003366"/>
                </a:solidFill>
              </a:rPr>
              <a:t> </a:t>
            </a:r>
            <a:r>
              <a:rPr spc="-10" dirty="0">
                <a:solidFill>
                  <a:srgbClr val="003366"/>
                </a:solidFill>
              </a:rPr>
              <a:t>tables</a:t>
            </a:r>
          </a:p>
          <a:p>
            <a:pPr marL="751840" indent="-457200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751840" algn="l"/>
              </a:tabLst>
            </a:pPr>
            <a:r>
              <a:rPr dirty="0">
                <a:solidFill>
                  <a:srgbClr val="FF0000"/>
                </a:solidFill>
              </a:rPr>
              <a:t>Use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own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variables,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constants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and</a:t>
            </a:r>
            <a:r>
              <a:rPr spc="-1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declarations</a:t>
            </a:r>
            <a:r>
              <a:rPr spc="-6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localize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the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effect</a:t>
            </a:r>
          </a:p>
          <a:p>
            <a:pPr marL="751840" indent="-457200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751840" algn="l"/>
              </a:tabLst>
            </a:pPr>
            <a:r>
              <a:rPr dirty="0">
                <a:solidFill>
                  <a:srgbClr val="003366"/>
                </a:solidFill>
              </a:rPr>
              <a:t>Keep</a:t>
            </a:r>
            <a:r>
              <a:rPr spc="-35" dirty="0">
                <a:solidFill>
                  <a:srgbClr val="003366"/>
                </a:solidFill>
              </a:rPr>
              <a:t> </a:t>
            </a:r>
            <a:r>
              <a:rPr dirty="0">
                <a:solidFill>
                  <a:srgbClr val="003366"/>
                </a:solidFill>
              </a:rPr>
              <a:t>detailed</a:t>
            </a:r>
            <a:r>
              <a:rPr spc="-20" dirty="0">
                <a:solidFill>
                  <a:srgbClr val="003366"/>
                </a:solidFill>
              </a:rPr>
              <a:t> </a:t>
            </a:r>
            <a:r>
              <a:rPr dirty="0">
                <a:solidFill>
                  <a:srgbClr val="003366"/>
                </a:solidFill>
              </a:rPr>
              <a:t>maintenance</a:t>
            </a:r>
            <a:r>
              <a:rPr spc="-45" dirty="0">
                <a:solidFill>
                  <a:srgbClr val="003366"/>
                </a:solidFill>
              </a:rPr>
              <a:t> </a:t>
            </a:r>
            <a:r>
              <a:rPr spc="-10" dirty="0">
                <a:solidFill>
                  <a:srgbClr val="003366"/>
                </a:solidFill>
              </a:rPr>
              <a:t>document</a:t>
            </a:r>
          </a:p>
          <a:p>
            <a:pPr marL="756920" indent="-457200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756920" algn="l"/>
              </a:tabLst>
            </a:pPr>
            <a:r>
              <a:rPr dirty="0">
                <a:solidFill>
                  <a:srgbClr val="663300"/>
                </a:solidFill>
              </a:rPr>
              <a:t>Use</a:t>
            </a:r>
            <a:r>
              <a:rPr spc="-35" dirty="0">
                <a:solidFill>
                  <a:srgbClr val="663300"/>
                </a:solidFill>
              </a:rPr>
              <a:t> </a:t>
            </a:r>
            <a:r>
              <a:rPr dirty="0">
                <a:solidFill>
                  <a:srgbClr val="663300"/>
                </a:solidFill>
              </a:rPr>
              <a:t>modern</a:t>
            </a:r>
            <a:r>
              <a:rPr spc="-35" dirty="0">
                <a:solidFill>
                  <a:srgbClr val="663300"/>
                </a:solidFill>
              </a:rPr>
              <a:t> </a:t>
            </a:r>
            <a:r>
              <a:rPr dirty="0">
                <a:solidFill>
                  <a:srgbClr val="663300"/>
                </a:solidFill>
              </a:rPr>
              <a:t>design</a:t>
            </a:r>
            <a:r>
              <a:rPr spc="-35" dirty="0">
                <a:solidFill>
                  <a:srgbClr val="663300"/>
                </a:solidFill>
              </a:rPr>
              <a:t> </a:t>
            </a:r>
            <a:r>
              <a:rPr spc="-10" dirty="0">
                <a:solidFill>
                  <a:srgbClr val="663300"/>
                </a:solidFill>
              </a:rPr>
              <a:t>techniques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12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489709"/>
            <a:ext cx="8321040" cy="442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Source</a:t>
            </a:r>
            <a:r>
              <a:rPr sz="24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Code</a:t>
            </a:r>
            <a:r>
              <a:rPr sz="2400" b="1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Translation</a:t>
            </a:r>
            <a:endParaRPr sz="2400">
              <a:latin typeface="Times New Roman"/>
              <a:cs typeface="Times New Roman"/>
            </a:endParaRPr>
          </a:p>
          <a:p>
            <a:pPr marL="986790" marR="5080" lvl="1" indent="-456565" algn="just">
              <a:lnSpc>
                <a:spcPct val="100000"/>
              </a:lnSpc>
              <a:spcBef>
                <a:spcPts val="1575"/>
              </a:spcBef>
              <a:buAutoNum type="arabicPeriod"/>
              <a:tabLst>
                <a:tab pos="98806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Hardware</a:t>
            </a:r>
            <a:r>
              <a:rPr sz="2000" b="1" spc="1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platform</a:t>
            </a:r>
            <a:r>
              <a:rPr sz="2000" b="1" spc="1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update:</a:t>
            </a:r>
            <a:r>
              <a:rPr sz="2000" b="1" spc="1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1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organization</a:t>
            </a:r>
            <a:r>
              <a:rPr sz="2000" b="1" spc="1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may</a:t>
            </a:r>
            <a:r>
              <a:rPr sz="2000" b="1" spc="1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wish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1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change 	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its</a:t>
            </a:r>
            <a:r>
              <a:rPr sz="2000" b="1" spc="26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standard</a:t>
            </a:r>
            <a:r>
              <a:rPr sz="2000" b="1" spc="26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hardware</a:t>
            </a:r>
            <a:r>
              <a:rPr sz="2000" b="1" spc="26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platform.</a:t>
            </a:r>
            <a:r>
              <a:rPr sz="2000" b="1" spc="26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Compilers</a:t>
            </a:r>
            <a:r>
              <a:rPr sz="2000" b="1" spc="26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for</a:t>
            </a:r>
            <a:r>
              <a:rPr sz="2000" b="1" spc="24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26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original 	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language</a:t>
            </a:r>
            <a:r>
              <a:rPr sz="2000" b="1" spc="-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may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not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be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available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on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new</a:t>
            </a:r>
            <a:r>
              <a:rPr sz="2000" b="1" spc="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platform.</a:t>
            </a:r>
            <a:endParaRPr sz="2000">
              <a:latin typeface="Times New Roman"/>
              <a:cs typeface="Times New Roman"/>
            </a:endParaRPr>
          </a:p>
          <a:p>
            <a:pPr marL="986790" marR="5715" lvl="1" indent="-456565" algn="just">
              <a:lnSpc>
                <a:spcPct val="100000"/>
              </a:lnSpc>
              <a:spcBef>
                <a:spcPts val="2025"/>
              </a:spcBef>
              <a:buAutoNum type="arabicPeriod"/>
              <a:tabLst>
                <a:tab pos="98806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Staff</a:t>
            </a:r>
            <a:r>
              <a:rPr sz="2000" b="1" spc="3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Skill</a:t>
            </a:r>
            <a:r>
              <a:rPr sz="2000" b="1" spc="29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Shortages:</a:t>
            </a:r>
            <a:r>
              <a:rPr sz="2000" b="1" spc="3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There</a:t>
            </a:r>
            <a:r>
              <a:rPr sz="2000" b="1" spc="3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may</a:t>
            </a:r>
            <a:r>
              <a:rPr sz="2000" b="1" spc="30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be</a:t>
            </a:r>
            <a:r>
              <a:rPr sz="2000" b="1" spc="3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lack</a:t>
            </a:r>
            <a:r>
              <a:rPr sz="2000" b="1" spc="3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3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trained</a:t>
            </a:r>
            <a:r>
              <a:rPr sz="2000" b="1" spc="30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maintenance 	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staff</a:t>
            </a:r>
            <a:r>
              <a:rPr sz="2000" b="1" spc="1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for</a:t>
            </a:r>
            <a:r>
              <a:rPr sz="2000" b="1" spc="1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1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original</a:t>
            </a:r>
            <a:r>
              <a:rPr sz="2000" b="1" spc="1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language.</a:t>
            </a:r>
            <a:r>
              <a:rPr sz="2000" b="1" spc="1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This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is</a:t>
            </a:r>
            <a:r>
              <a:rPr sz="2000" b="1" spc="1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1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particular</a:t>
            </a:r>
            <a:r>
              <a:rPr sz="2000" b="1" spc="114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problem</a:t>
            </a:r>
            <a:r>
              <a:rPr sz="2000" b="1" spc="1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where 	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programs</a:t>
            </a:r>
            <a:r>
              <a:rPr sz="2000" b="1" spc="3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were</a:t>
            </a:r>
            <a:r>
              <a:rPr sz="2000" b="1" spc="3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written</a:t>
            </a:r>
            <a:r>
              <a:rPr sz="2000" b="1" spc="3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sz="2000" b="1" spc="3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some</a:t>
            </a:r>
            <a:r>
              <a:rPr sz="2000" b="1" spc="36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non</a:t>
            </a:r>
            <a:r>
              <a:rPr sz="2000" b="1" spc="3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standard</a:t>
            </a:r>
            <a:r>
              <a:rPr sz="2000" b="1" spc="3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language</a:t>
            </a:r>
            <a:r>
              <a:rPr sz="2000" b="1" spc="3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that</a:t>
            </a:r>
            <a:r>
              <a:rPr sz="2000" b="1" spc="3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has 	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now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gone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out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-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general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use.</a:t>
            </a:r>
            <a:endParaRPr sz="2000">
              <a:latin typeface="Times New Roman"/>
              <a:cs typeface="Times New Roman"/>
            </a:endParaRPr>
          </a:p>
          <a:p>
            <a:pPr marL="986155" marR="83185" lvl="1" indent="-455930" algn="just">
              <a:lnSpc>
                <a:spcPct val="100000"/>
              </a:lnSpc>
              <a:spcBef>
                <a:spcPts val="1755"/>
              </a:spcBef>
              <a:buAutoNum type="arabicPeriod"/>
              <a:tabLst>
                <a:tab pos="98806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Organizational</a:t>
            </a:r>
            <a:r>
              <a:rPr sz="2000" b="1" spc="1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policy</a:t>
            </a:r>
            <a:r>
              <a:rPr sz="2000" b="1" spc="2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changes:</a:t>
            </a:r>
            <a:r>
              <a:rPr sz="2000" b="1" spc="2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</a:t>
            </a:r>
            <a:r>
              <a:rPr sz="2000" b="1" spc="2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organization</a:t>
            </a:r>
            <a:r>
              <a:rPr sz="2000" b="1" spc="2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may</a:t>
            </a:r>
            <a:r>
              <a:rPr sz="2000" b="1" spc="2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decide</a:t>
            </a:r>
            <a:r>
              <a:rPr sz="2000" b="1" spc="1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to 	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standardize</a:t>
            </a:r>
            <a:r>
              <a:rPr sz="2000" b="1" spc="7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on</a:t>
            </a:r>
            <a:r>
              <a:rPr sz="2000" b="1" spc="8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8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particular</a:t>
            </a:r>
            <a:r>
              <a:rPr sz="2000" b="1" spc="6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language</a:t>
            </a:r>
            <a:r>
              <a:rPr sz="2000" b="1" spc="7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7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minimize</a:t>
            </a:r>
            <a:r>
              <a:rPr sz="2000" b="1" spc="8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its</a:t>
            </a:r>
            <a:r>
              <a:rPr sz="2000" b="1" spc="7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support 	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software</a:t>
            </a:r>
            <a:r>
              <a:rPr sz="2000" b="1" spc="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costs.</a:t>
            </a:r>
            <a:r>
              <a:rPr sz="2000" b="1" spc="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Maintaining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many</a:t>
            </a:r>
            <a:r>
              <a:rPr sz="2000" b="1" spc="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versions</a:t>
            </a:r>
            <a:r>
              <a:rPr sz="2000" b="1" spc="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old</a:t>
            </a:r>
            <a:r>
              <a:rPr sz="2000" b="1" spc="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compilers</a:t>
            </a:r>
            <a:r>
              <a:rPr sz="2000" b="1" spc="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can</a:t>
            </a:r>
            <a:r>
              <a:rPr sz="2000" b="1" spc="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be 	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very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expensive.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12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489709"/>
            <a:ext cx="8323580" cy="3109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Program</a:t>
            </a:r>
            <a:r>
              <a:rPr sz="24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Restructuring</a:t>
            </a:r>
            <a:endParaRPr sz="2400">
              <a:latin typeface="Times New Roman"/>
              <a:cs typeface="Times New Roman"/>
            </a:endParaRPr>
          </a:p>
          <a:p>
            <a:pPr marL="986790" marR="5080" lvl="1" indent="-456565" algn="just">
              <a:lnSpc>
                <a:spcPct val="100000"/>
              </a:lnSpc>
              <a:spcBef>
                <a:spcPts val="2575"/>
              </a:spcBef>
              <a:buAutoNum type="arabicPeriod"/>
              <a:tabLst>
                <a:tab pos="98806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Control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flow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driven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restructuring:</a:t>
            </a:r>
            <a:r>
              <a:rPr sz="2000" b="1" spc="-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This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involves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imposition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 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a 	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clear</a:t>
            </a:r>
            <a:r>
              <a:rPr sz="2000" b="1" spc="3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control</a:t>
            </a:r>
            <a:r>
              <a:rPr sz="2000" b="1" spc="3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structure</a:t>
            </a:r>
            <a:r>
              <a:rPr sz="2000" b="1" spc="3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within</a:t>
            </a:r>
            <a:r>
              <a:rPr sz="2000" b="1" spc="3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3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source</a:t>
            </a:r>
            <a:r>
              <a:rPr sz="2000" b="1" spc="3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code</a:t>
            </a:r>
            <a:r>
              <a:rPr sz="2000" b="1" spc="3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sz="2000" b="1" spc="3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can</a:t>
            </a:r>
            <a:r>
              <a:rPr sz="2000" b="1" spc="3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be</a:t>
            </a:r>
            <a:r>
              <a:rPr sz="2000" b="1" spc="3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either 	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inter</a:t>
            </a:r>
            <a:r>
              <a:rPr sz="2000" b="1" spc="-8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modular</a:t>
            </a:r>
            <a:r>
              <a:rPr sz="2000" b="1" spc="-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intra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modular</a:t>
            </a:r>
            <a:r>
              <a:rPr sz="2000" b="1" spc="-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sz="2000" b="1" spc="-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nature.</a:t>
            </a:r>
            <a:endParaRPr sz="2000">
              <a:latin typeface="Times New Roman"/>
              <a:cs typeface="Times New Roman"/>
            </a:endParaRPr>
          </a:p>
          <a:p>
            <a:pPr marL="986790" marR="10160" lvl="1" indent="-456565" algn="just">
              <a:lnSpc>
                <a:spcPct val="100000"/>
              </a:lnSpc>
              <a:spcBef>
                <a:spcPts val="2025"/>
              </a:spcBef>
              <a:buAutoNum type="arabicPeriod"/>
              <a:tabLst>
                <a:tab pos="98806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Efficiency</a:t>
            </a:r>
            <a:r>
              <a:rPr sz="2000" b="1" spc="17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driven</a:t>
            </a:r>
            <a:r>
              <a:rPr sz="2000" b="1" spc="18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restructuring:</a:t>
            </a:r>
            <a:r>
              <a:rPr sz="2000" b="1" spc="18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This</a:t>
            </a:r>
            <a:r>
              <a:rPr sz="2000" b="1" spc="16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involves</a:t>
            </a:r>
            <a:r>
              <a:rPr sz="2000" b="1" spc="18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restructuring</a:t>
            </a:r>
            <a:r>
              <a:rPr sz="2000" b="1" spc="17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a 	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function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algorithm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make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it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more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efficient.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-1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simple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example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is 	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2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replacement</a:t>
            </a:r>
            <a:r>
              <a:rPr sz="2000" b="1" spc="2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2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</a:t>
            </a:r>
            <a:r>
              <a:rPr sz="2000" b="1" spc="2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IF-THEN-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ELSE-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IF-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ELSE</a:t>
            </a:r>
            <a:r>
              <a:rPr sz="2000" b="1" spc="2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construct</a:t>
            </a:r>
            <a:r>
              <a:rPr sz="2000" b="1" spc="2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with</a:t>
            </a:r>
            <a:r>
              <a:rPr sz="2000" b="1" spc="2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a 	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CASE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construct.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475" y="1972048"/>
            <a:ext cx="7785558" cy="28803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52801" y="5159197"/>
            <a:ext cx="43662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Fig.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13: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Restructuring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0" dirty="0">
                <a:latin typeface="Times New Roman"/>
                <a:cs typeface="Times New Roman"/>
              </a:rPr>
              <a:t> program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12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4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12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6549" y="1578609"/>
            <a:ext cx="779970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834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3.</a:t>
            </a:r>
            <a:r>
              <a:rPr sz="2000" b="1" spc="170" dirty="0">
                <a:solidFill>
                  <a:srgbClr val="003366"/>
                </a:solidFill>
                <a:latin typeface="Times New Roman"/>
                <a:cs typeface="Times New Roman"/>
              </a:rPr>
              <a:t> 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Adaption</a:t>
            </a:r>
            <a:r>
              <a:rPr sz="2000" b="1" spc="2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driven</a:t>
            </a:r>
            <a:r>
              <a:rPr sz="2000" b="1" spc="2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restructuring:</a:t>
            </a:r>
            <a:r>
              <a:rPr sz="2000" b="1" spc="2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This</a:t>
            </a:r>
            <a:r>
              <a:rPr sz="2000" b="1" spc="2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involves</a:t>
            </a:r>
            <a:r>
              <a:rPr sz="2000" b="1" spc="2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changing</a:t>
            </a:r>
            <a:r>
              <a:rPr sz="2000" b="1" spc="2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2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coding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style</a:t>
            </a:r>
            <a:r>
              <a:rPr sz="2000" b="1" spc="12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sz="2000" b="1" spc="12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order</a:t>
            </a:r>
            <a:r>
              <a:rPr sz="2000" b="1" spc="11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12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adapt</a:t>
            </a:r>
            <a:r>
              <a:rPr sz="2000" b="1" spc="114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13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program</a:t>
            </a:r>
            <a:r>
              <a:rPr sz="2000" b="1" spc="12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to</a:t>
            </a:r>
            <a:r>
              <a:rPr sz="2000" b="1" spc="120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12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new</a:t>
            </a:r>
            <a:r>
              <a:rPr sz="2000" b="1" spc="125" dirty="0">
                <a:solidFill>
                  <a:srgbClr val="003366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programming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language</a:t>
            </a:r>
            <a:r>
              <a:rPr sz="2000" b="1" spc="1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or</a:t>
            </a:r>
            <a:r>
              <a:rPr sz="2000" b="1" spc="1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new</a:t>
            </a:r>
            <a:r>
              <a:rPr sz="2000" b="1" spc="1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operating</a:t>
            </a:r>
            <a:r>
              <a:rPr sz="2000" b="1" spc="1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environment,</a:t>
            </a:r>
            <a:r>
              <a:rPr sz="2000" b="1" spc="1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for</a:t>
            </a:r>
            <a:r>
              <a:rPr sz="2000" b="1" spc="1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instance</a:t>
            </a:r>
            <a:r>
              <a:rPr sz="2000" b="1" spc="1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changing</a:t>
            </a:r>
            <a:r>
              <a:rPr sz="2000" b="1" spc="1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an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imperative</a:t>
            </a:r>
            <a:r>
              <a:rPr sz="2000" b="1" spc="-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program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PASCAL</a:t>
            </a:r>
            <a:r>
              <a:rPr sz="2000" b="1" spc="-1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into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functional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program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LISP.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12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043811"/>
            <a:ext cx="8594725" cy="5235575"/>
          </a:xfrm>
          <a:prstGeom prst="rect">
            <a:avLst/>
          </a:prstGeom>
        </p:spPr>
        <p:txBody>
          <a:bodyPr vert="horz" wrap="square" lIns="0" tIns="208279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639"/>
              </a:spcBef>
            </a:pPr>
            <a:r>
              <a:rPr sz="2800" b="1" dirty="0">
                <a:latin typeface="Times New Roman"/>
                <a:cs typeface="Times New Roman"/>
              </a:rPr>
              <a:t>Configuration</a:t>
            </a:r>
            <a:r>
              <a:rPr sz="2800" b="1" spc="-16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Management</a:t>
            </a:r>
            <a:endParaRPr sz="2800">
              <a:latin typeface="Times New Roman"/>
              <a:cs typeface="Times New Roman"/>
            </a:endParaRPr>
          </a:p>
          <a:p>
            <a:pPr marL="35560" marR="5080" algn="just">
              <a:lnSpc>
                <a:spcPct val="100000"/>
              </a:lnSpc>
              <a:spcBef>
                <a:spcPts val="1115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process</a:t>
            </a:r>
            <a:r>
              <a:rPr sz="2000" b="1" spc="2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20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software</a:t>
            </a:r>
            <a:r>
              <a:rPr sz="2000" b="1" spc="20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development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2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maintenance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20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controlled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2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called </a:t>
            </a:r>
            <a:r>
              <a:rPr sz="2000" b="1" dirty="0">
                <a:latin typeface="Times New Roman"/>
                <a:cs typeface="Times New Roman"/>
              </a:rPr>
              <a:t>configuration</a:t>
            </a:r>
            <a:r>
              <a:rPr sz="2000" b="1" spc="4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management.</a:t>
            </a:r>
            <a:r>
              <a:rPr sz="2000" b="1" spc="5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4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configuration</a:t>
            </a:r>
            <a:r>
              <a:rPr sz="2000" b="1" spc="5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management</a:t>
            </a:r>
            <a:r>
              <a:rPr sz="2000" b="1" spc="4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5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different</a:t>
            </a:r>
            <a:r>
              <a:rPr sz="2000" b="1" spc="50" dirty="0">
                <a:latin typeface="Times New Roman"/>
                <a:cs typeface="Times New Roman"/>
              </a:rPr>
              <a:t>  </a:t>
            </a:r>
            <a:r>
              <a:rPr sz="2000" b="1" spc="-25" dirty="0">
                <a:latin typeface="Times New Roman"/>
                <a:cs typeface="Times New Roman"/>
              </a:rPr>
              <a:t>in </a:t>
            </a:r>
            <a:r>
              <a:rPr sz="2000" b="1" dirty="0">
                <a:latin typeface="Times New Roman"/>
                <a:cs typeface="Times New Roman"/>
              </a:rPr>
              <a:t>development</a:t>
            </a:r>
            <a:r>
              <a:rPr sz="2000" b="1" spc="28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28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maintenance</a:t>
            </a:r>
            <a:r>
              <a:rPr sz="2000" b="1" spc="28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phases</a:t>
            </a:r>
            <a:r>
              <a:rPr sz="2000" b="1" spc="28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29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life</a:t>
            </a:r>
            <a:r>
              <a:rPr sz="2000" b="1" spc="28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cycle</a:t>
            </a:r>
            <a:r>
              <a:rPr sz="2000" b="1" spc="28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due</a:t>
            </a:r>
            <a:r>
              <a:rPr sz="2000" b="1" spc="28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285" dirty="0">
                <a:latin typeface="Times New Roman"/>
                <a:cs typeface="Times New Roman"/>
              </a:rPr>
              <a:t>    </a:t>
            </a:r>
            <a:r>
              <a:rPr sz="2000" b="1" spc="-10" dirty="0">
                <a:latin typeface="Times New Roman"/>
                <a:cs typeface="Times New Roman"/>
              </a:rPr>
              <a:t>different environments.</a:t>
            </a:r>
            <a:endParaRPr sz="2000">
              <a:latin typeface="Times New Roman"/>
              <a:cs typeface="Times New Roman"/>
            </a:endParaRPr>
          </a:p>
          <a:p>
            <a:pPr marL="545465" indent="-456565">
              <a:lnSpc>
                <a:spcPct val="100000"/>
              </a:lnSpc>
              <a:spcBef>
                <a:spcPts val="1695"/>
              </a:spcBef>
              <a:buFont typeface="Wingdings"/>
              <a:buChar char=""/>
              <a:tabLst>
                <a:tab pos="5454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Configuration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Management</a:t>
            </a:r>
            <a:r>
              <a:rPr sz="2400" b="1" spc="-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Activities</a:t>
            </a:r>
            <a:endParaRPr sz="2400">
              <a:latin typeface="Times New Roman"/>
              <a:cs typeface="Times New Roman"/>
            </a:endParaRPr>
          </a:p>
          <a:p>
            <a:pPr marL="149860" algn="just">
              <a:lnSpc>
                <a:spcPct val="100000"/>
              </a:lnSpc>
              <a:spcBef>
                <a:spcPts val="1430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activities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divided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into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four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broad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categories.</a:t>
            </a:r>
            <a:endParaRPr sz="2000">
              <a:latin typeface="Times New Roman"/>
              <a:cs typeface="Times New Roman"/>
            </a:endParaRPr>
          </a:p>
          <a:p>
            <a:pPr marL="682625" lvl="1" indent="-456565">
              <a:lnSpc>
                <a:spcPct val="100000"/>
              </a:lnSpc>
              <a:spcBef>
                <a:spcPts val="1525"/>
              </a:spcBef>
              <a:buAutoNum type="arabicPeriod"/>
              <a:tabLst>
                <a:tab pos="682625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identification</a:t>
            </a:r>
            <a:r>
              <a:rPr sz="2000" b="1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components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and</a:t>
            </a:r>
            <a:r>
              <a:rPr sz="2000" b="1" spc="-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changes</a:t>
            </a:r>
            <a:endParaRPr sz="2000">
              <a:latin typeface="Times New Roman"/>
              <a:cs typeface="Times New Roman"/>
            </a:endParaRPr>
          </a:p>
          <a:p>
            <a:pPr marL="682625" lvl="1" indent="-45656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682625" algn="l"/>
              </a:tabLst>
            </a:pP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The</a:t>
            </a:r>
            <a:r>
              <a:rPr sz="2000" b="1" spc="-3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control</a:t>
            </a:r>
            <a:r>
              <a:rPr sz="2000" b="1" spc="-4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of</a:t>
            </a:r>
            <a:r>
              <a:rPr sz="2000" b="1" spc="-3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way</a:t>
            </a:r>
            <a:r>
              <a:rPr sz="2000" b="1" spc="-10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by</a:t>
            </a:r>
            <a:r>
              <a:rPr sz="2000" b="1" spc="-3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which</a:t>
            </a:r>
            <a:r>
              <a:rPr sz="2000" b="1" spc="-1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changes</a:t>
            </a:r>
            <a:r>
              <a:rPr sz="2000" b="1" spc="-40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are</a:t>
            </a:r>
            <a:r>
              <a:rPr sz="2000" b="1" spc="-2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DA1F28"/>
                </a:solidFill>
                <a:latin typeface="Times New Roman"/>
                <a:cs typeface="Times New Roman"/>
              </a:rPr>
              <a:t>made</a:t>
            </a:r>
            <a:endParaRPr sz="2000">
              <a:latin typeface="Times New Roman"/>
              <a:cs typeface="Times New Roman"/>
            </a:endParaRPr>
          </a:p>
          <a:p>
            <a:pPr marL="682625" lvl="1" indent="-456565">
              <a:lnSpc>
                <a:spcPct val="100000"/>
              </a:lnSpc>
              <a:spcBef>
                <a:spcPts val="1175"/>
              </a:spcBef>
              <a:buAutoNum type="arabicPeriod"/>
              <a:tabLst>
                <a:tab pos="682625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Auditing</a:t>
            </a:r>
            <a:r>
              <a:rPr sz="2000" b="1" spc="-6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changes</a:t>
            </a:r>
            <a:endParaRPr sz="2000">
              <a:latin typeface="Times New Roman"/>
              <a:cs typeface="Times New Roman"/>
            </a:endParaRPr>
          </a:p>
          <a:p>
            <a:pPr marL="683260" marR="737870" lvl="1" indent="-457200">
              <a:lnSpc>
                <a:spcPct val="100000"/>
              </a:lnSpc>
              <a:spcBef>
                <a:spcPts val="1125"/>
              </a:spcBef>
              <a:buAutoNum type="arabicPeriod"/>
              <a:tabLst>
                <a:tab pos="683260" algn="l"/>
              </a:tabLst>
            </a:pP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Status</a:t>
            </a:r>
            <a:r>
              <a:rPr sz="2000" b="1" spc="43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accounting</a:t>
            </a:r>
            <a:r>
              <a:rPr sz="2000" b="1" spc="44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recording</a:t>
            </a:r>
            <a:r>
              <a:rPr sz="2000" b="1" spc="45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and</a:t>
            </a:r>
            <a:r>
              <a:rPr sz="2000" b="1" spc="45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documenting</a:t>
            </a:r>
            <a:r>
              <a:rPr sz="2000" b="1" spc="45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all</a:t>
            </a:r>
            <a:r>
              <a:rPr sz="2000" b="1" spc="434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the</a:t>
            </a:r>
            <a:r>
              <a:rPr sz="2000" b="1" spc="45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339933"/>
                </a:solidFill>
                <a:latin typeface="Times New Roman"/>
                <a:cs typeface="Times New Roman"/>
              </a:rPr>
              <a:t>activities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that</a:t>
            </a:r>
            <a:r>
              <a:rPr sz="2000" b="1" spc="-3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have</a:t>
            </a:r>
            <a:r>
              <a:rPr sz="2000" b="1" spc="-1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take</a:t>
            </a:r>
            <a:r>
              <a:rPr sz="2000" b="1" spc="-1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339933"/>
                </a:solidFill>
                <a:latin typeface="Times New Roman"/>
                <a:cs typeface="Times New Roman"/>
              </a:rPr>
              <a:t>place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12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7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8851" y="1426209"/>
            <a:ext cx="6176645" cy="3354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following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documents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required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these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activities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2000">
              <a:latin typeface="Times New Roman"/>
              <a:cs typeface="Times New Roman"/>
            </a:endParaRPr>
          </a:p>
          <a:p>
            <a:pPr marL="675640" indent="-457200">
              <a:lnSpc>
                <a:spcPct val="100000"/>
              </a:lnSpc>
              <a:buFont typeface="Wingdings"/>
              <a:buChar char=""/>
              <a:tabLst>
                <a:tab pos="67564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Project</a:t>
            </a:r>
            <a:r>
              <a:rPr sz="2000" b="1" spc="-7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plan</a:t>
            </a:r>
            <a:endParaRPr sz="2000">
              <a:latin typeface="Times New Roman"/>
              <a:cs typeface="Times New Roman"/>
            </a:endParaRPr>
          </a:p>
          <a:p>
            <a:pPr marL="675640" indent="-457200">
              <a:lnSpc>
                <a:spcPct val="100000"/>
              </a:lnSpc>
              <a:spcBef>
                <a:spcPts val="1175"/>
              </a:spcBef>
              <a:buFont typeface="Wingdings"/>
              <a:buChar char=""/>
              <a:tabLst>
                <a:tab pos="675640" algn="l"/>
              </a:tabLst>
            </a:pP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Software</a:t>
            </a:r>
            <a:r>
              <a:rPr sz="2000" b="1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requirements</a:t>
            </a:r>
            <a:r>
              <a:rPr sz="2000" b="1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CC"/>
                </a:solidFill>
                <a:latin typeface="Times New Roman"/>
                <a:cs typeface="Times New Roman"/>
              </a:rPr>
              <a:t>specification</a:t>
            </a:r>
            <a:r>
              <a:rPr sz="2000" b="1" spc="-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document</a:t>
            </a:r>
            <a:endParaRPr sz="2000">
              <a:latin typeface="Times New Roman"/>
              <a:cs typeface="Times New Roman"/>
            </a:endParaRPr>
          </a:p>
          <a:p>
            <a:pPr marL="675640" indent="-457200">
              <a:lnSpc>
                <a:spcPct val="100000"/>
              </a:lnSpc>
              <a:spcBef>
                <a:spcPts val="1175"/>
              </a:spcBef>
              <a:buFont typeface="Wingdings"/>
              <a:buChar char=""/>
              <a:tabLst>
                <a:tab pos="67564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Software</a:t>
            </a:r>
            <a:r>
              <a:rPr sz="2000" b="1" spc="-8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design</a:t>
            </a:r>
            <a:r>
              <a:rPr sz="2000" b="1" spc="-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description</a:t>
            </a:r>
            <a:r>
              <a:rPr sz="2000" b="1" spc="-7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document</a:t>
            </a:r>
            <a:endParaRPr sz="2000">
              <a:latin typeface="Times New Roman"/>
              <a:cs typeface="Times New Roman"/>
            </a:endParaRPr>
          </a:p>
          <a:p>
            <a:pPr marL="675640" indent="-457200">
              <a:lnSpc>
                <a:spcPct val="100000"/>
              </a:lnSpc>
              <a:spcBef>
                <a:spcPts val="1375"/>
              </a:spcBef>
              <a:buFont typeface="Wingdings"/>
              <a:buChar char=""/>
              <a:tabLst>
                <a:tab pos="675640" algn="l"/>
              </a:tabLst>
            </a:pP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Source</a:t>
            </a:r>
            <a:r>
              <a:rPr sz="2000" b="1" spc="-55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339933"/>
                </a:solidFill>
                <a:latin typeface="Times New Roman"/>
                <a:cs typeface="Times New Roman"/>
              </a:rPr>
              <a:t>code</a:t>
            </a:r>
            <a:r>
              <a:rPr sz="2000" b="1" spc="-20" dirty="0">
                <a:solidFill>
                  <a:srgbClr val="339933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339933"/>
                </a:solidFill>
                <a:latin typeface="Times New Roman"/>
                <a:cs typeface="Times New Roman"/>
              </a:rPr>
              <a:t>listing</a:t>
            </a:r>
            <a:endParaRPr sz="2000">
              <a:latin typeface="Times New Roman"/>
              <a:cs typeface="Times New Roman"/>
            </a:endParaRPr>
          </a:p>
          <a:p>
            <a:pPr marL="675640" indent="-457200">
              <a:lnSpc>
                <a:spcPct val="100000"/>
              </a:lnSpc>
              <a:spcBef>
                <a:spcPts val="1180"/>
              </a:spcBef>
              <a:buFont typeface="Wingdings"/>
              <a:buChar char=""/>
              <a:tabLst>
                <a:tab pos="675640" algn="l"/>
              </a:tabLst>
            </a:pPr>
            <a:r>
              <a:rPr sz="2000" b="1" spc="-30" dirty="0">
                <a:solidFill>
                  <a:srgbClr val="663300"/>
                </a:solidFill>
                <a:latin typeface="Times New Roman"/>
                <a:cs typeface="Times New Roman"/>
              </a:rPr>
              <a:t>Test</a:t>
            </a:r>
            <a:r>
              <a:rPr sz="2000" b="1" spc="-4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plans</a:t>
            </a:r>
            <a:r>
              <a:rPr sz="2000" b="1" spc="-6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/</a:t>
            </a:r>
            <a:r>
              <a:rPr sz="2000" b="1" spc="-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procedures</a:t>
            </a:r>
            <a:r>
              <a:rPr sz="2000" b="1" spc="-6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/</a:t>
            </a:r>
            <a:r>
              <a:rPr sz="2000" b="1" spc="-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test</a:t>
            </a:r>
            <a:r>
              <a:rPr sz="2000" b="1" spc="-4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cases</a:t>
            </a:r>
            <a:endParaRPr sz="2000">
              <a:latin typeface="Times New Roman"/>
              <a:cs typeface="Times New Roman"/>
            </a:endParaRPr>
          </a:p>
          <a:p>
            <a:pPr marL="675640" indent="-457200">
              <a:lnSpc>
                <a:spcPct val="100000"/>
              </a:lnSpc>
              <a:spcBef>
                <a:spcPts val="1300"/>
              </a:spcBef>
              <a:buFont typeface="Wingdings"/>
              <a:buChar char=""/>
              <a:tabLst>
                <a:tab pos="675640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User</a:t>
            </a:r>
            <a:r>
              <a:rPr sz="2000" b="1" spc="-5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manuals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12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8300" y="1241805"/>
            <a:ext cx="8573135" cy="4840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4505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84505" algn="l"/>
              </a:tabLst>
            </a:pP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400" b="1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Versions</a:t>
            </a:r>
            <a:endParaRPr sz="2400">
              <a:latin typeface="Times New Roman"/>
              <a:cs typeface="Times New Roman"/>
            </a:endParaRPr>
          </a:p>
          <a:p>
            <a:pPr marL="27305" marR="626110" indent="29209" algn="just">
              <a:lnSpc>
                <a:spcPct val="180700"/>
              </a:lnSpc>
              <a:spcBef>
                <a:spcPts val="114"/>
              </a:spcBef>
            </a:pPr>
            <a:r>
              <a:rPr sz="2000" b="1" spc="-40" dirty="0">
                <a:latin typeface="Times New Roman"/>
                <a:cs typeface="Times New Roman"/>
              </a:rPr>
              <a:t>Two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types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versions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namely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revisions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(replace)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variations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(variety). </a:t>
            </a:r>
            <a:r>
              <a:rPr sz="2000" b="1" spc="-25" dirty="0">
                <a:latin typeface="Times New Roman"/>
                <a:cs typeface="Times New Roman"/>
              </a:rPr>
              <a:t>Version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Control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789"/>
              </a:spcBef>
            </a:pPr>
            <a:r>
              <a:rPr sz="2000" b="1" dirty="0">
                <a:latin typeface="Times New Roman"/>
                <a:cs typeface="Times New Roman"/>
              </a:rPr>
              <a:t>A version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control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tool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first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stage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towards</a:t>
            </a:r>
            <a:r>
              <a:rPr sz="2000" b="1" spc="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being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able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manage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multiple </a:t>
            </a:r>
            <a:r>
              <a:rPr sz="2000" b="1" dirty="0">
                <a:latin typeface="Times New Roman"/>
                <a:cs typeface="Times New Roman"/>
              </a:rPr>
              <a:t>versions.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Once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place,</a:t>
            </a:r>
            <a:r>
              <a:rPr sz="2000" b="1" spc="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detailed</a:t>
            </a:r>
            <a:r>
              <a:rPr sz="2000" b="1" spc="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record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10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every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version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9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software </a:t>
            </a:r>
            <a:r>
              <a:rPr sz="2000" b="1" dirty="0">
                <a:latin typeface="Times New Roman"/>
                <a:cs typeface="Times New Roman"/>
              </a:rPr>
              <a:t>must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kept.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This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comprises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688975" marR="254635" lvl="1" indent="-457200">
              <a:lnSpc>
                <a:spcPct val="100000"/>
              </a:lnSpc>
              <a:spcBef>
                <a:spcPts val="1675"/>
              </a:spcBef>
              <a:buFont typeface="Wingdings"/>
              <a:buChar char=""/>
              <a:tabLst>
                <a:tab pos="688975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Name</a:t>
            </a:r>
            <a:r>
              <a:rPr sz="2000" b="1" spc="3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3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each</a:t>
            </a:r>
            <a:r>
              <a:rPr sz="2000" b="1" spc="3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source</a:t>
            </a:r>
            <a:r>
              <a:rPr sz="2000" b="1" spc="3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code</a:t>
            </a:r>
            <a:r>
              <a:rPr sz="2000" b="1" spc="3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component,</a:t>
            </a:r>
            <a:r>
              <a:rPr sz="2000" b="1" spc="3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including</a:t>
            </a:r>
            <a:r>
              <a:rPr sz="2000" b="1" spc="31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31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variations</a:t>
            </a:r>
            <a:r>
              <a:rPr sz="2000" b="1" spc="3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and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revisions</a:t>
            </a:r>
            <a:endParaRPr sz="2000">
              <a:latin typeface="Times New Roman"/>
              <a:cs typeface="Times New Roman"/>
            </a:endParaRPr>
          </a:p>
          <a:p>
            <a:pPr marL="688975" lvl="1" indent="-457200">
              <a:lnSpc>
                <a:spcPct val="100000"/>
              </a:lnSpc>
              <a:spcBef>
                <a:spcPts val="1025"/>
              </a:spcBef>
              <a:buFont typeface="Wingdings"/>
              <a:buChar char=""/>
              <a:tabLst>
                <a:tab pos="688975" algn="l"/>
              </a:tabLst>
            </a:pP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versions</a:t>
            </a:r>
            <a:r>
              <a:rPr sz="2000" b="1" spc="-3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2000" b="1" spc="-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000" b="1" spc="-1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various</a:t>
            </a:r>
            <a:r>
              <a:rPr sz="2000" b="1" spc="-5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compilers</a:t>
            </a:r>
            <a:r>
              <a:rPr sz="2000" b="1" spc="-3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and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linkers</a:t>
            </a:r>
            <a:r>
              <a:rPr sz="2000" b="1" spc="-2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663300"/>
                </a:solidFill>
                <a:latin typeface="Times New Roman"/>
                <a:cs typeface="Times New Roman"/>
              </a:rPr>
              <a:t>used</a:t>
            </a:r>
            <a:endParaRPr sz="2000">
              <a:latin typeface="Times New Roman"/>
              <a:cs typeface="Times New Roman"/>
            </a:endParaRPr>
          </a:p>
          <a:p>
            <a:pPr marL="688975" lvl="1" indent="-457200">
              <a:lnSpc>
                <a:spcPct val="100000"/>
              </a:lnSpc>
              <a:spcBef>
                <a:spcPts val="1180"/>
              </a:spcBef>
              <a:buFont typeface="Wingdings"/>
              <a:buChar char=""/>
              <a:tabLst>
                <a:tab pos="688975" algn="l"/>
              </a:tabLst>
            </a:pP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name</a:t>
            </a:r>
            <a:r>
              <a:rPr sz="2000" b="1" spc="-3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of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2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software</a:t>
            </a:r>
            <a:r>
              <a:rPr sz="2000" b="1" spc="-4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staff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who constructed</a:t>
            </a:r>
            <a:r>
              <a:rPr sz="2000" b="1" spc="-45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3366"/>
                </a:solidFill>
                <a:latin typeface="Times New Roman"/>
                <a:cs typeface="Times New Roman"/>
              </a:rPr>
              <a:t>the</a:t>
            </a:r>
            <a:r>
              <a:rPr sz="2000" b="1" spc="-3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3366"/>
                </a:solidFill>
                <a:latin typeface="Times New Roman"/>
                <a:cs typeface="Times New Roman"/>
              </a:rPr>
              <a:t>component</a:t>
            </a:r>
            <a:endParaRPr sz="2000">
              <a:latin typeface="Times New Roman"/>
              <a:cs typeface="Times New Roman"/>
            </a:endParaRPr>
          </a:p>
          <a:p>
            <a:pPr marL="688975" lvl="1" indent="-457200">
              <a:lnSpc>
                <a:spcPct val="100000"/>
              </a:lnSpc>
              <a:spcBef>
                <a:spcPts val="1375"/>
              </a:spcBef>
              <a:buFont typeface="Wingdings"/>
              <a:buChar char=""/>
              <a:tabLst>
                <a:tab pos="688975" algn="l"/>
              </a:tabLst>
            </a:pP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date</a:t>
            </a:r>
            <a:r>
              <a:rPr sz="2000" b="1" spc="-30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and</a:t>
            </a:r>
            <a:r>
              <a:rPr sz="2000" b="1" spc="-2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the</a:t>
            </a:r>
            <a:r>
              <a:rPr sz="2000" b="1" spc="-20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time</a:t>
            </a:r>
            <a:r>
              <a:rPr sz="2000" b="1" spc="-3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at</a:t>
            </a:r>
            <a:r>
              <a:rPr sz="2000" b="1" spc="-20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which</a:t>
            </a:r>
            <a:r>
              <a:rPr sz="2000" b="1" spc="-10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it</a:t>
            </a:r>
            <a:r>
              <a:rPr sz="2000" b="1" spc="-25" dirty="0">
                <a:solidFill>
                  <a:srgbClr val="DA1F28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DA1F28"/>
                </a:solidFill>
                <a:latin typeface="Times New Roman"/>
                <a:cs typeface="Times New Roman"/>
              </a:rPr>
              <a:t>was </a:t>
            </a:r>
            <a:r>
              <a:rPr sz="2000" b="1" spc="-10" dirty="0">
                <a:solidFill>
                  <a:srgbClr val="DA1F28"/>
                </a:solidFill>
                <a:latin typeface="Times New Roman"/>
                <a:cs typeface="Times New Roman"/>
              </a:rPr>
              <a:t>constructed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12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8300" y="1546605"/>
            <a:ext cx="8496300" cy="188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4505" indent="-4572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8450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Change</a:t>
            </a:r>
            <a:r>
              <a:rPr sz="24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Control</a:t>
            </a:r>
            <a:r>
              <a:rPr sz="24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2175"/>
              </a:spcBef>
            </a:pPr>
            <a:r>
              <a:rPr sz="2000" b="1" dirty="0">
                <a:latin typeface="Times New Roman"/>
                <a:cs typeface="Times New Roman"/>
              </a:rPr>
              <a:t>Change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control</a:t>
            </a:r>
            <a:r>
              <a:rPr sz="2000" b="1" spc="2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process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comes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into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effect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when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2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software</a:t>
            </a:r>
            <a:r>
              <a:rPr sz="2000" b="1" spc="2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2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associated </a:t>
            </a:r>
            <a:r>
              <a:rPr sz="2000" b="1" dirty="0">
                <a:latin typeface="Times New Roman"/>
                <a:cs typeface="Times New Roman"/>
              </a:rPr>
              <a:t>documentation</a:t>
            </a:r>
            <a:r>
              <a:rPr sz="2000" b="1" spc="4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are</a:t>
            </a:r>
            <a:r>
              <a:rPr sz="2000" b="1" spc="4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delivered</a:t>
            </a:r>
            <a:r>
              <a:rPr sz="2000" b="1" spc="4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43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configuration</a:t>
            </a:r>
            <a:r>
              <a:rPr sz="2000" b="1" spc="4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management</a:t>
            </a:r>
            <a:r>
              <a:rPr sz="2000" b="1" spc="4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change</a:t>
            </a:r>
            <a:r>
              <a:rPr sz="2000" b="1" spc="4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request </a:t>
            </a:r>
            <a:r>
              <a:rPr sz="2000" b="1" dirty="0">
                <a:latin typeface="Times New Roman"/>
                <a:cs typeface="Times New Roman"/>
              </a:rPr>
              <a:t>form</a:t>
            </a:r>
            <a:r>
              <a:rPr sz="2000" b="1" spc="1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(as</a:t>
            </a:r>
            <a:r>
              <a:rPr sz="2000" b="1" spc="1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shown</a:t>
            </a:r>
            <a:r>
              <a:rPr sz="2000" b="1" spc="1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in</a:t>
            </a:r>
            <a:r>
              <a:rPr sz="2000" b="1" spc="1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fig.</a:t>
            </a:r>
            <a:r>
              <a:rPr sz="2000" b="1" spc="1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14),</a:t>
            </a:r>
            <a:r>
              <a:rPr sz="2000" b="1" spc="13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which</a:t>
            </a:r>
            <a:r>
              <a:rPr sz="2000" b="1" spc="1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should</a:t>
            </a:r>
            <a:r>
              <a:rPr sz="2000" b="1" spc="1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record</a:t>
            </a:r>
            <a:r>
              <a:rPr sz="2000" b="1" spc="1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130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recommendations </a:t>
            </a:r>
            <a:r>
              <a:rPr sz="2000" b="1" dirty="0">
                <a:latin typeface="Times New Roman"/>
                <a:cs typeface="Times New Roman"/>
              </a:rPr>
              <a:t>regarding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change.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006539"/>
            <a:ext cx="5235526" cy="503707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04800" y="8604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82304" y="6420466"/>
            <a:ext cx="153670" cy="31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90"/>
              </a:lnSpc>
            </a:pPr>
            <a:r>
              <a:rPr sz="1000" spc="-25" dirty="0">
                <a:latin typeface="Times New Roman"/>
                <a:cs typeface="Times New Roman"/>
              </a:rPr>
              <a:t>13</a:t>
            </a:r>
            <a:endParaRPr sz="1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1000" spc="-50" dirty="0"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38729" y="6092748"/>
            <a:ext cx="38379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Fig.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14: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Change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request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form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935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40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13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560956"/>
            <a:ext cx="8594090" cy="1811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/>
                <a:cs typeface="Times New Roman"/>
              </a:rPr>
              <a:t>Documentation</a:t>
            </a:r>
            <a:endParaRPr sz="2800">
              <a:latin typeface="Times New Roman"/>
              <a:cs typeface="Times New Roman"/>
            </a:endParaRPr>
          </a:p>
          <a:p>
            <a:pPr marL="35560" marR="5080" algn="just">
              <a:lnSpc>
                <a:spcPct val="100000"/>
              </a:lnSpc>
              <a:spcBef>
                <a:spcPts val="2780"/>
              </a:spcBef>
            </a:pP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Software</a:t>
            </a:r>
            <a:r>
              <a:rPr sz="2200" b="1" spc="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documentation</a:t>
            </a:r>
            <a:r>
              <a:rPr sz="2200" b="1" spc="1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is</a:t>
            </a:r>
            <a:r>
              <a:rPr sz="2200" b="1" spc="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200" b="1" spc="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written</a:t>
            </a:r>
            <a:r>
              <a:rPr sz="2200" b="1" spc="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record</a:t>
            </a:r>
            <a:r>
              <a:rPr sz="2200" b="1" spc="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2200" b="1" spc="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200" b="1" spc="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facts</a:t>
            </a:r>
            <a:r>
              <a:rPr sz="2200" b="1" spc="1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about</a:t>
            </a:r>
            <a:r>
              <a:rPr sz="2200" b="1" spc="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200" b="1" spc="-50" dirty="0">
                <a:solidFill>
                  <a:srgbClr val="663300"/>
                </a:solidFill>
                <a:latin typeface="Times New Roman"/>
                <a:cs typeface="Times New Roman"/>
              </a:rPr>
              <a:t>a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software</a:t>
            </a:r>
            <a:r>
              <a:rPr sz="2200" b="1" spc="3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system</a:t>
            </a:r>
            <a:r>
              <a:rPr sz="2200" b="1" spc="33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recorded</a:t>
            </a:r>
            <a:r>
              <a:rPr sz="2200" b="1" spc="35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with</a:t>
            </a:r>
            <a:r>
              <a:rPr sz="2200" b="1" spc="3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the</a:t>
            </a:r>
            <a:r>
              <a:rPr sz="2200" b="1" spc="34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intent</a:t>
            </a:r>
            <a:r>
              <a:rPr sz="2200" b="1" spc="34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sz="2200" b="1" spc="34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convey</a:t>
            </a:r>
            <a:r>
              <a:rPr sz="2200" b="1" spc="35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purpose,</a:t>
            </a:r>
            <a:r>
              <a:rPr sz="2200" b="1" spc="3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content </a:t>
            </a:r>
            <a:r>
              <a:rPr sz="2200" b="1" dirty="0">
                <a:solidFill>
                  <a:srgbClr val="663300"/>
                </a:solidFill>
                <a:latin typeface="Times New Roman"/>
                <a:cs typeface="Times New Roman"/>
              </a:rPr>
              <a:t>and</a:t>
            </a:r>
            <a:r>
              <a:rPr sz="2200" b="1" spc="-4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clarity.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860425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13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013205"/>
            <a:ext cx="3159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User</a:t>
            </a:r>
            <a:r>
              <a:rPr sz="24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Documentation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44826" y="6150051"/>
            <a:ext cx="3825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Table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5: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User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Documentation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90512" y="1509712"/>
          <a:ext cx="8458200" cy="4578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S.No.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1AC"/>
                    </a:solidFill>
                  </a:tcPr>
                </a:tc>
                <a:tc>
                  <a:txBody>
                    <a:bodyPr/>
                    <a:lstStyle/>
                    <a:p>
                      <a:pPr marL="6908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1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Function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1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1.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Overview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6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general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description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system’s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 functions.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646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2.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Installation</a:t>
                      </a:r>
                      <a:r>
                        <a:rPr sz="1600" b="1" spc="-9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Guide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 marR="140970" algn="just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Describes</a:t>
                      </a:r>
                      <a:r>
                        <a:rPr sz="1600" b="1" spc="33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600" b="1" spc="33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b="1" spc="32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600" b="1" spc="31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600" b="1" spc="33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32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system,</a:t>
                      </a:r>
                      <a:r>
                        <a:rPr sz="1600" b="1" spc="33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customize</a:t>
                      </a:r>
                      <a:r>
                        <a:rPr sz="1600" b="1" spc="33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600" b="1" spc="33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1600" b="1" spc="33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sz="1600" b="1" spc="34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600" b="1" spc="34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b="1" spc="34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configure</a:t>
                      </a:r>
                      <a:r>
                        <a:rPr sz="1600" b="1" spc="34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600" b="1" spc="34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b="1" spc="34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particular hardware</a:t>
                      </a:r>
                      <a:r>
                        <a:rPr sz="1600" b="1" spc="-7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b="1" spc="-3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600" b="1" spc="-5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b="1" spc="-3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systems.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3.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Beginner’s</a:t>
                      </a:r>
                      <a:r>
                        <a:rPr sz="16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Guide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60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sz="1600" b="1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explanations</a:t>
                      </a:r>
                      <a:r>
                        <a:rPr sz="1600" b="1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b="1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600" b="1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b="1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sz="1600" b="1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600" b="1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0795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system.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4.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Reference</a:t>
                      </a:r>
                      <a:r>
                        <a:rPr sz="1600" b="1" spc="-85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Guide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600" b="1" spc="22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b="1" spc="229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depth</a:t>
                      </a:r>
                      <a:r>
                        <a:rPr sz="1600" b="1" spc="22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r>
                        <a:rPr sz="1600" b="1" spc="225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b="1" spc="22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600" b="1" spc="22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b="1" spc="22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facility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212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b="1" spc="-4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600" b="1" spc="-3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600" b="1" spc="-2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600" b="1" spc="-1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b="1" spc="-3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used.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5.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Enhancement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Booklet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Contains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summary</a:t>
                      </a:r>
                      <a:r>
                        <a:rPr sz="16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features.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6.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Quick</a:t>
                      </a:r>
                      <a:r>
                        <a:rPr sz="1600" b="1" spc="-55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reference</a:t>
                      </a:r>
                      <a:r>
                        <a:rPr sz="1600" b="1" spc="-4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card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Serves</a:t>
                      </a:r>
                      <a:r>
                        <a:rPr sz="1600" b="1" spc="-3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600" b="1" spc="-35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b="1" spc="-3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factual</a:t>
                      </a:r>
                      <a:r>
                        <a:rPr sz="1600" b="1" spc="-1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lookup.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7.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administration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144780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600" b="1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1600" b="1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600" b="1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services</a:t>
                      </a:r>
                      <a:r>
                        <a:rPr sz="1600" b="1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600" b="1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600" b="1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net-working,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upgrading.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2192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383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Software</a:t>
            </a:r>
            <a:r>
              <a:rPr spc="-175" dirty="0"/>
              <a:t> </a:t>
            </a:r>
            <a:r>
              <a:rPr spc="-315" dirty="0"/>
              <a:t>Maintenance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13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2100" y="1699005"/>
            <a:ext cx="8577580" cy="165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070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56070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4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Documentation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It</a:t>
            </a:r>
            <a:r>
              <a:rPr sz="2000" b="1" spc="47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refers</a:t>
            </a:r>
            <a:r>
              <a:rPr sz="2000" b="1" spc="48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to</a:t>
            </a:r>
            <a:r>
              <a:rPr sz="2000" b="1" spc="48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those</a:t>
            </a:r>
            <a:r>
              <a:rPr sz="2000" b="1" spc="47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documentation</a:t>
            </a:r>
            <a:r>
              <a:rPr sz="2000" b="1" spc="49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containing</a:t>
            </a:r>
            <a:r>
              <a:rPr sz="2000" b="1" spc="49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all</a:t>
            </a:r>
            <a:r>
              <a:rPr sz="2000" b="1" spc="47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facets</a:t>
            </a:r>
            <a:r>
              <a:rPr sz="2000" b="1" spc="48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of</a:t>
            </a:r>
            <a:r>
              <a:rPr sz="2000" b="1" spc="48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system,</a:t>
            </a:r>
            <a:r>
              <a:rPr sz="2000" b="1" spc="484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including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analysis,</a:t>
            </a:r>
            <a:r>
              <a:rPr sz="2000" b="1" spc="40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specification,</a:t>
            </a:r>
            <a:r>
              <a:rPr sz="2000" b="1" spc="40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design,</a:t>
            </a:r>
            <a:r>
              <a:rPr sz="2000" b="1" spc="40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implementation,</a:t>
            </a:r>
            <a:r>
              <a:rPr sz="2000" b="1" spc="400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testing,</a:t>
            </a:r>
            <a:r>
              <a:rPr sz="2000" b="1" spc="40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security,</a:t>
            </a:r>
            <a:r>
              <a:rPr sz="2000" b="1" spc="405" dirty="0">
                <a:solidFill>
                  <a:srgbClr val="663300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error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diagnosis</a:t>
            </a:r>
            <a:r>
              <a:rPr sz="2000" b="1" spc="-5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663300"/>
                </a:solidFill>
                <a:latin typeface="Times New Roman"/>
                <a:cs typeface="Times New Roman"/>
              </a:rPr>
              <a:t>and</a:t>
            </a:r>
            <a:r>
              <a:rPr sz="2000" b="1" spc="-2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3300"/>
                </a:solidFill>
                <a:latin typeface="Times New Roman"/>
                <a:cs typeface="Times New Roman"/>
              </a:rPr>
              <a:t>recovery.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8255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3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5" dirty="0"/>
              <a:t>Software</a:t>
            </a:r>
            <a:r>
              <a:rPr spc="-120" dirty="0"/>
              <a:t> </a:t>
            </a:r>
            <a:r>
              <a:rPr spc="-310" dirty="0"/>
              <a:t>Maintenance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13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009903"/>
            <a:ext cx="3487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4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Documentation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0512" y="1585912"/>
          <a:ext cx="8458200" cy="4535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S.No.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1AC"/>
                    </a:solidFill>
                  </a:tcPr>
                </a:tc>
                <a:tc>
                  <a:txBody>
                    <a:bodyPr/>
                    <a:lstStyle/>
                    <a:p>
                      <a:pPr marL="6908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1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Function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1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1.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Rationale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Describes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objectives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entire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system.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2.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600" b="1" spc="-2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SRS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 marR="14414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600" b="1" spc="3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1600" b="1" spc="4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600" b="1" spc="2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exact</a:t>
                      </a:r>
                      <a:r>
                        <a:rPr sz="1600" b="1" spc="3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1600" b="1" spc="4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b="1" spc="4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600" b="1" spc="-5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agreed</a:t>
                      </a:r>
                      <a:r>
                        <a:rPr sz="1600" b="1" spc="-4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1600" b="1" spc="-4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600" b="1" spc="-5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b="1" spc="-4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developers.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55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3.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Specification/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Design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description</a:t>
                      </a:r>
                      <a:r>
                        <a:rPr sz="16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of: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80059" indent="-372110">
                        <a:lnSpc>
                          <a:spcPct val="100000"/>
                        </a:lnSpc>
                        <a:spcBef>
                          <a:spcPts val="385"/>
                        </a:spcBef>
                        <a:buAutoNum type="romanLcParenBoth"/>
                        <a:tabLst>
                          <a:tab pos="480059" algn="l"/>
                        </a:tabLst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 are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implemented.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78155" indent="-370205">
                        <a:lnSpc>
                          <a:spcPct val="100000"/>
                        </a:lnSpc>
                        <a:spcBef>
                          <a:spcPts val="385"/>
                        </a:spcBef>
                        <a:buAutoNum type="romanLcParenBoth"/>
                        <a:tabLst>
                          <a:tab pos="478155" algn="l"/>
                          <a:tab pos="1022985" algn="l"/>
                          <a:tab pos="1428115" algn="l"/>
                          <a:tab pos="2152015" algn="l"/>
                          <a:tab pos="2423160" algn="l"/>
                          <a:tab pos="3621404" algn="l"/>
                          <a:tab pos="4095750" algn="l"/>
                          <a:tab pos="4333240" algn="l"/>
                          <a:tab pos="4706620" algn="l"/>
                        </a:tabLst>
                      </a:pP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decomposed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80059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interacting</a:t>
                      </a:r>
                      <a:r>
                        <a:rPr sz="16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6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units.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78155" indent="-370205">
                        <a:lnSpc>
                          <a:spcPct val="100000"/>
                        </a:lnSpc>
                        <a:spcBef>
                          <a:spcPts val="385"/>
                        </a:spcBef>
                        <a:buAutoNum type="romanLcParenBoth" startAt="3"/>
                        <a:tabLst>
                          <a:tab pos="478155" algn="l"/>
                        </a:tabLst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function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unit.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698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558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4.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600" b="1" spc="-1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Implementation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600" b="1" spc="-1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600" b="1" spc="-45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r>
                        <a:rPr sz="1600" b="1" spc="-15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of: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92759" marR="161290" indent="-372110">
                        <a:lnSpc>
                          <a:spcPct val="100000"/>
                        </a:lnSpc>
                        <a:spcBef>
                          <a:spcPts val="384"/>
                        </a:spcBef>
                        <a:buAutoNum type="romanLcParenBoth"/>
                        <a:tabLst>
                          <a:tab pos="492759" algn="l"/>
                        </a:tabLst>
                      </a:pP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600" b="1" spc="375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35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detailed</a:t>
                      </a:r>
                      <a:r>
                        <a:rPr sz="1600" b="1" spc="36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b="1" spc="35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1600" b="1" spc="365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b="1" spc="36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expressed</a:t>
                      </a:r>
                      <a:r>
                        <a:rPr sz="1600" b="1" spc="36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some</a:t>
                      </a:r>
                      <a:r>
                        <a:rPr sz="1600" b="1" spc="-45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formal</a:t>
                      </a:r>
                      <a:r>
                        <a:rPr sz="1600" b="1" spc="-2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programming language.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91490" indent="-370205">
                        <a:lnSpc>
                          <a:spcPct val="100000"/>
                        </a:lnSpc>
                        <a:spcBef>
                          <a:spcPts val="380"/>
                        </a:spcBef>
                        <a:buAutoNum type="romanLcParenBoth"/>
                        <a:tabLst>
                          <a:tab pos="491490" algn="l"/>
                        </a:tabLst>
                      </a:pP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600" b="1" spc="385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actions</a:t>
                      </a:r>
                      <a:r>
                        <a:rPr sz="1600" b="1" spc="434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b="1" spc="409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409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form</a:t>
                      </a:r>
                      <a:r>
                        <a:rPr sz="1600" b="1" spc="39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b="1" spc="415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intra</a:t>
                      </a:r>
                      <a:r>
                        <a:rPr sz="1600" b="1" spc="409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program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9275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spc="-10" dirty="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comments.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143000"/>
            <a:ext cx="8610600" cy="0"/>
          </a:xfrm>
          <a:custGeom>
            <a:avLst/>
            <a:gdLst/>
            <a:ahLst/>
            <a:cxnLst/>
            <a:rect l="l" t="t" r="r" b="b"/>
            <a:pathLst>
              <a:path w="8610600">
                <a:moveTo>
                  <a:pt x="0" y="0"/>
                </a:moveTo>
                <a:lnTo>
                  <a:pt x="8610600" y="0"/>
                </a:lnTo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4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0" dirty="0"/>
              <a:t>Software</a:t>
            </a:r>
            <a:r>
              <a:rPr spc="-175" dirty="0"/>
              <a:t> </a:t>
            </a:r>
            <a:r>
              <a:rPr spc="-315" dirty="0"/>
              <a:t>Maintenance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6370">
              <a:lnSpc>
                <a:spcPts val="1190"/>
              </a:lnSpc>
            </a:pPr>
            <a:r>
              <a:rPr spc="-25" dirty="0"/>
              <a:t>13</a:t>
            </a:r>
          </a:p>
          <a:p>
            <a:pPr marL="229870">
              <a:lnSpc>
                <a:spcPct val="100000"/>
              </a:lnSpc>
            </a:pPr>
            <a:r>
              <a:rPr spc="-50" dirty="0"/>
              <a:t>5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0512" y="1585912"/>
          <a:ext cx="8458200" cy="28949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S.No.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1AC"/>
                    </a:solidFill>
                  </a:tcPr>
                </a:tc>
                <a:tc>
                  <a:txBody>
                    <a:bodyPr/>
                    <a:lstStyle/>
                    <a:p>
                      <a:pPr marL="6908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Document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1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Function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1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99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5.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Plan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84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 marR="200660" algn="just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600" b="1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description</a:t>
                      </a:r>
                      <a:r>
                        <a:rPr sz="1600" b="1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b="1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600" b="1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600" b="1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units</a:t>
                      </a:r>
                      <a:r>
                        <a:rPr sz="1600" b="1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600" b="1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tested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individually</a:t>
                      </a:r>
                      <a:r>
                        <a:rPr sz="1600" b="1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b="1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600" b="1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whole</a:t>
                      </a:r>
                      <a:r>
                        <a:rPr sz="1600" b="1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b="1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b="1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tested</a:t>
                      </a:r>
                      <a:r>
                        <a:rPr sz="1600" b="1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after integration.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6.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600" b="1" spc="-1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600" b="1" spc="-5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600" b="1" spc="-3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Plan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285" marR="14351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Describes</a:t>
                      </a:r>
                      <a:r>
                        <a:rPr sz="1600" b="1" spc="26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254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tests</a:t>
                      </a:r>
                      <a:r>
                        <a:rPr sz="1600" b="1" spc="26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600" b="1" spc="26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25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b="1" spc="26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must</a:t>
                      </a:r>
                      <a:r>
                        <a:rPr sz="1600" b="1" spc="24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r>
                        <a:rPr sz="1600" b="1" spc="254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before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600" b="1" spc="-50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accept</a:t>
                      </a:r>
                      <a:r>
                        <a:rPr sz="1600" b="1" spc="-3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339933"/>
                          </a:solidFill>
                          <a:latin typeface="Times New Roman"/>
                          <a:cs typeface="Times New Roman"/>
                        </a:rPr>
                        <a:t>it.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Arial MT"/>
                          <a:cs typeface="Arial MT"/>
                        </a:rPr>
                        <a:t>7.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8A6"/>
                    </a:solidFill>
                  </a:tcPr>
                </a:tc>
                <a:tc>
                  <a:txBody>
                    <a:bodyPr/>
                    <a:lstStyle/>
                    <a:p>
                      <a:pPr marL="117475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Dictionaries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054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0" marR="14541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Contains</a:t>
                      </a:r>
                      <a:r>
                        <a:rPr sz="1600" b="1" spc="3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description</a:t>
                      </a:r>
                      <a:r>
                        <a:rPr sz="1600" b="1" spc="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b="1" spc="3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600" b="1" spc="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terms</a:t>
                      </a:r>
                      <a:r>
                        <a:rPr sz="1600" b="1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600" b="1" spc="3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relate</a:t>
                      </a:r>
                      <a:r>
                        <a:rPr sz="1600" b="1" spc="40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b="1" spc="3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question.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380233" y="4930521"/>
            <a:ext cx="4152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Times New Roman"/>
                <a:cs typeface="Times New Roman"/>
              </a:rPr>
              <a:t>Table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6: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System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Documentation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0328" y="0"/>
            <a:ext cx="7543800" cy="4924425"/>
            <a:chOff x="650328" y="0"/>
            <a:chExt cx="7543800" cy="4924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328" y="2492882"/>
              <a:ext cx="7543800" cy="151142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9220" y="0"/>
              <a:ext cx="6568440" cy="31714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6524" y="1751076"/>
              <a:ext cx="5102352" cy="317296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60219" y="401319"/>
            <a:ext cx="4326890" cy="3530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9750" marR="5080" indent="-527685">
              <a:lnSpc>
                <a:spcPct val="100000"/>
              </a:lnSpc>
              <a:spcBef>
                <a:spcPts val="95"/>
              </a:spcBef>
            </a:pPr>
            <a:r>
              <a:rPr sz="11500" b="1" spc="-5" dirty="0">
                <a:solidFill>
                  <a:srgbClr val="330066"/>
                </a:solidFill>
                <a:latin typeface="Arial"/>
                <a:cs typeface="Arial"/>
              </a:rPr>
              <a:t>Thank  You!</a:t>
            </a:r>
            <a:endParaRPr sz="1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8971</Words>
  <Application>Microsoft Office PowerPoint</Application>
  <PresentationFormat>On-screen Show (4:3)</PresentationFormat>
  <Paragraphs>1098</Paragraphs>
  <Slides>133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133</vt:i4>
      </vt:variant>
    </vt:vector>
  </HeadingPairs>
  <TitlesOfParts>
    <vt:vector size="143" baseType="lpstr">
      <vt:lpstr>Arial MT</vt:lpstr>
      <vt:lpstr>Aptos</vt:lpstr>
      <vt:lpstr>Arial</vt:lpstr>
      <vt:lpstr>Lucida Sans Unicode</vt:lpstr>
      <vt:lpstr>Microsoft Sans Serif</vt:lpstr>
      <vt:lpstr>Symbol</vt:lpstr>
      <vt:lpstr>Times New Roman</vt:lpstr>
      <vt:lpstr>Verdana</vt:lpstr>
      <vt:lpstr>Wingdings</vt:lpstr>
      <vt:lpstr>Office Theme</vt:lpstr>
      <vt:lpstr>Chapter 7: Software Testing </vt:lpstr>
      <vt:lpstr>Software Testing</vt:lpstr>
      <vt:lpstr>Software Testing</vt:lpstr>
      <vt:lpstr>Appropriate definition</vt:lpstr>
      <vt:lpstr>Software Testing</vt:lpstr>
      <vt:lpstr>Software Testing</vt:lpstr>
      <vt:lpstr>Testing</vt:lpstr>
      <vt:lpstr>Software Testing</vt:lpstr>
      <vt:lpstr>Software Testing</vt:lpstr>
      <vt:lpstr>What is Software Testing?</vt:lpstr>
      <vt:lpstr>Software Testing</vt:lpstr>
      <vt:lpstr>Software Testing</vt:lpstr>
      <vt:lpstr>Software Testing</vt:lpstr>
      <vt:lpstr>Testing Levels</vt:lpstr>
      <vt:lpstr>Regression Testing</vt:lpstr>
      <vt:lpstr>Software Testing</vt:lpstr>
      <vt:lpstr>Software Testing</vt:lpstr>
      <vt:lpstr>Software Testing</vt:lpstr>
      <vt:lpstr>Software Testing</vt:lpstr>
      <vt:lpstr>Software Testing</vt:lpstr>
      <vt:lpstr>Software Testing</vt:lpstr>
      <vt:lpstr>Software Testing</vt:lpstr>
      <vt:lpstr>Software Testing</vt:lpstr>
      <vt:lpstr>Software Testing</vt:lpstr>
      <vt:lpstr>Software Testing</vt:lpstr>
      <vt:lpstr>Software Testing</vt:lpstr>
      <vt:lpstr>Software Testing</vt:lpstr>
      <vt:lpstr>Software Testing</vt:lpstr>
      <vt:lpstr>Software Testing</vt:lpstr>
      <vt:lpstr>Software Testing</vt:lpstr>
      <vt:lpstr>Software Testing</vt:lpstr>
      <vt:lpstr>Software Testing</vt:lpstr>
      <vt:lpstr>Software Testing</vt:lpstr>
      <vt:lpstr>Software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Manual vs Automated testing</vt:lpstr>
      <vt:lpstr>Manual vs Automated testing</vt:lpstr>
      <vt:lpstr>PowerPoint Presentation</vt:lpstr>
      <vt:lpstr>PowerPoint Presentation</vt:lpstr>
      <vt:lpstr>Testing Approaches</vt:lpstr>
      <vt:lpstr>Testing Approaches (Cont…)</vt:lpstr>
      <vt:lpstr>Testing</vt:lpstr>
      <vt:lpstr>Black-box testing</vt:lpstr>
      <vt:lpstr>Black-box testing</vt:lpstr>
      <vt:lpstr>Black-box testing techniques:</vt:lpstr>
      <vt:lpstr>White-box testing</vt:lpstr>
      <vt:lpstr>White-Box testing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Testing Documentation</vt:lpstr>
      <vt:lpstr>Testing Documentation</vt:lpstr>
      <vt:lpstr>Testing Documentation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Software Maintenance</vt:lpstr>
      <vt:lpstr>Thank 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Verification and Validation</dc:title>
  <dc:creator>Maneela Tuteja</dc:creator>
  <cp:lastModifiedBy>Gaspard Gashema</cp:lastModifiedBy>
  <cp:revision>13</cp:revision>
  <dcterms:created xsi:type="dcterms:W3CDTF">2025-11-17T23:41:44Z</dcterms:created>
  <dcterms:modified xsi:type="dcterms:W3CDTF">2025-11-27T17:25:38Z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2020-01-16T00:00:00Z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2025-11-17T00:00:00Z</vt:filetime>
  </property>
  <property fmtid="{D5CDD505-2E9C-101B-9397-08002B2CF9AE}" pid="5" name="Producer">
    <vt:lpwstr>Microsoft® Office PowerPoint® 2007</vt:lpwstr>
  </property>
</Properties>
</file>