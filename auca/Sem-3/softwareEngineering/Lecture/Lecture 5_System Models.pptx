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69" r:id="rId2"/>
    <p:sldId id="283" r:id="rId3"/>
    <p:sldId id="288" r:id="rId4"/>
    <p:sldId id="290" r:id="rId5"/>
    <p:sldId id="291" r:id="rId6"/>
    <p:sldId id="292" r:id="rId7"/>
    <p:sldId id="280" r:id="rId8"/>
    <p:sldId id="270" r:id="rId9"/>
    <p:sldId id="272" r:id="rId10"/>
    <p:sldId id="273" r:id="rId11"/>
    <p:sldId id="293" r:id="rId12"/>
    <p:sldId id="295" r:id="rId13"/>
    <p:sldId id="294" r:id="rId14"/>
    <p:sldId id="256" r:id="rId15"/>
    <p:sldId id="257" r:id="rId16"/>
    <p:sldId id="258" r:id="rId17"/>
    <p:sldId id="281" r:id="rId18"/>
    <p:sldId id="259" r:id="rId19"/>
    <p:sldId id="284" r:id="rId20"/>
    <p:sldId id="285" r:id="rId21"/>
    <p:sldId id="286" r:id="rId22"/>
    <p:sldId id="287" r:id="rId23"/>
    <p:sldId id="260" r:id="rId24"/>
    <p:sldId id="289" r:id="rId25"/>
    <p:sldId id="262" r:id="rId26"/>
    <p:sldId id="261" r:id="rId27"/>
    <p:sldId id="263" r:id="rId28"/>
    <p:sldId id="264" r:id="rId29"/>
    <p:sldId id="296" r:id="rId30"/>
    <p:sldId id="265" r:id="rId31"/>
    <p:sldId id="266" r:id="rId32"/>
    <p:sldId id="267" r:id="rId33"/>
    <p:sldId id="268" r:id="rId34"/>
    <p:sldId id="275" r:id="rId35"/>
    <p:sldId id="276" r:id="rId36"/>
    <p:sldId id="277" r:id="rId37"/>
    <p:sldId id="279" r:id="rId38"/>
    <p:sldId id="282" r:id="rId39"/>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2C299F7-BA1B-41CE-A55B-4A27C4D881AB}" type="datetimeFigureOut">
              <a:rPr lang="en-US" smtClean="0"/>
              <a:t>16-Nov-25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1EFDB52-FA6B-4F28-913F-7EDC12C58AE2}" type="slidenum">
              <a:rPr lang="en-US" smtClean="0"/>
              <a:t>‹#›</a:t>
            </a:fld>
            <a:endParaRPr lang="en-US"/>
          </a:p>
        </p:txBody>
      </p:sp>
    </p:spTree>
    <p:extLst>
      <p:ext uri="{BB962C8B-B14F-4D97-AF65-F5344CB8AC3E}">
        <p14:creationId xmlns:p14="http://schemas.microsoft.com/office/powerpoint/2010/main" val="3786978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A1862B72-19C8-4975-9DA2-A02D44858083}" type="datetime1">
              <a:rPr lang="en-US" smtClean="0"/>
              <a:t>16-Nov-25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F098947-9AFE-4F54-BECD-C533EA68706D}" type="datetime1">
              <a:rPr lang="en-US" smtClean="0"/>
              <a:t>16-Nov-25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283A7642-5296-4103-9642-8758917BC19D}" type="datetime1">
              <a:rPr lang="en-US" smtClean="0"/>
              <a:t>16-Nov-25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F3061814-F22F-44DE-9855-182863FDF98D}" type="datetime1">
              <a:rPr lang="en-US" smtClean="0"/>
              <a:t>16-Nov-25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9D0FFD1-B774-4D5B-B271-C0642D4A4EC9}" type="datetime1">
              <a:rPr lang="en-US" smtClean="0"/>
              <a:t>16-Nov-25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30161" y="798957"/>
            <a:ext cx="366395" cy="500380"/>
          </a:xfrm>
          <a:custGeom>
            <a:avLst/>
            <a:gdLst/>
            <a:ahLst/>
            <a:cxnLst/>
            <a:rect l="l" t="t" r="r" b="b"/>
            <a:pathLst>
              <a:path w="366394" h="500380">
                <a:moveTo>
                  <a:pt x="0" y="499872"/>
                </a:moveTo>
                <a:lnTo>
                  <a:pt x="365975" y="499872"/>
                </a:lnTo>
                <a:lnTo>
                  <a:pt x="365975" y="0"/>
                </a:lnTo>
                <a:lnTo>
                  <a:pt x="0" y="0"/>
                </a:lnTo>
                <a:lnTo>
                  <a:pt x="0" y="499872"/>
                </a:lnTo>
                <a:close/>
              </a:path>
            </a:pathLst>
          </a:custGeom>
          <a:solidFill>
            <a:srgbClr val="B1B1B1"/>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996137" y="798957"/>
            <a:ext cx="313537" cy="499872"/>
          </a:xfrm>
          <a:prstGeom prst="rect">
            <a:avLst/>
          </a:prstGeom>
        </p:spPr>
      </p:pic>
      <p:sp>
        <p:nvSpPr>
          <p:cNvPr id="18" name="bg object 18"/>
          <p:cNvSpPr/>
          <p:nvPr/>
        </p:nvSpPr>
        <p:spPr>
          <a:xfrm>
            <a:off x="748842" y="1241679"/>
            <a:ext cx="354965" cy="500380"/>
          </a:xfrm>
          <a:custGeom>
            <a:avLst/>
            <a:gdLst/>
            <a:ahLst/>
            <a:cxnLst/>
            <a:rect l="l" t="t" r="r" b="b"/>
            <a:pathLst>
              <a:path w="354965" h="500380">
                <a:moveTo>
                  <a:pt x="0" y="499872"/>
                </a:moveTo>
                <a:lnTo>
                  <a:pt x="354850" y="499872"/>
                </a:lnTo>
                <a:lnTo>
                  <a:pt x="354850" y="0"/>
                </a:lnTo>
                <a:lnTo>
                  <a:pt x="0" y="0"/>
                </a:lnTo>
                <a:lnTo>
                  <a:pt x="0" y="499872"/>
                </a:lnTo>
                <a:close/>
              </a:path>
            </a:pathLst>
          </a:custGeom>
          <a:solidFill>
            <a:srgbClr val="3333CC"/>
          </a:solidFill>
        </p:spPr>
        <p:txBody>
          <a:bodyPr wrap="square" lIns="0" tIns="0" rIns="0" bIns="0" rtlCol="0"/>
          <a:lstStyle/>
          <a:p>
            <a:endParaRPr/>
          </a:p>
        </p:txBody>
      </p:sp>
      <p:pic>
        <p:nvPicPr>
          <p:cNvPr id="19" name="bg object 19"/>
          <p:cNvPicPr/>
          <p:nvPr/>
        </p:nvPicPr>
        <p:blipFill>
          <a:blip r:embed="rId8" cstate="print"/>
          <a:stretch>
            <a:fillRect/>
          </a:stretch>
        </p:blipFill>
        <p:spPr>
          <a:xfrm>
            <a:off x="1103693" y="1241679"/>
            <a:ext cx="352742" cy="499872"/>
          </a:xfrm>
          <a:prstGeom prst="rect">
            <a:avLst/>
          </a:prstGeom>
        </p:spPr>
      </p:pic>
      <p:pic>
        <p:nvPicPr>
          <p:cNvPr id="20" name="bg object 20"/>
          <p:cNvPicPr/>
          <p:nvPr/>
        </p:nvPicPr>
        <p:blipFill>
          <a:blip r:embed="rId9" cstate="print"/>
          <a:stretch>
            <a:fillRect/>
          </a:stretch>
        </p:blipFill>
        <p:spPr>
          <a:xfrm>
            <a:off x="351688" y="1165034"/>
            <a:ext cx="537146" cy="442658"/>
          </a:xfrm>
          <a:prstGeom prst="rect">
            <a:avLst/>
          </a:prstGeom>
        </p:spPr>
      </p:pic>
      <p:sp>
        <p:nvSpPr>
          <p:cNvPr id="21" name="bg object 21"/>
          <p:cNvSpPr/>
          <p:nvPr/>
        </p:nvSpPr>
        <p:spPr>
          <a:xfrm>
            <a:off x="960361" y="685863"/>
            <a:ext cx="30480" cy="1103630"/>
          </a:xfrm>
          <a:custGeom>
            <a:avLst/>
            <a:gdLst/>
            <a:ahLst/>
            <a:cxnLst/>
            <a:rect l="l" t="t" r="r" b="b"/>
            <a:pathLst>
              <a:path w="30480" h="1103630">
                <a:moveTo>
                  <a:pt x="30429" y="920178"/>
                </a:moveTo>
                <a:lnTo>
                  <a:pt x="0" y="920178"/>
                </a:lnTo>
                <a:lnTo>
                  <a:pt x="0" y="1103312"/>
                </a:lnTo>
                <a:lnTo>
                  <a:pt x="30429" y="1103312"/>
                </a:lnTo>
                <a:lnTo>
                  <a:pt x="30429" y="920178"/>
                </a:lnTo>
                <a:close/>
              </a:path>
              <a:path w="30480" h="1103630">
                <a:moveTo>
                  <a:pt x="30429" y="0"/>
                </a:moveTo>
                <a:lnTo>
                  <a:pt x="0" y="0"/>
                </a:lnTo>
                <a:lnTo>
                  <a:pt x="0" y="861936"/>
                </a:lnTo>
                <a:lnTo>
                  <a:pt x="30429" y="861936"/>
                </a:lnTo>
                <a:lnTo>
                  <a:pt x="30429" y="0"/>
                </a:lnTo>
                <a:close/>
              </a:path>
            </a:pathLst>
          </a:custGeom>
          <a:solidFill>
            <a:srgbClr val="808080"/>
          </a:solidFill>
        </p:spPr>
        <p:txBody>
          <a:bodyPr wrap="square" lIns="0" tIns="0" rIns="0" bIns="0" rtlCol="0"/>
          <a:lstStyle/>
          <a:p>
            <a:endParaRPr/>
          </a:p>
        </p:txBody>
      </p:sp>
      <p:pic>
        <p:nvPicPr>
          <p:cNvPr id="22" name="bg object 22"/>
          <p:cNvPicPr/>
          <p:nvPr/>
        </p:nvPicPr>
        <p:blipFill>
          <a:blip r:embed="rId10" cstate="print"/>
          <a:stretch>
            <a:fillRect/>
          </a:stretch>
        </p:blipFill>
        <p:spPr>
          <a:xfrm>
            <a:off x="654507" y="1547798"/>
            <a:ext cx="8332723" cy="58243"/>
          </a:xfrm>
          <a:prstGeom prst="rect">
            <a:avLst/>
          </a:prstGeom>
        </p:spPr>
      </p:pic>
      <p:sp>
        <p:nvSpPr>
          <p:cNvPr id="2" name="Holder 2"/>
          <p:cNvSpPr>
            <a:spLocks noGrp="1"/>
          </p:cNvSpPr>
          <p:nvPr>
            <p:ph type="title"/>
          </p:nvPr>
        </p:nvSpPr>
        <p:spPr>
          <a:xfrm>
            <a:off x="813295" y="126237"/>
            <a:ext cx="7772400" cy="1332738"/>
          </a:xfrm>
          <a:prstGeom prst="rect">
            <a:avLst/>
          </a:prstGeom>
        </p:spPr>
        <p:txBody>
          <a:bodyPr wrap="square" lIns="0" tIns="0" rIns="0" bIns="0">
            <a:spAutoFit/>
          </a:bodyPr>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64540" y="1792935"/>
            <a:ext cx="8118475" cy="3855720"/>
          </a:xfrm>
          <a:prstGeom prst="rect">
            <a:avLst/>
          </a:prstGeom>
        </p:spPr>
        <p:txBody>
          <a:bodyPr wrap="square" lIns="0" tIns="0" rIns="0" bIns="0">
            <a:spAutoFit/>
          </a:bodyPr>
          <a:lstStyle>
            <a:lvl1pPr>
              <a:defRPr sz="32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97326" y="6386313"/>
            <a:ext cx="2016125" cy="258445"/>
          </a:xfrm>
          <a:prstGeom prst="rect">
            <a:avLst/>
          </a:prstGeom>
        </p:spPr>
        <p:txBody>
          <a:bodyPr wrap="square" lIns="0" tIns="0" rIns="0" bIns="0">
            <a:spAutoFit/>
          </a:bodyPr>
          <a:lstStyle>
            <a:lvl1pPr>
              <a:defRPr sz="1400" b="1" i="0">
                <a:solidFill>
                  <a:srgbClr val="16165D"/>
                </a:solidFill>
                <a:latin typeface="Trebuchet MS"/>
                <a:cs typeface="Trebuchet MS"/>
              </a:defRPr>
            </a:lvl1pPr>
          </a:lstStyle>
          <a:p>
            <a:pPr marL="12700">
              <a:lnSpc>
                <a:spcPct val="100000"/>
              </a:lnSpc>
              <a:spcBef>
                <a:spcPts val="50"/>
              </a:spcBef>
            </a:pPr>
            <a:endParaRPr spc="30"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96503591-C741-42EF-A75A-049BAB70D9E8}" type="datetime1">
              <a:rPr lang="en-US" smtClean="0"/>
              <a:t>16-Nov-25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21B7C6-90EC-86D0-D65C-ACF24C415199}"/>
              </a:ext>
            </a:extLst>
          </p:cNvPr>
          <p:cNvSpPr>
            <a:spLocks noGrp="1"/>
          </p:cNvSpPr>
          <p:nvPr>
            <p:ph type="ctrTitle"/>
          </p:nvPr>
        </p:nvSpPr>
        <p:spPr>
          <a:xfrm>
            <a:off x="2514600" y="3429000"/>
            <a:ext cx="4114800" cy="677108"/>
          </a:xfrm>
        </p:spPr>
        <p:txBody>
          <a:bodyPr/>
          <a:lstStyle/>
          <a:p>
            <a:r>
              <a:rPr lang="en-US" dirty="0"/>
              <a:t>System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9BF87-5C17-F035-33DC-6F2CF612CAB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C21E936-E484-35C4-9114-4802849410AC}"/>
              </a:ext>
            </a:extLst>
          </p:cNvPr>
          <p:cNvSpPr txBox="1">
            <a:spLocks noGrp="1"/>
          </p:cNvSpPr>
          <p:nvPr>
            <p:ph type="title"/>
          </p:nvPr>
        </p:nvSpPr>
        <p:spPr>
          <a:xfrm>
            <a:off x="762000" y="76200"/>
            <a:ext cx="7772400" cy="896399"/>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lang="en-US" dirty="0"/>
              <a:t>Short recap on previous lesson</a:t>
            </a:r>
            <a:endParaRPr spc="-10" dirty="0"/>
          </a:p>
        </p:txBody>
      </p:sp>
      <p:sp>
        <p:nvSpPr>
          <p:cNvPr id="6" name="object 6">
            <a:extLst>
              <a:ext uri="{FF2B5EF4-FFF2-40B4-BE49-F238E27FC236}">
                <a16:creationId xmlns:a16="http://schemas.microsoft.com/office/drawing/2014/main" id="{485A220C-D2E0-C74B-1FC8-F464A878B3FF}"/>
              </a:ext>
            </a:extLst>
          </p:cNvPr>
          <p:cNvSpPr txBox="1"/>
          <p:nvPr/>
        </p:nvSpPr>
        <p:spPr>
          <a:xfrm>
            <a:off x="76201" y="1676400"/>
            <a:ext cx="8915400" cy="4628831"/>
          </a:xfrm>
          <a:prstGeom prst="rect">
            <a:avLst/>
          </a:prstGeom>
        </p:spPr>
        <p:txBody>
          <a:bodyPr vert="horz" wrap="square" lIns="0" tIns="12065" rIns="0" bIns="0" rtlCol="0">
            <a:spAutoFit/>
          </a:bodyPr>
          <a:lstStyle/>
          <a:p>
            <a:pPr algn="just"/>
            <a:r>
              <a:rPr lang="en-US" sz="2500" dirty="0">
                <a:latin typeface="Times New Roman" panose="02020603050405020304" pitchFamily="18" charset="0"/>
                <a:cs typeface="Times New Roman" panose="02020603050405020304" pitchFamily="18" charset="0"/>
              </a:rPr>
              <a:t>In our previous lesson, we explored some various </a:t>
            </a:r>
            <a:r>
              <a:rPr lang="en-US" sz="2500" b="1" dirty="0">
                <a:latin typeface="Times New Roman" panose="02020603050405020304" pitchFamily="18" charset="0"/>
                <a:cs typeface="Times New Roman" panose="02020603050405020304" pitchFamily="18" charset="0"/>
              </a:rPr>
              <a:t>software process models to</a:t>
            </a:r>
            <a:r>
              <a:rPr lang="en-US" sz="2500" dirty="0">
                <a:latin typeface="Times New Roman" panose="02020603050405020304" pitchFamily="18" charset="0"/>
                <a:cs typeface="Times New Roman" panose="02020603050405020304" pitchFamily="18" charset="0"/>
              </a:rPr>
              <a:t> describe how software is planned, developed, and delivered. Before we move to our new chapter “system model”, I would like to introduce  additional software model “</a:t>
            </a:r>
            <a:r>
              <a:rPr lang="en-US" sz="2500" b="1" dirty="0">
                <a:latin typeface="Times New Roman" panose="02020603050405020304" pitchFamily="18" charset="0"/>
                <a:cs typeface="Times New Roman" panose="02020603050405020304" pitchFamily="18" charset="0"/>
              </a:rPr>
              <a:t>Spiral Model”.</a:t>
            </a:r>
            <a:r>
              <a:rPr lang="en-US" sz="2500" dirty="0">
                <a:latin typeface="Times New Roman" panose="02020603050405020304" pitchFamily="18" charset="0"/>
                <a:cs typeface="Times New Roman" panose="02020603050405020304" pitchFamily="18" charset="0"/>
              </a:rPr>
              <a:t> This model combines features of both iterative and waterfall models. It emphasizes </a:t>
            </a:r>
            <a:r>
              <a:rPr lang="en-US" sz="2500" b="1" dirty="0">
                <a:latin typeface="Times New Roman" panose="02020603050405020304" pitchFamily="18" charset="0"/>
                <a:cs typeface="Times New Roman" panose="02020603050405020304" pitchFamily="18" charset="0"/>
              </a:rPr>
              <a:t>risk analysis</a:t>
            </a:r>
            <a:r>
              <a:rPr lang="en-US" sz="2500" dirty="0">
                <a:latin typeface="Times New Roman" panose="02020603050405020304" pitchFamily="18" charset="0"/>
                <a:cs typeface="Times New Roman" panose="02020603050405020304" pitchFamily="18" charset="0"/>
              </a:rPr>
              <a:t>, </a:t>
            </a:r>
            <a:r>
              <a:rPr lang="en-US" sz="2500" b="1" dirty="0">
                <a:latin typeface="Times New Roman" panose="02020603050405020304" pitchFamily="18" charset="0"/>
                <a:cs typeface="Times New Roman" panose="02020603050405020304" pitchFamily="18" charset="0"/>
              </a:rPr>
              <a:t>prototyping</a:t>
            </a:r>
            <a:r>
              <a:rPr lang="en-US" sz="2500" dirty="0">
                <a:latin typeface="Times New Roman" panose="02020603050405020304" pitchFamily="18" charset="0"/>
                <a:cs typeface="Times New Roman" panose="02020603050405020304" pitchFamily="18" charset="0"/>
              </a:rPr>
              <a:t>, and </a:t>
            </a:r>
            <a:r>
              <a:rPr lang="en-US" sz="2500" b="1" dirty="0">
                <a:latin typeface="Times New Roman" panose="02020603050405020304" pitchFamily="18" charset="0"/>
                <a:cs typeface="Times New Roman" panose="02020603050405020304" pitchFamily="18" charset="0"/>
              </a:rPr>
              <a:t>repeated refinement</a:t>
            </a:r>
            <a:r>
              <a:rPr lang="en-US" sz="2500" dirty="0">
                <a:latin typeface="Times New Roman" panose="02020603050405020304" pitchFamily="18" charset="0"/>
                <a:cs typeface="Times New Roman" panose="02020603050405020304" pitchFamily="18" charset="0"/>
              </a:rPr>
              <a:t> through multiple cycles (or spirals), making it suitable for large, complex, and high-risk projects.</a:t>
            </a:r>
          </a:p>
          <a:p>
            <a:pPr algn="just"/>
            <a:r>
              <a:rPr lang="en-US" sz="2500" dirty="0">
                <a:latin typeface="Times New Roman" panose="02020603050405020304" pitchFamily="18" charset="0"/>
                <a:cs typeface="Times New Roman" panose="02020603050405020304" pitchFamily="18" charset="0"/>
              </a:rPr>
              <a:t>As we move forward, today’s lesson will focus on the </a:t>
            </a:r>
            <a:r>
              <a:rPr lang="en-US" sz="2500" b="1" dirty="0">
                <a:latin typeface="Times New Roman" panose="02020603050405020304" pitchFamily="18" charset="0"/>
                <a:cs typeface="Times New Roman" panose="02020603050405020304" pitchFamily="18" charset="0"/>
              </a:rPr>
              <a:t>System Model</a:t>
            </a:r>
            <a:r>
              <a:rPr lang="en-US" sz="2500" dirty="0">
                <a:latin typeface="Times New Roman" panose="02020603050405020304" pitchFamily="18" charset="0"/>
                <a:cs typeface="Times New Roman" panose="02020603050405020304" pitchFamily="18" charset="0"/>
              </a:rPr>
              <a:t>, where we look at how system components and their interactions are represented to understand and design complete systems effectively.</a:t>
            </a:r>
          </a:p>
        </p:txBody>
      </p:sp>
    </p:spTree>
    <p:extLst>
      <p:ext uri="{BB962C8B-B14F-4D97-AF65-F5344CB8AC3E}">
        <p14:creationId xmlns:p14="http://schemas.microsoft.com/office/powerpoint/2010/main" val="2247806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46D7C-562A-49C6-987F-79237CCF60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43DBCE7-5614-6983-8D63-D41126DC885D}"/>
              </a:ext>
            </a:extLst>
          </p:cNvPr>
          <p:cNvSpPr txBox="1">
            <a:spLocks noGrp="1"/>
          </p:cNvSpPr>
          <p:nvPr>
            <p:ph type="title"/>
          </p:nvPr>
        </p:nvSpPr>
        <p:spPr>
          <a:xfrm>
            <a:off x="813295" y="315975"/>
            <a:ext cx="7772400" cy="896399"/>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dirty="0"/>
              <a:t>Spiral</a:t>
            </a:r>
            <a:r>
              <a:rPr spc="-20" dirty="0"/>
              <a:t> </a:t>
            </a:r>
            <a:r>
              <a:rPr spc="-10" dirty="0"/>
              <a:t>Model</a:t>
            </a:r>
          </a:p>
        </p:txBody>
      </p:sp>
      <p:sp>
        <p:nvSpPr>
          <p:cNvPr id="6" name="object 6">
            <a:extLst>
              <a:ext uri="{FF2B5EF4-FFF2-40B4-BE49-F238E27FC236}">
                <a16:creationId xmlns:a16="http://schemas.microsoft.com/office/drawing/2014/main" id="{EC61867A-AC9D-734E-E800-5908D347BA6A}"/>
              </a:ext>
            </a:extLst>
          </p:cNvPr>
          <p:cNvSpPr txBox="1"/>
          <p:nvPr/>
        </p:nvSpPr>
        <p:spPr>
          <a:xfrm>
            <a:off x="152400" y="1912699"/>
            <a:ext cx="8284845" cy="4346703"/>
          </a:xfrm>
          <a:prstGeom prst="rect">
            <a:avLst/>
          </a:prstGeom>
        </p:spPr>
        <p:txBody>
          <a:bodyPr vert="horz" wrap="square" lIns="0" tIns="12065" rIns="0" bIns="0" rtlCol="0">
            <a:spAutoFit/>
          </a:bodyPr>
          <a:lstStyle/>
          <a:p>
            <a:pPr marL="355600" marR="6350" indent="-342900" algn="just">
              <a:lnSpc>
                <a:spcPct val="100000"/>
              </a:lnSpc>
              <a:spcBef>
                <a:spcPts val="95"/>
              </a:spcBef>
              <a:buChar char="•"/>
              <a:tabLst>
                <a:tab pos="355600" algn="l"/>
              </a:tabLst>
            </a:pPr>
            <a:r>
              <a:rPr lang="en-US" sz="2800" dirty="0">
                <a:latin typeface="Times New Roman" panose="02020603050405020304" pitchFamily="18" charset="0"/>
                <a:cs typeface="Times New Roman" panose="02020603050405020304" pitchFamily="18" charset="0"/>
              </a:rPr>
              <a:t>The spiral model is a risk-driven software development process that combines iterative and linear (waterfall) approaches.</a:t>
            </a:r>
          </a:p>
          <a:p>
            <a:pPr marL="355600" marR="6350" indent="-342900" algn="just">
              <a:lnSpc>
                <a:spcPct val="100000"/>
              </a:lnSpc>
              <a:spcBef>
                <a:spcPts val="95"/>
              </a:spcBef>
              <a:buChar char="•"/>
              <a:tabLst>
                <a:tab pos="355600" algn="l"/>
              </a:tabLst>
            </a:pPr>
            <a:r>
              <a:rPr lang="en-US" sz="2800" dirty="0">
                <a:latin typeface="Times New Roman" panose="02020603050405020304" pitchFamily="18" charset="0"/>
                <a:cs typeface="Times New Roman" panose="02020603050405020304" pitchFamily="18" charset="0"/>
              </a:rPr>
              <a:t> It's ideal for large, complex, and high-risk projects because each cycle, or "loop," of the spiral is a distinct phase that involves planning, risk analysis, engineering (development), and evaluation. </a:t>
            </a:r>
          </a:p>
          <a:p>
            <a:pPr marL="355600" marR="6350" indent="-342900" algn="just">
              <a:lnSpc>
                <a:spcPct val="100000"/>
              </a:lnSpc>
              <a:spcBef>
                <a:spcPts val="95"/>
              </a:spcBef>
              <a:buChar char="•"/>
              <a:tabLst>
                <a:tab pos="355600" algn="l"/>
              </a:tabLst>
            </a:pPr>
            <a:r>
              <a:rPr lang="en-US" sz="2800" dirty="0">
                <a:latin typeface="Times New Roman" panose="02020603050405020304" pitchFamily="18" charset="0"/>
                <a:cs typeface="Times New Roman" panose="02020603050405020304" pitchFamily="18" charset="0"/>
              </a:rPr>
              <a:t>This structure allows for risk management, customer feedback, and incremental or prototype development throughout the project lifecycle. </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733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EE037-2DE1-D2E2-A600-3B2782D4B94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E346F2-EEA6-7EEA-550D-26D38960770A}"/>
              </a:ext>
            </a:extLst>
          </p:cNvPr>
          <p:cNvSpPr txBox="1">
            <a:spLocks noGrp="1"/>
          </p:cNvSpPr>
          <p:nvPr>
            <p:ph type="title"/>
          </p:nvPr>
        </p:nvSpPr>
        <p:spPr>
          <a:xfrm>
            <a:off x="813295" y="315975"/>
            <a:ext cx="7772400" cy="1204176"/>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lang="en-US" sz="3200" b="1" dirty="0"/>
              <a:t>How spiral model combine iterative and linear (waterfall) approaches</a:t>
            </a:r>
            <a:endParaRPr sz="3200" b="1" spc="-10" dirty="0"/>
          </a:p>
        </p:txBody>
      </p:sp>
      <p:sp>
        <p:nvSpPr>
          <p:cNvPr id="6" name="object 6">
            <a:extLst>
              <a:ext uri="{FF2B5EF4-FFF2-40B4-BE49-F238E27FC236}">
                <a16:creationId xmlns:a16="http://schemas.microsoft.com/office/drawing/2014/main" id="{61EDAFBD-311B-DEFB-6E9D-1D32E7441D1A}"/>
              </a:ext>
            </a:extLst>
          </p:cNvPr>
          <p:cNvSpPr txBox="1"/>
          <p:nvPr/>
        </p:nvSpPr>
        <p:spPr>
          <a:xfrm>
            <a:off x="152400" y="1912699"/>
            <a:ext cx="8284845" cy="4321055"/>
          </a:xfrm>
          <a:prstGeom prst="rect">
            <a:avLst/>
          </a:prstGeom>
        </p:spPr>
        <p:txBody>
          <a:bodyPr vert="horz" wrap="square" lIns="0" tIns="12065" rIns="0" bIns="0" rtlCol="0">
            <a:spAutoFit/>
          </a:bodyPr>
          <a:lstStyle/>
          <a:p>
            <a:pPr marL="355600" marR="6350" indent="-342900" algn="just">
              <a:lnSpc>
                <a:spcPct val="100000"/>
              </a:lnSpc>
              <a:spcBef>
                <a:spcPts val="95"/>
              </a:spcBef>
              <a:buChar char="•"/>
              <a:tabLst>
                <a:tab pos="355600" algn="l"/>
              </a:tabLst>
            </a:pPr>
            <a:r>
              <a:rPr lang="en-US" sz="2800" dirty="0">
                <a:latin typeface="Times New Roman" panose="02020603050405020304" pitchFamily="18" charset="0"/>
                <a:cs typeface="Times New Roman" panose="02020603050405020304" pitchFamily="18" charset="0"/>
              </a:rPr>
              <a:t>The spiral model combines the iterative nature of the iterative model with the structured, controlled phases of the waterfall model by using repetitive cycles (spirals) that incorporate the linear phases of waterfall (planning, risk analysis, engineering, evaluation) for risk management and incremental development. </a:t>
            </a:r>
          </a:p>
          <a:p>
            <a:pPr marL="355600" marR="6350" indent="-342900" algn="just">
              <a:lnSpc>
                <a:spcPct val="100000"/>
              </a:lnSpc>
              <a:spcBef>
                <a:spcPts val="95"/>
              </a:spcBef>
              <a:buChar char="•"/>
              <a:tabLst>
                <a:tab pos="355600" algn="l"/>
              </a:tabLst>
            </a:pPr>
            <a:r>
              <a:rPr lang="en-US" sz="2800" dirty="0">
                <a:latin typeface="Times New Roman" panose="02020603050405020304" pitchFamily="18" charset="0"/>
                <a:cs typeface="Times New Roman" panose="02020603050405020304" pitchFamily="18" charset="0"/>
              </a:rPr>
              <a:t>Each spiral builds upon the previous one, allowing for continuous refinement and risk mitigation, which results in incremental releases or prototypes until the final product is complete. </a:t>
            </a:r>
            <a:endParaRPr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676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F3010-4BA8-9AF3-E796-9264530F4B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0B295A-2EBA-1183-1613-2C2EF13775E7}"/>
              </a:ext>
            </a:extLst>
          </p:cNvPr>
          <p:cNvSpPr txBox="1">
            <a:spLocks noGrp="1"/>
          </p:cNvSpPr>
          <p:nvPr>
            <p:ph type="title"/>
          </p:nvPr>
        </p:nvSpPr>
        <p:spPr>
          <a:xfrm>
            <a:off x="813295" y="315975"/>
            <a:ext cx="7772400" cy="1204176"/>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lang="en-US" sz="3200" b="1" dirty="0"/>
              <a:t>How spiral model combine iterative and linear (waterfall) approaches cont.</a:t>
            </a:r>
            <a:endParaRPr sz="3200" b="1" spc="-10" dirty="0"/>
          </a:p>
        </p:txBody>
      </p:sp>
      <p:sp>
        <p:nvSpPr>
          <p:cNvPr id="6" name="object 6">
            <a:extLst>
              <a:ext uri="{FF2B5EF4-FFF2-40B4-BE49-F238E27FC236}">
                <a16:creationId xmlns:a16="http://schemas.microsoft.com/office/drawing/2014/main" id="{1F28EDBB-F79E-8C00-9A86-A196B49FAF5B}"/>
              </a:ext>
            </a:extLst>
          </p:cNvPr>
          <p:cNvSpPr txBox="1"/>
          <p:nvPr/>
        </p:nvSpPr>
        <p:spPr>
          <a:xfrm>
            <a:off x="304800" y="2286000"/>
            <a:ext cx="8534400" cy="3459280"/>
          </a:xfrm>
          <a:prstGeom prst="rect">
            <a:avLst/>
          </a:prstGeom>
        </p:spPr>
        <p:txBody>
          <a:bodyPr vert="horz" wrap="square" lIns="0" tIns="12065" rIns="0" bIns="0" rtlCol="0">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Sequential phases within each spiral:</a:t>
            </a:r>
            <a:r>
              <a:rPr lang="en-US" sz="2800" dirty="0">
                <a:latin typeface="Times New Roman" panose="02020603050405020304" pitchFamily="18" charset="0"/>
                <a:cs typeface="Times New Roman" panose="02020603050405020304" pitchFamily="18" charset="0"/>
              </a:rPr>
              <a:t> Each cycle of the spiral contains the structured, linear phases found in the waterfall model, including identification, risk analysis, engineering, and evaluation.</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Iterative refinement:</a:t>
            </a:r>
            <a:r>
              <a:rPr lang="en-US" sz="2800" dirty="0">
                <a:latin typeface="Times New Roman" panose="02020603050405020304" pitchFamily="18" charset="0"/>
                <a:cs typeface="Times New Roman" panose="02020603050405020304" pitchFamily="18" charset="0"/>
              </a:rPr>
              <a:t> The product is not built all at once. Instead, the project moves through multiple iterations or "spirals," with each spiral adding functionality and refinement to the previous one.</a:t>
            </a:r>
          </a:p>
        </p:txBody>
      </p:sp>
    </p:spTree>
    <p:extLst>
      <p:ext uri="{BB962C8B-B14F-4D97-AF65-F5344CB8AC3E}">
        <p14:creationId xmlns:p14="http://schemas.microsoft.com/office/powerpoint/2010/main" val="3096942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FBE09-A96A-80F1-0DCE-45EB0596905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C9B1C40-2C9D-1633-7CBA-8A4884B94937}"/>
              </a:ext>
            </a:extLst>
          </p:cNvPr>
          <p:cNvSpPr txBox="1">
            <a:spLocks noGrp="1"/>
          </p:cNvSpPr>
          <p:nvPr>
            <p:ph type="title"/>
          </p:nvPr>
        </p:nvSpPr>
        <p:spPr>
          <a:xfrm>
            <a:off x="813295" y="315975"/>
            <a:ext cx="7772400" cy="1204176"/>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lang="en-US" sz="3200" b="1" dirty="0"/>
              <a:t>How spiral model combine iterative and linear (waterfall) approaches cont.</a:t>
            </a:r>
            <a:endParaRPr sz="3200" b="1" spc="-10" dirty="0"/>
          </a:p>
        </p:txBody>
      </p:sp>
      <p:sp>
        <p:nvSpPr>
          <p:cNvPr id="6" name="object 6">
            <a:extLst>
              <a:ext uri="{FF2B5EF4-FFF2-40B4-BE49-F238E27FC236}">
                <a16:creationId xmlns:a16="http://schemas.microsoft.com/office/drawing/2014/main" id="{752C698D-B30E-B7A8-1281-A164CB45376A}"/>
              </a:ext>
            </a:extLst>
          </p:cNvPr>
          <p:cNvSpPr txBox="1"/>
          <p:nvPr/>
        </p:nvSpPr>
        <p:spPr>
          <a:xfrm>
            <a:off x="304800" y="2286000"/>
            <a:ext cx="8686800" cy="3890168"/>
          </a:xfrm>
          <a:prstGeom prst="rect">
            <a:avLst/>
          </a:prstGeom>
        </p:spPr>
        <p:txBody>
          <a:bodyPr vert="horz" wrap="square" lIns="0" tIns="12065" rIns="0" bIns="0" rtlCol="0">
            <a:spAutoFit/>
          </a:bodyPr>
          <a:lstStyle/>
          <a:p>
            <a:pPr marL="457200" lvl="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Risk management:</a:t>
            </a:r>
            <a:r>
              <a:rPr lang="en-US" sz="2800" dirty="0">
                <a:latin typeface="Times New Roman" panose="02020603050405020304" pitchFamily="18" charset="0"/>
                <a:cs typeface="Times New Roman" panose="02020603050405020304" pitchFamily="18" charset="0"/>
              </a:rPr>
              <a:t> The key combination is using the iterative cycles to address risks before they become major problems. The risk analysis phase in each spiral is critical, and may lead to building a prototype or other risk-mitigation activities within that specific cycle.</a:t>
            </a:r>
          </a:p>
          <a:p>
            <a:pPr marL="457200" lvl="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Incremental development:</a:t>
            </a:r>
            <a:r>
              <a:rPr lang="en-US" sz="2800" dirty="0">
                <a:latin typeface="Times New Roman" panose="02020603050405020304" pitchFamily="18" charset="0"/>
                <a:cs typeface="Times New Roman" panose="02020603050405020304" pitchFamily="18" charset="0"/>
              </a:rPr>
              <a:t> The model allows for incremental releases of the product, with each completed spiral resulting in a more developed version of the software, until the final product is ready. </a:t>
            </a:r>
          </a:p>
        </p:txBody>
      </p:sp>
    </p:spTree>
    <p:extLst>
      <p:ext uri="{BB962C8B-B14F-4D97-AF65-F5344CB8AC3E}">
        <p14:creationId xmlns:p14="http://schemas.microsoft.com/office/powerpoint/2010/main" val="1718893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0A41A-3B9D-9490-9FA6-7085B47AD50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CE5EA3-E9A3-497C-6E59-8D64C0AE7449}"/>
              </a:ext>
            </a:extLst>
          </p:cNvPr>
          <p:cNvSpPr txBox="1">
            <a:spLocks noGrp="1"/>
          </p:cNvSpPr>
          <p:nvPr>
            <p:ph type="title"/>
          </p:nvPr>
        </p:nvSpPr>
        <p:spPr>
          <a:xfrm>
            <a:off x="813295" y="315975"/>
            <a:ext cx="7772400" cy="896399"/>
          </a:xfrm>
          <a:prstGeom prst="rect">
            <a:avLst/>
          </a:prstGeom>
          <a:solidFill>
            <a:srgbClr val="D5D5F5"/>
          </a:solidFill>
        </p:spPr>
        <p:txBody>
          <a:bodyPr vert="horz" wrap="square" lIns="0" tIns="217170" rIns="0" bIns="0" rtlCol="0">
            <a:spAutoFit/>
          </a:bodyPr>
          <a:lstStyle/>
          <a:p>
            <a:pPr algn="ctr">
              <a:lnSpc>
                <a:spcPct val="100000"/>
              </a:lnSpc>
              <a:spcBef>
                <a:spcPts val="1710"/>
              </a:spcBef>
            </a:pPr>
            <a:r>
              <a:rPr dirty="0"/>
              <a:t>Spiral</a:t>
            </a:r>
            <a:r>
              <a:rPr spc="-20" dirty="0"/>
              <a:t> </a:t>
            </a:r>
            <a:r>
              <a:rPr spc="-10" dirty="0"/>
              <a:t>Model</a:t>
            </a:r>
          </a:p>
        </p:txBody>
      </p:sp>
      <p:sp>
        <p:nvSpPr>
          <p:cNvPr id="6" name="object 6">
            <a:extLst>
              <a:ext uri="{FF2B5EF4-FFF2-40B4-BE49-F238E27FC236}">
                <a16:creationId xmlns:a16="http://schemas.microsoft.com/office/drawing/2014/main" id="{56FB2C6A-962D-79AF-7877-729D14D77556}"/>
              </a:ext>
            </a:extLst>
          </p:cNvPr>
          <p:cNvSpPr txBox="1"/>
          <p:nvPr/>
        </p:nvSpPr>
        <p:spPr>
          <a:xfrm>
            <a:off x="152400" y="1912699"/>
            <a:ext cx="8284845" cy="4282583"/>
          </a:xfrm>
          <a:prstGeom prst="rect">
            <a:avLst/>
          </a:prstGeom>
        </p:spPr>
        <p:txBody>
          <a:bodyPr vert="horz" wrap="square" lIns="0" tIns="12065" rIns="0" bIns="0" rtlCol="0">
            <a:spAutoFit/>
          </a:bodyPr>
          <a:lstStyle/>
          <a:p>
            <a:pPr marL="355600" marR="6350" indent="-342900" algn="just">
              <a:lnSpc>
                <a:spcPct val="100000"/>
              </a:lnSpc>
              <a:spcBef>
                <a:spcPts val="95"/>
              </a:spcBef>
              <a:buChar char="•"/>
              <a:tabLst>
                <a:tab pos="355600" algn="l"/>
              </a:tabLst>
            </a:pPr>
            <a:r>
              <a:rPr sz="2000" dirty="0">
                <a:latin typeface="Times New Roman" panose="02020603050405020304" pitchFamily="18" charset="0"/>
                <a:cs typeface="Times New Roman" panose="02020603050405020304" pitchFamily="18" charset="0"/>
              </a:rPr>
              <a:t>The</a:t>
            </a:r>
            <a:r>
              <a:rPr sz="2000" spc="4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spiral</a:t>
            </a:r>
            <a:r>
              <a:rPr sz="2000" spc="4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model</a:t>
            </a:r>
            <a:r>
              <a:rPr sz="2000" spc="45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was</a:t>
            </a:r>
            <a:r>
              <a:rPr sz="2000" spc="45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originally</a:t>
            </a:r>
            <a:r>
              <a:rPr sz="2000" spc="4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proposed</a:t>
            </a:r>
            <a:r>
              <a:rPr sz="2000" spc="46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by</a:t>
            </a:r>
            <a:r>
              <a:rPr sz="2000" spc="46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Boehm (1988).</a:t>
            </a:r>
            <a:endParaRPr sz="2000" dirty="0">
              <a:latin typeface="Times New Roman" panose="02020603050405020304" pitchFamily="18" charset="0"/>
              <a:cs typeface="Times New Roman" panose="02020603050405020304" pitchFamily="18" charset="0"/>
            </a:endParaRPr>
          </a:p>
          <a:p>
            <a:pPr marL="755015" marR="5080" lvl="1" indent="-285750" algn="just">
              <a:lnSpc>
                <a:spcPct val="100000"/>
              </a:lnSpc>
              <a:spcBef>
                <a:spcPts val="595"/>
              </a:spcBef>
              <a:buChar char="–"/>
              <a:tabLst>
                <a:tab pos="756285" algn="l"/>
              </a:tabLst>
            </a:pPr>
            <a:r>
              <a:rPr sz="2000" dirty="0">
                <a:latin typeface="Times New Roman" panose="02020603050405020304" pitchFamily="18" charset="0"/>
                <a:cs typeface="Times New Roman" panose="02020603050405020304" pitchFamily="18" charset="0"/>
              </a:rPr>
              <a:t>Rather</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than</a:t>
            </a:r>
            <a:r>
              <a:rPr sz="2000" spc="2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represent</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software</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process</a:t>
            </a:r>
            <a:r>
              <a:rPr sz="2000" spc="2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2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229"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sequence</a:t>
            </a:r>
            <a:r>
              <a:rPr sz="2000" spc="240"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of 	</a:t>
            </a:r>
            <a:r>
              <a:rPr sz="2000" dirty="0">
                <a:latin typeface="Times New Roman" panose="02020603050405020304" pitchFamily="18" charset="0"/>
                <a:cs typeface="Times New Roman" panose="02020603050405020304" pitchFamily="18" charset="0"/>
              </a:rPr>
              <a:t>activities</a:t>
            </a:r>
            <a:r>
              <a:rPr sz="2000" spc="5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(linier</a:t>
            </a:r>
            <a:r>
              <a:rPr sz="2000" spc="5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model)</a:t>
            </a:r>
            <a:r>
              <a:rPr sz="2000" spc="5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5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some</a:t>
            </a:r>
            <a:r>
              <a:rPr sz="2000" spc="5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backtracking</a:t>
            </a:r>
            <a:r>
              <a:rPr lang="en-US" sz="2000" dirty="0">
                <a:latin typeface="Times New Roman" panose="02020603050405020304" pitchFamily="18" charset="0"/>
                <a:cs typeface="Times New Roman" panose="02020603050405020304" pitchFamily="18" charset="0"/>
              </a:rPr>
              <a:t> (a problem-solving method that builds a solution incrementally and abandons a candidate path as soon as it determines the candidate cannot possibly be completed to a valid solution)</a:t>
            </a:r>
            <a:r>
              <a:rPr sz="2000" spc="5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from</a:t>
            </a:r>
            <a:r>
              <a:rPr sz="2000" spc="509"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one </a:t>
            </a:r>
            <a:r>
              <a:rPr sz="2000" dirty="0">
                <a:latin typeface="Times New Roman" panose="02020603050405020304" pitchFamily="18" charset="0"/>
                <a:cs typeface="Times New Roman" panose="02020603050405020304" pitchFamily="18" charset="0"/>
              </a:rPr>
              <a:t>activity</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to</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another,</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process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represented</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10" dirty="0">
                <a:latin typeface="Times New Roman" panose="02020603050405020304" pitchFamily="18" charset="0"/>
                <a:cs typeface="Times New Roman" panose="02020603050405020304" pitchFamily="18" charset="0"/>
              </a:rPr>
              <a:t> spiral.</a:t>
            </a:r>
            <a:endParaRPr sz="2000" dirty="0">
              <a:latin typeface="Times New Roman" panose="02020603050405020304" pitchFamily="18" charset="0"/>
              <a:cs typeface="Times New Roman" panose="02020603050405020304" pitchFamily="18" charset="0"/>
            </a:endParaRPr>
          </a:p>
          <a:p>
            <a:pPr marL="1155065" lvl="2" indent="-227965" algn="just">
              <a:lnSpc>
                <a:spcPct val="100000"/>
              </a:lnSpc>
              <a:spcBef>
                <a:spcPts val="495"/>
              </a:spcBef>
              <a:buChar char="•"/>
              <a:tabLst>
                <a:tab pos="1155065" algn="l"/>
              </a:tabLst>
            </a:pPr>
            <a:r>
              <a:rPr sz="2000" dirty="0">
                <a:latin typeface="Times New Roman" panose="02020603050405020304" pitchFamily="18" charset="0"/>
                <a:cs typeface="Times New Roman" panose="02020603050405020304" pitchFamily="18" charset="0"/>
              </a:rPr>
              <a:t>Each</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loop</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spiral</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represents</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phase</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software</a:t>
            </a:r>
            <a:r>
              <a:rPr sz="2000" spc="-3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process.</a:t>
            </a:r>
            <a:endParaRPr sz="2000" dirty="0">
              <a:latin typeface="Times New Roman" panose="02020603050405020304" pitchFamily="18" charset="0"/>
              <a:cs typeface="Times New Roman" panose="02020603050405020304" pitchFamily="18" charset="0"/>
            </a:endParaRPr>
          </a:p>
          <a:p>
            <a:pPr marL="1155700" marR="5080" lvl="2" indent="-228600" algn="just">
              <a:lnSpc>
                <a:spcPct val="100000"/>
              </a:lnSpc>
              <a:spcBef>
                <a:spcPts val="484"/>
              </a:spcBef>
              <a:buChar char="•"/>
              <a:tabLst>
                <a:tab pos="1155700" algn="l"/>
              </a:tabLst>
            </a:pPr>
            <a:r>
              <a:rPr sz="2000" dirty="0">
                <a:latin typeface="Times New Roman" panose="02020603050405020304" pitchFamily="18" charset="0"/>
                <a:cs typeface="Times New Roman" panose="02020603050405020304" pitchFamily="18" charset="0"/>
              </a:rPr>
              <a:t>Thus,</a:t>
            </a:r>
            <a:r>
              <a:rPr sz="2000" spc="2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0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innermost</a:t>
            </a:r>
            <a:r>
              <a:rPr sz="2000" spc="20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loop</a:t>
            </a:r>
            <a:r>
              <a:rPr sz="2000" spc="20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might</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be</a:t>
            </a:r>
            <a:r>
              <a:rPr sz="2000" spc="19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concerned</a:t>
            </a:r>
            <a:r>
              <a:rPr sz="2000" spc="2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2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feasibility</a:t>
            </a:r>
            <a:r>
              <a:rPr sz="2000" spc="19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study, </a:t>
            </a:r>
            <a:r>
              <a:rPr sz="2000" dirty="0">
                <a:latin typeface="Times New Roman" panose="02020603050405020304" pitchFamily="18" charset="0"/>
                <a:cs typeface="Times New Roman" panose="02020603050405020304" pitchFamily="18" charset="0"/>
              </a:rPr>
              <a:t>the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next</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loop</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requirements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analysis</a:t>
            </a:r>
            <a:r>
              <a:rPr sz="2000" spc="4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definition,</a:t>
            </a:r>
            <a:r>
              <a:rPr sz="2000" spc="5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next</a:t>
            </a:r>
            <a:r>
              <a:rPr sz="2000" spc="3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loop </a:t>
            </a:r>
            <a:r>
              <a:rPr sz="2000" dirty="0">
                <a:latin typeface="Times New Roman" panose="02020603050405020304" pitchFamily="18" charset="0"/>
                <a:cs typeface="Times New Roman" panose="02020603050405020304" pitchFamily="18" charset="0"/>
              </a:rPr>
              <a:t>with</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system</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software</a:t>
            </a:r>
            <a:r>
              <a:rPr sz="2000" spc="-3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design</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a:t>
            </a:r>
            <a:r>
              <a:rPr sz="2000" spc="-15" dirty="0">
                <a:latin typeface="Times New Roman" panose="02020603050405020304" pitchFamily="18" charset="0"/>
                <a:cs typeface="Times New Roman" panose="02020603050405020304" pitchFamily="18" charset="0"/>
              </a:rPr>
              <a:t> </a:t>
            </a:r>
            <a:r>
              <a:rPr sz="2000" spc="-25" dirty="0">
                <a:latin typeface="Times New Roman" panose="02020603050405020304" pitchFamily="18" charset="0"/>
                <a:cs typeface="Times New Roman" panose="02020603050405020304" pitchFamily="18" charset="0"/>
              </a:rPr>
              <a:t>on.</a:t>
            </a:r>
            <a:endParaRPr sz="2000" dirty="0">
              <a:latin typeface="Times New Roman" panose="02020603050405020304" pitchFamily="18" charset="0"/>
              <a:cs typeface="Times New Roman" panose="02020603050405020304" pitchFamily="18" charset="0"/>
            </a:endParaRPr>
          </a:p>
          <a:p>
            <a:pPr marL="1155065" lvl="2" indent="-227965" algn="just">
              <a:lnSpc>
                <a:spcPct val="100000"/>
              </a:lnSpc>
              <a:spcBef>
                <a:spcPts val="480"/>
              </a:spcBef>
              <a:buChar char="•"/>
              <a:tabLst>
                <a:tab pos="1155065" algn="l"/>
              </a:tabLst>
            </a:pPr>
            <a:r>
              <a:rPr sz="2000" dirty="0">
                <a:latin typeface="Times New Roman" panose="02020603050405020304" pitchFamily="18" charset="0"/>
                <a:cs typeface="Times New Roman" panose="02020603050405020304" pitchFamily="18" charset="0"/>
              </a:rPr>
              <a:t>The</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each</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loop</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spiral</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is</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split</a:t>
            </a:r>
            <a:r>
              <a:rPr sz="2000" spc="-2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into</a:t>
            </a:r>
            <a:r>
              <a:rPr sz="2000" spc="-2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four</a:t>
            </a:r>
            <a:r>
              <a:rPr sz="2000" b="1" spc="-25" dirty="0">
                <a:latin typeface="Times New Roman" panose="02020603050405020304" pitchFamily="18" charset="0"/>
                <a:cs typeface="Times New Roman" panose="02020603050405020304" pitchFamily="18" charset="0"/>
              </a:rPr>
              <a:t> </a:t>
            </a:r>
            <a:r>
              <a:rPr sz="2000" b="1" spc="-10" dirty="0">
                <a:latin typeface="Times New Roman" panose="02020603050405020304" pitchFamily="18" charset="0"/>
                <a:cs typeface="Times New Roman" panose="02020603050405020304" pitchFamily="18" charset="0"/>
              </a:rPr>
              <a:t>sectors</a:t>
            </a:r>
            <a:r>
              <a:rPr lang="en-US" sz="2000" b="1" spc="-10" dirty="0">
                <a:latin typeface="Times New Roman" panose="02020603050405020304" pitchFamily="18" charset="0"/>
                <a:cs typeface="Times New Roman" panose="02020603050405020304" pitchFamily="18" charset="0"/>
              </a:rPr>
              <a:t> as indicated in the next slid.</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252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55874" y="1934711"/>
            <a:ext cx="6719570" cy="4210050"/>
            <a:chOff x="1055874" y="1934711"/>
            <a:chExt cx="6719570" cy="4210050"/>
          </a:xfrm>
        </p:grpSpPr>
        <p:sp>
          <p:nvSpPr>
            <p:cNvPr id="3" name="object 3"/>
            <p:cNvSpPr/>
            <p:nvPr/>
          </p:nvSpPr>
          <p:spPr>
            <a:xfrm>
              <a:off x="1055865" y="1934717"/>
              <a:ext cx="6719570" cy="4210050"/>
            </a:xfrm>
            <a:custGeom>
              <a:avLst/>
              <a:gdLst/>
              <a:ahLst/>
              <a:cxnLst/>
              <a:rect l="l" t="t" r="r" b="b"/>
              <a:pathLst>
                <a:path w="6719570" h="4210050">
                  <a:moveTo>
                    <a:pt x="6719036" y="2100275"/>
                  </a:moveTo>
                  <a:lnTo>
                    <a:pt x="6702463" y="2091296"/>
                  </a:lnTo>
                  <a:lnTo>
                    <a:pt x="6619621" y="2046427"/>
                  </a:lnTo>
                  <a:lnTo>
                    <a:pt x="6619621" y="2091296"/>
                  </a:lnTo>
                  <a:lnTo>
                    <a:pt x="3297796" y="2091296"/>
                  </a:lnTo>
                  <a:lnTo>
                    <a:pt x="3298202" y="107886"/>
                  </a:lnTo>
                  <a:lnTo>
                    <a:pt x="3339630" y="107886"/>
                  </a:lnTo>
                  <a:lnTo>
                    <a:pt x="3327146" y="80784"/>
                  </a:lnTo>
                  <a:lnTo>
                    <a:pt x="3289922" y="0"/>
                  </a:lnTo>
                  <a:lnTo>
                    <a:pt x="3240138" y="107886"/>
                  </a:lnTo>
                  <a:lnTo>
                    <a:pt x="3281629" y="107886"/>
                  </a:lnTo>
                  <a:lnTo>
                    <a:pt x="3281235" y="2091296"/>
                  </a:lnTo>
                  <a:lnTo>
                    <a:pt x="3708" y="2091296"/>
                  </a:lnTo>
                  <a:lnTo>
                    <a:pt x="0" y="2095436"/>
                  </a:lnTo>
                  <a:lnTo>
                    <a:pt x="0" y="2105304"/>
                  </a:lnTo>
                  <a:lnTo>
                    <a:pt x="3708" y="2109254"/>
                  </a:lnTo>
                  <a:lnTo>
                    <a:pt x="3281235" y="2109254"/>
                  </a:lnTo>
                  <a:lnTo>
                    <a:pt x="3280816" y="4200639"/>
                  </a:lnTo>
                  <a:lnTo>
                    <a:pt x="3280816" y="4205592"/>
                  </a:lnTo>
                  <a:lnTo>
                    <a:pt x="3284461" y="4209618"/>
                  </a:lnTo>
                  <a:lnTo>
                    <a:pt x="3293732" y="4209618"/>
                  </a:lnTo>
                  <a:lnTo>
                    <a:pt x="3297377" y="4205592"/>
                  </a:lnTo>
                  <a:lnTo>
                    <a:pt x="3297796" y="2109254"/>
                  </a:lnTo>
                  <a:lnTo>
                    <a:pt x="6619621" y="2109254"/>
                  </a:lnTo>
                  <a:lnTo>
                    <a:pt x="6619621" y="2154136"/>
                  </a:lnTo>
                  <a:lnTo>
                    <a:pt x="6702463" y="2109254"/>
                  </a:lnTo>
                  <a:lnTo>
                    <a:pt x="6719036" y="2100275"/>
                  </a:lnTo>
                  <a:close/>
                </a:path>
              </a:pathLst>
            </a:custGeom>
            <a:solidFill>
              <a:srgbClr val="000000"/>
            </a:solidFill>
          </p:spPr>
          <p:txBody>
            <a:bodyPr wrap="square" lIns="0" tIns="0" rIns="0" bIns="0" rtlCol="0"/>
            <a:lstStyle/>
            <a:p>
              <a:endParaRPr/>
            </a:p>
          </p:txBody>
        </p:sp>
        <p:pic>
          <p:nvPicPr>
            <p:cNvPr id="4" name="object 4"/>
            <p:cNvPicPr/>
            <p:nvPr/>
          </p:nvPicPr>
          <p:blipFill>
            <a:blip r:embed="rId2" cstate="print"/>
            <a:stretch>
              <a:fillRect/>
            </a:stretch>
          </p:blipFill>
          <p:spPr>
            <a:xfrm>
              <a:off x="2547235" y="2414021"/>
              <a:ext cx="3446424" cy="3352800"/>
            </a:xfrm>
            <a:prstGeom prst="rect">
              <a:avLst/>
            </a:prstGeom>
          </p:spPr>
        </p:pic>
      </p:grpSp>
      <p:sp>
        <p:nvSpPr>
          <p:cNvPr id="5" name="object 5"/>
          <p:cNvSpPr txBox="1"/>
          <p:nvPr/>
        </p:nvSpPr>
        <p:spPr>
          <a:xfrm>
            <a:off x="1595113" y="5042144"/>
            <a:ext cx="1275715" cy="253365"/>
          </a:xfrm>
          <a:prstGeom prst="rect">
            <a:avLst/>
          </a:prstGeom>
        </p:spPr>
        <p:txBody>
          <a:bodyPr vert="horz" wrap="square" lIns="0" tIns="11430" rIns="0" bIns="0" rtlCol="0">
            <a:spAutoFit/>
          </a:bodyPr>
          <a:lstStyle/>
          <a:p>
            <a:pPr marL="12700">
              <a:lnSpc>
                <a:spcPct val="100000"/>
              </a:lnSpc>
              <a:spcBef>
                <a:spcPts val="90"/>
              </a:spcBef>
            </a:pPr>
            <a:r>
              <a:rPr sz="1500" spc="-80" dirty="0">
                <a:latin typeface="Arial MT"/>
                <a:cs typeface="Arial MT"/>
              </a:rPr>
              <a:t>Plan</a:t>
            </a:r>
            <a:r>
              <a:rPr sz="1500" spc="-15" dirty="0">
                <a:latin typeface="Arial MT"/>
                <a:cs typeface="Arial MT"/>
              </a:rPr>
              <a:t> </a:t>
            </a:r>
            <a:r>
              <a:rPr sz="1500" spc="-70" dirty="0">
                <a:latin typeface="Arial MT"/>
                <a:cs typeface="Arial MT"/>
              </a:rPr>
              <a:t>next</a:t>
            </a:r>
            <a:r>
              <a:rPr sz="1500" spc="-20" dirty="0">
                <a:latin typeface="Arial MT"/>
                <a:cs typeface="Arial MT"/>
              </a:rPr>
              <a:t> </a:t>
            </a:r>
            <a:r>
              <a:rPr sz="1500" spc="-55" dirty="0">
                <a:latin typeface="Arial MT"/>
                <a:cs typeface="Arial MT"/>
              </a:rPr>
              <a:t>phase</a:t>
            </a:r>
            <a:endParaRPr sz="1500">
              <a:latin typeface="Arial MT"/>
              <a:cs typeface="Arial MT"/>
            </a:endParaRPr>
          </a:p>
        </p:txBody>
      </p:sp>
      <p:sp>
        <p:nvSpPr>
          <p:cNvPr id="6" name="object 6"/>
          <p:cNvSpPr txBox="1"/>
          <p:nvPr/>
        </p:nvSpPr>
        <p:spPr>
          <a:xfrm>
            <a:off x="1517566" y="2039089"/>
            <a:ext cx="1478280" cy="996315"/>
          </a:xfrm>
          <a:prstGeom prst="rect">
            <a:avLst/>
          </a:prstGeom>
        </p:spPr>
        <p:txBody>
          <a:bodyPr vert="horz" wrap="square" lIns="0" tIns="12700" rIns="0" bIns="0" rtlCol="0">
            <a:spAutoFit/>
          </a:bodyPr>
          <a:lstStyle/>
          <a:p>
            <a:pPr marL="12065" marR="5080" algn="ctr">
              <a:lnSpc>
                <a:spcPct val="141500"/>
              </a:lnSpc>
              <a:spcBef>
                <a:spcPts val="100"/>
              </a:spcBef>
            </a:pPr>
            <a:r>
              <a:rPr sz="1500" spc="-75" dirty="0">
                <a:latin typeface="Arial MT"/>
                <a:cs typeface="Arial MT"/>
              </a:rPr>
              <a:t>Determine</a:t>
            </a:r>
            <a:r>
              <a:rPr sz="1500" spc="-25" dirty="0">
                <a:latin typeface="Arial MT"/>
                <a:cs typeface="Arial MT"/>
              </a:rPr>
              <a:t> </a:t>
            </a:r>
            <a:r>
              <a:rPr sz="1500" spc="-60" dirty="0">
                <a:latin typeface="Arial MT"/>
                <a:cs typeface="Arial MT"/>
              </a:rPr>
              <a:t>objects, </a:t>
            </a:r>
            <a:r>
              <a:rPr sz="1500" spc="-65" dirty="0">
                <a:latin typeface="Arial MT"/>
                <a:cs typeface="Arial MT"/>
              </a:rPr>
              <a:t>alternatives</a:t>
            </a:r>
            <a:r>
              <a:rPr sz="1500" spc="-5" dirty="0">
                <a:latin typeface="Arial MT"/>
                <a:cs typeface="Arial MT"/>
              </a:rPr>
              <a:t> </a:t>
            </a:r>
            <a:r>
              <a:rPr sz="1500" spc="-25" dirty="0">
                <a:latin typeface="Arial MT"/>
                <a:cs typeface="Arial MT"/>
              </a:rPr>
              <a:t>and </a:t>
            </a:r>
            <a:r>
              <a:rPr sz="1500" spc="-10" dirty="0">
                <a:latin typeface="Arial MT"/>
                <a:cs typeface="Arial MT"/>
              </a:rPr>
              <a:t>constrains</a:t>
            </a:r>
            <a:endParaRPr sz="1500">
              <a:latin typeface="Arial MT"/>
              <a:cs typeface="Arial MT"/>
            </a:endParaRPr>
          </a:p>
        </p:txBody>
      </p:sp>
      <p:sp>
        <p:nvSpPr>
          <p:cNvPr id="7" name="object 7"/>
          <p:cNvSpPr txBox="1"/>
          <p:nvPr/>
        </p:nvSpPr>
        <p:spPr>
          <a:xfrm>
            <a:off x="5775495" y="2039089"/>
            <a:ext cx="1612900" cy="996315"/>
          </a:xfrm>
          <a:prstGeom prst="rect">
            <a:avLst/>
          </a:prstGeom>
        </p:spPr>
        <p:txBody>
          <a:bodyPr vert="horz" wrap="square" lIns="0" tIns="12700" rIns="0" bIns="0" rtlCol="0">
            <a:spAutoFit/>
          </a:bodyPr>
          <a:lstStyle/>
          <a:p>
            <a:pPr marL="12700" marR="5080" indent="-1270" algn="ctr">
              <a:lnSpc>
                <a:spcPct val="141500"/>
              </a:lnSpc>
              <a:spcBef>
                <a:spcPts val="100"/>
              </a:spcBef>
            </a:pPr>
            <a:r>
              <a:rPr sz="1500" spc="-10" dirty="0">
                <a:latin typeface="Arial MT"/>
                <a:cs typeface="Arial MT"/>
              </a:rPr>
              <a:t>Evaluate </a:t>
            </a:r>
            <a:r>
              <a:rPr sz="1500" spc="-65" dirty="0">
                <a:latin typeface="Arial MT"/>
                <a:cs typeface="Arial MT"/>
              </a:rPr>
              <a:t>alternatives,</a:t>
            </a:r>
            <a:r>
              <a:rPr sz="1500" spc="15" dirty="0">
                <a:latin typeface="Arial MT"/>
                <a:cs typeface="Arial MT"/>
              </a:rPr>
              <a:t> </a:t>
            </a:r>
            <a:r>
              <a:rPr sz="1500" spc="-50" dirty="0">
                <a:latin typeface="Arial MT"/>
                <a:cs typeface="Arial MT"/>
              </a:rPr>
              <a:t>identify, </a:t>
            </a:r>
            <a:r>
              <a:rPr sz="1500" spc="-80" dirty="0">
                <a:latin typeface="Arial MT"/>
                <a:cs typeface="Arial MT"/>
              </a:rPr>
              <a:t>and</a:t>
            </a:r>
            <a:r>
              <a:rPr sz="1500" spc="-35" dirty="0">
                <a:latin typeface="Arial MT"/>
                <a:cs typeface="Arial MT"/>
              </a:rPr>
              <a:t> </a:t>
            </a:r>
            <a:r>
              <a:rPr sz="1500" spc="-70" dirty="0">
                <a:latin typeface="Arial MT"/>
                <a:cs typeface="Arial MT"/>
              </a:rPr>
              <a:t>resolve</a:t>
            </a:r>
            <a:r>
              <a:rPr sz="1500" spc="-40" dirty="0">
                <a:latin typeface="Arial MT"/>
                <a:cs typeface="Arial MT"/>
              </a:rPr>
              <a:t> </a:t>
            </a:r>
            <a:r>
              <a:rPr sz="1500" spc="-20" dirty="0">
                <a:latin typeface="Arial MT"/>
                <a:cs typeface="Arial MT"/>
              </a:rPr>
              <a:t>risks</a:t>
            </a:r>
            <a:endParaRPr sz="1500">
              <a:latin typeface="Arial MT"/>
              <a:cs typeface="Arial MT"/>
            </a:endParaRPr>
          </a:p>
        </p:txBody>
      </p:sp>
      <p:sp>
        <p:nvSpPr>
          <p:cNvPr id="8" name="object 8"/>
          <p:cNvSpPr txBox="1"/>
          <p:nvPr/>
        </p:nvSpPr>
        <p:spPr>
          <a:xfrm>
            <a:off x="5924622" y="4789250"/>
            <a:ext cx="1613535" cy="667385"/>
          </a:xfrm>
          <a:prstGeom prst="rect">
            <a:avLst/>
          </a:prstGeom>
        </p:spPr>
        <p:txBody>
          <a:bodyPr vert="horz" wrap="square" lIns="0" tIns="12700" rIns="0" bIns="0" rtlCol="0">
            <a:spAutoFit/>
          </a:bodyPr>
          <a:lstStyle/>
          <a:p>
            <a:pPr marL="312420" marR="5080" indent="-300355">
              <a:lnSpc>
                <a:spcPct val="140400"/>
              </a:lnSpc>
              <a:spcBef>
                <a:spcPts val="100"/>
              </a:spcBef>
            </a:pPr>
            <a:r>
              <a:rPr sz="1500" spc="-80" dirty="0">
                <a:latin typeface="Arial MT"/>
                <a:cs typeface="Arial MT"/>
              </a:rPr>
              <a:t>Develop,</a:t>
            </a:r>
            <a:r>
              <a:rPr sz="1500" spc="15" dirty="0">
                <a:latin typeface="Arial MT"/>
                <a:cs typeface="Arial MT"/>
              </a:rPr>
              <a:t> </a:t>
            </a:r>
            <a:r>
              <a:rPr sz="1500" spc="-65" dirty="0">
                <a:latin typeface="Arial MT"/>
                <a:cs typeface="Arial MT"/>
              </a:rPr>
              <a:t>verify</a:t>
            </a:r>
            <a:r>
              <a:rPr sz="1500" spc="5" dirty="0">
                <a:latin typeface="Arial MT"/>
                <a:cs typeface="Arial MT"/>
              </a:rPr>
              <a:t> </a:t>
            </a:r>
            <a:r>
              <a:rPr sz="1500" spc="-50" dirty="0">
                <a:latin typeface="Arial MT"/>
                <a:cs typeface="Arial MT"/>
              </a:rPr>
              <a:t>next- </a:t>
            </a:r>
            <a:r>
              <a:rPr sz="1500" spc="-65" dirty="0">
                <a:latin typeface="Arial MT"/>
                <a:cs typeface="Arial MT"/>
              </a:rPr>
              <a:t>level</a:t>
            </a:r>
            <a:r>
              <a:rPr sz="1500" spc="-15" dirty="0">
                <a:latin typeface="Arial MT"/>
                <a:cs typeface="Arial MT"/>
              </a:rPr>
              <a:t> </a:t>
            </a:r>
            <a:r>
              <a:rPr sz="1500" spc="-10" dirty="0">
                <a:latin typeface="Arial MT"/>
                <a:cs typeface="Arial MT"/>
              </a:rPr>
              <a:t>product</a:t>
            </a:r>
            <a:endParaRPr sz="150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56425" y="2033162"/>
            <a:ext cx="8486140" cy="4541520"/>
          </a:xfrm>
          <a:prstGeom prst="rect">
            <a:avLst/>
          </a:prstGeom>
        </p:spPr>
        <p:txBody>
          <a:bodyPr vert="horz" wrap="square" lIns="0" tIns="12700" rIns="0" bIns="0" rtlCol="0">
            <a:spAutoFit/>
          </a:bodyPr>
          <a:lstStyle/>
          <a:p>
            <a:pPr marL="469265" indent="-456565">
              <a:lnSpc>
                <a:spcPct val="100000"/>
              </a:lnSpc>
              <a:spcBef>
                <a:spcPts val="100"/>
              </a:spcBef>
              <a:buAutoNum type="arabicParenR"/>
              <a:tabLst>
                <a:tab pos="469265" algn="l"/>
              </a:tabLst>
            </a:pPr>
            <a:r>
              <a:rPr sz="2400" b="1" i="1" dirty="0">
                <a:latin typeface="Times New Roman"/>
                <a:cs typeface="Times New Roman"/>
              </a:rPr>
              <a:t>Objective</a:t>
            </a:r>
            <a:r>
              <a:rPr sz="2400" b="1" i="1" spc="-40" dirty="0">
                <a:latin typeface="Times New Roman"/>
                <a:cs typeface="Times New Roman"/>
              </a:rPr>
              <a:t> </a:t>
            </a:r>
            <a:r>
              <a:rPr sz="2400" b="1" i="1" spc="-10" dirty="0">
                <a:latin typeface="Times New Roman"/>
                <a:cs typeface="Times New Roman"/>
              </a:rPr>
              <a:t>setting:</a:t>
            </a:r>
            <a:endParaRPr sz="2400" dirty="0">
              <a:latin typeface="Times New Roman"/>
              <a:cs typeface="Times New Roman"/>
            </a:endParaRPr>
          </a:p>
          <a:p>
            <a:pPr marL="469900" marR="83185">
              <a:lnSpc>
                <a:spcPct val="100000"/>
              </a:lnSpc>
            </a:pPr>
            <a:r>
              <a:rPr sz="2400" dirty="0">
                <a:latin typeface="Times New Roman"/>
                <a:cs typeface="Times New Roman"/>
              </a:rPr>
              <a:t>A</a:t>
            </a:r>
            <a:r>
              <a:rPr sz="2400" spc="-5" dirty="0">
                <a:latin typeface="Times New Roman"/>
                <a:cs typeface="Times New Roman"/>
              </a:rPr>
              <a:t> </a:t>
            </a:r>
            <a:r>
              <a:rPr sz="2400" dirty="0">
                <a:latin typeface="Times New Roman"/>
                <a:cs typeface="Times New Roman"/>
              </a:rPr>
              <a:t>cycle</a:t>
            </a:r>
            <a:r>
              <a:rPr sz="2400" spc="-30" dirty="0">
                <a:latin typeface="Times New Roman"/>
                <a:cs typeface="Times New Roman"/>
              </a:rPr>
              <a:t> </a:t>
            </a:r>
            <a:r>
              <a:rPr sz="2400" dirty="0">
                <a:latin typeface="Times New Roman"/>
                <a:cs typeface="Times New Roman"/>
              </a:rPr>
              <a:t>of</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spiral</a:t>
            </a:r>
            <a:r>
              <a:rPr sz="2400" spc="-25" dirty="0">
                <a:latin typeface="Times New Roman"/>
                <a:cs typeface="Times New Roman"/>
              </a:rPr>
              <a:t> </a:t>
            </a:r>
            <a:r>
              <a:rPr sz="2400" dirty="0">
                <a:latin typeface="Times New Roman"/>
                <a:cs typeface="Times New Roman"/>
              </a:rPr>
              <a:t>begins</a:t>
            </a:r>
            <a:r>
              <a:rPr sz="2400" spc="-10" dirty="0">
                <a:latin typeface="Times New Roman"/>
                <a:cs typeface="Times New Roman"/>
              </a:rPr>
              <a:t> </a:t>
            </a:r>
            <a:r>
              <a:rPr sz="2400" dirty="0">
                <a:latin typeface="Times New Roman"/>
                <a:cs typeface="Times New Roman"/>
              </a:rPr>
              <a:t>by determining</a:t>
            </a:r>
            <a:r>
              <a:rPr sz="2400" spc="-45" dirty="0">
                <a:latin typeface="Times New Roman"/>
                <a:cs typeface="Times New Roman"/>
              </a:rPr>
              <a:t> </a:t>
            </a:r>
            <a:r>
              <a:rPr sz="2400" dirty="0">
                <a:latin typeface="Times New Roman"/>
                <a:cs typeface="Times New Roman"/>
              </a:rPr>
              <a:t>special</a:t>
            </a:r>
            <a:r>
              <a:rPr sz="2400" spc="-40" dirty="0">
                <a:latin typeface="Times New Roman"/>
                <a:cs typeface="Times New Roman"/>
              </a:rPr>
              <a:t> </a:t>
            </a:r>
            <a:r>
              <a:rPr sz="2400" dirty="0">
                <a:latin typeface="Times New Roman"/>
                <a:cs typeface="Times New Roman"/>
              </a:rPr>
              <a:t>objectives</a:t>
            </a:r>
            <a:r>
              <a:rPr sz="2400" spc="-40" dirty="0">
                <a:latin typeface="Times New Roman"/>
                <a:cs typeface="Times New Roman"/>
              </a:rPr>
              <a:t> </a:t>
            </a:r>
            <a:r>
              <a:rPr sz="2400" spc="-25" dirty="0">
                <a:latin typeface="Times New Roman"/>
                <a:cs typeface="Times New Roman"/>
              </a:rPr>
              <a:t>for </a:t>
            </a:r>
            <a:r>
              <a:rPr sz="2400" dirty="0">
                <a:latin typeface="Times New Roman"/>
                <a:cs typeface="Times New Roman"/>
              </a:rPr>
              <a:t>that</a:t>
            </a:r>
            <a:r>
              <a:rPr sz="2400" spc="-25" dirty="0">
                <a:latin typeface="Times New Roman"/>
                <a:cs typeface="Times New Roman"/>
              </a:rPr>
              <a:t> </a:t>
            </a:r>
            <a:r>
              <a:rPr sz="2400" dirty="0">
                <a:latin typeface="Times New Roman"/>
                <a:cs typeface="Times New Roman"/>
              </a:rPr>
              <a:t>phase</a:t>
            </a:r>
            <a:r>
              <a:rPr sz="2400" spc="-1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spc="-10" dirty="0">
                <a:latin typeface="Times New Roman"/>
                <a:cs typeface="Times New Roman"/>
              </a:rPr>
              <a:t>project.</a:t>
            </a:r>
            <a:endParaRPr sz="2400" dirty="0">
              <a:latin typeface="Times New Roman"/>
              <a:cs typeface="Times New Roman"/>
            </a:endParaRPr>
          </a:p>
          <a:p>
            <a:pPr marL="926465" lvl="1" indent="-456565">
              <a:lnSpc>
                <a:spcPct val="100000"/>
              </a:lnSpc>
              <a:spcBef>
                <a:spcPts val="495"/>
              </a:spcBef>
              <a:buAutoNum type="arabicParenR"/>
              <a:tabLst>
                <a:tab pos="926465" algn="l"/>
              </a:tabLst>
            </a:pPr>
            <a:r>
              <a:rPr sz="2000" dirty="0">
                <a:latin typeface="Times New Roman"/>
                <a:cs typeface="Times New Roman"/>
              </a:rPr>
              <a:t>Constrains</a:t>
            </a:r>
            <a:r>
              <a:rPr sz="2000" spc="3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product</a:t>
            </a:r>
            <a:r>
              <a:rPr sz="2000" spc="30" dirty="0">
                <a:latin typeface="Times New Roman"/>
                <a:cs typeface="Times New Roman"/>
              </a:rPr>
              <a:t> </a:t>
            </a:r>
            <a:r>
              <a:rPr sz="2000" dirty="0">
                <a:latin typeface="Times New Roman"/>
                <a:cs typeface="Times New Roman"/>
              </a:rPr>
              <a:t>are</a:t>
            </a:r>
            <a:r>
              <a:rPr sz="2000" spc="35" dirty="0">
                <a:latin typeface="Times New Roman"/>
                <a:cs typeface="Times New Roman"/>
              </a:rPr>
              <a:t> </a:t>
            </a:r>
            <a:r>
              <a:rPr sz="2000" dirty="0">
                <a:latin typeface="Times New Roman"/>
                <a:cs typeface="Times New Roman"/>
              </a:rPr>
              <a:t>identified</a:t>
            </a:r>
            <a:r>
              <a:rPr sz="2000" spc="40" dirty="0">
                <a:latin typeface="Times New Roman"/>
                <a:cs typeface="Times New Roman"/>
              </a:rPr>
              <a:t> </a:t>
            </a:r>
            <a:r>
              <a:rPr sz="2000" dirty="0">
                <a:latin typeface="Times New Roman"/>
                <a:cs typeface="Times New Roman"/>
              </a:rPr>
              <a:t>and</a:t>
            </a:r>
            <a:r>
              <a:rPr sz="2000" spc="40" dirty="0">
                <a:latin typeface="Times New Roman"/>
                <a:cs typeface="Times New Roman"/>
              </a:rPr>
              <a:t> </a:t>
            </a:r>
            <a:r>
              <a:rPr sz="2000" dirty="0">
                <a:latin typeface="Times New Roman"/>
                <a:cs typeface="Times New Roman"/>
              </a:rPr>
              <a:t>a</a:t>
            </a:r>
            <a:r>
              <a:rPr sz="2000" spc="30" dirty="0">
                <a:latin typeface="Times New Roman"/>
                <a:cs typeface="Times New Roman"/>
              </a:rPr>
              <a:t> </a:t>
            </a:r>
            <a:r>
              <a:rPr sz="2000" dirty="0">
                <a:latin typeface="Times New Roman"/>
                <a:cs typeface="Times New Roman"/>
              </a:rPr>
              <a:t>detailed</a:t>
            </a:r>
            <a:r>
              <a:rPr sz="2000" spc="45" dirty="0">
                <a:latin typeface="Times New Roman"/>
                <a:cs typeface="Times New Roman"/>
              </a:rPr>
              <a:t> </a:t>
            </a:r>
            <a:r>
              <a:rPr sz="2000" dirty="0">
                <a:latin typeface="Times New Roman"/>
                <a:cs typeface="Times New Roman"/>
              </a:rPr>
              <a:t>management</a:t>
            </a:r>
            <a:r>
              <a:rPr sz="2000" spc="25" dirty="0">
                <a:latin typeface="Times New Roman"/>
                <a:cs typeface="Times New Roman"/>
              </a:rPr>
              <a:t> </a:t>
            </a:r>
            <a:r>
              <a:rPr sz="2000" spc="-20" dirty="0">
                <a:latin typeface="Times New Roman"/>
                <a:cs typeface="Times New Roman"/>
              </a:rPr>
              <a:t>plan</a:t>
            </a:r>
            <a:endParaRPr sz="2000" dirty="0">
              <a:latin typeface="Times New Roman"/>
              <a:cs typeface="Times New Roman"/>
            </a:endParaRPr>
          </a:p>
          <a:p>
            <a:pPr marL="927100">
              <a:lnSpc>
                <a:spcPct val="100000"/>
              </a:lnSpc>
            </a:pPr>
            <a:r>
              <a:rPr sz="2000" dirty="0">
                <a:latin typeface="Times New Roman"/>
                <a:cs typeface="Times New Roman"/>
              </a:rPr>
              <a:t>is</a:t>
            </a:r>
            <a:r>
              <a:rPr sz="2000" spc="-20" dirty="0">
                <a:latin typeface="Times New Roman"/>
                <a:cs typeface="Times New Roman"/>
              </a:rPr>
              <a:t> </a:t>
            </a:r>
            <a:r>
              <a:rPr sz="2000" dirty="0">
                <a:latin typeface="Times New Roman"/>
                <a:cs typeface="Times New Roman"/>
              </a:rPr>
              <a:t>drawn</a:t>
            </a:r>
            <a:r>
              <a:rPr sz="2000" spc="-20" dirty="0">
                <a:latin typeface="Times New Roman"/>
                <a:cs typeface="Times New Roman"/>
              </a:rPr>
              <a:t> </a:t>
            </a:r>
            <a:r>
              <a:rPr sz="2000" dirty="0">
                <a:latin typeface="Times New Roman"/>
                <a:cs typeface="Times New Roman"/>
              </a:rPr>
              <a:t>up.</a:t>
            </a:r>
            <a:r>
              <a:rPr sz="2000" spc="-20" dirty="0">
                <a:latin typeface="Times New Roman"/>
                <a:cs typeface="Times New Roman"/>
              </a:rPr>
              <a:t> </a:t>
            </a:r>
            <a:r>
              <a:rPr sz="2000" dirty="0">
                <a:latin typeface="Times New Roman"/>
                <a:cs typeface="Times New Roman"/>
              </a:rPr>
              <a:t>Project</a:t>
            </a:r>
            <a:r>
              <a:rPr sz="2000" spc="-30" dirty="0">
                <a:latin typeface="Times New Roman"/>
                <a:cs typeface="Times New Roman"/>
              </a:rPr>
              <a:t> </a:t>
            </a:r>
            <a:r>
              <a:rPr sz="2000" dirty="0">
                <a:latin typeface="Times New Roman"/>
                <a:cs typeface="Times New Roman"/>
              </a:rPr>
              <a:t>risks</a:t>
            </a:r>
            <a:r>
              <a:rPr sz="2000" spc="-30" dirty="0">
                <a:latin typeface="Times New Roman"/>
                <a:cs typeface="Times New Roman"/>
              </a:rPr>
              <a:t> </a:t>
            </a:r>
            <a:r>
              <a:rPr sz="2000" dirty="0">
                <a:latin typeface="Times New Roman"/>
                <a:cs typeface="Times New Roman"/>
              </a:rPr>
              <a:t>are </a:t>
            </a:r>
            <a:r>
              <a:rPr sz="2000" spc="-10" dirty="0">
                <a:latin typeface="Times New Roman"/>
                <a:cs typeface="Times New Roman"/>
              </a:rPr>
              <a:t>identified.</a:t>
            </a:r>
            <a:endParaRPr sz="2000" dirty="0">
              <a:latin typeface="Times New Roman"/>
              <a:cs typeface="Times New Roman"/>
            </a:endParaRPr>
          </a:p>
          <a:p>
            <a:pPr marL="927100" marR="5080" lvl="1" indent="-457834">
              <a:lnSpc>
                <a:spcPct val="100000"/>
              </a:lnSpc>
              <a:spcBef>
                <a:spcPts val="480"/>
              </a:spcBef>
              <a:buAutoNum type="arabicParenR" startAt="2"/>
              <a:tabLst>
                <a:tab pos="927100" algn="l"/>
              </a:tabLst>
            </a:pPr>
            <a:r>
              <a:rPr sz="2000" dirty="0">
                <a:latin typeface="Times New Roman"/>
                <a:cs typeface="Times New Roman"/>
              </a:rPr>
              <a:t>Alternative</a:t>
            </a:r>
            <a:r>
              <a:rPr sz="2000" spc="150" dirty="0">
                <a:latin typeface="Times New Roman"/>
                <a:cs typeface="Times New Roman"/>
              </a:rPr>
              <a:t> </a:t>
            </a:r>
            <a:r>
              <a:rPr sz="2000" dirty="0">
                <a:latin typeface="Times New Roman"/>
                <a:cs typeface="Times New Roman"/>
              </a:rPr>
              <a:t>strategies</a:t>
            </a:r>
            <a:r>
              <a:rPr sz="2000" spc="150" dirty="0">
                <a:latin typeface="Times New Roman"/>
                <a:cs typeface="Times New Roman"/>
              </a:rPr>
              <a:t> </a:t>
            </a:r>
            <a:r>
              <a:rPr sz="2000" dirty="0">
                <a:latin typeface="Times New Roman"/>
                <a:cs typeface="Times New Roman"/>
              </a:rPr>
              <a:t>and</a:t>
            </a:r>
            <a:r>
              <a:rPr sz="2000" spc="160" dirty="0">
                <a:latin typeface="Times New Roman"/>
                <a:cs typeface="Times New Roman"/>
              </a:rPr>
              <a:t> </a:t>
            </a:r>
            <a:r>
              <a:rPr sz="2000" dirty="0">
                <a:latin typeface="Times New Roman"/>
                <a:cs typeface="Times New Roman"/>
              </a:rPr>
              <a:t>ways</a:t>
            </a:r>
            <a:r>
              <a:rPr sz="2000" spc="145" dirty="0">
                <a:latin typeface="Times New Roman"/>
                <a:cs typeface="Times New Roman"/>
              </a:rPr>
              <a:t> </a:t>
            </a:r>
            <a:r>
              <a:rPr sz="2000" dirty="0">
                <a:latin typeface="Times New Roman"/>
                <a:cs typeface="Times New Roman"/>
              </a:rPr>
              <a:t>of</a:t>
            </a:r>
            <a:r>
              <a:rPr sz="2000" spc="155" dirty="0">
                <a:latin typeface="Times New Roman"/>
                <a:cs typeface="Times New Roman"/>
              </a:rPr>
              <a:t> </a:t>
            </a:r>
            <a:r>
              <a:rPr sz="2000" dirty="0">
                <a:latin typeface="Times New Roman"/>
                <a:cs typeface="Times New Roman"/>
              </a:rPr>
              <a:t>achieving</a:t>
            </a:r>
            <a:r>
              <a:rPr sz="2000" spc="160" dirty="0">
                <a:latin typeface="Times New Roman"/>
                <a:cs typeface="Times New Roman"/>
              </a:rPr>
              <a:t> </a:t>
            </a:r>
            <a:r>
              <a:rPr sz="2000" dirty="0">
                <a:latin typeface="Times New Roman"/>
                <a:cs typeface="Times New Roman"/>
              </a:rPr>
              <a:t>these</a:t>
            </a:r>
            <a:r>
              <a:rPr sz="2000" spc="145" dirty="0">
                <a:latin typeface="Times New Roman"/>
                <a:cs typeface="Times New Roman"/>
              </a:rPr>
              <a:t> </a:t>
            </a:r>
            <a:r>
              <a:rPr sz="2000" dirty="0">
                <a:latin typeface="Times New Roman"/>
                <a:cs typeface="Times New Roman"/>
              </a:rPr>
              <a:t>objectives,</a:t>
            </a:r>
            <a:r>
              <a:rPr sz="2000" spc="150" dirty="0">
                <a:latin typeface="Times New Roman"/>
                <a:cs typeface="Times New Roman"/>
              </a:rPr>
              <a:t> </a:t>
            </a:r>
            <a:r>
              <a:rPr sz="2000" spc="-10" dirty="0">
                <a:latin typeface="Times New Roman"/>
                <a:cs typeface="Times New Roman"/>
              </a:rPr>
              <a:t>depending </a:t>
            </a:r>
            <a:r>
              <a:rPr sz="2000" dirty="0">
                <a:latin typeface="Times New Roman"/>
                <a:cs typeface="Times New Roman"/>
              </a:rPr>
              <a:t>on</a:t>
            </a:r>
            <a:r>
              <a:rPr sz="2000" spc="-20" dirty="0">
                <a:latin typeface="Times New Roman"/>
                <a:cs typeface="Times New Roman"/>
              </a:rPr>
              <a:t> </a:t>
            </a:r>
            <a:r>
              <a:rPr sz="2000" dirty="0">
                <a:latin typeface="Times New Roman"/>
                <a:cs typeface="Times New Roman"/>
              </a:rPr>
              <a:t>those</a:t>
            </a:r>
            <a:r>
              <a:rPr sz="2000" spc="-25" dirty="0">
                <a:latin typeface="Times New Roman"/>
                <a:cs typeface="Times New Roman"/>
              </a:rPr>
              <a:t> </a:t>
            </a:r>
            <a:r>
              <a:rPr sz="2000" dirty="0">
                <a:latin typeface="Times New Roman"/>
                <a:cs typeface="Times New Roman"/>
              </a:rPr>
              <a:t>risks,</a:t>
            </a:r>
            <a:r>
              <a:rPr sz="2000" spc="-25" dirty="0">
                <a:latin typeface="Times New Roman"/>
                <a:cs typeface="Times New Roman"/>
              </a:rPr>
              <a:t> </a:t>
            </a:r>
            <a:r>
              <a:rPr sz="2000" dirty="0">
                <a:latin typeface="Times New Roman"/>
                <a:cs typeface="Times New Roman"/>
              </a:rPr>
              <a:t>may be</a:t>
            </a:r>
            <a:r>
              <a:rPr sz="2000" spc="-10" dirty="0">
                <a:latin typeface="Times New Roman"/>
                <a:cs typeface="Times New Roman"/>
              </a:rPr>
              <a:t> planned.</a:t>
            </a:r>
            <a:endParaRPr sz="2000" dirty="0">
              <a:latin typeface="Times New Roman"/>
              <a:cs typeface="Times New Roman"/>
            </a:endParaRPr>
          </a:p>
          <a:p>
            <a:pPr marL="469265" indent="-456565">
              <a:lnSpc>
                <a:spcPct val="100000"/>
              </a:lnSpc>
              <a:spcBef>
                <a:spcPts val="565"/>
              </a:spcBef>
              <a:buAutoNum type="arabicParenR" startAt="2"/>
              <a:tabLst>
                <a:tab pos="469265" algn="l"/>
              </a:tabLst>
            </a:pPr>
            <a:r>
              <a:rPr sz="2400" b="1" i="1" dirty="0">
                <a:latin typeface="Times New Roman"/>
                <a:cs typeface="Times New Roman"/>
              </a:rPr>
              <a:t>Risk</a:t>
            </a:r>
            <a:r>
              <a:rPr sz="2400" b="1" i="1" spc="-40" dirty="0">
                <a:latin typeface="Times New Roman"/>
                <a:cs typeface="Times New Roman"/>
              </a:rPr>
              <a:t> </a:t>
            </a:r>
            <a:r>
              <a:rPr sz="2400" b="1" i="1" dirty="0">
                <a:latin typeface="Times New Roman"/>
                <a:cs typeface="Times New Roman"/>
              </a:rPr>
              <a:t>assessment</a:t>
            </a:r>
            <a:r>
              <a:rPr sz="2400" b="1" i="1" spc="-55" dirty="0">
                <a:latin typeface="Times New Roman"/>
                <a:cs typeface="Times New Roman"/>
              </a:rPr>
              <a:t> </a:t>
            </a:r>
            <a:r>
              <a:rPr sz="2400" b="1" i="1" dirty="0">
                <a:latin typeface="Times New Roman"/>
                <a:cs typeface="Times New Roman"/>
              </a:rPr>
              <a:t>and</a:t>
            </a:r>
            <a:r>
              <a:rPr sz="2400" b="1" i="1" spc="-30" dirty="0">
                <a:latin typeface="Times New Roman"/>
                <a:cs typeface="Times New Roman"/>
              </a:rPr>
              <a:t> </a:t>
            </a:r>
            <a:r>
              <a:rPr sz="2400" b="1" i="1" spc="-10" dirty="0">
                <a:latin typeface="Times New Roman"/>
                <a:cs typeface="Times New Roman"/>
              </a:rPr>
              <a:t>reduction:</a:t>
            </a:r>
            <a:endParaRPr sz="2400" dirty="0">
              <a:latin typeface="Times New Roman"/>
              <a:cs typeface="Times New Roman"/>
            </a:endParaRPr>
          </a:p>
          <a:p>
            <a:pPr marL="469900" marR="699135">
              <a:lnSpc>
                <a:spcPct val="100000"/>
              </a:lnSpc>
            </a:pP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each</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the</a:t>
            </a:r>
            <a:r>
              <a:rPr sz="2400" spc="-20" dirty="0">
                <a:latin typeface="Times New Roman"/>
                <a:cs typeface="Times New Roman"/>
              </a:rPr>
              <a:t> </a:t>
            </a:r>
            <a:r>
              <a:rPr sz="2400" dirty="0">
                <a:latin typeface="Times New Roman"/>
                <a:cs typeface="Times New Roman"/>
              </a:rPr>
              <a:t>identified</a:t>
            </a:r>
            <a:r>
              <a:rPr sz="2400" spc="-50" dirty="0">
                <a:latin typeface="Times New Roman"/>
                <a:cs typeface="Times New Roman"/>
              </a:rPr>
              <a:t> </a:t>
            </a:r>
            <a:r>
              <a:rPr sz="2400" dirty="0">
                <a:latin typeface="Times New Roman"/>
                <a:cs typeface="Times New Roman"/>
              </a:rPr>
              <a:t>project</a:t>
            </a:r>
            <a:r>
              <a:rPr sz="2400" spc="-40" dirty="0">
                <a:latin typeface="Times New Roman"/>
                <a:cs typeface="Times New Roman"/>
              </a:rPr>
              <a:t> </a:t>
            </a:r>
            <a:r>
              <a:rPr sz="2400" dirty="0">
                <a:latin typeface="Times New Roman"/>
                <a:cs typeface="Times New Roman"/>
              </a:rPr>
              <a:t>risks,</a:t>
            </a:r>
            <a:r>
              <a:rPr sz="2400" spc="-2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detailed</a:t>
            </a:r>
            <a:r>
              <a:rPr sz="2400" spc="-55" dirty="0">
                <a:latin typeface="Times New Roman"/>
                <a:cs typeface="Times New Roman"/>
              </a:rPr>
              <a:t> </a:t>
            </a:r>
            <a:r>
              <a:rPr sz="2400" dirty="0">
                <a:latin typeface="Times New Roman"/>
                <a:cs typeface="Times New Roman"/>
              </a:rPr>
              <a:t>analysis</a:t>
            </a:r>
            <a:r>
              <a:rPr sz="2400" spc="-30" dirty="0">
                <a:latin typeface="Times New Roman"/>
                <a:cs typeface="Times New Roman"/>
              </a:rPr>
              <a:t> </a:t>
            </a:r>
            <a:r>
              <a:rPr sz="2400" spc="-25" dirty="0">
                <a:latin typeface="Times New Roman"/>
                <a:cs typeface="Times New Roman"/>
              </a:rPr>
              <a:t>is </a:t>
            </a:r>
            <a:r>
              <a:rPr sz="2400" dirty="0">
                <a:latin typeface="Times New Roman"/>
                <a:cs typeface="Times New Roman"/>
              </a:rPr>
              <a:t>carried</a:t>
            </a:r>
            <a:r>
              <a:rPr sz="2400" spc="-35" dirty="0">
                <a:latin typeface="Times New Roman"/>
                <a:cs typeface="Times New Roman"/>
              </a:rPr>
              <a:t> </a:t>
            </a:r>
            <a:r>
              <a:rPr sz="2400" spc="-20" dirty="0">
                <a:latin typeface="Times New Roman"/>
                <a:cs typeface="Times New Roman"/>
              </a:rPr>
              <a:t>out.</a:t>
            </a:r>
            <a:endParaRPr sz="2400" dirty="0">
              <a:latin typeface="Times New Roman"/>
              <a:cs typeface="Times New Roman"/>
            </a:endParaRPr>
          </a:p>
          <a:p>
            <a:pPr marL="819785" indent="-349885">
              <a:lnSpc>
                <a:spcPct val="100000"/>
              </a:lnSpc>
              <a:spcBef>
                <a:spcPts val="500"/>
              </a:spcBef>
              <a:buChar char="–"/>
              <a:tabLst>
                <a:tab pos="819785" algn="l"/>
              </a:tabLst>
            </a:pPr>
            <a:r>
              <a:rPr sz="2000" dirty="0">
                <a:latin typeface="Times New Roman"/>
                <a:cs typeface="Times New Roman"/>
              </a:rPr>
              <a:t>Steps</a:t>
            </a:r>
            <a:r>
              <a:rPr sz="2000" spc="-25" dirty="0">
                <a:latin typeface="Times New Roman"/>
                <a:cs typeface="Times New Roman"/>
              </a:rPr>
              <a:t> </a:t>
            </a:r>
            <a:r>
              <a:rPr sz="2000" dirty="0">
                <a:latin typeface="Times New Roman"/>
                <a:cs typeface="Times New Roman"/>
              </a:rPr>
              <a:t>are</a:t>
            </a:r>
            <a:r>
              <a:rPr sz="2000" spc="-15" dirty="0">
                <a:latin typeface="Times New Roman"/>
                <a:cs typeface="Times New Roman"/>
              </a:rPr>
              <a:t> </a:t>
            </a:r>
            <a:r>
              <a:rPr sz="2000" dirty="0">
                <a:latin typeface="Times New Roman"/>
                <a:cs typeface="Times New Roman"/>
              </a:rPr>
              <a:t>taken</a:t>
            </a:r>
            <a:r>
              <a:rPr sz="2000" spc="-2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reduce</a:t>
            </a:r>
            <a:r>
              <a:rPr sz="2000" spc="-30" dirty="0">
                <a:latin typeface="Times New Roman"/>
                <a:cs typeface="Times New Roman"/>
              </a:rPr>
              <a:t> </a:t>
            </a:r>
            <a:r>
              <a:rPr sz="2000" dirty="0">
                <a:latin typeface="Times New Roman"/>
                <a:cs typeface="Times New Roman"/>
              </a:rPr>
              <a:t>the</a:t>
            </a:r>
            <a:r>
              <a:rPr sz="2000" spc="-15" dirty="0">
                <a:latin typeface="Times New Roman"/>
                <a:cs typeface="Times New Roman"/>
              </a:rPr>
              <a:t> </a:t>
            </a:r>
            <a:r>
              <a:rPr sz="2000" spc="-10" dirty="0">
                <a:latin typeface="Times New Roman"/>
                <a:cs typeface="Times New Roman"/>
              </a:rPr>
              <a:t>risk.</a:t>
            </a:r>
            <a:endParaRPr sz="2000" dirty="0">
              <a:latin typeface="Times New Roman"/>
              <a:cs typeface="Times New Roman"/>
            </a:endParaRPr>
          </a:p>
          <a:p>
            <a:pPr marL="1155700" marR="5715" lvl="1" indent="-228600">
              <a:lnSpc>
                <a:spcPct val="100000"/>
              </a:lnSpc>
              <a:spcBef>
                <a:spcPts val="400"/>
              </a:spcBef>
              <a:buChar char="•"/>
              <a:tabLst>
                <a:tab pos="1155700" algn="l"/>
              </a:tabLst>
            </a:pPr>
            <a:r>
              <a:rPr sz="1600" dirty="0">
                <a:latin typeface="Times New Roman"/>
                <a:cs typeface="Times New Roman"/>
              </a:rPr>
              <a:t>For example,</a:t>
            </a:r>
            <a:r>
              <a:rPr sz="1600" spc="20" dirty="0">
                <a:latin typeface="Times New Roman"/>
                <a:cs typeface="Times New Roman"/>
              </a:rPr>
              <a:t> </a:t>
            </a:r>
            <a:r>
              <a:rPr sz="1600" dirty="0">
                <a:latin typeface="Times New Roman"/>
                <a:cs typeface="Times New Roman"/>
              </a:rPr>
              <a:t>if</a:t>
            </a:r>
            <a:r>
              <a:rPr sz="1600" spc="20" dirty="0">
                <a:latin typeface="Times New Roman"/>
                <a:cs typeface="Times New Roman"/>
              </a:rPr>
              <a:t> </a:t>
            </a:r>
            <a:r>
              <a:rPr sz="1600" dirty="0">
                <a:latin typeface="Times New Roman"/>
                <a:cs typeface="Times New Roman"/>
              </a:rPr>
              <a:t>there</a:t>
            </a:r>
            <a:r>
              <a:rPr sz="1600" spc="5" dirty="0">
                <a:latin typeface="Times New Roman"/>
                <a:cs typeface="Times New Roman"/>
              </a:rPr>
              <a:t> </a:t>
            </a:r>
            <a:r>
              <a:rPr sz="1600" dirty="0">
                <a:latin typeface="Times New Roman"/>
                <a:cs typeface="Times New Roman"/>
              </a:rPr>
              <a:t>is</a:t>
            </a:r>
            <a:r>
              <a:rPr sz="1600" spc="10" dirty="0">
                <a:latin typeface="Times New Roman"/>
                <a:cs typeface="Times New Roman"/>
              </a:rPr>
              <a:t> </a:t>
            </a:r>
            <a:r>
              <a:rPr sz="1600" dirty="0">
                <a:latin typeface="Times New Roman"/>
                <a:cs typeface="Times New Roman"/>
              </a:rPr>
              <a:t>a</a:t>
            </a:r>
            <a:r>
              <a:rPr sz="1600" spc="25" dirty="0">
                <a:latin typeface="Times New Roman"/>
                <a:cs typeface="Times New Roman"/>
              </a:rPr>
              <a:t> </a:t>
            </a:r>
            <a:r>
              <a:rPr sz="1600" dirty="0">
                <a:latin typeface="Times New Roman"/>
                <a:cs typeface="Times New Roman"/>
              </a:rPr>
              <a:t>risk</a:t>
            </a:r>
            <a:r>
              <a:rPr sz="1600" spc="25" dirty="0">
                <a:latin typeface="Times New Roman"/>
                <a:cs typeface="Times New Roman"/>
              </a:rPr>
              <a:t> </a:t>
            </a:r>
            <a:r>
              <a:rPr sz="1600" dirty="0">
                <a:latin typeface="Times New Roman"/>
                <a:cs typeface="Times New Roman"/>
              </a:rPr>
              <a:t>that</a:t>
            </a:r>
            <a:r>
              <a:rPr sz="1600" spc="15" dirty="0">
                <a:latin typeface="Times New Roman"/>
                <a:cs typeface="Times New Roman"/>
              </a:rPr>
              <a:t> </a:t>
            </a:r>
            <a:r>
              <a:rPr sz="1600" dirty="0">
                <a:latin typeface="Times New Roman"/>
                <a:cs typeface="Times New Roman"/>
              </a:rPr>
              <a:t>the</a:t>
            </a:r>
            <a:r>
              <a:rPr sz="1600" spc="20" dirty="0">
                <a:latin typeface="Times New Roman"/>
                <a:cs typeface="Times New Roman"/>
              </a:rPr>
              <a:t> </a:t>
            </a:r>
            <a:r>
              <a:rPr sz="1600" dirty="0">
                <a:latin typeface="Times New Roman"/>
                <a:cs typeface="Times New Roman"/>
              </a:rPr>
              <a:t>requirements</a:t>
            </a:r>
            <a:r>
              <a:rPr sz="1600" spc="25" dirty="0">
                <a:latin typeface="Times New Roman"/>
                <a:cs typeface="Times New Roman"/>
              </a:rPr>
              <a:t> </a:t>
            </a:r>
            <a:r>
              <a:rPr sz="1600" dirty="0">
                <a:latin typeface="Times New Roman"/>
                <a:cs typeface="Times New Roman"/>
              </a:rPr>
              <a:t>are</a:t>
            </a:r>
            <a:r>
              <a:rPr sz="1600" spc="15" dirty="0">
                <a:latin typeface="Times New Roman"/>
                <a:cs typeface="Times New Roman"/>
              </a:rPr>
              <a:t> </a:t>
            </a:r>
            <a:r>
              <a:rPr sz="1600" dirty="0">
                <a:latin typeface="Times New Roman"/>
                <a:cs typeface="Times New Roman"/>
              </a:rPr>
              <a:t>inappropriate,</a:t>
            </a:r>
            <a:r>
              <a:rPr sz="1600" spc="30" dirty="0">
                <a:latin typeface="Times New Roman"/>
                <a:cs typeface="Times New Roman"/>
              </a:rPr>
              <a:t> </a:t>
            </a:r>
            <a:r>
              <a:rPr sz="1600" dirty="0">
                <a:latin typeface="Times New Roman"/>
                <a:cs typeface="Times New Roman"/>
              </a:rPr>
              <a:t>a</a:t>
            </a:r>
            <a:r>
              <a:rPr sz="1600" spc="10" dirty="0">
                <a:latin typeface="Times New Roman"/>
                <a:cs typeface="Times New Roman"/>
              </a:rPr>
              <a:t> </a:t>
            </a:r>
            <a:r>
              <a:rPr sz="1600" dirty="0">
                <a:latin typeface="Times New Roman"/>
                <a:cs typeface="Times New Roman"/>
              </a:rPr>
              <a:t>prototype</a:t>
            </a:r>
            <a:r>
              <a:rPr sz="1600" spc="10" dirty="0">
                <a:latin typeface="Times New Roman"/>
                <a:cs typeface="Times New Roman"/>
              </a:rPr>
              <a:t> </a:t>
            </a:r>
            <a:r>
              <a:rPr sz="1600" spc="-10" dirty="0">
                <a:latin typeface="Times New Roman"/>
                <a:cs typeface="Times New Roman"/>
              </a:rPr>
              <a:t>system </a:t>
            </a:r>
            <a:r>
              <a:rPr sz="1600" dirty="0">
                <a:latin typeface="Times New Roman"/>
                <a:cs typeface="Times New Roman"/>
              </a:rPr>
              <a:t>may</a:t>
            </a:r>
            <a:r>
              <a:rPr sz="1600" spc="10" dirty="0">
                <a:latin typeface="Times New Roman"/>
                <a:cs typeface="Times New Roman"/>
              </a:rPr>
              <a:t> </a:t>
            </a:r>
            <a:r>
              <a:rPr sz="1600" dirty="0">
                <a:latin typeface="Times New Roman"/>
                <a:cs typeface="Times New Roman"/>
              </a:rPr>
              <a:t>be</a:t>
            </a:r>
            <a:r>
              <a:rPr sz="1600" spc="-40" dirty="0">
                <a:latin typeface="Times New Roman"/>
                <a:cs typeface="Times New Roman"/>
              </a:rPr>
              <a:t> </a:t>
            </a:r>
            <a:r>
              <a:rPr sz="1600" spc="-10" dirty="0">
                <a:latin typeface="Times New Roman"/>
                <a:cs typeface="Times New Roman"/>
              </a:rPr>
              <a:t>developed.</a:t>
            </a:r>
            <a:endParaRPr sz="1600" dirty="0">
              <a:latin typeface="Times New Roman"/>
              <a:cs typeface="Times New Roman"/>
            </a:endParaRPr>
          </a:p>
        </p:txBody>
      </p:sp>
      <p:sp>
        <p:nvSpPr>
          <p:cNvPr id="9" name="object 9"/>
          <p:cNvSpPr txBox="1">
            <a:spLocks noGrp="1"/>
          </p:cNvSpPr>
          <p:nvPr>
            <p:ph type="title"/>
          </p:nvPr>
        </p:nvSpPr>
        <p:spPr>
          <a:xfrm>
            <a:off x="813295" y="315975"/>
            <a:ext cx="7772400" cy="896399"/>
          </a:xfrm>
          <a:prstGeom prst="rect">
            <a:avLst/>
          </a:prstGeom>
          <a:solidFill>
            <a:srgbClr val="D5D5F5"/>
          </a:solidFill>
        </p:spPr>
        <p:txBody>
          <a:bodyPr vert="horz" wrap="square" lIns="0" tIns="217170" rIns="0" bIns="0" rtlCol="0">
            <a:spAutoFit/>
          </a:bodyPr>
          <a:lstStyle/>
          <a:p>
            <a:pPr marL="1270" algn="ctr">
              <a:lnSpc>
                <a:spcPct val="100000"/>
              </a:lnSpc>
              <a:spcBef>
                <a:spcPts val="1710"/>
              </a:spcBef>
            </a:pPr>
            <a:r>
              <a:rPr dirty="0"/>
              <a:t>Spiral</a:t>
            </a:r>
            <a:r>
              <a:rPr spc="-20" dirty="0"/>
              <a:t> </a:t>
            </a:r>
            <a:r>
              <a:rPr dirty="0"/>
              <a:t>Model </a:t>
            </a:r>
            <a:r>
              <a:rPr spc="-10" dirty="0"/>
              <a:t>(Cont…)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396558" y="1752600"/>
            <a:ext cx="8350884" cy="4173854"/>
          </a:xfrm>
          <a:prstGeom prst="rect">
            <a:avLst/>
          </a:prstGeom>
        </p:spPr>
        <p:txBody>
          <a:bodyPr vert="horz" wrap="square" lIns="0" tIns="12700" rIns="0" bIns="0" rtlCol="0">
            <a:spAutoFit/>
          </a:bodyPr>
          <a:lstStyle/>
          <a:p>
            <a:pPr marL="469265" indent="-456565">
              <a:lnSpc>
                <a:spcPct val="100000"/>
              </a:lnSpc>
              <a:spcBef>
                <a:spcPts val="100"/>
              </a:spcBef>
              <a:buAutoNum type="arabicParenR" startAt="3"/>
              <a:tabLst>
                <a:tab pos="469265" algn="l"/>
              </a:tabLst>
            </a:pPr>
            <a:r>
              <a:rPr sz="2400" b="1" i="1" dirty="0">
                <a:latin typeface="Times New Roman"/>
                <a:cs typeface="Times New Roman"/>
              </a:rPr>
              <a:t>Development</a:t>
            </a:r>
            <a:r>
              <a:rPr sz="2400" b="1" i="1" spc="-50" dirty="0">
                <a:latin typeface="Times New Roman"/>
                <a:cs typeface="Times New Roman"/>
              </a:rPr>
              <a:t> </a:t>
            </a:r>
            <a:r>
              <a:rPr sz="2400" b="1" i="1" dirty="0">
                <a:latin typeface="Times New Roman"/>
                <a:cs typeface="Times New Roman"/>
              </a:rPr>
              <a:t>and</a:t>
            </a:r>
            <a:r>
              <a:rPr sz="2400" b="1" i="1" spc="-15" dirty="0">
                <a:latin typeface="Times New Roman"/>
                <a:cs typeface="Times New Roman"/>
              </a:rPr>
              <a:t> </a:t>
            </a:r>
            <a:r>
              <a:rPr sz="2400" b="1" i="1" spc="-10" dirty="0">
                <a:latin typeface="Times New Roman"/>
                <a:cs typeface="Times New Roman"/>
              </a:rPr>
              <a:t>validation:</a:t>
            </a:r>
            <a:endParaRPr sz="2400" dirty="0">
              <a:latin typeface="Times New Roman"/>
              <a:cs typeface="Times New Roman"/>
            </a:endParaRPr>
          </a:p>
          <a:p>
            <a:pPr marL="469900">
              <a:lnSpc>
                <a:spcPct val="100000"/>
              </a:lnSpc>
            </a:pPr>
            <a:r>
              <a:rPr sz="2400" dirty="0">
                <a:latin typeface="Times New Roman"/>
                <a:cs typeface="Times New Roman"/>
              </a:rPr>
              <a:t>After</a:t>
            </a:r>
            <a:r>
              <a:rPr sz="2400" spc="-10" dirty="0">
                <a:latin typeface="Times New Roman"/>
                <a:cs typeface="Times New Roman"/>
              </a:rPr>
              <a:t> </a:t>
            </a:r>
            <a:r>
              <a:rPr sz="2400" dirty="0">
                <a:latin typeface="Times New Roman"/>
                <a:cs typeface="Times New Roman"/>
              </a:rPr>
              <a:t>risk</a:t>
            </a:r>
            <a:r>
              <a:rPr sz="2400" spc="-30" dirty="0">
                <a:latin typeface="Times New Roman"/>
                <a:cs typeface="Times New Roman"/>
              </a:rPr>
              <a:t> </a:t>
            </a:r>
            <a:r>
              <a:rPr sz="2400" dirty="0">
                <a:latin typeface="Times New Roman"/>
                <a:cs typeface="Times New Roman"/>
              </a:rPr>
              <a:t>evaluation,</a:t>
            </a:r>
            <a:r>
              <a:rPr sz="2400" spc="-5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development</a:t>
            </a:r>
            <a:r>
              <a:rPr sz="2400" spc="-35" dirty="0">
                <a:latin typeface="Times New Roman"/>
                <a:cs typeface="Times New Roman"/>
              </a:rPr>
              <a:t> </a:t>
            </a:r>
            <a:r>
              <a:rPr sz="2400" dirty="0">
                <a:latin typeface="Times New Roman"/>
                <a:cs typeface="Times New Roman"/>
              </a:rPr>
              <a:t>model</a:t>
            </a:r>
            <a:r>
              <a:rPr sz="2400" spc="-10" dirty="0">
                <a:latin typeface="Times New Roman"/>
                <a:cs typeface="Times New Roman"/>
              </a:rPr>
              <a:t> </a:t>
            </a:r>
            <a:r>
              <a:rPr sz="2400" dirty="0">
                <a:latin typeface="Times New Roman"/>
                <a:cs typeface="Times New Roman"/>
              </a:rPr>
              <a:t>for</a:t>
            </a:r>
            <a:r>
              <a:rPr sz="2400" spc="-1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system</a:t>
            </a:r>
            <a:r>
              <a:rPr sz="2400" spc="-30" dirty="0">
                <a:latin typeface="Times New Roman"/>
                <a:cs typeface="Times New Roman"/>
              </a:rPr>
              <a:t> </a:t>
            </a:r>
            <a:r>
              <a:rPr sz="2400" spc="-25" dirty="0">
                <a:latin typeface="Times New Roman"/>
                <a:cs typeface="Times New Roman"/>
              </a:rPr>
              <a:t>is</a:t>
            </a:r>
            <a:endParaRPr sz="2400" dirty="0">
              <a:latin typeface="Times New Roman"/>
              <a:cs typeface="Times New Roman"/>
            </a:endParaRPr>
          </a:p>
          <a:p>
            <a:pPr marL="469900">
              <a:lnSpc>
                <a:spcPct val="100000"/>
              </a:lnSpc>
            </a:pPr>
            <a:r>
              <a:rPr sz="2400" dirty="0">
                <a:latin typeface="Times New Roman"/>
                <a:cs typeface="Times New Roman"/>
              </a:rPr>
              <a:t>then</a:t>
            </a:r>
            <a:r>
              <a:rPr sz="2400" spc="-15" dirty="0">
                <a:latin typeface="Times New Roman"/>
                <a:cs typeface="Times New Roman"/>
              </a:rPr>
              <a:t> </a:t>
            </a:r>
            <a:r>
              <a:rPr sz="2400" spc="-10" dirty="0">
                <a:latin typeface="Times New Roman"/>
                <a:cs typeface="Times New Roman"/>
              </a:rPr>
              <a:t>chosen.</a:t>
            </a:r>
            <a:endParaRPr sz="2400" dirty="0">
              <a:latin typeface="Times New Roman"/>
              <a:cs typeface="Times New Roman"/>
            </a:endParaRPr>
          </a:p>
          <a:p>
            <a:pPr marL="756285" lvl="1" indent="-286385">
              <a:lnSpc>
                <a:spcPct val="100000"/>
              </a:lnSpc>
              <a:spcBef>
                <a:spcPts val="495"/>
              </a:spcBef>
              <a:buFont typeface="Wingdings"/>
              <a:buChar char=""/>
              <a:tabLst>
                <a:tab pos="756285" algn="l"/>
                <a:tab pos="1292860" algn="l"/>
                <a:tab pos="2395855" algn="l"/>
                <a:tab pos="2733040" algn="l"/>
                <a:tab pos="3338195" algn="l"/>
                <a:tab pos="4404995" algn="l"/>
                <a:tab pos="5066665" algn="l"/>
                <a:tab pos="5558790" algn="l"/>
                <a:tab pos="6761480" algn="l"/>
                <a:tab pos="7185659" algn="l"/>
              </a:tabLst>
            </a:pPr>
            <a:r>
              <a:rPr sz="2000" spc="-25" dirty="0">
                <a:latin typeface="Times New Roman"/>
                <a:cs typeface="Times New Roman"/>
              </a:rPr>
              <a:t>For</a:t>
            </a:r>
            <a:r>
              <a:rPr sz="2000" dirty="0">
                <a:latin typeface="Times New Roman"/>
                <a:cs typeface="Times New Roman"/>
              </a:rPr>
              <a:t>	</a:t>
            </a:r>
            <a:r>
              <a:rPr sz="2000" spc="-10" dirty="0">
                <a:latin typeface="Times New Roman"/>
                <a:cs typeface="Times New Roman"/>
              </a:rPr>
              <a:t>example,</a:t>
            </a:r>
            <a:r>
              <a:rPr sz="2000" dirty="0">
                <a:latin typeface="Times New Roman"/>
                <a:cs typeface="Times New Roman"/>
              </a:rPr>
              <a:t>	</a:t>
            </a:r>
            <a:r>
              <a:rPr sz="2000" spc="-25" dirty="0">
                <a:latin typeface="Times New Roman"/>
                <a:cs typeface="Times New Roman"/>
              </a:rPr>
              <a:t>if</a:t>
            </a:r>
            <a:r>
              <a:rPr sz="2000" dirty="0">
                <a:latin typeface="Times New Roman"/>
                <a:cs typeface="Times New Roman"/>
              </a:rPr>
              <a:t>	</a:t>
            </a:r>
            <a:r>
              <a:rPr sz="2000" spc="-20" dirty="0">
                <a:latin typeface="Times New Roman"/>
                <a:cs typeface="Times New Roman"/>
              </a:rPr>
              <a:t>user</a:t>
            </a:r>
            <a:r>
              <a:rPr sz="2000" dirty="0">
                <a:latin typeface="Times New Roman"/>
                <a:cs typeface="Times New Roman"/>
              </a:rPr>
              <a:t>	</a:t>
            </a:r>
            <a:r>
              <a:rPr sz="2000" spc="-10" dirty="0">
                <a:latin typeface="Times New Roman"/>
                <a:cs typeface="Times New Roman"/>
              </a:rPr>
              <a:t>interface</a:t>
            </a:r>
            <a:r>
              <a:rPr sz="2000" dirty="0">
                <a:latin typeface="Times New Roman"/>
                <a:cs typeface="Times New Roman"/>
              </a:rPr>
              <a:t>	</a:t>
            </a:r>
            <a:r>
              <a:rPr sz="2000" spc="-10" dirty="0">
                <a:latin typeface="Times New Roman"/>
                <a:cs typeface="Times New Roman"/>
              </a:rPr>
              <a:t>risks</a:t>
            </a:r>
            <a:r>
              <a:rPr sz="2000" dirty="0">
                <a:latin typeface="Times New Roman"/>
                <a:cs typeface="Times New Roman"/>
              </a:rPr>
              <a:t>	</a:t>
            </a:r>
            <a:r>
              <a:rPr sz="2000" spc="-25" dirty="0">
                <a:latin typeface="Times New Roman"/>
                <a:cs typeface="Times New Roman"/>
              </a:rPr>
              <a:t>are</a:t>
            </a:r>
            <a:r>
              <a:rPr sz="2000" dirty="0">
                <a:latin typeface="Times New Roman"/>
                <a:cs typeface="Times New Roman"/>
              </a:rPr>
              <a:t>	</a:t>
            </a:r>
            <a:r>
              <a:rPr sz="2000" spc="-10" dirty="0">
                <a:latin typeface="Times New Roman"/>
                <a:cs typeface="Times New Roman"/>
              </a:rPr>
              <a:t>dominant,</a:t>
            </a:r>
            <a:r>
              <a:rPr sz="2000" dirty="0">
                <a:latin typeface="Times New Roman"/>
                <a:cs typeface="Times New Roman"/>
              </a:rPr>
              <a:t>	</a:t>
            </a:r>
            <a:r>
              <a:rPr sz="2000" spc="-25" dirty="0">
                <a:latin typeface="Times New Roman"/>
                <a:cs typeface="Times New Roman"/>
              </a:rPr>
              <a:t>an</a:t>
            </a:r>
            <a:r>
              <a:rPr sz="2000" dirty="0">
                <a:latin typeface="Times New Roman"/>
                <a:cs typeface="Times New Roman"/>
              </a:rPr>
              <a:t>	</a:t>
            </a:r>
            <a:r>
              <a:rPr sz="2000" spc="-10" dirty="0">
                <a:latin typeface="Times New Roman"/>
                <a:cs typeface="Times New Roman"/>
              </a:rPr>
              <a:t>appropriate</a:t>
            </a:r>
            <a:endParaRPr sz="2000" dirty="0">
              <a:latin typeface="Times New Roman"/>
              <a:cs typeface="Times New Roman"/>
            </a:endParaRPr>
          </a:p>
          <a:p>
            <a:pPr marL="756285">
              <a:lnSpc>
                <a:spcPct val="100000"/>
              </a:lnSpc>
              <a:spcBef>
                <a:spcPts val="5"/>
              </a:spcBef>
            </a:pPr>
            <a:r>
              <a:rPr sz="2000" dirty="0">
                <a:latin typeface="Times New Roman"/>
                <a:cs typeface="Times New Roman"/>
              </a:rPr>
              <a:t>development</a:t>
            </a:r>
            <a:r>
              <a:rPr sz="2000" spc="-60" dirty="0">
                <a:latin typeface="Times New Roman"/>
                <a:cs typeface="Times New Roman"/>
              </a:rPr>
              <a:t> </a:t>
            </a:r>
            <a:r>
              <a:rPr sz="2000" dirty="0">
                <a:latin typeface="Times New Roman"/>
                <a:cs typeface="Times New Roman"/>
              </a:rPr>
              <a:t>model</a:t>
            </a:r>
            <a:r>
              <a:rPr sz="2000" spc="-35" dirty="0">
                <a:latin typeface="Times New Roman"/>
                <a:cs typeface="Times New Roman"/>
              </a:rPr>
              <a:t> </a:t>
            </a:r>
            <a:r>
              <a:rPr sz="2000" dirty="0">
                <a:latin typeface="Times New Roman"/>
                <a:cs typeface="Times New Roman"/>
              </a:rPr>
              <a:t>might</a:t>
            </a:r>
            <a:r>
              <a:rPr sz="2000" spc="-15" dirty="0">
                <a:latin typeface="Times New Roman"/>
                <a:cs typeface="Times New Roman"/>
              </a:rPr>
              <a:t> </a:t>
            </a:r>
            <a:r>
              <a:rPr sz="2000" dirty="0">
                <a:latin typeface="Times New Roman"/>
                <a:cs typeface="Times New Roman"/>
              </a:rPr>
              <a:t>be</a:t>
            </a:r>
            <a:r>
              <a:rPr sz="2000" spc="-40" dirty="0">
                <a:latin typeface="Times New Roman"/>
                <a:cs typeface="Times New Roman"/>
              </a:rPr>
              <a:t> </a:t>
            </a:r>
            <a:r>
              <a:rPr sz="2000" spc="-10" dirty="0">
                <a:latin typeface="Times New Roman"/>
                <a:cs typeface="Times New Roman"/>
              </a:rPr>
              <a:t>prototyping.</a:t>
            </a:r>
            <a:endParaRPr sz="2000" dirty="0">
              <a:latin typeface="Times New Roman"/>
              <a:cs typeface="Times New Roman"/>
            </a:endParaRPr>
          </a:p>
          <a:p>
            <a:pPr marL="1155700" marR="5715" lvl="2" indent="-228600">
              <a:lnSpc>
                <a:spcPct val="100000"/>
              </a:lnSpc>
              <a:spcBef>
                <a:spcPts val="400"/>
              </a:spcBef>
              <a:buFont typeface="Wingdings"/>
              <a:buChar char=""/>
              <a:tabLst>
                <a:tab pos="1155700" algn="l"/>
              </a:tabLst>
            </a:pPr>
            <a:r>
              <a:rPr sz="1600" dirty="0">
                <a:latin typeface="Times New Roman"/>
                <a:cs typeface="Times New Roman"/>
              </a:rPr>
              <a:t>If</a:t>
            </a:r>
            <a:r>
              <a:rPr sz="1600" spc="340" dirty="0">
                <a:latin typeface="Times New Roman"/>
                <a:cs typeface="Times New Roman"/>
              </a:rPr>
              <a:t> </a:t>
            </a:r>
            <a:r>
              <a:rPr sz="1600" dirty="0">
                <a:latin typeface="Times New Roman"/>
                <a:cs typeface="Times New Roman"/>
              </a:rPr>
              <a:t>main</a:t>
            </a:r>
            <a:r>
              <a:rPr sz="1600" spc="330" dirty="0">
                <a:latin typeface="Times New Roman"/>
                <a:cs typeface="Times New Roman"/>
              </a:rPr>
              <a:t> </a:t>
            </a:r>
            <a:r>
              <a:rPr sz="1600" dirty="0">
                <a:latin typeface="Times New Roman"/>
                <a:cs typeface="Times New Roman"/>
              </a:rPr>
              <a:t>risk</a:t>
            </a:r>
            <a:r>
              <a:rPr sz="1600" spc="335" dirty="0">
                <a:latin typeface="Times New Roman"/>
                <a:cs typeface="Times New Roman"/>
              </a:rPr>
              <a:t> </a:t>
            </a:r>
            <a:r>
              <a:rPr sz="1600" dirty="0">
                <a:latin typeface="Times New Roman"/>
                <a:cs typeface="Times New Roman"/>
              </a:rPr>
              <a:t>is</a:t>
            </a:r>
            <a:r>
              <a:rPr sz="1600" spc="330" dirty="0">
                <a:latin typeface="Times New Roman"/>
                <a:cs typeface="Times New Roman"/>
              </a:rPr>
              <a:t> </a:t>
            </a:r>
            <a:r>
              <a:rPr sz="1600" spc="-10" dirty="0">
                <a:latin typeface="Times New Roman"/>
                <a:cs typeface="Times New Roman"/>
              </a:rPr>
              <a:t>sub-</a:t>
            </a:r>
            <a:r>
              <a:rPr sz="1600" dirty="0">
                <a:latin typeface="Times New Roman"/>
                <a:cs typeface="Times New Roman"/>
              </a:rPr>
              <a:t>system</a:t>
            </a:r>
            <a:r>
              <a:rPr sz="1600" spc="310" dirty="0">
                <a:latin typeface="Times New Roman"/>
                <a:cs typeface="Times New Roman"/>
              </a:rPr>
              <a:t> </a:t>
            </a:r>
            <a:r>
              <a:rPr sz="1600" dirty="0">
                <a:latin typeface="Times New Roman"/>
                <a:cs typeface="Times New Roman"/>
              </a:rPr>
              <a:t>integration,</a:t>
            </a:r>
            <a:r>
              <a:rPr sz="1600" spc="320" dirty="0">
                <a:latin typeface="Times New Roman"/>
                <a:cs typeface="Times New Roman"/>
              </a:rPr>
              <a:t> </a:t>
            </a:r>
            <a:r>
              <a:rPr sz="1600" dirty="0">
                <a:latin typeface="Times New Roman"/>
                <a:cs typeface="Times New Roman"/>
              </a:rPr>
              <a:t>the</a:t>
            </a:r>
            <a:r>
              <a:rPr sz="1600" spc="325" dirty="0">
                <a:latin typeface="Times New Roman"/>
                <a:cs typeface="Times New Roman"/>
              </a:rPr>
              <a:t> </a:t>
            </a:r>
            <a:r>
              <a:rPr sz="1600" dirty="0">
                <a:latin typeface="Times New Roman"/>
                <a:cs typeface="Times New Roman"/>
              </a:rPr>
              <a:t>waterfall</a:t>
            </a:r>
            <a:r>
              <a:rPr sz="1600" spc="335" dirty="0">
                <a:latin typeface="Times New Roman"/>
                <a:cs typeface="Times New Roman"/>
              </a:rPr>
              <a:t> </a:t>
            </a:r>
            <a:r>
              <a:rPr sz="1600" dirty="0">
                <a:latin typeface="Times New Roman"/>
                <a:cs typeface="Times New Roman"/>
              </a:rPr>
              <a:t>model</a:t>
            </a:r>
            <a:r>
              <a:rPr sz="1600" spc="340" dirty="0">
                <a:latin typeface="Times New Roman"/>
                <a:cs typeface="Times New Roman"/>
              </a:rPr>
              <a:t> </a:t>
            </a:r>
            <a:r>
              <a:rPr sz="1600" dirty="0">
                <a:latin typeface="Times New Roman"/>
                <a:cs typeface="Times New Roman"/>
              </a:rPr>
              <a:t>is</a:t>
            </a:r>
            <a:r>
              <a:rPr sz="1600" spc="325" dirty="0">
                <a:latin typeface="Times New Roman"/>
                <a:cs typeface="Times New Roman"/>
              </a:rPr>
              <a:t> </a:t>
            </a:r>
            <a:r>
              <a:rPr sz="1600" dirty="0">
                <a:latin typeface="Times New Roman"/>
                <a:cs typeface="Times New Roman"/>
              </a:rPr>
              <a:t>the</a:t>
            </a:r>
            <a:r>
              <a:rPr sz="1600" spc="350" dirty="0">
                <a:latin typeface="Times New Roman"/>
                <a:cs typeface="Times New Roman"/>
              </a:rPr>
              <a:t> </a:t>
            </a:r>
            <a:r>
              <a:rPr sz="1600" dirty="0">
                <a:latin typeface="Times New Roman"/>
                <a:cs typeface="Times New Roman"/>
              </a:rPr>
              <a:t>most</a:t>
            </a:r>
            <a:r>
              <a:rPr sz="1600" spc="330" dirty="0">
                <a:latin typeface="Times New Roman"/>
                <a:cs typeface="Times New Roman"/>
              </a:rPr>
              <a:t> </a:t>
            </a:r>
            <a:r>
              <a:rPr sz="1600" spc="-10" dirty="0">
                <a:latin typeface="Times New Roman"/>
                <a:cs typeface="Times New Roman"/>
              </a:rPr>
              <a:t>appropriate </a:t>
            </a:r>
            <a:r>
              <a:rPr sz="1600" dirty="0">
                <a:latin typeface="Times New Roman"/>
                <a:cs typeface="Times New Roman"/>
              </a:rPr>
              <a:t>process</a:t>
            </a:r>
            <a:r>
              <a:rPr sz="1600" spc="-35" dirty="0">
                <a:latin typeface="Times New Roman"/>
                <a:cs typeface="Times New Roman"/>
              </a:rPr>
              <a:t> </a:t>
            </a:r>
            <a:r>
              <a:rPr sz="1600" spc="-10" dirty="0">
                <a:latin typeface="Times New Roman"/>
                <a:cs typeface="Times New Roman"/>
              </a:rPr>
              <a:t>model.</a:t>
            </a:r>
            <a:endParaRPr sz="1600" dirty="0">
              <a:latin typeface="Times New Roman"/>
              <a:cs typeface="Times New Roman"/>
            </a:endParaRPr>
          </a:p>
          <a:p>
            <a:pPr marL="469265" indent="-456565">
              <a:lnSpc>
                <a:spcPct val="100000"/>
              </a:lnSpc>
              <a:spcBef>
                <a:spcPts val="540"/>
              </a:spcBef>
              <a:buAutoNum type="arabicParenR" startAt="4"/>
              <a:tabLst>
                <a:tab pos="469265" algn="l"/>
              </a:tabLst>
            </a:pPr>
            <a:r>
              <a:rPr sz="2400" b="1" i="1" spc="-10" dirty="0">
                <a:latin typeface="Times New Roman"/>
                <a:cs typeface="Times New Roman"/>
              </a:rPr>
              <a:t>Planning:</a:t>
            </a:r>
            <a:endParaRPr sz="2400" dirty="0">
              <a:latin typeface="Times New Roman"/>
              <a:cs typeface="Times New Roman"/>
            </a:endParaRPr>
          </a:p>
          <a:p>
            <a:pPr marL="469900">
              <a:lnSpc>
                <a:spcPct val="100000"/>
              </a:lnSpc>
              <a:spcBef>
                <a:spcPts val="5"/>
              </a:spcBef>
            </a:pP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project</a:t>
            </a:r>
            <a:r>
              <a:rPr sz="2400" spc="-2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reviewed</a:t>
            </a:r>
            <a:r>
              <a:rPr sz="2400" spc="-30" dirty="0">
                <a:latin typeface="Times New Roman"/>
                <a:cs typeface="Times New Roman"/>
              </a:rPr>
              <a:t> </a:t>
            </a:r>
            <a:r>
              <a:rPr sz="2400" dirty="0">
                <a:latin typeface="Times New Roman"/>
                <a:cs typeface="Times New Roman"/>
              </a:rPr>
              <a:t>and</a:t>
            </a:r>
            <a:r>
              <a:rPr sz="2400" spc="-5" dirty="0">
                <a:latin typeface="Times New Roman"/>
                <a:cs typeface="Times New Roman"/>
              </a:rPr>
              <a:t> </a:t>
            </a:r>
            <a:r>
              <a:rPr sz="2400" dirty="0">
                <a:latin typeface="Times New Roman"/>
                <a:cs typeface="Times New Roman"/>
              </a:rPr>
              <a:t>a</a:t>
            </a:r>
            <a:r>
              <a:rPr sz="2400" spc="-15" dirty="0">
                <a:latin typeface="Times New Roman"/>
                <a:cs typeface="Times New Roman"/>
              </a:rPr>
              <a:t> </a:t>
            </a:r>
            <a:r>
              <a:rPr sz="2400" dirty="0">
                <a:latin typeface="Times New Roman"/>
                <a:cs typeface="Times New Roman"/>
              </a:rPr>
              <a:t>decision</a:t>
            </a:r>
            <a:r>
              <a:rPr sz="2400" spc="-35" dirty="0">
                <a:latin typeface="Times New Roman"/>
                <a:cs typeface="Times New Roman"/>
              </a:rPr>
              <a:t> </a:t>
            </a:r>
            <a:r>
              <a:rPr sz="2400" dirty="0">
                <a:latin typeface="Times New Roman"/>
                <a:cs typeface="Times New Roman"/>
              </a:rPr>
              <a:t>made whether</a:t>
            </a:r>
            <a:r>
              <a:rPr sz="2400" spc="-10" dirty="0">
                <a:latin typeface="Times New Roman"/>
                <a:cs typeface="Times New Roman"/>
              </a:rPr>
              <a:t> </a:t>
            </a:r>
            <a:r>
              <a:rPr sz="2400" spc="-25" dirty="0">
                <a:latin typeface="Times New Roman"/>
                <a:cs typeface="Times New Roman"/>
              </a:rPr>
              <a:t>to</a:t>
            </a:r>
            <a:endParaRPr sz="2400" dirty="0">
              <a:latin typeface="Times New Roman"/>
              <a:cs typeface="Times New Roman"/>
            </a:endParaRPr>
          </a:p>
          <a:p>
            <a:pPr marL="469900">
              <a:lnSpc>
                <a:spcPct val="100000"/>
              </a:lnSpc>
            </a:pPr>
            <a:r>
              <a:rPr sz="2400" dirty="0">
                <a:latin typeface="Times New Roman"/>
                <a:cs typeface="Times New Roman"/>
              </a:rPr>
              <a:t>continue</a:t>
            </a:r>
            <a:r>
              <a:rPr sz="2400" spc="-50" dirty="0">
                <a:latin typeface="Times New Roman"/>
                <a:cs typeface="Times New Roman"/>
              </a:rPr>
              <a:t> </a:t>
            </a:r>
            <a:r>
              <a:rPr sz="2400" dirty="0">
                <a:latin typeface="Times New Roman"/>
                <a:cs typeface="Times New Roman"/>
              </a:rPr>
              <a:t>with</a:t>
            </a:r>
            <a:r>
              <a:rPr sz="2400" spc="-5"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further</a:t>
            </a:r>
            <a:r>
              <a:rPr sz="2400" spc="-10" dirty="0">
                <a:latin typeface="Times New Roman"/>
                <a:cs typeface="Times New Roman"/>
              </a:rPr>
              <a:t> </a:t>
            </a:r>
            <a:r>
              <a:rPr sz="2400" dirty="0">
                <a:latin typeface="Times New Roman"/>
                <a:cs typeface="Times New Roman"/>
              </a:rPr>
              <a:t>loop of</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spiral.</a:t>
            </a:r>
            <a:endParaRPr sz="2400" dirty="0">
              <a:latin typeface="Times New Roman"/>
              <a:cs typeface="Times New Roman"/>
            </a:endParaRPr>
          </a:p>
          <a:p>
            <a:pPr marL="756285" marR="299720" indent="-287020">
              <a:lnSpc>
                <a:spcPct val="100000"/>
              </a:lnSpc>
              <a:spcBef>
                <a:spcPts val="495"/>
              </a:spcBef>
              <a:tabLst>
                <a:tab pos="819785" algn="l"/>
              </a:tabLst>
            </a:pPr>
            <a:r>
              <a:rPr sz="2000" spc="-50" dirty="0">
                <a:latin typeface="Times New Roman"/>
                <a:cs typeface="Times New Roman"/>
              </a:rPr>
              <a:t>–</a:t>
            </a:r>
            <a:r>
              <a:rPr sz="2000" dirty="0">
                <a:latin typeface="Times New Roman"/>
                <a:cs typeface="Times New Roman"/>
              </a:rPr>
              <a:t>		If</a:t>
            </a:r>
            <a:r>
              <a:rPr sz="2000" spc="-15" dirty="0">
                <a:latin typeface="Times New Roman"/>
                <a:cs typeface="Times New Roman"/>
              </a:rPr>
              <a:t> </a:t>
            </a:r>
            <a:r>
              <a:rPr sz="2000" dirty="0">
                <a:latin typeface="Times New Roman"/>
                <a:cs typeface="Times New Roman"/>
              </a:rPr>
              <a:t>it</a:t>
            </a:r>
            <a:r>
              <a:rPr sz="2000" spc="-15"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decided</a:t>
            </a:r>
            <a:r>
              <a:rPr sz="2000" spc="-10" dirty="0">
                <a:latin typeface="Times New Roman"/>
                <a:cs typeface="Times New Roman"/>
              </a:rPr>
              <a:t> </a:t>
            </a:r>
            <a:r>
              <a:rPr sz="2000" dirty="0">
                <a:latin typeface="Times New Roman"/>
                <a:cs typeface="Times New Roman"/>
              </a:rPr>
              <a:t>to</a:t>
            </a:r>
            <a:r>
              <a:rPr sz="2000" spc="-20" dirty="0">
                <a:latin typeface="Times New Roman"/>
                <a:cs typeface="Times New Roman"/>
              </a:rPr>
              <a:t> </a:t>
            </a:r>
            <a:r>
              <a:rPr sz="2000" dirty="0">
                <a:latin typeface="Times New Roman"/>
                <a:cs typeface="Times New Roman"/>
              </a:rPr>
              <a:t>continue,</a:t>
            </a:r>
            <a:r>
              <a:rPr sz="2000" spc="-30" dirty="0">
                <a:latin typeface="Times New Roman"/>
                <a:cs typeface="Times New Roman"/>
              </a:rPr>
              <a:t> </a:t>
            </a:r>
            <a:r>
              <a:rPr sz="2000" dirty="0">
                <a:latin typeface="Times New Roman"/>
                <a:cs typeface="Times New Roman"/>
              </a:rPr>
              <a:t>plans</a:t>
            </a:r>
            <a:r>
              <a:rPr sz="2000" spc="-25" dirty="0">
                <a:latin typeface="Times New Roman"/>
                <a:cs typeface="Times New Roman"/>
              </a:rPr>
              <a:t> </a:t>
            </a:r>
            <a:r>
              <a:rPr sz="2000" dirty="0">
                <a:latin typeface="Times New Roman"/>
                <a:cs typeface="Times New Roman"/>
              </a:rPr>
              <a:t>are</a:t>
            </a:r>
            <a:r>
              <a:rPr sz="2000" spc="-5" dirty="0">
                <a:latin typeface="Times New Roman"/>
                <a:cs typeface="Times New Roman"/>
              </a:rPr>
              <a:t> </a:t>
            </a:r>
            <a:r>
              <a:rPr sz="2000" dirty="0">
                <a:latin typeface="Times New Roman"/>
                <a:cs typeface="Times New Roman"/>
              </a:rPr>
              <a:t>drawn</a:t>
            </a:r>
            <a:r>
              <a:rPr sz="2000" spc="-25" dirty="0">
                <a:latin typeface="Times New Roman"/>
                <a:cs typeface="Times New Roman"/>
              </a:rPr>
              <a:t> </a:t>
            </a:r>
            <a:r>
              <a:rPr sz="2000" dirty="0">
                <a:latin typeface="Times New Roman"/>
                <a:cs typeface="Times New Roman"/>
              </a:rPr>
              <a:t>up</a:t>
            </a:r>
            <a:r>
              <a:rPr sz="2000" spc="5" dirty="0">
                <a:latin typeface="Times New Roman"/>
                <a:cs typeface="Times New Roman"/>
              </a:rPr>
              <a:t> </a:t>
            </a:r>
            <a:r>
              <a:rPr sz="2000" dirty="0">
                <a:latin typeface="Times New Roman"/>
                <a:cs typeface="Times New Roman"/>
              </a:rPr>
              <a:t>for</a:t>
            </a:r>
            <a:r>
              <a:rPr sz="2000" spc="-2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next</a:t>
            </a:r>
            <a:r>
              <a:rPr sz="2000" spc="-30" dirty="0">
                <a:latin typeface="Times New Roman"/>
                <a:cs typeface="Times New Roman"/>
              </a:rPr>
              <a:t> </a:t>
            </a:r>
            <a:r>
              <a:rPr sz="2000" dirty="0">
                <a:latin typeface="Times New Roman"/>
                <a:cs typeface="Times New Roman"/>
              </a:rPr>
              <a:t>phase</a:t>
            </a:r>
            <a:r>
              <a:rPr sz="2000" spc="-20"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spc="-25" dirty="0">
                <a:latin typeface="Times New Roman"/>
                <a:cs typeface="Times New Roman"/>
              </a:rPr>
              <a:t>the </a:t>
            </a:r>
            <a:r>
              <a:rPr sz="2000" dirty="0">
                <a:latin typeface="Times New Roman"/>
                <a:cs typeface="Times New Roman"/>
              </a:rPr>
              <a:t>project.</a:t>
            </a:r>
            <a:r>
              <a:rPr sz="2000" spc="-30" dirty="0">
                <a:latin typeface="Times New Roman"/>
                <a:cs typeface="Times New Roman"/>
              </a:rPr>
              <a:t> </a:t>
            </a:r>
            <a:r>
              <a:rPr sz="2000" dirty="0">
                <a:latin typeface="Times New Roman"/>
                <a:cs typeface="Times New Roman"/>
              </a:rPr>
              <a:t>If</a:t>
            </a:r>
            <a:r>
              <a:rPr sz="2000" spc="-10" dirty="0">
                <a:latin typeface="Times New Roman"/>
                <a:cs typeface="Times New Roman"/>
              </a:rPr>
              <a:t> </a:t>
            </a:r>
            <a:r>
              <a:rPr sz="2000" dirty="0">
                <a:latin typeface="Times New Roman"/>
                <a:cs typeface="Times New Roman"/>
              </a:rPr>
              <a:t>it</a:t>
            </a:r>
            <a:r>
              <a:rPr sz="2000" spc="-20" dirty="0">
                <a:latin typeface="Times New Roman"/>
                <a:cs typeface="Times New Roman"/>
              </a:rPr>
              <a:t> </a:t>
            </a:r>
            <a:r>
              <a:rPr sz="2000" dirty="0">
                <a:latin typeface="Times New Roman"/>
                <a:cs typeface="Times New Roman"/>
              </a:rPr>
              <a:t>is</a:t>
            </a:r>
            <a:r>
              <a:rPr sz="2000" spc="-10" dirty="0">
                <a:latin typeface="Times New Roman"/>
                <a:cs typeface="Times New Roman"/>
              </a:rPr>
              <a:t> </a:t>
            </a:r>
            <a:r>
              <a:rPr sz="2000" dirty="0">
                <a:latin typeface="Times New Roman"/>
                <a:cs typeface="Times New Roman"/>
              </a:rPr>
              <a:t>decided</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stop,</a:t>
            </a:r>
            <a:r>
              <a:rPr sz="2000" spc="-30"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software</a:t>
            </a:r>
            <a:r>
              <a:rPr sz="2000" spc="-45" dirty="0">
                <a:latin typeface="Times New Roman"/>
                <a:cs typeface="Times New Roman"/>
              </a:rPr>
              <a:t> </a:t>
            </a:r>
            <a:r>
              <a:rPr sz="2000" dirty="0">
                <a:latin typeface="Times New Roman"/>
                <a:cs typeface="Times New Roman"/>
              </a:rPr>
              <a:t>product</a:t>
            </a:r>
            <a:r>
              <a:rPr sz="2000" spc="-50" dirty="0">
                <a:latin typeface="Times New Roman"/>
                <a:cs typeface="Times New Roman"/>
              </a:rPr>
              <a:t> </a:t>
            </a:r>
            <a:r>
              <a:rPr sz="2000" dirty="0">
                <a:latin typeface="Times New Roman"/>
                <a:cs typeface="Times New Roman"/>
              </a:rPr>
              <a:t>is</a:t>
            </a:r>
            <a:r>
              <a:rPr sz="2000" spc="-10" dirty="0">
                <a:latin typeface="Times New Roman"/>
                <a:cs typeface="Times New Roman"/>
              </a:rPr>
              <a:t> released.</a:t>
            </a:r>
            <a:endParaRPr sz="2000" dirty="0">
              <a:latin typeface="Times New Roman"/>
              <a:cs typeface="Times New Roman"/>
            </a:endParaRPr>
          </a:p>
        </p:txBody>
      </p:sp>
      <p:sp>
        <p:nvSpPr>
          <p:cNvPr id="9" name="object 9"/>
          <p:cNvSpPr txBox="1">
            <a:spLocks noGrp="1"/>
          </p:cNvSpPr>
          <p:nvPr>
            <p:ph type="title"/>
          </p:nvPr>
        </p:nvSpPr>
        <p:spPr>
          <a:xfrm>
            <a:off x="813295" y="315975"/>
            <a:ext cx="7772400" cy="896399"/>
          </a:xfrm>
          <a:prstGeom prst="rect">
            <a:avLst/>
          </a:prstGeom>
          <a:solidFill>
            <a:srgbClr val="D5D5F5"/>
          </a:solidFill>
        </p:spPr>
        <p:txBody>
          <a:bodyPr vert="horz" wrap="square" lIns="0" tIns="217170" rIns="0" bIns="0" rtlCol="0">
            <a:spAutoFit/>
          </a:bodyPr>
          <a:lstStyle/>
          <a:p>
            <a:pPr marL="1270" algn="ctr">
              <a:lnSpc>
                <a:spcPct val="100000"/>
              </a:lnSpc>
              <a:spcBef>
                <a:spcPts val="1710"/>
              </a:spcBef>
            </a:pPr>
            <a:r>
              <a:t>Spiral</a:t>
            </a:r>
            <a:r>
              <a:rPr spc="-20"/>
              <a:t> </a:t>
            </a:r>
            <a:r>
              <a:rPr dirty="0"/>
              <a:t>Model </a:t>
            </a:r>
            <a:r>
              <a:rPr spc="-10" dirty="0"/>
              <a:t>(Cont…)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1646A-BD15-51A4-1D63-64AC87541D82}"/>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56D1DED2-553C-592B-FD4E-879C096DC514}"/>
              </a:ext>
            </a:extLst>
          </p:cNvPr>
          <p:cNvSpPr txBox="1"/>
          <p:nvPr/>
        </p:nvSpPr>
        <p:spPr>
          <a:xfrm>
            <a:off x="228600" y="1752600"/>
            <a:ext cx="8763000" cy="3472746"/>
          </a:xfrm>
          <a:prstGeom prst="rect">
            <a:avLst/>
          </a:prstGeom>
        </p:spPr>
        <p:txBody>
          <a:bodyPr vert="horz" wrap="square" lIns="0" tIns="12700" rIns="0" bIns="0" rtlCol="0">
            <a:spAutoFit/>
          </a:bodyPr>
          <a:lstStyle/>
          <a:p>
            <a:pPr marL="469900" indent="-457200">
              <a:lnSpc>
                <a:spcPct val="100000"/>
              </a:lnSpc>
              <a:spcBef>
                <a:spcPts val="100"/>
              </a:spcBef>
              <a:buFont typeface="Wingdings" panose="05000000000000000000" pitchFamily="2" charset="2"/>
              <a:buChar char="§"/>
              <a:tabLst>
                <a:tab pos="469265" algn="l"/>
              </a:tabLst>
            </a:pPr>
            <a:r>
              <a:rPr lang="en-US" sz="2800" dirty="0">
                <a:latin typeface="Times New Roman"/>
                <a:cs typeface="Times New Roman"/>
              </a:rPr>
              <a:t>Example is </a:t>
            </a:r>
            <a:r>
              <a:rPr lang="en-US" sz="2800" dirty="0">
                <a:effectLst/>
              </a:rPr>
              <a:t>complex healthcare patient management system</a:t>
            </a:r>
            <a:r>
              <a:rPr lang="en-US" sz="2800" dirty="0"/>
              <a:t>, which starts with basic features and adds more complexity over several iterations based on risk assessment and user feedback. </a:t>
            </a:r>
          </a:p>
          <a:p>
            <a:pPr marL="469900" indent="-457200">
              <a:lnSpc>
                <a:spcPct val="100000"/>
              </a:lnSpc>
              <a:spcBef>
                <a:spcPts val="100"/>
              </a:spcBef>
              <a:buFont typeface="Wingdings" panose="05000000000000000000" pitchFamily="2" charset="2"/>
              <a:buChar char="§"/>
              <a:tabLst>
                <a:tab pos="469265" algn="l"/>
              </a:tabLst>
            </a:pPr>
            <a:r>
              <a:rPr lang="en-US" sz="2800" dirty="0"/>
              <a:t>Other examples include the development of large-scale software like early Windows versions and the iterative creation of video games, where customer feedback guides improvements over time. </a:t>
            </a:r>
            <a:endParaRPr sz="2800" dirty="0">
              <a:latin typeface="Times New Roman"/>
              <a:cs typeface="Times New Roman"/>
            </a:endParaRPr>
          </a:p>
        </p:txBody>
      </p:sp>
      <p:sp>
        <p:nvSpPr>
          <p:cNvPr id="9" name="object 9">
            <a:extLst>
              <a:ext uri="{FF2B5EF4-FFF2-40B4-BE49-F238E27FC236}">
                <a16:creationId xmlns:a16="http://schemas.microsoft.com/office/drawing/2014/main" id="{2155C459-D6E5-4F45-624C-16109A1E3956}"/>
              </a:ext>
            </a:extLst>
          </p:cNvPr>
          <p:cNvSpPr txBox="1">
            <a:spLocks noGrp="1"/>
          </p:cNvSpPr>
          <p:nvPr>
            <p:ph type="title"/>
          </p:nvPr>
        </p:nvSpPr>
        <p:spPr>
          <a:xfrm>
            <a:off x="0" y="-152400"/>
            <a:ext cx="9144000" cy="1573508"/>
          </a:xfrm>
          <a:prstGeom prst="rect">
            <a:avLst/>
          </a:prstGeom>
          <a:solidFill>
            <a:srgbClr val="D5D5F5"/>
          </a:solidFill>
        </p:spPr>
        <p:txBody>
          <a:bodyPr vert="horz" wrap="square" lIns="0" tIns="217170" rIns="0" bIns="0" rtlCol="0">
            <a:spAutoFit/>
          </a:bodyPr>
          <a:lstStyle/>
          <a:p>
            <a:pPr marL="1270" algn="ctr">
              <a:lnSpc>
                <a:spcPct val="100000"/>
              </a:lnSpc>
              <a:spcBef>
                <a:spcPts val="1710"/>
              </a:spcBef>
            </a:pPr>
            <a:r>
              <a:rPr lang="en-US" dirty="0"/>
              <a:t>Examples of the system with spiral model</a:t>
            </a:r>
            <a:endParaRPr spc="-10" dirty="0"/>
          </a:p>
        </p:txBody>
      </p:sp>
    </p:spTree>
    <p:extLst>
      <p:ext uri="{BB962C8B-B14F-4D97-AF65-F5344CB8AC3E}">
        <p14:creationId xmlns:p14="http://schemas.microsoft.com/office/powerpoint/2010/main" val="2914379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2F823-0D99-E4CE-5B60-1D5D1AFAFDC2}"/>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13DC27FB-C99A-784E-5A85-7E0ADC3E1A53}"/>
              </a:ext>
            </a:extLst>
          </p:cNvPr>
          <p:cNvSpPr txBox="1"/>
          <p:nvPr/>
        </p:nvSpPr>
        <p:spPr>
          <a:xfrm>
            <a:off x="228600" y="1752600"/>
            <a:ext cx="8763000" cy="4583306"/>
          </a:xfrm>
          <a:prstGeom prst="rect">
            <a:avLst/>
          </a:prstGeom>
        </p:spPr>
        <p:txBody>
          <a:bodyPr vert="horz" wrap="square" lIns="0" tIns="12700" rIns="0" bIns="0" rtlCol="0">
            <a:spAutoFit/>
          </a:bodyPr>
          <a:lstStyle/>
          <a:p>
            <a:pPr lvl="0"/>
            <a:r>
              <a:rPr lang="en-US" sz="2700" b="1" dirty="0">
                <a:latin typeface="Times New Roman" panose="02020603050405020304" pitchFamily="18" charset="0"/>
                <a:cs typeface="Times New Roman" panose="02020603050405020304" pitchFamily="18" charset="0"/>
              </a:rPr>
              <a:t>Spiral 1: Planning and Risk Analysis.</a:t>
            </a:r>
            <a:r>
              <a:rPr lang="en-US" sz="2700" dirty="0">
                <a:latin typeface="Times New Roman" panose="02020603050405020304" pitchFamily="18" charset="0"/>
                <a:cs typeface="Times New Roman" panose="02020603050405020304" pitchFamily="18" charset="0"/>
              </a:rPr>
              <a:t> The project begins by defining core features like user authentication and data entry. Risks, such as data privacy and system compatibility, are identified.</a:t>
            </a:r>
          </a:p>
          <a:p>
            <a:pPr lvl="0"/>
            <a:r>
              <a:rPr lang="en-US" sz="2700" b="1" dirty="0">
                <a:latin typeface="Times New Roman" panose="02020603050405020304" pitchFamily="18" charset="0"/>
                <a:cs typeface="Times New Roman" panose="02020603050405020304" pitchFamily="18" charset="0"/>
              </a:rPr>
              <a:t>Spiral 1: Engineering and Evaluation.</a:t>
            </a:r>
            <a:r>
              <a:rPr lang="en-US" sz="2700" dirty="0">
                <a:latin typeface="Times New Roman" panose="02020603050405020304" pitchFamily="18" charset="0"/>
                <a:cs typeface="Times New Roman" panose="02020603050405020304" pitchFamily="18" charset="0"/>
              </a:rPr>
              <a:t> A basic version is developed. The team evaluates it with initial users to gather feedback and assess risks.</a:t>
            </a:r>
          </a:p>
          <a:p>
            <a:pPr lvl="0"/>
            <a:r>
              <a:rPr lang="en-US" sz="2700" b="1" dirty="0">
                <a:latin typeface="Times New Roman" panose="02020603050405020304" pitchFamily="18" charset="0"/>
                <a:cs typeface="Times New Roman" panose="02020603050405020304" pitchFamily="18" charset="0"/>
              </a:rPr>
              <a:t>Spiral 2: Planning and Risk Analysis.</a:t>
            </a:r>
            <a:r>
              <a:rPr lang="en-US" sz="2700" dirty="0">
                <a:latin typeface="Times New Roman" panose="02020603050405020304" pitchFamily="18" charset="0"/>
                <a:cs typeface="Times New Roman" panose="02020603050405020304" pitchFamily="18" charset="0"/>
              </a:rPr>
              <a:t> Based on feedback, the next iteration plans to add features like appointment scheduling and billing. New risks associated with these features are analyzed.</a:t>
            </a:r>
          </a:p>
        </p:txBody>
      </p:sp>
      <p:sp>
        <p:nvSpPr>
          <p:cNvPr id="9" name="object 9">
            <a:extLst>
              <a:ext uri="{FF2B5EF4-FFF2-40B4-BE49-F238E27FC236}">
                <a16:creationId xmlns:a16="http://schemas.microsoft.com/office/drawing/2014/main" id="{D4767044-229F-C184-5368-9818223B002E}"/>
              </a:ext>
            </a:extLst>
          </p:cNvPr>
          <p:cNvSpPr txBox="1">
            <a:spLocks noGrp="1"/>
          </p:cNvSpPr>
          <p:nvPr>
            <p:ph type="title"/>
          </p:nvPr>
        </p:nvSpPr>
        <p:spPr>
          <a:xfrm>
            <a:off x="0" y="-152400"/>
            <a:ext cx="9144000" cy="1573508"/>
          </a:xfrm>
          <a:prstGeom prst="rect">
            <a:avLst/>
          </a:prstGeom>
          <a:solidFill>
            <a:srgbClr val="D5D5F5"/>
          </a:solidFill>
        </p:spPr>
        <p:txBody>
          <a:bodyPr vert="horz" wrap="square" lIns="0" tIns="217170" rIns="0" bIns="0" rtlCol="0">
            <a:spAutoFit/>
          </a:bodyPr>
          <a:lstStyle/>
          <a:p>
            <a:pPr marL="1270" algn="ctr">
              <a:lnSpc>
                <a:spcPct val="100000"/>
              </a:lnSpc>
              <a:spcBef>
                <a:spcPts val="1710"/>
              </a:spcBef>
            </a:pPr>
            <a:r>
              <a:rPr lang="en-US" b="1" dirty="0"/>
              <a:t>Example: new patient management system in healthcare </a:t>
            </a:r>
            <a:endParaRPr b="1" spc="-10" dirty="0"/>
          </a:p>
        </p:txBody>
      </p:sp>
    </p:spTree>
    <p:extLst>
      <p:ext uri="{BB962C8B-B14F-4D97-AF65-F5344CB8AC3E}">
        <p14:creationId xmlns:p14="http://schemas.microsoft.com/office/powerpoint/2010/main" val="2052138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A83AE-DF5D-CABF-0B6D-5B0B98C73709}"/>
            </a:ext>
          </a:extLst>
        </p:cNvPr>
        <p:cNvGrpSpPr/>
        <p:nvPr/>
      </p:nvGrpSpPr>
      <p:grpSpPr>
        <a:xfrm>
          <a:off x="0" y="0"/>
          <a:ext cx="0" cy="0"/>
          <a:chOff x="0" y="0"/>
          <a:chExt cx="0" cy="0"/>
        </a:xfrm>
      </p:grpSpPr>
      <p:sp>
        <p:nvSpPr>
          <p:cNvPr id="7" name="object 7">
            <a:extLst>
              <a:ext uri="{FF2B5EF4-FFF2-40B4-BE49-F238E27FC236}">
                <a16:creationId xmlns:a16="http://schemas.microsoft.com/office/drawing/2014/main" id="{35C3245A-B031-F77F-83DA-2E9D053738CC}"/>
              </a:ext>
            </a:extLst>
          </p:cNvPr>
          <p:cNvSpPr txBox="1"/>
          <p:nvPr/>
        </p:nvSpPr>
        <p:spPr>
          <a:xfrm>
            <a:off x="304800" y="2514600"/>
            <a:ext cx="8763000" cy="3459922"/>
          </a:xfrm>
          <a:prstGeom prst="rect">
            <a:avLst/>
          </a:prstGeom>
        </p:spPr>
        <p:txBody>
          <a:bodyPr vert="horz" wrap="square" lIns="0" tIns="12700" rIns="0" bIns="0" rtlCol="0">
            <a:spAutoFit/>
          </a:bodyPr>
          <a:lstStyle/>
          <a:p>
            <a:pPr marL="457200" lvl="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Spiral 2: Engineering and Evaluation.</a:t>
            </a:r>
            <a:r>
              <a:rPr lang="en-US" sz="2800" dirty="0">
                <a:latin typeface="Times New Roman" panose="02020603050405020304" pitchFamily="18" charset="0"/>
                <a:cs typeface="Times New Roman" panose="02020603050405020304" pitchFamily="18" charset="0"/>
              </a:rPr>
              <a:t> The system is updated to include the new features. The process repeats, with evaluation including user feedback to guide the next cycle.</a:t>
            </a:r>
          </a:p>
          <a:p>
            <a:pPr marL="457200" lvl="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Subsequent spirals:</a:t>
            </a:r>
            <a:r>
              <a:rPr lang="en-US" sz="2800" dirty="0">
                <a:latin typeface="Times New Roman" panose="02020603050405020304" pitchFamily="18" charset="0"/>
                <a:cs typeface="Times New Roman" panose="02020603050405020304" pitchFamily="18" charset="0"/>
              </a:rPr>
              <a:t> This iterative process continues until the system meets all requirements, with each cycle building upon the last and refining the system based on user input and risk management. </a:t>
            </a:r>
          </a:p>
        </p:txBody>
      </p:sp>
      <p:sp>
        <p:nvSpPr>
          <p:cNvPr id="9" name="object 9">
            <a:extLst>
              <a:ext uri="{FF2B5EF4-FFF2-40B4-BE49-F238E27FC236}">
                <a16:creationId xmlns:a16="http://schemas.microsoft.com/office/drawing/2014/main" id="{DB4D4F2F-D904-59E0-32AC-24EF2BCD89FC}"/>
              </a:ext>
            </a:extLst>
          </p:cNvPr>
          <p:cNvSpPr txBox="1">
            <a:spLocks noGrp="1"/>
          </p:cNvSpPr>
          <p:nvPr>
            <p:ph type="title"/>
          </p:nvPr>
        </p:nvSpPr>
        <p:spPr>
          <a:xfrm>
            <a:off x="0" y="-152400"/>
            <a:ext cx="9144000" cy="1573508"/>
          </a:xfrm>
          <a:prstGeom prst="rect">
            <a:avLst/>
          </a:prstGeom>
          <a:solidFill>
            <a:srgbClr val="D5D5F5"/>
          </a:solidFill>
        </p:spPr>
        <p:txBody>
          <a:bodyPr vert="horz" wrap="square" lIns="0" tIns="217170" rIns="0" bIns="0" rtlCol="0">
            <a:spAutoFit/>
          </a:bodyPr>
          <a:lstStyle/>
          <a:p>
            <a:pPr marL="1270" algn="ctr">
              <a:lnSpc>
                <a:spcPct val="100000"/>
              </a:lnSpc>
              <a:spcBef>
                <a:spcPts val="1710"/>
              </a:spcBef>
            </a:pPr>
            <a:r>
              <a:rPr lang="en-US" b="1" dirty="0"/>
              <a:t>Example: new patient management system in healthcare </a:t>
            </a:r>
            <a:endParaRPr b="1" spc="-10" dirty="0"/>
          </a:p>
        </p:txBody>
      </p:sp>
    </p:spTree>
    <p:extLst>
      <p:ext uri="{BB962C8B-B14F-4D97-AF65-F5344CB8AC3E}">
        <p14:creationId xmlns:p14="http://schemas.microsoft.com/office/powerpoint/2010/main" val="3092476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914400" y="3352800"/>
            <a:ext cx="4724400" cy="746999"/>
          </a:xfrm>
          <a:prstGeom prst="rect">
            <a:avLst/>
          </a:prstGeom>
        </p:spPr>
        <p:txBody>
          <a:bodyPr vert="horz" wrap="square" lIns="0" tIns="130175" rIns="0" bIns="0" rtlCol="0">
            <a:spAutoFit/>
          </a:bodyPr>
          <a:lstStyle/>
          <a:p>
            <a:pPr marL="1521460" marR="583565" indent="-933450">
              <a:lnSpc>
                <a:spcPct val="100000"/>
              </a:lnSpc>
              <a:spcBef>
                <a:spcPts val="1025"/>
              </a:spcBef>
            </a:pPr>
            <a:r>
              <a:rPr lang="en-US" sz="4000" b="1" spc="-10" dirty="0">
                <a:solidFill>
                  <a:srgbClr val="C00000"/>
                </a:solidFill>
                <a:latin typeface="Times New Roman"/>
                <a:cs typeface="Times New Roman"/>
              </a:rPr>
              <a:t>System Models</a:t>
            </a:r>
            <a:endParaRPr sz="4000" dirty="0">
              <a:latin typeface="Times New Roman"/>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93240" y="-76200"/>
            <a:ext cx="7849209" cy="1312291"/>
          </a:xfrm>
          <a:prstGeom prst="rect">
            <a:avLst/>
          </a:prstGeom>
        </p:spPr>
        <p:txBody>
          <a:bodyPr vert="horz" wrap="square" lIns="0" tIns="629031" rIns="0" bIns="0" rtlCol="0">
            <a:spAutoFit/>
          </a:bodyPr>
          <a:lstStyle/>
          <a:p>
            <a:pPr marL="1521460">
              <a:lnSpc>
                <a:spcPct val="100000"/>
              </a:lnSpc>
              <a:spcBef>
                <a:spcPts val="105"/>
              </a:spcBef>
            </a:pPr>
            <a:r>
              <a:rPr sz="4400" b="1" dirty="0">
                <a:solidFill>
                  <a:srgbClr val="000000"/>
                </a:solidFill>
                <a:latin typeface="Times New Roman"/>
                <a:cs typeface="Times New Roman"/>
              </a:rPr>
              <a:t>(1) System</a:t>
            </a:r>
            <a:r>
              <a:rPr sz="4400" b="1" spc="-30" dirty="0">
                <a:solidFill>
                  <a:srgbClr val="000000"/>
                </a:solidFill>
                <a:latin typeface="Times New Roman"/>
                <a:cs typeface="Times New Roman"/>
              </a:rPr>
              <a:t> </a:t>
            </a:r>
            <a:r>
              <a:rPr sz="4400" b="1" spc="-10" dirty="0">
                <a:solidFill>
                  <a:srgbClr val="000000"/>
                </a:solidFill>
                <a:latin typeface="Times New Roman"/>
                <a:cs typeface="Times New Roman"/>
              </a:rPr>
              <a:t>Modelling</a:t>
            </a:r>
            <a:endParaRPr sz="4400" b="1" dirty="0">
              <a:latin typeface="Times New Roman"/>
              <a:cs typeface="Times New Roman"/>
            </a:endParaRPr>
          </a:p>
        </p:txBody>
      </p:sp>
      <p:sp>
        <p:nvSpPr>
          <p:cNvPr id="6" name="object 6"/>
          <p:cNvSpPr txBox="1"/>
          <p:nvPr/>
        </p:nvSpPr>
        <p:spPr>
          <a:xfrm>
            <a:off x="114300" y="1626410"/>
            <a:ext cx="8915400" cy="5253361"/>
          </a:xfrm>
          <a:prstGeom prst="rect">
            <a:avLst/>
          </a:prstGeom>
        </p:spPr>
        <p:txBody>
          <a:bodyPr vert="horz" wrap="square" lIns="0" tIns="13335" rIns="0" bIns="0" rtlCol="0">
            <a:spAutoFit/>
          </a:bodyPr>
          <a:lstStyle/>
          <a:p>
            <a:pPr marL="355600" marR="5080" indent="-343535" algn="just">
              <a:lnSpc>
                <a:spcPct val="100000"/>
              </a:lnSpc>
              <a:spcBef>
                <a:spcPts val="105"/>
              </a:spcBef>
              <a:buChar char="•"/>
              <a:tabLst>
                <a:tab pos="355600" algn="l"/>
              </a:tabLst>
            </a:pPr>
            <a:r>
              <a:rPr lang="en-US" sz="2600" dirty="0">
                <a:latin typeface="Times New Roman" panose="02020603050405020304" pitchFamily="18" charset="0"/>
                <a:cs typeface="Times New Roman" panose="02020603050405020304" pitchFamily="18" charset="0"/>
              </a:rPr>
              <a:t>A system model is an abstract representation of a (software) system used to understand, analyze, and communicate its structure, behavior, and functionality</a:t>
            </a:r>
          </a:p>
          <a:p>
            <a:pPr marL="355600" marR="5080" indent="-343535" algn="just">
              <a:lnSpc>
                <a:spcPct val="100000"/>
              </a:lnSpc>
              <a:spcBef>
                <a:spcPts val="105"/>
              </a:spcBef>
              <a:buChar char="•"/>
              <a:tabLst>
                <a:tab pos="355600" algn="l"/>
              </a:tabLst>
            </a:pPr>
            <a:r>
              <a:rPr lang="en-US" sz="2600" dirty="0">
                <a:latin typeface="Times New Roman" panose="02020603050405020304" pitchFamily="18" charset="0"/>
                <a:cs typeface="Times New Roman" panose="02020603050405020304" pitchFamily="18" charset="0"/>
              </a:rPr>
              <a:t>These models are often graphical, utilizing notations like the Unified Modeling Language (UML), to provide different perspectives such as external, structural, and behavioral.</a:t>
            </a:r>
          </a:p>
          <a:p>
            <a:pPr marL="355600" marR="5080" indent="-343535" algn="just">
              <a:lnSpc>
                <a:spcPct val="100000"/>
              </a:lnSpc>
              <a:spcBef>
                <a:spcPts val="105"/>
              </a:spcBef>
              <a:buChar char="•"/>
              <a:tabLst>
                <a:tab pos="355600" algn="l"/>
              </a:tabLst>
            </a:pPr>
            <a:r>
              <a:rPr lang="en-US" sz="2600" dirty="0">
                <a:latin typeface="Times New Roman" panose="02020603050405020304" pitchFamily="18" charset="0"/>
                <a:cs typeface="Times New Roman" panose="02020603050405020304" pitchFamily="18" charset="0"/>
              </a:rPr>
              <a:t>Models help in requirements gathering and design, allowing teams to explore ideas without writing code and serve as blueprints for developers. </a:t>
            </a:r>
          </a:p>
          <a:p>
            <a:pPr marL="355600" marR="5080" indent="-343535" algn="just">
              <a:lnSpc>
                <a:spcPct val="100000"/>
              </a:lnSpc>
              <a:spcBef>
                <a:spcPts val="105"/>
              </a:spcBef>
              <a:buChar char="•"/>
              <a:tabLst>
                <a:tab pos="355600" algn="l"/>
              </a:tabLst>
            </a:pPr>
            <a:r>
              <a:rPr sz="2600" dirty="0">
                <a:latin typeface="Times New Roman" panose="02020603050405020304" pitchFamily="18" charset="0"/>
                <a:cs typeface="Times New Roman" panose="02020603050405020304" pitchFamily="18" charset="0"/>
              </a:rPr>
              <a:t>Numerous</a:t>
            </a:r>
            <a:r>
              <a:rPr sz="2600" spc="18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methods</a:t>
            </a:r>
            <a:r>
              <a:rPr sz="2600" spc="18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have</a:t>
            </a:r>
            <a:r>
              <a:rPr sz="2600" spc="18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been</a:t>
            </a:r>
            <a:r>
              <a:rPr sz="2600" spc="17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developed</a:t>
            </a:r>
            <a:r>
              <a:rPr sz="2600" spc="1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in </a:t>
            </a:r>
            <a:r>
              <a:rPr sz="2600" dirty="0">
                <a:latin typeface="Times New Roman" panose="02020603050405020304" pitchFamily="18" charset="0"/>
                <a:cs typeface="Times New Roman" panose="02020603050405020304" pitchFamily="18" charset="0"/>
              </a:rPr>
              <a:t>order</a:t>
            </a:r>
            <a:r>
              <a:rPr sz="2600" spc="4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4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solve</a:t>
            </a:r>
            <a:r>
              <a:rPr sz="2600" spc="5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the</a:t>
            </a:r>
            <a:r>
              <a:rPr sz="2600" spc="50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software</a:t>
            </a:r>
            <a:r>
              <a:rPr sz="2600" spc="49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crisis</a:t>
            </a:r>
            <a:r>
              <a:rPr sz="2600" spc="490" dirty="0">
                <a:latin typeface="Times New Roman" panose="02020603050405020304" pitchFamily="18" charset="0"/>
                <a:cs typeface="Times New Roman" panose="02020603050405020304" pitchFamily="18" charset="0"/>
              </a:rPr>
              <a:t>  </a:t>
            </a:r>
            <a:r>
              <a:rPr sz="2600" spc="-25" dirty="0">
                <a:latin typeface="Times New Roman" panose="02020603050405020304" pitchFamily="18" charset="0"/>
                <a:cs typeface="Times New Roman" panose="02020603050405020304" pitchFamily="18" charset="0"/>
              </a:rPr>
              <a:t>for </a:t>
            </a:r>
            <a:r>
              <a:rPr sz="2600" dirty="0">
                <a:latin typeface="Times New Roman" panose="02020603050405020304" pitchFamily="18" charset="0"/>
                <a:cs typeface="Times New Roman" panose="02020603050405020304" pitchFamily="18" charset="0"/>
              </a:rPr>
              <a:t>decades.</a:t>
            </a:r>
            <a:r>
              <a:rPr sz="2600" spc="1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In</a:t>
            </a:r>
            <a:r>
              <a:rPr sz="2600" spc="1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this</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chapter,</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we</a:t>
            </a:r>
            <a:r>
              <a:rPr sz="2600" spc="16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oversee</a:t>
            </a:r>
            <a:r>
              <a:rPr sz="2600" spc="160"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several widely-</a:t>
            </a:r>
            <a:r>
              <a:rPr sz="2600" dirty="0">
                <a:latin typeface="Times New Roman" panose="02020603050405020304" pitchFamily="18" charset="0"/>
                <a:cs typeface="Times New Roman" panose="02020603050405020304" pitchFamily="18" charset="0"/>
              </a:rPr>
              <a:t>known</a:t>
            </a:r>
            <a:r>
              <a:rPr sz="2600" spc="75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methods</a:t>
            </a:r>
            <a:r>
              <a:rPr sz="2600" spc="76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of</a:t>
            </a:r>
            <a:r>
              <a:rPr sz="2600" spc="760" dirty="0">
                <a:latin typeface="Times New Roman" panose="02020603050405020304" pitchFamily="18" charset="0"/>
                <a:cs typeface="Times New Roman" panose="02020603050405020304" pitchFamily="18" charset="0"/>
              </a:rPr>
              <a:t>   </a:t>
            </a:r>
            <a:r>
              <a:rPr sz="2600" spc="-10" dirty="0">
                <a:latin typeface="Times New Roman" panose="02020603050405020304" pitchFamily="18" charset="0"/>
                <a:cs typeface="Times New Roman" panose="02020603050405020304" pitchFamily="18" charset="0"/>
              </a:rPr>
              <a:t>software engineering.</a:t>
            </a:r>
            <a:endParaRPr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62787" y="1797558"/>
            <a:ext cx="8488045" cy="4857740"/>
          </a:xfrm>
          <a:prstGeom prst="rect">
            <a:avLst/>
          </a:prstGeom>
        </p:spPr>
        <p:txBody>
          <a:bodyPr vert="horz" wrap="square" lIns="0" tIns="12700" rIns="0" bIns="0" rtlCol="0">
            <a:spAutoFit/>
          </a:bodyPr>
          <a:lstStyle/>
          <a:p>
            <a:pPr marL="355600" marR="6350" indent="-342900" algn="just">
              <a:lnSpc>
                <a:spcPct val="100000"/>
              </a:lnSpc>
              <a:spcBef>
                <a:spcPts val="100"/>
              </a:spcBef>
              <a:buChar char="•"/>
              <a:tabLst>
                <a:tab pos="355600" algn="l"/>
              </a:tabLst>
            </a:pPr>
            <a:r>
              <a:rPr sz="2100" dirty="0">
                <a:latin typeface="Times New Roman"/>
                <a:cs typeface="Times New Roman"/>
              </a:rPr>
              <a:t>User</a:t>
            </a:r>
            <a:r>
              <a:rPr sz="2100" spc="495" dirty="0">
                <a:latin typeface="Times New Roman"/>
                <a:cs typeface="Times New Roman"/>
              </a:rPr>
              <a:t> </a:t>
            </a:r>
            <a:r>
              <a:rPr sz="2100" dirty="0">
                <a:latin typeface="Times New Roman"/>
                <a:cs typeface="Times New Roman"/>
              </a:rPr>
              <a:t>requirements</a:t>
            </a:r>
            <a:r>
              <a:rPr sz="2100" spc="515" dirty="0">
                <a:latin typeface="Times New Roman"/>
                <a:cs typeface="Times New Roman"/>
              </a:rPr>
              <a:t> </a:t>
            </a:r>
            <a:r>
              <a:rPr sz="2100" dirty="0">
                <a:latin typeface="Times New Roman"/>
                <a:cs typeface="Times New Roman"/>
              </a:rPr>
              <a:t>should</a:t>
            </a:r>
            <a:r>
              <a:rPr sz="2100" spc="505" dirty="0">
                <a:latin typeface="Times New Roman"/>
                <a:cs typeface="Times New Roman"/>
              </a:rPr>
              <a:t> </a:t>
            </a:r>
            <a:r>
              <a:rPr sz="2100" dirty="0">
                <a:latin typeface="Times New Roman"/>
                <a:cs typeface="Times New Roman"/>
              </a:rPr>
              <a:t>be</a:t>
            </a:r>
            <a:r>
              <a:rPr sz="2100" spc="509" dirty="0">
                <a:latin typeface="Times New Roman"/>
                <a:cs typeface="Times New Roman"/>
              </a:rPr>
              <a:t> </a:t>
            </a:r>
            <a:r>
              <a:rPr sz="2100" dirty="0">
                <a:latin typeface="Times New Roman"/>
                <a:cs typeface="Times New Roman"/>
              </a:rPr>
              <a:t>written</a:t>
            </a:r>
            <a:r>
              <a:rPr sz="2100" spc="500" dirty="0">
                <a:latin typeface="Times New Roman"/>
                <a:cs typeface="Times New Roman"/>
              </a:rPr>
              <a:t> </a:t>
            </a:r>
            <a:r>
              <a:rPr sz="2100" dirty="0">
                <a:latin typeface="Times New Roman"/>
                <a:cs typeface="Times New Roman"/>
              </a:rPr>
              <a:t>by</a:t>
            </a:r>
            <a:r>
              <a:rPr sz="2100" spc="500" dirty="0">
                <a:latin typeface="Times New Roman"/>
                <a:cs typeface="Times New Roman"/>
              </a:rPr>
              <a:t> </a:t>
            </a:r>
            <a:r>
              <a:rPr sz="2100" dirty="0">
                <a:latin typeface="Times New Roman"/>
                <a:cs typeface="Times New Roman"/>
              </a:rPr>
              <a:t>natural</a:t>
            </a:r>
            <a:r>
              <a:rPr sz="2100" spc="515" dirty="0">
                <a:latin typeface="Times New Roman"/>
                <a:cs typeface="Times New Roman"/>
              </a:rPr>
              <a:t> </a:t>
            </a:r>
            <a:r>
              <a:rPr sz="2100" dirty="0">
                <a:latin typeface="Times New Roman"/>
                <a:cs typeface="Times New Roman"/>
              </a:rPr>
              <a:t>language</a:t>
            </a:r>
            <a:r>
              <a:rPr sz="2100" spc="505" dirty="0">
                <a:latin typeface="Times New Roman"/>
                <a:cs typeface="Times New Roman"/>
              </a:rPr>
              <a:t> </a:t>
            </a:r>
            <a:r>
              <a:rPr sz="2100" dirty="0">
                <a:latin typeface="Times New Roman"/>
                <a:cs typeface="Times New Roman"/>
              </a:rPr>
              <a:t>because</a:t>
            </a:r>
            <a:r>
              <a:rPr sz="2100" spc="509" dirty="0">
                <a:latin typeface="Times New Roman"/>
                <a:cs typeface="Times New Roman"/>
              </a:rPr>
              <a:t> </a:t>
            </a:r>
            <a:r>
              <a:rPr sz="2100" spc="-20" dirty="0">
                <a:latin typeface="Times New Roman"/>
                <a:cs typeface="Times New Roman"/>
              </a:rPr>
              <a:t>they </a:t>
            </a:r>
            <a:r>
              <a:rPr sz="2100" dirty="0">
                <a:latin typeface="Times New Roman"/>
                <a:cs typeface="Times New Roman"/>
              </a:rPr>
              <a:t>should</a:t>
            </a:r>
            <a:r>
              <a:rPr sz="2100" spc="130" dirty="0">
                <a:latin typeface="Times New Roman"/>
                <a:cs typeface="Times New Roman"/>
              </a:rPr>
              <a:t> </a:t>
            </a:r>
            <a:r>
              <a:rPr sz="2100" dirty="0">
                <a:latin typeface="Times New Roman"/>
                <a:cs typeface="Times New Roman"/>
              </a:rPr>
              <a:t>be</a:t>
            </a:r>
            <a:r>
              <a:rPr sz="2100" spc="125" dirty="0">
                <a:latin typeface="Times New Roman"/>
                <a:cs typeface="Times New Roman"/>
              </a:rPr>
              <a:t> </a:t>
            </a:r>
            <a:r>
              <a:rPr sz="2100" dirty="0">
                <a:latin typeface="Times New Roman"/>
                <a:cs typeface="Times New Roman"/>
              </a:rPr>
              <a:t>understood</a:t>
            </a:r>
            <a:r>
              <a:rPr sz="2100" spc="130" dirty="0">
                <a:latin typeface="Times New Roman"/>
                <a:cs typeface="Times New Roman"/>
              </a:rPr>
              <a:t> </a:t>
            </a:r>
            <a:r>
              <a:rPr sz="2100" dirty="0">
                <a:latin typeface="Times New Roman"/>
                <a:cs typeface="Times New Roman"/>
              </a:rPr>
              <a:t>by</a:t>
            </a:r>
            <a:r>
              <a:rPr sz="2100" spc="125" dirty="0">
                <a:latin typeface="Times New Roman"/>
                <a:cs typeface="Times New Roman"/>
              </a:rPr>
              <a:t> </a:t>
            </a:r>
            <a:r>
              <a:rPr sz="2100" dirty="0">
                <a:latin typeface="Times New Roman"/>
                <a:cs typeface="Times New Roman"/>
              </a:rPr>
              <a:t>clients</a:t>
            </a:r>
            <a:r>
              <a:rPr sz="2100" spc="135" dirty="0">
                <a:latin typeface="Times New Roman"/>
                <a:cs typeface="Times New Roman"/>
              </a:rPr>
              <a:t> </a:t>
            </a:r>
            <a:r>
              <a:rPr sz="2100" dirty="0">
                <a:latin typeface="Times New Roman"/>
                <a:cs typeface="Times New Roman"/>
              </a:rPr>
              <a:t>who</a:t>
            </a:r>
            <a:r>
              <a:rPr sz="2100" spc="145" dirty="0">
                <a:latin typeface="Times New Roman"/>
                <a:cs typeface="Times New Roman"/>
              </a:rPr>
              <a:t> </a:t>
            </a:r>
            <a:r>
              <a:rPr sz="2100" dirty="0">
                <a:latin typeface="Times New Roman"/>
                <a:cs typeface="Times New Roman"/>
              </a:rPr>
              <a:t>are</a:t>
            </a:r>
            <a:r>
              <a:rPr sz="2100" spc="120" dirty="0">
                <a:latin typeface="Times New Roman"/>
                <a:cs typeface="Times New Roman"/>
              </a:rPr>
              <a:t> </a:t>
            </a:r>
            <a:r>
              <a:rPr sz="2100" dirty="0">
                <a:latin typeface="Times New Roman"/>
                <a:cs typeface="Times New Roman"/>
              </a:rPr>
              <a:t>not</a:t>
            </a:r>
            <a:r>
              <a:rPr sz="2100" spc="135" dirty="0">
                <a:latin typeface="Times New Roman"/>
                <a:cs typeface="Times New Roman"/>
              </a:rPr>
              <a:t> </a:t>
            </a:r>
            <a:r>
              <a:rPr sz="2100" dirty="0">
                <a:latin typeface="Times New Roman"/>
                <a:cs typeface="Times New Roman"/>
              </a:rPr>
              <a:t>technical</a:t>
            </a:r>
            <a:r>
              <a:rPr sz="2100" spc="135" dirty="0">
                <a:latin typeface="Times New Roman"/>
                <a:cs typeface="Times New Roman"/>
              </a:rPr>
              <a:t> </a:t>
            </a:r>
            <a:r>
              <a:rPr sz="2100" dirty="0">
                <a:latin typeface="Times New Roman"/>
                <a:cs typeface="Times New Roman"/>
              </a:rPr>
              <a:t>experts</a:t>
            </a:r>
            <a:r>
              <a:rPr sz="2100" spc="125" dirty="0">
                <a:latin typeface="Times New Roman"/>
                <a:cs typeface="Times New Roman"/>
              </a:rPr>
              <a:t> </a:t>
            </a:r>
            <a:r>
              <a:rPr sz="2100" dirty="0">
                <a:latin typeface="Times New Roman"/>
                <a:cs typeface="Times New Roman"/>
              </a:rPr>
              <a:t>on</a:t>
            </a:r>
            <a:r>
              <a:rPr sz="2100" spc="125" dirty="0">
                <a:latin typeface="Times New Roman"/>
                <a:cs typeface="Times New Roman"/>
              </a:rPr>
              <a:t> </a:t>
            </a:r>
            <a:r>
              <a:rPr sz="2100" spc="-10" dirty="0">
                <a:latin typeface="Times New Roman"/>
                <a:cs typeface="Times New Roman"/>
              </a:rPr>
              <a:t>software development.</a:t>
            </a:r>
            <a:endParaRPr sz="2100" dirty="0">
              <a:latin typeface="Times New Roman"/>
              <a:cs typeface="Times New Roman"/>
            </a:endParaRPr>
          </a:p>
          <a:p>
            <a:pPr marL="756285" marR="5080" lvl="1" indent="-287020" algn="just">
              <a:lnSpc>
                <a:spcPct val="100000"/>
              </a:lnSpc>
              <a:spcBef>
                <a:spcPts val="505"/>
              </a:spcBef>
              <a:buChar char="–"/>
              <a:tabLst>
                <a:tab pos="756285" algn="l"/>
              </a:tabLst>
            </a:pPr>
            <a:r>
              <a:rPr sz="2100" dirty="0">
                <a:latin typeface="Times New Roman"/>
                <a:cs typeface="Times New Roman"/>
              </a:rPr>
              <a:t>However,</a:t>
            </a:r>
            <a:r>
              <a:rPr sz="2100" spc="310" dirty="0">
                <a:latin typeface="Times New Roman"/>
                <a:cs typeface="Times New Roman"/>
              </a:rPr>
              <a:t> </a:t>
            </a:r>
            <a:r>
              <a:rPr sz="2100" dirty="0">
                <a:latin typeface="Times New Roman"/>
                <a:cs typeface="Times New Roman"/>
              </a:rPr>
              <a:t>more</a:t>
            </a:r>
            <a:r>
              <a:rPr sz="2100" spc="310" dirty="0">
                <a:latin typeface="Times New Roman"/>
                <a:cs typeface="Times New Roman"/>
              </a:rPr>
              <a:t> </a:t>
            </a:r>
            <a:r>
              <a:rPr sz="2100" dirty="0">
                <a:latin typeface="Times New Roman"/>
                <a:cs typeface="Times New Roman"/>
              </a:rPr>
              <a:t>detailed</a:t>
            </a:r>
            <a:r>
              <a:rPr sz="2100" spc="310" dirty="0">
                <a:latin typeface="Times New Roman"/>
                <a:cs typeface="Times New Roman"/>
              </a:rPr>
              <a:t> </a:t>
            </a:r>
            <a:r>
              <a:rPr sz="2100" dirty="0">
                <a:latin typeface="Times New Roman"/>
                <a:cs typeface="Times New Roman"/>
              </a:rPr>
              <a:t>system</a:t>
            </a:r>
            <a:r>
              <a:rPr sz="2100" spc="285" dirty="0">
                <a:latin typeface="Times New Roman"/>
                <a:cs typeface="Times New Roman"/>
              </a:rPr>
              <a:t> </a:t>
            </a:r>
            <a:r>
              <a:rPr sz="2100" dirty="0">
                <a:latin typeface="Times New Roman"/>
                <a:cs typeface="Times New Roman"/>
              </a:rPr>
              <a:t>requirements</a:t>
            </a:r>
            <a:r>
              <a:rPr sz="2100" spc="315" dirty="0">
                <a:latin typeface="Times New Roman"/>
                <a:cs typeface="Times New Roman"/>
              </a:rPr>
              <a:t> </a:t>
            </a:r>
            <a:r>
              <a:rPr sz="2100" dirty="0">
                <a:latin typeface="Times New Roman"/>
                <a:cs typeface="Times New Roman"/>
              </a:rPr>
              <a:t>should</a:t>
            </a:r>
            <a:r>
              <a:rPr sz="2100" spc="305" dirty="0">
                <a:latin typeface="Times New Roman"/>
                <a:cs typeface="Times New Roman"/>
              </a:rPr>
              <a:t> </a:t>
            </a:r>
            <a:r>
              <a:rPr sz="2100" dirty="0">
                <a:latin typeface="Times New Roman"/>
                <a:cs typeface="Times New Roman"/>
              </a:rPr>
              <a:t>be</a:t>
            </a:r>
            <a:r>
              <a:rPr sz="2100" spc="305" dirty="0">
                <a:latin typeface="Times New Roman"/>
                <a:cs typeface="Times New Roman"/>
              </a:rPr>
              <a:t> </a:t>
            </a:r>
            <a:r>
              <a:rPr sz="2100" dirty="0">
                <a:latin typeface="Times New Roman"/>
                <a:cs typeface="Times New Roman"/>
              </a:rPr>
              <a:t>described</a:t>
            </a:r>
            <a:r>
              <a:rPr sz="2100" spc="300" dirty="0">
                <a:latin typeface="Times New Roman"/>
                <a:cs typeface="Times New Roman"/>
              </a:rPr>
              <a:t> </a:t>
            </a:r>
            <a:r>
              <a:rPr sz="2100" spc="-25" dirty="0">
                <a:latin typeface="Times New Roman"/>
                <a:cs typeface="Times New Roman"/>
              </a:rPr>
              <a:t>by </a:t>
            </a:r>
            <a:r>
              <a:rPr sz="2100" dirty="0">
                <a:latin typeface="Times New Roman"/>
                <a:cs typeface="Times New Roman"/>
              </a:rPr>
              <a:t>using</a:t>
            </a:r>
            <a:r>
              <a:rPr sz="2100" spc="-55" dirty="0">
                <a:latin typeface="Times New Roman"/>
                <a:cs typeface="Times New Roman"/>
              </a:rPr>
              <a:t> </a:t>
            </a:r>
            <a:r>
              <a:rPr sz="2100" dirty="0">
                <a:latin typeface="Times New Roman"/>
                <a:cs typeface="Times New Roman"/>
              </a:rPr>
              <a:t>more</a:t>
            </a:r>
            <a:r>
              <a:rPr sz="2100" spc="-20" dirty="0">
                <a:latin typeface="Times New Roman"/>
                <a:cs typeface="Times New Roman"/>
              </a:rPr>
              <a:t> </a:t>
            </a:r>
            <a:r>
              <a:rPr sz="2100" dirty="0">
                <a:latin typeface="Times New Roman"/>
                <a:cs typeface="Times New Roman"/>
              </a:rPr>
              <a:t>systematic</a:t>
            </a:r>
            <a:r>
              <a:rPr sz="2100" spc="-15" dirty="0">
                <a:latin typeface="Times New Roman"/>
                <a:cs typeface="Times New Roman"/>
              </a:rPr>
              <a:t> </a:t>
            </a:r>
            <a:r>
              <a:rPr sz="2100" dirty="0">
                <a:latin typeface="Times New Roman"/>
                <a:cs typeface="Times New Roman"/>
              </a:rPr>
              <a:t>and</a:t>
            </a:r>
            <a:r>
              <a:rPr sz="2100" spc="-55" dirty="0">
                <a:latin typeface="Times New Roman"/>
                <a:cs typeface="Times New Roman"/>
              </a:rPr>
              <a:t> </a:t>
            </a:r>
            <a:r>
              <a:rPr sz="2100" dirty="0">
                <a:latin typeface="Times New Roman"/>
                <a:cs typeface="Times New Roman"/>
              </a:rPr>
              <a:t>technical</a:t>
            </a:r>
            <a:r>
              <a:rPr sz="2100" spc="-40" dirty="0">
                <a:latin typeface="Times New Roman"/>
                <a:cs typeface="Times New Roman"/>
              </a:rPr>
              <a:t> </a:t>
            </a:r>
            <a:r>
              <a:rPr sz="2100" spc="-10" dirty="0">
                <a:latin typeface="Times New Roman"/>
                <a:cs typeface="Times New Roman"/>
              </a:rPr>
              <a:t>methods.</a:t>
            </a:r>
            <a:endParaRPr sz="2100" dirty="0">
              <a:latin typeface="Times New Roman"/>
              <a:cs typeface="Times New Roman"/>
            </a:endParaRPr>
          </a:p>
          <a:p>
            <a:pPr marL="1155700" marR="6985" lvl="2" indent="-228600" algn="just">
              <a:lnSpc>
                <a:spcPct val="100000"/>
              </a:lnSpc>
              <a:spcBef>
                <a:spcPts val="505"/>
              </a:spcBef>
              <a:buChar char="•"/>
              <a:tabLst>
                <a:tab pos="1155700" algn="l"/>
              </a:tabLst>
            </a:pPr>
            <a:r>
              <a:rPr sz="2100" dirty="0">
                <a:latin typeface="Times New Roman"/>
                <a:cs typeface="Times New Roman"/>
              </a:rPr>
              <a:t>System</a:t>
            </a:r>
            <a:r>
              <a:rPr sz="2100" spc="60" dirty="0">
                <a:latin typeface="Times New Roman"/>
                <a:cs typeface="Times New Roman"/>
              </a:rPr>
              <a:t>  </a:t>
            </a:r>
            <a:r>
              <a:rPr sz="2100" dirty="0">
                <a:latin typeface="Times New Roman"/>
                <a:cs typeface="Times New Roman"/>
              </a:rPr>
              <a:t>modeling</a:t>
            </a:r>
            <a:r>
              <a:rPr sz="2100" spc="65" dirty="0">
                <a:latin typeface="Times New Roman"/>
                <a:cs typeface="Times New Roman"/>
              </a:rPr>
              <a:t>  </a:t>
            </a:r>
            <a:r>
              <a:rPr sz="2100" dirty="0">
                <a:latin typeface="Times New Roman"/>
                <a:cs typeface="Times New Roman"/>
              </a:rPr>
              <a:t>is</a:t>
            </a:r>
            <a:r>
              <a:rPr sz="2100" spc="50" dirty="0">
                <a:latin typeface="Times New Roman"/>
                <a:cs typeface="Times New Roman"/>
              </a:rPr>
              <a:t>  </a:t>
            </a:r>
            <a:r>
              <a:rPr sz="2100" dirty="0">
                <a:latin typeface="Times New Roman"/>
                <a:cs typeface="Times New Roman"/>
              </a:rPr>
              <a:t>a</a:t>
            </a:r>
            <a:r>
              <a:rPr sz="2100" spc="60" dirty="0">
                <a:latin typeface="Times New Roman"/>
                <a:cs typeface="Times New Roman"/>
              </a:rPr>
              <a:t>  </a:t>
            </a:r>
            <a:r>
              <a:rPr sz="2100" dirty="0">
                <a:latin typeface="Times New Roman"/>
                <a:cs typeface="Times New Roman"/>
              </a:rPr>
              <a:t>widely</a:t>
            </a:r>
            <a:r>
              <a:rPr sz="2100" spc="60" dirty="0">
                <a:latin typeface="Times New Roman"/>
                <a:cs typeface="Times New Roman"/>
              </a:rPr>
              <a:t>  </a:t>
            </a:r>
            <a:r>
              <a:rPr sz="2100" dirty="0">
                <a:latin typeface="Times New Roman"/>
                <a:cs typeface="Times New Roman"/>
              </a:rPr>
              <a:t>used</a:t>
            </a:r>
            <a:r>
              <a:rPr sz="2100" spc="65" dirty="0">
                <a:latin typeface="Times New Roman"/>
                <a:cs typeface="Times New Roman"/>
              </a:rPr>
              <a:t>  </a:t>
            </a:r>
            <a:r>
              <a:rPr sz="2100" dirty="0">
                <a:latin typeface="Times New Roman"/>
                <a:cs typeface="Times New Roman"/>
              </a:rPr>
              <a:t>technique</a:t>
            </a:r>
            <a:r>
              <a:rPr sz="2100" spc="65" dirty="0">
                <a:latin typeface="Times New Roman"/>
                <a:cs typeface="Times New Roman"/>
              </a:rPr>
              <a:t>  </a:t>
            </a:r>
            <a:r>
              <a:rPr sz="2100" dirty="0">
                <a:latin typeface="Times New Roman"/>
                <a:cs typeface="Times New Roman"/>
              </a:rPr>
              <a:t>to</a:t>
            </a:r>
            <a:r>
              <a:rPr sz="2100" spc="55" dirty="0">
                <a:latin typeface="Times New Roman"/>
                <a:cs typeface="Times New Roman"/>
              </a:rPr>
              <a:t>  </a:t>
            </a:r>
            <a:r>
              <a:rPr sz="2100" dirty="0">
                <a:latin typeface="Times New Roman"/>
                <a:cs typeface="Times New Roman"/>
              </a:rPr>
              <a:t>document</a:t>
            </a:r>
            <a:r>
              <a:rPr sz="2100" spc="65" dirty="0">
                <a:latin typeface="Times New Roman"/>
                <a:cs typeface="Times New Roman"/>
              </a:rPr>
              <a:t>  </a:t>
            </a:r>
            <a:r>
              <a:rPr sz="2100" spc="-25" dirty="0">
                <a:latin typeface="Times New Roman"/>
                <a:cs typeface="Times New Roman"/>
              </a:rPr>
              <a:t>the </a:t>
            </a:r>
            <a:r>
              <a:rPr sz="2100" dirty="0">
                <a:latin typeface="Times New Roman"/>
                <a:cs typeface="Times New Roman"/>
              </a:rPr>
              <a:t>system</a:t>
            </a:r>
            <a:r>
              <a:rPr sz="2100" spc="-45" dirty="0">
                <a:latin typeface="Times New Roman"/>
                <a:cs typeface="Times New Roman"/>
              </a:rPr>
              <a:t> </a:t>
            </a:r>
            <a:r>
              <a:rPr sz="2100" spc="-10" dirty="0">
                <a:latin typeface="Times New Roman"/>
                <a:cs typeface="Times New Roman"/>
              </a:rPr>
              <a:t>specification.</a:t>
            </a:r>
            <a:endParaRPr sz="2100" dirty="0">
              <a:latin typeface="Times New Roman"/>
              <a:cs typeface="Times New Roman"/>
            </a:endParaRPr>
          </a:p>
          <a:p>
            <a:pPr marL="1155700" marR="6985" lvl="2" indent="-228600" algn="just">
              <a:lnSpc>
                <a:spcPct val="100000"/>
              </a:lnSpc>
              <a:spcBef>
                <a:spcPts val="505"/>
              </a:spcBef>
              <a:buChar char="•"/>
              <a:tabLst>
                <a:tab pos="1155700" algn="l"/>
              </a:tabLst>
            </a:pPr>
            <a:r>
              <a:rPr sz="2100" dirty="0">
                <a:latin typeface="Times New Roman"/>
                <a:cs typeface="Times New Roman"/>
              </a:rPr>
              <a:t>System</a:t>
            </a:r>
            <a:r>
              <a:rPr sz="2100" spc="175" dirty="0">
                <a:latin typeface="Times New Roman"/>
                <a:cs typeface="Times New Roman"/>
              </a:rPr>
              <a:t>  </a:t>
            </a:r>
            <a:r>
              <a:rPr sz="2100" dirty="0">
                <a:latin typeface="Times New Roman"/>
                <a:cs typeface="Times New Roman"/>
              </a:rPr>
              <a:t>models</a:t>
            </a:r>
            <a:r>
              <a:rPr sz="2100" spc="180" dirty="0">
                <a:latin typeface="Times New Roman"/>
                <a:cs typeface="Times New Roman"/>
              </a:rPr>
              <a:t>  </a:t>
            </a:r>
            <a:r>
              <a:rPr sz="2100" dirty="0">
                <a:latin typeface="Times New Roman"/>
                <a:cs typeface="Times New Roman"/>
              </a:rPr>
              <a:t>are</a:t>
            </a:r>
            <a:r>
              <a:rPr sz="2100" spc="180" dirty="0">
                <a:latin typeface="Times New Roman"/>
                <a:cs typeface="Times New Roman"/>
              </a:rPr>
              <a:t>  </a:t>
            </a:r>
            <a:r>
              <a:rPr sz="2100" dirty="0">
                <a:latin typeface="Times New Roman"/>
                <a:cs typeface="Times New Roman"/>
              </a:rPr>
              <a:t>graphical</a:t>
            </a:r>
            <a:r>
              <a:rPr sz="2100" spc="180" dirty="0">
                <a:latin typeface="Times New Roman"/>
                <a:cs typeface="Times New Roman"/>
              </a:rPr>
              <a:t>  </a:t>
            </a:r>
            <a:r>
              <a:rPr sz="2100" dirty="0">
                <a:latin typeface="Times New Roman"/>
                <a:cs typeface="Times New Roman"/>
              </a:rPr>
              <a:t>representations</a:t>
            </a:r>
            <a:r>
              <a:rPr sz="2100" spc="180" dirty="0">
                <a:latin typeface="Times New Roman"/>
                <a:cs typeface="Times New Roman"/>
              </a:rPr>
              <a:t>  </a:t>
            </a:r>
            <a:r>
              <a:rPr sz="2100" dirty="0">
                <a:latin typeface="Times New Roman"/>
                <a:cs typeface="Times New Roman"/>
              </a:rPr>
              <a:t>that</a:t>
            </a:r>
            <a:r>
              <a:rPr sz="2100" spc="185" dirty="0">
                <a:latin typeface="Times New Roman"/>
                <a:cs typeface="Times New Roman"/>
              </a:rPr>
              <a:t>  </a:t>
            </a:r>
            <a:r>
              <a:rPr sz="2100" dirty="0">
                <a:latin typeface="Times New Roman"/>
                <a:cs typeface="Times New Roman"/>
              </a:rPr>
              <a:t>express</a:t>
            </a:r>
            <a:r>
              <a:rPr sz="2100" spc="175" dirty="0">
                <a:latin typeface="Times New Roman"/>
                <a:cs typeface="Times New Roman"/>
              </a:rPr>
              <a:t>  </a:t>
            </a:r>
            <a:r>
              <a:rPr sz="2100" spc="-25" dirty="0">
                <a:latin typeface="Times New Roman"/>
                <a:cs typeface="Times New Roman"/>
              </a:rPr>
              <a:t>the </a:t>
            </a:r>
            <a:r>
              <a:rPr sz="2100" dirty="0">
                <a:latin typeface="Times New Roman"/>
                <a:cs typeface="Times New Roman"/>
              </a:rPr>
              <a:t>existing</a:t>
            </a:r>
            <a:r>
              <a:rPr sz="2100" spc="520" dirty="0">
                <a:latin typeface="Times New Roman"/>
                <a:cs typeface="Times New Roman"/>
              </a:rPr>
              <a:t> </a:t>
            </a:r>
            <a:r>
              <a:rPr sz="2100" dirty="0">
                <a:latin typeface="Times New Roman"/>
                <a:cs typeface="Times New Roman"/>
              </a:rPr>
              <a:t>business</a:t>
            </a:r>
            <a:r>
              <a:rPr sz="2100" spc="509" dirty="0">
                <a:latin typeface="Times New Roman"/>
                <a:cs typeface="Times New Roman"/>
              </a:rPr>
              <a:t> </a:t>
            </a:r>
            <a:r>
              <a:rPr sz="2100" dirty="0">
                <a:latin typeface="Times New Roman"/>
                <a:cs typeface="Times New Roman"/>
              </a:rPr>
              <a:t>processes,</a:t>
            </a:r>
            <a:r>
              <a:rPr sz="2100" spc="500" dirty="0">
                <a:latin typeface="Times New Roman"/>
                <a:cs typeface="Times New Roman"/>
              </a:rPr>
              <a:t> </a:t>
            </a:r>
            <a:r>
              <a:rPr sz="2100" dirty="0">
                <a:latin typeface="Times New Roman"/>
                <a:cs typeface="Times New Roman"/>
              </a:rPr>
              <a:t>the</a:t>
            </a:r>
            <a:r>
              <a:rPr sz="2100" spc="515" dirty="0">
                <a:latin typeface="Times New Roman"/>
                <a:cs typeface="Times New Roman"/>
              </a:rPr>
              <a:t> </a:t>
            </a:r>
            <a:r>
              <a:rPr sz="2100" dirty="0">
                <a:latin typeface="Times New Roman"/>
                <a:cs typeface="Times New Roman"/>
              </a:rPr>
              <a:t>problems</a:t>
            </a:r>
            <a:r>
              <a:rPr sz="2100" spc="515" dirty="0">
                <a:latin typeface="Times New Roman"/>
                <a:cs typeface="Times New Roman"/>
              </a:rPr>
              <a:t> </a:t>
            </a:r>
            <a:r>
              <a:rPr sz="2100" dirty="0">
                <a:latin typeface="Times New Roman"/>
                <a:cs typeface="Times New Roman"/>
              </a:rPr>
              <a:t>to</a:t>
            </a:r>
            <a:r>
              <a:rPr sz="2100" spc="505" dirty="0">
                <a:latin typeface="Times New Roman"/>
                <a:cs typeface="Times New Roman"/>
              </a:rPr>
              <a:t> </a:t>
            </a:r>
            <a:r>
              <a:rPr sz="2100" dirty="0">
                <a:latin typeface="Times New Roman"/>
                <a:cs typeface="Times New Roman"/>
              </a:rPr>
              <a:t>be</a:t>
            </a:r>
            <a:r>
              <a:rPr sz="2100" spc="509" dirty="0">
                <a:latin typeface="Times New Roman"/>
                <a:cs typeface="Times New Roman"/>
              </a:rPr>
              <a:t> </a:t>
            </a:r>
            <a:r>
              <a:rPr sz="2100" dirty="0">
                <a:latin typeface="Times New Roman"/>
                <a:cs typeface="Times New Roman"/>
              </a:rPr>
              <a:t>solved,</a:t>
            </a:r>
            <a:r>
              <a:rPr sz="2100" spc="520" dirty="0">
                <a:latin typeface="Times New Roman"/>
                <a:cs typeface="Times New Roman"/>
              </a:rPr>
              <a:t> </a:t>
            </a:r>
            <a:r>
              <a:rPr sz="2100" dirty="0">
                <a:latin typeface="Times New Roman"/>
                <a:cs typeface="Times New Roman"/>
              </a:rPr>
              <a:t>and</a:t>
            </a:r>
            <a:r>
              <a:rPr sz="2100" spc="509" dirty="0">
                <a:latin typeface="Times New Roman"/>
                <a:cs typeface="Times New Roman"/>
              </a:rPr>
              <a:t> </a:t>
            </a:r>
            <a:r>
              <a:rPr sz="2100" spc="-25" dirty="0">
                <a:latin typeface="Times New Roman"/>
                <a:cs typeface="Times New Roman"/>
              </a:rPr>
              <a:t>the </a:t>
            </a:r>
            <a:r>
              <a:rPr sz="2100" dirty="0">
                <a:latin typeface="Times New Roman"/>
                <a:cs typeface="Times New Roman"/>
              </a:rPr>
              <a:t>system</a:t>
            </a:r>
            <a:r>
              <a:rPr sz="2100" spc="-25" dirty="0">
                <a:latin typeface="Times New Roman"/>
                <a:cs typeface="Times New Roman"/>
              </a:rPr>
              <a:t> </a:t>
            </a:r>
            <a:r>
              <a:rPr sz="2100" dirty="0">
                <a:latin typeface="Times New Roman"/>
                <a:cs typeface="Times New Roman"/>
              </a:rPr>
              <a:t>to</a:t>
            </a:r>
            <a:r>
              <a:rPr sz="2100" spc="-30" dirty="0">
                <a:latin typeface="Times New Roman"/>
                <a:cs typeface="Times New Roman"/>
              </a:rPr>
              <a:t> </a:t>
            </a:r>
            <a:r>
              <a:rPr sz="2100" dirty="0">
                <a:latin typeface="Times New Roman"/>
                <a:cs typeface="Times New Roman"/>
              </a:rPr>
              <a:t>be</a:t>
            </a:r>
            <a:r>
              <a:rPr sz="2100" spc="-25" dirty="0">
                <a:latin typeface="Times New Roman"/>
                <a:cs typeface="Times New Roman"/>
              </a:rPr>
              <a:t> </a:t>
            </a:r>
            <a:r>
              <a:rPr sz="2100" spc="-10" dirty="0">
                <a:latin typeface="Times New Roman"/>
                <a:cs typeface="Times New Roman"/>
              </a:rPr>
              <a:t>developed.</a:t>
            </a:r>
            <a:endParaRPr lang="en-US" sz="2100" spc="-10" dirty="0">
              <a:latin typeface="Times New Roman"/>
              <a:cs typeface="Times New Roman"/>
            </a:endParaRPr>
          </a:p>
          <a:p>
            <a:pPr marL="1155700" marR="6985" lvl="2" indent="-228600" algn="just">
              <a:lnSpc>
                <a:spcPct val="100000"/>
              </a:lnSpc>
              <a:spcBef>
                <a:spcPts val="505"/>
              </a:spcBef>
              <a:buChar char="•"/>
              <a:tabLst>
                <a:tab pos="1155700" algn="l"/>
              </a:tabLst>
            </a:pPr>
            <a:r>
              <a:rPr lang="en-US" sz="2100" spc="-10" dirty="0">
                <a:latin typeface="Times New Roman"/>
                <a:cs typeface="Times New Roman"/>
              </a:rPr>
              <a:t>Since they are graphical representations, </a:t>
            </a:r>
            <a:r>
              <a:rPr lang="en-US" sz="2100" spc="-20" dirty="0">
                <a:latin typeface="Times New Roman"/>
                <a:cs typeface="Times New Roman"/>
              </a:rPr>
              <a:t>they </a:t>
            </a:r>
            <a:r>
              <a:rPr lang="en-US" sz="2100" spc="-25" dirty="0">
                <a:latin typeface="Times New Roman"/>
                <a:cs typeface="Times New Roman"/>
              </a:rPr>
              <a:t>are </a:t>
            </a:r>
            <a:r>
              <a:rPr lang="en-US" sz="2100" spc="-20" dirty="0">
                <a:latin typeface="Times New Roman"/>
                <a:cs typeface="Times New Roman"/>
              </a:rPr>
              <a:t>more understandable than</a:t>
            </a:r>
            <a:r>
              <a:rPr lang="en-US" sz="2100" dirty="0">
                <a:latin typeface="Times New Roman"/>
                <a:cs typeface="Times New Roman"/>
              </a:rPr>
              <a:t>	</a:t>
            </a:r>
            <a:r>
              <a:rPr lang="en-US" sz="2100" spc="-10" dirty="0">
                <a:latin typeface="Times New Roman"/>
                <a:cs typeface="Times New Roman"/>
              </a:rPr>
              <a:t>natural</a:t>
            </a:r>
            <a:r>
              <a:rPr lang="en-US" sz="2100" dirty="0">
                <a:latin typeface="Times New Roman"/>
                <a:cs typeface="Times New Roman"/>
              </a:rPr>
              <a:t>	</a:t>
            </a:r>
            <a:r>
              <a:rPr lang="en-US" sz="2100" spc="-10" dirty="0">
                <a:latin typeface="Times New Roman"/>
                <a:cs typeface="Times New Roman"/>
              </a:rPr>
              <a:t>language descriptions </a:t>
            </a:r>
            <a:r>
              <a:rPr lang="en-US" sz="2100" spc="-25" dirty="0">
                <a:latin typeface="Times New Roman"/>
                <a:cs typeface="Times New Roman"/>
              </a:rPr>
              <a:t>of </a:t>
            </a:r>
            <a:r>
              <a:rPr lang="en-US" sz="2100" spc="-10" dirty="0">
                <a:latin typeface="Times New Roman"/>
                <a:cs typeface="Times New Roman"/>
              </a:rPr>
              <a:t>system requirements.</a:t>
            </a:r>
          </a:p>
          <a:p>
            <a:pPr marL="1155700" marR="6985" lvl="2" indent="-228600" algn="just">
              <a:lnSpc>
                <a:spcPct val="100000"/>
              </a:lnSpc>
              <a:spcBef>
                <a:spcPts val="505"/>
              </a:spcBef>
              <a:buChar char="•"/>
              <a:tabLst>
                <a:tab pos="1155700" algn="l"/>
              </a:tabLst>
            </a:pPr>
            <a:r>
              <a:rPr lang="en-US" sz="2100" spc="-10" dirty="0">
                <a:latin typeface="Times New Roman"/>
                <a:cs typeface="Times New Roman"/>
              </a:rPr>
              <a:t>They can be used as bridge between analysis and design phases.</a:t>
            </a:r>
            <a:endParaRPr sz="2100" dirty="0">
              <a:latin typeface="Times New Roman"/>
              <a:cs typeface="Times New Roman"/>
            </a:endParaRPr>
          </a:p>
        </p:txBody>
      </p:sp>
      <p:sp>
        <p:nvSpPr>
          <p:cNvPr id="13" name="object 13"/>
          <p:cNvSpPr txBox="1">
            <a:spLocks noGrp="1"/>
          </p:cNvSpPr>
          <p:nvPr>
            <p:ph type="title"/>
          </p:nvPr>
        </p:nvSpPr>
        <p:spPr>
          <a:prstGeom prst="rect">
            <a:avLst/>
          </a:prstGeom>
        </p:spPr>
        <p:txBody>
          <a:bodyPr vert="horz" wrap="square" lIns="0" tIns="629031" rIns="0" bIns="0" rtlCol="0">
            <a:spAutoFit/>
          </a:bodyPr>
          <a:lstStyle/>
          <a:p>
            <a:pPr marL="494030">
              <a:lnSpc>
                <a:spcPct val="100000"/>
              </a:lnSpc>
              <a:spcBef>
                <a:spcPts val="105"/>
              </a:spcBef>
            </a:pPr>
            <a:r>
              <a:rPr sz="4400" b="1" dirty="0">
                <a:solidFill>
                  <a:srgbClr val="000000"/>
                </a:solidFill>
                <a:latin typeface="Times New Roman"/>
                <a:cs typeface="Times New Roman"/>
              </a:rPr>
              <a:t>(1)</a:t>
            </a:r>
            <a:r>
              <a:rPr sz="4400" b="1" spc="-10" dirty="0">
                <a:solidFill>
                  <a:srgbClr val="000000"/>
                </a:solidFill>
                <a:latin typeface="Times New Roman"/>
                <a:cs typeface="Times New Roman"/>
              </a:rPr>
              <a:t> </a:t>
            </a:r>
            <a:r>
              <a:rPr sz="4400" b="1" dirty="0">
                <a:solidFill>
                  <a:srgbClr val="000000"/>
                </a:solidFill>
                <a:latin typeface="Times New Roman"/>
                <a:cs typeface="Times New Roman"/>
              </a:rPr>
              <a:t>System</a:t>
            </a:r>
            <a:r>
              <a:rPr sz="4400" b="1" spc="-30" dirty="0">
                <a:solidFill>
                  <a:srgbClr val="000000"/>
                </a:solidFill>
                <a:latin typeface="Times New Roman"/>
                <a:cs typeface="Times New Roman"/>
              </a:rPr>
              <a:t> </a:t>
            </a:r>
            <a:r>
              <a:rPr sz="4400" b="1" dirty="0">
                <a:solidFill>
                  <a:srgbClr val="000000"/>
                </a:solidFill>
                <a:latin typeface="Times New Roman"/>
                <a:cs typeface="Times New Roman"/>
              </a:rPr>
              <a:t>Modelling</a:t>
            </a:r>
            <a:r>
              <a:rPr sz="4400" b="1" spc="-10" dirty="0">
                <a:solidFill>
                  <a:srgbClr val="000000"/>
                </a:solidFill>
                <a:latin typeface="Times New Roman"/>
                <a:cs typeface="Times New Roman"/>
              </a:rPr>
              <a:t> </a:t>
            </a:r>
            <a:r>
              <a:rPr sz="4000" b="1" spc="-10" dirty="0">
                <a:solidFill>
                  <a:srgbClr val="000000"/>
                </a:solidFill>
                <a:latin typeface="Times New Roman"/>
                <a:cs typeface="Times New Roman"/>
              </a:rPr>
              <a:t>(Cont…)</a:t>
            </a:r>
            <a:endParaRPr sz="4000" b="1" dirty="0">
              <a:latin typeface="Times New Roman"/>
              <a:cs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14F9-7DC6-8FEC-B019-4B38369C3B08}"/>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1EB1496F-5BE4-735F-ED4F-7FC30AD89FA6}"/>
              </a:ext>
            </a:extLst>
          </p:cNvPr>
          <p:cNvSpPr txBox="1">
            <a:spLocks noGrp="1"/>
          </p:cNvSpPr>
          <p:nvPr>
            <p:ph type="title"/>
          </p:nvPr>
        </p:nvSpPr>
        <p:spPr>
          <a:xfrm>
            <a:off x="393240" y="-76200"/>
            <a:ext cx="7849209" cy="1312291"/>
          </a:xfrm>
          <a:prstGeom prst="rect">
            <a:avLst/>
          </a:prstGeom>
        </p:spPr>
        <p:txBody>
          <a:bodyPr vert="horz" wrap="square" lIns="0" tIns="629031" rIns="0" bIns="0" rtlCol="0">
            <a:spAutoFit/>
          </a:bodyPr>
          <a:lstStyle/>
          <a:p>
            <a:pPr marL="1521460">
              <a:lnSpc>
                <a:spcPct val="100000"/>
              </a:lnSpc>
              <a:spcBef>
                <a:spcPts val="105"/>
              </a:spcBef>
            </a:pPr>
            <a:r>
              <a:rPr lang="en-US" sz="4400" b="1" dirty="0">
                <a:solidFill>
                  <a:srgbClr val="000000"/>
                </a:solidFill>
                <a:latin typeface="Times New Roman"/>
                <a:cs typeface="Times New Roman"/>
              </a:rPr>
              <a:t>Types of System models</a:t>
            </a:r>
            <a:endParaRPr sz="4400" b="1" dirty="0">
              <a:latin typeface="Times New Roman"/>
              <a:cs typeface="Times New Roman"/>
            </a:endParaRPr>
          </a:p>
        </p:txBody>
      </p:sp>
      <p:sp>
        <p:nvSpPr>
          <p:cNvPr id="6" name="object 6">
            <a:extLst>
              <a:ext uri="{FF2B5EF4-FFF2-40B4-BE49-F238E27FC236}">
                <a16:creationId xmlns:a16="http://schemas.microsoft.com/office/drawing/2014/main" id="{EF77D183-2ACA-56A5-9CDF-82F76E61ABF6}"/>
              </a:ext>
            </a:extLst>
          </p:cNvPr>
          <p:cNvSpPr txBox="1"/>
          <p:nvPr/>
        </p:nvSpPr>
        <p:spPr>
          <a:xfrm>
            <a:off x="114300" y="1626410"/>
            <a:ext cx="8915400" cy="5184111"/>
          </a:xfrm>
          <a:prstGeom prst="rect">
            <a:avLst/>
          </a:prstGeom>
        </p:spPr>
        <p:txBody>
          <a:bodyPr vert="horz" wrap="square" lIns="0" tIns="13335" rIns="0" bIns="0" rtlCol="0">
            <a:spAutoFit/>
          </a:bodyPr>
          <a:lstStyle/>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Structural Models</a:t>
            </a:r>
            <a:r>
              <a:rPr lang="en-US" sz="2800" dirty="0">
                <a:latin typeface="Times New Roman" panose="02020603050405020304" pitchFamily="18" charset="0"/>
                <a:cs typeface="Times New Roman" panose="02020603050405020304" pitchFamily="18" charset="0"/>
              </a:rPr>
              <a:t>: These models describe the static structure of the system, showing how different components are organized and related. Examples include class diagrams and component diagrams.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Behavioral Models</a:t>
            </a:r>
            <a:r>
              <a:rPr lang="en-US" sz="2800" dirty="0">
                <a:latin typeface="Times New Roman" panose="02020603050405020304" pitchFamily="18" charset="0"/>
                <a:cs typeface="Times New Roman" panose="02020603050405020304" pitchFamily="18" charset="0"/>
              </a:rPr>
              <a:t>: These illustrate how the system behaves and responds to stimuli. They can be data-driven or event-driven and include techniques like state machine and activity diagrams.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External/Context Models</a:t>
            </a:r>
            <a:r>
              <a:rPr lang="en-US" sz="2800" dirty="0">
                <a:latin typeface="Times New Roman" panose="02020603050405020304" pitchFamily="18" charset="0"/>
                <a:cs typeface="Times New Roman" panose="02020603050405020304" pitchFamily="18" charset="0"/>
              </a:rPr>
              <a:t>: These models show the system's interaction with its environment, often using diagrams like use case diagrams to represent how users or other systems interact with it. </a:t>
            </a:r>
          </a:p>
        </p:txBody>
      </p:sp>
    </p:spTree>
    <p:extLst>
      <p:ext uri="{BB962C8B-B14F-4D97-AF65-F5344CB8AC3E}">
        <p14:creationId xmlns:p14="http://schemas.microsoft.com/office/powerpoint/2010/main" val="1471087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629031" rIns="0" bIns="0" rtlCol="0">
            <a:spAutoFit/>
          </a:bodyPr>
          <a:lstStyle/>
          <a:p>
            <a:pPr marL="1946910">
              <a:lnSpc>
                <a:spcPct val="100000"/>
              </a:lnSpc>
              <a:spcBef>
                <a:spcPts val="105"/>
              </a:spcBef>
            </a:pPr>
            <a:r>
              <a:rPr sz="4400" b="1" dirty="0">
                <a:solidFill>
                  <a:srgbClr val="000000"/>
                </a:solidFill>
                <a:latin typeface="Times New Roman"/>
                <a:cs typeface="Times New Roman"/>
              </a:rPr>
              <a:t>A.</a:t>
            </a:r>
            <a:r>
              <a:rPr sz="4400" b="1" spc="-5" dirty="0">
                <a:solidFill>
                  <a:srgbClr val="000000"/>
                </a:solidFill>
                <a:latin typeface="Times New Roman"/>
                <a:cs typeface="Times New Roman"/>
              </a:rPr>
              <a:t> </a:t>
            </a:r>
            <a:r>
              <a:rPr sz="4400" b="1" dirty="0">
                <a:solidFill>
                  <a:srgbClr val="000000"/>
                </a:solidFill>
                <a:latin typeface="Times New Roman"/>
                <a:cs typeface="Times New Roman"/>
              </a:rPr>
              <a:t>Context</a:t>
            </a:r>
            <a:r>
              <a:rPr sz="4400" b="1" spc="-40" dirty="0">
                <a:solidFill>
                  <a:srgbClr val="000000"/>
                </a:solidFill>
                <a:latin typeface="Times New Roman"/>
                <a:cs typeface="Times New Roman"/>
              </a:rPr>
              <a:t> </a:t>
            </a:r>
            <a:r>
              <a:rPr sz="4400" b="1" spc="-10" dirty="0">
                <a:solidFill>
                  <a:srgbClr val="000000"/>
                </a:solidFill>
                <a:latin typeface="Times New Roman"/>
                <a:cs typeface="Times New Roman"/>
              </a:rPr>
              <a:t>models</a:t>
            </a:r>
            <a:endParaRPr sz="4400" b="1" dirty="0">
              <a:latin typeface="Times New Roman"/>
              <a:cs typeface="Times New Roman"/>
            </a:endParaRPr>
          </a:p>
        </p:txBody>
      </p:sp>
      <p:sp>
        <p:nvSpPr>
          <p:cNvPr id="4" name="object 4"/>
          <p:cNvSpPr txBox="1"/>
          <p:nvPr/>
        </p:nvSpPr>
        <p:spPr>
          <a:xfrm>
            <a:off x="662127" y="1720088"/>
            <a:ext cx="8051800" cy="3858107"/>
          </a:xfrm>
          <a:prstGeom prst="rect">
            <a:avLst/>
          </a:prstGeom>
        </p:spPr>
        <p:txBody>
          <a:bodyPr vert="horz" wrap="square" lIns="0" tIns="13335" rIns="0" bIns="0" rtlCol="0">
            <a:spAutoFit/>
          </a:bodyPr>
          <a:lstStyle/>
          <a:p>
            <a:pPr marL="354965" marR="7620" indent="-342900" algn="just">
              <a:lnSpc>
                <a:spcPct val="100000"/>
              </a:lnSpc>
              <a:spcBef>
                <a:spcPts val="105"/>
              </a:spcBef>
              <a:buChar char="•"/>
              <a:tabLst>
                <a:tab pos="354965" algn="l"/>
              </a:tabLst>
            </a:pPr>
            <a:r>
              <a:rPr sz="3200" dirty="0">
                <a:latin typeface="Times New Roman" panose="02020603050405020304" pitchFamily="18" charset="0"/>
                <a:cs typeface="Times New Roman" panose="02020603050405020304" pitchFamily="18" charset="0"/>
              </a:rPr>
              <a:t>At</a:t>
            </a:r>
            <a:r>
              <a:rPr sz="3200" spc="19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an</a:t>
            </a:r>
            <a:r>
              <a:rPr sz="3200" spc="19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early</a:t>
            </a:r>
            <a:r>
              <a:rPr sz="3200" spc="204"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stage</a:t>
            </a:r>
            <a:r>
              <a:rPr sz="3200" spc="19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in</a:t>
            </a:r>
            <a:r>
              <a:rPr sz="3200" spc="204"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a:t>
            </a:r>
            <a:r>
              <a:rPr sz="3200" spc="19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user</a:t>
            </a:r>
            <a:r>
              <a:rPr sz="3200" spc="19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requirements</a:t>
            </a:r>
            <a:r>
              <a:rPr sz="3200" spc="204"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and </a:t>
            </a:r>
            <a:r>
              <a:rPr sz="3200" dirty="0">
                <a:latin typeface="Times New Roman" panose="02020603050405020304" pitchFamily="18" charset="0"/>
                <a:cs typeface="Times New Roman" panose="02020603050405020304" pitchFamily="18" charset="0"/>
              </a:rPr>
              <a:t>analysis</a:t>
            </a:r>
            <a:r>
              <a:rPr sz="3200" spc="73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process</a:t>
            </a:r>
            <a:r>
              <a:rPr sz="3200" spc="7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you</a:t>
            </a:r>
            <a:r>
              <a:rPr sz="3200" spc="745"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should</a:t>
            </a:r>
            <a:r>
              <a:rPr sz="3200" spc="74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decide</a:t>
            </a:r>
            <a:r>
              <a:rPr sz="3200" spc="740" dirty="0">
                <a:latin typeface="Times New Roman" panose="02020603050405020304" pitchFamily="18" charset="0"/>
                <a:cs typeface="Times New Roman" panose="02020603050405020304" pitchFamily="18" charset="0"/>
              </a:rPr>
              <a:t>  </a:t>
            </a:r>
            <a:r>
              <a:rPr sz="3200" spc="-25" dirty="0">
                <a:latin typeface="Times New Roman" panose="02020603050405020304" pitchFamily="18" charset="0"/>
                <a:cs typeface="Times New Roman" panose="02020603050405020304" pitchFamily="18" charset="0"/>
              </a:rPr>
              <a:t>on </a:t>
            </a:r>
            <a:r>
              <a:rPr sz="3200" dirty="0">
                <a:latin typeface="Times New Roman" panose="02020603050405020304" pitchFamily="18" charset="0"/>
                <a:cs typeface="Times New Roman" panose="02020603050405020304" pitchFamily="18" charset="0"/>
              </a:rPr>
              <a:t>boundaries</a:t>
            </a:r>
            <a:r>
              <a:rPr sz="3200" spc="-3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of</a:t>
            </a:r>
            <a:r>
              <a:rPr sz="3200" spc="-20" dirty="0">
                <a:latin typeface="Times New Roman" panose="02020603050405020304" pitchFamily="18" charset="0"/>
                <a:cs typeface="Times New Roman" panose="02020603050405020304" pitchFamily="18" charset="0"/>
              </a:rPr>
              <a:t> </a:t>
            </a:r>
            <a:r>
              <a:rPr sz="3200" dirty="0">
                <a:latin typeface="Times New Roman" panose="02020603050405020304" pitchFamily="18" charset="0"/>
                <a:cs typeface="Times New Roman" panose="02020603050405020304" pitchFamily="18" charset="0"/>
              </a:rPr>
              <a:t>the </a:t>
            </a:r>
            <a:r>
              <a:rPr sz="3200" spc="-10" dirty="0">
                <a:latin typeface="Times New Roman" panose="02020603050405020304" pitchFamily="18" charset="0"/>
                <a:cs typeface="Times New Roman" panose="02020603050405020304" pitchFamily="18" charset="0"/>
              </a:rPr>
              <a:t>system</a:t>
            </a:r>
            <a:r>
              <a:rPr lang="en-US" sz="3200" spc="-1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the conceptual or physical limits that define what is inside a system and what is outside in its environment)</a:t>
            </a:r>
            <a:r>
              <a:rPr sz="3200" spc="-10" dirty="0">
                <a:latin typeface="Times New Roman" panose="02020603050405020304" pitchFamily="18" charset="0"/>
                <a:cs typeface="Times New Roman" panose="02020603050405020304" pitchFamily="18" charset="0"/>
              </a:rPr>
              <a:t>.</a:t>
            </a:r>
            <a:endParaRPr sz="3200" dirty="0">
              <a:latin typeface="Times New Roman" panose="02020603050405020304" pitchFamily="18" charset="0"/>
              <a:cs typeface="Times New Roman" panose="02020603050405020304" pitchFamily="18" charset="0"/>
            </a:endParaRPr>
          </a:p>
          <a:p>
            <a:pPr marL="756285" marR="5080" indent="-287020" algn="just">
              <a:lnSpc>
                <a:spcPct val="100000"/>
              </a:lnSpc>
              <a:spcBef>
                <a:spcPts val="675"/>
              </a:spcBef>
            </a:pPr>
            <a:r>
              <a:rPr sz="2800" dirty="0">
                <a:latin typeface="Times New Roman" panose="02020603050405020304" pitchFamily="18" charset="0"/>
                <a:cs typeface="Times New Roman" panose="02020603050405020304" pitchFamily="18" charset="0"/>
              </a:rPr>
              <a:t>–</a:t>
            </a:r>
            <a:r>
              <a:rPr sz="2800" spc="1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important</a:t>
            </a:r>
            <a:r>
              <a:rPr sz="2800" spc="5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distinguish</a:t>
            </a:r>
            <a:r>
              <a:rPr sz="2800" spc="50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what</a:t>
            </a:r>
            <a:r>
              <a:rPr sz="2800" spc="5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509"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49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system </a:t>
            </a:r>
            <a:r>
              <a:rPr sz="2800" dirty="0">
                <a:latin typeface="Times New Roman" panose="02020603050405020304" pitchFamily="18" charset="0"/>
                <a:cs typeface="Times New Roman" panose="02020603050405020304" pitchFamily="18" charset="0"/>
              </a:rPr>
              <a:t>and</a:t>
            </a:r>
            <a:r>
              <a:rPr sz="2800" spc="3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what</a:t>
            </a:r>
            <a:r>
              <a:rPr sz="2800" spc="3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is</a:t>
            </a:r>
            <a:r>
              <a:rPr sz="2800" spc="3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30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system’s</a:t>
            </a:r>
            <a:r>
              <a:rPr sz="2800" spc="32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environment</a:t>
            </a:r>
            <a:r>
              <a:rPr sz="2800" spc="3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3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order</a:t>
            </a:r>
            <a:r>
              <a:rPr sz="2800" spc="315" dirty="0">
                <a:latin typeface="Times New Roman" panose="02020603050405020304" pitchFamily="18" charset="0"/>
                <a:cs typeface="Times New Roman" panose="02020603050405020304" pitchFamily="18" charset="0"/>
              </a:rPr>
              <a:t> </a:t>
            </a:r>
            <a:r>
              <a:rPr sz="2800" spc="-25" dirty="0">
                <a:latin typeface="Times New Roman" panose="02020603050405020304" pitchFamily="18" charset="0"/>
                <a:cs typeface="Times New Roman" panose="02020603050405020304" pitchFamily="18" charset="0"/>
              </a:rPr>
              <a:t>to </a:t>
            </a:r>
            <a:r>
              <a:rPr sz="2800" dirty="0">
                <a:latin typeface="Times New Roman" panose="02020603050405020304" pitchFamily="18" charset="0"/>
                <a:cs typeface="Times New Roman" panose="02020603050405020304" pitchFamily="18" charset="0"/>
              </a:rPr>
              <a:t>limit</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costs</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a:t>
            </a:r>
            <a:r>
              <a:rPr sz="2800" spc="-3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times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needed</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for</a:t>
            </a:r>
            <a:r>
              <a:rPr sz="2800" spc="-15" dirty="0">
                <a:latin typeface="Times New Roman" panose="02020603050405020304" pitchFamily="18" charset="0"/>
                <a:cs typeface="Times New Roman" panose="02020603050405020304" pitchFamily="18" charset="0"/>
              </a:rPr>
              <a:t> </a:t>
            </a:r>
            <a:r>
              <a:rPr sz="2800" spc="-10" dirty="0">
                <a:latin typeface="Times New Roman" panose="02020603050405020304" pitchFamily="18" charset="0"/>
                <a:cs typeface="Times New Roman" panose="02020603050405020304" pitchFamily="18" charset="0"/>
              </a:rPr>
              <a:t>analysis.</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AF8B8-7694-D385-ADCD-2E02B96EB1ED}"/>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C7F1940-6A37-843B-F235-7D2E59700EA4}"/>
              </a:ext>
            </a:extLst>
          </p:cNvPr>
          <p:cNvSpPr txBox="1">
            <a:spLocks noGrp="1"/>
          </p:cNvSpPr>
          <p:nvPr>
            <p:ph type="title"/>
          </p:nvPr>
        </p:nvSpPr>
        <p:spPr>
          <a:prstGeom prst="rect">
            <a:avLst/>
          </a:prstGeom>
        </p:spPr>
        <p:txBody>
          <a:bodyPr vert="horz" wrap="square" lIns="0" tIns="629031" rIns="0" bIns="0" rtlCol="0">
            <a:spAutoFit/>
          </a:bodyPr>
          <a:lstStyle/>
          <a:p>
            <a:pPr marL="1946910">
              <a:lnSpc>
                <a:spcPct val="100000"/>
              </a:lnSpc>
              <a:spcBef>
                <a:spcPts val="105"/>
              </a:spcBef>
            </a:pPr>
            <a:r>
              <a:rPr sz="4400" b="1" dirty="0">
                <a:solidFill>
                  <a:srgbClr val="000000"/>
                </a:solidFill>
                <a:latin typeface="Times New Roman"/>
                <a:cs typeface="Times New Roman"/>
              </a:rPr>
              <a:t>Context</a:t>
            </a:r>
            <a:r>
              <a:rPr sz="4400" b="1" spc="-40" dirty="0">
                <a:solidFill>
                  <a:srgbClr val="000000"/>
                </a:solidFill>
                <a:latin typeface="Times New Roman"/>
                <a:cs typeface="Times New Roman"/>
              </a:rPr>
              <a:t> </a:t>
            </a:r>
            <a:r>
              <a:rPr sz="4400" b="1" spc="-10" dirty="0">
                <a:solidFill>
                  <a:srgbClr val="000000"/>
                </a:solidFill>
                <a:latin typeface="Times New Roman"/>
                <a:cs typeface="Times New Roman"/>
              </a:rPr>
              <a:t>models</a:t>
            </a:r>
            <a:r>
              <a:rPr lang="en-US" sz="4400" b="1" spc="-10" dirty="0">
                <a:solidFill>
                  <a:srgbClr val="000000"/>
                </a:solidFill>
                <a:latin typeface="Times New Roman"/>
                <a:cs typeface="Times New Roman"/>
              </a:rPr>
              <a:t> cont.</a:t>
            </a:r>
            <a:endParaRPr sz="4400" b="1" dirty="0">
              <a:latin typeface="Times New Roman"/>
              <a:cs typeface="Times New Roman"/>
            </a:endParaRPr>
          </a:p>
        </p:txBody>
      </p:sp>
      <p:sp>
        <p:nvSpPr>
          <p:cNvPr id="4" name="object 4">
            <a:extLst>
              <a:ext uri="{FF2B5EF4-FFF2-40B4-BE49-F238E27FC236}">
                <a16:creationId xmlns:a16="http://schemas.microsoft.com/office/drawing/2014/main" id="{09687885-6F59-EC62-3927-CF598AA4C25F}"/>
              </a:ext>
            </a:extLst>
          </p:cNvPr>
          <p:cNvSpPr txBox="1"/>
          <p:nvPr/>
        </p:nvSpPr>
        <p:spPr>
          <a:xfrm>
            <a:off x="38100" y="1491632"/>
            <a:ext cx="9067800" cy="5399555"/>
          </a:xfrm>
          <a:prstGeom prst="rect">
            <a:avLst/>
          </a:prstGeom>
        </p:spPr>
        <p:txBody>
          <a:bodyPr vert="horz" wrap="square" lIns="0" tIns="13335" rIns="0" bIns="0"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context model</a:t>
            </a:r>
            <a:r>
              <a:rPr lang="en-US" sz="2400" dirty="0">
                <a:latin typeface="Times New Roman" panose="02020603050405020304" pitchFamily="18" charset="0"/>
                <a:cs typeface="Times New Roman" panose="02020603050405020304" pitchFamily="18" charset="0"/>
              </a:rPr>
              <a:t> describes the </a:t>
            </a:r>
            <a:r>
              <a:rPr lang="en-US" sz="2400" b="1" dirty="0">
                <a:latin typeface="Times New Roman" panose="02020603050405020304" pitchFamily="18" charset="0"/>
                <a:cs typeface="Times New Roman" panose="02020603050405020304" pitchFamily="18" charset="0"/>
              </a:rPr>
              <a:t>operational context</a:t>
            </a:r>
            <a:r>
              <a:rPr lang="en-US" sz="2400" dirty="0">
                <a:latin typeface="Times New Roman" panose="02020603050405020304" pitchFamily="18" charset="0"/>
                <a:cs typeface="Times New Roman" panose="02020603050405020304" pitchFamily="18" charset="0"/>
              </a:rPr>
              <a:t> of a system — that is, all external systems, users, and factors that influence or are influenced by the system.</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helps to </a:t>
            </a:r>
            <a:r>
              <a:rPr lang="en-US" sz="2400" b="1" dirty="0">
                <a:latin typeface="Times New Roman" panose="02020603050405020304" pitchFamily="18" charset="0"/>
                <a:cs typeface="Times New Roman" panose="02020603050405020304" pitchFamily="18" charset="0"/>
              </a:rPr>
              <a:t>understand what lies inside and outside the system boundaries (</a:t>
            </a:r>
            <a:r>
              <a:rPr lang="en-US" sz="2400" dirty="0">
                <a:latin typeface="Times New Roman" panose="02020603050405020304" pitchFamily="18" charset="0"/>
                <a:cs typeface="Times New Roman" panose="02020603050405020304" pitchFamily="18" charset="0"/>
              </a:rPr>
              <a:t>Define what is internal (the system) and external (the environment).</a:t>
            </a:r>
          </a:p>
          <a:p>
            <a:pPr marL="285750" lvl="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is usually shown as a </a:t>
            </a:r>
            <a:r>
              <a:rPr lang="en-US" sz="2400" b="1" dirty="0">
                <a:latin typeface="Times New Roman" panose="02020603050405020304" pitchFamily="18" charset="0"/>
                <a:cs typeface="Times New Roman" panose="02020603050405020304" pitchFamily="18" charset="0"/>
              </a:rPr>
              <a:t>single process (a central box)</a:t>
            </a:r>
            <a:r>
              <a:rPr lang="en-US" sz="2400" dirty="0">
                <a:latin typeface="Times New Roman" panose="02020603050405020304" pitchFamily="18" charset="0"/>
                <a:cs typeface="Times New Roman" panose="02020603050405020304" pitchFamily="18" charset="0"/>
              </a:rPr>
              <a:t> with arrows indicating </a:t>
            </a:r>
            <a:r>
              <a:rPr lang="en-US" sz="2400" b="1" dirty="0">
                <a:latin typeface="Times New Roman" panose="02020603050405020304" pitchFamily="18" charset="0"/>
                <a:cs typeface="Times New Roman" panose="02020603050405020304" pitchFamily="18" charset="0"/>
              </a:rPr>
              <a:t>data or control flow</a:t>
            </a:r>
            <a:r>
              <a:rPr lang="en-US" sz="2400" dirty="0">
                <a:latin typeface="Times New Roman" panose="02020603050405020304" pitchFamily="18" charset="0"/>
                <a:cs typeface="Times New Roman" panose="02020603050405020304" pitchFamily="18" charset="0"/>
              </a:rPr>
              <a:t> between the system and external entities.</a:t>
            </a:r>
          </a:p>
          <a:p>
            <a:pPr marL="285750" lvl="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Its purpose:</a:t>
            </a:r>
          </a:p>
          <a:p>
            <a:pPr marL="285750" lvl="8" indent="-285750" algn="l">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clarify system boundaries</a:t>
            </a:r>
            <a:r>
              <a:rPr lang="en-US" sz="2200" dirty="0">
                <a:latin typeface="Times New Roman" panose="02020603050405020304" pitchFamily="18" charset="0"/>
                <a:cs typeface="Times New Roman" panose="02020603050405020304" pitchFamily="18" charset="0"/>
              </a:rPr>
              <a:t> — what the system will and will not do.</a:t>
            </a:r>
          </a:p>
          <a:p>
            <a:pPr marL="285750" lvl="8" indent="-285750" algn="l">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identify all external interfaces</a:t>
            </a:r>
            <a:r>
              <a:rPr lang="en-US" sz="2200" dirty="0">
                <a:latin typeface="Times New Roman" panose="02020603050405020304" pitchFamily="18" charset="0"/>
                <a:cs typeface="Times New Roman" panose="02020603050405020304" pitchFamily="18" charset="0"/>
              </a:rPr>
              <a:t> and interactions.</a:t>
            </a:r>
          </a:p>
          <a:p>
            <a:pPr marL="285750" lvl="8" indent="-285750" algn="l">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communicate scope and dependencies</a:t>
            </a:r>
            <a:r>
              <a:rPr lang="en-US" sz="2200" dirty="0">
                <a:latin typeface="Times New Roman" panose="02020603050405020304" pitchFamily="18" charset="0"/>
                <a:cs typeface="Times New Roman" panose="02020603050405020304" pitchFamily="18" charset="0"/>
              </a:rPr>
              <a:t> to stakeholders.</a:t>
            </a:r>
          </a:p>
          <a:p>
            <a:pPr marL="285750" lvl="8" indent="-285750" algn="l">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To </a:t>
            </a:r>
            <a:r>
              <a:rPr lang="en-US" sz="2200" b="1" dirty="0">
                <a:latin typeface="Times New Roman" panose="02020603050405020304" pitchFamily="18" charset="0"/>
                <a:cs typeface="Times New Roman" panose="02020603050405020304" pitchFamily="18" charset="0"/>
              </a:rPr>
              <a:t>serve as a foundation</a:t>
            </a:r>
            <a:r>
              <a:rPr lang="en-US" sz="2200" dirty="0">
                <a:latin typeface="Times New Roman" panose="02020603050405020304" pitchFamily="18" charset="0"/>
                <a:cs typeface="Times New Roman" panose="02020603050405020304" pitchFamily="18" charset="0"/>
              </a:rPr>
              <a:t> for requirement elicitation and system architecture design.</a:t>
            </a:r>
          </a:p>
        </p:txBody>
      </p:sp>
    </p:spTree>
    <p:extLst>
      <p:ext uri="{BB962C8B-B14F-4D97-AF65-F5344CB8AC3E}">
        <p14:creationId xmlns:p14="http://schemas.microsoft.com/office/powerpoint/2010/main" val="416279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2F59A-6964-8736-3345-DCB11E4CB52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133E221-F961-2847-602A-24819AA43825}"/>
              </a:ext>
            </a:extLst>
          </p:cNvPr>
          <p:cNvSpPr txBox="1">
            <a:spLocks noGrp="1"/>
          </p:cNvSpPr>
          <p:nvPr>
            <p:ph type="title"/>
          </p:nvPr>
        </p:nvSpPr>
        <p:spPr>
          <a:prstGeom prst="rect">
            <a:avLst/>
          </a:prstGeom>
        </p:spPr>
        <p:txBody>
          <a:bodyPr vert="horz" wrap="square" lIns="0" tIns="629031" rIns="0" bIns="0" rtlCol="0">
            <a:spAutoFit/>
          </a:bodyPr>
          <a:lstStyle/>
          <a:p>
            <a:pPr marL="1946910">
              <a:lnSpc>
                <a:spcPct val="100000"/>
              </a:lnSpc>
              <a:spcBef>
                <a:spcPts val="105"/>
              </a:spcBef>
            </a:pPr>
            <a:r>
              <a:rPr sz="4400" b="1" dirty="0">
                <a:solidFill>
                  <a:srgbClr val="000000"/>
                </a:solidFill>
                <a:latin typeface="Times New Roman" panose="02020603050405020304" pitchFamily="18" charset="0"/>
                <a:cs typeface="Times New Roman" panose="02020603050405020304" pitchFamily="18" charset="0"/>
              </a:rPr>
              <a:t>Context</a:t>
            </a:r>
            <a:r>
              <a:rPr sz="4400" b="1" spc="-40" dirty="0">
                <a:solidFill>
                  <a:srgbClr val="000000"/>
                </a:solidFill>
                <a:latin typeface="Times New Roman" panose="02020603050405020304" pitchFamily="18" charset="0"/>
                <a:cs typeface="Times New Roman" panose="02020603050405020304" pitchFamily="18" charset="0"/>
              </a:rPr>
              <a:t> </a:t>
            </a:r>
            <a:r>
              <a:rPr sz="4400" b="1" spc="-10" dirty="0">
                <a:solidFill>
                  <a:srgbClr val="000000"/>
                </a:solidFill>
                <a:latin typeface="Times New Roman" panose="02020603050405020304" pitchFamily="18" charset="0"/>
                <a:cs typeface="Times New Roman" panose="02020603050405020304" pitchFamily="18" charset="0"/>
              </a:rPr>
              <a:t>models</a:t>
            </a:r>
            <a:r>
              <a:rPr lang="en-US" sz="4400" b="1" spc="-10" dirty="0">
                <a:solidFill>
                  <a:srgbClr val="000000"/>
                </a:solidFill>
                <a:latin typeface="Times New Roman" panose="02020603050405020304" pitchFamily="18" charset="0"/>
                <a:cs typeface="Times New Roman" panose="02020603050405020304" pitchFamily="18" charset="0"/>
              </a:rPr>
              <a:t> cont.</a:t>
            </a:r>
            <a:endParaRPr sz="44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53B793C7-3A32-821E-6B13-569CC0450F62}"/>
              </a:ext>
            </a:extLst>
          </p:cNvPr>
          <p:cNvGraphicFramePr>
            <a:graphicFrameLocks noGrp="1"/>
          </p:cNvGraphicFramePr>
          <p:nvPr>
            <p:extLst>
              <p:ext uri="{D42A27DB-BD31-4B8C-83A1-F6EECF244321}">
                <p14:modId xmlns:p14="http://schemas.microsoft.com/office/powerpoint/2010/main" val="2753389439"/>
              </p:ext>
            </p:extLst>
          </p:nvPr>
        </p:nvGraphicFramePr>
        <p:xfrm>
          <a:off x="76200" y="2408534"/>
          <a:ext cx="8915400" cy="4008156"/>
        </p:xfrm>
        <a:graphic>
          <a:graphicData uri="http://schemas.openxmlformats.org/drawingml/2006/table">
            <a:tbl>
              <a:tblPr firstRow="1" firstCol="1" bandRow="1">
                <a:tableStyleId>{5C22544A-7EE6-4342-B048-85BDC9FD1C3A}</a:tableStyleId>
              </a:tblPr>
              <a:tblGrid>
                <a:gridCol w="4457700">
                  <a:extLst>
                    <a:ext uri="{9D8B030D-6E8A-4147-A177-3AD203B41FA5}">
                      <a16:colId xmlns:a16="http://schemas.microsoft.com/office/drawing/2014/main" val="976819493"/>
                    </a:ext>
                  </a:extLst>
                </a:gridCol>
                <a:gridCol w="4457700">
                  <a:extLst>
                    <a:ext uri="{9D8B030D-6E8A-4147-A177-3AD203B41FA5}">
                      <a16:colId xmlns:a16="http://schemas.microsoft.com/office/drawing/2014/main" val="2920239281"/>
                    </a:ext>
                  </a:extLst>
                </a:gridCol>
              </a:tblGrid>
              <a:tr h="353920">
                <a:tc>
                  <a:txBody>
                    <a:bodyPr/>
                    <a:lstStyle/>
                    <a:p>
                      <a:pPr marL="283210" marR="0">
                        <a:lnSpc>
                          <a:spcPts val="1200"/>
                        </a:lnSpc>
                        <a:buNone/>
                      </a:pPr>
                      <a:r>
                        <a:rPr lang="en-US" sz="2000" kern="100" dirty="0">
                          <a:effectLst/>
                          <a:latin typeface="Times New Roman" panose="02020603050405020304" pitchFamily="18" charset="0"/>
                          <a:cs typeface="Times New Roman" panose="02020603050405020304" pitchFamily="18" charset="0"/>
                        </a:rPr>
                        <a:t>Element</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ts val="1200"/>
                        </a:lnSpc>
                        <a:buNone/>
                      </a:pPr>
                      <a:r>
                        <a:rPr lang="en-US" sz="2000" kern="100">
                          <a:effectLst/>
                          <a:latin typeface="Times New Roman" panose="02020603050405020304" pitchFamily="18" charset="0"/>
                          <a:cs typeface="Times New Roman" panose="02020603050405020304" pitchFamily="18" charset="0"/>
                        </a:rPr>
                        <a:t>Description</a:t>
                      </a:r>
                      <a:endParaRPr lang="en-US"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582077013"/>
                  </a:ext>
                </a:extLst>
              </a:tr>
              <a:tr h="851377">
                <a:tc>
                  <a:txBody>
                    <a:bodyPr/>
                    <a:lstStyle/>
                    <a:p>
                      <a:pPr marL="283210" marR="0">
                        <a:lnSpc>
                          <a:spcPts val="1200"/>
                        </a:lnSpc>
                        <a:buNone/>
                      </a:pPr>
                      <a:r>
                        <a:rPr lang="en-US" sz="2000" kern="100" dirty="0">
                          <a:effectLst/>
                          <a:latin typeface="Times New Roman" panose="02020603050405020304" pitchFamily="18" charset="0"/>
                          <a:cs typeface="Times New Roman" panose="02020603050405020304" pitchFamily="18" charset="0"/>
                        </a:rPr>
                        <a:t>System (Process)</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8000"/>
                        </a:lnSpc>
                        <a:buNone/>
                      </a:pPr>
                      <a:r>
                        <a:rPr lang="en-US" sz="2000" kern="100" dirty="0">
                          <a:effectLst/>
                          <a:latin typeface="Times New Roman" panose="02020603050405020304" pitchFamily="18" charset="0"/>
                          <a:cs typeface="Times New Roman" panose="02020603050405020304" pitchFamily="18" charset="0"/>
                        </a:rPr>
                        <a:t>The main system being developed (represented as a single box).</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480787302"/>
                  </a:ext>
                </a:extLst>
              </a:tr>
              <a:tr h="851377">
                <a:tc>
                  <a:txBody>
                    <a:bodyPr/>
                    <a:lstStyle/>
                    <a:p>
                      <a:pPr marL="283210" marR="0">
                        <a:lnSpc>
                          <a:spcPts val="1200"/>
                        </a:lnSpc>
                        <a:buNone/>
                      </a:pPr>
                      <a:r>
                        <a:rPr lang="en-US" sz="2000" kern="100" dirty="0">
                          <a:effectLst/>
                          <a:latin typeface="Times New Roman" panose="02020603050405020304" pitchFamily="18" charset="0"/>
                          <a:cs typeface="Times New Roman" panose="02020603050405020304" pitchFamily="18" charset="0"/>
                        </a:rPr>
                        <a:t>External Entities (Actors)</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8000"/>
                        </a:lnSpc>
                        <a:buNone/>
                      </a:pPr>
                      <a:r>
                        <a:rPr lang="en-US" sz="2000" kern="100" dirty="0">
                          <a:effectLst/>
                          <a:latin typeface="Times New Roman" panose="02020603050405020304" pitchFamily="18" charset="0"/>
                          <a:cs typeface="Times New Roman" panose="02020603050405020304" pitchFamily="18" charset="0"/>
                        </a:rPr>
                        <a:t>People, other systems, or organizations interacting with the system.</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3361663126"/>
                  </a:ext>
                </a:extLst>
              </a:tr>
              <a:tr h="1100105">
                <a:tc>
                  <a:txBody>
                    <a:bodyPr/>
                    <a:lstStyle/>
                    <a:p>
                      <a:pPr marL="283210" marR="0">
                        <a:lnSpc>
                          <a:spcPts val="1200"/>
                        </a:lnSpc>
                        <a:buNone/>
                      </a:pPr>
                      <a:r>
                        <a:rPr lang="en-US" sz="2000" kern="100">
                          <a:effectLst/>
                          <a:latin typeface="Times New Roman" panose="02020603050405020304" pitchFamily="18" charset="0"/>
                          <a:cs typeface="Times New Roman" panose="02020603050405020304" pitchFamily="18" charset="0"/>
                        </a:rPr>
                        <a:t>Data Flows / Interfaces</a:t>
                      </a:r>
                      <a:endParaRPr lang="en-US"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8000"/>
                        </a:lnSpc>
                        <a:buNone/>
                      </a:pPr>
                      <a:r>
                        <a:rPr lang="en-US" sz="2000" kern="100" dirty="0">
                          <a:effectLst/>
                          <a:latin typeface="Times New Roman" panose="02020603050405020304" pitchFamily="18" charset="0"/>
                          <a:cs typeface="Times New Roman" panose="02020603050405020304" pitchFamily="18" charset="0"/>
                        </a:rPr>
                        <a:t>Information, messages, or material exchanged between the system and external entities.</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4198885040"/>
                  </a:ext>
                </a:extLst>
              </a:tr>
              <a:tr h="851377">
                <a:tc>
                  <a:txBody>
                    <a:bodyPr/>
                    <a:lstStyle/>
                    <a:p>
                      <a:pPr marL="283210" marR="0">
                        <a:lnSpc>
                          <a:spcPts val="1200"/>
                        </a:lnSpc>
                        <a:buNone/>
                      </a:pPr>
                      <a:r>
                        <a:rPr lang="en-US" sz="2000" kern="100">
                          <a:effectLst/>
                          <a:latin typeface="Times New Roman" panose="02020603050405020304" pitchFamily="18" charset="0"/>
                          <a:cs typeface="Times New Roman" panose="02020603050405020304" pitchFamily="18" charset="0"/>
                        </a:rPr>
                        <a:t>Boundaries</a:t>
                      </a:r>
                      <a:endParaRPr lang="en-US" sz="20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tc>
                  <a:txBody>
                    <a:bodyPr/>
                    <a:lstStyle/>
                    <a:p>
                      <a:pPr marL="283210" marR="0">
                        <a:lnSpc>
                          <a:spcPct val="108000"/>
                        </a:lnSpc>
                        <a:buNone/>
                      </a:pPr>
                      <a:r>
                        <a:rPr lang="en-US" sz="2000" kern="100" dirty="0">
                          <a:effectLst/>
                          <a:latin typeface="Times New Roman" panose="02020603050405020304" pitchFamily="18" charset="0"/>
                          <a:cs typeface="Times New Roman" panose="02020603050405020304" pitchFamily="18" charset="0"/>
                        </a:rPr>
                        <a:t>Define what is internal (the system) and external (the environment).</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599584618"/>
                  </a:ext>
                </a:extLst>
              </a:tr>
            </a:tbl>
          </a:graphicData>
        </a:graphic>
      </p:graphicFrame>
      <p:sp>
        <p:nvSpPr>
          <p:cNvPr id="5" name="Rectangle 1">
            <a:extLst>
              <a:ext uri="{FF2B5EF4-FFF2-40B4-BE49-F238E27FC236}">
                <a16:creationId xmlns:a16="http://schemas.microsoft.com/office/drawing/2014/main" id="{54FF6E62-66E0-EA5F-8D6B-C8738A4BA0C2}"/>
              </a:ext>
            </a:extLst>
          </p:cNvPr>
          <p:cNvSpPr>
            <a:spLocks noChangeArrowheads="1"/>
          </p:cNvSpPr>
          <p:nvPr/>
        </p:nvSpPr>
        <p:spPr bwMode="auto">
          <a:xfrm>
            <a:off x="2362200" y="1667641"/>
            <a:ext cx="5048177"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 Elements of a Context Model</a:t>
            </a: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727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795B8-9F75-355E-9EF7-22333245C2A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D7BB46B-9C09-8D96-82DD-068EFA5739DD}"/>
              </a:ext>
            </a:extLst>
          </p:cNvPr>
          <p:cNvSpPr txBox="1">
            <a:spLocks noGrp="1"/>
          </p:cNvSpPr>
          <p:nvPr>
            <p:ph type="title"/>
          </p:nvPr>
        </p:nvSpPr>
        <p:spPr>
          <a:prstGeom prst="rect">
            <a:avLst/>
          </a:prstGeom>
        </p:spPr>
        <p:txBody>
          <a:bodyPr vert="horz" wrap="square" lIns="0" tIns="629031" rIns="0" bIns="0" rtlCol="0">
            <a:spAutoFit/>
          </a:bodyPr>
          <a:lstStyle/>
          <a:p>
            <a:pPr marL="1946910">
              <a:lnSpc>
                <a:spcPct val="100000"/>
              </a:lnSpc>
              <a:spcBef>
                <a:spcPts val="105"/>
              </a:spcBef>
            </a:pPr>
            <a:r>
              <a:rPr sz="4400" b="0" dirty="0">
                <a:solidFill>
                  <a:srgbClr val="000000"/>
                </a:solidFill>
                <a:latin typeface="Times New Roman" panose="02020603050405020304" pitchFamily="18" charset="0"/>
                <a:cs typeface="Times New Roman" panose="02020603050405020304" pitchFamily="18" charset="0"/>
              </a:rPr>
              <a:t>Context</a:t>
            </a:r>
            <a:r>
              <a:rPr sz="4400" b="0" spc="-40" dirty="0">
                <a:solidFill>
                  <a:srgbClr val="000000"/>
                </a:solidFill>
                <a:latin typeface="Times New Roman" panose="02020603050405020304" pitchFamily="18" charset="0"/>
                <a:cs typeface="Times New Roman" panose="02020603050405020304" pitchFamily="18" charset="0"/>
              </a:rPr>
              <a:t> </a:t>
            </a:r>
            <a:r>
              <a:rPr sz="4400" b="0" spc="-10" dirty="0">
                <a:solidFill>
                  <a:srgbClr val="000000"/>
                </a:solidFill>
                <a:latin typeface="Times New Roman" panose="02020603050405020304" pitchFamily="18" charset="0"/>
                <a:cs typeface="Times New Roman" panose="02020603050405020304" pitchFamily="18" charset="0"/>
              </a:rPr>
              <a:t>models</a:t>
            </a:r>
            <a:r>
              <a:rPr lang="en-US" sz="4400" b="0" spc="-10" dirty="0">
                <a:solidFill>
                  <a:srgbClr val="000000"/>
                </a:solidFill>
                <a:latin typeface="Times New Roman" panose="02020603050405020304" pitchFamily="18" charset="0"/>
                <a:cs typeface="Times New Roman" panose="02020603050405020304" pitchFamily="18" charset="0"/>
              </a:rPr>
              <a:t> cont.</a:t>
            </a:r>
            <a:endParaRPr sz="44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E53F154C-E246-414C-FACF-23FAEE1EBEB4}"/>
              </a:ext>
            </a:extLst>
          </p:cNvPr>
          <p:cNvSpPr>
            <a:spLocks noChangeArrowheads="1"/>
          </p:cNvSpPr>
          <p:nvPr/>
        </p:nvSpPr>
        <p:spPr bwMode="auto">
          <a:xfrm>
            <a:off x="533400" y="1753344"/>
            <a:ext cx="754380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Example of a Context Model : </a:t>
            </a:r>
            <a:r>
              <a:rPr lang="en-US" sz="2600" kern="100" dirty="0">
                <a:effectLst/>
                <a:latin typeface="Times New Roman" panose="02020603050405020304" pitchFamily="18" charset="0"/>
                <a:ea typeface="等线" panose="02010600030101010101" pitchFamily="2" charset="-122"/>
                <a:cs typeface="Times New Roman" panose="02020603050405020304" pitchFamily="18" charset="0"/>
              </a:rPr>
              <a:t>A </a:t>
            </a:r>
            <a:r>
              <a:rPr lang="en-US" sz="2600" i="1" kern="100" dirty="0">
                <a:effectLst/>
                <a:latin typeface="Times New Roman" panose="02020603050405020304" pitchFamily="18" charset="0"/>
                <a:ea typeface="等线" panose="02010600030101010101" pitchFamily="2" charset="-122"/>
                <a:cs typeface="Times New Roman" panose="02020603050405020304" pitchFamily="18" charset="0"/>
              </a:rPr>
              <a:t>University Course Registration System</a:t>
            </a:r>
            <a:endParaRPr lang="en-US" sz="2600" kern="100" dirty="0">
              <a:effectLst/>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960DFB5E-63D1-95D0-4ACF-284B32994381}"/>
              </a:ext>
            </a:extLst>
          </p:cNvPr>
          <p:cNvSpPr txBox="1"/>
          <p:nvPr/>
        </p:nvSpPr>
        <p:spPr>
          <a:xfrm>
            <a:off x="0" y="2645896"/>
            <a:ext cx="8926286" cy="4733860"/>
          </a:xfrm>
          <a:prstGeom prst="rect">
            <a:avLst/>
          </a:prstGeom>
          <a:noFill/>
        </p:spPr>
        <p:txBody>
          <a:bodyPr wrap="square" numCol="2">
            <a:spAutoFit/>
          </a:bodyPr>
          <a:lstStyle/>
          <a:p>
            <a:pPr marL="283210" marR="0">
              <a:lnSpc>
                <a:spcPct val="108000"/>
              </a:lnSpc>
              <a:buNone/>
            </a:pPr>
            <a:r>
              <a:rPr lang="en-US" sz="2000" b="1" kern="100" dirty="0">
                <a:effectLst/>
                <a:latin typeface="Times New Roman" panose="02020603050405020304" pitchFamily="18" charset="0"/>
                <a:ea typeface="等线" panose="02010600030101010101" pitchFamily="2" charset="-122"/>
                <a:cs typeface="Times New Roman" panose="02020603050405020304" pitchFamily="18" charset="0"/>
              </a:rPr>
              <a:t>External entities:</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Students</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Academic Staff</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Payment Gateway</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University Database</a:t>
            </a:r>
          </a:p>
          <a:p>
            <a:pPr marL="283210" marR="0">
              <a:lnSpc>
                <a:spcPct val="108000"/>
              </a:lnSpc>
              <a:buNone/>
            </a:pPr>
            <a:r>
              <a:rPr lang="en-US" sz="2000" b="1" kern="100" dirty="0">
                <a:effectLst/>
                <a:latin typeface="Times New Roman" panose="02020603050405020304" pitchFamily="18" charset="0"/>
                <a:ea typeface="等线" panose="02010600030101010101" pitchFamily="2" charset="-122"/>
                <a:cs typeface="Times New Roman" panose="02020603050405020304" pitchFamily="18" charset="0"/>
              </a:rPr>
              <a:t>Data Flows:</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Students → Submit registration requests</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System → Sends payment requests to gateway</a:t>
            </a:r>
          </a:p>
          <a:p>
            <a:pPr marR="0" lvl="0">
              <a:lnSpc>
                <a:spcPct val="108000"/>
              </a:lnSpc>
              <a:buSzPts val="1000"/>
              <a:tabLst>
                <a:tab pos="457200" algn="l"/>
              </a:tabLst>
            </a:pP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marR="0" lvl="0">
              <a:lnSpc>
                <a:spcPct val="108000"/>
              </a:lnSpc>
              <a:buSzPts val="1000"/>
              <a:tabLst>
                <a:tab pos="457200" algn="l"/>
              </a:tabLst>
            </a:pPr>
            <a:endParaRPr lang="en-US" sz="2000" kern="100" dirty="0">
              <a:latin typeface="Times New Roman" panose="02020603050405020304" pitchFamily="18" charset="0"/>
              <a:ea typeface="等线" panose="02010600030101010101" pitchFamily="2" charset="-122"/>
              <a:cs typeface="Times New Roman" panose="02020603050405020304" pitchFamily="18" charset="0"/>
            </a:endParaRPr>
          </a:p>
          <a:p>
            <a:pPr marL="342900" marR="0" lvl="0" indent="-342900">
              <a:lnSpc>
                <a:spcPct val="108000"/>
              </a:lnSpc>
              <a:buSzPts val="1000"/>
              <a:buFont typeface="Symbol" panose="05050102010706020507" pitchFamily="18" charset="2"/>
              <a:buChar char=""/>
              <a:tabLst>
                <a:tab pos="457200" algn="l"/>
              </a:tabLst>
            </a:pP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marL="342900" marR="0" lvl="0" indent="-342900">
              <a:lnSpc>
                <a:spcPct val="108000"/>
              </a:lnSpc>
              <a:buSzPts val="1000"/>
              <a:buFont typeface="Symbol" panose="05050102010706020507" pitchFamily="18" charset="2"/>
              <a:buChar char=""/>
              <a:tabLst>
                <a:tab pos="457200" algn="l"/>
              </a:tabLst>
            </a:pPr>
            <a:endParaRPr lang="en-US" sz="2000" kern="100" dirty="0">
              <a:latin typeface="Times New Roman" panose="02020603050405020304" pitchFamily="18" charset="0"/>
              <a:ea typeface="等线" panose="02010600030101010101" pitchFamily="2" charset="-122"/>
              <a:cs typeface="Times New Roman" panose="02020603050405020304" pitchFamily="18" charset="0"/>
            </a:endParaRP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Gateway → Sends payment confirmation</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Staff → Upload course information</a:t>
            </a:r>
          </a:p>
          <a:p>
            <a:pPr marL="283210" marR="0">
              <a:lnSpc>
                <a:spcPct val="108000"/>
              </a:lnSpc>
              <a:buNone/>
            </a:pP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marL="283210" marR="0">
              <a:lnSpc>
                <a:spcPct val="108000"/>
              </a:lnSpc>
              <a:buNone/>
            </a:pPr>
            <a:r>
              <a:rPr lang="en-US" sz="2000" b="1" kern="100" dirty="0">
                <a:effectLst/>
                <a:latin typeface="Times New Roman" panose="02020603050405020304" pitchFamily="18" charset="0"/>
                <a:ea typeface="等线" panose="02010600030101010101" pitchFamily="2" charset="-122"/>
                <a:cs typeface="Times New Roman" panose="02020603050405020304" pitchFamily="18" charset="0"/>
              </a:rPr>
              <a:t>In a context diagram, you would draw</a:t>
            </a: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A central box labeled </a:t>
            </a:r>
            <a:r>
              <a:rPr lang="en-US" sz="2000" i="1" kern="100" dirty="0">
                <a:effectLst/>
                <a:latin typeface="Times New Roman" panose="02020603050405020304" pitchFamily="18" charset="0"/>
                <a:ea typeface="等线" panose="02010600030101010101" pitchFamily="2" charset="-122"/>
                <a:cs typeface="Times New Roman" panose="02020603050405020304" pitchFamily="18" charset="0"/>
              </a:rPr>
              <a:t>Course Registration System</a:t>
            </a:r>
            <a:endParaRPr lang="en-US" sz="20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External entities as ovals around it</a:t>
            </a:r>
          </a:p>
          <a:p>
            <a:pPr marL="342900" marR="0" lvl="0" indent="-342900">
              <a:lnSpc>
                <a:spcPct val="108000"/>
              </a:lnSpc>
              <a:buSzPts val="1000"/>
              <a:buFont typeface="Symbol" panose="05050102010706020507" pitchFamily="18" charset="2"/>
              <a:buChar char=""/>
              <a:tabLst>
                <a:tab pos="457200" algn="l"/>
              </a:tabLst>
            </a:pPr>
            <a:r>
              <a:rPr lang="en-US" sz="2000" kern="100" dirty="0">
                <a:effectLst/>
                <a:latin typeface="Times New Roman" panose="02020603050405020304" pitchFamily="18" charset="0"/>
                <a:ea typeface="等线" panose="02010600030101010101" pitchFamily="2" charset="-122"/>
                <a:cs typeface="Times New Roman" panose="02020603050405020304" pitchFamily="18" charset="0"/>
              </a:rPr>
              <a:t>Arrows showing data flow between them</a:t>
            </a:r>
          </a:p>
        </p:txBody>
      </p:sp>
    </p:spTree>
    <p:extLst>
      <p:ext uri="{BB962C8B-B14F-4D97-AF65-F5344CB8AC3E}">
        <p14:creationId xmlns:p14="http://schemas.microsoft.com/office/powerpoint/2010/main" val="4144451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ABB3D-68E7-44B8-44FF-D7AC3248A81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ED970F5-9A53-BD98-DD2D-C7AD1C043659}"/>
              </a:ext>
            </a:extLst>
          </p:cNvPr>
          <p:cNvSpPr txBox="1">
            <a:spLocks noGrp="1"/>
          </p:cNvSpPr>
          <p:nvPr>
            <p:ph type="title"/>
          </p:nvPr>
        </p:nvSpPr>
        <p:spPr>
          <a:prstGeom prst="rect">
            <a:avLst/>
          </a:prstGeom>
        </p:spPr>
        <p:txBody>
          <a:bodyPr vert="horz" wrap="square" lIns="0" tIns="629031" rIns="0" bIns="0" rtlCol="0">
            <a:spAutoFit/>
          </a:bodyPr>
          <a:lstStyle/>
          <a:p>
            <a:pPr marL="1946910">
              <a:lnSpc>
                <a:spcPct val="100000"/>
              </a:lnSpc>
              <a:spcBef>
                <a:spcPts val="105"/>
              </a:spcBef>
            </a:pPr>
            <a:r>
              <a:rPr sz="4400" b="0" dirty="0">
                <a:solidFill>
                  <a:srgbClr val="000000"/>
                </a:solidFill>
                <a:latin typeface="Times New Roman" panose="02020603050405020304" pitchFamily="18" charset="0"/>
                <a:cs typeface="Times New Roman" panose="02020603050405020304" pitchFamily="18" charset="0"/>
              </a:rPr>
              <a:t>Context</a:t>
            </a:r>
            <a:r>
              <a:rPr sz="4400" b="0" spc="-40" dirty="0">
                <a:solidFill>
                  <a:srgbClr val="000000"/>
                </a:solidFill>
                <a:latin typeface="Times New Roman" panose="02020603050405020304" pitchFamily="18" charset="0"/>
                <a:cs typeface="Times New Roman" panose="02020603050405020304" pitchFamily="18" charset="0"/>
              </a:rPr>
              <a:t> </a:t>
            </a:r>
            <a:r>
              <a:rPr sz="4400" b="0" spc="-10" dirty="0">
                <a:solidFill>
                  <a:srgbClr val="000000"/>
                </a:solidFill>
                <a:latin typeface="Times New Roman" panose="02020603050405020304" pitchFamily="18" charset="0"/>
                <a:cs typeface="Times New Roman" panose="02020603050405020304" pitchFamily="18" charset="0"/>
              </a:rPr>
              <a:t>models</a:t>
            </a:r>
            <a:r>
              <a:rPr lang="en-US" sz="4400" b="0" spc="-10" dirty="0">
                <a:solidFill>
                  <a:srgbClr val="000000"/>
                </a:solidFill>
                <a:latin typeface="Times New Roman" panose="02020603050405020304" pitchFamily="18" charset="0"/>
                <a:cs typeface="Times New Roman" panose="02020603050405020304" pitchFamily="18" charset="0"/>
              </a:rPr>
              <a:t> cont.</a:t>
            </a:r>
            <a:endParaRPr sz="4400"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5A4D4787-D659-F2DB-F725-D05D067C26D6}"/>
              </a:ext>
            </a:extLst>
          </p:cNvPr>
          <p:cNvSpPr>
            <a:spLocks noChangeArrowheads="1"/>
          </p:cNvSpPr>
          <p:nvPr/>
        </p:nvSpPr>
        <p:spPr bwMode="auto">
          <a:xfrm>
            <a:off x="533400" y="1753344"/>
            <a:ext cx="754380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r>
              <a:rPr kumimoji="0" lang="en-US" altLang="en-US" sz="2600" b="1" i="0" u="none" strike="noStrike" cap="none" normalizeH="0" baseline="0" dirty="0">
                <a:ln>
                  <a:noFill/>
                </a:ln>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Example of a Context Model : </a:t>
            </a:r>
            <a:r>
              <a:rPr lang="en-US" sz="2600" kern="100" dirty="0">
                <a:effectLst/>
                <a:latin typeface="Times New Roman" panose="02020603050405020304" pitchFamily="18" charset="0"/>
                <a:ea typeface="等线" panose="02010600030101010101" pitchFamily="2" charset="-122"/>
                <a:cs typeface="Times New Roman" panose="02020603050405020304" pitchFamily="18" charset="0"/>
              </a:rPr>
              <a:t>A </a:t>
            </a:r>
            <a:r>
              <a:rPr lang="en-US" sz="2600" i="1" kern="100" dirty="0">
                <a:effectLst/>
                <a:latin typeface="Times New Roman" panose="02020603050405020304" pitchFamily="18" charset="0"/>
                <a:ea typeface="等线" panose="02010600030101010101" pitchFamily="2" charset="-122"/>
                <a:cs typeface="Times New Roman" panose="02020603050405020304" pitchFamily="18" charset="0"/>
              </a:rPr>
              <a:t>University Course Registration System</a:t>
            </a:r>
            <a:endParaRPr lang="en-US" sz="2600" kern="100" dirty="0">
              <a:effectLst/>
              <a:latin typeface="Times New Roman" panose="02020603050405020304" pitchFamily="18" charset="0"/>
              <a:ea typeface="等线"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1073506E-6465-0442-CBAD-D56EF751107D}"/>
              </a:ext>
            </a:extLst>
          </p:cNvPr>
          <p:cNvSpPr txBox="1"/>
          <p:nvPr/>
        </p:nvSpPr>
        <p:spPr>
          <a:xfrm>
            <a:off x="0" y="2645896"/>
            <a:ext cx="8926286" cy="3785652"/>
          </a:xfrm>
          <a:prstGeom prst="rect">
            <a:avLst/>
          </a:prstGeom>
          <a:noFill/>
        </p:spPr>
        <p:txBody>
          <a:bodyPr wrap="square" numCol="2">
            <a:spAutoFit/>
          </a:bodyPr>
          <a:lstStyle/>
          <a:p>
            <a:r>
              <a:rPr lang="en-US" sz="2400" b="1" dirty="0">
                <a:latin typeface="Times New Roman" panose="02020603050405020304" pitchFamily="18" charset="0"/>
                <a:cs typeface="Times New Roman" panose="02020603050405020304" pitchFamily="18" charset="0"/>
              </a:rPr>
              <a:t>Benefits</a:t>
            </a:r>
            <a:endParaRPr lang="en-US"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Simplifies communication with non-technical stakeholders.</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an overview before detailed design.</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to identify integration points and dependencies early.</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Acts as a baseline for requirement validation.</a:t>
            </a:r>
          </a:p>
          <a:p>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 Limitations</a:t>
            </a:r>
            <a:endParaRPr lang="en-US"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does not describe internal details of the system.</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omits timing, performance, and logic aspects.</a:t>
            </a:r>
          </a:p>
          <a:p>
            <a:pPr marL="342900" lvl="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As a static model, it must be updated regularly to reflect system evolution.</a:t>
            </a:r>
          </a:p>
          <a:p>
            <a:pPr marL="283210" marR="0">
              <a:lnSpc>
                <a:spcPct val="108000"/>
              </a:lnSpc>
              <a:buNone/>
            </a:pPr>
            <a:endParaRPr lang="en-US" sz="2400" kern="100" dirty="0">
              <a:effectLst/>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59694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51738" y="115951"/>
            <a:ext cx="7772400" cy="720725"/>
          </a:xfrm>
          <a:custGeom>
            <a:avLst/>
            <a:gdLst/>
            <a:ahLst/>
            <a:cxnLst/>
            <a:rect l="l" t="t" r="r" b="b"/>
            <a:pathLst>
              <a:path w="7772400" h="720725">
                <a:moveTo>
                  <a:pt x="7772400" y="0"/>
                </a:moveTo>
                <a:lnTo>
                  <a:pt x="0" y="0"/>
                </a:lnTo>
                <a:lnTo>
                  <a:pt x="0" y="720725"/>
                </a:lnTo>
                <a:lnTo>
                  <a:pt x="7772400" y="720725"/>
                </a:lnTo>
                <a:lnTo>
                  <a:pt x="7772400" y="0"/>
                </a:lnTo>
                <a:close/>
              </a:path>
            </a:pathLst>
          </a:custGeom>
          <a:solidFill>
            <a:srgbClr val="D5D5F5"/>
          </a:solidFill>
        </p:spPr>
        <p:txBody>
          <a:bodyPr wrap="square" lIns="0" tIns="0" rIns="0" bIns="0" rtlCol="0"/>
          <a:lstStyle/>
          <a:p>
            <a:endParaRPr/>
          </a:p>
        </p:txBody>
      </p:sp>
      <p:sp>
        <p:nvSpPr>
          <p:cNvPr id="3" name="object 3"/>
          <p:cNvSpPr txBox="1">
            <a:spLocks noGrp="1"/>
          </p:cNvSpPr>
          <p:nvPr>
            <p:ph type="title"/>
          </p:nvPr>
        </p:nvSpPr>
        <p:spPr>
          <a:xfrm>
            <a:off x="228601" y="206120"/>
            <a:ext cx="8915400" cy="566822"/>
          </a:xfrm>
          <a:prstGeom prst="rect">
            <a:avLst/>
          </a:prstGeom>
        </p:spPr>
        <p:txBody>
          <a:bodyPr vert="horz" wrap="square" lIns="0" tIns="12700" rIns="0" bIns="0" rtlCol="0">
            <a:spAutoFit/>
          </a:bodyPr>
          <a:lstStyle/>
          <a:p>
            <a:pPr marL="12700">
              <a:lnSpc>
                <a:spcPct val="100000"/>
              </a:lnSpc>
              <a:spcBef>
                <a:spcPts val="100"/>
              </a:spcBef>
            </a:pPr>
            <a:r>
              <a:rPr sz="3600" b="0" dirty="0">
                <a:solidFill>
                  <a:srgbClr val="000000"/>
                </a:solidFill>
                <a:latin typeface="Times New Roman"/>
                <a:cs typeface="Times New Roman"/>
              </a:rPr>
              <a:t>The</a:t>
            </a:r>
            <a:r>
              <a:rPr sz="3600" b="0" spc="-30" dirty="0">
                <a:solidFill>
                  <a:srgbClr val="000000"/>
                </a:solidFill>
                <a:latin typeface="Times New Roman"/>
                <a:cs typeface="Times New Roman"/>
              </a:rPr>
              <a:t> </a:t>
            </a:r>
            <a:r>
              <a:rPr sz="3600" b="0" dirty="0">
                <a:solidFill>
                  <a:srgbClr val="000000"/>
                </a:solidFill>
                <a:latin typeface="Times New Roman"/>
                <a:cs typeface="Times New Roman"/>
              </a:rPr>
              <a:t>context</a:t>
            </a:r>
            <a:r>
              <a:rPr sz="3600" b="0" spc="-45" dirty="0">
                <a:solidFill>
                  <a:srgbClr val="000000"/>
                </a:solidFill>
                <a:latin typeface="Times New Roman"/>
                <a:cs typeface="Times New Roman"/>
              </a:rPr>
              <a:t> </a:t>
            </a:r>
            <a:r>
              <a:rPr sz="3600" b="0" dirty="0">
                <a:solidFill>
                  <a:srgbClr val="000000"/>
                </a:solidFill>
                <a:latin typeface="Times New Roman"/>
                <a:cs typeface="Times New Roman"/>
              </a:rPr>
              <a:t>of</a:t>
            </a:r>
            <a:r>
              <a:rPr sz="3600" b="0" spc="-10" dirty="0">
                <a:solidFill>
                  <a:srgbClr val="000000"/>
                </a:solidFill>
                <a:latin typeface="Times New Roman"/>
                <a:cs typeface="Times New Roman"/>
              </a:rPr>
              <a:t> </a:t>
            </a:r>
            <a:r>
              <a:rPr sz="3600" b="0" dirty="0">
                <a:solidFill>
                  <a:srgbClr val="000000"/>
                </a:solidFill>
                <a:latin typeface="Times New Roman"/>
                <a:cs typeface="Times New Roman"/>
              </a:rPr>
              <a:t>an</a:t>
            </a:r>
            <a:r>
              <a:rPr sz="3600" b="0" spc="-15" dirty="0">
                <a:solidFill>
                  <a:srgbClr val="000000"/>
                </a:solidFill>
                <a:latin typeface="Times New Roman"/>
                <a:cs typeface="Times New Roman"/>
              </a:rPr>
              <a:t> </a:t>
            </a:r>
            <a:r>
              <a:rPr sz="3600" b="0" dirty="0">
                <a:solidFill>
                  <a:srgbClr val="000000"/>
                </a:solidFill>
                <a:latin typeface="Times New Roman"/>
                <a:cs typeface="Times New Roman"/>
              </a:rPr>
              <a:t>Internet</a:t>
            </a:r>
            <a:r>
              <a:rPr sz="3600" b="0" spc="-60" dirty="0">
                <a:solidFill>
                  <a:srgbClr val="000000"/>
                </a:solidFill>
                <a:latin typeface="Times New Roman"/>
                <a:cs typeface="Times New Roman"/>
              </a:rPr>
              <a:t> </a:t>
            </a:r>
            <a:r>
              <a:rPr sz="3600" b="0" dirty="0">
                <a:solidFill>
                  <a:srgbClr val="000000"/>
                </a:solidFill>
                <a:latin typeface="Times New Roman"/>
                <a:cs typeface="Times New Roman"/>
              </a:rPr>
              <a:t>prepaid</a:t>
            </a:r>
            <a:r>
              <a:rPr sz="3600" b="0" spc="-40" dirty="0">
                <a:solidFill>
                  <a:srgbClr val="000000"/>
                </a:solidFill>
                <a:latin typeface="Times New Roman"/>
                <a:cs typeface="Times New Roman"/>
              </a:rPr>
              <a:t> </a:t>
            </a:r>
            <a:r>
              <a:rPr sz="3600" b="0" dirty="0">
                <a:solidFill>
                  <a:srgbClr val="000000"/>
                </a:solidFill>
                <a:latin typeface="Times New Roman"/>
                <a:cs typeface="Times New Roman"/>
              </a:rPr>
              <a:t>card</a:t>
            </a:r>
            <a:r>
              <a:rPr sz="3600" b="0" spc="-25" dirty="0">
                <a:solidFill>
                  <a:srgbClr val="000000"/>
                </a:solidFill>
                <a:latin typeface="Times New Roman"/>
                <a:cs typeface="Times New Roman"/>
              </a:rPr>
              <a:t> </a:t>
            </a:r>
            <a:r>
              <a:rPr sz="3600" b="0" spc="-10" dirty="0">
                <a:solidFill>
                  <a:srgbClr val="000000"/>
                </a:solidFill>
                <a:latin typeface="Times New Roman"/>
                <a:cs typeface="Times New Roman"/>
              </a:rPr>
              <a:t>system</a:t>
            </a:r>
          </a:p>
        </p:txBody>
      </p:sp>
      <p:sp>
        <p:nvSpPr>
          <p:cNvPr id="41" name="object 41"/>
          <p:cNvSpPr txBox="1"/>
          <p:nvPr/>
        </p:nvSpPr>
        <p:spPr>
          <a:xfrm>
            <a:off x="32657" y="4964042"/>
            <a:ext cx="8752205" cy="1745350"/>
          </a:xfrm>
          <a:prstGeom prst="rect">
            <a:avLst/>
          </a:prstGeom>
        </p:spPr>
        <p:txBody>
          <a:bodyPr vert="horz" wrap="square" lIns="0" tIns="36830" rIns="0" bIns="0" rtlCol="0">
            <a:spAutoFit/>
          </a:bodyPr>
          <a:lstStyle/>
          <a:p>
            <a:pPr marL="299085" indent="-286385">
              <a:lnSpc>
                <a:spcPct val="100000"/>
              </a:lnSpc>
              <a:spcBef>
                <a:spcPts val="290"/>
              </a:spcBef>
              <a:buFont typeface="Wingdings"/>
              <a:buChar char=""/>
              <a:tabLst>
                <a:tab pos="299085" algn="l"/>
              </a:tabLst>
            </a:pPr>
            <a:r>
              <a:rPr sz="1600" dirty="0">
                <a:latin typeface="Times New Roman"/>
                <a:cs typeface="Times New Roman"/>
              </a:rPr>
              <a:t>Above</a:t>
            </a:r>
            <a:r>
              <a:rPr sz="1600" spc="-40" dirty="0">
                <a:latin typeface="Times New Roman"/>
                <a:cs typeface="Times New Roman"/>
              </a:rPr>
              <a:t> </a:t>
            </a:r>
            <a:r>
              <a:rPr sz="1600" dirty="0">
                <a:latin typeface="Times New Roman"/>
                <a:cs typeface="Times New Roman"/>
              </a:rPr>
              <a:t>figure</a:t>
            </a:r>
            <a:r>
              <a:rPr sz="1600" spc="-30"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b="1" dirty="0">
                <a:latin typeface="Times New Roman"/>
                <a:cs typeface="Times New Roman"/>
              </a:rPr>
              <a:t>a</a:t>
            </a:r>
            <a:r>
              <a:rPr sz="1600" b="1" spc="-35" dirty="0">
                <a:latin typeface="Times New Roman"/>
                <a:cs typeface="Times New Roman"/>
              </a:rPr>
              <a:t> </a:t>
            </a:r>
            <a:r>
              <a:rPr sz="1600" b="1" dirty="0">
                <a:latin typeface="Times New Roman"/>
                <a:cs typeface="Times New Roman"/>
              </a:rPr>
              <a:t>context</a:t>
            </a:r>
            <a:r>
              <a:rPr sz="1600" b="1" spc="-15" dirty="0">
                <a:latin typeface="Times New Roman"/>
                <a:cs typeface="Times New Roman"/>
              </a:rPr>
              <a:t> </a:t>
            </a:r>
            <a:r>
              <a:rPr sz="1600" b="1" dirty="0">
                <a:latin typeface="Times New Roman"/>
                <a:cs typeface="Times New Roman"/>
              </a:rPr>
              <a:t>model</a:t>
            </a:r>
            <a:r>
              <a:rPr sz="1600" b="1" spc="-10" dirty="0">
                <a:latin typeface="Times New Roman"/>
                <a:cs typeface="Times New Roman"/>
              </a:rPr>
              <a:t> </a:t>
            </a:r>
            <a:r>
              <a:rPr sz="1600" dirty="0">
                <a:latin typeface="Times New Roman"/>
                <a:cs typeface="Times New Roman"/>
              </a:rPr>
              <a:t>that</a:t>
            </a:r>
            <a:r>
              <a:rPr sz="1600" spc="-25" dirty="0">
                <a:latin typeface="Times New Roman"/>
                <a:cs typeface="Times New Roman"/>
              </a:rPr>
              <a:t> </a:t>
            </a:r>
            <a:r>
              <a:rPr sz="1600" dirty="0">
                <a:latin typeface="Times New Roman"/>
                <a:cs typeface="Times New Roman"/>
              </a:rPr>
              <a:t>illustrates</a:t>
            </a:r>
            <a:r>
              <a:rPr sz="1600" spc="1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structure</a:t>
            </a:r>
            <a:r>
              <a:rPr sz="1600" spc="-10" dirty="0">
                <a:latin typeface="Times New Roman"/>
                <a:cs typeface="Times New Roman"/>
              </a:rPr>
              <a:t> </a:t>
            </a:r>
            <a:r>
              <a:rPr sz="1600" dirty="0">
                <a:latin typeface="Times New Roman"/>
                <a:cs typeface="Times New Roman"/>
              </a:rPr>
              <a:t>of</a:t>
            </a:r>
            <a:r>
              <a:rPr sz="1600" spc="-35"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Internet prepaid</a:t>
            </a:r>
            <a:r>
              <a:rPr sz="1600" spc="-20" dirty="0">
                <a:latin typeface="Times New Roman"/>
                <a:cs typeface="Times New Roman"/>
              </a:rPr>
              <a:t> </a:t>
            </a:r>
            <a:r>
              <a:rPr sz="1600" dirty="0">
                <a:latin typeface="Times New Roman"/>
                <a:cs typeface="Times New Roman"/>
              </a:rPr>
              <a:t>card</a:t>
            </a:r>
            <a:r>
              <a:rPr sz="1600" spc="-20" dirty="0">
                <a:latin typeface="Times New Roman"/>
                <a:cs typeface="Times New Roman"/>
              </a:rPr>
              <a:t> </a:t>
            </a:r>
            <a:r>
              <a:rPr sz="1600" spc="-10" dirty="0">
                <a:latin typeface="Times New Roman"/>
                <a:cs typeface="Times New Roman"/>
              </a:rPr>
              <a:t>system.</a:t>
            </a:r>
            <a:endParaRPr sz="1600" dirty="0">
              <a:latin typeface="Times New Roman"/>
              <a:cs typeface="Times New Roman"/>
            </a:endParaRPr>
          </a:p>
          <a:p>
            <a:pPr marL="755015" marR="5080" lvl="1" indent="-285750">
              <a:lnSpc>
                <a:spcPts val="1730"/>
              </a:lnSpc>
              <a:spcBef>
                <a:spcPts val="409"/>
              </a:spcBef>
              <a:buFont typeface="Wingdings"/>
              <a:buChar char=""/>
              <a:tabLst>
                <a:tab pos="756285" algn="l"/>
              </a:tabLst>
            </a:pPr>
            <a:r>
              <a:rPr sz="1600" spc="-10" dirty="0">
                <a:latin typeface="Times New Roman"/>
                <a:cs typeface="Times New Roman"/>
              </a:rPr>
              <a:t>High-</a:t>
            </a:r>
            <a:r>
              <a:rPr sz="1600" dirty="0">
                <a:latin typeface="Times New Roman"/>
                <a:cs typeface="Times New Roman"/>
              </a:rPr>
              <a:t>level</a:t>
            </a:r>
            <a:r>
              <a:rPr sz="1600" spc="-25" dirty="0">
                <a:latin typeface="Times New Roman"/>
                <a:cs typeface="Times New Roman"/>
              </a:rPr>
              <a:t> </a:t>
            </a:r>
            <a:r>
              <a:rPr sz="1600" dirty="0">
                <a:latin typeface="Times New Roman"/>
                <a:cs typeface="Times New Roman"/>
              </a:rPr>
              <a:t>context</a:t>
            </a:r>
            <a:r>
              <a:rPr sz="1600" spc="-5" dirty="0">
                <a:latin typeface="Times New Roman"/>
                <a:cs typeface="Times New Roman"/>
              </a:rPr>
              <a:t> </a:t>
            </a:r>
            <a:r>
              <a:rPr sz="1600" dirty="0">
                <a:latin typeface="Times New Roman"/>
                <a:cs typeface="Times New Roman"/>
              </a:rPr>
              <a:t>morels</a:t>
            </a:r>
            <a:r>
              <a:rPr sz="1600" spc="-15" dirty="0">
                <a:latin typeface="Times New Roman"/>
                <a:cs typeface="Times New Roman"/>
              </a:rPr>
              <a:t> </a:t>
            </a:r>
            <a:r>
              <a:rPr sz="1600" dirty="0">
                <a:latin typeface="Times New Roman"/>
                <a:cs typeface="Times New Roman"/>
              </a:rPr>
              <a:t>are</a:t>
            </a:r>
            <a:r>
              <a:rPr sz="1600" spc="-35" dirty="0">
                <a:latin typeface="Times New Roman"/>
                <a:cs typeface="Times New Roman"/>
              </a:rPr>
              <a:t> </a:t>
            </a:r>
            <a:r>
              <a:rPr sz="1600" dirty="0">
                <a:latin typeface="Times New Roman"/>
                <a:cs typeface="Times New Roman"/>
              </a:rPr>
              <a:t>usually</a:t>
            </a:r>
            <a:r>
              <a:rPr sz="1600" spc="-25" dirty="0">
                <a:latin typeface="Times New Roman"/>
                <a:cs typeface="Times New Roman"/>
              </a:rPr>
              <a:t> </a:t>
            </a:r>
            <a:r>
              <a:rPr sz="1600" dirty="0">
                <a:latin typeface="Times New Roman"/>
                <a:cs typeface="Times New Roman"/>
              </a:rPr>
              <a:t>expressed</a:t>
            </a:r>
            <a:r>
              <a:rPr sz="1600" spc="-25" dirty="0">
                <a:latin typeface="Times New Roman"/>
                <a:cs typeface="Times New Roman"/>
              </a:rPr>
              <a:t> </a:t>
            </a:r>
            <a:r>
              <a:rPr sz="1600" dirty="0">
                <a:latin typeface="Times New Roman"/>
                <a:cs typeface="Times New Roman"/>
              </a:rPr>
              <a:t>as</a:t>
            </a:r>
            <a:r>
              <a:rPr sz="1600" spc="-20" dirty="0">
                <a:latin typeface="Times New Roman"/>
                <a:cs typeface="Times New Roman"/>
              </a:rPr>
              <a:t> </a:t>
            </a:r>
            <a:r>
              <a:rPr sz="1600" dirty="0">
                <a:latin typeface="Times New Roman"/>
                <a:cs typeface="Times New Roman"/>
              </a:rPr>
              <a:t>simple</a:t>
            </a:r>
            <a:r>
              <a:rPr sz="1600" spc="-30" dirty="0">
                <a:latin typeface="Times New Roman"/>
                <a:cs typeface="Times New Roman"/>
              </a:rPr>
              <a:t> </a:t>
            </a:r>
            <a:r>
              <a:rPr sz="1600" dirty="0">
                <a:latin typeface="Times New Roman"/>
                <a:cs typeface="Times New Roman"/>
              </a:rPr>
              <a:t>block</a:t>
            </a:r>
            <a:r>
              <a:rPr sz="1600" spc="-25" dirty="0">
                <a:latin typeface="Times New Roman"/>
                <a:cs typeface="Times New Roman"/>
              </a:rPr>
              <a:t> </a:t>
            </a:r>
            <a:r>
              <a:rPr sz="1600" dirty="0">
                <a:latin typeface="Times New Roman"/>
                <a:cs typeface="Times New Roman"/>
              </a:rPr>
              <a:t>diagrams</a:t>
            </a:r>
            <a:r>
              <a:rPr sz="1600" spc="-15" dirty="0">
                <a:latin typeface="Times New Roman"/>
                <a:cs typeface="Times New Roman"/>
              </a:rPr>
              <a:t> </a:t>
            </a:r>
            <a:r>
              <a:rPr sz="1600" dirty="0">
                <a:latin typeface="Times New Roman"/>
                <a:cs typeface="Times New Roman"/>
              </a:rPr>
              <a:t>where</a:t>
            </a:r>
            <a:r>
              <a:rPr sz="1600" spc="-35" dirty="0">
                <a:latin typeface="Times New Roman"/>
                <a:cs typeface="Times New Roman"/>
              </a:rPr>
              <a:t> </a:t>
            </a:r>
            <a:r>
              <a:rPr sz="1600" dirty="0">
                <a:latin typeface="Times New Roman"/>
                <a:cs typeface="Times New Roman"/>
              </a:rPr>
              <a:t>each</a:t>
            </a:r>
            <a:r>
              <a:rPr sz="1600" spc="-25" dirty="0">
                <a:latin typeface="Times New Roman"/>
                <a:cs typeface="Times New Roman"/>
              </a:rPr>
              <a:t> </a:t>
            </a:r>
            <a:r>
              <a:rPr sz="1600" spc="-10" dirty="0">
                <a:latin typeface="Times New Roman"/>
                <a:cs typeface="Times New Roman"/>
              </a:rPr>
              <a:t>sub-system 	</a:t>
            </a:r>
            <a:r>
              <a:rPr sz="1600" dirty="0">
                <a:latin typeface="Times New Roman"/>
                <a:cs typeface="Times New Roman"/>
              </a:rPr>
              <a:t>is</a:t>
            </a:r>
            <a:r>
              <a:rPr sz="1600" spc="-35" dirty="0">
                <a:latin typeface="Times New Roman"/>
                <a:cs typeface="Times New Roman"/>
              </a:rPr>
              <a:t> </a:t>
            </a:r>
            <a:r>
              <a:rPr sz="1600" dirty="0">
                <a:latin typeface="Times New Roman"/>
                <a:cs typeface="Times New Roman"/>
              </a:rPr>
              <a:t>represented</a:t>
            </a:r>
            <a:r>
              <a:rPr sz="1600" spc="-5" dirty="0">
                <a:latin typeface="Times New Roman"/>
                <a:cs typeface="Times New Roman"/>
              </a:rPr>
              <a:t> </a:t>
            </a:r>
            <a:r>
              <a:rPr sz="1600" dirty="0">
                <a:latin typeface="Times New Roman"/>
                <a:cs typeface="Times New Roman"/>
              </a:rPr>
              <a:t>by</a:t>
            </a:r>
            <a:r>
              <a:rPr sz="1600" spc="-40" dirty="0">
                <a:latin typeface="Times New Roman"/>
                <a:cs typeface="Times New Roman"/>
              </a:rPr>
              <a:t> </a:t>
            </a:r>
            <a:r>
              <a:rPr sz="1600" dirty="0">
                <a:latin typeface="Times New Roman"/>
                <a:cs typeface="Times New Roman"/>
              </a:rPr>
              <a:t>a</a:t>
            </a:r>
            <a:r>
              <a:rPr sz="1600" spc="-45" dirty="0">
                <a:latin typeface="Times New Roman"/>
                <a:cs typeface="Times New Roman"/>
              </a:rPr>
              <a:t> </a:t>
            </a:r>
            <a:r>
              <a:rPr sz="1600" dirty="0">
                <a:latin typeface="Times New Roman"/>
                <a:cs typeface="Times New Roman"/>
              </a:rPr>
              <a:t>named</a:t>
            </a:r>
            <a:r>
              <a:rPr sz="1600" spc="5" dirty="0">
                <a:latin typeface="Times New Roman"/>
                <a:cs typeface="Times New Roman"/>
              </a:rPr>
              <a:t> </a:t>
            </a:r>
            <a:r>
              <a:rPr sz="1600" dirty="0">
                <a:latin typeface="Times New Roman"/>
                <a:cs typeface="Times New Roman"/>
              </a:rPr>
              <a:t>rectangle,</a:t>
            </a:r>
            <a:r>
              <a:rPr sz="1600" spc="-15"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dirty="0">
                <a:latin typeface="Times New Roman"/>
                <a:cs typeface="Times New Roman"/>
              </a:rPr>
              <a:t>lines</a:t>
            </a:r>
            <a:r>
              <a:rPr sz="1600" spc="-25" dirty="0">
                <a:latin typeface="Times New Roman"/>
                <a:cs typeface="Times New Roman"/>
              </a:rPr>
              <a:t> </a:t>
            </a:r>
            <a:r>
              <a:rPr sz="1600" dirty="0">
                <a:latin typeface="Times New Roman"/>
                <a:cs typeface="Times New Roman"/>
              </a:rPr>
              <a:t>indicate</a:t>
            </a:r>
            <a:r>
              <a:rPr sz="1600" spc="-25" dirty="0">
                <a:latin typeface="Times New Roman"/>
                <a:cs typeface="Times New Roman"/>
              </a:rPr>
              <a:t> </a:t>
            </a:r>
            <a:r>
              <a:rPr sz="1600" dirty="0">
                <a:latin typeface="Times New Roman"/>
                <a:cs typeface="Times New Roman"/>
              </a:rPr>
              <a:t>associations</a:t>
            </a:r>
            <a:r>
              <a:rPr sz="1600" spc="-10" dirty="0">
                <a:latin typeface="Times New Roman"/>
                <a:cs typeface="Times New Roman"/>
              </a:rPr>
              <a:t> </a:t>
            </a:r>
            <a:r>
              <a:rPr sz="1600" dirty="0">
                <a:latin typeface="Times New Roman"/>
                <a:cs typeface="Times New Roman"/>
              </a:rPr>
              <a:t>between</a:t>
            </a:r>
            <a:r>
              <a:rPr sz="1600" spc="-35" dirty="0">
                <a:latin typeface="Times New Roman"/>
                <a:cs typeface="Times New Roman"/>
              </a:rPr>
              <a:t> </a:t>
            </a:r>
            <a:r>
              <a:rPr sz="1600" spc="-10" dirty="0">
                <a:latin typeface="Times New Roman"/>
                <a:cs typeface="Times New Roman"/>
              </a:rPr>
              <a:t>sub-systems.</a:t>
            </a:r>
            <a:endParaRPr sz="1600" dirty="0">
              <a:latin typeface="Times New Roman"/>
              <a:cs typeface="Times New Roman"/>
            </a:endParaRPr>
          </a:p>
          <a:p>
            <a:pPr marL="299085" indent="-286385">
              <a:lnSpc>
                <a:spcPts val="1825"/>
              </a:lnSpc>
              <a:spcBef>
                <a:spcPts val="165"/>
              </a:spcBef>
              <a:buFont typeface="Wingdings"/>
              <a:buChar char=""/>
              <a:tabLst>
                <a:tab pos="299085" algn="l"/>
              </a:tabLst>
            </a:pPr>
            <a:r>
              <a:rPr sz="1600" b="1" dirty="0">
                <a:latin typeface="Times New Roman"/>
                <a:cs typeface="Times New Roman"/>
              </a:rPr>
              <a:t>However</a:t>
            </a:r>
            <a:r>
              <a:rPr sz="1600" b="1" spc="-50" dirty="0">
                <a:latin typeface="Times New Roman"/>
                <a:cs typeface="Times New Roman"/>
              </a:rPr>
              <a:t> </a:t>
            </a:r>
            <a:r>
              <a:rPr sz="1600" b="1" dirty="0">
                <a:latin typeface="Times New Roman"/>
                <a:cs typeface="Times New Roman"/>
              </a:rPr>
              <a:t>they</a:t>
            </a:r>
            <a:r>
              <a:rPr sz="1600" b="1" spc="-25" dirty="0">
                <a:latin typeface="Times New Roman"/>
                <a:cs typeface="Times New Roman"/>
              </a:rPr>
              <a:t> </a:t>
            </a:r>
            <a:r>
              <a:rPr sz="1600" b="1" dirty="0">
                <a:latin typeface="Times New Roman"/>
                <a:cs typeface="Times New Roman"/>
              </a:rPr>
              <a:t>do</a:t>
            </a:r>
            <a:r>
              <a:rPr sz="1600" b="1" spc="-15" dirty="0">
                <a:latin typeface="Times New Roman"/>
                <a:cs typeface="Times New Roman"/>
              </a:rPr>
              <a:t> </a:t>
            </a:r>
            <a:r>
              <a:rPr sz="1600" b="1" dirty="0">
                <a:latin typeface="Times New Roman"/>
                <a:cs typeface="Times New Roman"/>
              </a:rPr>
              <a:t>not</a:t>
            </a:r>
            <a:r>
              <a:rPr sz="1600" b="1" spc="-30" dirty="0">
                <a:latin typeface="Times New Roman"/>
                <a:cs typeface="Times New Roman"/>
              </a:rPr>
              <a:t> </a:t>
            </a:r>
            <a:r>
              <a:rPr sz="1600" b="1" dirty="0">
                <a:latin typeface="Times New Roman"/>
                <a:cs typeface="Times New Roman"/>
              </a:rPr>
              <a:t>show</a:t>
            </a:r>
            <a:r>
              <a:rPr sz="1600" b="1" spc="-10" dirty="0">
                <a:latin typeface="Times New Roman"/>
                <a:cs typeface="Times New Roman"/>
              </a:rPr>
              <a:t> </a:t>
            </a:r>
            <a:r>
              <a:rPr sz="1600" b="1" dirty="0">
                <a:latin typeface="Times New Roman"/>
                <a:cs typeface="Times New Roman"/>
              </a:rPr>
              <a:t>the</a:t>
            </a:r>
            <a:r>
              <a:rPr sz="1600" b="1" spc="-25" dirty="0">
                <a:latin typeface="Times New Roman"/>
                <a:cs typeface="Times New Roman"/>
              </a:rPr>
              <a:t> </a:t>
            </a:r>
            <a:r>
              <a:rPr sz="1600" b="1" dirty="0">
                <a:latin typeface="Times New Roman"/>
                <a:cs typeface="Times New Roman"/>
              </a:rPr>
              <a:t>relationship</a:t>
            </a:r>
            <a:r>
              <a:rPr sz="1600" b="1" spc="-25" dirty="0">
                <a:latin typeface="Times New Roman"/>
                <a:cs typeface="Times New Roman"/>
              </a:rPr>
              <a:t> </a:t>
            </a:r>
            <a:r>
              <a:rPr sz="1600" b="1" dirty="0">
                <a:latin typeface="Times New Roman"/>
                <a:cs typeface="Times New Roman"/>
              </a:rPr>
              <a:t>between</a:t>
            </a:r>
            <a:r>
              <a:rPr sz="1600" b="1" spc="-30" dirty="0">
                <a:latin typeface="Times New Roman"/>
                <a:cs typeface="Times New Roman"/>
              </a:rPr>
              <a:t> </a:t>
            </a:r>
            <a:r>
              <a:rPr sz="1600" b="1" dirty="0">
                <a:latin typeface="Times New Roman"/>
                <a:cs typeface="Times New Roman"/>
              </a:rPr>
              <a:t>the</a:t>
            </a:r>
            <a:r>
              <a:rPr sz="1600" b="1" spc="-30" dirty="0">
                <a:latin typeface="Times New Roman"/>
                <a:cs typeface="Times New Roman"/>
              </a:rPr>
              <a:t> </a:t>
            </a:r>
            <a:r>
              <a:rPr sz="1600" b="1" dirty="0">
                <a:latin typeface="Times New Roman"/>
                <a:cs typeface="Times New Roman"/>
              </a:rPr>
              <a:t>other</a:t>
            </a:r>
            <a:r>
              <a:rPr sz="1600" b="1" spc="-50" dirty="0">
                <a:latin typeface="Times New Roman"/>
                <a:cs typeface="Times New Roman"/>
              </a:rPr>
              <a:t> </a:t>
            </a:r>
            <a:r>
              <a:rPr sz="1600" b="1" dirty="0">
                <a:latin typeface="Times New Roman"/>
                <a:cs typeface="Times New Roman"/>
              </a:rPr>
              <a:t>systems</a:t>
            </a:r>
            <a:r>
              <a:rPr sz="1600" b="1" spc="-10" dirty="0">
                <a:latin typeface="Times New Roman"/>
                <a:cs typeface="Times New Roman"/>
              </a:rPr>
              <a:t> </a:t>
            </a:r>
            <a:r>
              <a:rPr sz="1600" b="1" dirty="0">
                <a:latin typeface="Times New Roman"/>
                <a:cs typeface="Times New Roman"/>
              </a:rPr>
              <a:t>in</a:t>
            </a:r>
            <a:r>
              <a:rPr sz="1600" b="1" spc="-30" dirty="0">
                <a:latin typeface="Times New Roman"/>
                <a:cs typeface="Times New Roman"/>
              </a:rPr>
              <a:t> </a:t>
            </a:r>
            <a:r>
              <a:rPr sz="1600" b="1" dirty="0">
                <a:latin typeface="Times New Roman"/>
                <a:cs typeface="Times New Roman"/>
              </a:rPr>
              <a:t>the</a:t>
            </a:r>
            <a:r>
              <a:rPr sz="1600" b="1" spc="-30" dirty="0">
                <a:latin typeface="Times New Roman"/>
                <a:cs typeface="Times New Roman"/>
              </a:rPr>
              <a:t> </a:t>
            </a:r>
            <a:r>
              <a:rPr sz="1600" b="1" dirty="0">
                <a:latin typeface="Times New Roman"/>
                <a:cs typeface="Times New Roman"/>
              </a:rPr>
              <a:t>environment</a:t>
            </a:r>
            <a:r>
              <a:rPr sz="1600" b="1" spc="-25" dirty="0">
                <a:latin typeface="Times New Roman"/>
                <a:cs typeface="Times New Roman"/>
              </a:rPr>
              <a:t> </a:t>
            </a:r>
            <a:r>
              <a:rPr sz="1600" b="1" dirty="0">
                <a:latin typeface="Times New Roman"/>
                <a:cs typeface="Times New Roman"/>
              </a:rPr>
              <a:t>and</a:t>
            </a:r>
            <a:r>
              <a:rPr sz="1600" b="1" spc="-20" dirty="0">
                <a:latin typeface="Times New Roman"/>
                <a:cs typeface="Times New Roman"/>
              </a:rPr>
              <a:t> </a:t>
            </a:r>
            <a:r>
              <a:rPr sz="1600" b="1" spc="-25" dirty="0">
                <a:latin typeface="Times New Roman"/>
                <a:cs typeface="Times New Roman"/>
              </a:rPr>
              <a:t>the</a:t>
            </a:r>
            <a:endParaRPr sz="1600" dirty="0">
              <a:latin typeface="Times New Roman"/>
              <a:cs typeface="Times New Roman"/>
            </a:endParaRPr>
          </a:p>
          <a:p>
            <a:pPr marL="299085">
              <a:lnSpc>
                <a:spcPts val="1825"/>
              </a:lnSpc>
            </a:pPr>
            <a:r>
              <a:rPr sz="1600" b="1" dirty="0">
                <a:latin typeface="Times New Roman"/>
                <a:cs typeface="Times New Roman"/>
              </a:rPr>
              <a:t>system</a:t>
            </a:r>
            <a:r>
              <a:rPr sz="1600" b="1" spc="-20" dirty="0">
                <a:latin typeface="Times New Roman"/>
                <a:cs typeface="Times New Roman"/>
              </a:rPr>
              <a:t> </a:t>
            </a:r>
            <a:r>
              <a:rPr sz="1600" b="1" dirty="0">
                <a:latin typeface="Times New Roman"/>
                <a:cs typeface="Times New Roman"/>
              </a:rPr>
              <a:t>being</a:t>
            </a:r>
            <a:r>
              <a:rPr sz="1600" b="1" spc="-25" dirty="0">
                <a:latin typeface="Times New Roman"/>
                <a:cs typeface="Times New Roman"/>
              </a:rPr>
              <a:t> </a:t>
            </a:r>
            <a:r>
              <a:rPr sz="1600" b="1" spc="-10" dirty="0">
                <a:latin typeface="Times New Roman"/>
                <a:cs typeface="Times New Roman"/>
              </a:rPr>
              <a:t>specified.</a:t>
            </a:r>
            <a:endParaRPr sz="1600" dirty="0">
              <a:latin typeface="Times New Roman"/>
              <a:cs typeface="Times New Roman"/>
            </a:endParaRPr>
          </a:p>
          <a:p>
            <a:pPr marL="299085" marR="5080" indent="-287020">
              <a:lnSpc>
                <a:spcPts val="1730"/>
              </a:lnSpc>
              <a:spcBef>
                <a:spcPts val="409"/>
              </a:spcBef>
              <a:buFont typeface="Wingdings"/>
              <a:buChar char=""/>
              <a:tabLst>
                <a:tab pos="299085" algn="l"/>
                <a:tab pos="1337945" algn="l"/>
                <a:tab pos="2032000" algn="l"/>
                <a:tab pos="2794000" algn="l"/>
                <a:tab pos="3531235" algn="l"/>
                <a:tab pos="4857750" algn="l"/>
                <a:tab pos="6193155" algn="l"/>
                <a:tab pos="6536055" algn="l"/>
                <a:tab pos="8035925" algn="l"/>
              </a:tabLst>
            </a:pPr>
            <a:r>
              <a:rPr sz="1600" b="1" spc="-10" dirty="0">
                <a:latin typeface="Times New Roman"/>
                <a:cs typeface="Times New Roman"/>
              </a:rPr>
              <a:t>Therefore,</a:t>
            </a:r>
            <a:r>
              <a:rPr sz="1600" b="1" dirty="0">
                <a:latin typeface="Times New Roman"/>
                <a:cs typeface="Times New Roman"/>
              </a:rPr>
              <a:t>	</a:t>
            </a:r>
            <a:r>
              <a:rPr sz="1600" b="1" spc="-10" dirty="0">
                <a:latin typeface="Times New Roman"/>
                <a:cs typeface="Times New Roman"/>
              </a:rPr>
              <a:t>simple</a:t>
            </a:r>
            <a:r>
              <a:rPr sz="1600" b="1" dirty="0">
                <a:latin typeface="Times New Roman"/>
                <a:cs typeface="Times New Roman"/>
              </a:rPr>
              <a:t>	</a:t>
            </a:r>
            <a:r>
              <a:rPr sz="1600" b="1" spc="-10" dirty="0">
                <a:latin typeface="Times New Roman"/>
                <a:cs typeface="Times New Roman"/>
              </a:rPr>
              <a:t>context</a:t>
            </a:r>
            <a:r>
              <a:rPr sz="1600" b="1" dirty="0">
                <a:latin typeface="Times New Roman"/>
                <a:cs typeface="Times New Roman"/>
              </a:rPr>
              <a:t>	</a:t>
            </a:r>
            <a:r>
              <a:rPr sz="1600" b="1" spc="-10" dirty="0">
                <a:latin typeface="Times New Roman"/>
                <a:cs typeface="Times New Roman"/>
              </a:rPr>
              <a:t>models</a:t>
            </a:r>
            <a:r>
              <a:rPr sz="1600" b="1" dirty="0">
                <a:latin typeface="Times New Roman"/>
                <a:cs typeface="Times New Roman"/>
              </a:rPr>
              <a:t>	are</a:t>
            </a:r>
            <a:r>
              <a:rPr sz="1600" b="1" spc="70" dirty="0">
                <a:latin typeface="Times New Roman"/>
                <a:cs typeface="Times New Roman"/>
              </a:rPr>
              <a:t>  </a:t>
            </a:r>
            <a:r>
              <a:rPr sz="1600" b="1" spc="-10" dirty="0">
                <a:latin typeface="Times New Roman"/>
                <a:cs typeface="Times New Roman"/>
              </a:rPr>
              <a:t>normally</a:t>
            </a:r>
            <a:r>
              <a:rPr sz="1600" b="1" dirty="0">
                <a:latin typeface="Times New Roman"/>
                <a:cs typeface="Times New Roman"/>
              </a:rPr>
              <a:t>	</a:t>
            </a:r>
            <a:r>
              <a:rPr sz="1600" b="1" spc="-10" dirty="0">
                <a:latin typeface="Times New Roman"/>
                <a:cs typeface="Times New Roman"/>
              </a:rPr>
              <a:t>supplemented</a:t>
            </a:r>
            <a:r>
              <a:rPr sz="1600" b="1" dirty="0">
                <a:latin typeface="Times New Roman"/>
                <a:cs typeface="Times New Roman"/>
              </a:rPr>
              <a:t>	</a:t>
            </a:r>
            <a:r>
              <a:rPr sz="1600" b="1" spc="-25" dirty="0">
                <a:latin typeface="Times New Roman"/>
                <a:cs typeface="Times New Roman"/>
              </a:rPr>
              <a:t>by</a:t>
            </a:r>
            <a:r>
              <a:rPr sz="1600" b="1" dirty="0">
                <a:latin typeface="Times New Roman"/>
                <a:cs typeface="Times New Roman"/>
              </a:rPr>
              <a:t>	other</a:t>
            </a:r>
            <a:r>
              <a:rPr sz="1600" b="1" spc="75" dirty="0">
                <a:latin typeface="Times New Roman"/>
                <a:cs typeface="Times New Roman"/>
              </a:rPr>
              <a:t>  </a:t>
            </a:r>
            <a:r>
              <a:rPr sz="1600" b="1" spc="-10" dirty="0">
                <a:latin typeface="Times New Roman"/>
                <a:cs typeface="Times New Roman"/>
              </a:rPr>
              <a:t>methods,</a:t>
            </a:r>
            <a:r>
              <a:rPr sz="1600" b="1" dirty="0">
                <a:latin typeface="Times New Roman"/>
                <a:cs typeface="Times New Roman"/>
              </a:rPr>
              <a:t>	such</a:t>
            </a:r>
            <a:r>
              <a:rPr sz="1600" b="1" spc="80" dirty="0">
                <a:latin typeface="Times New Roman"/>
                <a:cs typeface="Times New Roman"/>
              </a:rPr>
              <a:t>  </a:t>
            </a:r>
            <a:r>
              <a:rPr sz="1600" b="1" spc="-25" dirty="0">
                <a:latin typeface="Times New Roman"/>
                <a:cs typeface="Times New Roman"/>
              </a:rPr>
              <a:t>as </a:t>
            </a:r>
            <a:r>
              <a:rPr sz="1600" b="1" dirty="0">
                <a:latin typeface="Times New Roman"/>
                <a:cs typeface="Times New Roman"/>
              </a:rPr>
              <a:t>behavioral</a:t>
            </a:r>
            <a:r>
              <a:rPr sz="1600" b="1" spc="-35" dirty="0">
                <a:latin typeface="Times New Roman"/>
                <a:cs typeface="Times New Roman"/>
              </a:rPr>
              <a:t> </a:t>
            </a:r>
            <a:r>
              <a:rPr sz="1600" b="1" dirty="0">
                <a:latin typeface="Times New Roman"/>
                <a:cs typeface="Times New Roman"/>
              </a:rPr>
              <a:t>models</a:t>
            </a:r>
            <a:r>
              <a:rPr sz="1600" b="1" spc="-15" dirty="0">
                <a:latin typeface="Times New Roman"/>
                <a:cs typeface="Times New Roman"/>
              </a:rPr>
              <a:t> </a:t>
            </a:r>
            <a:r>
              <a:rPr sz="1600" b="1" dirty="0">
                <a:latin typeface="Times New Roman"/>
                <a:cs typeface="Times New Roman"/>
              </a:rPr>
              <a:t>explained</a:t>
            </a:r>
            <a:r>
              <a:rPr sz="1600" b="1" spc="-35" dirty="0">
                <a:latin typeface="Times New Roman"/>
                <a:cs typeface="Times New Roman"/>
              </a:rPr>
              <a:t> </a:t>
            </a:r>
            <a:r>
              <a:rPr sz="1600" b="1" dirty="0">
                <a:latin typeface="Times New Roman"/>
                <a:cs typeface="Times New Roman"/>
              </a:rPr>
              <a:t>in</a:t>
            </a:r>
            <a:r>
              <a:rPr sz="1600" b="1" spc="-40" dirty="0">
                <a:latin typeface="Times New Roman"/>
                <a:cs typeface="Times New Roman"/>
              </a:rPr>
              <a:t> </a:t>
            </a:r>
            <a:r>
              <a:rPr sz="1600" b="1" dirty="0">
                <a:latin typeface="Times New Roman"/>
                <a:cs typeface="Times New Roman"/>
              </a:rPr>
              <a:t>the</a:t>
            </a:r>
            <a:r>
              <a:rPr sz="1600" b="1" spc="-30" dirty="0">
                <a:latin typeface="Times New Roman"/>
                <a:cs typeface="Times New Roman"/>
              </a:rPr>
              <a:t> </a:t>
            </a:r>
            <a:r>
              <a:rPr sz="1600" b="1" dirty="0">
                <a:latin typeface="Times New Roman"/>
                <a:cs typeface="Times New Roman"/>
              </a:rPr>
              <a:t>following</a:t>
            </a:r>
            <a:r>
              <a:rPr sz="1600" b="1" spc="-50" dirty="0">
                <a:latin typeface="Times New Roman"/>
                <a:cs typeface="Times New Roman"/>
              </a:rPr>
              <a:t> </a:t>
            </a:r>
            <a:r>
              <a:rPr sz="1600" b="1" spc="-10" dirty="0">
                <a:latin typeface="Times New Roman"/>
                <a:cs typeface="Times New Roman"/>
              </a:rPr>
              <a:t>section</a:t>
            </a:r>
            <a:r>
              <a:rPr lang="en-US" sz="1600" b="1" spc="-10" dirty="0">
                <a:latin typeface="Times New Roman"/>
                <a:cs typeface="Times New Roman"/>
              </a:rPr>
              <a:t>.</a:t>
            </a:r>
          </a:p>
        </p:txBody>
      </p:sp>
      <p:pic>
        <p:nvPicPr>
          <p:cNvPr id="43" name="Picture 42">
            <a:extLst>
              <a:ext uri="{FF2B5EF4-FFF2-40B4-BE49-F238E27FC236}">
                <a16:creationId xmlns:a16="http://schemas.microsoft.com/office/drawing/2014/main" id="{AE0D77FA-F9AB-6AFC-69AB-4569AE562A45}"/>
              </a:ext>
            </a:extLst>
          </p:cNvPr>
          <p:cNvPicPr>
            <a:picLocks noChangeAspect="1"/>
          </p:cNvPicPr>
          <p:nvPr/>
        </p:nvPicPr>
        <p:blipFill>
          <a:blip r:embed="rId2"/>
          <a:stretch>
            <a:fillRect/>
          </a:stretch>
        </p:blipFill>
        <p:spPr>
          <a:xfrm>
            <a:off x="1913546" y="1450271"/>
            <a:ext cx="4925112" cy="3353268"/>
          </a:xfrm>
          <a:prstGeom prst="rect">
            <a:avLst/>
          </a:prstGeom>
        </p:spPr>
      </p:pic>
      <p:sp>
        <p:nvSpPr>
          <p:cNvPr id="5" name="TextBox 4">
            <a:extLst>
              <a:ext uri="{FF2B5EF4-FFF2-40B4-BE49-F238E27FC236}">
                <a16:creationId xmlns:a16="http://schemas.microsoft.com/office/drawing/2014/main" id="{5666B123-0E2B-EA2A-9F62-A708A1B4D22E}"/>
              </a:ext>
            </a:extLst>
          </p:cNvPr>
          <p:cNvSpPr txBox="1"/>
          <p:nvPr/>
        </p:nvSpPr>
        <p:spPr>
          <a:xfrm>
            <a:off x="7119257" y="2428598"/>
            <a:ext cx="2057400" cy="923330"/>
          </a:xfrm>
          <a:prstGeom prst="rect">
            <a:avLst/>
          </a:prstGeom>
          <a:noFill/>
        </p:spPr>
        <p:txBody>
          <a:bodyPr wrap="square">
            <a:spAutoFit/>
          </a:bodyPr>
          <a:lstStyle/>
          <a:p>
            <a:r>
              <a:rPr lang="en-US" dirty="0">
                <a:solidFill>
                  <a:srgbClr val="FF0000"/>
                </a:solidFill>
              </a:rPr>
              <a:t>https://creately.com/guides/context-diagram-tutorial/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5B3FC-1FC4-818C-BEBB-4841FFF7C0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9934AF6-F855-21C3-C5E6-1C402360DFB0}"/>
              </a:ext>
            </a:extLst>
          </p:cNvPr>
          <p:cNvSpPr txBox="1">
            <a:spLocks noGrp="1"/>
          </p:cNvSpPr>
          <p:nvPr>
            <p:ph type="title"/>
          </p:nvPr>
        </p:nvSpPr>
        <p:spPr>
          <a:prstGeom prst="rect">
            <a:avLst/>
          </a:prstGeom>
        </p:spPr>
        <p:txBody>
          <a:bodyPr vert="horz" wrap="square" lIns="0" tIns="629031" rIns="0" bIns="0" rtlCol="0">
            <a:spAutoFit/>
          </a:bodyPr>
          <a:lstStyle/>
          <a:p>
            <a:pPr marL="1559560">
              <a:lnSpc>
                <a:spcPct val="100000"/>
              </a:lnSpc>
              <a:spcBef>
                <a:spcPts val="105"/>
              </a:spcBef>
            </a:pPr>
            <a:r>
              <a:rPr sz="4400" b="0" dirty="0">
                <a:solidFill>
                  <a:srgbClr val="000000"/>
                </a:solidFill>
                <a:latin typeface="Times New Roman"/>
                <a:cs typeface="Times New Roman"/>
              </a:rPr>
              <a:t>B.</a:t>
            </a:r>
            <a:r>
              <a:rPr sz="4400" b="0" spc="5" dirty="0">
                <a:solidFill>
                  <a:srgbClr val="000000"/>
                </a:solidFill>
                <a:latin typeface="Times New Roman"/>
                <a:cs typeface="Times New Roman"/>
              </a:rPr>
              <a:t> </a:t>
            </a:r>
            <a:r>
              <a:rPr sz="4400" b="0" dirty="0">
                <a:solidFill>
                  <a:srgbClr val="000000"/>
                </a:solidFill>
                <a:latin typeface="Times New Roman"/>
                <a:cs typeface="Times New Roman"/>
              </a:rPr>
              <a:t>Behavioural</a:t>
            </a:r>
            <a:r>
              <a:rPr sz="4400" b="0" spc="-50" dirty="0">
                <a:solidFill>
                  <a:srgbClr val="000000"/>
                </a:solidFill>
                <a:latin typeface="Times New Roman"/>
                <a:cs typeface="Times New Roman"/>
              </a:rPr>
              <a:t> </a:t>
            </a:r>
            <a:r>
              <a:rPr sz="4400" b="0" spc="-10" dirty="0">
                <a:solidFill>
                  <a:srgbClr val="000000"/>
                </a:solidFill>
                <a:latin typeface="Times New Roman"/>
                <a:cs typeface="Times New Roman"/>
              </a:rPr>
              <a:t>Model</a:t>
            </a:r>
            <a:endParaRPr sz="4400" dirty="0">
              <a:latin typeface="Times New Roman"/>
              <a:cs typeface="Times New Roman"/>
            </a:endParaRPr>
          </a:p>
        </p:txBody>
      </p:sp>
      <p:sp>
        <p:nvSpPr>
          <p:cNvPr id="12" name="object 12">
            <a:extLst>
              <a:ext uri="{FF2B5EF4-FFF2-40B4-BE49-F238E27FC236}">
                <a16:creationId xmlns:a16="http://schemas.microsoft.com/office/drawing/2014/main" id="{62EE5F84-0D2D-CD77-43B0-BBFF23A70525}"/>
              </a:ext>
            </a:extLst>
          </p:cNvPr>
          <p:cNvSpPr txBox="1"/>
          <p:nvPr/>
        </p:nvSpPr>
        <p:spPr>
          <a:xfrm>
            <a:off x="98920" y="1569358"/>
            <a:ext cx="8486775" cy="4899418"/>
          </a:xfrm>
          <a:prstGeom prst="rect">
            <a:avLst/>
          </a:prstGeom>
        </p:spPr>
        <p:txBody>
          <a:bodyPr vert="horz" wrap="square" lIns="0" tIns="13335" rIns="0" bIns="0" rtlCol="0">
            <a:spAutoFit/>
          </a:bodyPr>
          <a:lstStyle/>
          <a:p>
            <a:pPr marL="355600" marR="5715" indent="-342900" algn="just">
              <a:lnSpc>
                <a:spcPct val="100000"/>
              </a:lnSpc>
              <a:spcBef>
                <a:spcPts val="105"/>
              </a:spcBef>
              <a:buChar char="•"/>
              <a:tabLst>
                <a:tab pos="355600" algn="l"/>
              </a:tabLst>
            </a:pPr>
            <a:r>
              <a:rPr sz="3000" dirty="0">
                <a:latin typeface="Times New Roman" panose="02020603050405020304" pitchFamily="18" charset="0"/>
                <a:cs typeface="Times New Roman" panose="02020603050405020304" pitchFamily="18" charset="0"/>
              </a:rPr>
              <a:t>Behavioral</a:t>
            </a:r>
            <a:r>
              <a:rPr sz="3000" spc="33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models</a:t>
            </a:r>
            <a:r>
              <a:rPr sz="3000" spc="33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are</a:t>
            </a:r>
            <a:r>
              <a:rPr sz="3000" spc="33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used</a:t>
            </a:r>
            <a:r>
              <a:rPr sz="3000" spc="33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to</a:t>
            </a:r>
            <a:r>
              <a:rPr sz="3000" spc="33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describe</a:t>
            </a:r>
            <a:r>
              <a:rPr sz="3000" spc="335" dirty="0">
                <a:latin typeface="Times New Roman" panose="02020603050405020304" pitchFamily="18" charset="0"/>
                <a:cs typeface="Times New Roman" panose="02020603050405020304" pitchFamily="18" charset="0"/>
              </a:rPr>
              <a:t>  </a:t>
            </a:r>
            <a:r>
              <a:rPr sz="3000" spc="-25" dirty="0">
                <a:latin typeface="Times New Roman" panose="02020603050405020304" pitchFamily="18" charset="0"/>
                <a:cs typeface="Times New Roman" panose="02020603050405020304" pitchFamily="18" charset="0"/>
              </a:rPr>
              <a:t>the </a:t>
            </a:r>
            <a:r>
              <a:rPr sz="3000" dirty="0">
                <a:latin typeface="Times New Roman" panose="02020603050405020304" pitchFamily="18" charset="0"/>
                <a:cs typeface="Times New Roman" panose="02020603050405020304" pitchFamily="18" charset="0"/>
              </a:rPr>
              <a:t>overall</a:t>
            </a:r>
            <a:r>
              <a:rPr sz="3000" spc="-55"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behavior</a:t>
            </a:r>
            <a:r>
              <a:rPr sz="3000" spc="-50"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of</a:t>
            </a:r>
            <a:r>
              <a:rPr sz="3000" spc="-30" dirty="0">
                <a:latin typeface="Times New Roman" panose="02020603050405020304" pitchFamily="18" charset="0"/>
                <a:cs typeface="Times New Roman" panose="02020603050405020304" pitchFamily="18" charset="0"/>
              </a:rPr>
              <a:t> </a:t>
            </a:r>
            <a:r>
              <a:rPr sz="3000" dirty="0">
                <a:latin typeface="Times New Roman" panose="02020603050405020304" pitchFamily="18" charset="0"/>
                <a:cs typeface="Times New Roman" panose="02020603050405020304" pitchFamily="18" charset="0"/>
              </a:rPr>
              <a:t>the</a:t>
            </a:r>
            <a:r>
              <a:rPr sz="3000" spc="-15" dirty="0">
                <a:latin typeface="Times New Roman" panose="02020603050405020304" pitchFamily="18" charset="0"/>
                <a:cs typeface="Times New Roman" panose="02020603050405020304" pitchFamily="18" charset="0"/>
              </a:rPr>
              <a:t> </a:t>
            </a:r>
            <a:r>
              <a:rPr sz="3000" spc="-10" dirty="0">
                <a:latin typeface="Times New Roman" panose="02020603050405020304" pitchFamily="18" charset="0"/>
                <a:cs typeface="Times New Roman" panose="02020603050405020304" pitchFamily="18" charset="0"/>
              </a:rPr>
              <a:t>system.</a:t>
            </a:r>
            <a:endParaRPr lang="en-US" sz="3000" spc="-10" dirty="0">
              <a:latin typeface="Times New Roman" panose="02020603050405020304" pitchFamily="18" charset="0"/>
              <a:cs typeface="Times New Roman" panose="02020603050405020304" pitchFamily="18" charset="0"/>
            </a:endParaRPr>
          </a:p>
          <a:p>
            <a:pPr marL="355600" marR="5715" indent="-342900" algn="just">
              <a:lnSpc>
                <a:spcPct val="100000"/>
              </a:lnSpc>
              <a:spcBef>
                <a:spcPts val="105"/>
              </a:spcBef>
              <a:buChar char="•"/>
              <a:tabLst>
                <a:tab pos="355600" algn="l"/>
              </a:tabLst>
            </a:pPr>
            <a:r>
              <a:rPr lang="en-US" sz="3000" dirty="0">
                <a:latin typeface="Times New Roman" panose="02020603050405020304" pitchFamily="18" charset="0"/>
                <a:cs typeface="Times New Roman" panose="02020603050405020304" pitchFamily="18" charset="0"/>
              </a:rPr>
              <a:t>Describes how a system </a:t>
            </a:r>
            <a:r>
              <a:rPr lang="en-US" sz="3000" i="1" dirty="0">
                <a:latin typeface="Times New Roman" panose="02020603050405020304" pitchFamily="18" charset="0"/>
                <a:cs typeface="Times New Roman" panose="02020603050405020304" pitchFamily="18" charset="0"/>
              </a:rPr>
              <a:t>behaves or reacts</a:t>
            </a:r>
            <a:r>
              <a:rPr lang="en-US" sz="3000" dirty="0">
                <a:latin typeface="Times New Roman" panose="02020603050405020304" pitchFamily="18" charset="0"/>
                <a:cs typeface="Times New Roman" panose="02020603050405020304" pitchFamily="18" charset="0"/>
              </a:rPr>
              <a:t> to external and internal events during its operation. </a:t>
            </a:r>
          </a:p>
          <a:p>
            <a:pPr marL="355600" marR="5715" indent="-342900" algn="just">
              <a:lnSpc>
                <a:spcPct val="100000"/>
              </a:lnSpc>
              <a:spcBef>
                <a:spcPts val="105"/>
              </a:spcBef>
              <a:buChar char="•"/>
              <a:tabLst>
                <a:tab pos="355600" algn="l"/>
              </a:tabLst>
            </a:pPr>
            <a:r>
              <a:rPr lang="en-US" sz="3000" dirty="0">
                <a:latin typeface="Times New Roman" panose="02020603050405020304" pitchFamily="18" charset="0"/>
                <a:cs typeface="Times New Roman" panose="02020603050405020304" pitchFamily="18" charset="0"/>
              </a:rPr>
              <a:t>Focuses on the </a:t>
            </a:r>
            <a:r>
              <a:rPr lang="en-US" sz="3000" b="1" dirty="0">
                <a:latin typeface="Times New Roman" panose="02020603050405020304" pitchFamily="18" charset="0"/>
                <a:cs typeface="Times New Roman" panose="02020603050405020304" pitchFamily="18" charset="0"/>
              </a:rPr>
              <a:t>dynamic aspects</a:t>
            </a:r>
            <a:r>
              <a:rPr lang="en-US" sz="3000" dirty="0">
                <a:latin typeface="Times New Roman" panose="02020603050405020304" pitchFamily="18" charset="0"/>
                <a:cs typeface="Times New Roman" panose="02020603050405020304" pitchFamily="18" charset="0"/>
              </a:rPr>
              <a:t> of a system — that is, how the system changes its state over time and how it interacts with users, other systems, and data.</a:t>
            </a:r>
            <a:endParaRPr sz="3000" dirty="0">
              <a:latin typeface="Times New Roman" panose="02020603050405020304" pitchFamily="18" charset="0"/>
              <a:cs typeface="Times New Roman" panose="02020603050405020304" pitchFamily="18" charset="0"/>
            </a:endParaRPr>
          </a:p>
          <a:p>
            <a:pPr marL="756285" marR="5080" indent="-287020" algn="just">
              <a:lnSpc>
                <a:spcPct val="100000"/>
              </a:lnSpc>
              <a:spcBef>
                <a:spcPts val="675"/>
              </a:spcBef>
            </a:pPr>
            <a:r>
              <a:rPr sz="2800" dirty="0">
                <a:latin typeface="Times New Roman" panose="02020603050405020304" pitchFamily="18" charset="0"/>
                <a:cs typeface="Times New Roman" panose="02020603050405020304" pitchFamily="18" charset="0"/>
              </a:rPr>
              <a:t>–</a:t>
            </a:r>
            <a:r>
              <a:rPr sz="2800" spc="13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There  are  two</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types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  behavior</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models:  </a:t>
            </a:r>
            <a:r>
              <a:rPr sz="2400" b="1" spc="-20" dirty="0">
                <a:latin typeface="Times New Roman" panose="02020603050405020304" pitchFamily="18" charset="0"/>
                <a:cs typeface="Times New Roman" panose="02020603050405020304" pitchFamily="18" charset="0"/>
              </a:rPr>
              <a:t>data-flow </a:t>
            </a:r>
            <a:r>
              <a:rPr sz="2400" b="1" dirty="0">
                <a:latin typeface="Times New Roman" panose="02020603050405020304" pitchFamily="18" charset="0"/>
                <a:cs typeface="Times New Roman" panose="02020603050405020304" pitchFamily="18" charset="0"/>
              </a:rPr>
              <a:t>models</a:t>
            </a:r>
            <a:r>
              <a:rPr sz="2400" dirty="0">
                <a:latin typeface="Times New Roman" panose="02020603050405020304" pitchFamily="18" charset="0"/>
                <a:cs typeface="Times New Roman" panose="02020603050405020304" pitchFamily="18" charset="0"/>
              </a:rPr>
              <a:t>,</a:t>
            </a:r>
            <a:r>
              <a:rPr sz="2400" spc="2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which</a:t>
            </a:r>
            <a:r>
              <a:rPr sz="2400" spc="2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model</a:t>
            </a:r>
            <a:r>
              <a:rPr sz="2400" spc="25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4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data</a:t>
            </a:r>
            <a:r>
              <a:rPr sz="2400" spc="2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processing</a:t>
            </a:r>
            <a:r>
              <a:rPr sz="2400" spc="25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a:t>
            </a:r>
            <a:r>
              <a:rPr sz="2400" spc="250"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system,  and  the  </a:t>
            </a:r>
            <a:r>
              <a:rPr sz="2400" b="1" dirty="0">
                <a:latin typeface="Times New Roman" panose="02020603050405020304" pitchFamily="18" charset="0"/>
                <a:cs typeface="Times New Roman" panose="02020603050405020304" pitchFamily="18" charset="0"/>
              </a:rPr>
              <a:t>state</a:t>
            </a:r>
            <a:r>
              <a:rPr sz="2400" b="1" spc="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machine</a:t>
            </a:r>
            <a:r>
              <a:rPr sz="2400" b="1" spc="59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models</a:t>
            </a:r>
            <a:r>
              <a:rPr sz="2400" dirty="0">
                <a:latin typeface="Times New Roman" panose="02020603050405020304" pitchFamily="18" charset="0"/>
                <a:cs typeface="Times New Roman" panose="02020603050405020304" pitchFamily="18" charset="0"/>
              </a:rPr>
              <a:t>,</a:t>
            </a:r>
            <a:r>
              <a:rPr sz="2400" spc="69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which</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model </a:t>
            </a:r>
            <a:r>
              <a:rPr sz="2400" dirty="0">
                <a:latin typeface="Times New Roman" panose="02020603050405020304" pitchFamily="18" charset="0"/>
                <a:cs typeface="Times New Roman" panose="02020603050405020304" pitchFamily="18" charset="0"/>
              </a:rPr>
              <a:t>how</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system</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reacts</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incoming</a:t>
            </a:r>
            <a:r>
              <a:rPr sz="2400" spc="-10" dirty="0">
                <a:latin typeface="Times New Roman" panose="02020603050405020304" pitchFamily="18" charset="0"/>
                <a:cs typeface="Times New Roman" panose="02020603050405020304" pitchFamily="18" charset="0"/>
              </a:rPr>
              <a:t> events.</a:t>
            </a:r>
            <a:endParaRPr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19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bject 19"/>
          <p:cNvSpPr txBox="1"/>
          <p:nvPr/>
        </p:nvSpPr>
        <p:spPr>
          <a:xfrm>
            <a:off x="152400" y="2133600"/>
            <a:ext cx="8551545" cy="4199890"/>
          </a:xfrm>
          <a:prstGeom prst="rect">
            <a:avLst/>
          </a:prstGeom>
        </p:spPr>
        <p:txBody>
          <a:bodyPr vert="horz" wrap="square" lIns="0" tIns="12065" rIns="0" bIns="0" rtlCol="0">
            <a:spAutoFit/>
          </a:bodyPr>
          <a:lstStyle/>
          <a:p>
            <a:pPr marL="355600" marR="5715" indent="-342900" algn="just">
              <a:lnSpc>
                <a:spcPct val="100000"/>
              </a:lnSpc>
              <a:spcBef>
                <a:spcPts val="95"/>
              </a:spcBef>
              <a:buChar char="•"/>
              <a:tabLst>
                <a:tab pos="355600" algn="l"/>
              </a:tabLst>
            </a:pPr>
            <a:r>
              <a:rPr sz="2800" dirty="0">
                <a:latin typeface="Times New Roman"/>
                <a:cs typeface="Times New Roman"/>
              </a:rPr>
              <a:t>Depending</a:t>
            </a:r>
            <a:r>
              <a:rPr sz="2800" spc="270" dirty="0">
                <a:latin typeface="Times New Roman"/>
                <a:cs typeface="Times New Roman"/>
              </a:rPr>
              <a:t> </a:t>
            </a:r>
            <a:r>
              <a:rPr sz="2800" dirty="0">
                <a:latin typeface="Times New Roman"/>
                <a:cs typeface="Times New Roman"/>
              </a:rPr>
              <a:t>on</a:t>
            </a:r>
            <a:r>
              <a:rPr sz="2800" spc="275" dirty="0">
                <a:latin typeface="Times New Roman"/>
                <a:cs typeface="Times New Roman"/>
              </a:rPr>
              <a:t> </a:t>
            </a:r>
            <a:r>
              <a:rPr sz="2800" dirty="0">
                <a:latin typeface="Times New Roman"/>
                <a:cs typeface="Times New Roman"/>
              </a:rPr>
              <a:t>the</a:t>
            </a:r>
            <a:r>
              <a:rPr sz="2800" spc="270" dirty="0">
                <a:latin typeface="Times New Roman"/>
                <a:cs typeface="Times New Roman"/>
              </a:rPr>
              <a:t> </a:t>
            </a:r>
            <a:r>
              <a:rPr sz="2800" dirty="0">
                <a:latin typeface="Times New Roman"/>
                <a:cs typeface="Times New Roman"/>
              </a:rPr>
              <a:t>type</a:t>
            </a:r>
            <a:r>
              <a:rPr sz="2800" spc="275" dirty="0">
                <a:latin typeface="Times New Roman"/>
                <a:cs typeface="Times New Roman"/>
              </a:rPr>
              <a:t> </a:t>
            </a:r>
            <a:r>
              <a:rPr sz="2800" dirty="0">
                <a:latin typeface="Times New Roman"/>
                <a:cs typeface="Times New Roman"/>
              </a:rPr>
              <a:t>of</a:t>
            </a:r>
            <a:r>
              <a:rPr sz="2800" spc="275" dirty="0">
                <a:latin typeface="Times New Roman"/>
                <a:cs typeface="Times New Roman"/>
              </a:rPr>
              <a:t> </a:t>
            </a:r>
            <a:r>
              <a:rPr sz="2800" dirty="0">
                <a:latin typeface="Times New Roman"/>
                <a:cs typeface="Times New Roman"/>
              </a:rPr>
              <a:t>system,</a:t>
            </a:r>
            <a:r>
              <a:rPr sz="2800" spc="280" dirty="0">
                <a:latin typeface="Times New Roman"/>
                <a:cs typeface="Times New Roman"/>
              </a:rPr>
              <a:t> </a:t>
            </a:r>
            <a:r>
              <a:rPr sz="2800" dirty="0">
                <a:latin typeface="Times New Roman"/>
                <a:cs typeface="Times New Roman"/>
              </a:rPr>
              <a:t>these</a:t>
            </a:r>
            <a:r>
              <a:rPr sz="2800" spc="265" dirty="0">
                <a:latin typeface="Times New Roman"/>
                <a:cs typeface="Times New Roman"/>
              </a:rPr>
              <a:t> </a:t>
            </a:r>
            <a:r>
              <a:rPr sz="2800" dirty="0">
                <a:latin typeface="Times New Roman"/>
                <a:cs typeface="Times New Roman"/>
              </a:rPr>
              <a:t>models</a:t>
            </a:r>
            <a:r>
              <a:rPr sz="2800" spc="285" dirty="0">
                <a:latin typeface="Times New Roman"/>
                <a:cs typeface="Times New Roman"/>
              </a:rPr>
              <a:t> </a:t>
            </a:r>
            <a:r>
              <a:rPr sz="2800" dirty="0">
                <a:latin typeface="Times New Roman"/>
                <a:cs typeface="Times New Roman"/>
              </a:rPr>
              <a:t>may</a:t>
            </a:r>
            <a:r>
              <a:rPr sz="2800" spc="275" dirty="0">
                <a:latin typeface="Times New Roman"/>
                <a:cs typeface="Times New Roman"/>
              </a:rPr>
              <a:t> </a:t>
            </a:r>
            <a:r>
              <a:rPr sz="2800" spc="-25" dirty="0">
                <a:latin typeface="Times New Roman"/>
                <a:cs typeface="Times New Roman"/>
              </a:rPr>
              <a:t>be </a:t>
            </a:r>
            <a:r>
              <a:rPr sz="2800" dirty="0">
                <a:latin typeface="Times New Roman"/>
                <a:cs typeface="Times New Roman"/>
              </a:rPr>
              <a:t>used</a:t>
            </a:r>
            <a:r>
              <a:rPr sz="2800" spc="-30" dirty="0">
                <a:latin typeface="Times New Roman"/>
                <a:cs typeface="Times New Roman"/>
              </a:rPr>
              <a:t> </a:t>
            </a:r>
            <a:r>
              <a:rPr sz="2800" dirty="0">
                <a:latin typeface="Times New Roman"/>
                <a:cs typeface="Times New Roman"/>
              </a:rPr>
              <a:t>separately</a:t>
            </a:r>
            <a:r>
              <a:rPr sz="2800" spc="-15" dirty="0">
                <a:latin typeface="Times New Roman"/>
                <a:cs typeface="Times New Roman"/>
              </a:rPr>
              <a:t> </a:t>
            </a:r>
            <a:r>
              <a:rPr sz="2800" dirty="0">
                <a:latin typeface="Times New Roman"/>
                <a:cs typeface="Times New Roman"/>
              </a:rPr>
              <a:t>or</a:t>
            </a:r>
            <a:r>
              <a:rPr sz="2800" spc="-10" dirty="0">
                <a:latin typeface="Times New Roman"/>
                <a:cs typeface="Times New Roman"/>
              </a:rPr>
              <a:t> together.</a:t>
            </a:r>
            <a:endParaRPr sz="2800" dirty="0">
              <a:latin typeface="Times New Roman"/>
              <a:cs typeface="Times New Roman"/>
            </a:endParaRPr>
          </a:p>
          <a:p>
            <a:pPr marL="756285" marR="5080" lvl="1" indent="-287020" algn="just">
              <a:lnSpc>
                <a:spcPct val="100000"/>
              </a:lnSpc>
              <a:spcBef>
                <a:spcPts val="595"/>
              </a:spcBef>
              <a:buChar char="–"/>
              <a:tabLst>
                <a:tab pos="756285" algn="l"/>
              </a:tabLst>
            </a:pPr>
            <a:r>
              <a:rPr sz="2400" dirty="0">
                <a:latin typeface="Times New Roman"/>
                <a:cs typeface="Times New Roman"/>
              </a:rPr>
              <a:t>Generally,</a:t>
            </a:r>
            <a:r>
              <a:rPr sz="2400" spc="110" dirty="0">
                <a:latin typeface="Times New Roman"/>
                <a:cs typeface="Times New Roman"/>
              </a:rPr>
              <a:t> </a:t>
            </a:r>
            <a:r>
              <a:rPr sz="2400" dirty="0">
                <a:latin typeface="Times New Roman"/>
                <a:cs typeface="Times New Roman"/>
              </a:rPr>
              <a:t>most</a:t>
            </a:r>
            <a:r>
              <a:rPr sz="2400" spc="130" dirty="0">
                <a:latin typeface="Times New Roman"/>
                <a:cs typeface="Times New Roman"/>
              </a:rPr>
              <a:t> </a:t>
            </a:r>
            <a:r>
              <a:rPr sz="2400" dirty="0">
                <a:solidFill>
                  <a:srgbClr val="C00000"/>
                </a:solidFill>
                <a:latin typeface="Times New Roman"/>
                <a:cs typeface="Times New Roman"/>
              </a:rPr>
              <a:t>business</a:t>
            </a:r>
            <a:r>
              <a:rPr sz="2400" spc="130" dirty="0">
                <a:solidFill>
                  <a:srgbClr val="C00000"/>
                </a:solidFill>
                <a:latin typeface="Times New Roman"/>
                <a:cs typeface="Times New Roman"/>
              </a:rPr>
              <a:t> </a:t>
            </a:r>
            <a:r>
              <a:rPr sz="2400" dirty="0">
                <a:solidFill>
                  <a:srgbClr val="C00000"/>
                </a:solidFill>
                <a:latin typeface="Times New Roman"/>
                <a:cs typeface="Times New Roman"/>
              </a:rPr>
              <a:t>systems</a:t>
            </a:r>
            <a:r>
              <a:rPr sz="2400" spc="130" dirty="0">
                <a:solidFill>
                  <a:srgbClr val="C00000"/>
                </a:solidFill>
                <a:latin typeface="Times New Roman"/>
                <a:cs typeface="Times New Roman"/>
              </a:rPr>
              <a:t> </a:t>
            </a:r>
            <a:r>
              <a:rPr sz="2400" dirty="0">
                <a:solidFill>
                  <a:srgbClr val="C00000"/>
                </a:solidFill>
                <a:latin typeface="Times New Roman"/>
                <a:cs typeface="Times New Roman"/>
              </a:rPr>
              <a:t>are</a:t>
            </a:r>
            <a:r>
              <a:rPr sz="2400" spc="135" dirty="0">
                <a:solidFill>
                  <a:srgbClr val="C00000"/>
                </a:solidFill>
                <a:latin typeface="Times New Roman"/>
                <a:cs typeface="Times New Roman"/>
              </a:rPr>
              <a:t> </a:t>
            </a:r>
            <a:r>
              <a:rPr sz="2400" dirty="0">
                <a:solidFill>
                  <a:srgbClr val="C00000"/>
                </a:solidFill>
                <a:latin typeface="Times New Roman"/>
                <a:cs typeface="Times New Roman"/>
              </a:rPr>
              <a:t>driven</a:t>
            </a:r>
            <a:r>
              <a:rPr sz="2400" spc="125" dirty="0">
                <a:solidFill>
                  <a:srgbClr val="C00000"/>
                </a:solidFill>
                <a:latin typeface="Times New Roman"/>
                <a:cs typeface="Times New Roman"/>
              </a:rPr>
              <a:t> </a:t>
            </a:r>
            <a:r>
              <a:rPr sz="2400" dirty="0">
                <a:solidFill>
                  <a:srgbClr val="C00000"/>
                </a:solidFill>
                <a:latin typeface="Times New Roman"/>
                <a:cs typeface="Times New Roman"/>
              </a:rPr>
              <a:t>by</a:t>
            </a:r>
            <a:r>
              <a:rPr sz="2400" spc="110" dirty="0">
                <a:solidFill>
                  <a:srgbClr val="C00000"/>
                </a:solidFill>
                <a:latin typeface="Times New Roman"/>
                <a:cs typeface="Times New Roman"/>
              </a:rPr>
              <a:t> </a:t>
            </a:r>
            <a:r>
              <a:rPr sz="2400" dirty="0">
                <a:solidFill>
                  <a:srgbClr val="C00000"/>
                </a:solidFill>
                <a:latin typeface="Times New Roman"/>
                <a:cs typeface="Times New Roman"/>
              </a:rPr>
              <a:t>data</a:t>
            </a:r>
            <a:r>
              <a:rPr sz="2400" spc="125" dirty="0">
                <a:solidFill>
                  <a:srgbClr val="C00000"/>
                </a:solidFill>
                <a:latin typeface="Times New Roman"/>
                <a:cs typeface="Times New Roman"/>
              </a:rPr>
              <a:t> </a:t>
            </a:r>
            <a:r>
              <a:rPr sz="2400" dirty="0">
                <a:latin typeface="Times New Roman"/>
                <a:cs typeface="Times New Roman"/>
              </a:rPr>
              <a:t>so</a:t>
            </a:r>
            <a:r>
              <a:rPr sz="2400" spc="120" dirty="0">
                <a:latin typeface="Times New Roman"/>
                <a:cs typeface="Times New Roman"/>
              </a:rPr>
              <a:t> </a:t>
            </a:r>
            <a:r>
              <a:rPr sz="2400" dirty="0">
                <a:latin typeface="Times New Roman"/>
                <a:cs typeface="Times New Roman"/>
              </a:rPr>
              <a:t>a</a:t>
            </a:r>
            <a:r>
              <a:rPr sz="2400" spc="110" dirty="0">
                <a:latin typeface="Times New Roman"/>
                <a:cs typeface="Times New Roman"/>
              </a:rPr>
              <a:t> </a:t>
            </a:r>
            <a:r>
              <a:rPr sz="2400" spc="-10" dirty="0">
                <a:latin typeface="Times New Roman"/>
                <a:cs typeface="Times New Roman"/>
              </a:rPr>
              <a:t>data- </a:t>
            </a:r>
            <a:r>
              <a:rPr sz="2400" dirty="0">
                <a:latin typeface="Times New Roman"/>
                <a:cs typeface="Times New Roman"/>
              </a:rPr>
              <a:t>flow</a:t>
            </a:r>
            <a:r>
              <a:rPr sz="2400" spc="355" dirty="0">
                <a:latin typeface="Times New Roman"/>
                <a:cs typeface="Times New Roman"/>
              </a:rPr>
              <a:t> </a:t>
            </a:r>
            <a:r>
              <a:rPr sz="2400" dirty="0">
                <a:latin typeface="Times New Roman"/>
                <a:cs typeface="Times New Roman"/>
              </a:rPr>
              <a:t>model</a:t>
            </a:r>
            <a:r>
              <a:rPr sz="2400" spc="365" dirty="0">
                <a:latin typeface="Times New Roman"/>
                <a:cs typeface="Times New Roman"/>
              </a:rPr>
              <a:t> </a:t>
            </a:r>
            <a:r>
              <a:rPr sz="2400" dirty="0">
                <a:latin typeface="Times New Roman"/>
                <a:cs typeface="Times New Roman"/>
              </a:rPr>
              <a:t>may</a:t>
            </a:r>
            <a:r>
              <a:rPr sz="2400" spc="360" dirty="0">
                <a:latin typeface="Times New Roman"/>
                <a:cs typeface="Times New Roman"/>
              </a:rPr>
              <a:t> </a:t>
            </a:r>
            <a:r>
              <a:rPr sz="2400" dirty="0">
                <a:latin typeface="Times New Roman"/>
                <a:cs typeface="Times New Roman"/>
              </a:rPr>
              <a:t>be</a:t>
            </a:r>
            <a:r>
              <a:rPr sz="2400" spc="350" dirty="0">
                <a:latin typeface="Times New Roman"/>
                <a:cs typeface="Times New Roman"/>
              </a:rPr>
              <a:t> </a:t>
            </a:r>
            <a:r>
              <a:rPr sz="2400" dirty="0">
                <a:latin typeface="Times New Roman"/>
                <a:cs typeface="Times New Roman"/>
              </a:rPr>
              <a:t>useful</a:t>
            </a:r>
            <a:r>
              <a:rPr sz="2400" spc="355" dirty="0">
                <a:latin typeface="Times New Roman"/>
                <a:cs typeface="Times New Roman"/>
              </a:rPr>
              <a:t> </a:t>
            </a:r>
            <a:r>
              <a:rPr sz="2400" dirty="0">
                <a:latin typeface="Times New Roman"/>
                <a:cs typeface="Times New Roman"/>
              </a:rPr>
              <a:t>to</a:t>
            </a:r>
            <a:r>
              <a:rPr sz="2400" spc="355" dirty="0">
                <a:latin typeface="Times New Roman"/>
                <a:cs typeface="Times New Roman"/>
              </a:rPr>
              <a:t> </a:t>
            </a:r>
            <a:r>
              <a:rPr sz="2400" dirty="0">
                <a:latin typeface="Times New Roman"/>
                <a:cs typeface="Times New Roman"/>
              </a:rPr>
              <a:t>represent</a:t>
            </a:r>
            <a:r>
              <a:rPr sz="2400" spc="360" dirty="0">
                <a:latin typeface="Times New Roman"/>
                <a:cs typeface="Times New Roman"/>
              </a:rPr>
              <a:t> </a:t>
            </a:r>
            <a:r>
              <a:rPr sz="2400" dirty="0">
                <a:latin typeface="Times New Roman"/>
                <a:cs typeface="Times New Roman"/>
              </a:rPr>
              <a:t>the</a:t>
            </a:r>
            <a:r>
              <a:rPr sz="2400" spc="360" dirty="0">
                <a:latin typeface="Times New Roman"/>
                <a:cs typeface="Times New Roman"/>
              </a:rPr>
              <a:t> </a:t>
            </a:r>
            <a:r>
              <a:rPr sz="2400" dirty="0">
                <a:latin typeface="Times New Roman"/>
                <a:cs typeface="Times New Roman"/>
              </a:rPr>
              <a:t>behavior</a:t>
            </a:r>
            <a:r>
              <a:rPr sz="2400" spc="360" dirty="0">
                <a:latin typeface="Times New Roman"/>
                <a:cs typeface="Times New Roman"/>
              </a:rPr>
              <a:t> </a:t>
            </a:r>
            <a:r>
              <a:rPr sz="2400" dirty="0">
                <a:latin typeface="Times New Roman"/>
                <a:cs typeface="Times New Roman"/>
              </a:rPr>
              <a:t>of</a:t>
            </a:r>
            <a:r>
              <a:rPr sz="2400" spc="340" dirty="0">
                <a:latin typeface="Times New Roman"/>
                <a:cs typeface="Times New Roman"/>
              </a:rPr>
              <a:t> </a:t>
            </a:r>
            <a:r>
              <a:rPr sz="2400" spc="-10" dirty="0">
                <a:latin typeface="Times New Roman"/>
                <a:cs typeface="Times New Roman"/>
              </a:rPr>
              <a:t>these systems.</a:t>
            </a:r>
            <a:endParaRPr sz="2400" dirty="0">
              <a:latin typeface="Times New Roman"/>
              <a:cs typeface="Times New Roman"/>
            </a:endParaRPr>
          </a:p>
          <a:p>
            <a:pPr marL="756285" marR="5715" lvl="1" indent="-287020" algn="just">
              <a:lnSpc>
                <a:spcPct val="100000"/>
              </a:lnSpc>
              <a:spcBef>
                <a:spcPts val="575"/>
              </a:spcBef>
              <a:buChar char="–"/>
              <a:tabLst>
                <a:tab pos="756285" algn="l"/>
              </a:tabLst>
            </a:pPr>
            <a:r>
              <a:rPr sz="2400" dirty="0">
                <a:latin typeface="Times New Roman"/>
                <a:cs typeface="Times New Roman"/>
              </a:rPr>
              <a:t>In</a:t>
            </a:r>
            <a:r>
              <a:rPr sz="2400" spc="340" dirty="0">
                <a:latin typeface="Times New Roman"/>
                <a:cs typeface="Times New Roman"/>
              </a:rPr>
              <a:t> </a:t>
            </a:r>
            <a:r>
              <a:rPr sz="2400" dirty="0">
                <a:latin typeface="Times New Roman"/>
                <a:cs typeface="Times New Roman"/>
              </a:rPr>
              <a:t>contrary,</a:t>
            </a:r>
            <a:r>
              <a:rPr sz="2400" spc="335" dirty="0">
                <a:latin typeface="Times New Roman"/>
                <a:cs typeface="Times New Roman"/>
              </a:rPr>
              <a:t> </a:t>
            </a:r>
            <a:r>
              <a:rPr sz="2400" spc="-10" dirty="0">
                <a:solidFill>
                  <a:srgbClr val="C00000"/>
                </a:solidFill>
                <a:latin typeface="Times New Roman"/>
                <a:cs typeface="Times New Roman"/>
              </a:rPr>
              <a:t>real-</a:t>
            </a:r>
            <a:r>
              <a:rPr sz="2400" dirty="0">
                <a:solidFill>
                  <a:srgbClr val="C00000"/>
                </a:solidFill>
                <a:latin typeface="Times New Roman"/>
                <a:cs typeface="Times New Roman"/>
              </a:rPr>
              <a:t>time</a:t>
            </a:r>
            <a:r>
              <a:rPr sz="2400" spc="345" dirty="0">
                <a:solidFill>
                  <a:srgbClr val="C00000"/>
                </a:solidFill>
                <a:latin typeface="Times New Roman"/>
                <a:cs typeface="Times New Roman"/>
              </a:rPr>
              <a:t> </a:t>
            </a:r>
            <a:r>
              <a:rPr sz="2400" dirty="0">
                <a:solidFill>
                  <a:srgbClr val="C00000"/>
                </a:solidFill>
                <a:latin typeface="Times New Roman"/>
                <a:cs typeface="Times New Roman"/>
              </a:rPr>
              <a:t>systems</a:t>
            </a:r>
            <a:r>
              <a:rPr sz="2400" spc="350" dirty="0">
                <a:solidFill>
                  <a:srgbClr val="C00000"/>
                </a:solidFill>
                <a:latin typeface="Times New Roman"/>
                <a:cs typeface="Times New Roman"/>
              </a:rPr>
              <a:t> </a:t>
            </a:r>
            <a:r>
              <a:rPr sz="2400" dirty="0">
                <a:solidFill>
                  <a:srgbClr val="C00000"/>
                </a:solidFill>
                <a:latin typeface="Times New Roman"/>
                <a:cs typeface="Times New Roman"/>
              </a:rPr>
              <a:t>are</a:t>
            </a:r>
            <a:r>
              <a:rPr sz="2400" spc="325" dirty="0">
                <a:solidFill>
                  <a:srgbClr val="C00000"/>
                </a:solidFill>
                <a:latin typeface="Times New Roman"/>
                <a:cs typeface="Times New Roman"/>
              </a:rPr>
              <a:t> </a:t>
            </a:r>
            <a:r>
              <a:rPr sz="2400" dirty="0">
                <a:solidFill>
                  <a:srgbClr val="C00000"/>
                </a:solidFill>
                <a:latin typeface="Times New Roman"/>
                <a:cs typeface="Times New Roman"/>
              </a:rPr>
              <a:t>often</a:t>
            </a:r>
            <a:r>
              <a:rPr sz="2400" spc="350" dirty="0">
                <a:solidFill>
                  <a:srgbClr val="C00000"/>
                </a:solidFill>
                <a:latin typeface="Times New Roman"/>
                <a:cs typeface="Times New Roman"/>
              </a:rPr>
              <a:t> </a:t>
            </a:r>
            <a:r>
              <a:rPr sz="2400" dirty="0">
                <a:solidFill>
                  <a:srgbClr val="C00000"/>
                </a:solidFill>
                <a:latin typeface="Times New Roman"/>
                <a:cs typeface="Times New Roman"/>
              </a:rPr>
              <a:t>driven</a:t>
            </a:r>
            <a:r>
              <a:rPr sz="2400" spc="335" dirty="0">
                <a:solidFill>
                  <a:srgbClr val="C00000"/>
                </a:solidFill>
                <a:latin typeface="Times New Roman"/>
                <a:cs typeface="Times New Roman"/>
              </a:rPr>
              <a:t> </a:t>
            </a:r>
            <a:r>
              <a:rPr sz="2400" dirty="0">
                <a:solidFill>
                  <a:srgbClr val="C00000"/>
                </a:solidFill>
                <a:latin typeface="Times New Roman"/>
                <a:cs typeface="Times New Roman"/>
              </a:rPr>
              <a:t>by</a:t>
            </a:r>
            <a:r>
              <a:rPr sz="2400" spc="345" dirty="0">
                <a:solidFill>
                  <a:srgbClr val="C00000"/>
                </a:solidFill>
                <a:latin typeface="Times New Roman"/>
                <a:cs typeface="Times New Roman"/>
              </a:rPr>
              <a:t> </a:t>
            </a:r>
            <a:r>
              <a:rPr sz="2400" dirty="0">
                <a:solidFill>
                  <a:srgbClr val="C00000"/>
                </a:solidFill>
                <a:latin typeface="Times New Roman"/>
                <a:cs typeface="Times New Roman"/>
              </a:rPr>
              <a:t>event</a:t>
            </a:r>
            <a:r>
              <a:rPr sz="2400" spc="340" dirty="0">
                <a:solidFill>
                  <a:srgbClr val="C00000"/>
                </a:solidFill>
                <a:latin typeface="Times New Roman"/>
                <a:cs typeface="Times New Roman"/>
              </a:rPr>
              <a:t> </a:t>
            </a:r>
            <a:r>
              <a:rPr sz="2400" spc="-20" dirty="0">
                <a:latin typeface="Times New Roman"/>
                <a:cs typeface="Times New Roman"/>
              </a:rPr>
              <a:t>with </a:t>
            </a:r>
            <a:r>
              <a:rPr sz="2400" dirty="0">
                <a:latin typeface="Times New Roman"/>
                <a:cs typeface="Times New Roman"/>
              </a:rPr>
              <a:t>minimal</a:t>
            </a:r>
            <a:r>
              <a:rPr sz="2400" spc="-20" dirty="0">
                <a:latin typeface="Times New Roman"/>
                <a:cs typeface="Times New Roman"/>
              </a:rPr>
              <a:t> </a:t>
            </a:r>
            <a:r>
              <a:rPr sz="2400" dirty="0">
                <a:latin typeface="Times New Roman"/>
                <a:cs typeface="Times New Roman"/>
              </a:rPr>
              <a:t>data</a:t>
            </a:r>
            <a:r>
              <a:rPr sz="2400" spc="-35" dirty="0">
                <a:latin typeface="Times New Roman"/>
                <a:cs typeface="Times New Roman"/>
              </a:rPr>
              <a:t> </a:t>
            </a:r>
            <a:r>
              <a:rPr sz="2400" spc="-10" dirty="0">
                <a:latin typeface="Times New Roman"/>
                <a:cs typeface="Times New Roman"/>
              </a:rPr>
              <a:t>processing.</a:t>
            </a:r>
            <a:endParaRPr sz="2400" dirty="0">
              <a:latin typeface="Times New Roman"/>
              <a:cs typeface="Times New Roman"/>
            </a:endParaRPr>
          </a:p>
          <a:p>
            <a:pPr marL="1155065" lvl="2" indent="-227965" algn="just">
              <a:lnSpc>
                <a:spcPct val="100000"/>
              </a:lnSpc>
              <a:spcBef>
                <a:spcPts val="500"/>
              </a:spcBef>
              <a:buChar char="•"/>
              <a:tabLst>
                <a:tab pos="1155065" algn="l"/>
              </a:tabLst>
            </a:pPr>
            <a:r>
              <a:rPr sz="2000" dirty="0">
                <a:latin typeface="Times New Roman"/>
                <a:cs typeface="Times New Roman"/>
              </a:rPr>
              <a:t>The</a:t>
            </a:r>
            <a:r>
              <a:rPr sz="2000" spc="440" dirty="0">
                <a:latin typeface="Times New Roman"/>
                <a:cs typeface="Times New Roman"/>
              </a:rPr>
              <a:t> </a:t>
            </a:r>
            <a:r>
              <a:rPr sz="2000" dirty="0">
                <a:latin typeface="Times New Roman"/>
                <a:cs typeface="Times New Roman"/>
              </a:rPr>
              <a:t>state</a:t>
            </a:r>
            <a:r>
              <a:rPr sz="2000" spc="440" dirty="0">
                <a:latin typeface="Times New Roman"/>
                <a:cs typeface="Times New Roman"/>
              </a:rPr>
              <a:t> </a:t>
            </a:r>
            <a:r>
              <a:rPr sz="2000" dirty="0">
                <a:latin typeface="Times New Roman"/>
                <a:cs typeface="Times New Roman"/>
              </a:rPr>
              <a:t>machine</a:t>
            </a:r>
            <a:r>
              <a:rPr sz="2000" spc="450" dirty="0">
                <a:latin typeface="Times New Roman"/>
                <a:cs typeface="Times New Roman"/>
              </a:rPr>
              <a:t> </a:t>
            </a:r>
            <a:r>
              <a:rPr sz="2000" dirty="0">
                <a:latin typeface="Times New Roman"/>
                <a:cs typeface="Times New Roman"/>
              </a:rPr>
              <a:t>models</a:t>
            </a:r>
            <a:r>
              <a:rPr sz="2000" spc="445" dirty="0">
                <a:latin typeface="Times New Roman"/>
                <a:cs typeface="Times New Roman"/>
              </a:rPr>
              <a:t> </a:t>
            </a:r>
            <a:r>
              <a:rPr sz="2000" dirty="0">
                <a:latin typeface="Times New Roman"/>
                <a:cs typeface="Times New Roman"/>
              </a:rPr>
              <a:t>are</a:t>
            </a:r>
            <a:r>
              <a:rPr sz="2000" spc="445" dirty="0">
                <a:latin typeface="Times New Roman"/>
                <a:cs typeface="Times New Roman"/>
              </a:rPr>
              <a:t> </a:t>
            </a:r>
            <a:r>
              <a:rPr sz="2000" dirty="0">
                <a:latin typeface="Times New Roman"/>
                <a:cs typeface="Times New Roman"/>
              </a:rPr>
              <a:t>most</a:t>
            </a:r>
            <a:r>
              <a:rPr sz="2000" spc="445" dirty="0">
                <a:latin typeface="Times New Roman"/>
                <a:cs typeface="Times New Roman"/>
              </a:rPr>
              <a:t> </a:t>
            </a:r>
            <a:r>
              <a:rPr sz="2000" dirty="0">
                <a:latin typeface="Times New Roman"/>
                <a:cs typeface="Times New Roman"/>
              </a:rPr>
              <a:t>effective</a:t>
            </a:r>
            <a:r>
              <a:rPr sz="2000" spc="440" dirty="0">
                <a:latin typeface="Times New Roman"/>
                <a:cs typeface="Times New Roman"/>
              </a:rPr>
              <a:t> </a:t>
            </a:r>
            <a:r>
              <a:rPr sz="2000" dirty="0">
                <a:latin typeface="Times New Roman"/>
                <a:cs typeface="Times New Roman"/>
              </a:rPr>
              <a:t>way</a:t>
            </a:r>
            <a:r>
              <a:rPr sz="2000" spc="434" dirty="0">
                <a:latin typeface="Times New Roman"/>
                <a:cs typeface="Times New Roman"/>
              </a:rPr>
              <a:t> </a:t>
            </a:r>
            <a:r>
              <a:rPr sz="2000" dirty="0">
                <a:latin typeface="Times New Roman"/>
                <a:cs typeface="Times New Roman"/>
              </a:rPr>
              <a:t>to</a:t>
            </a:r>
            <a:r>
              <a:rPr sz="2000" spc="440" dirty="0">
                <a:latin typeface="Times New Roman"/>
                <a:cs typeface="Times New Roman"/>
              </a:rPr>
              <a:t> </a:t>
            </a:r>
            <a:r>
              <a:rPr sz="2000" dirty="0">
                <a:latin typeface="Times New Roman"/>
                <a:cs typeface="Times New Roman"/>
              </a:rPr>
              <a:t>represent</a:t>
            </a:r>
            <a:r>
              <a:rPr sz="2000" spc="445" dirty="0">
                <a:latin typeface="Times New Roman"/>
                <a:cs typeface="Times New Roman"/>
              </a:rPr>
              <a:t> </a:t>
            </a:r>
            <a:r>
              <a:rPr sz="2000" spc="-10" dirty="0">
                <a:latin typeface="Times New Roman"/>
                <a:cs typeface="Times New Roman"/>
              </a:rPr>
              <a:t>their</a:t>
            </a:r>
            <a:endParaRPr sz="2000" dirty="0">
              <a:latin typeface="Times New Roman"/>
              <a:cs typeface="Times New Roman"/>
            </a:endParaRPr>
          </a:p>
          <a:p>
            <a:pPr marL="1155700">
              <a:lnSpc>
                <a:spcPct val="100000"/>
              </a:lnSpc>
            </a:pPr>
            <a:r>
              <a:rPr sz="2000" spc="-10" dirty="0">
                <a:latin typeface="Times New Roman"/>
                <a:cs typeface="Times New Roman"/>
              </a:rPr>
              <a:t>behavior.</a:t>
            </a:r>
            <a:endParaRPr sz="2000" dirty="0">
              <a:latin typeface="Times New Roman"/>
              <a:cs typeface="Times New Roman"/>
            </a:endParaRPr>
          </a:p>
          <a:p>
            <a:pPr marL="1155700" marR="5080" lvl="2" indent="-228600">
              <a:lnSpc>
                <a:spcPct val="100000"/>
              </a:lnSpc>
              <a:spcBef>
                <a:spcPts val="480"/>
              </a:spcBef>
              <a:buChar char="•"/>
              <a:tabLst>
                <a:tab pos="1155700" algn="l"/>
              </a:tabLst>
            </a:pPr>
            <a:r>
              <a:rPr sz="2000" dirty="0">
                <a:latin typeface="Times New Roman"/>
                <a:cs typeface="Times New Roman"/>
              </a:rPr>
              <a:t>Other</a:t>
            </a:r>
            <a:r>
              <a:rPr sz="2000" spc="370" dirty="0">
                <a:latin typeface="Times New Roman"/>
                <a:cs typeface="Times New Roman"/>
              </a:rPr>
              <a:t> </a:t>
            </a:r>
            <a:r>
              <a:rPr sz="2000" dirty="0">
                <a:latin typeface="Times New Roman"/>
                <a:cs typeface="Times New Roman"/>
              </a:rPr>
              <a:t>types</a:t>
            </a:r>
            <a:r>
              <a:rPr sz="2000" spc="365" dirty="0">
                <a:latin typeface="Times New Roman"/>
                <a:cs typeface="Times New Roman"/>
              </a:rPr>
              <a:t> </a:t>
            </a:r>
            <a:r>
              <a:rPr sz="2000" dirty="0">
                <a:latin typeface="Times New Roman"/>
                <a:cs typeface="Times New Roman"/>
              </a:rPr>
              <a:t>of</a:t>
            </a:r>
            <a:r>
              <a:rPr sz="2000" spc="365" dirty="0">
                <a:latin typeface="Times New Roman"/>
                <a:cs typeface="Times New Roman"/>
              </a:rPr>
              <a:t> </a:t>
            </a:r>
            <a:r>
              <a:rPr sz="2000" dirty="0">
                <a:latin typeface="Times New Roman"/>
                <a:cs typeface="Times New Roman"/>
              </a:rPr>
              <a:t>systems</a:t>
            </a:r>
            <a:r>
              <a:rPr sz="2000" spc="370" dirty="0">
                <a:latin typeface="Times New Roman"/>
                <a:cs typeface="Times New Roman"/>
              </a:rPr>
              <a:t> </a:t>
            </a:r>
            <a:r>
              <a:rPr sz="2000" dirty="0">
                <a:latin typeface="Times New Roman"/>
                <a:cs typeface="Times New Roman"/>
              </a:rPr>
              <a:t>may</a:t>
            </a:r>
            <a:r>
              <a:rPr sz="2000" spc="375" dirty="0">
                <a:latin typeface="Times New Roman"/>
                <a:cs typeface="Times New Roman"/>
              </a:rPr>
              <a:t> </a:t>
            </a:r>
            <a:r>
              <a:rPr sz="2000" dirty="0">
                <a:latin typeface="Times New Roman"/>
                <a:cs typeface="Times New Roman"/>
              </a:rPr>
              <a:t>be</a:t>
            </a:r>
            <a:r>
              <a:rPr sz="2000" spc="355" dirty="0">
                <a:latin typeface="Times New Roman"/>
                <a:cs typeface="Times New Roman"/>
              </a:rPr>
              <a:t> </a:t>
            </a:r>
            <a:r>
              <a:rPr sz="2000" dirty="0">
                <a:latin typeface="Times New Roman"/>
                <a:cs typeface="Times New Roman"/>
              </a:rPr>
              <a:t>both</a:t>
            </a:r>
            <a:r>
              <a:rPr sz="2000" spc="365" dirty="0">
                <a:latin typeface="Times New Roman"/>
                <a:cs typeface="Times New Roman"/>
              </a:rPr>
              <a:t> </a:t>
            </a:r>
            <a:r>
              <a:rPr sz="2000" dirty="0">
                <a:latin typeface="Times New Roman"/>
                <a:cs typeface="Times New Roman"/>
              </a:rPr>
              <a:t>data</a:t>
            </a:r>
            <a:r>
              <a:rPr sz="2000" spc="355" dirty="0">
                <a:latin typeface="Times New Roman"/>
                <a:cs typeface="Times New Roman"/>
              </a:rPr>
              <a:t> </a:t>
            </a:r>
            <a:r>
              <a:rPr sz="2000" dirty="0">
                <a:latin typeface="Times New Roman"/>
                <a:cs typeface="Times New Roman"/>
              </a:rPr>
              <a:t>and</a:t>
            </a:r>
            <a:r>
              <a:rPr sz="2000" spc="375" dirty="0">
                <a:latin typeface="Times New Roman"/>
                <a:cs typeface="Times New Roman"/>
              </a:rPr>
              <a:t> </a:t>
            </a:r>
            <a:r>
              <a:rPr sz="2000" dirty="0">
                <a:latin typeface="Times New Roman"/>
                <a:cs typeface="Times New Roman"/>
              </a:rPr>
              <a:t>event</a:t>
            </a:r>
            <a:r>
              <a:rPr sz="2000" spc="365" dirty="0">
                <a:latin typeface="Times New Roman"/>
                <a:cs typeface="Times New Roman"/>
              </a:rPr>
              <a:t> </a:t>
            </a:r>
            <a:r>
              <a:rPr sz="2000" dirty="0">
                <a:latin typeface="Times New Roman"/>
                <a:cs typeface="Times New Roman"/>
              </a:rPr>
              <a:t>driven.</a:t>
            </a:r>
            <a:r>
              <a:rPr sz="2000" spc="360" dirty="0">
                <a:latin typeface="Times New Roman"/>
                <a:cs typeface="Times New Roman"/>
              </a:rPr>
              <a:t> </a:t>
            </a:r>
            <a:r>
              <a:rPr sz="2000" dirty="0">
                <a:latin typeface="Times New Roman"/>
                <a:cs typeface="Times New Roman"/>
              </a:rPr>
              <a:t>In</a:t>
            </a:r>
            <a:r>
              <a:rPr sz="2000" spc="375" dirty="0">
                <a:latin typeface="Times New Roman"/>
                <a:cs typeface="Times New Roman"/>
              </a:rPr>
              <a:t> </a:t>
            </a:r>
            <a:r>
              <a:rPr sz="2000" spc="-10" dirty="0">
                <a:latin typeface="Times New Roman"/>
                <a:cs typeface="Times New Roman"/>
              </a:rPr>
              <a:t>these </a:t>
            </a:r>
            <a:r>
              <a:rPr sz="2000" dirty="0">
                <a:latin typeface="Times New Roman"/>
                <a:cs typeface="Times New Roman"/>
              </a:rPr>
              <a:t>cases,</a:t>
            </a:r>
            <a:r>
              <a:rPr sz="2000" spc="-40" dirty="0">
                <a:latin typeface="Times New Roman"/>
                <a:cs typeface="Times New Roman"/>
              </a:rPr>
              <a:t> </a:t>
            </a:r>
            <a:r>
              <a:rPr sz="2000" dirty="0">
                <a:latin typeface="Times New Roman"/>
                <a:cs typeface="Times New Roman"/>
              </a:rPr>
              <a:t>you</a:t>
            </a:r>
            <a:r>
              <a:rPr sz="2000" spc="-5" dirty="0">
                <a:latin typeface="Times New Roman"/>
                <a:cs typeface="Times New Roman"/>
              </a:rPr>
              <a:t> </a:t>
            </a:r>
            <a:r>
              <a:rPr sz="2000" dirty="0">
                <a:latin typeface="Times New Roman"/>
                <a:cs typeface="Times New Roman"/>
              </a:rPr>
              <a:t>need</a:t>
            </a:r>
            <a:r>
              <a:rPr sz="2000" spc="-15"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dirty="0">
                <a:latin typeface="Times New Roman"/>
                <a:cs typeface="Times New Roman"/>
              </a:rPr>
              <a:t>develop</a:t>
            </a:r>
            <a:r>
              <a:rPr sz="2000" spc="-20" dirty="0">
                <a:latin typeface="Times New Roman"/>
                <a:cs typeface="Times New Roman"/>
              </a:rPr>
              <a:t> </a:t>
            </a:r>
            <a:r>
              <a:rPr sz="2000" dirty="0">
                <a:latin typeface="Times New Roman"/>
                <a:cs typeface="Times New Roman"/>
              </a:rPr>
              <a:t>both</a:t>
            </a:r>
            <a:r>
              <a:rPr sz="2000" spc="-35" dirty="0">
                <a:latin typeface="Times New Roman"/>
                <a:cs typeface="Times New Roman"/>
              </a:rPr>
              <a:t> </a:t>
            </a:r>
            <a:r>
              <a:rPr sz="2000" dirty="0">
                <a:latin typeface="Times New Roman"/>
                <a:cs typeface="Times New Roman"/>
              </a:rPr>
              <a:t>types</a:t>
            </a:r>
            <a:r>
              <a:rPr sz="2000" spc="-5"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sz="2000" spc="-10" dirty="0">
                <a:latin typeface="Times New Roman"/>
                <a:cs typeface="Times New Roman"/>
              </a:rPr>
              <a:t>models.</a:t>
            </a:r>
            <a:endParaRPr sz="2000"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8333" y="-32657"/>
            <a:ext cx="9121279" cy="1312282"/>
          </a:xfrm>
          <a:prstGeom prst="rect">
            <a:avLst/>
          </a:prstGeom>
        </p:spPr>
        <p:txBody>
          <a:bodyPr vert="horz" wrap="square" lIns="0" tIns="629031" rIns="0" bIns="0" rtlCol="0">
            <a:spAutoFit/>
          </a:bodyPr>
          <a:lstStyle/>
          <a:p>
            <a:pPr marL="1559560">
              <a:spcBef>
                <a:spcPts val="105"/>
              </a:spcBef>
            </a:pPr>
            <a:r>
              <a:rPr lang="en-US" b="1" dirty="0">
                <a:latin typeface="Times New Roman" panose="02020603050405020304" pitchFamily="18" charset="0"/>
                <a:cs typeface="Times New Roman" panose="02020603050405020304" pitchFamily="18" charset="0"/>
              </a:rPr>
              <a:t>Example of </a:t>
            </a:r>
            <a:r>
              <a:rPr sz="4400" b="1" dirty="0" err="1">
                <a:solidFill>
                  <a:srgbClr val="000000"/>
                </a:solidFill>
                <a:latin typeface="Times New Roman" panose="02020603050405020304" pitchFamily="18" charset="0"/>
                <a:cs typeface="Times New Roman" panose="02020603050405020304" pitchFamily="18" charset="0"/>
              </a:rPr>
              <a:t>Behavioural</a:t>
            </a:r>
            <a:r>
              <a:rPr sz="4400" b="1" spc="-50" dirty="0">
                <a:solidFill>
                  <a:srgbClr val="000000"/>
                </a:solidFill>
                <a:latin typeface="Times New Roman" panose="02020603050405020304" pitchFamily="18" charset="0"/>
                <a:cs typeface="Times New Roman" panose="02020603050405020304" pitchFamily="18" charset="0"/>
              </a:rPr>
              <a:t> </a:t>
            </a:r>
            <a:r>
              <a:rPr sz="4400" b="1" spc="-10" dirty="0">
                <a:solidFill>
                  <a:srgbClr val="000000"/>
                </a:solidFill>
                <a:latin typeface="Times New Roman" panose="02020603050405020304" pitchFamily="18" charset="0"/>
                <a:cs typeface="Times New Roman" panose="02020603050405020304" pitchFamily="18" charset="0"/>
              </a:rPr>
              <a:t>Model</a:t>
            </a:r>
            <a:endParaRPr sz="4400" b="1" dirty="0">
              <a:latin typeface="Times New Roman" panose="02020603050405020304" pitchFamily="18" charset="0"/>
              <a:cs typeface="Times New Roman" panose="02020603050405020304" pitchFamily="18" charset="0"/>
            </a:endParaRPr>
          </a:p>
        </p:txBody>
      </p:sp>
      <p:sp>
        <p:nvSpPr>
          <p:cNvPr id="12" name="object 12"/>
          <p:cNvSpPr txBox="1"/>
          <p:nvPr/>
        </p:nvSpPr>
        <p:spPr>
          <a:xfrm>
            <a:off x="201860" y="1981200"/>
            <a:ext cx="8740280" cy="3953005"/>
          </a:xfrm>
          <a:prstGeom prst="rect">
            <a:avLst/>
          </a:prstGeom>
        </p:spPr>
        <p:txBody>
          <a:bodyPr vert="horz" wrap="square" lIns="0" tIns="13335" rIns="0" bIns="0" rtlCol="0">
            <a:spAutoFit/>
          </a:bodyPr>
          <a:lstStyle/>
          <a:p>
            <a:r>
              <a:rPr lang="en-US" sz="3200" dirty="0">
                <a:latin typeface="Times New Roman" panose="02020603050405020304" pitchFamily="18" charset="0"/>
                <a:cs typeface="Times New Roman" panose="02020603050405020304" pitchFamily="18" charset="0"/>
              </a:rPr>
              <a:t>For an </a:t>
            </a:r>
            <a:r>
              <a:rPr lang="en-US" sz="3200" b="1" dirty="0">
                <a:latin typeface="Times New Roman" panose="02020603050405020304" pitchFamily="18" charset="0"/>
                <a:cs typeface="Times New Roman" panose="02020603050405020304" pitchFamily="18" charset="0"/>
              </a:rPr>
              <a:t>Online Payment System</a:t>
            </a:r>
            <a:r>
              <a:rPr lang="en-US" sz="3200" dirty="0">
                <a:latin typeface="Times New Roman" panose="02020603050405020304" pitchFamily="18" charset="0"/>
                <a:cs typeface="Times New Roman" panose="02020603050405020304" pitchFamily="18" charset="0"/>
              </a:rPr>
              <a:t>, a </a:t>
            </a:r>
            <a:r>
              <a:rPr lang="en-US" sz="3200" dirty="0" err="1">
                <a:latin typeface="Times New Roman" panose="02020603050405020304" pitchFamily="18" charset="0"/>
                <a:cs typeface="Times New Roman" panose="02020603050405020304" pitchFamily="18" charset="0"/>
              </a:rPr>
              <a:t>behavioural</a:t>
            </a:r>
            <a:r>
              <a:rPr lang="en-US" sz="3200" dirty="0">
                <a:latin typeface="Times New Roman" panose="02020603050405020304" pitchFamily="18" charset="0"/>
                <a:cs typeface="Times New Roman" panose="02020603050405020304" pitchFamily="18" charset="0"/>
              </a:rPr>
              <a:t> model could include:</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Use case:</a:t>
            </a:r>
            <a:r>
              <a:rPr lang="en-US" sz="3200" dirty="0">
                <a:latin typeface="Times New Roman" panose="02020603050405020304" pitchFamily="18" charset="0"/>
                <a:cs typeface="Times New Roman" panose="02020603050405020304" pitchFamily="18" charset="0"/>
              </a:rPr>
              <a:t> “Process Payment.”</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Sequence diagram:</a:t>
            </a:r>
            <a:r>
              <a:rPr lang="en-US" sz="3200" dirty="0">
                <a:latin typeface="Times New Roman" panose="02020603050405020304" pitchFamily="18" charset="0"/>
                <a:cs typeface="Times New Roman" panose="02020603050405020304" pitchFamily="18" charset="0"/>
              </a:rPr>
              <a:t> showing communication. between User → Payment Gateway → Bank → Confirmation System.</a:t>
            </a:r>
          </a:p>
          <a:p>
            <a:pPr marL="457200" indent="-45720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State diagram:</a:t>
            </a:r>
            <a:r>
              <a:rPr lang="en-US" sz="3200" dirty="0">
                <a:latin typeface="Times New Roman" panose="02020603050405020304" pitchFamily="18" charset="0"/>
                <a:cs typeface="Times New Roman" panose="02020603050405020304" pitchFamily="18" charset="0"/>
              </a:rPr>
              <a:t> showing states like </a:t>
            </a:r>
            <a:r>
              <a:rPr lang="en-US" sz="3200" i="1" dirty="0">
                <a:latin typeface="Times New Roman" panose="02020603050405020304" pitchFamily="18" charset="0"/>
                <a:cs typeface="Times New Roman" panose="02020603050405020304" pitchFamily="18" charset="0"/>
              </a:rPr>
              <a:t>Payment Initiated → Processing → Approved/Declined.</a:t>
            </a:r>
            <a:endParaRPr 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13295" y="315912"/>
            <a:ext cx="7772400" cy="592455"/>
          </a:xfrm>
          <a:custGeom>
            <a:avLst/>
            <a:gdLst/>
            <a:ahLst/>
            <a:cxnLst/>
            <a:rect l="l" t="t" r="r" b="b"/>
            <a:pathLst>
              <a:path w="7772400" h="592455">
                <a:moveTo>
                  <a:pt x="7772400" y="0"/>
                </a:moveTo>
                <a:lnTo>
                  <a:pt x="0" y="0"/>
                </a:lnTo>
                <a:lnTo>
                  <a:pt x="0" y="592137"/>
                </a:lnTo>
                <a:lnTo>
                  <a:pt x="7772400" y="592137"/>
                </a:lnTo>
                <a:lnTo>
                  <a:pt x="7772400"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p:nvPr>
        </p:nvSpPr>
        <p:spPr>
          <a:xfrm>
            <a:off x="381000" y="126237"/>
            <a:ext cx="8762999" cy="914866"/>
          </a:xfrm>
          <a:prstGeom prst="rect">
            <a:avLst/>
          </a:prstGeom>
        </p:spPr>
        <p:txBody>
          <a:bodyPr vert="horz" wrap="square" lIns="0" tIns="418338" rIns="0" bIns="0" rtlCol="0">
            <a:spAutoFit/>
          </a:bodyPr>
          <a:lstStyle/>
          <a:p>
            <a:pPr marL="266700">
              <a:lnSpc>
                <a:spcPct val="100000"/>
              </a:lnSpc>
              <a:spcBef>
                <a:spcPts val="100"/>
              </a:spcBef>
            </a:pPr>
            <a:r>
              <a:rPr lang="en-US" sz="3200" spc="-25" dirty="0">
                <a:solidFill>
                  <a:srgbClr val="000000"/>
                </a:solidFill>
                <a:latin typeface="Times New Roman"/>
                <a:cs typeface="Times New Roman"/>
              </a:rPr>
              <a:t>Example of </a:t>
            </a:r>
            <a:r>
              <a:rPr sz="3200" spc="-25" dirty="0">
                <a:solidFill>
                  <a:srgbClr val="000000"/>
                </a:solidFill>
                <a:latin typeface="Times New Roman"/>
                <a:cs typeface="Times New Roman"/>
              </a:rPr>
              <a:t>Data-</a:t>
            </a:r>
            <a:r>
              <a:rPr sz="3200" dirty="0">
                <a:solidFill>
                  <a:srgbClr val="000000"/>
                </a:solidFill>
                <a:latin typeface="Times New Roman"/>
                <a:cs typeface="Times New Roman"/>
              </a:rPr>
              <a:t>flow</a:t>
            </a:r>
            <a:r>
              <a:rPr sz="3200" spc="-35" dirty="0">
                <a:solidFill>
                  <a:srgbClr val="000000"/>
                </a:solidFill>
                <a:latin typeface="Times New Roman"/>
                <a:cs typeface="Times New Roman"/>
              </a:rPr>
              <a:t> </a:t>
            </a:r>
            <a:r>
              <a:rPr sz="3200" dirty="0">
                <a:solidFill>
                  <a:srgbClr val="000000"/>
                </a:solidFill>
                <a:latin typeface="Times New Roman"/>
                <a:cs typeface="Times New Roman"/>
              </a:rPr>
              <a:t>diagram</a:t>
            </a:r>
            <a:r>
              <a:rPr sz="3200" spc="-35" dirty="0">
                <a:solidFill>
                  <a:srgbClr val="000000"/>
                </a:solidFill>
                <a:latin typeface="Times New Roman"/>
                <a:cs typeface="Times New Roman"/>
              </a:rPr>
              <a:t> </a:t>
            </a:r>
            <a:r>
              <a:rPr sz="3200" dirty="0">
                <a:solidFill>
                  <a:srgbClr val="000000"/>
                </a:solidFill>
                <a:latin typeface="Times New Roman"/>
                <a:cs typeface="Times New Roman"/>
              </a:rPr>
              <a:t>of</a:t>
            </a:r>
            <a:r>
              <a:rPr sz="3200" spc="-35" dirty="0">
                <a:solidFill>
                  <a:srgbClr val="000000"/>
                </a:solidFill>
                <a:latin typeface="Times New Roman"/>
                <a:cs typeface="Times New Roman"/>
              </a:rPr>
              <a:t> </a:t>
            </a:r>
            <a:r>
              <a:rPr sz="3200" dirty="0">
                <a:solidFill>
                  <a:srgbClr val="000000"/>
                </a:solidFill>
                <a:latin typeface="Times New Roman"/>
                <a:cs typeface="Times New Roman"/>
              </a:rPr>
              <a:t>order</a:t>
            </a:r>
            <a:r>
              <a:rPr sz="3200" spc="-35" dirty="0">
                <a:solidFill>
                  <a:srgbClr val="000000"/>
                </a:solidFill>
                <a:latin typeface="Times New Roman"/>
                <a:cs typeface="Times New Roman"/>
              </a:rPr>
              <a:t> </a:t>
            </a:r>
            <a:r>
              <a:rPr sz="3200" spc="-10" dirty="0">
                <a:solidFill>
                  <a:srgbClr val="000000"/>
                </a:solidFill>
                <a:latin typeface="Times New Roman"/>
                <a:cs typeface="Times New Roman"/>
              </a:rPr>
              <a:t>processing</a:t>
            </a:r>
            <a:endParaRPr sz="3200" dirty="0">
              <a:latin typeface="Times New Roman"/>
              <a:cs typeface="Times New Roman"/>
            </a:endParaRPr>
          </a:p>
        </p:txBody>
      </p:sp>
      <p:pic>
        <p:nvPicPr>
          <p:cNvPr id="40" name="Picture 39">
            <a:extLst>
              <a:ext uri="{FF2B5EF4-FFF2-40B4-BE49-F238E27FC236}">
                <a16:creationId xmlns:a16="http://schemas.microsoft.com/office/drawing/2014/main" id="{B4DD3291-5B68-282A-8420-458D41EE83D3}"/>
              </a:ext>
            </a:extLst>
          </p:cNvPr>
          <p:cNvPicPr>
            <a:picLocks noChangeAspect="1"/>
          </p:cNvPicPr>
          <p:nvPr/>
        </p:nvPicPr>
        <p:blipFill>
          <a:blip r:embed="rId2"/>
          <a:stretch>
            <a:fillRect/>
          </a:stretch>
        </p:blipFill>
        <p:spPr>
          <a:xfrm>
            <a:off x="1204441" y="1981200"/>
            <a:ext cx="6735115" cy="375337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0809" y="2002662"/>
            <a:ext cx="2493010" cy="452120"/>
          </a:xfrm>
          <a:prstGeom prst="rect">
            <a:avLst/>
          </a:prstGeom>
        </p:spPr>
        <p:txBody>
          <a:bodyPr vert="horz" wrap="square" lIns="0" tIns="12065" rIns="0" bIns="0" rtlCol="0">
            <a:spAutoFit/>
          </a:bodyPr>
          <a:lstStyle/>
          <a:p>
            <a:pPr marL="354965" indent="-342265">
              <a:lnSpc>
                <a:spcPct val="100000"/>
              </a:lnSpc>
              <a:spcBef>
                <a:spcPts val="95"/>
              </a:spcBef>
              <a:buChar char="•"/>
              <a:tabLst>
                <a:tab pos="354965" algn="l"/>
                <a:tab pos="1591310" algn="l"/>
              </a:tabLst>
            </a:pPr>
            <a:r>
              <a:rPr sz="2800" spc="-10" dirty="0">
                <a:latin typeface="Times New Roman"/>
                <a:cs typeface="Times New Roman"/>
              </a:rPr>
              <a:t>Figure</a:t>
            </a:r>
            <a:r>
              <a:rPr sz="2800" dirty="0">
                <a:latin typeface="Times New Roman"/>
                <a:cs typeface="Times New Roman"/>
              </a:rPr>
              <a:t>	</a:t>
            </a:r>
            <a:r>
              <a:rPr sz="2800" spc="-10" dirty="0">
                <a:latin typeface="Times New Roman"/>
                <a:cs typeface="Times New Roman"/>
              </a:rPr>
              <a:t>shows</a:t>
            </a:r>
            <a:endParaRPr sz="2800">
              <a:latin typeface="Times New Roman"/>
              <a:cs typeface="Times New Roman"/>
            </a:endParaRPr>
          </a:p>
        </p:txBody>
      </p:sp>
      <p:sp>
        <p:nvSpPr>
          <p:cNvPr id="3" name="object 3"/>
          <p:cNvSpPr txBox="1"/>
          <p:nvPr/>
        </p:nvSpPr>
        <p:spPr>
          <a:xfrm>
            <a:off x="3105150" y="2002662"/>
            <a:ext cx="5775325" cy="452120"/>
          </a:xfrm>
          <a:prstGeom prst="rect">
            <a:avLst/>
          </a:prstGeom>
        </p:spPr>
        <p:txBody>
          <a:bodyPr vert="horz" wrap="square" lIns="0" tIns="12065" rIns="0" bIns="0" rtlCol="0">
            <a:spAutoFit/>
          </a:bodyPr>
          <a:lstStyle/>
          <a:p>
            <a:pPr marL="12700">
              <a:lnSpc>
                <a:spcPct val="100000"/>
              </a:lnSpc>
              <a:spcBef>
                <a:spcPts val="95"/>
              </a:spcBef>
              <a:tabLst>
                <a:tab pos="1266825" algn="l"/>
                <a:tab pos="2935605" algn="l"/>
                <a:tab pos="4406265" algn="l"/>
                <a:tab pos="5011420" algn="l"/>
              </a:tabLst>
            </a:pPr>
            <a:r>
              <a:rPr sz="2800" spc="-10" dirty="0">
                <a:latin typeface="Times New Roman"/>
                <a:cs typeface="Times New Roman"/>
              </a:rPr>
              <a:t>simple</a:t>
            </a:r>
            <a:r>
              <a:rPr sz="2800" dirty="0">
                <a:latin typeface="Times New Roman"/>
                <a:cs typeface="Times New Roman"/>
              </a:rPr>
              <a:t>	</a:t>
            </a:r>
            <a:r>
              <a:rPr sz="2800" spc="-10" dirty="0">
                <a:latin typeface="Times New Roman"/>
                <a:cs typeface="Times New Roman"/>
              </a:rPr>
              <a:t>data-</a:t>
            </a:r>
            <a:r>
              <a:rPr sz="2800" spc="-20" dirty="0">
                <a:latin typeface="Times New Roman"/>
                <a:cs typeface="Times New Roman"/>
              </a:rPr>
              <a:t>flow</a:t>
            </a:r>
            <a:r>
              <a:rPr sz="2800" dirty="0">
                <a:latin typeface="Times New Roman"/>
                <a:cs typeface="Times New Roman"/>
              </a:rPr>
              <a:t>	</a:t>
            </a:r>
            <a:r>
              <a:rPr sz="2800" spc="-10" dirty="0">
                <a:latin typeface="Times New Roman"/>
                <a:cs typeface="Times New Roman"/>
              </a:rPr>
              <a:t>diagram</a:t>
            </a:r>
            <a:r>
              <a:rPr sz="2800" dirty="0">
                <a:latin typeface="Times New Roman"/>
                <a:cs typeface="Times New Roman"/>
              </a:rPr>
              <a:t>	</a:t>
            </a:r>
            <a:r>
              <a:rPr sz="2800" spc="-25" dirty="0">
                <a:latin typeface="Times New Roman"/>
                <a:cs typeface="Times New Roman"/>
              </a:rPr>
              <a:t>of</a:t>
            </a:r>
            <a:r>
              <a:rPr sz="2800" dirty="0">
                <a:latin typeface="Times New Roman"/>
                <a:cs typeface="Times New Roman"/>
              </a:rPr>
              <a:t>	</a:t>
            </a:r>
            <a:r>
              <a:rPr sz="2800" spc="-10" dirty="0">
                <a:latin typeface="Times New Roman"/>
                <a:cs typeface="Times New Roman"/>
              </a:rPr>
              <a:t>order</a:t>
            </a:r>
            <a:endParaRPr sz="2800">
              <a:latin typeface="Times New Roman"/>
              <a:cs typeface="Times New Roman"/>
            </a:endParaRPr>
          </a:p>
        </p:txBody>
      </p:sp>
      <p:sp>
        <p:nvSpPr>
          <p:cNvPr id="4" name="object 4"/>
          <p:cNvSpPr txBox="1"/>
          <p:nvPr/>
        </p:nvSpPr>
        <p:spPr>
          <a:xfrm>
            <a:off x="673709" y="2429382"/>
            <a:ext cx="8208645" cy="4027170"/>
          </a:xfrm>
          <a:prstGeom prst="rect">
            <a:avLst/>
          </a:prstGeom>
        </p:spPr>
        <p:txBody>
          <a:bodyPr vert="horz" wrap="square" lIns="0" tIns="12065" rIns="0" bIns="0" rtlCol="0">
            <a:spAutoFit/>
          </a:bodyPr>
          <a:lstStyle/>
          <a:p>
            <a:pPr marL="12700" marR="5080" algn="just">
              <a:lnSpc>
                <a:spcPct val="100000"/>
              </a:lnSpc>
              <a:spcBef>
                <a:spcPts val="95"/>
              </a:spcBef>
            </a:pPr>
            <a:r>
              <a:rPr sz="2800" dirty="0">
                <a:latin typeface="Times New Roman"/>
                <a:cs typeface="Times New Roman"/>
              </a:rPr>
              <a:t>processing</a:t>
            </a:r>
            <a:r>
              <a:rPr sz="2800" spc="430" dirty="0">
                <a:latin typeface="Times New Roman"/>
                <a:cs typeface="Times New Roman"/>
              </a:rPr>
              <a:t>   </a:t>
            </a:r>
            <a:r>
              <a:rPr sz="2800" dirty="0">
                <a:latin typeface="Times New Roman"/>
                <a:cs typeface="Times New Roman"/>
              </a:rPr>
              <a:t>system</a:t>
            </a:r>
            <a:r>
              <a:rPr sz="2800" spc="440" dirty="0">
                <a:latin typeface="Times New Roman"/>
                <a:cs typeface="Times New Roman"/>
              </a:rPr>
              <a:t>   </a:t>
            </a:r>
            <a:r>
              <a:rPr sz="2800" dirty="0">
                <a:latin typeface="Times New Roman"/>
                <a:cs typeface="Times New Roman"/>
              </a:rPr>
              <a:t>such</a:t>
            </a:r>
            <a:r>
              <a:rPr sz="2800" spc="434" dirty="0">
                <a:latin typeface="Times New Roman"/>
                <a:cs typeface="Times New Roman"/>
              </a:rPr>
              <a:t>   </a:t>
            </a:r>
            <a:r>
              <a:rPr sz="2800" dirty="0">
                <a:latin typeface="Times New Roman"/>
                <a:cs typeface="Times New Roman"/>
              </a:rPr>
              <a:t>as</a:t>
            </a:r>
            <a:r>
              <a:rPr sz="2800" spc="434" dirty="0">
                <a:latin typeface="Times New Roman"/>
                <a:cs typeface="Times New Roman"/>
              </a:rPr>
              <a:t>   </a:t>
            </a:r>
            <a:r>
              <a:rPr sz="2800" dirty="0">
                <a:latin typeface="Times New Roman"/>
                <a:cs typeface="Times New Roman"/>
              </a:rPr>
              <a:t>personal</a:t>
            </a:r>
            <a:r>
              <a:rPr sz="2800" spc="434" dirty="0">
                <a:latin typeface="Times New Roman"/>
                <a:cs typeface="Times New Roman"/>
              </a:rPr>
              <a:t>   </a:t>
            </a:r>
            <a:r>
              <a:rPr sz="2800" spc="-10" dirty="0">
                <a:latin typeface="Times New Roman"/>
                <a:cs typeface="Times New Roman"/>
              </a:rPr>
              <a:t>computer procurement.</a:t>
            </a:r>
            <a:endParaRPr sz="2800" dirty="0">
              <a:latin typeface="Times New Roman"/>
              <a:cs typeface="Times New Roman"/>
            </a:endParaRPr>
          </a:p>
          <a:p>
            <a:pPr marL="413384" marR="5080" indent="-287020" algn="just">
              <a:lnSpc>
                <a:spcPct val="100000"/>
              </a:lnSpc>
              <a:spcBef>
                <a:spcPts val="595"/>
              </a:spcBef>
              <a:buChar char="–"/>
              <a:tabLst>
                <a:tab pos="413384" algn="l"/>
              </a:tabLst>
            </a:pPr>
            <a:r>
              <a:rPr sz="2400" dirty="0">
                <a:latin typeface="Times New Roman"/>
                <a:cs typeface="Times New Roman"/>
              </a:rPr>
              <a:t>The</a:t>
            </a:r>
            <a:r>
              <a:rPr sz="2400" spc="520" dirty="0">
                <a:latin typeface="Times New Roman"/>
                <a:cs typeface="Times New Roman"/>
              </a:rPr>
              <a:t> </a:t>
            </a:r>
            <a:r>
              <a:rPr sz="2400" dirty="0">
                <a:latin typeface="Times New Roman"/>
                <a:cs typeface="Times New Roman"/>
              </a:rPr>
              <a:t>notation</a:t>
            </a:r>
            <a:r>
              <a:rPr sz="2400" spc="520" dirty="0">
                <a:latin typeface="Times New Roman"/>
                <a:cs typeface="Times New Roman"/>
              </a:rPr>
              <a:t> </a:t>
            </a:r>
            <a:r>
              <a:rPr sz="2400" dirty="0">
                <a:latin typeface="Times New Roman"/>
                <a:cs typeface="Times New Roman"/>
              </a:rPr>
              <a:t>used</a:t>
            </a:r>
            <a:r>
              <a:rPr sz="2400" spc="525" dirty="0">
                <a:latin typeface="Times New Roman"/>
                <a:cs typeface="Times New Roman"/>
              </a:rPr>
              <a:t> </a:t>
            </a:r>
            <a:r>
              <a:rPr sz="2400" dirty="0">
                <a:latin typeface="Times New Roman"/>
                <a:cs typeface="Times New Roman"/>
              </a:rPr>
              <a:t>represents</a:t>
            </a:r>
            <a:r>
              <a:rPr sz="2400" spc="535" dirty="0">
                <a:latin typeface="Times New Roman"/>
                <a:cs typeface="Times New Roman"/>
              </a:rPr>
              <a:t> </a:t>
            </a:r>
            <a:r>
              <a:rPr sz="2400" dirty="0">
                <a:latin typeface="Times New Roman"/>
                <a:cs typeface="Times New Roman"/>
              </a:rPr>
              <a:t>functional</a:t>
            </a:r>
            <a:r>
              <a:rPr sz="2400" spc="525" dirty="0">
                <a:latin typeface="Times New Roman"/>
                <a:cs typeface="Times New Roman"/>
              </a:rPr>
              <a:t> </a:t>
            </a:r>
            <a:r>
              <a:rPr sz="2400" dirty="0">
                <a:latin typeface="Times New Roman"/>
                <a:cs typeface="Times New Roman"/>
              </a:rPr>
              <a:t>processing</a:t>
            </a:r>
            <a:r>
              <a:rPr sz="2400" spc="525" dirty="0">
                <a:latin typeface="Times New Roman"/>
                <a:cs typeface="Times New Roman"/>
              </a:rPr>
              <a:t> </a:t>
            </a:r>
            <a:r>
              <a:rPr sz="2400" spc="-10" dirty="0">
                <a:latin typeface="Times New Roman"/>
                <a:cs typeface="Times New Roman"/>
              </a:rPr>
              <a:t>(rounded </a:t>
            </a:r>
            <a:r>
              <a:rPr sz="2400" dirty="0">
                <a:latin typeface="Times New Roman"/>
                <a:cs typeface="Times New Roman"/>
              </a:rPr>
              <a:t>rectangles),</a:t>
            </a:r>
            <a:r>
              <a:rPr sz="2400" spc="310" dirty="0">
                <a:latin typeface="Times New Roman"/>
                <a:cs typeface="Times New Roman"/>
              </a:rPr>
              <a:t>  </a:t>
            </a:r>
            <a:r>
              <a:rPr sz="2400" dirty="0">
                <a:latin typeface="Times New Roman"/>
                <a:cs typeface="Times New Roman"/>
              </a:rPr>
              <a:t>data</a:t>
            </a:r>
            <a:r>
              <a:rPr sz="2400" spc="315" dirty="0">
                <a:latin typeface="Times New Roman"/>
                <a:cs typeface="Times New Roman"/>
              </a:rPr>
              <a:t>  </a:t>
            </a:r>
            <a:r>
              <a:rPr sz="2400" dirty="0">
                <a:latin typeface="Times New Roman"/>
                <a:cs typeface="Times New Roman"/>
              </a:rPr>
              <a:t>store</a:t>
            </a:r>
            <a:r>
              <a:rPr sz="2400" spc="315" dirty="0">
                <a:latin typeface="Times New Roman"/>
                <a:cs typeface="Times New Roman"/>
              </a:rPr>
              <a:t>  </a:t>
            </a:r>
            <a:r>
              <a:rPr sz="2400" dirty="0">
                <a:latin typeface="Times New Roman"/>
                <a:cs typeface="Times New Roman"/>
              </a:rPr>
              <a:t>(rectangles),</a:t>
            </a:r>
            <a:r>
              <a:rPr sz="2400" spc="320" dirty="0">
                <a:latin typeface="Times New Roman"/>
                <a:cs typeface="Times New Roman"/>
              </a:rPr>
              <a:t>  </a:t>
            </a:r>
            <a:r>
              <a:rPr sz="2400" dirty="0">
                <a:latin typeface="Times New Roman"/>
                <a:cs typeface="Times New Roman"/>
              </a:rPr>
              <a:t>and</a:t>
            </a:r>
            <a:r>
              <a:rPr sz="2400" spc="315" dirty="0">
                <a:latin typeface="Times New Roman"/>
                <a:cs typeface="Times New Roman"/>
              </a:rPr>
              <a:t>  </a:t>
            </a:r>
            <a:r>
              <a:rPr sz="2400" dirty="0">
                <a:latin typeface="Times New Roman"/>
                <a:cs typeface="Times New Roman"/>
              </a:rPr>
              <a:t>data</a:t>
            </a:r>
            <a:r>
              <a:rPr sz="2400" spc="315" dirty="0">
                <a:latin typeface="Times New Roman"/>
                <a:cs typeface="Times New Roman"/>
              </a:rPr>
              <a:t>  </a:t>
            </a:r>
            <a:r>
              <a:rPr sz="2400" spc="-10" dirty="0">
                <a:latin typeface="Times New Roman"/>
                <a:cs typeface="Times New Roman"/>
              </a:rPr>
              <a:t>movements </a:t>
            </a:r>
            <a:r>
              <a:rPr sz="2400" dirty="0">
                <a:latin typeface="Times New Roman"/>
                <a:cs typeface="Times New Roman"/>
              </a:rPr>
              <a:t>between</a:t>
            </a:r>
            <a:r>
              <a:rPr sz="2400" spc="-10" dirty="0">
                <a:latin typeface="Times New Roman"/>
                <a:cs typeface="Times New Roman"/>
              </a:rPr>
              <a:t> </a:t>
            </a:r>
            <a:r>
              <a:rPr sz="2400" dirty="0">
                <a:latin typeface="Times New Roman"/>
                <a:cs typeface="Times New Roman"/>
              </a:rPr>
              <a:t>functions</a:t>
            </a:r>
            <a:r>
              <a:rPr sz="2400" spc="-10" dirty="0">
                <a:latin typeface="Times New Roman"/>
                <a:cs typeface="Times New Roman"/>
              </a:rPr>
              <a:t> </a:t>
            </a:r>
            <a:r>
              <a:rPr sz="2400" dirty="0">
                <a:latin typeface="Times New Roman"/>
                <a:cs typeface="Times New Roman"/>
              </a:rPr>
              <a:t>(labeled</a:t>
            </a:r>
            <a:r>
              <a:rPr sz="2400" spc="-25" dirty="0">
                <a:latin typeface="Times New Roman"/>
                <a:cs typeface="Times New Roman"/>
              </a:rPr>
              <a:t> </a:t>
            </a:r>
            <a:r>
              <a:rPr sz="2400" spc="-10" dirty="0">
                <a:latin typeface="Times New Roman"/>
                <a:cs typeface="Times New Roman"/>
              </a:rPr>
              <a:t>arrows).</a:t>
            </a:r>
            <a:endParaRPr sz="2400" dirty="0">
              <a:latin typeface="Times New Roman"/>
              <a:cs typeface="Times New Roman"/>
            </a:endParaRPr>
          </a:p>
          <a:p>
            <a:pPr marL="413384" marR="5080" indent="-287020" algn="just">
              <a:lnSpc>
                <a:spcPct val="100000"/>
              </a:lnSpc>
              <a:spcBef>
                <a:spcPts val="580"/>
              </a:spcBef>
              <a:buChar char="–"/>
              <a:tabLst>
                <a:tab pos="413384" algn="l"/>
                <a:tab pos="488950" algn="l"/>
              </a:tabLst>
            </a:pPr>
            <a:r>
              <a:rPr sz="2400" dirty="0">
                <a:latin typeface="Times New Roman"/>
                <a:cs typeface="Times New Roman"/>
              </a:rPr>
              <a:t>	</a:t>
            </a:r>
            <a:r>
              <a:rPr sz="2400" spc="-10" dirty="0">
                <a:latin typeface="Times New Roman"/>
                <a:cs typeface="Times New Roman"/>
              </a:rPr>
              <a:t>Data-</a:t>
            </a:r>
            <a:r>
              <a:rPr sz="2400" dirty="0">
                <a:latin typeface="Times New Roman"/>
                <a:cs typeface="Times New Roman"/>
              </a:rPr>
              <a:t>flow</a:t>
            </a:r>
            <a:r>
              <a:rPr sz="2400" spc="555" dirty="0">
                <a:latin typeface="Times New Roman"/>
                <a:cs typeface="Times New Roman"/>
              </a:rPr>
              <a:t>  </a:t>
            </a:r>
            <a:r>
              <a:rPr sz="2400" dirty="0">
                <a:latin typeface="Times New Roman"/>
                <a:cs typeface="Times New Roman"/>
              </a:rPr>
              <a:t>models</a:t>
            </a:r>
            <a:r>
              <a:rPr sz="2400" spc="570" dirty="0">
                <a:latin typeface="Times New Roman"/>
                <a:cs typeface="Times New Roman"/>
              </a:rPr>
              <a:t>  </a:t>
            </a:r>
            <a:r>
              <a:rPr sz="2400" dirty="0">
                <a:latin typeface="Times New Roman"/>
                <a:cs typeface="Times New Roman"/>
              </a:rPr>
              <a:t>are</a:t>
            </a:r>
            <a:r>
              <a:rPr sz="2400" spc="565" dirty="0">
                <a:latin typeface="Times New Roman"/>
                <a:cs typeface="Times New Roman"/>
              </a:rPr>
              <a:t>  </a:t>
            </a:r>
            <a:r>
              <a:rPr sz="2400" dirty="0">
                <a:latin typeface="Times New Roman"/>
                <a:cs typeface="Times New Roman"/>
              </a:rPr>
              <a:t>valuable</a:t>
            </a:r>
            <a:r>
              <a:rPr sz="2400" spc="570" dirty="0">
                <a:latin typeface="Times New Roman"/>
                <a:cs typeface="Times New Roman"/>
              </a:rPr>
              <a:t>  </a:t>
            </a:r>
            <a:r>
              <a:rPr sz="2400" dirty="0">
                <a:latin typeface="Times New Roman"/>
                <a:cs typeface="Times New Roman"/>
              </a:rPr>
              <a:t>because</a:t>
            </a:r>
            <a:r>
              <a:rPr sz="2400" spc="560" dirty="0">
                <a:latin typeface="Times New Roman"/>
                <a:cs typeface="Times New Roman"/>
              </a:rPr>
              <a:t>  </a:t>
            </a:r>
            <a:r>
              <a:rPr sz="2400" dirty="0">
                <a:latin typeface="Times New Roman"/>
                <a:cs typeface="Times New Roman"/>
              </a:rPr>
              <a:t>tracking</a:t>
            </a:r>
            <a:r>
              <a:rPr sz="2400" spc="560" dirty="0">
                <a:latin typeface="Times New Roman"/>
                <a:cs typeface="Times New Roman"/>
              </a:rPr>
              <a:t>  </a:t>
            </a:r>
            <a:r>
              <a:rPr sz="2400" spc="-25" dirty="0">
                <a:latin typeface="Times New Roman"/>
                <a:cs typeface="Times New Roman"/>
              </a:rPr>
              <a:t>and </a:t>
            </a:r>
            <a:r>
              <a:rPr sz="2400" dirty="0">
                <a:latin typeface="Times New Roman"/>
                <a:cs typeface="Times New Roman"/>
              </a:rPr>
              <a:t>documenting</a:t>
            </a:r>
            <a:r>
              <a:rPr sz="2400" spc="540" dirty="0">
                <a:latin typeface="Times New Roman"/>
                <a:cs typeface="Times New Roman"/>
              </a:rPr>
              <a:t> </a:t>
            </a:r>
            <a:r>
              <a:rPr sz="2400" dirty="0">
                <a:latin typeface="Times New Roman"/>
                <a:cs typeface="Times New Roman"/>
              </a:rPr>
              <a:t>how</a:t>
            </a:r>
            <a:r>
              <a:rPr sz="2400" spc="540" dirty="0">
                <a:latin typeface="Times New Roman"/>
                <a:cs typeface="Times New Roman"/>
              </a:rPr>
              <a:t> </a:t>
            </a:r>
            <a:r>
              <a:rPr sz="2400" dirty="0">
                <a:latin typeface="Times New Roman"/>
                <a:cs typeface="Times New Roman"/>
              </a:rPr>
              <a:t>the</a:t>
            </a:r>
            <a:r>
              <a:rPr sz="2400" spc="550" dirty="0">
                <a:latin typeface="Times New Roman"/>
                <a:cs typeface="Times New Roman"/>
              </a:rPr>
              <a:t> </a:t>
            </a:r>
            <a:r>
              <a:rPr sz="2400" dirty="0">
                <a:latin typeface="Times New Roman"/>
                <a:cs typeface="Times New Roman"/>
              </a:rPr>
              <a:t>data</a:t>
            </a:r>
            <a:r>
              <a:rPr sz="2400" spc="535" dirty="0">
                <a:latin typeface="Times New Roman"/>
                <a:cs typeface="Times New Roman"/>
              </a:rPr>
              <a:t> </a:t>
            </a:r>
            <a:r>
              <a:rPr sz="2400" dirty="0">
                <a:latin typeface="Times New Roman"/>
                <a:cs typeface="Times New Roman"/>
              </a:rPr>
              <a:t>moves</a:t>
            </a:r>
            <a:r>
              <a:rPr sz="2400" spc="550" dirty="0">
                <a:latin typeface="Times New Roman"/>
                <a:cs typeface="Times New Roman"/>
              </a:rPr>
              <a:t> </a:t>
            </a:r>
            <a:r>
              <a:rPr sz="2400" dirty="0">
                <a:latin typeface="Times New Roman"/>
                <a:cs typeface="Times New Roman"/>
              </a:rPr>
              <a:t>through</a:t>
            </a:r>
            <a:r>
              <a:rPr sz="2400" spc="530" dirty="0">
                <a:latin typeface="Times New Roman"/>
                <a:cs typeface="Times New Roman"/>
              </a:rPr>
              <a:t> </a:t>
            </a:r>
            <a:r>
              <a:rPr sz="2400" dirty="0">
                <a:latin typeface="Times New Roman"/>
                <a:cs typeface="Times New Roman"/>
              </a:rPr>
              <a:t>the</a:t>
            </a:r>
            <a:r>
              <a:rPr sz="2400" spc="540" dirty="0">
                <a:latin typeface="Times New Roman"/>
                <a:cs typeface="Times New Roman"/>
              </a:rPr>
              <a:t> </a:t>
            </a:r>
            <a:r>
              <a:rPr sz="2400" dirty="0">
                <a:latin typeface="Times New Roman"/>
                <a:cs typeface="Times New Roman"/>
              </a:rPr>
              <a:t>system</a:t>
            </a:r>
            <a:r>
              <a:rPr sz="2400" spc="530" dirty="0">
                <a:latin typeface="Times New Roman"/>
                <a:cs typeface="Times New Roman"/>
              </a:rPr>
              <a:t> </a:t>
            </a:r>
            <a:r>
              <a:rPr sz="2400" spc="-10" dirty="0">
                <a:latin typeface="Times New Roman"/>
                <a:cs typeface="Times New Roman"/>
              </a:rPr>
              <a:t>helps </a:t>
            </a:r>
            <a:r>
              <a:rPr sz="2400" dirty="0">
                <a:latin typeface="Times New Roman"/>
                <a:cs typeface="Times New Roman"/>
              </a:rPr>
              <a:t>analysts</a:t>
            </a:r>
            <a:r>
              <a:rPr sz="2400" spc="-25" dirty="0">
                <a:latin typeface="Times New Roman"/>
                <a:cs typeface="Times New Roman"/>
              </a:rPr>
              <a:t> </a:t>
            </a:r>
            <a:r>
              <a:rPr sz="2400" dirty="0">
                <a:latin typeface="Times New Roman"/>
                <a:cs typeface="Times New Roman"/>
              </a:rPr>
              <a:t>understand</a:t>
            </a:r>
            <a:r>
              <a:rPr sz="2400" spc="-25" dirty="0">
                <a:latin typeface="Times New Roman"/>
                <a:cs typeface="Times New Roman"/>
              </a:rPr>
              <a:t> </a:t>
            </a:r>
            <a:r>
              <a:rPr sz="2400" dirty="0">
                <a:latin typeface="Times New Roman"/>
                <a:cs typeface="Times New Roman"/>
              </a:rPr>
              <a:t>what</a:t>
            </a:r>
            <a:r>
              <a:rPr sz="2400" spc="-1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going</a:t>
            </a:r>
            <a:r>
              <a:rPr sz="2400" spc="-10" dirty="0">
                <a:latin typeface="Times New Roman"/>
                <a:cs typeface="Times New Roman"/>
              </a:rPr>
              <a:t> </a:t>
            </a:r>
            <a:r>
              <a:rPr sz="2400" spc="-25" dirty="0">
                <a:latin typeface="Times New Roman"/>
                <a:cs typeface="Times New Roman"/>
              </a:rPr>
              <a:t>on.</a:t>
            </a:r>
            <a:endParaRPr sz="2400" dirty="0">
              <a:latin typeface="Times New Roman"/>
              <a:cs typeface="Times New Roman"/>
            </a:endParaRPr>
          </a:p>
          <a:p>
            <a:pPr marL="413384" marR="5080" indent="-287020" algn="just">
              <a:lnSpc>
                <a:spcPct val="100000"/>
              </a:lnSpc>
              <a:spcBef>
                <a:spcPts val="575"/>
              </a:spcBef>
              <a:buChar char="–"/>
              <a:tabLst>
                <a:tab pos="413384" algn="l"/>
              </a:tabLst>
            </a:pPr>
            <a:r>
              <a:rPr sz="2400" dirty="0">
                <a:latin typeface="Times New Roman"/>
                <a:cs typeface="Times New Roman"/>
              </a:rPr>
              <a:t>In</a:t>
            </a:r>
            <a:r>
              <a:rPr sz="2400" spc="155" dirty="0">
                <a:latin typeface="Times New Roman"/>
                <a:cs typeface="Times New Roman"/>
              </a:rPr>
              <a:t> </a:t>
            </a:r>
            <a:r>
              <a:rPr sz="2400" dirty="0">
                <a:latin typeface="Times New Roman"/>
                <a:cs typeface="Times New Roman"/>
              </a:rPr>
              <a:t>principle,</a:t>
            </a:r>
            <a:r>
              <a:rPr sz="2400" spc="150" dirty="0">
                <a:latin typeface="Times New Roman"/>
                <a:cs typeface="Times New Roman"/>
              </a:rPr>
              <a:t> </a:t>
            </a:r>
            <a:r>
              <a:rPr sz="2400" dirty="0">
                <a:latin typeface="Times New Roman"/>
                <a:cs typeface="Times New Roman"/>
              </a:rPr>
              <a:t>the</a:t>
            </a:r>
            <a:r>
              <a:rPr sz="2400" spc="155" dirty="0">
                <a:latin typeface="Times New Roman"/>
                <a:cs typeface="Times New Roman"/>
              </a:rPr>
              <a:t> </a:t>
            </a:r>
            <a:r>
              <a:rPr sz="2400" dirty="0">
                <a:latin typeface="Times New Roman"/>
                <a:cs typeface="Times New Roman"/>
              </a:rPr>
              <a:t>development</a:t>
            </a:r>
            <a:r>
              <a:rPr sz="2400" spc="170" dirty="0">
                <a:latin typeface="Times New Roman"/>
                <a:cs typeface="Times New Roman"/>
              </a:rPr>
              <a:t> </a:t>
            </a:r>
            <a:r>
              <a:rPr sz="2400" dirty="0">
                <a:latin typeface="Times New Roman"/>
                <a:cs typeface="Times New Roman"/>
              </a:rPr>
              <a:t>of</a:t>
            </a:r>
            <a:r>
              <a:rPr sz="2400" spc="150" dirty="0">
                <a:latin typeface="Times New Roman"/>
                <a:cs typeface="Times New Roman"/>
              </a:rPr>
              <a:t> </a:t>
            </a:r>
            <a:r>
              <a:rPr sz="2400" dirty="0">
                <a:latin typeface="Times New Roman"/>
                <a:cs typeface="Times New Roman"/>
              </a:rPr>
              <a:t>models</a:t>
            </a:r>
            <a:r>
              <a:rPr sz="2400" spc="165" dirty="0">
                <a:latin typeface="Times New Roman"/>
                <a:cs typeface="Times New Roman"/>
              </a:rPr>
              <a:t> </a:t>
            </a:r>
            <a:r>
              <a:rPr sz="2400" dirty="0">
                <a:latin typeface="Times New Roman"/>
                <a:cs typeface="Times New Roman"/>
              </a:rPr>
              <a:t>should</a:t>
            </a:r>
            <a:r>
              <a:rPr sz="2400" spc="155" dirty="0">
                <a:latin typeface="Times New Roman"/>
                <a:cs typeface="Times New Roman"/>
              </a:rPr>
              <a:t> </a:t>
            </a:r>
            <a:r>
              <a:rPr sz="2400" dirty="0">
                <a:latin typeface="Times New Roman"/>
                <a:cs typeface="Times New Roman"/>
              </a:rPr>
              <a:t>be</a:t>
            </a:r>
            <a:r>
              <a:rPr sz="2400" spc="160" dirty="0">
                <a:latin typeface="Times New Roman"/>
                <a:cs typeface="Times New Roman"/>
              </a:rPr>
              <a:t> </a:t>
            </a:r>
            <a:r>
              <a:rPr sz="2400" dirty="0">
                <a:latin typeface="Times New Roman"/>
                <a:cs typeface="Times New Roman"/>
              </a:rPr>
              <a:t>a</a:t>
            </a:r>
            <a:r>
              <a:rPr sz="2400" spc="150" dirty="0">
                <a:latin typeface="Times New Roman"/>
                <a:cs typeface="Times New Roman"/>
              </a:rPr>
              <a:t> </a:t>
            </a:r>
            <a:r>
              <a:rPr sz="2400" spc="-10" dirty="0">
                <a:latin typeface="Times New Roman"/>
                <a:cs typeface="Times New Roman"/>
              </a:rPr>
              <a:t>top-</a:t>
            </a:r>
            <a:r>
              <a:rPr sz="2400" spc="-20" dirty="0">
                <a:latin typeface="Times New Roman"/>
                <a:cs typeface="Times New Roman"/>
              </a:rPr>
              <a:t>down </a:t>
            </a:r>
            <a:r>
              <a:rPr sz="2400" dirty="0">
                <a:latin typeface="Times New Roman"/>
                <a:cs typeface="Times New Roman"/>
              </a:rPr>
              <a:t>process</a:t>
            </a:r>
            <a:r>
              <a:rPr sz="2400" spc="-10" dirty="0">
                <a:latin typeface="Times New Roman"/>
                <a:cs typeface="Times New Roman"/>
              </a:rPr>
              <a:t> </a:t>
            </a:r>
            <a:r>
              <a:rPr sz="2400" dirty="0">
                <a:latin typeface="Times New Roman"/>
                <a:cs typeface="Times New Roman"/>
              </a:rPr>
              <a:t>starting</a:t>
            </a:r>
            <a:r>
              <a:rPr sz="2400" spc="-25" dirty="0">
                <a:latin typeface="Times New Roman"/>
                <a:cs typeface="Times New Roman"/>
              </a:rPr>
              <a:t> </a:t>
            </a:r>
            <a:r>
              <a:rPr sz="2400" dirty="0">
                <a:latin typeface="Times New Roman"/>
                <a:cs typeface="Times New Roman"/>
              </a:rPr>
              <a:t>from</a:t>
            </a:r>
            <a:r>
              <a:rPr sz="2400" spc="-5" dirty="0">
                <a:latin typeface="Times New Roman"/>
                <a:cs typeface="Times New Roman"/>
              </a:rPr>
              <a:t> </a:t>
            </a:r>
            <a:r>
              <a:rPr sz="2400" dirty="0">
                <a:latin typeface="Times New Roman"/>
                <a:cs typeface="Times New Roman"/>
              </a:rPr>
              <a:t>overall</a:t>
            </a:r>
            <a:r>
              <a:rPr sz="2400" spc="-25" dirty="0">
                <a:latin typeface="Times New Roman"/>
                <a:cs typeface="Times New Roman"/>
              </a:rPr>
              <a:t> </a:t>
            </a:r>
            <a:r>
              <a:rPr sz="2400" dirty="0">
                <a:latin typeface="Times New Roman"/>
                <a:cs typeface="Times New Roman"/>
              </a:rPr>
              <a:t>process</a:t>
            </a:r>
            <a:r>
              <a:rPr sz="2400" spc="-5" dirty="0">
                <a:latin typeface="Times New Roman"/>
                <a:cs typeface="Times New Roman"/>
              </a:rPr>
              <a:t> </a:t>
            </a:r>
            <a:r>
              <a:rPr sz="2400" dirty="0">
                <a:latin typeface="Times New Roman"/>
                <a:cs typeface="Times New Roman"/>
              </a:rPr>
              <a:t>to</a:t>
            </a:r>
            <a:r>
              <a:rPr sz="2400" spc="-20" dirty="0">
                <a:latin typeface="Times New Roman"/>
                <a:cs typeface="Times New Roman"/>
              </a:rPr>
              <a:t> sub-</a:t>
            </a:r>
            <a:r>
              <a:rPr sz="2400" spc="-10" dirty="0">
                <a:latin typeface="Times New Roman"/>
                <a:cs typeface="Times New Roman"/>
              </a:rPr>
              <a:t>processes.</a:t>
            </a:r>
            <a:endParaRPr sz="2400" dirty="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B224D-4E7F-A2F8-A68F-9B7379D4080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214D240-701C-2C99-91D8-AD843F82B3EB}"/>
              </a:ext>
            </a:extLst>
          </p:cNvPr>
          <p:cNvSpPr>
            <a:spLocks noGrp="1"/>
          </p:cNvSpPr>
          <p:nvPr>
            <p:ph type="title"/>
          </p:nvPr>
        </p:nvSpPr>
        <p:spPr>
          <a:xfrm>
            <a:off x="261646" y="126237"/>
            <a:ext cx="8806154" cy="984885"/>
          </a:xfrm>
        </p:spPr>
        <p:txBody>
          <a:bodyPr/>
          <a:lstStyle/>
          <a:p>
            <a:r>
              <a:rPr lang="en-US" sz="3200" b="1" dirty="0"/>
              <a:t>Comparison between System Context Diagram and Data Flow Diagram</a:t>
            </a:r>
            <a:endParaRPr lang="en-US" sz="3200" dirty="0"/>
          </a:p>
        </p:txBody>
      </p:sp>
      <p:sp>
        <p:nvSpPr>
          <p:cNvPr id="8" name="TextBox 7">
            <a:extLst>
              <a:ext uri="{FF2B5EF4-FFF2-40B4-BE49-F238E27FC236}">
                <a16:creationId xmlns:a16="http://schemas.microsoft.com/office/drawing/2014/main" id="{08689616-19E9-FDF8-6B70-0676231BAC2C}"/>
              </a:ext>
            </a:extLst>
          </p:cNvPr>
          <p:cNvSpPr txBox="1"/>
          <p:nvPr/>
        </p:nvSpPr>
        <p:spPr>
          <a:xfrm>
            <a:off x="261646" y="1752600"/>
            <a:ext cx="8729954" cy="3416320"/>
          </a:xfrm>
          <a:prstGeom prst="rect">
            <a:avLst/>
          </a:prstGeom>
          <a:noFill/>
        </p:spPr>
        <p:txBody>
          <a:bodyPr wrap="square">
            <a:spAutoFit/>
          </a:bodyPr>
          <a:lstStyle/>
          <a:p>
            <a:pPr algn="l">
              <a:buNone/>
            </a:pPr>
            <a:r>
              <a:rPr lang="en-US" sz="2400" b="1" i="0" dirty="0">
                <a:solidFill>
                  <a:srgbClr val="212930"/>
                </a:solidFill>
                <a:effectLst/>
                <a:latin typeface="Times New Roman" panose="02020603050405020304" pitchFamily="18" charset="0"/>
                <a:ea typeface="微软雅黑" panose="020B0503020204020204" pitchFamily="34" charset="-122"/>
                <a:cs typeface="Times New Roman" panose="02020603050405020304" pitchFamily="18" charset="0"/>
              </a:rPr>
              <a:t>System </a:t>
            </a:r>
            <a:r>
              <a:rPr lang="en-US" sz="2400" b="1" i="0" dirty="0">
                <a:solidFill>
                  <a:srgbClr val="212930"/>
                </a:solidFill>
                <a:effectLst/>
                <a:latin typeface="Times New Roman" panose="02020603050405020304" pitchFamily="18" charset="0"/>
                <a:cs typeface="Times New Roman" panose="02020603050405020304" pitchFamily="18" charset="0"/>
              </a:rPr>
              <a:t>Context Diagram</a:t>
            </a:r>
            <a:r>
              <a:rPr lang="en-US" sz="2400" b="0" i="0" dirty="0">
                <a:solidFill>
                  <a:srgbClr val="212930"/>
                </a:solidFill>
                <a:effectLst/>
                <a:latin typeface="Times New Roman" panose="02020603050405020304" pitchFamily="18" charset="0"/>
                <a:cs typeface="Times New Roman" panose="02020603050405020304" pitchFamily="18" charset="0"/>
              </a:rPr>
              <a:t>: Provides an overview of the system and is the highest level representation in a data flow diagram. It focuses on the interaction of external entities with the system and contains only one process or program that represents the entire system. It is sometimes called a level 0 data flow diagram.</a:t>
            </a:r>
          </a:p>
          <a:p>
            <a:pPr algn="l">
              <a:buNone/>
            </a:pPr>
            <a:r>
              <a:rPr lang="en-US" sz="2400" b="1" i="0" dirty="0">
                <a:solidFill>
                  <a:srgbClr val="212930"/>
                </a:solidFill>
                <a:effectLst/>
                <a:latin typeface="Times New Roman" panose="02020603050405020304" pitchFamily="18" charset="0"/>
                <a:cs typeface="Times New Roman" panose="02020603050405020304" pitchFamily="18" charset="0"/>
              </a:rPr>
              <a:t>Data Flow Diagram</a:t>
            </a:r>
            <a:r>
              <a:rPr lang="en-US" sz="2400" b="0" i="0" dirty="0">
                <a:solidFill>
                  <a:srgbClr val="212930"/>
                </a:solidFill>
                <a:effectLst/>
                <a:latin typeface="Times New Roman" panose="02020603050405020304" pitchFamily="18" charset="0"/>
                <a:cs typeface="Times New Roman" panose="02020603050405020304" pitchFamily="18" charset="0"/>
              </a:rPr>
              <a:t>: A graphical representation of the data "flow" of an information system that details the flow, processing, and storage of data in the system. It can be used to visualize the structured design of data processing and contains multiple levels of detail.</a:t>
            </a:r>
          </a:p>
        </p:txBody>
      </p:sp>
      <p:sp>
        <p:nvSpPr>
          <p:cNvPr id="10" name="TextBox 9">
            <a:extLst>
              <a:ext uri="{FF2B5EF4-FFF2-40B4-BE49-F238E27FC236}">
                <a16:creationId xmlns:a16="http://schemas.microsoft.com/office/drawing/2014/main" id="{01312B09-AF1F-47E0-BE11-91500A9BB86A}"/>
              </a:ext>
            </a:extLst>
          </p:cNvPr>
          <p:cNvSpPr txBox="1"/>
          <p:nvPr/>
        </p:nvSpPr>
        <p:spPr>
          <a:xfrm>
            <a:off x="272532" y="5207175"/>
            <a:ext cx="2927868" cy="461665"/>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For more details</a:t>
            </a:r>
            <a:endParaRPr lang="en-US" sz="2400" dirty="0">
              <a:solidFill>
                <a:srgbClr val="FF0000"/>
              </a:solidFill>
            </a:endParaRPr>
          </a:p>
        </p:txBody>
      </p:sp>
      <p:sp>
        <p:nvSpPr>
          <p:cNvPr id="12" name="TextBox 11">
            <a:extLst>
              <a:ext uri="{FF2B5EF4-FFF2-40B4-BE49-F238E27FC236}">
                <a16:creationId xmlns:a16="http://schemas.microsoft.com/office/drawing/2014/main" id="{8245CC70-DB44-0B90-3F53-1E887D689660}"/>
              </a:ext>
            </a:extLst>
          </p:cNvPr>
          <p:cNvSpPr txBox="1"/>
          <p:nvPr/>
        </p:nvSpPr>
        <p:spPr>
          <a:xfrm>
            <a:off x="381000" y="5679726"/>
            <a:ext cx="8882742" cy="1200329"/>
          </a:xfrm>
          <a:prstGeom prst="rect">
            <a:avLst/>
          </a:prstGeom>
          <a:noFill/>
        </p:spPr>
        <p:txBody>
          <a:bodyPr wrap="square">
            <a:spAutoFit/>
          </a:bodyPr>
          <a:lstStyle/>
          <a:p>
            <a:r>
              <a:rPr lang="en-US" sz="2400" b="0" i="0" dirty="0">
                <a:solidFill>
                  <a:srgbClr val="FF0000"/>
                </a:solidFill>
                <a:effectLst/>
                <a:latin typeface="Times New Roman" panose="02020603050405020304" pitchFamily="18" charset="0"/>
                <a:cs typeface="Times New Roman" panose="02020603050405020304" pitchFamily="18" charset="0"/>
              </a:rPr>
              <a:t>: https://www.processon.io/blog/how-to-create-a-system-context-diagram#:~:text=Definition%20and%20Overview,contains%20multiple%20levels%20of%20detail.</a:t>
            </a:r>
            <a:endParaRPr lang="en-US" sz="2400" dirty="0">
              <a:solidFill>
                <a:srgbClr val="FF0000"/>
              </a:solidFill>
            </a:endParaRPr>
          </a:p>
        </p:txBody>
      </p:sp>
    </p:spTree>
    <p:extLst>
      <p:ext uri="{BB962C8B-B14F-4D97-AF65-F5344CB8AC3E}">
        <p14:creationId xmlns:p14="http://schemas.microsoft.com/office/powerpoint/2010/main" val="2411211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49922" y="0"/>
            <a:ext cx="7772400" cy="765175"/>
          </a:xfrm>
          <a:custGeom>
            <a:avLst/>
            <a:gdLst/>
            <a:ahLst/>
            <a:cxnLst/>
            <a:rect l="l" t="t" r="r" b="b"/>
            <a:pathLst>
              <a:path w="7772400" h="765175">
                <a:moveTo>
                  <a:pt x="7772400" y="0"/>
                </a:moveTo>
                <a:lnTo>
                  <a:pt x="0" y="0"/>
                </a:lnTo>
                <a:lnTo>
                  <a:pt x="0" y="765175"/>
                </a:lnTo>
                <a:lnTo>
                  <a:pt x="7772400" y="765175"/>
                </a:lnTo>
                <a:lnTo>
                  <a:pt x="7772400" y="0"/>
                </a:lnTo>
                <a:close/>
              </a:path>
            </a:pathLst>
          </a:custGeom>
          <a:solidFill>
            <a:srgbClr val="FFC000"/>
          </a:solidFill>
        </p:spPr>
        <p:txBody>
          <a:bodyPr wrap="square" lIns="0" tIns="0" rIns="0" bIns="0" rtlCol="0"/>
          <a:lstStyle/>
          <a:p>
            <a:endParaRPr/>
          </a:p>
        </p:txBody>
      </p:sp>
      <p:sp>
        <p:nvSpPr>
          <p:cNvPr id="3" name="object 3"/>
          <p:cNvSpPr txBox="1">
            <a:spLocks noGrp="1"/>
          </p:cNvSpPr>
          <p:nvPr>
            <p:ph type="title"/>
          </p:nvPr>
        </p:nvSpPr>
        <p:spPr>
          <a:xfrm>
            <a:off x="1026972" y="-95885"/>
            <a:ext cx="7416165" cy="878840"/>
          </a:xfrm>
          <a:prstGeom prst="rect">
            <a:avLst/>
          </a:prstGeom>
        </p:spPr>
        <p:txBody>
          <a:bodyPr vert="horz" wrap="square" lIns="0" tIns="12065" rIns="0" bIns="0" rtlCol="0">
            <a:spAutoFit/>
          </a:bodyPr>
          <a:lstStyle/>
          <a:p>
            <a:pPr marL="3353435" marR="5080" indent="-3341370">
              <a:lnSpc>
                <a:spcPct val="100000"/>
              </a:lnSpc>
              <a:spcBef>
                <a:spcPts val="95"/>
              </a:spcBef>
            </a:pPr>
            <a:r>
              <a:rPr sz="2800" dirty="0">
                <a:solidFill>
                  <a:srgbClr val="000000"/>
                </a:solidFill>
                <a:latin typeface="Times New Roman"/>
                <a:cs typeface="Times New Roman"/>
              </a:rPr>
              <a:t>State</a:t>
            </a:r>
            <a:r>
              <a:rPr sz="2800" spc="-50" dirty="0">
                <a:solidFill>
                  <a:srgbClr val="000000"/>
                </a:solidFill>
                <a:latin typeface="Times New Roman"/>
                <a:cs typeface="Times New Roman"/>
              </a:rPr>
              <a:t> </a:t>
            </a:r>
            <a:r>
              <a:rPr sz="2800" dirty="0">
                <a:solidFill>
                  <a:srgbClr val="000000"/>
                </a:solidFill>
                <a:latin typeface="Times New Roman"/>
                <a:cs typeface="Times New Roman"/>
              </a:rPr>
              <a:t>machine</a:t>
            </a:r>
            <a:r>
              <a:rPr sz="2800" spc="-40" dirty="0">
                <a:solidFill>
                  <a:srgbClr val="000000"/>
                </a:solidFill>
                <a:latin typeface="Times New Roman"/>
                <a:cs typeface="Times New Roman"/>
              </a:rPr>
              <a:t> </a:t>
            </a:r>
            <a:r>
              <a:rPr sz="2800" dirty="0">
                <a:solidFill>
                  <a:srgbClr val="000000"/>
                </a:solidFill>
                <a:latin typeface="Times New Roman"/>
                <a:cs typeface="Times New Roman"/>
              </a:rPr>
              <a:t>model</a:t>
            </a:r>
            <a:r>
              <a:rPr sz="2800" spc="-50" dirty="0">
                <a:solidFill>
                  <a:srgbClr val="000000"/>
                </a:solidFill>
                <a:latin typeface="Times New Roman"/>
                <a:cs typeface="Times New Roman"/>
              </a:rPr>
              <a:t> </a:t>
            </a:r>
            <a:r>
              <a:rPr sz="2800" dirty="0">
                <a:solidFill>
                  <a:srgbClr val="000000"/>
                </a:solidFill>
                <a:latin typeface="Times New Roman"/>
                <a:cs typeface="Times New Roman"/>
              </a:rPr>
              <a:t>of</a:t>
            </a:r>
            <a:r>
              <a:rPr sz="2800" spc="-50" dirty="0">
                <a:solidFill>
                  <a:srgbClr val="000000"/>
                </a:solidFill>
                <a:latin typeface="Times New Roman"/>
                <a:cs typeface="Times New Roman"/>
              </a:rPr>
              <a:t> </a:t>
            </a:r>
            <a:r>
              <a:rPr sz="2800" dirty="0">
                <a:solidFill>
                  <a:srgbClr val="000000"/>
                </a:solidFill>
                <a:latin typeface="Times New Roman"/>
                <a:cs typeface="Times New Roman"/>
              </a:rPr>
              <a:t>a</a:t>
            </a:r>
            <a:r>
              <a:rPr sz="2800" spc="-50" dirty="0">
                <a:solidFill>
                  <a:srgbClr val="000000"/>
                </a:solidFill>
                <a:latin typeface="Times New Roman"/>
                <a:cs typeface="Times New Roman"/>
              </a:rPr>
              <a:t> </a:t>
            </a:r>
            <a:r>
              <a:rPr sz="2800" dirty="0">
                <a:solidFill>
                  <a:srgbClr val="000000"/>
                </a:solidFill>
                <a:latin typeface="Times New Roman"/>
                <a:cs typeface="Times New Roman"/>
              </a:rPr>
              <a:t>very</a:t>
            </a:r>
            <a:r>
              <a:rPr sz="2800" spc="-50" dirty="0">
                <a:solidFill>
                  <a:srgbClr val="000000"/>
                </a:solidFill>
                <a:latin typeface="Times New Roman"/>
                <a:cs typeface="Times New Roman"/>
              </a:rPr>
              <a:t> </a:t>
            </a:r>
            <a:r>
              <a:rPr sz="2800" dirty="0">
                <a:solidFill>
                  <a:srgbClr val="000000"/>
                </a:solidFill>
                <a:latin typeface="Times New Roman"/>
                <a:cs typeface="Times New Roman"/>
              </a:rPr>
              <a:t>simple</a:t>
            </a:r>
            <a:r>
              <a:rPr sz="2800" spc="-40" dirty="0">
                <a:solidFill>
                  <a:srgbClr val="000000"/>
                </a:solidFill>
                <a:latin typeface="Times New Roman"/>
                <a:cs typeface="Times New Roman"/>
              </a:rPr>
              <a:t> </a:t>
            </a:r>
            <a:r>
              <a:rPr sz="2800" spc="-10" dirty="0">
                <a:solidFill>
                  <a:srgbClr val="000000"/>
                </a:solidFill>
                <a:latin typeface="Times New Roman"/>
                <a:cs typeface="Times New Roman"/>
              </a:rPr>
              <a:t>microwave </a:t>
            </a:r>
            <a:r>
              <a:rPr sz="2800" spc="-20" dirty="0">
                <a:solidFill>
                  <a:srgbClr val="000000"/>
                </a:solidFill>
                <a:latin typeface="Times New Roman"/>
                <a:cs typeface="Times New Roman"/>
              </a:rPr>
              <a:t>oven</a:t>
            </a:r>
            <a:endParaRPr sz="2800">
              <a:latin typeface="Times New Roman"/>
              <a:cs typeface="Times New Roman"/>
            </a:endParaRPr>
          </a:p>
        </p:txBody>
      </p:sp>
      <p:sp>
        <p:nvSpPr>
          <p:cNvPr id="32" name="object 32"/>
          <p:cNvSpPr txBox="1"/>
          <p:nvPr/>
        </p:nvSpPr>
        <p:spPr>
          <a:xfrm>
            <a:off x="263448" y="5584342"/>
            <a:ext cx="8550910" cy="880110"/>
          </a:xfrm>
          <a:prstGeom prst="rect">
            <a:avLst/>
          </a:prstGeom>
        </p:spPr>
        <p:txBody>
          <a:bodyPr vert="horz" wrap="square" lIns="0" tIns="43180" rIns="0" bIns="0" rtlCol="0">
            <a:spAutoFit/>
          </a:bodyPr>
          <a:lstStyle/>
          <a:p>
            <a:pPr marL="12700" marR="5080" algn="just">
              <a:lnSpc>
                <a:spcPct val="90100"/>
              </a:lnSpc>
              <a:spcBef>
                <a:spcPts val="340"/>
              </a:spcBef>
            </a:pPr>
            <a:r>
              <a:rPr sz="2000" dirty="0">
                <a:latin typeface="Times New Roman"/>
                <a:cs typeface="Times New Roman"/>
              </a:rPr>
              <a:t>A</a:t>
            </a:r>
            <a:r>
              <a:rPr sz="2000" spc="210" dirty="0">
                <a:latin typeface="Times New Roman"/>
                <a:cs typeface="Times New Roman"/>
              </a:rPr>
              <a:t> </a:t>
            </a:r>
            <a:r>
              <a:rPr sz="2000" dirty="0">
                <a:latin typeface="Times New Roman"/>
                <a:cs typeface="Times New Roman"/>
              </a:rPr>
              <a:t>state</a:t>
            </a:r>
            <a:r>
              <a:rPr sz="2000" spc="305" dirty="0">
                <a:latin typeface="Times New Roman"/>
                <a:cs typeface="Times New Roman"/>
              </a:rPr>
              <a:t> </a:t>
            </a:r>
            <a:r>
              <a:rPr sz="2000" dirty="0">
                <a:latin typeface="Times New Roman"/>
                <a:cs typeface="Times New Roman"/>
              </a:rPr>
              <a:t>machine</a:t>
            </a:r>
            <a:r>
              <a:rPr sz="2000" spc="325" dirty="0">
                <a:latin typeface="Times New Roman"/>
                <a:cs typeface="Times New Roman"/>
              </a:rPr>
              <a:t> </a:t>
            </a:r>
            <a:r>
              <a:rPr sz="2000" dirty="0">
                <a:latin typeface="Times New Roman"/>
                <a:cs typeface="Times New Roman"/>
              </a:rPr>
              <a:t>models</a:t>
            </a:r>
            <a:r>
              <a:rPr sz="2000" spc="305" dirty="0">
                <a:latin typeface="Times New Roman"/>
                <a:cs typeface="Times New Roman"/>
              </a:rPr>
              <a:t> </a:t>
            </a:r>
            <a:r>
              <a:rPr sz="2000" dirty="0">
                <a:latin typeface="Times New Roman"/>
                <a:cs typeface="Times New Roman"/>
              </a:rPr>
              <a:t>describe</a:t>
            </a:r>
            <a:r>
              <a:rPr sz="2000" spc="320" dirty="0">
                <a:latin typeface="Times New Roman"/>
                <a:cs typeface="Times New Roman"/>
              </a:rPr>
              <a:t> </a:t>
            </a:r>
            <a:r>
              <a:rPr sz="2000" dirty="0">
                <a:latin typeface="Times New Roman"/>
                <a:cs typeface="Times New Roman"/>
              </a:rPr>
              <a:t>the</a:t>
            </a:r>
            <a:r>
              <a:rPr sz="2000" spc="320" dirty="0">
                <a:latin typeface="Times New Roman"/>
                <a:cs typeface="Times New Roman"/>
              </a:rPr>
              <a:t> </a:t>
            </a:r>
            <a:r>
              <a:rPr sz="2000" dirty="0">
                <a:latin typeface="Times New Roman"/>
                <a:cs typeface="Times New Roman"/>
              </a:rPr>
              <a:t>behavior</a:t>
            </a:r>
            <a:r>
              <a:rPr sz="2000" spc="315" dirty="0">
                <a:latin typeface="Times New Roman"/>
                <a:cs typeface="Times New Roman"/>
              </a:rPr>
              <a:t> </a:t>
            </a:r>
            <a:r>
              <a:rPr sz="2000" dirty="0">
                <a:latin typeface="Times New Roman"/>
                <a:cs typeface="Times New Roman"/>
              </a:rPr>
              <a:t>of</a:t>
            </a:r>
            <a:r>
              <a:rPr sz="2000" spc="315" dirty="0">
                <a:latin typeface="Times New Roman"/>
                <a:cs typeface="Times New Roman"/>
              </a:rPr>
              <a:t> </a:t>
            </a:r>
            <a:r>
              <a:rPr sz="2000" dirty="0">
                <a:latin typeface="Times New Roman"/>
                <a:cs typeface="Times New Roman"/>
              </a:rPr>
              <a:t>a</a:t>
            </a:r>
            <a:r>
              <a:rPr sz="2000" spc="310" dirty="0">
                <a:latin typeface="Times New Roman"/>
                <a:cs typeface="Times New Roman"/>
              </a:rPr>
              <a:t> </a:t>
            </a:r>
            <a:r>
              <a:rPr sz="2000" dirty="0">
                <a:latin typeface="Times New Roman"/>
                <a:cs typeface="Times New Roman"/>
              </a:rPr>
              <a:t>single</a:t>
            </a:r>
            <a:r>
              <a:rPr sz="2000" spc="310" dirty="0">
                <a:latin typeface="Times New Roman"/>
                <a:cs typeface="Times New Roman"/>
              </a:rPr>
              <a:t> </a:t>
            </a:r>
            <a:r>
              <a:rPr sz="2000" dirty="0">
                <a:latin typeface="Times New Roman"/>
                <a:cs typeface="Times New Roman"/>
              </a:rPr>
              <a:t>object,</a:t>
            </a:r>
            <a:r>
              <a:rPr sz="2000" spc="320" dirty="0">
                <a:latin typeface="Times New Roman"/>
                <a:cs typeface="Times New Roman"/>
              </a:rPr>
              <a:t> </a:t>
            </a:r>
            <a:r>
              <a:rPr sz="2000" dirty="0">
                <a:latin typeface="Times New Roman"/>
                <a:cs typeface="Times New Roman"/>
              </a:rPr>
              <a:t>specifying</a:t>
            </a:r>
            <a:r>
              <a:rPr sz="2000" spc="315" dirty="0">
                <a:latin typeface="Times New Roman"/>
                <a:cs typeface="Times New Roman"/>
              </a:rPr>
              <a:t> </a:t>
            </a:r>
            <a:r>
              <a:rPr sz="2000" spc="-25" dirty="0">
                <a:latin typeface="Times New Roman"/>
                <a:cs typeface="Times New Roman"/>
              </a:rPr>
              <a:t>the </a:t>
            </a:r>
            <a:r>
              <a:rPr sz="2000" dirty="0">
                <a:latin typeface="Times New Roman"/>
                <a:cs typeface="Times New Roman"/>
              </a:rPr>
              <a:t>sequence</a:t>
            </a:r>
            <a:r>
              <a:rPr sz="2000" spc="250" dirty="0">
                <a:latin typeface="Times New Roman"/>
                <a:cs typeface="Times New Roman"/>
              </a:rPr>
              <a:t> </a:t>
            </a:r>
            <a:r>
              <a:rPr sz="2000" dirty="0">
                <a:latin typeface="Times New Roman"/>
                <a:cs typeface="Times New Roman"/>
              </a:rPr>
              <a:t>of</a:t>
            </a:r>
            <a:r>
              <a:rPr sz="2000" spc="265" dirty="0">
                <a:latin typeface="Times New Roman"/>
                <a:cs typeface="Times New Roman"/>
              </a:rPr>
              <a:t> </a:t>
            </a:r>
            <a:r>
              <a:rPr sz="2000" dirty="0">
                <a:latin typeface="Times New Roman"/>
                <a:cs typeface="Times New Roman"/>
              </a:rPr>
              <a:t>events</a:t>
            </a:r>
            <a:r>
              <a:rPr sz="2000" spc="250" dirty="0">
                <a:latin typeface="Times New Roman"/>
                <a:cs typeface="Times New Roman"/>
              </a:rPr>
              <a:t> </a:t>
            </a:r>
            <a:r>
              <a:rPr sz="2000" dirty="0">
                <a:latin typeface="Times New Roman"/>
                <a:cs typeface="Times New Roman"/>
              </a:rPr>
              <a:t>that</a:t>
            </a:r>
            <a:r>
              <a:rPr sz="2000" spc="254" dirty="0">
                <a:latin typeface="Times New Roman"/>
                <a:cs typeface="Times New Roman"/>
              </a:rPr>
              <a:t> </a:t>
            </a:r>
            <a:r>
              <a:rPr sz="2000" dirty="0">
                <a:latin typeface="Times New Roman"/>
                <a:cs typeface="Times New Roman"/>
              </a:rPr>
              <a:t>an</a:t>
            </a:r>
            <a:r>
              <a:rPr sz="2000" spc="245" dirty="0">
                <a:latin typeface="Times New Roman"/>
                <a:cs typeface="Times New Roman"/>
              </a:rPr>
              <a:t> </a:t>
            </a:r>
            <a:r>
              <a:rPr sz="2000" dirty="0">
                <a:latin typeface="Times New Roman"/>
                <a:cs typeface="Times New Roman"/>
              </a:rPr>
              <a:t>object</a:t>
            </a:r>
            <a:r>
              <a:rPr sz="2000" spc="240" dirty="0">
                <a:latin typeface="Times New Roman"/>
                <a:cs typeface="Times New Roman"/>
              </a:rPr>
              <a:t> </a:t>
            </a:r>
            <a:r>
              <a:rPr sz="2000" dirty="0">
                <a:latin typeface="Times New Roman"/>
                <a:cs typeface="Times New Roman"/>
              </a:rPr>
              <a:t>goes</a:t>
            </a:r>
            <a:r>
              <a:rPr sz="2000" spc="245" dirty="0">
                <a:latin typeface="Times New Roman"/>
                <a:cs typeface="Times New Roman"/>
              </a:rPr>
              <a:t> </a:t>
            </a:r>
            <a:r>
              <a:rPr sz="2000" dirty="0">
                <a:latin typeface="Times New Roman"/>
                <a:cs typeface="Times New Roman"/>
              </a:rPr>
              <a:t>through</a:t>
            </a:r>
            <a:r>
              <a:rPr sz="2000" spc="250" dirty="0">
                <a:latin typeface="Times New Roman"/>
                <a:cs typeface="Times New Roman"/>
              </a:rPr>
              <a:t> </a:t>
            </a:r>
            <a:r>
              <a:rPr sz="2000" dirty="0">
                <a:latin typeface="Times New Roman"/>
                <a:cs typeface="Times New Roman"/>
              </a:rPr>
              <a:t>during</a:t>
            </a:r>
            <a:r>
              <a:rPr sz="2000" spc="245" dirty="0">
                <a:latin typeface="Times New Roman"/>
                <a:cs typeface="Times New Roman"/>
              </a:rPr>
              <a:t> </a:t>
            </a:r>
            <a:r>
              <a:rPr sz="2000" dirty="0">
                <a:latin typeface="Times New Roman"/>
                <a:cs typeface="Times New Roman"/>
              </a:rPr>
              <a:t>its</a:t>
            </a:r>
            <a:r>
              <a:rPr sz="2000" spc="260" dirty="0">
                <a:latin typeface="Times New Roman"/>
                <a:cs typeface="Times New Roman"/>
              </a:rPr>
              <a:t> </a:t>
            </a:r>
            <a:r>
              <a:rPr sz="2000" dirty="0">
                <a:latin typeface="Times New Roman"/>
                <a:cs typeface="Times New Roman"/>
              </a:rPr>
              <a:t>lifetime</a:t>
            </a:r>
            <a:r>
              <a:rPr sz="2000" spc="260" dirty="0">
                <a:latin typeface="Times New Roman"/>
                <a:cs typeface="Times New Roman"/>
              </a:rPr>
              <a:t> </a:t>
            </a:r>
            <a:r>
              <a:rPr sz="2000" dirty="0">
                <a:latin typeface="Times New Roman"/>
                <a:cs typeface="Times New Roman"/>
              </a:rPr>
              <a:t>in</a:t>
            </a:r>
            <a:r>
              <a:rPr sz="2000" spc="254" dirty="0">
                <a:latin typeface="Times New Roman"/>
                <a:cs typeface="Times New Roman"/>
              </a:rPr>
              <a:t> </a:t>
            </a:r>
            <a:r>
              <a:rPr sz="2000" dirty="0">
                <a:latin typeface="Times New Roman"/>
                <a:cs typeface="Times New Roman"/>
              </a:rPr>
              <a:t>response</a:t>
            </a:r>
            <a:r>
              <a:rPr sz="2000" spc="245" dirty="0">
                <a:latin typeface="Times New Roman"/>
                <a:cs typeface="Times New Roman"/>
              </a:rPr>
              <a:t> </a:t>
            </a:r>
            <a:r>
              <a:rPr sz="2000" spc="-25" dirty="0">
                <a:latin typeface="Times New Roman"/>
                <a:cs typeface="Times New Roman"/>
              </a:rPr>
              <a:t>to </a:t>
            </a:r>
            <a:r>
              <a:rPr sz="2000" spc="-10" dirty="0">
                <a:latin typeface="Times New Roman"/>
                <a:cs typeface="Times New Roman"/>
              </a:rPr>
              <a:t>events.</a:t>
            </a:r>
            <a:endParaRPr sz="2000" dirty="0">
              <a:latin typeface="Times New Roman"/>
              <a:cs typeface="Times New Roman"/>
            </a:endParaRPr>
          </a:p>
        </p:txBody>
      </p:sp>
      <p:pic>
        <p:nvPicPr>
          <p:cNvPr id="37" name="Picture 36">
            <a:extLst>
              <a:ext uri="{FF2B5EF4-FFF2-40B4-BE49-F238E27FC236}">
                <a16:creationId xmlns:a16="http://schemas.microsoft.com/office/drawing/2014/main" id="{045B5C9E-D391-A002-A121-83CADFA0F082}"/>
              </a:ext>
            </a:extLst>
          </p:cNvPr>
          <p:cNvPicPr>
            <a:picLocks noChangeAspect="1"/>
          </p:cNvPicPr>
          <p:nvPr/>
        </p:nvPicPr>
        <p:blipFill>
          <a:blip r:embed="rId2"/>
          <a:stretch>
            <a:fillRect/>
          </a:stretch>
        </p:blipFill>
        <p:spPr>
          <a:xfrm>
            <a:off x="1447364" y="1190312"/>
            <a:ext cx="6249272" cy="447737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0" y="1676400"/>
            <a:ext cx="8684260" cy="4639945"/>
          </a:xfrm>
          <a:prstGeom prst="rect">
            <a:avLst/>
          </a:prstGeom>
        </p:spPr>
        <p:txBody>
          <a:bodyPr vert="horz" wrap="square" lIns="0" tIns="12065" rIns="0" bIns="0" rtlCol="0">
            <a:spAutoFit/>
          </a:bodyPr>
          <a:lstStyle/>
          <a:p>
            <a:pPr marL="355600" marR="5080" indent="-342900" algn="just">
              <a:lnSpc>
                <a:spcPct val="100000"/>
              </a:lnSpc>
              <a:spcBef>
                <a:spcPts val="95"/>
              </a:spcBef>
              <a:buChar char="•"/>
              <a:tabLst>
                <a:tab pos="355600" algn="l"/>
              </a:tabLst>
            </a:pPr>
            <a:r>
              <a:rPr sz="2800" dirty="0">
                <a:latin typeface="Times New Roman"/>
                <a:cs typeface="Times New Roman"/>
              </a:rPr>
              <a:t>As</a:t>
            </a:r>
            <a:r>
              <a:rPr sz="2800" spc="10" dirty="0">
                <a:latin typeface="Times New Roman"/>
                <a:cs typeface="Times New Roman"/>
              </a:rPr>
              <a:t> </a:t>
            </a:r>
            <a:r>
              <a:rPr sz="2800" dirty="0">
                <a:latin typeface="Times New Roman"/>
                <a:cs typeface="Times New Roman"/>
              </a:rPr>
              <a:t>an</a:t>
            </a:r>
            <a:r>
              <a:rPr sz="2800" spc="20" dirty="0">
                <a:latin typeface="Times New Roman"/>
                <a:cs typeface="Times New Roman"/>
              </a:rPr>
              <a:t> </a:t>
            </a:r>
            <a:r>
              <a:rPr sz="2800" dirty="0">
                <a:latin typeface="Times New Roman"/>
                <a:cs typeface="Times New Roman"/>
              </a:rPr>
              <a:t>example,</a:t>
            </a:r>
            <a:r>
              <a:rPr sz="2800" spc="5" dirty="0">
                <a:latin typeface="Times New Roman"/>
                <a:cs typeface="Times New Roman"/>
              </a:rPr>
              <a:t> </a:t>
            </a:r>
            <a:r>
              <a:rPr sz="2800" dirty="0">
                <a:latin typeface="Times New Roman"/>
                <a:cs typeface="Times New Roman"/>
              </a:rPr>
              <a:t>figure</a:t>
            </a:r>
            <a:r>
              <a:rPr sz="2800" spc="10" dirty="0">
                <a:latin typeface="Times New Roman"/>
                <a:cs typeface="Times New Roman"/>
              </a:rPr>
              <a:t> </a:t>
            </a:r>
            <a:r>
              <a:rPr sz="2800" dirty="0">
                <a:latin typeface="Times New Roman"/>
                <a:cs typeface="Times New Roman"/>
              </a:rPr>
              <a:t>8</a:t>
            </a:r>
            <a:r>
              <a:rPr sz="2800" spc="15" dirty="0">
                <a:latin typeface="Times New Roman"/>
                <a:cs typeface="Times New Roman"/>
              </a:rPr>
              <a:t> </a:t>
            </a:r>
            <a:r>
              <a:rPr sz="2800" dirty="0">
                <a:latin typeface="Times New Roman"/>
                <a:cs typeface="Times New Roman"/>
              </a:rPr>
              <a:t>shows</a:t>
            </a:r>
            <a:r>
              <a:rPr sz="2800" spc="15" dirty="0">
                <a:latin typeface="Times New Roman"/>
                <a:cs typeface="Times New Roman"/>
              </a:rPr>
              <a:t> </a:t>
            </a:r>
            <a:r>
              <a:rPr sz="2800" dirty="0">
                <a:latin typeface="Times New Roman"/>
                <a:cs typeface="Times New Roman"/>
              </a:rPr>
              <a:t>a</a:t>
            </a:r>
            <a:r>
              <a:rPr sz="2800" spc="10" dirty="0">
                <a:latin typeface="Times New Roman"/>
                <a:cs typeface="Times New Roman"/>
              </a:rPr>
              <a:t> </a:t>
            </a:r>
            <a:r>
              <a:rPr sz="2800" dirty="0">
                <a:latin typeface="Times New Roman"/>
                <a:cs typeface="Times New Roman"/>
              </a:rPr>
              <a:t>state</a:t>
            </a:r>
            <a:r>
              <a:rPr sz="2800" spc="10" dirty="0">
                <a:latin typeface="Times New Roman"/>
                <a:cs typeface="Times New Roman"/>
              </a:rPr>
              <a:t> </a:t>
            </a:r>
            <a:r>
              <a:rPr sz="2800" dirty="0">
                <a:latin typeface="Times New Roman"/>
                <a:cs typeface="Times New Roman"/>
              </a:rPr>
              <a:t>machine</a:t>
            </a:r>
            <a:r>
              <a:rPr sz="2800" spc="15" dirty="0">
                <a:latin typeface="Times New Roman"/>
                <a:cs typeface="Times New Roman"/>
              </a:rPr>
              <a:t> </a:t>
            </a:r>
            <a:r>
              <a:rPr sz="2800" dirty="0">
                <a:latin typeface="Times New Roman"/>
                <a:cs typeface="Times New Roman"/>
              </a:rPr>
              <a:t>model</a:t>
            </a:r>
            <a:r>
              <a:rPr sz="2800" spc="10" dirty="0">
                <a:latin typeface="Times New Roman"/>
                <a:cs typeface="Times New Roman"/>
              </a:rPr>
              <a:t> </a:t>
            </a:r>
            <a:r>
              <a:rPr sz="2800" dirty="0">
                <a:latin typeface="Times New Roman"/>
                <a:cs typeface="Times New Roman"/>
              </a:rPr>
              <a:t>of</a:t>
            </a:r>
            <a:r>
              <a:rPr sz="2800" spc="10" dirty="0">
                <a:latin typeface="Times New Roman"/>
                <a:cs typeface="Times New Roman"/>
              </a:rPr>
              <a:t> </a:t>
            </a:r>
            <a:r>
              <a:rPr sz="2800" spc="-50" dirty="0">
                <a:latin typeface="Times New Roman"/>
                <a:cs typeface="Times New Roman"/>
              </a:rPr>
              <a:t>a </a:t>
            </a:r>
            <a:r>
              <a:rPr sz="2800" dirty="0">
                <a:latin typeface="Times New Roman"/>
                <a:cs typeface="Times New Roman"/>
              </a:rPr>
              <a:t>very</a:t>
            </a:r>
            <a:r>
              <a:rPr sz="2800" spc="60" dirty="0">
                <a:latin typeface="Times New Roman"/>
                <a:cs typeface="Times New Roman"/>
              </a:rPr>
              <a:t> </a:t>
            </a:r>
            <a:r>
              <a:rPr sz="2800" dirty="0">
                <a:latin typeface="Times New Roman"/>
                <a:cs typeface="Times New Roman"/>
              </a:rPr>
              <a:t>simple</a:t>
            </a:r>
            <a:r>
              <a:rPr sz="2800" spc="50" dirty="0">
                <a:latin typeface="Times New Roman"/>
                <a:cs typeface="Times New Roman"/>
              </a:rPr>
              <a:t> </a:t>
            </a:r>
            <a:r>
              <a:rPr sz="2800" dirty="0">
                <a:latin typeface="Times New Roman"/>
                <a:cs typeface="Times New Roman"/>
              </a:rPr>
              <a:t>microwave</a:t>
            </a:r>
            <a:r>
              <a:rPr sz="2800" spc="50" dirty="0">
                <a:latin typeface="Times New Roman"/>
                <a:cs typeface="Times New Roman"/>
              </a:rPr>
              <a:t> </a:t>
            </a:r>
            <a:r>
              <a:rPr sz="2800" dirty="0">
                <a:latin typeface="Times New Roman"/>
                <a:cs typeface="Times New Roman"/>
              </a:rPr>
              <a:t>oven</a:t>
            </a:r>
            <a:r>
              <a:rPr sz="2800" spc="55" dirty="0">
                <a:latin typeface="Times New Roman"/>
                <a:cs typeface="Times New Roman"/>
              </a:rPr>
              <a:t> </a:t>
            </a:r>
            <a:r>
              <a:rPr sz="2800" dirty="0">
                <a:latin typeface="Times New Roman"/>
                <a:cs typeface="Times New Roman"/>
              </a:rPr>
              <a:t>equipped</a:t>
            </a:r>
            <a:r>
              <a:rPr sz="2800" spc="60" dirty="0">
                <a:latin typeface="Times New Roman"/>
                <a:cs typeface="Times New Roman"/>
              </a:rPr>
              <a:t> </a:t>
            </a:r>
            <a:r>
              <a:rPr sz="2800" dirty="0">
                <a:latin typeface="Times New Roman"/>
                <a:cs typeface="Times New Roman"/>
              </a:rPr>
              <a:t>with</a:t>
            </a:r>
            <a:r>
              <a:rPr sz="2800" spc="55" dirty="0">
                <a:latin typeface="Times New Roman"/>
                <a:cs typeface="Times New Roman"/>
              </a:rPr>
              <a:t> </a:t>
            </a:r>
            <a:r>
              <a:rPr sz="2800" dirty="0">
                <a:latin typeface="Times New Roman"/>
                <a:cs typeface="Times New Roman"/>
              </a:rPr>
              <a:t>buttons</a:t>
            </a:r>
            <a:r>
              <a:rPr sz="2800" spc="45" dirty="0">
                <a:latin typeface="Times New Roman"/>
                <a:cs typeface="Times New Roman"/>
              </a:rPr>
              <a:t> </a:t>
            </a:r>
            <a:r>
              <a:rPr sz="2800" dirty="0">
                <a:latin typeface="Times New Roman"/>
                <a:cs typeface="Times New Roman"/>
              </a:rPr>
              <a:t>to</a:t>
            </a:r>
            <a:r>
              <a:rPr sz="2800" spc="55" dirty="0">
                <a:latin typeface="Times New Roman"/>
                <a:cs typeface="Times New Roman"/>
              </a:rPr>
              <a:t> </a:t>
            </a:r>
            <a:r>
              <a:rPr sz="2800" spc="-25" dirty="0">
                <a:latin typeface="Times New Roman"/>
                <a:cs typeface="Times New Roman"/>
              </a:rPr>
              <a:t>set </a:t>
            </a:r>
            <a:r>
              <a:rPr sz="2800" dirty="0">
                <a:latin typeface="Times New Roman"/>
                <a:cs typeface="Times New Roman"/>
              </a:rPr>
              <a:t>power</a:t>
            </a:r>
            <a:r>
              <a:rPr sz="2800" spc="-20" dirty="0">
                <a:latin typeface="Times New Roman"/>
                <a:cs typeface="Times New Roman"/>
              </a:rPr>
              <a:t> </a:t>
            </a:r>
            <a:r>
              <a:rPr sz="2800" dirty="0">
                <a:latin typeface="Times New Roman"/>
                <a:cs typeface="Times New Roman"/>
              </a:rPr>
              <a:t>on</a:t>
            </a:r>
            <a:r>
              <a:rPr sz="2800" spc="-35" dirty="0">
                <a:latin typeface="Times New Roman"/>
                <a:cs typeface="Times New Roman"/>
              </a:rPr>
              <a:t> </a:t>
            </a:r>
            <a:r>
              <a:rPr sz="2800" dirty="0">
                <a:latin typeface="Times New Roman"/>
                <a:cs typeface="Times New Roman"/>
              </a:rPr>
              <a:t>and</a:t>
            </a:r>
            <a:r>
              <a:rPr sz="2800" spc="-25" dirty="0">
                <a:latin typeface="Times New Roman"/>
                <a:cs typeface="Times New Roman"/>
              </a:rPr>
              <a:t> </a:t>
            </a:r>
            <a:r>
              <a:rPr sz="2800" dirty="0">
                <a:latin typeface="Times New Roman"/>
                <a:cs typeface="Times New Roman"/>
              </a:rPr>
              <a:t>the</a:t>
            </a:r>
            <a:r>
              <a:rPr sz="2800" spc="-30" dirty="0">
                <a:latin typeface="Times New Roman"/>
                <a:cs typeface="Times New Roman"/>
              </a:rPr>
              <a:t> </a:t>
            </a:r>
            <a:r>
              <a:rPr sz="2800" dirty="0">
                <a:latin typeface="Times New Roman"/>
                <a:cs typeface="Times New Roman"/>
              </a:rPr>
              <a:t>timer</a:t>
            </a:r>
            <a:r>
              <a:rPr sz="2800" spc="-20" dirty="0">
                <a:latin typeface="Times New Roman"/>
                <a:cs typeface="Times New Roman"/>
              </a:rPr>
              <a:t> </a:t>
            </a:r>
            <a:r>
              <a:rPr sz="2800" dirty="0">
                <a:latin typeface="Times New Roman"/>
                <a:cs typeface="Times New Roman"/>
              </a:rPr>
              <a:t>and</a:t>
            </a:r>
            <a:r>
              <a:rPr sz="2800" spc="-25" dirty="0">
                <a:latin typeface="Times New Roman"/>
                <a:cs typeface="Times New Roman"/>
              </a:rPr>
              <a:t> </a:t>
            </a:r>
            <a:r>
              <a:rPr sz="2800" dirty="0">
                <a:latin typeface="Times New Roman"/>
                <a:cs typeface="Times New Roman"/>
              </a:rPr>
              <a:t>to</a:t>
            </a:r>
            <a:r>
              <a:rPr sz="2800" spc="-35" dirty="0">
                <a:latin typeface="Times New Roman"/>
                <a:cs typeface="Times New Roman"/>
              </a:rPr>
              <a:t> </a:t>
            </a:r>
            <a:r>
              <a:rPr sz="2800" dirty="0">
                <a:latin typeface="Times New Roman"/>
                <a:cs typeface="Times New Roman"/>
              </a:rPr>
              <a:t>start</a:t>
            </a:r>
            <a:r>
              <a:rPr sz="2800" spc="-20" dirty="0">
                <a:latin typeface="Times New Roman"/>
                <a:cs typeface="Times New Roman"/>
              </a:rPr>
              <a:t> </a:t>
            </a:r>
            <a:r>
              <a:rPr sz="2800" spc="-10" dirty="0">
                <a:latin typeface="Times New Roman"/>
                <a:cs typeface="Times New Roman"/>
              </a:rPr>
              <a:t>cooking.</a:t>
            </a:r>
            <a:endParaRPr sz="2800" dirty="0">
              <a:latin typeface="Times New Roman"/>
              <a:cs typeface="Times New Roman"/>
            </a:endParaRPr>
          </a:p>
          <a:p>
            <a:pPr marL="756285" marR="5080" indent="-287020" algn="just">
              <a:lnSpc>
                <a:spcPct val="100000"/>
              </a:lnSpc>
              <a:spcBef>
                <a:spcPts val="595"/>
              </a:spcBef>
            </a:pPr>
            <a:r>
              <a:rPr sz="2400" dirty="0">
                <a:latin typeface="Times New Roman"/>
                <a:cs typeface="Times New Roman"/>
              </a:rPr>
              <a:t>–</a:t>
            </a:r>
            <a:r>
              <a:rPr sz="2400" spc="434" dirty="0">
                <a:latin typeface="Times New Roman"/>
                <a:cs typeface="Times New Roman"/>
              </a:rPr>
              <a:t> </a:t>
            </a:r>
            <a:r>
              <a:rPr sz="2400" dirty="0">
                <a:latin typeface="Times New Roman"/>
                <a:cs typeface="Times New Roman"/>
              </a:rPr>
              <a:t>This</a:t>
            </a:r>
            <a:r>
              <a:rPr sz="2400" spc="420" dirty="0">
                <a:latin typeface="Times New Roman"/>
                <a:cs typeface="Times New Roman"/>
              </a:rPr>
              <a:t> </a:t>
            </a:r>
            <a:r>
              <a:rPr sz="2400" dirty="0">
                <a:latin typeface="Times New Roman"/>
                <a:cs typeface="Times New Roman"/>
              </a:rPr>
              <a:t>microwave</a:t>
            </a:r>
            <a:r>
              <a:rPr sz="2400" spc="425" dirty="0">
                <a:latin typeface="Times New Roman"/>
                <a:cs typeface="Times New Roman"/>
              </a:rPr>
              <a:t> </a:t>
            </a:r>
            <a:r>
              <a:rPr sz="2400" dirty="0">
                <a:latin typeface="Times New Roman"/>
                <a:cs typeface="Times New Roman"/>
              </a:rPr>
              <a:t>oven</a:t>
            </a:r>
            <a:r>
              <a:rPr sz="2400" spc="400" dirty="0">
                <a:latin typeface="Times New Roman"/>
                <a:cs typeface="Times New Roman"/>
              </a:rPr>
              <a:t> </a:t>
            </a:r>
            <a:r>
              <a:rPr sz="2400" dirty="0">
                <a:latin typeface="Times New Roman"/>
                <a:cs typeface="Times New Roman"/>
              </a:rPr>
              <a:t>is</a:t>
            </a:r>
            <a:r>
              <a:rPr sz="2400" spc="415" dirty="0">
                <a:latin typeface="Times New Roman"/>
                <a:cs typeface="Times New Roman"/>
              </a:rPr>
              <a:t> </a:t>
            </a:r>
            <a:r>
              <a:rPr sz="2400" dirty="0">
                <a:latin typeface="Times New Roman"/>
                <a:cs typeface="Times New Roman"/>
              </a:rPr>
              <a:t>in</a:t>
            </a:r>
            <a:r>
              <a:rPr sz="2400" spc="415" dirty="0">
                <a:latin typeface="Times New Roman"/>
                <a:cs typeface="Times New Roman"/>
              </a:rPr>
              <a:t> </a:t>
            </a:r>
            <a:r>
              <a:rPr sz="2400" dirty="0">
                <a:latin typeface="Times New Roman"/>
                <a:cs typeface="Times New Roman"/>
              </a:rPr>
              <a:t>one</a:t>
            </a:r>
            <a:r>
              <a:rPr sz="2400" spc="415" dirty="0">
                <a:latin typeface="Times New Roman"/>
                <a:cs typeface="Times New Roman"/>
              </a:rPr>
              <a:t> </a:t>
            </a:r>
            <a:r>
              <a:rPr sz="2400" dirty="0">
                <a:latin typeface="Times New Roman"/>
                <a:cs typeface="Times New Roman"/>
              </a:rPr>
              <a:t>of</a:t>
            </a:r>
            <a:r>
              <a:rPr sz="2400" spc="405" dirty="0">
                <a:latin typeface="Times New Roman"/>
                <a:cs typeface="Times New Roman"/>
              </a:rPr>
              <a:t> </a:t>
            </a:r>
            <a:r>
              <a:rPr sz="2400" dirty="0">
                <a:latin typeface="Times New Roman"/>
                <a:cs typeface="Times New Roman"/>
              </a:rPr>
              <a:t>five</a:t>
            </a:r>
            <a:r>
              <a:rPr sz="2400" spc="415" dirty="0">
                <a:latin typeface="Times New Roman"/>
                <a:cs typeface="Times New Roman"/>
              </a:rPr>
              <a:t> </a:t>
            </a:r>
            <a:r>
              <a:rPr sz="2400" dirty="0">
                <a:latin typeface="Times New Roman"/>
                <a:cs typeface="Times New Roman"/>
              </a:rPr>
              <a:t>states:</a:t>
            </a:r>
            <a:r>
              <a:rPr sz="2400" spc="409" dirty="0">
                <a:latin typeface="Times New Roman"/>
                <a:cs typeface="Times New Roman"/>
              </a:rPr>
              <a:t> </a:t>
            </a:r>
            <a:r>
              <a:rPr sz="2400" dirty="0">
                <a:latin typeface="Times New Roman"/>
                <a:cs typeface="Times New Roman"/>
              </a:rPr>
              <a:t>‘Waiting’,</a:t>
            </a:r>
            <a:r>
              <a:rPr sz="2400" spc="405" dirty="0">
                <a:latin typeface="Times New Roman"/>
                <a:cs typeface="Times New Roman"/>
              </a:rPr>
              <a:t> </a:t>
            </a:r>
            <a:r>
              <a:rPr sz="2400" spc="-20" dirty="0">
                <a:latin typeface="Times New Roman"/>
                <a:cs typeface="Times New Roman"/>
              </a:rPr>
              <a:t>‘Set </a:t>
            </a:r>
            <a:r>
              <a:rPr sz="2400" dirty="0">
                <a:latin typeface="Times New Roman"/>
                <a:cs typeface="Times New Roman"/>
              </a:rPr>
              <a:t>Timer’,</a:t>
            </a:r>
            <a:r>
              <a:rPr sz="2400" spc="-30" dirty="0">
                <a:latin typeface="Times New Roman"/>
                <a:cs typeface="Times New Roman"/>
              </a:rPr>
              <a:t> </a:t>
            </a:r>
            <a:r>
              <a:rPr sz="2400" dirty="0">
                <a:latin typeface="Times New Roman"/>
                <a:cs typeface="Times New Roman"/>
              </a:rPr>
              <a:t>‘Disabled’,</a:t>
            </a:r>
            <a:r>
              <a:rPr sz="2400" spc="-40" dirty="0">
                <a:latin typeface="Times New Roman"/>
                <a:cs typeface="Times New Roman"/>
              </a:rPr>
              <a:t> </a:t>
            </a:r>
            <a:r>
              <a:rPr sz="2400" dirty="0">
                <a:latin typeface="Times New Roman"/>
                <a:cs typeface="Times New Roman"/>
              </a:rPr>
              <a:t>‘Enabled’,</a:t>
            </a:r>
            <a:r>
              <a:rPr sz="2400" spc="-50" dirty="0">
                <a:latin typeface="Times New Roman"/>
                <a:cs typeface="Times New Roman"/>
              </a:rPr>
              <a:t> </a:t>
            </a:r>
            <a:r>
              <a:rPr sz="2400" dirty="0">
                <a:latin typeface="Times New Roman"/>
                <a:cs typeface="Times New Roman"/>
              </a:rPr>
              <a:t>and</a:t>
            </a:r>
            <a:r>
              <a:rPr sz="2400" spc="-10" dirty="0">
                <a:latin typeface="Times New Roman"/>
                <a:cs typeface="Times New Roman"/>
              </a:rPr>
              <a:t> ‘Operation’.</a:t>
            </a:r>
            <a:endParaRPr sz="2400" dirty="0">
              <a:latin typeface="Times New Roman"/>
              <a:cs typeface="Times New Roman"/>
            </a:endParaRPr>
          </a:p>
          <a:p>
            <a:pPr marL="756285" marR="5080" indent="-287020" algn="just">
              <a:lnSpc>
                <a:spcPct val="100000"/>
              </a:lnSpc>
              <a:spcBef>
                <a:spcPts val="575"/>
              </a:spcBef>
            </a:pPr>
            <a:r>
              <a:rPr sz="2400" dirty="0">
                <a:latin typeface="Times New Roman"/>
                <a:cs typeface="Times New Roman"/>
              </a:rPr>
              <a:t>–</a:t>
            </a:r>
            <a:r>
              <a:rPr sz="2400" spc="420" dirty="0">
                <a:latin typeface="Times New Roman"/>
                <a:cs typeface="Times New Roman"/>
              </a:rPr>
              <a:t> </a:t>
            </a:r>
            <a:r>
              <a:rPr sz="2400" dirty="0">
                <a:latin typeface="Times New Roman"/>
                <a:cs typeface="Times New Roman"/>
              </a:rPr>
              <a:t>It</a:t>
            </a:r>
            <a:r>
              <a:rPr sz="2400" spc="275" dirty="0">
                <a:latin typeface="Times New Roman"/>
                <a:cs typeface="Times New Roman"/>
              </a:rPr>
              <a:t> </a:t>
            </a:r>
            <a:r>
              <a:rPr sz="2400" dirty="0">
                <a:latin typeface="Times New Roman"/>
                <a:cs typeface="Times New Roman"/>
              </a:rPr>
              <a:t>can</a:t>
            </a:r>
            <a:r>
              <a:rPr sz="2400" spc="275" dirty="0">
                <a:latin typeface="Times New Roman"/>
                <a:cs typeface="Times New Roman"/>
              </a:rPr>
              <a:t> </a:t>
            </a:r>
            <a:r>
              <a:rPr sz="2400" dirty="0">
                <a:latin typeface="Times New Roman"/>
                <a:cs typeface="Times New Roman"/>
              </a:rPr>
              <a:t>respond</a:t>
            </a:r>
            <a:r>
              <a:rPr sz="2400" spc="270" dirty="0">
                <a:latin typeface="Times New Roman"/>
                <a:cs typeface="Times New Roman"/>
              </a:rPr>
              <a:t> </a:t>
            </a:r>
            <a:r>
              <a:rPr sz="2400" dirty="0">
                <a:latin typeface="Times New Roman"/>
                <a:cs typeface="Times New Roman"/>
              </a:rPr>
              <a:t>to</a:t>
            </a:r>
            <a:r>
              <a:rPr sz="2400" spc="275" dirty="0">
                <a:latin typeface="Times New Roman"/>
                <a:cs typeface="Times New Roman"/>
              </a:rPr>
              <a:t> </a:t>
            </a:r>
            <a:r>
              <a:rPr sz="2400" dirty="0">
                <a:latin typeface="Times New Roman"/>
                <a:cs typeface="Times New Roman"/>
              </a:rPr>
              <a:t>the</a:t>
            </a:r>
            <a:r>
              <a:rPr sz="2400" spc="275" dirty="0">
                <a:latin typeface="Times New Roman"/>
                <a:cs typeface="Times New Roman"/>
              </a:rPr>
              <a:t> </a:t>
            </a:r>
            <a:r>
              <a:rPr sz="2400" dirty="0">
                <a:latin typeface="Times New Roman"/>
                <a:cs typeface="Times New Roman"/>
              </a:rPr>
              <a:t>events:</a:t>
            </a:r>
            <a:r>
              <a:rPr sz="2400" spc="280" dirty="0">
                <a:latin typeface="Times New Roman"/>
                <a:cs typeface="Times New Roman"/>
              </a:rPr>
              <a:t> </a:t>
            </a:r>
            <a:r>
              <a:rPr sz="2400" dirty="0">
                <a:latin typeface="Times New Roman"/>
                <a:cs typeface="Times New Roman"/>
              </a:rPr>
              <a:t>‘Switch</a:t>
            </a:r>
            <a:r>
              <a:rPr sz="2400" spc="270" dirty="0">
                <a:latin typeface="Times New Roman"/>
                <a:cs typeface="Times New Roman"/>
              </a:rPr>
              <a:t> </a:t>
            </a:r>
            <a:r>
              <a:rPr sz="2400" dirty="0">
                <a:latin typeface="Times New Roman"/>
                <a:cs typeface="Times New Roman"/>
              </a:rPr>
              <a:t>on’,</a:t>
            </a:r>
            <a:r>
              <a:rPr sz="2400" spc="275" dirty="0">
                <a:latin typeface="Times New Roman"/>
                <a:cs typeface="Times New Roman"/>
              </a:rPr>
              <a:t> </a:t>
            </a:r>
            <a:r>
              <a:rPr sz="2400" dirty="0">
                <a:latin typeface="Times New Roman"/>
                <a:cs typeface="Times New Roman"/>
              </a:rPr>
              <a:t>‘Door</a:t>
            </a:r>
            <a:r>
              <a:rPr sz="2400" spc="280" dirty="0">
                <a:latin typeface="Times New Roman"/>
                <a:cs typeface="Times New Roman"/>
              </a:rPr>
              <a:t> </a:t>
            </a:r>
            <a:r>
              <a:rPr sz="2400" dirty="0">
                <a:latin typeface="Times New Roman"/>
                <a:cs typeface="Times New Roman"/>
              </a:rPr>
              <a:t>Open’,</a:t>
            </a:r>
            <a:r>
              <a:rPr sz="2400" spc="270" dirty="0">
                <a:latin typeface="Times New Roman"/>
                <a:cs typeface="Times New Roman"/>
              </a:rPr>
              <a:t> </a:t>
            </a:r>
            <a:r>
              <a:rPr sz="2400" spc="-10" dirty="0">
                <a:latin typeface="Times New Roman"/>
                <a:cs typeface="Times New Roman"/>
              </a:rPr>
              <a:t>‘Door </a:t>
            </a:r>
            <a:r>
              <a:rPr sz="2400" dirty="0">
                <a:latin typeface="Times New Roman"/>
                <a:cs typeface="Times New Roman"/>
              </a:rPr>
              <a:t>Closed’,</a:t>
            </a:r>
            <a:r>
              <a:rPr sz="2400" spc="254" dirty="0">
                <a:latin typeface="Times New Roman"/>
                <a:cs typeface="Times New Roman"/>
              </a:rPr>
              <a:t>  </a:t>
            </a:r>
            <a:r>
              <a:rPr sz="2400" dirty="0">
                <a:latin typeface="Times New Roman"/>
                <a:cs typeface="Times New Roman"/>
              </a:rPr>
              <a:t>‘Start’,</a:t>
            </a:r>
            <a:r>
              <a:rPr sz="2400" spc="265" dirty="0">
                <a:latin typeface="Times New Roman"/>
                <a:cs typeface="Times New Roman"/>
              </a:rPr>
              <a:t>  </a:t>
            </a:r>
            <a:r>
              <a:rPr sz="2400" dirty="0">
                <a:latin typeface="Times New Roman"/>
                <a:cs typeface="Times New Roman"/>
              </a:rPr>
              <a:t>and</a:t>
            </a:r>
            <a:r>
              <a:rPr sz="2400" spc="250" dirty="0">
                <a:latin typeface="Times New Roman"/>
                <a:cs typeface="Times New Roman"/>
              </a:rPr>
              <a:t>  </a:t>
            </a:r>
            <a:r>
              <a:rPr sz="2400" dirty="0">
                <a:latin typeface="Times New Roman"/>
                <a:cs typeface="Times New Roman"/>
              </a:rPr>
              <a:t>‘Number’.</a:t>
            </a:r>
            <a:r>
              <a:rPr sz="2400" spc="260" dirty="0">
                <a:latin typeface="Times New Roman"/>
                <a:cs typeface="Times New Roman"/>
              </a:rPr>
              <a:t>  </a:t>
            </a:r>
            <a:r>
              <a:rPr sz="2400" dirty="0">
                <a:latin typeface="Times New Roman"/>
                <a:cs typeface="Times New Roman"/>
              </a:rPr>
              <a:t>You</a:t>
            </a:r>
            <a:r>
              <a:rPr sz="2400" spc="260" dirty="0">
                <a:latin typeface="Times New Roman"/>
                <a:cs typeface="Times New Roman"/>
              </a:rPr>
              <a:t>  </a:t>
            </a:r>
            <a:r>
              <a:rPr sz="2400" dirty="0">
                <a:latin typeface="Times New Roman"/>
                <a:cs typeface="Times New Roman"/>
              </a:rPr>
              <a:t>can</a:t>
            </a:r>
            <a:r>
              <a:rPr sz="2400" spc="260" dirty="0">
                <a:latin typeface="Times New Roman"/>
                <a:cs typeface="Times New Roman"/>
              </a:rPr>
              <a:t>  </a:t>
            </a:r>
            <a:r>
              <a:rPr sz="2400" dirty="0">
                <a:latin typeface="Times New Roman"/>
                <a:cs typeface="Times New Roman"/>
              </a:rPr>
              <a:t>easily</a:t>
            </a:r>
            <a:r>
              <a:rPr sz="2400" spc="270" dirty="0">
                <a:latin typeface="Times New Roman"/>
                <a:cs typeface="Times New Roman"/>
              </a:rPr>
              <a:t>  </a:t>
            </a:r>
            <a:r>
              <a:rPr sz="2400" dirty="0">
                <a:latin typeface="Times New Roman"/>
                <a:cs typeface="Times New Roman"/>
              </a:rPr>
              <a:t>read</a:t>
            </a:r>
            <a:r>
              <a:rPr sz="2400" spc="245" dirty="0">
                <a:latin typeface="Times New Roman"/>
                <a:cs typeface="Times New Roman"/>
              </a:rPr>
              <a:t>  </a:t>
            </a:r>
            <a:r>
              <a:rPr sz="2400" spc="-25" dirty="0">
                <a:latin typeface="Times New Roman"/>
                <a:cs typeface="Times New Roman"/>
              </a:rPr>
              <a:t>the </a:t>
            </a:r>
            <a:r>
              <a:rPr sz="2400" dirty="0">
                <a:latin typeface="Times New Roman"/>
                <a:cs typeface="Times New Roman"/>
              </a:rPr>
              <a:t>sequence</a:t>
            </a:r>
            <a:r>
              <a:rPr sz="2400" spc="265" dirty="0">
                <a:latin typeface="Times New Roman"/>
                <a:cs typeface="Times New Roman"/>
              </a:rPr>
              <a:t> </a:t>
            </a:r>
            <a:r>
              <a:rPr sz="2400" dirty="0">
                <a:latin typeface="Times New Roman"/>
                <a:cs typeface="Times New Roman"/>
              </a:rPr>
              <a:t>of</a:t>
            </a:r>
            <a:r>
              <a:rPr sz="2400" spc="250" dirty="0">
                <a:latin typeface="Times New Roman"/>
                <a:cs typeface="Times New Roman"/>
              </a:rPr>
              <a:t> </a:t>
            </a:r>
            <a:r>
              <a:rPr sz="2400" dirty="0">
                <a:latin typeface="Times New Roman"/>
                <a:cs typeface="Times New Roman"/>
              </a:rPr>
              <a:t>possible</a:t>
            </a:r>
            <a:r>
              <a:rPr sz="2400" spc="265" dirty="0">
                <a:latin typeface="Times New Roman"/>
                <a:cs typeface="Times New Roman"/>
              </a:rPr>
              <a:t> </a:t>
            </a:r>
            <a:r>
              <a:rPr sz="2400" dirty="0">
                <a:latin typeface="Times New Roman"/>
                <a:cs typeface="Times New Roman"/>
              </a:rPr>
              <a:t>operations</a:t>
            </a:r>
            <a:r>
              <a:rPr sz="2400" spc="260" dirty="0">
                <a:latin typeface="Times New Roman"/>
                <a:cs typeface="Times New Roman"/>
              </a:rPr>
              <a:t> </a:t>
            </a:r>
            <a:r>
              <a:rPr sz="2400" dirty="0">
                <a:latin typeface="Times New Roman"/>
                <a:cs typeface="Times New Roman"/>
              </a:rPr>
              <a:t>of</a:t>
            </a:r>
            <a:r>
              <a:rPr sz="2400" spc="254" dirty="0">
                <a:latin typeface="Times New Roman"/>
                <a:cs typeface="Times New Roman"/>
              </a:rPr>
              <a:t> </a:t>
            </a:r>
            <a:r>
              <a:rPr sz="2400" dirty="0">
                <a:latin typeface="Times New Roman"/>
                <a:cs typeface="Times New Roman"/>
              </a:rPr>
              <a:t>this</a:t>
            </a:r>
            <a:r>
              <a:rPr sz="2400" spc="265" dirty="0">
                <a:latin typeface="Times New Roman"/>
                <a:cs typeface="Times New Roman"/>
              </a:rPr>
              <a:t> </a:t>
            </a:r>
            <a:r>
              <a:rPr sz="2400" dirty="0">
                <a:latin typeface="Times New Roman"/>
                <a:cs typeface="Times New Roman"/>
              </a:rPr>
              <a:t>oven</a:t>
            </a:r>
            <a:r>
              <a:rPr sz="2400" spc="260" dirty="0">
                <a:latin typeface="Times New Roman"/>
                <a:cs typeface="Times New Roman"/>
              </a:rPr>
              <a:t> </a:t>
            </a:r>
            <a:r>
              <a:rPr sz="2400" dirty="0">
                <a:latin typeface="Times New Roman"/>
                <a:cs typeface="Times New Roman"/>
              </a:rPr>
              <a:t>into</a:t>
            </a:r>
            <a:r>
              <a:rPr sz="2400" spc="254" dirty="0">
                <a:latin typeface="Times New Roman"/>
                <a:cs typeface="Times New Roman"/>
              </a:rPr>
              <a:t> </a:t>
            </a:r>
            <a:r>
              <a:rPr sz="2400" dirty="0">
                <a:latin typeface="Times New Roman"/>
                <a:cs typeface="Times New Roman"/>
              </a:rPr>
              <a:t>this</a:t>
            </a:r>
            <a:r>
              <a:rPr sz="2400" spc="265" dirty="0">
                <a:latin typeface="Times New Roman"/>
                <a:cs typeface="Times New Roman"/>
              </a:rPr>
              <a:t> </a:t>
            </a:r>
            <a:r>
              <a:rPr sz="2400" spc="-10" dirty="0">
                <a:latin typeface="Times New Roman"/>
                <a:cs typeface="Times New Roman"/>
              </a:rPr>
              <a:t>diagram, </a:t>
            </a:r>
            <a:r>
              <a:rPr sz="2400" dirty="0">
                <a:latin typeface="Times New Roman"/>
                <a:cs typeface="Times New Roman"/>
              </a:rPr>
              <a:t>which</a:t>
            </a:r>
            <a:r>
              <a:rPr sz="2400" spc="-5" dirty="0">
                <a:latin typeface="Times New Roman"/>
                <a:cs typeface="Times New Roman"/>
              </a:rPr>
              <a:t> </a:t>
            </a:r>
            <a:r>
              <a:rPr sz="2400" spc="-25" dirty="0">
                <a:latin typeface="Times New Roman"/>
                <a:cs typeface="Times New Roman"/>
              </a:rPr>
              <a:t>is:</a:t>
            </a:r>
            <a:endParaRPr sz="2400" dirty="0">
              <a:latin typeface="Times New Roman"/>
              <a:cs typeface="Times New Roman"/>
            </a:endParaRPr>
          </a:p>
          <a:p>
            <a:pPr marL="1155700" lvl="1" indent="-228600">
              <a:lnSpc>
                <a:spcPct val="100000"/>
              </a:lnSpc>
              <a:spcBef>
                <a:spcPts val="459"/>
              </a:spcBef>
              <a:buChar char="•"/>
              <a:tabLst>
                <a:tab pos="1155700" algn="l"/>
              </a:tabLst>
            </a:pPr>
            <a:r>
              <a:rPr sz="1800" dirty="0">
                <a:latin typeface="Times New Roman"/>
                <a:cs typeface="Times New Roman"/>
              </a:rPr>
              <a:t>1.</a:t>
            </a:r>
            <a:r>
              <a:rPr sz="1800" spc="-15" dirty="0">
                <a:latin typeface="Times New Roman"/>
                <a:cs typeface="Times New Roman"/>
              </a:rPr>
              <a:t> </a:t>
            </a:r>
            <a:r>
              <a:rPr sz="1800" dirty="0">
                <a:latin typeface="Times New Roman"/>
                <a:cs typeface="Times New Roman"/>
              </a:rPr>
              <a:t>Put</a:t>
            </a:r>
            <a:r>
              <a:rPr sz="1800" spc="-15" dirty="0">
                <a:latin typeface="Times New Roman"/>
                <a:cs typeface="Times New Roman"/>
              </a:rPr>
              <a:t> </a:t>
            </a:r>
            <a:r>
              <a:rPr sz="1800" dirty="0">
                <a:latin typeface="Times New Roman"/>
                <a:cs typeface="Times New Roman"/>
              </a:rPr>
              <a:t>power </a:t>
            </a:r>
            <a:r>
              <a:rPr sz="1800" spc="-25" dirty="0">
                <a:latin typeface="Times New Roman"/>
                <a:cs typeface="Times New Roman"/>
              </a:rPr>
              <a:t>on</a:t>
            </a:r>
            <a:endParaRPr sz="1800" dirty="0">
              <a:latin typeface="Times New Roman"/>
              <a:cs typeface="Times New Roman"/>
            </a:endParaRPr>
          </a:p>
          <a:p>
            <a:pPr marL="1155700" lvl="1" indent="-228600">
              <a:lnSpc>
                <a:spcPct val="100000"/>
              </a:lnSpc>
              <a:spcBef>
                <a:spcPts val="434"/>
              </a:spcBef>
              <a:buChar char="•"/>
              <a:tabLst>
                <a:tab pos="1155700" algn="l"/>
              </a:tabLst>
            </a:pPr>
            <a:r>
              <a:rPr sz="1800" dirty="0">
                <a:latin typeface="Times New Roman"/>
                <a:cs typeface="Times New Roman"/>
              </a:rPr>
              <a:t>2.</a:t>
            </a:r>
            <a:r>
              <a:rPr sz="1800" spc="-25" dirty="0">
                <a:latin typeface="Times New Roman"/>
                <a:cs typeface="Times New Roman"/>
              </a:rPr>
              <a:t> </a:t>
            </a:r>
            <a:r>
              <a:rPr sz="1800" dirty="0">
                <a:latin typeface="Times New Roman"/>
                <a:cs typeface="Times New Roman"/>
              </a:rPr>
              <a:t>Input</a:t>
            </a:r>
            <a:r>
              <a:rPr sz="1800" spc="-30" dirty="0">
                <a:latin typeface="Times New Roman"/>
                <a:cs typeface="Times New Roman"/>
              </a:rPr>
              <a:t> </a:t>
            </a:r>
            <a:r>
              <a:rPr sz="1800" dirty="0">
                <a:latin typeface="Times New Roman"/>
                <a:cs typeface="Times New Roman"/>
              </a:rPr>
              <a:t>cooking</a:t>
            </a:r>
            <a:r>
              <a:rPr sz="1800" spc="-30" dirty="0">
                <a:latin typeface="Times New Roman"/>
                <a:cs typeface="Times New Roman"/>
              </a:rPr>
              <a:t> </a:t>
            </a:r>
            <a:r>
              <a:rPr sz="1800" spc="-20" dirty="0">
                <a:latin typeface="Times New Roman"/>
                <a:cs typeface="Times New Roman"/>
              </a:rPr>
              <a:t>time</a:t>
            </a:r>
            <a:endParaRPr sz="1800" dirty="0">
              <a:latin typeface="Times New Roman"/>
              <a:cs typeface="Times New Roman"/>
            </a:endParaRPr>
          </a:p>
          <a:p>
            <a:pPr marL="1155700" lvl="1" indent="-228600">
              <a:lnSpc>
                <a:spcPct val="100000"/>
              </a:lnSpc>
              <a:spcBef>
                <a:spcPts val="430"/>
              </a:spcBef>
              <a:buChar char="•"/>
              <a:tabLst>
                <a:tab pos="1155700" algn="l"/>
              </a:tabLst>
            </a:pPr>
            <a:r>
              <a:rPr sz="1800" dirty="0">
                <a:latin typeface="Times New Roman"/>
                <a:cs typeface="Times New Roman"/>
              </a:rPr>
              <a:t>3.</a:t>
            </a:r>
            <a:r>
              <a:rPr sz="1800" spc="-20" dirty="0">
                <a:latin typeface="Times New Roman"/>
                <a:cs typeface="Times New Roman"/>
              </a:rPr>
              <a:t> </a:t>
            </a:r>
            <a:r>
              <a:rPr sz="1800" dirty="0">
                <a:latin typeface="Times New Roman"/>
                <a:cs typeface="Times New Roman"/>
              </a:rPr>
              <a:t>Press</a:t>
            </a:r>
            <a:r>
              <a:rPr sz="1800" spc="-25" dirty="0">
                <a:latin typeface="Times New Roman"/>
                <a:cs typeface="Times New Roman"/>
              </a:rPr>
              <a:t> </a:t>
            </a:r>
            <a:r>
              <a:rPr sz="1800" dirty="0">
                <a:latin typeface="Times New Roman"/>
                <a:cs typeface="Times New Roman"/>
              </a:rPr>
              <a:t>start,</a:t>
            </a:r>
            <a:r>
              <a:rPr sz="1800" spc="-35" dirty="0">
                <a:latin typeface="Times New Roman"/>
                <a:cs typeface="Times New Roman"/>
              </a:rPr>
              <a:t> </a:t>
            </a:r>
            <a:r>
              <a:rPr sz="1800" dirty="0">
                <a:latin typeface="Times New Roman"/>
                <a:cs typeface="Times New Roman"/>
              </a:rPr>
              <a:t>and</a:t>
            </a:r>
            <a:r>
              <a:rPr sz="1800" spc="-1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food</a:t>
            </a:r>
            <a:r>
              <a:rPr sz="1800" spc="-30" dirty="0">
                <a:latin typeface="Times New Roman"/>
                <a:cs typeface="Times New Roman"/>
              </a:rPr>
              <a:t> </a:t>
            </a:r>
            <a:r>
              <a:rPr sz="1800" dirty="0">
                <a:latin typeface="Times New Roman"/>
                <a:cs typeface="Times New Roman"/>
              </a:rPr>
              <a:t>is</a:t>
            </a:r>
            <a:r>
              <a:rPr sz="1800" spc="-20" dirty="0">
                <a:latin typeface="Times New Roman"/>
                <a:cs typeface="Times New Roman"/>
              </a:rPr>
              <a:t> </a:t>
            </a:r>
            <a:r>
              <a:rPr sz="1800" dirty="0">
                <a:latin typeface="Times New Roman"/>
                <a:cs typeface="Times New Roman"/>
              </a:rPr>
              <a:t>cooked</a:t>
            </a:r>
            <a:r>
              <a:rPr sz="1800" spc="-40" dirty="0">
                <a:latin typeface="Times New Roman"/>
                <a:cs typeface="Times New Roman"/>
              </a:rPr>
              <a:t> </a:t>
            </a:r>
            <a:r>
              <a:rPr sz="1800" dirty="0">
                <a:latin typeface="Times New Roman"/>
                <a:cs typeface="Times New Roman"/>
              </a:rPr>
              <a:t>for</a:t>
            </a:r>
            <a:r>
              <a:rPr sz="1800" spc="-10"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given</a:t>
            </a:r>
            <a:r>
              <a:rPr sz="1800" spc="-25" dirty="0">
                <a:latin typeface="Times New Roman"/>
                <a:cs typeface="Times New Roman"/>
              </a:rPr>
              <a:t> </a:t>
            </a:r>
            <a:r>
              <a:rPr sz="1800" spc="-10" dirty="0">
                <a:latin typeface="Times New Roman"/>
                <a:cs typeface="Times New Roman"/>
              </a:rPr>
              <a:t>time.</a:t>
            </a:r>
            <a:endParaRPr sz="1800" dirty="0">
              <a:latin typeface="Times New Roman"/>
              <a:cs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9031" rIns="0" bIns="0" rtlCol="0">
            <a:spAutoFit/>
          </a:bodyPr>
          <a:lstStyle/>
          <a:p>
            <a:pPr marL="2289810">
              <a:lnSpc>
                <a:spcPct val="100000"/>
              </a:lnSpc>
              <a:spcBef>
                <a:spcPts val="105"/>
              </a:spcBef>
            </a:pPr>
            <a:r>
              <a:rPr sz="4400" b="0" dirty="0">
                <a:solidFill>
                  <a:srgbClr val="000000"/>
                </a:solidFill>
                <a:latin typeface="Times New Roman"/>
                <a:cs typeface="Times New Roman"/>
              </a:rPr>
              <a:t>C. Data</a:t>
            </a:r>
            <a:r>
              <a:rPr sz="4400" b="0" spc="-25" dirty="0">
                <a:solidFill>
                  <a:srgbClr val="000000"/>
                </a:solidFill>
                <a:latin typeface="Times New Roman"/>
                <a:cs typeface="Times New Roman"/>
              </a:rPr>
              <a:t> </a:t>
            </a:r>
            <a:r>
              <a:rPr sz="4400" b="0" spc="-10" dirty="0">
                <a:solidFill>
                  <a:srgbClr val="000000"/>
                </a:solidFill>
                <a:latin typeface="Times New Roman"/>
                <a:cs typeface="Times New Roman"/>
              </a:rPr>
              <a:t>Models</a:t>
            </a:r>
            <a:endParaRPr sz="4400">
              <a:latin typeface="Times New Roman"/>
              <a:cs typeface="Times New Roman"/>
            </a:endParaRPr>
          </a:p>
        </p:txBody>
      </p:sp>
      <p:sp>
        <p:nvSpPr>
          <p:cNvPr id="3" name="object 3"/>
          <p:cNvSpPr txBox="1"/>
          <p:nvPr/>
        </p:nvSpPr>
        <p:spPr>
          <a:xfrm>
            <a:off x="330809" y="1649983"/>
            <a:ext cx="8618855" cy="5103320"/>
          </a:xfrm>
          <a:prstGeom prst="rect">
            <a:avLst/>
          </a:prstGeom>
        </p:spPr>
        <p:txBody>
          <a:bodyPr vert="horz" wrap="square" lIns="0" tIns="12065" rIns="0" bIns="0" rtlCol="0">
            <a:spAutoFit/>
          </a:bodyPr>
          <a:lstStyle/>
          <a:p>
            <a:pPr marL="355600" marR="5080" indent="-342900" algn="just">
              <a:lnSpc>
                <a:spcPct val="100000"/>
              </a:lnSpc>
              <a:spcBef>
                <a:spcPts val="95"/>
              </a:spcBef>
              <a:buChar char="•"/>
              <a:tabLst>
                <a:tab pos="355600" algn="l"/>
              </a:tabLst>
            </a:pPr>
            <a:r>
              <a:rPr sz="2800" dirty="0">
                <a:latin typeface="Times New Roman"/>
                <a:cs typeface="Times New Roman"/>
              </a:rPr>
              <a:t>Almost</a:t>
            </a:r>
            <a:r>
              <a:rPr sz="2800" spc="70" dirty="0">
                <a:latin typeface="Times New Roman"/>
                <a:cs typeface="Times New Roman"/>
              </a:rPr>
              <a:t>  </a:t>
            </a:r>
            <a:r>
              <a:rPr sz="2800" dirty="0">
                <a:latin typeface="Times New Roman"/>
                <a:cs typeface="Times New Roman"/>
              </a:rPr>
              <a:t>all</a:t>
            </a:r>
            <a:r>
              <a:rPr sz="2800" spc="70" dirty="0">
                <a:latin typeface="Times New Roman"/>
                <a:cs typeface="Times New Roman"/>
              </a:rPr>
              <a:t>  </a:t>
            </a:r>
            <a:r>
              <a:rPr sz="2800" dirty="0">
                <a:latin typeface="Times New Roman"/>
                <a:cs typeface="Times New Roman"/>
              </a:rPr>
              <a:t>of</a:t>
            </a:r>
            <a:r>
              <a:rPr sz="2800" spc="75" dirty="0">
                <a:latin typeface="Times New Roman"/>
                <a:cs typeface="Times New Roman"/>
              </a:rPr>
              <a:t>  </a:t>
            </a:r>
            <a:r>
              <a:rPr sz="2800" dirty="0">
                <a:latin typeface="Times New Roman"/>
                <a:cs typeface="Times New Roman"/>
              </a:rPr>
              <a:t>large</a:t>
            </a:r>
            <a:r>
              <a:rPr sz="2800" spc="65" dirty="0">
                <a:latin typeface="Times New Roman"/>
                <a:cs typeface="Times New Roman"/>
              </a:rPr>
              <a:t>  </a:t>
            </a:r>
            <a:r>
              <a:rPr sz="2800" dirty="0">
                <a:latin typeface="Times New Roman"/>
                <a:cs typeface="Times New Roman"/>
              </a:rPr>
              <a:t>software</a:t>
            </a:r>
            <a:r>
              <a:rPr sz="2800" spc="70" dirty="0">
                <a:latin typeface="Times New Roman"/>
                <a:cs typeface="Times New Roman"/>
              </a:rPr>
              <a:t>  </a:t>
            </a:r>
            <a:r>
              <a:rPr sz="2800" dirty="0">
                <a:latin typeface="Times New Roman"/>
                <a:cs typeface="Times New Roman"/>
              </a:rPr>
              <a:t>systems</a:t>
            </a:r>
            <a:r>
              <a:rPr sz="2800" spc="75" dirty="0">
                <a:latin typeface="Times New Roman"/>
                <a:cs typeface="Times New Roman"/>
              </a:rPr>
              <a:t>  </a:t>
            </a:r>
            <a:r>
              <a:rPr sz="2800" dirty="0">
                <a:latin typeface="Times New Roman"/>
                <a:cs typeface="Times New Roman"/>
              </a:rPr>
              <a:t>make</a:t>
            </a:r>
            <a:r>
              <a:rPr sz="2800" spc="65" dirty="0">
                <a:latin typeface="Times New Roman"/>
                <a:cs typeface="Times New Roman"/>
              </a:rPr>
              <a:t>  </a:t>
            </a:r>
            <a:r>
              <a:rPr sz="2800" dirty="0">
                <a:latin typeface="Times New Roman"/>
                <a:cs typeface="Times New Roman"/>
              </a:rPr>
              <a:t>use</a:t>
            </a:r>
            <a:r>
              <a:rPr sz="2800" spc="75" dirty="0">
                <a:latin typeface="Times New Roman"/>
                <a:cs typeface="Times New Roman"/>
              </a:rPr>
              <a:t>  </a:t>
            </a:r>
            <a:r>
              <a:rPr sz="2800" dirty="0">
                <a:latin typeface="Times New Roman"/>
                <a:cs typeface="Times New Roman"/>
              </a:rPr>
              <a:t>of</a:t>
            </a:r>
            <a:r>
              <a:rPr sz="2800" spc="70" dirty="0">
                <a:latin typeface="Times New Roman"/>
                <a:cs typeface="Times New Roman"/>
              </a:rPr>
              <a:t>  </a:t>
            </a:r>
            <a:r>
              <a:rPr sz="2800" spc="-50" dirty="0">
                <a:latin typeface="Times New Roman"/>
                <a:cs typeface="Times New Roman"/>
              </a:rPr>
              <a:t>a </a:t>
            </a:r>
            <a:r>
              <a:rPr sz="2800" spc="-10" dirty="0">
                <a:latin typeface="Times New Roman"/>
                <a:cs typeface="Times New Roman"/>
              </a:rPr>
              <a:t>database.</a:t>
            </a:r>
            <a:endParaRPr sz="2800" dirty="0">
              <a:latin typeface="Times New Roman"/>
              <a:cs typeface="Times New Roman"/>
            </a:endParaRPr>
          </a:p>
          <a:p>
            <a:pPr marL="756285" marR="6985" lvl="1" indent="-287020" algn="just">
              <a:lnSpc>
                <a:spcPct val="100000"/>
              </a:lnSpc>
              <a:spcBef>
                <a:spcPts val="675"/>
              </a:spcBef>
              <a:buSzPct val="103703"/>
              <a:buChar char="–"/>
              <a:tabLst>
                <a:tab pos="756285" algn="l"/>
                <a:tab pos="843915" algn="l"/>
              </a:tabLst>
            </a:pPr>
            <a:r>
              <a:rPr sz="2700" dirty="0">
                <a:latin typeface="Times New Roman"/>
                <a:cs typeface="Times New Roman"/>
              </a:rPr>
              <a:t>	In</a:t>
            </a:r>
            <a:r>
              <a:rPr sz="2700" spc="225" dirty="0">
                <a:latin typeface="Times New Roman"/>
                <a:cs typeface="Times New Roman"/>
              </a:rPr>
              <a:t> </a:t>
            </a:r>
            <a:r>
              <a:rPr sz="2700" dirty="0">
                <a:latin typeface="Times New Roman"/>
                <a:cs typeface="Times New Roman"/>
              </a:rPr>
              <a:t>some</a:t>
            </a:r>
            <a:r>
              <a:rPr sz="2700" spc="229" dirty="0">
                <a:latin typeface="Times New Roman"/>
                <a:cs typeface="Times New Roman"/>
              </a:rPr>
              <a:t> </a:t>
            </a:r>
            <a:r>
              <a:rPr sz="2700" dirty="0">
                <a:latin typeface="Times New Roman"/>
                <a:cs typeface="Times New Roman"/>
              </a:rPr>
              <a:t>cases,</a:t>
            </a:r>
            <a:r>
              <a:rPr sz="2700" spc="235" dirty="0">
                <a:latin typeface="Times New Roman"/>
                <a:cs typeface="Times New Roman"/>
              </a:rPr>
              <a:t> </a:t>
            </a:r>
            <a:r>
              <a:rPr sz="2700" dirty="0">
                <a:latin typeface="Times New Roman"/>
                <a:cs typeface="Times New Roman"/>
              </a:rPr>
              <a:t>database</a:t>
            </a:r>
            <a:r>
              <a:rPr sz="2700" spc="229" dirty="0">
                <a:latin typeface="Times New Roman"/>
                <a:cs typeface="Times New Roman"/>
              </a:rPr>
              <a:t> </a:t>
            </a:r>
            <a:r>
              <a:rPr sz="2700" dirty="0">
                <a:latin typeface="Times New Roman"/>
                <a:cs typeface="Times New Roman"/>
              </a:rPr>
              <a:t>is</a:t>
            </a:r>
            <a:r>
              <a:rPr sz="2700" spc="229" dirty="0">
                <a:latin typeface="Times New Roman"/>
                <a:cs typeface="Times New Roman"/>
              </a:rPr>
              <a:t> </a:t>
            </a:r>
            <a:r>
              <a:rPr sz="2700" dirty="0">
                <a:latin typeface="Times New Roman"/>
                <a:cs typeface="Times New Roman"/>
              </a:rPr>
              <a:t>independent</a:t>
            </a:r>
            <a:r>
              <a:rPr sz="2700" spc="229" dirty="0">
                <a:latin typeface="Times New Roman"/>
                <a:cs typeface="Times New Roman"/>
              </a:rPr>
              <a:t> </a:t>
            </a:r>
            <a:r>
              <a:rPr sz="2700" dirty="0">
                <a:latin typeface="Times New Roman"/>
                <a:cs typeface="Times New Roman"/>
              </a:rPr>
              <a:t>of</a:t>
            </a:r>
            <a:r>
              <a:rPr sz="2700" spc="215" dirty="0">
                <a:latin typeface="Times New Roman"/>
                <a:cs typeface="Times New Roman"/>
              </a:rPr>
              <a:t> </a:t>
            </a:r>
            <a:r>
              <a:rPr sz="2700" dirty="0">
                <a:latin typeface="Times New Roman"/>
                <a:cs typeface="Times New Roman"/>
              </a:rPr>
              <a:t>the</a:t>
            </a:r>
            <a:r>
              <a:rPr sz="2700" spc="229" dirty="0">
                <a:latin typeface="Times New Roman"/>
                <a:cs typeface="Times New Roman"/>
              </a:rPr>
              <a:t> </a:t>
            </a:r>
            <a:r>
              <a:rPr sz="2700" spc="-10" dirty="0">
                <a:latin typeface="Times New Roman"/>
                <a:cs typeface="Times New Roman"/>
              </a:rPr>
              <a:t>software system.</a:t>
            </a:r>
            <a:endParaRPr sz="2700" dirty="0">
              <a:latin typeface="Times New Roman"/>
              <a:cs typeface="Times New Roman"/>
            </a:endParaRPr>
          </a:p>
          <a:p>
            <a:pPr marL="1155700" marR="5080" lvl="2" indent="-228600" algn="just">
              <a:lnSpc>
                <a:spcPct val="100000"/>
              </a:lnSpc>
              <a:spcBef>
                <a:spcPts val="595"/>
              </a:spcBef>
              <a:buChar char="•"/>
              <a:tabLst>
                <a:tab pos="1155700" algn="l"/>
                <a:tab pos="1231265" algn="l"/>
              </a:tabLst>
            </a:pPr>
            <a:r>
              <a:rPr sz="2400" dirty="0">
                <a:latin typeface="Times New Roman"/>
                <a:cs typeface="Times New Roman"/>
              </a:rPr>
              <a:t>	In</a:t>
            </a:r>
            <a:r>
              <a:rPr sz="2400" spc="5" dirty="0">
                <a:latin typeface="Times New Roman"/>
                <a:cs typeface="Times New Roman"/>
              </a:rPr>
              <a:t>  </a:t>
            </a:r>
            <a:r>
              <a:rPr sz="2400" dirty="0">
                <a:latin typeface="Times New Roman"/>
                <a:cs typeface="Times New Roman"/>
              </a:rPr>
              <a:t>others,</a:t>
            </a:r>
            <a:r>
              <a:rPr sz="2400" spc="5" dirty="0">
                <a:latin typeface="Times New Roman"/>
                <a:cs typeface="Times New Roman"/>
              </a:rPr>
              <a:t>  </a:t>
            </a:r>
            <a:r>
              <a:rPr sz="2400" dirty="0">
                <a:latin typeface="Times New Roman"/>
                <a:cs typeface="Times New Roman"/>
              </a:rPr>
              <a:t>it</a:t>
            </a:r>
            <a:r>
              <a:rPr sz="2400" spc="5" dirty="0">
                <a:latin typeface="Times New Roman"/>
                <a:cs typeface="Times New Roman"/>
              </a:rPr>
              <a:t>  </a:t>
            </a:r>
            <a:r>
              <a:rPr sz="2400" dirty="0">
                <a:latin typeface="Times New Roman"/>
                <a:cs typeface="Times New Roman"/>
              </a:rPr>
              <a:t>is</a:t>
            </a:r>
            <a:r>
              <a:rPr sz="2400" spc="5" dirty="0">
                <a:latin typeface="Times New Roman"/>
                <a:cs typeface="Times New Roman"/>
              </a:rPr>
              <a:t>  </a:t>
            </a:r>
            <a:r>
              <a:rPr sz="2400" dirty="0">
                <a:latin typeface="Times New Roman"/>
                <a:cs typeface="Times New Roman"/>
              </a:rPr>
              <a:t>exclusively</a:t>
            </a:r>
            <a:r>
              <a:rPr sz="2400" spc="5" dirty="0">
                <a:latin typeface="Times New Roman"/>
                <a:cs typeface="Times New Roman"/>
              </a:rPr>
              <a:t>  </a:t>
            </a:r>
            <a:r>
              <a:rPr sz="2400" dirty="0">
                <a:latin typeface="Times New Roman"/>
                <a:cs typeface="Times New Roman"/>
              </a:rPr>
              <a:t>created</a:t>
            </a:r>
            <a:r>
              <a:rPr sz="2400" spc="5" dirty="0">
                <a:latin typeface="Times New Roman"/>
                <a:cs typeface="Times New Roman"/>
              </a:rPr>
              <a:t>  </a:t>
            </a:r>
            <a:r>
              <a:rPr sz="2400" dirty="0">
                <a:latin typeface="Times New Roman"/>
                <a:cs typeface="Times New Roman"/>
              </a:rPr>
              <a:t>for</a:t>
            </a:r>
            <a:r>
              <a:rPr sz="2400" spc="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system  </a:t>
            </a:r>
            <a:r>
              <a:rPr sz="2400" spc="-10" dirty="0">
                <a:latin typeface="Times New Roman"/>
                <a:cs typeface="Times New Roman"/>
              </a:rPr>
              <a:t>being developed.</a:t>
            </a:r>
            <a:endParaRPr sz="2400" dirty="0">
              <a:latin typeface="Times New Roman"/>
              <a:cs typeface="Times New Roman"/>
            </a:endParaRPr>
          </a:p>
          <a:p>
            <a:pPr marL="1155700" marR="6350" lvl="2" indent="-228600" algn="just">
              <a:lnSpc>
                <a:spcPct val="100000"/>
              </a:lnSpc>
              <a:spcBef>
                <a:spcPts val="575"/>
              </a:spcBef>
              <a:buChar char="•"/>
              <a:tabLst>
                <a:tab pos="1155700" algn="l"/>
              </a:tabLst>
            </a:pPr>
            <a:r>
              <a:rPr sz="2400" dirty="0">
                <a:latin typeface="Times New Roman"/>
                <a:cs typeface="Times New Roman"/>
              </a:rPr>
              <a:t>An</a:t>
            </a:r>
            <a:r>
              <a:rPr sz="2400" spc="105" dirty="0">
                <a:latin typeface="Times New Roman"/>
                <a:cs typeface="Times New Roman"/>
              </a:rPr>
              <a:t>  </a:t>
            </a:r>
            <a:r>
              <a:rPr sz="2400" dirty="0">
                <a:latin typeface="Times New Roman"/>
                <a:cs typeface="Times New Roman"/>
              </a:rPr>
              <a:t>important</a:t>
            </a:r>
            <a:r>
              <a:rPr sz="2400" spc="114" dirty="0">
                <a:latin typeface="Times New Roman"/>
                <a:cs typeface="Times New Roman"/>
              </a:rPr>
              <a:t>  </a:t>
            </a:r>
            <a:r>
              <a:rPr sz="2400" dirty="0">
                <a:latin typeface="Times New Roman"/>
                <a:cs typeface="Times New Roman"/>
              </a:rPr>
              <a:t>part</a:t>
            </a:r>
            <a:r>
              <a:rPr sz="2400" spc="105" dirty="0">
                <a:latin typeface="Times New Roman"/>
                <a:cs typeface="Times New Roman"/>
              </a:rPr>
              <a:t>  </a:t>
            </a:r>
            <a:r>
              <a:rPr sz="2400" dirty="0">
                <a:latin typeface="Times New Roman"/>
                <a:cs typeface="Times New Roman"/>
              </a:rPr>
              <a:t>of</a:t>
            </a:r>
            <a:r>
              <a:rPr sz="2400" spc="105" dirty="0">
                <a:latin typeface="Times New Roman"/>
                <a:cs typeface="Times New Roman"/>
              </a:rPr>
              <a:t>  </a:t>
            </a:r>
            <a:r>
              <a:rPr sz="2400" dirty="0">
                <a:latin typeface="Times New Roman"/>
                <a:cs typeface="Times New Roman"/>
              </a:rPr>
              <a:t>systems</a:t>
            </a:r>
            <a:r>
              <a:rPr sz="2400" spc="110" dirty="0">
                <a:latin typeface="Times New Roman"/>
                <a:cs typeface="Times New Roman"/>
              </a:rPr>
              <a:t>  </a:t>
            </a:r>
            <a:r>
              <a:rPr sz="2400" dirty="0">
                <a:latin typeface="Times New Roman"/>
                <a:cs typeface="Times New Roman"/>
              </a:rPr>
              <a:t>modeling</a:t>
            </a:r>
            <a:r>
              <a:rPr sz="2400" spc="105" dirty="0">
                <a:latin typeface="Times New Roman"/>
                <a:cs typeface="Times New Roman"/>
              </a:rPr>
              <a:t>  </a:t>
            </a:r>
            <a:r>
              <a:rPr sz="2400" dirty="0">
                <a:latin typeface="Times New Roman"/>
                <a:cs typeface="Times New Roman"/>
              </a:rPr>
              <a:t>is</a:t>
            </a:r>
            <a:r>
              <a:rPr sz="2400" spc="110" dirty="0">
                <a:latin typeface="Times New Roman"/>
                <a:cs typeface="Times New Roman"/>
              </a:rPr>
              <a:t>  </a:t>
            </a:r>
            <a:r>
              <a:rPr sz="2400" dirty="0">
                <a:latin typeface="Times New Roman"/>
                <a:cs typeface="Times New Roman"/>
              </a:rPr>
              <a:t>defining</a:t>
            </a:r>
            <a:r>
              <a:rPr sz="2400" spc="100" dirty="0">
                <a:latin typeface="Times New Roman"/>
                <a:cs typeface="Times New Roman"/>
              </a:rPr>
              <a:t>  </a:t>
            </a:r>
            <a:r>
              <a:rPr sz="2400" spc="-25" dirty="0">
                <a:latin typeface="Times New Roman"/>
                <a:cs typeface="Times New Roman"/>
              </a:rPr>
              <a:t>the </a:t>
            </a:r>
            <a:r>
              <a:rPr sz="2400" dirty="0">
                <a:latin typeface="Times New Roman"/>
                <a:cs typeface="Times New Roman"/>
              </a:rPr>
              <a:t>logical</a:t>
            </a:r>
            <a:r>
              <a:rPr sz="2400" spc="-35" dirty="0">
                <a:latin typeface="Times New Roman"/>
                <a:cs typeface="Times New Roman"/>
              </a:rPr>
              <a:t> </a:t>
            </a:r>
            <a:r>
              <a:rPr sz="2400" dirty="0">
                <a:latin typeface="Times New Roman"/>
                <a:cs typeface="Times New Roman"/>
              </a:rPr>
              <a:t>form</a:t>
            </a:r>
            <a:r>
              <a:rPr sz="2400" spc="-15" dirty="0">
                <a:latin typeface="Times New Roman"/>
                <a:cs typeface="Times New Roman"/>
              </a:rPr>
              <a:t> </a:t>
            </a:r>
            <a:r>
              <a:rPr sz="2400" dirty="0">
                <a:latin typeface="Times New Roman"/>
                <a:cs typeface="Times New Roman"/>
              </a:rPr>
              <a:t>of</a:t>
            </a:r>
            <a:r>
              <a:rPr sz="2400" spc="-5"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data</a:t>
            </a:r>
            <a:r>
              <a:rPr sz="2400" spc="-25" dirty="0">
                <a:latin typeface="Times New Roman"/>
                <a:cs typeface="Times New Roman"/>
              </a:rPr>
              <a:t> </a:t>
            </a:r>
            <a:r>
              <a:rPr sz="2400" dirty="0">
                <a:latin typeface="Times New Roman"/>
                <a:cs typeface="Times New Roman"/>
              </a:rPr>
              <a:t>processed</a:t>
            </a:r>
            <a:r>
              <a:rPr sz="2400" spc="-10" dirty="0">
                <a:latin typeface="Times New Roman"/>
                <a:cs typeface="Times New Roman"/>
              </a:rPr>
              <a:t> </a:t>
            </a:r>
            <a:r>
              <a:rPr sz="2400" dirty="0">
                <a:latin typeface="Times New Roman"/>
                <a:cs typeface="Times New Roman"/>
              </a:rPr>
              <a:t>by</a:t>
            </a:r>
            <a:r>
              <a:rPr sz="2400" spc="-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10" dirty="0">
                <a:latin typeface="Times New Roman"/>
                <a:cs typeface="Times New Roman"/>
              </a:rPr>
              <a:t>system.</a:t>
            </a:r>
            <a:endParaRPr sz="2400" dirty="0">
              <a:latin typeface="Times New Roman"/>
              <a:cs typeface="Times New Roman"/>
            </a:endParaRPr>
          </a:p>
          <a:p>
            <a:pPr marL="756285" marR="5080" lvl="1" indent="-287020" algn="just">
              <a:lnSpc>
                <a:spcPct val="100000"/>
              </a:lnSpc>
              <a:spcBef>
                <a:spcPts val="615"/>
              </a:spcBef>
              <a:buChar char="–"/>
              <a:tabLst>
                <a:tab pos="756285" algn="l"/>
              </a:tabLst>
            </a:pPr>
            <a:r>
              <a:rPr sz="2600" dirty="0">
                <a:latin typeface="Times New Roman"/>
                <a:cs typeface="Times New Roman"/>
              </a:rPr>
              <a:t>The</a:t>
            </a:r>
            <a:r>
              <a:rPr sz="2600" spc="280" dirty="0">
                <a:latin typeface="Times New Roman"/>
                <a:cs typeface="Times New Roman"/>
              </a:rPr>
              <a:t> </a:t>
            </a:r>
            <a:r>
              <a:rPr sz="2600" dirty="0">
                <a:latin typeface="Times New Roman"/>
                <a:cs typeface="Times New Roman"/>
              </a:rPr>
              <a:t>most</a:t>
            </a:r>
            <a:r>
              <a:rPr sz="2600" spc="295" dirty="0">
                <a:latin typeface="Times New Roman"/>
                <a:cs typeface="Times New Roman"/>
              </a:rPr>
              <a:t> </a:t>
            </a:r>
            <a:r>
              <a:rPr sz="2600" dirty="0">
                <a:latin typeface="Times New Roman"/>
                <a:cs typeface="Times New Roman"/>
              </a:rPr>
              <a:t>widely</a:t>
            </a:r>
            <a:r>
              <a:rPr sz="2600" spc="280" dirty="0">
                <a:latin typeface="Times New Roman"/>
                <a:cs typeface="Times New Roman"/>
              </a:rPr>
              <a:t> </a:t>
            </a:r>
            <a:r>
              <a:rPr sz="2600" dirty="0">
                <a:latin typeface="Times New Roman"/>
                <a:cs typeface="Times New Roman"/>
              </a:rPr>
              <a:t>used</a:t>
            </a:r>
            <a:r>
              <a:rPr sz="2600" spc="290" dirty="0">
                <a:latin typeface="Times New Roman"/>
                <a:cs typeface="Times New Roman"/>
              </a:rPr>
              <a:t> </a:t>
            </a:r>
            <a:r>
              <a:rPr sz="2600" dirty="0">
                <a:latin typeface="Times New Roman"/>
                <a:cs typeface="Times New Roman"/>
              </a:rPr>
              <a:t>data</a:t>
            </a:r>
            <a:r>
              <a:rPr sz="2600" spc="280" dirty="0">
                <a:latin typeface="Times New Roman"/>
                <a:cs typeface="Times New Roman"/>
              </a:rPr>
              <a:t> </a:t>
            </a:r>
            <a:r>
              <a:rPr sz="2600" dirty="0">
                <a:latin typeface="Times New Roman"/>
                <a:cs typeface="Times New Roman"/>
              </a:rPr>
              <a:t>modeling</a:t>
            </a:r>
            <a:r>
              <a:rPr sz="2600" spc="305" dirty="0">
                <a:latin typeface="Times New Roman"/>
                <a:cs typeface="Times New Roman"/>
              </a:rPr>
              <a:t> </a:t>
            </a:r>
            <a:r>
              <a:rPr sz="2600" dirty="0">
                <a:latin typeface="Times New Roman"/>
                <a:cs typeface="Times New Roman"/>
              </a:rPr>
              <a:t>technique</a:t>
            </a:r>
            <a:r>
              <a:rPr sz="2600" spc="285" dirty="0">
                <a:latin typeface="Times New Roman"/>
                <a:cs typeface="Times New Roman"/>
              </a:rPr>
              <a:t> </a:t>
            </a:r>
            <a:r>
              <a:rPr sz="2600" dirty="0">
                <a:latin typeface="Times New Roman"/>
                <a:cs typeface="Times New Roman"/>
              </a:rPr>
              <a:t>is</a:t>
            </a:r>
            <a:r>
              <a:rPr sz="2600" spc="280" dirty="0">
                <a:latin typeface="Times New Roman"/>
                <a:cs typeface="Times New Roman"/>
              </a:rPr>
              <a:t> </a:t>
            </a:r>
            <a:r>
              <a:rPr sz="2600" spc="-10" dirty="0">
                <a:latin typeface="Times New Roman"/>
                <a:cs typeface="Times New Roman"/>
              </a:rPr>
              <a:t>Entity- </a:t>
            </a:r>
            <a:r>
              <a:rPr sz="2600" dirty="0">
                <a:latin typeface="Times New Roman"/>
                <a:cs typeface="Times New Roman"/>
              </a:rPr>
              <a:t>Relationship (ER)</a:t>
            </a:r>
            <a:r>
              <a:rPr sz="2600" spc="-5" dirty="0">
                <a:latin typeface="Times New Roman"/>
                <a:cs typeface="Times New Roman"/>
              </a:rPr>
              <a:t> </a:t>
            </a:r>
            <a:r>
              <a:rPr sz="2600" dirty="0">
                <a:latin typeface="Times New Roman"/>
                <a:cs typeface="Times New Roman"/>
              </a:rPr>
              <a:t>modeling,</a:t>
            </a:r>
            <a:r>
              <a:rPr sz="2600" spc="-15" dirty="0">
                <a:latin typeface="Times New Roman"/>
                <a:cs typeface="Times New Roman"/>
              </a:rPr>
              <a:t> </a:t>
            </a:r>
            <a:r>
              <a:rPr sz="2600" dirty="0">
                <a:latin typeface="Times New Roman"/>
                <a:cs typeface="Times New Roman"/>
              </a:rPr>
              <a:t>which</a:t>
            </a:r>
            <a:r>
              <a:rPr sz="2600" spc="-5" dirty="0">
                <a:latin typeface="Times New Roman"/>
                <a:cs typeface="Times New Roman"/>
              </a:rPr>
              <a:t> </a:t>
            </a:r>
            <a:r>
              <a:rPr sz="2600" dirty="0">
                <a:latin typeface="Times New Roman"/>
                <a:cs typeface="Times New Roman"/>
              </a:rPr>
              <a:t>shows</a:t>
            </a:r>
            <a:r>
              <a:rPr sz="2600" spc="-15" dirty="0">
                <a:latin typeface="Times New Roman"/>
                <a:cs typeface="Times New Roman"/>
              </a:rPr>
              <a:t> </a:t>
            </a:r>
            <a:r>
              <a:rPr sz="2600" dirty="0">
                <a:latin typeface="Times New Roman"/>
                <a:cs typeface="Times New Roman"/>
              </a:rPr>
              <a:t>the</a:t>
            </a:r>
            <a:r>
              <a:rPr sz="2600" spc="-20" dirty="0">
                <a:latin typeface="Times New Roman"/>
                <a:cs typeface="Times New Roman"/>
              </a:rPr>
              <a:t> </a:t>
            </a:r>
            <a:r>
              <a:rPr sz="2600" dirty="0">
                <a:latin typeface="Times New Roman"/>
                <a:cs typeface="Times New Roman"/>
              </a:rPr>
              <a:t>data</a:t>
            </a:r>
            <a:r>
              <a:rPr sz="2600" spc="-10" dirty="0">
                <a:latin typeface="Times New Roman"/>
                <a:cs typeface="Times New Roman"/>
              </a:rPr>
              <a:t> entities, </a:t>
            </a:r>
            <a:r>
              <a:rPr sz="2600" dirty="0">
                <a:latin typeface="Times New Roman"/>
                <a:cs typeface="Times New Roman"/>
              </a:rPr>
              <a:t>their</a:t>
            </a:r>
            <a:r>
              <a:rPr sz="2600" spc="160" dirty="0">
                <a:latin typeface="Times New Roman"/>
                <a:cs typeface="Times New Roman"/>
              </a:rPr>
              <a:t>  </a:t>
            </a:r>
            <a:r>
              <a:rPr sz="2600" dirty="0">
                <a:latin typeface="Times New Roman"/>
                <a:cs typeface="Times New Roman"/>
              </a:rPr>
              <a:t>associated</a:t>
            </a:r>
            <a:r>
              <a:rPr sz="2600" spc="175" dirty="0">
                <a:latin typeface="Times New Roman"/>
                <a:cs typeface="Times New Roman"/>
              </a:rPr>
              <a:t>  </a:t>
            </a:r>
            <a:r>
              <a:rPr sz="2600" dirty="0">
                <a:latin typeface="Times New Roman"/>
                <a:cs typeface="Times New Roman"/>
              </a:rPr>
              <a:t>attributes</a:t>
            </a:r>
            <a:r>
              <a:rPr sz="2600" spc="170" dirty="0">
                <a:latin typeface="Times New Roman"/>
                <a:cs typeface="Times New Roman"/>
              </a:rPr>
              <a:t>  </a:t>
            </a:r>
            <a:r>
              <a:rPr sz="2600" dirty="0">
                <a:latin typeface="Times New Roman"/>
                <a:cs typeface="Times New Roman"/>
              </a:rPr>
              <a:t>and</a:t>
            </a:r>
            <a:r>
              <a:rPr sz="2600" spc="175" dirty="0">
                <a:latin typeface="Times New Roman"/>
                <a:cs typeface="Times New Roman"/>
              </a:rPr>
              <a:t>  </a:t>
            </a:r>
            <a:r>
              <a:rPr sz="2600" dirty="0">
                <a:latin typeface="Times New Roman"/>
                <a:cs typeface="Times New Roman"/>
              </a:rPr>
              <a:t>relations</a:t>
            </a:r>
            <a:r>
              <a:rPr sz="2600" spc="170" dirty="0">
                <a:latin typeface="Times New Roman"/>
                <a:cs typeface="Times New Roman"/>
              </a:rPr>
              <a:t>  </a:t>
            </a:r>
            <a:r>
              <a:rPr sz="2600" dirty="0">
                <a:latin typeface="Times New Roman"/>
                <a:cs typeface="Times New Roman"/>
              </a:rPr>
              <a:t>between</a:t>
            </a:r>
            <a:r>
              <a:rPr sz="2600" spc="170" dirty="0">
                <a:latin typeface="Times New Roman"/>
                <a:cs typeface="Times New Roman"/>
              </a:rPr>
              <a:t>  </a:t>
            </a:r>
            <a:r>
              <a:rPr sz="2600" spc="-10" dirty="0">
                <a:latin typeface="Times New Roman"/>
                <a:cs typeface="Times New Roman"/>
              </a:rPr>
              <a:t>these</a:t>
            </a:r>
            <a:r>
              <a:rPr lang="en-US" sz="2600" spc="-10" dirty="0">
                <a:latin typeface="Times New Roman"/>
                <a:cs typeface="Times New Roman"/>
              </a:rPr>
              <a:t>.</a:t>
            </a:r>
            <a:endParaRPr sz="2600" dirty="0">
              <a:latin typeface="Times New Roman"/>
              <a:cs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3928" rIns="0" bIns="0" rtlCol="0">
            <a:spAutoFit/>
          </a:bodyPr>
          <a:lstStyle/>
          <a:p>
            <a:pPr marL="501650">
              <a:lnSpc>
                <a:spcPct val="100000"/>
              </a:lnSpc>
              <a:spcBef>
                <a:spcPts val="100"/>
              </a:spcBef>
            </a:pPr>
            <a:r>
              <a:rPr sz="3600" dirty="0">
                <a:solidFill>
                  <a:srgbClr val="000000"/>
                </a:solidFill>
                <a:latin typeface="Times New Roman"/>
                <a:cs typeface="Times New Roman"/>
              </a:rPr>
              <a:t>Simple</a:t>
            </a:r>
            <a:r>
              <a:rPr sz="3600" spc="-25" dirty="0">
                <a:solidFill>
                  <a:srgbClr val="000000"/>
                </a:solidFill>
                <a:latin typeface="Times New Roman"/>
                <a:cs typeface="Times New Roman"/>
              </a:rPr>
              <a:t> </a:t>
            </a:r>
            <a:r>
              <a:rPr sz="3600" dirty="0">
                <a:solidFill>
                  <a:srgbClr val="000000"/>
                </a:solidFill>
                <a:latin typeface="Times New Roman"/>
                <a:cs typeface="Times New Roman"/>
              </a:rPr>
              <a:t>ER</a:t>
            </a:r>
            <a:r>
              <a:rPr sz="3600" spc="-25" dirty="0">
                <a:solidFill>
                  <a:srgbClr val="000000"/>
                </a:solidFill>
                <a:latin typeface="Times New Roman"/>
                <a:cs typeface="Times New Roman"/>
              </a:rPr>
              <a:t> </a:t>
            </a:r>
            <a:r>
              <a:rPr sz="3600" dirty="0">
                <a:solidFill>
                  <a:srgbClr val="000000"/>
                </a:solidFill>
                <a:latin typeface="Times New Roman"/>
                <a:cs typeface="Times New Roman"/>
              </a:rPr>
              <a:t>diagram</a:t>
            </a:r>
            <a:r>
              <a:rPr sz="3600" spc="-20" dirty="0">
                <a:solidFill>
                  <a:srgbClr val="000000"/>
                </a:solidFill>
                <a:latin typeface="Times New Roman"/>
                <a:cs typeface="Times New Roman"/>
              </a:rPr>
              <a:t> </a:t>
            </a:r>
            <a:r>
              <a:rPr sz="3600" dirty="0">
                <a:solidFill>
                  <a:srgbClr val="000000"/>
                </a:solidFill>
                <a:latin typeface="Times New Roman"/>
                <a:cs typeface="Times New Roman"/>
              </a:rPr>
              <a:t>of</a:t>
            </a:r>
            <a:r>
              <a:rPr sz="3600" spc="-25" dirty="0">
                <a:solidFill>
                  <a:srgbClr val="000000"/>
                </a:solidFill>
                <a:latin typeface="Times New Roman"/>
                <a:cs typeface="Times New Roman"/>
              </a:rPr>
              <a:t> </a:t>
            </a:r>
            <a:r>
              <a:rPr sz="3600" dirty="0">
                <a:solidFill>
                  <a:srgbClr val="000000"/>
                </a:solidFill>
                <a:latin typeface="Times New Roman"/>
                <a:cs typeface="Times New Roman"/>
              </a:rPr>
              <a:t>order</a:t>
            </a:r>
            <a:r>
              <a:rPr sz="3600" spc="-25" dirty="0">
                <a:solidFill>
                  <a:srgbClr val="000000"/>
                </a:solidFill>
                <a:latin typeface="Times New Roman"/>
                <a:cs typeface="Times New Roman"/>
              </a:rPr>
              <a:t> </a:t>
            </a:r>
            <a:r>
              <a:rPr sz="3600" spc="-10" dirty="0">
                <a:solidFill>
                  <a:srgbClr val="000000"/>
                </a:solidFill>
                <a:latin typeface="Times New Roman"/>
                <a:cs typeface="Times New Roman"/>
              </a:rPr>
              <a:t>placing</a:t>
            </a:r>
            <a:endParaRPr sz="3600" dirty="0">
              <a:latin typeface="Times New Roman"/>
              <a:cs typeface="Times New Roman"/>
            </a:endParaRPr>
          </a:p>
        </p:txBody>
      </p:sp>
      <p:sp>
        <p:nvSpPr>
          <p:cNvPr id="17" name="object 17"/>
          <p:cNvSpPr txBox="1"/>
          <p:nvPr/>
        </p:nvSpPr>
        <p:spPr>
          <a:xfrm>
            <a:off x="291185" y="4547717"/>
            <a:ext cx="8553450" cy="1245235"/>
          </a:xfrm>
          <a:prstGeom prst="rect">
            <a:avLst/>
          </a:prstGeom>
        </p:spPr>
        <p:txBody>
          <a:bodyPr vert="horz" wrap="square" lIns="0" tIns="43180" rIns="0" bIns="0" rtlCol="0">
            <a:spAutoFit/>
          </a:bodyPr>
          <a:lstStyle/>
          <a:p>
            <a:pPr marL="12700" algn="just">
              <a:lnSpc>
                <a:spcPct val="100000"/>
              </a:lnSpc>
              <a:spcBef>
                <a:spcPts val="340"/>
              </a:spcBef>
            </a:pPr>
            <a:r>
              <a:rPr sz="2000" dirty="0">
                <a:latin typeface="Arial MT"/>
                <a:cs typeface="Arial MT"/>
              </a:rPr>
              <a:t>Above</a:t>
            </a:r>
            <a:r>
              <a:rPr sz="2000" spc="-20" dirty="0">
                <a:latin typeface="Arial MT"/>
                <a:cs typeface="Arial MT"/>
              </a:rPr>
              <a:t> </a:t>
            </a:r>
            <a:r>
              <a:rPr sz="2000" dirty="0">
                <a:latin typeface="Arial MT"/>
                <a:cs typeface="Arial MT"/>
              </a:rPr>
              <a:t>figure</a:t>
            </a:r>
            <a:r>
              <a:rPr sz="2000" spc="-35" dirty="0">
                <a:latin typeface="Arial MT"/>
                <a:cs typeface="Arial MT"/>
              </a:rPr>
              <a:t> </a:t>
            </a:r>
            <a:r>
              <a:rPr sz="2000" dirty="0">
                <a:latin typeface="Arial MT"/>
                <a:cs typeface="Arial MT"/>
              </a:rPr>
              <a:t>shows</a:t>
            </a:r>
            <a:r>
              <a:rPr sz="2000" spc="-35" dirty="0">
                <a:latin typeface="Arial MT"/>
                <a:cs typeface="Arial MT"/>
              </a:rPr>
              <a:t> </a:t>
            </a:r>
            <a:r>
              <a:rPr sz="2000" dirty="0">
                <a:latin typeface="Arial MT"/>
                <a:cs typeface="Arial MT"/>
              </a:rPr>
              <a:t>simple</a:t>
            </a:r>
            <a:r>
              <a:rPr sz="2000" spc="-25" dirty="0">
                <a:latin typeface="Arial MT"/>
                <a:cs typeface="Arial MT"/>
              </a:rPr>
              <a:t> </a:t>
            </a:r>
            <a:r>
              <a:rPr sz="2000" dirty="0">
                <a:latin typeface="Arial MT"/>
                <a:cs typeface="Arial MT"/>
              </a:rPr>
              <a:t>ER</a:t>
            </a:r>
            <a:r>
              <a:rPr sz="2000" spc="-15" dirty="0">
                <a:latin typeface="Arial MT"/>
                <a:cs typeface="Arial MT"/>
              </a:rPr>
              <a:t> </a:t>
            </a:r>
            <a:r>
              <a:rPr sz="2000" dirty="0">
                <a:latin typeface="Arial MT"/>
                <a:cs typeface="Arial MT"/>
              </a:rPr>
              <a:t>diagram</a:t>
            </a:r>
            <a:r>
              <a:rPr sz="2000" spc="-45" dirty="0">
                <a:latin typeface="Arial MT"/>
                <a:cs typeface="Arial MT"/>
              </a:rPr>
              <a:t> </a:t>
            </a:r>
            <a:r>
              <a:rPr sz="2000" dirty="0">
                <a:latin typeface="Arial MT"/>
                <a:cs typeface="Arial MT"/>
              </a:rPr>
              <a:t>of</a:t>
            </a:r>
            <a:r>
              <a:rPr sz="2000" spc="-25" dirty="0">
                <a:latin typeface="Arial MT"/>
                <a:cs typeface="Arial MT"/>
              </a:rPr>
              <a:t> </a:t>
            </a:r>
            <a:r>
              <a:rPr sz="2000" dirty="0">
                <a:latin typeface="Arial MT"/>
                <a:cs typeface="Arial MT"/>
              </a:rPr>
              <a:t>order</a:t>
            </a:r>
            <a:r>
              <a:rPr sz="2000" spc="-45" dirty="0">
                <a:latin typeface="Arial MT"/>
                <a:cs typeface="Arial MT"/>
              </a:rPr>
              <a:t> </a:t>
            </a:r>
            <a:r>
              <a:rPr sz="2000" spc="-10" dirty="0">
                <a:latin typeface="Arial MT"/>
                <a:cs typeface="Arial MT"/>
              </a:rPr>
              <a:t>placing.</a:t>
            </a:r>
            <a:endParaRPr sz="2000" dirty="0">
              <a:latin typeface="Arial MT"/>
              <a:cs typeface="Arial MT"/>
            </a:endParaRPr>
          </a:p>
          <a:p>
            <a:pPr marL="12700" marR="5080" algn="just">
              <a:lnSpc>
                <a:spcPts val="2160"/>
              </a:lnSpc>
              <a:spcBef>
                <a:spcPts val="509"/>
              </a:spcBef>
            </a:pPr>
            <a:r>
              <a:rPr sz="2000" dirty="0">
                <a:latin typeface="Arial MT"/>
                <a:cs typeface="Arial MT"/>
              </a:rPr>
              <a:t>-It</a:t>
            </a:r>
            <a:r>
              <a:rPr sz="2000" spc="60" dirty="0">
                <a:latin typeface="Arial MT"/>
                <a:cs typeface="Arial MT"/>
              </a:rPr>
              <a:t> </a:t>
            </a:r>
            <a:r>
              <a:rPr sz="2000" dirty="0">
                <a:latin typeface="Arial MT"/>
                <a:cs typeface="Arial MT"/>
              </a:rPr>
              <a:t>shows</a:t>
            </a:r>
            <a:r>
              <a:rPr sz="2000" spc="80" dirty="0">
                <a:latin typeface="Arial MT"/>
                <a:cs typeface="Arial MT"/>
              </a:rPr>
              <a:t> </a:t>
            </a:r>
            <a:r>
              <a:rPr sz="2000" dirty="0">
                <a:latin typeface="Arial MT"/>
                <a:cs typeface="Arial MT"/>
              </a:rPr>
              <a:t>a</a:t>
            </a:r>
            <a:r>
              <a:rPr sz="2000" spc="75" dirty="0">
                <a:latin typeface="Arial MT"/>
                <a:cs typeface="Arial MT"/>
              </a:rPr>
              <a:t> </a:t>
            </a:r>
            <a:r>
              <a:rPr sz="2000" dirty="0">
                <a:latin typeface="Arial MT"/>
                <a:cs typeface="Arial MT"/>
              </a:rPr>
              <a:t>buyer</a:t>
            </a:r>
            <a:r>
              <a:rPr sz="2000" spc="75" dirty="0">
                <a:latin typeface="Arial MT"/>
                <a:cs typeface="Arial MT"/>
              </a:rPr>
              <a:t> </a:t>
            </a:r>
            <a:r>
              <a:rPr sz="2000" dirty="0">
                <a:latin typeface="Arial MT"/>
                <a:cs typeface="Arial MT"/>
              </a:rPr>
              <a:t>which</a:t>
            </a:r>
            <a:r>
              <a:rPr sz="2000" spc="80" dirty="0">
                <a:latin typeface="Arial MT"/>
                <a:cs typeface="Arial MT"/>
              </a:rPr>
              <a:t> </a:t>
            </a:r>
            <a:r>
              <a:rPr sz="2000" dirty="0">
                <a:latin typeface="Arial MT"/>
                <a:cs typeface="Arial MT"/>
              </a:rPr>
              <a:t>has</a:t>
            </a:r>
            <a:r>
              <a:rPr sz="2000" spc="85" dirty="0">
                <a:latin typeface="Arial MT"/>
                <a:cs typeface="Arial MT"/>
              </a:rPr>
              <a:t> </a:t>
            </a:r>
            <a:r>
              <a:rPr sz="2000" dirty="0">
                <a:latin typeface="Arial MT"/>
                <a:cs typeface="Arial MT"/>
              </a:rPr>
              <a:t>attribute</a:t>
            </a:r>
            <a:r>
              <a:rPr sz="2000" spc="80" dirty="0">
                <a:latin typeface="Arial MT"/>
                <a:cs typeface="Arial MT"/>
              </a:rPr>
              <a:t> </a:t>
            </a:r>
            <a:r>
              <a:rPr sz="2000" dirty="0">
                <a:latin typeface="Arial MT"/>
                <a:cs typeface="Arial MT"/>
              </a:rPr>
              <a:t>‘name’,</a:t>
            </a:r>
            <a:r>
              <a:rPr sz="2000" spc="70" dirty="0">
                <a:latin typeface="Arial MT"/>
                <a:cs typeface="Arial MT"/>
              </a:rPr>
              <a:t> </a:t>
            </a:r>
            <a:r>
              <a:rPr sz="2000" dirty="0">
                <a:latin typeface="Arial MT"/>
                <a:cs typeface="Arial MT"/>
              </a:rPr>
              <a:t>‘address’,</a:t>
            </a:r>
            <a:r>
              <a:rPr sz="2000" spc="75" dirty="0">
                <a:latin typeface="Arial MT"/>
                <a:cs typeface="Arial MT"/>
              </a:rPr>
              <a:t> </a:t>
            </a:r>
            <a:r>
              <a:rPr sz="2000" spc="-10" dirty="0">
                <a:latin typeface="Arial MT"/>
                <a:cs typeface="Arial MT"/>
              </a:rPr>
              <a:t>‘e-</a:t>
            </a:r>
            <a:r>
              <a:rPr sz="2000" dirty="0">
                <a:latin typeface="Arial MT"/>
                <a:cs typeface="Arial MT"/>
              </a:rPr>
              <a:t>mail’,</a:t>
            </a:r>
            <a:r>
              <a:rPr sz="2000" spc="65" dirty="0">
                <a:latin typeface="Arial MT"/>
                <a:cs typeface="Arial MT"/>
              </a:rPr>
              <a:t> </a:t>
            </a:r>
            <a:r>
              <a:rPr sz="2000" dirty="0">
                <a:latin typeface="Arial MT"/>
                <a:cs typeface="Arial MT"/>
              </a:rPr>
              <a:t>and</a:t>
            </a:r>
            <a:r>
              <a:rPr sz="2000" spc="80" dirty="0">
                <a:latin typeface="Arial MT"/>
                <a:cs typeface="Arial MT"/>
              </a:rPr>
              <a:t> </a:t>
            </a:r>
            <a:r>
              <a:rPr sz="2000" spc="-10" dirty="0">
                <a:latin typeface="Arial MT"/>
                <a:cs typeface="Arial MT"/>
              </a:rPr>
              <a:t>‘billing </a:t>
            </a:r>
            <a:r>
              <a:rPr sz="2000" dirty="0">
                <a:latin typeface="Arial MT"/>
                <a:cs typeface="Arial MT"/>
              </a:rPr>
              <a:t>info’</a:t>
            </a:r>
            <a:r>
              <a:rPr sz="2000" spc="-55" dirty="0">
                <a:latin typeface="Arial MT"/>
                <a:cs typeface="Arial MT"/>
              </a:rPr>
              <a:t> </a:t>
            </a:r>
            <a:r>
              <a:rPr sz="2000" dirty="0">
                <a:latin typeface="Arial MT"/>
                <a:cs typeface="Arial MT"/>
              </a:rPr>
              <a:t>places</a:t>
            </a:r>
            <a:r>
              <a:rPr sz="2000" spc="10" dirty="0">
                <a:latin typeface="Arial MT"/>
                <a:cs typeface="Arial MT"/>
              </a:rPr>
              <a:t> </a:t>
            </a:r>
            <a:r>
              <a:rPr sz="2000" dirty="0">
                <a:latin typeface="Arial MT"/>
                <a:cs typeface="Arial MT"/>
              </a:rPr>
              <a:t>one</a:t>
            </a:r>
            <a:r>
              <a:rPr sz="2000" spc="20" dirty="0">
                <a:latin typeface="Arial MT"/>
                <a:cs typeface="Arial MT"/>
              </a:rPr>
              <a:t> </a:t>
            </a:r>
            <a:r>
              <a:rPr sz="2000" dirty="0">
                <a:latin typeface="Arial MT"/>
                <a:cs typeface="Arial MT"/>
              </a:rPr>
              <a:t>or</a:t>
            </a:r>
            <a:r>
              <a:rPr sz="2000" spc="10" dirty="0">
                <a:latin typeface="Arial MT"/>
                <a:cs typeface="Arial MT"/>
              </a:rPr>
              <a:t> </a:t>
            </a:r>
            <a:r>
              <a:rPr sz="2000" dirty="0">
                <a:latin typeface="Arial MT"/>
                <a:cs typeface="Arial MT"/>
              </a:rPr>
              <a:t>many</a:t>
            </a:r>
            <a:r>
              <a:rPr sz="2000" spc="10" dirty="0">
                <a:latin typeface="Arial MT"/>
                <a:cs typeface="Arial MT"/>
              </a:rPr>
              <a:t> </a:t>
            </a:r>
            <a:r>
              <a:rPr sz="2000" dirty="0">
                <a:latin typeface="Arial MT"/>
                <a:cs typeface="Arial MT"/>
              </a:rPr>
              <a:t>order(s)</a:t>
            </a:r>
            <a:r>
              <a:rPr sz="2000" spc="15" dirty="0">
                <a:latin typeface="Arial MT"/>
                <a:cs typeface="Arial MT"/>
              </a:rPr>
              <a:t> </a:t>
            </a:r>
            <a:r>
              <a:rPr sz="2000" dirty="0">
                <a:latin typeface="Arial MT"/>
                <a:cs typeface="Arial MT"/>
              </a:rPr>
              <a:t>which</a:t>
            </a:r>
            <a:r>
              <a:rPr sz="2000" spc="15" dirty="0">
                <a:latin typeface="Arial MT"/>
                <a:cs typeface="Arial MT"/>
              </a:rPr>
              <a:t> </a:t>
            </a:r>
            <a:r>
              <a:rPr sz="2000" dirty="0">
                <a:latin typeface="Arial MT"/>
                <a:cs typeface="Arial MT"/>
              </a:rPr>
              <a:t>has</a:t>
            </a:r>
            <a:r>
              <a:rPr sz="2000" spc="10" dirty="0">
                <a:latin typeface="Arial MT"/>
                <a:cs typeface="Arial MT"/>
              </a:rPr>
              <a:t> </a:t>
            </a:r>
            <a:r>
              <a:rPr sz="2000" dirty="0">
                <a:latin typeface="Arial MT"/>
                <a:cs typeface="Arial MT"/>
              </a:rPr>
              <a:t>‘order</a:t>
            </a:r>
            <a:r>
              <a:rPr sz="2000" spc="20" dirty="0">
                <a:latin typeface="Arial MT"/>
                <a:cs typeface="Arial MT"/>
              </a:rPr>
              <a:t> </a:t>
            </a:r>
            <a:r>
              <a:rPr sz="2000" dirty="0">
                <a:latin typeface="Arial MT"/>
                <a:cs typeface="Arial MT"/>
              </a:rPr>
              <a:t>number’,</a:t>
            </a:r>
            <a:r>
              <a:rPr sz="2000" spc="15" dirty="0">
                <a:latin typeface="Arial MT"/>
                <a:cs typeface="Arial MT"/>
              </a:rPr>
              <a:t> </a:t>
            </a:r>
            <a:r>
              <a:rPr sz="2000" dirty="0">
                <a:latin typeface="Arial MT"/>
                <a:cs typeface="Arial MT"/>
              </a:rPr>
              <a:t>‘total</a:t>
            </a:r>
            <a:r>
              <a:rPr sz="2000" spc="10" dirty="0">
                <a:latin typeface="Arial MT"/>
                <a:cs typeface="Arial MT"/>
              </a:rPr>
              <a:t> </a:t>
            </a:r>
            <a:r>
              <a:rPr sz="2000" spc="-10" dirty="0">
                <a:latin typeface="Arial MT"/>
                <a:cs typeface="Arial MT"/>
              </a:rPr>
              <a:t>payment’, </a:t>
            </a:r>
            <a:r>
              <a:rPr sz="2000" dirty="0">
                <a:latin typeface="Arial MT"/>
                <a:cs typeface="Arial MT"/>
              </a:rPr>
              <a:t>‘date’,</a:t>
            </a:r>
            <a:r>
              <a:rPr sz="2000" spc="-35" dirty="0">
                <a:latin typeface="Arial MT"/>
                <a:cs typeface="Arial MT"/>
              </a:rPr>
              <a:t> </a:t>
            </a:r>
            <a:r>
              <a:rPr sz="2000" dirty="0">
                <a:latin typeface="Arial MT"/>
                <a:cs typeface="Arial MT"/>
              </a:rPr>
              <a:t>and</a:t>
            </a:r>
            <a:r>
              <a:rPr sz="2000" spc="-20" dirty="0">
                <a:latin typeface="Arial MT"/>
                <a:cs typeface="Arial MT"/>
              </a:rPr>
              <a:t> </a:t>
            </a:r>
            <a:r>
              <a:rPr sz="2000" dirty="0">
                <a:latin typeface="Arial MT"/>
                <a:cs typeface="Arial MT"/>
              </a:rPr>
              <a:t>‘tax</a:t>
            </a:r>
            <a:r>
              <a:rPr sz="2000" spc="-20" dirty="0">
                <a:latin typeface="Arial MT"/>
                <a:cs typeface="Arial MT"/>
              </a:rPr>
              <a:t> </a:t>
            </a:r>
            <a:r>
              <a:rPr sz="2000" dirty="0">
                <a:latin typeface="Arial MT"/>
                <a:cs typeface="Arial MT"/>
              </a:rPr>
              <a:t>status’</a:t>
            </a:r>
            <a:r>
              <a:rPr sz="2000" spc="-95" dirty="0">
                <a:latin typeface="Arial MT"/>
                <a:cs typeface="Arial MT"/>
              </a:rPr>
              <a:t> </a:t>
            </a:r>
            <a:r>
              <a:rPr sz="2000" dirty="0">
                <a:latin typeface="Arial MT"/>
                <a:cs typeface="Arial MT"/>
              </a:rPr>
              <a:t>as</a:t>
            </a:r>
            <a:r>
              <a:rPr sz="2000" spc="-15" dirty="0">
                <a:latin typeface="Arial MT"/>
                <a:cs typeface="Arial MT"/>
              </a:rPr>
              <a:t> </a:t>
            </a:r>
            <a:r>
              <a:rPr sz="2000" dirty="0">
                <a:latin typeface="Arial MT"/>
                <a:cs typeface="Arial MT"/>
              </a:rPr>
              <a:t>its</a:t>
            </a:r>
            <a:r>
              <a:rPr sz="2000" spc="-25" dirty="0">
                <a:latin typeface="Arial MT"/>
                <a:cs typeface="Arial MT"/>
              </a:rPr>
              <a:t> </a:t>
            </a:r>
            <a:r>
              <a:rPr sz="2000" spc="-10" dirty="0">
                <a:latin typeface="Arial MT"/>
                <a:cs typeface="Arial MT"/>
              </a:rPr>
              <a:t>attributes.</a:t>
            </a:r>
            <a:endParaRPr sz="2000" dirty="0">
              <a:latin typeface="Arial MT"/>
              <a:cs typeface="Arial MT"/>
            </a:endParaRPr>
          </a:p>
        </p:txBody>
      </p:sp>
      <p:pic>
        <p:nvPicPr>
          <p:cNvPr id="22" name="Picture 21">
            <a:extLst>
              <a:ext uri="{FF2B5EF4-FFF2-40B4-BE49-F238E27FC236}">
                <a16:creationId xmlns:a16="http://schemas.microsoft.com/office/drawing/2014/main" id="{75AA5A7F-4D76-2CDF-B122-6D8CE1F6497B}"/>
              </a:ext>
            </a:extLst>
          </p:cNvPr>
          <p:cNvPicPr>
            <a:picLocks noChangeAspect="1"/>
          </p:cNvPicPr>
          <p:nvPr/>
        </p:nvPicPr>
        <p:blipFill>
          <a:blip r:embed="rId2"/>
          <a:stretch>
            <a:fillRect/>
          </a:stretch>
        </p:blipFill>
        <p:spPr>
          <a:xfrm>
            <a:off x="1447800" y="1981200"/>
            <a:ext cx="5944430" cy="209579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066630" y="76200"/>
            <a:ext cx="7849209" cy="1312291"/>
          </a:xfrm>
          <a:prstGeom prst="rect">
            <a:avLst/>
          </a:prstGeom>
        </p:spPr>
        <p:txBody>
          <a:bodyPr vert="horz" wrap="square" lIns="0" tIns="629031" rIns="0" bIns="0" rtlCol="0">
            <a:spAutoFit/>
          </a:bodyPr>
          <a:lstStyle/>
          <a:p>
            <a:pPr marL="1210310">
              <a:lnSpc>
                <a:spcPct val="100000"/>
              </a:lnSpc>
              <a:spcBef>
                <a:spcPts val="105"/>
              </a:spcBef>
            </a:pPr>
            <a:r>
              <a:rPr sz="4400" dirty="0">
                <a:solidFill>
                  <a:srgbClr val="000000"/>
                </a:solidFill>
                <a:latin typeface="Times New Roman"/>
                <a:cs typeface="Times New Roman"/>
              </a:rPr>
              <a:t>(2) Formal</a:t>
            </a:r>
            <a:r>
              <a:rPr sz="4400" spc="-25" dirty="0">
                <a:solidFill>
                  <a:srgbClr val="000000"/>
                </a:solidFill>
                <a:latin typeface="Times New Roman"/>
                <a:cs typeface="Times New Roman"/>
              </a:rPr>
              <a:t> </a:t>
            </a:r>
            <a:r>
              <a:rPr sz="4400" spc="-10" dirty="0">
                <a:solidFill>
                  <a:srgbClr val="000000"/>
                </a:solidFill>
                <a:latin typeface="Times New Roman"/>
                <a:cs typeface="Times New Roman"/>
              </a:rPr>
              <a:t>specification</a:t>
            </a:r>
            <a:endParaRPr sz="4400" dirty="0">
              <a:latin typeface="Times New Roman"/>
              <a:cs typeface="Times New Roman"/>
            </a:endParaRPr>
          </a:p>
        </p:txBody>
      </p:sp>
      <p:sp>
        <p:nvSpPr>
          <p:cNvPr id="9" name="object 9"/>
          <p:cNvSpPr txBox="1"/>
          <p:nvPr/>
        </p:nvSpPr>
        <p:spPr>
          <a:xfrm>
            <a:off x="396951" y="1651508"/>
            <a:ext cx="8551545" cy="5242461"/>
          </a:xfrm>
          <a:prstGeom prst="rect">
            <a:avLst/>
          </a:prstGeom>
        </p:spPr>
        <p:txBody>
          <a:bodyPr vert="horz" wrap="square" lIns="0" tIns="12700" rIns="0" bIns="0" rtlCol="0">
            <a:spAutoFit/>
          </a:bodyPr>
          <a:lstStyle/>
          <a:p>
            <a:pPr marL="355600" marR="6985" indent="-342900" algn="just">
              <a:lnSpc>
                <a:spcPct val="100000"/>
              </a:lnSpc>
              <a:spcBef>
                <a:spcPts val="100"/>
              </a:spcBef>
              <a:buChar char="•"/>
              <a:tabLst>
                <a:tab pos="355600" algn="l"/>
              </a:tabLst>
            </a:pPr>
            <a:r>
              <a:rPr sz="2400" dirty="0">
                <a:latin typeface="Times New Roman"/>
                <a:cs typeface="Times New Roman"/>
              </a:rPr>
              <a:t>A</a:t>
            </a:r>
            <a:r>
              <a:rPr sz="2400" spc="315" dirty="0">
                <a:latin typeface="Times New Roman"/>
                <a:cs typeface="Times New Roman"/>
              </a:rPr>
              <a:t> </a:t>
            </a:r>
            <a:r>
              <a:rPr sz="2400" dirty="0">
                <a:latin typeface="Times New Roman"/>
                <a:cs typeface="Times New Roman"/>
              </a:rPr>
              <a:t>formal</a:t>
            </a:r>
            <a:r>
              <a:rPr sz="2400" spc="330" dirty="0">
                <a:latin typeface="Times New Roman"/>
                <a:cs typeface="Times New Roman"/>
              </a:rPr>
              <a:t> </a:t>
            </a:r>
            <a:r>
              <a:rPr sz="2400" dirty="0">
                <a:latin typeface="Times New Roman"/>
                <a:cs typeface="Times New Roman"/>
              </a:rPr>
              <a:t>specification</a:t>
            </a:r>
            <a:r>
              <a:rPr sz="2400" spc="315" dirty="0">
                <a:latin typeface="Times New Roman"/>
                <a:cs typeface="Times New Roman"/>
              </a:rPr>
              <a:t> </a:t>
            </a:r>
            <a:r>
              <a:rPr sz="2400" dirty="0">
                <a:latin typeface="Times New Roman"/>
                <a:cs typeface="Times New Roman"/>
              </a:rPr>
              <a:t>is</a:t>
            </a:r>
            <a:r>
              <a:rPr sz="2400" spc="325" dirty="0">
                <a:latin typeface="Times New Roman"/>
                <a:cs typeface="Times New Roman"/>
              </a:rPr>
              <a:t> </a:t>
            </a:r>
            <a:r>
              <a:rPr sz="2400" dirty="0">
                <a:latin typeface="Times New Roman"/>
                <a:cs typeface="Times New Roman"/>
              </a:rPr>
              <a:t>a</a:t>
            </a:r>
            <a:r>
              <a:rPr sz="2400" spc="330" dirty="0">
                <a:latin typeface="Times New Roman"/>
                <a:cs typeface="Times New Roman"/>
              </a:rPr>
              <a:t> </a:t>
            </a:r>
            <a:r>
              <a:rPr sz="2400" dirty="0">
                <a:latin typeface="Times New Roman"/>
                <a:cs typeface="Times New Roman"/>
              </a:rPr>
              <a:t>mathematical</a:t>
            </a:r>
            <a:r>
              <a:rPr sz="2400" spc="325" dirty="0">
                <a:latin typeface="Times New Roman"/>
                <a:cs typeface="Times New Roman"/>
              </a:rPr>
              <a:t> </a:t>
            </a:r>
            <a:r>
              <a:rPr sz="2400" dirty="0">
                <a:latin typeface="Times New Roman"/>
                <a:cs typeface="Times New Roman"/>
              </a:rPr>
              <a:t>description</a:t>
            </a:r>
            <a:r>
              <a:rPr sz="2400" spc="325" dirty="0">
                <a:latin typeface="Times New Roman"/>
                <a:cs typeface="Times New Roman"/>
              </a:rPr>
              <a:t> </a:t>
            </a:r>
            <a:r>
              <a:rPr sz="2400" dirty="0">
                <a:latin typeface="Times New Roman"/>
                <a:cs typeface="Times New Roman"/>
              </a:rPr>
              <a:t>of</a:t>
            </a:r>
            <a:r>
              <a:rPr sz="2400" spc="315" dirty="0">
                <a:latin typeface="Times New Roman"/>
                <a:cs typeface="Times New Roman"/>
              </a:rPr>
              <a:t> </a:t>
            </a:r>
            <a:r>
              <a:rPr sz="2400" spc="-10" dirty="0">
                <a:latin typeface="Times New Roman"/>
                <a:cs typeface="Times New Roman"/>
              </a:rPr>
              <a:t>software </a:t>
            </a:r>
            <a:r>
              <a:rPr sz="2400" dirty="0">
                <a:latin typeface="Times New Roman"/>
                <a:cs typeface="Times New Roman"/>
              </a:rPr>
              <a:t>and</a:t>
            </a:r>
            <a:r>
              <a:rPr sz="2400" spc="10"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sz="2400" dirty="0">
                <a:latin typeface="Times New Roman"/>
                <a:cs typeface="Times New Roman"/>
              </a:rPr>
              <a:t>formal</a:t>
            </a:r>
            <a:r>
              <a:rPr sz="2400" spc="5" dirty="0">
                <a:latin typeface="Times New Roman"/>
                <a:cs typeface="Times New Roman"/>
              </a:rPr>
              <a:t> </a:t>
            </a:r>
            <a:r>
              <a:rPr sz="2400" dirty="0">
                <a:latin typeface="Times New Roman"/>
                <a:cs typeface="Times New Roman"/>
              </a:rPr>
              <a:t>method</a:t>
            </a:r>
            <a:r>
              <a:rPr sz="2400" spc="10" dirty="0">
                <a:latin typeface="Times New Roman"/>
                <a:cs typeface="Times New Roman"/>
              </a:rPr>
              <a:t> </a:t>
            </a:r>
            <a:r>
              <a:rPr sz="2400" dirty="0">
                <a:latin typeface="Times New Roman"/>
                <a:cs typeface="Times New Roman"/>
              </a:rPr>
              <a:t>refers</a:t>
            </a:r>
            <a:r>
              <a:rPr sz="2400" spc="15" dirty="0">
                <a:latin typeface="Times New Roman"/>
                <a:cs typeface="Times New Roman"/>
              </a:rPr>
              <a:t> </a:t>
            </a:r>
            <a:r>
              <a:rPr sz="2400" dirty="0">
                <a:latin typeface="Times New Roman"/>
                <a:cs typeface="Times New Roman"/>
              </a:rPr>
              <a:t>to</a:t>
            </a:r>
            <a:r>
              <a:rPr sz="2400" spc="15" dirty="0">
                <a:latin typeface="Times New Roman"/>
                <a:cs typeface="Times New Roman"/>
              </a:rPr>
              <a:t> </a:t>
            </a:r>
            <a:r>
              <a:rPr sz="2400" dirty="0">
                <a:latin typeface="Times New Roman"/>
                <a:cs typeface="Times New Roman"/>
              </a:rPr>
              <a:t>mathematically</a:t>
            </a:r>
            <a:r>
              <a:rPr sz="2400" spc="20" dirty="0">
                <a:latin typeface="Times New Roman"/>
                <a:cs typeface="Times New Roman"/>
              </a:rPr>
              <a:t> </a:t>
            </a:r>
            <a:r>
              <a:rPr sz="2400" dirty="0">
                <a:latin typeface="Times New Roman"/>
                <a:cs typeface="Times New Roman"/>
              </a:rPr>
              <a:t>based</a:t>
            </a:r>
            <a:r>
              <a:rPr sz="2400" spc="10" dirty="0">
                <a:latin typeface="Times New Roman"/>
                <a:cs typeface="Times New Roman"/>
              </a:rPr>
              <a:t> </a:t>
            </a:r>
            <a:r>
              <a:rPr sz="2400" dirty="0">
                <a:latin typeface="Times New Roman"/>
                <a:cs typeface="Times New Roman"/>
              </a:rPr>
              <a:t>techniques</a:t>
            </a:r>
            <a:r>
              <a:rPr sz="2400" spc="15" dirty="0">
                <a:latin typeface="Times New Roman"/>
                <a:cs typeface="Times New Roman"/>
              </a:rPr>
              <a:t> </a:t>
            </a:r>
            <a:r>
              <a:rPr sz="2400" spc="-25" dirty="0">
                <a:latin typeface="Times New Roman"/>
                <a:cs typeface="Times New Roman"/>
              </a:rPr>
              <a:t>for </a:t>
            </a:r>
            <a:r>
              <a:rPr sz="2400" dirty="0">
                <a:latin typeface="Times New Roman"/>
                <a:cs typeface="Times New Roman"/>
              </a:rPr>
              <a:t>the</a:t>
            </a:r>
            <a:r>
              <a:rPr sz="2400" spc="350" dirty="0">
                <a:latin typeface="Times New Roman"/>
                <a:cs typeface="Times New Roman"/>
              </a:rPr>
              <a:t>  </a:t>
            </a:r>
            <a:r>
              <a:rPr sz="2400" dirty="0">
                <a:latin typeface="Times New Roman"/>
                <a:cs typeface="Times New Roman"/>
              </a:rPr>
              <a:t>specification,</a:t>
            </a:r>
            <a:r>
              <a:rPr sz="2400" spc="345" dirty="0">
                <a:latin typeface="Times New Roman"/>
                <a:cs typeface="Times New Roman"/>
              </a:rPr>
              <a:t>  </a:t>
            </a:r>
            <a:r>
              <a:rPr sz="2400" dirty="0">
                <a:latin typeface="Times New Roman"/>
                <a:cs typeface="Times New Roman"/>
              </a:rPr>
              <a:t>development</a:t>
            </a:r>
            <a:r>
              <a:rPr sz="2400" spc="350" dirty="0">
                <a:latin typeface="Times New Roman"/>
                <a:cs typeface="Times New Roman"/>
              </a:rPr>
              <a:t>  </a:t>
            </a:r>
            <a:r>
              <a:rPr sz="2400" dirty="0">
                <a:latin typeface="Times New Roman"/>
                <a:cs typeface="Times New Roman"/>
              </a:rPr>
              <a:t>and</a:t>
            </a:r>
            <a:r>
              <a:rPr sz="2400" spc="350" dirty="0">
                <a:latin typeface="Times New Roman"/>
                <a:cs typeface="Times New Roman"/>
              </a:rPr>
              <a:t>  </a:t>
            </a:r>
            <a:r>
              <a:rPr sz="2400" dirty="0">
                <a:latin typeface="Times New Roman"/>
                <a:cs typeface="Times New Roman"/>
              </a:rPr>
              <a:t>verification</a:t>
            </a:r>
            <a:r>
              <a:rPr sz="2400" spc="345" dirty="0">
                <a:latin typeface="Times New Roman"/>
                <a:cs typeface="Times New Roman"/>
              </a:rPr>
              <a:t>  </a:t>
            </a:r>
            <a:r>
              <a:rPr sz="2400" dirty="0">
                <a:latin typeface="Times New Roman"/>
                <a:cs typeface="Times New Roman"/>
              </a:rPr>
              <a:t>of</a:t>
            </a:r>
            <a:r>
              <a:rPr sz="2400" spc="345" dirty="0">
                <a:latin typeface="Times New Roman"/>
                <a:cs typeface="Times New Roman"/>
              </a:rPr>
              <a:t>  </a:t>
            </a:r>
            <a:r>
              <a:rPr sz="2400" spc="-10" dirty="0">
                <a:latin typeface="Times New Roman"/>
                <a:cs typeface="Times New Roman"/>
              </a:rPr>
              <a:t>software systems.</a:t>
            </a:r>
            <a:endParaRPr sz="2400" dirty="0">
              <a:latin typeface="Times New Roman"/>
              <a:cs typeface="Times New Roman"/>
            </a:endParaRPr>
          </a:p>
          <a:p>
            <a:pPr marL="355600" marR="5715" indent="-342900" algn="just">
              <a:lnSpc>
                <a:spcPct val="100000"/>
              </a:lnSpc>
              <a:spcBef>
                <a:spcPts val="580"/>
              </a:spcBef>
              <a:buChar char="•"/>
              <a:tabLst>
                <a:tab pos="355600" algn="l"/>
              </a:tabLst>
            </a:pPr>
            <a:r>
              <a:rPr sz="2400" dirty="0">
                <a:latin typeface="Times New Roman"/>
                <a:cs typeface="Times New Roman"/>
              </a:rPr>
              <a:t>However,</a:t>
            </a:r>
            <a:r>
              <a:rPr sz="2400" spc="220" dirty="0">
                <a:latin typeface="Times New Roman"/>
                <a:cs typeface="Times New Roman"/>
              </a:rPr>
              <a:t> </a:t>
            </a:r>
            <a:r>
              <a:rPr sz="2400" dirty="0">
                <a:latin typeface="Times New Roman"/>
                <a:cs typeface="Times New Roman"/>
              </a:rPr>
              <a:t>formal</a:t>
            </a:r>
            <a:r>
              <a:rPr sz="2400" spc="229" dirty="0">
                <a:latin typeface="Times New Roman"/>
                <a:cs typeface="Times New Roman"/>
              </a:rPr>
              <a:t> </a:t>
            </a:r>
            <a:r>
              <a:rPr sz="2400" dirty="0">
                <a:latin typeface="Times New Roman"/>
                <a:cs typeface="Times New Roman"/>
              </a:rPr>
              <a:t>specification</a:t>
            </a:r>
            <a:r>
              <a:rPr sz="2400" spc="210" dirty="0">
                <a:latin typeface="Times New Roman"/>
                <a:cs typeface="Times New Roman"/>
              </a:rPr>
              <a:t> </a:t>
            </a:r>
            <a:r>
              <a:rPr sz="2400" dirty="0">
                <a:latin typeface="Times New Roman"/>
                <a:cs typeface="Times New Roman"/>
              </a:rPr>
              <a:t>is</a:t>
            </a:r>
            <a:r>
              <a:rPr sz="2400" spc="220" dirty="0">
                <a:latin typeface="Times New Roman"/>
                <a:cs typeface="Times New Roman"/>
              </a:rPr>
              <a:t> </a:t>
            </a:r>
            <a:r>
              <a:rPr sz="2400" dirty="0">
                <a:latin typeface="Times New Roman"/>
                <a:cs typeface="Times New Roman"/>
              </a:rPr>
              <a:t>an</a:t>
            </a:r>
            <a:r>
              <a:rPr sz="2400" spc="200" dirty="0">
                <a:latin typeface="Times New Roman"/>
                <a:cs typeface="Times New Roman"/>
              </a:rPr>
              <a:t> </a:t>
            </a:r>
            <a:r>
              <a:rPr sz="2400" dirty="0">
                <a:latin typeface="Times New Roman"/>
                <a:cs typeface="Times New Roman"/>
              </a:rPr>
              <a:t>excellent</a:t>
            </a:r>
            <a:r>
              <a:rPr sz="2400" spc="229" dirty="0">
                <a:latin typeface="Times New Roman"/>
                <a:cs typeface="Times New Roman"/>
              </a:rPr>
              <a:t> </a:t>
            </a:r>
            <a:r>
              <a:rPr sz="2400" dirty="0">
                <a:latin typeface="Times New Roman"/>
                <a:cs typeface="Times New Roman"/>
              </a:rPr>
              <a:t>way</a:t>
            </a:r>
            <a:r>
              <a:rPr sz="2400" spc="215" dirty="0">
                <a:latin typeface="Times New Roman"/>
                <a:cs typeface="Times New Roman"/>
              </a:rPr>
              <a:t> </a:t>
            </a:r>
            <a:r>
              <a:rPr sz="2400" dirty="0">
                <a:latin typeface="Times New Roman"/>
                <a:cs typeface="Times New Roman"/>
              </a:rPr>
              <a:t>of</a:t>
            </a:r>
            <a:r>
              <a:rPr sz="2400" spc="210" dirty="0">
                <a:latin typeface="Times New Roman"/>
                <a:cs typeface="Times New Roman"/>
              </a:rPr>
              <a:t> </a:t>
            </a:r>
            <a:r>
              <a:rPr sz="2400" spc="-10" dirty="0">
                <a:latin typeface="Times New Roman"/>
                <a:cs typeface="Times New Roman"/>
              </a:rPr>
              <a:t>discovering </a:t>
            </a:r>
            <a:r>
              <a:rPr sz="2400" dirty="0">
                <a:latin typeface="Times New Roman"/>
                <a:cs typeface="Times New Roman"/>
              </a:rPr>
              <a:t>specification</a:t>
            </a:r>
            <a:r>
              <a:rPr sz="2400" spc="270" dirty="0">
                <a:latin typeface="Times New Roman"/>
                <a:cs typeface="Times New Roman"/>
              </a:rPr>
              <a:t> </a:t>
            </a:r>
            <a:r>
              <a:rPr sz="2400" dirty="0">
                <a:latin typeface="Times New Roman"/>
                <a:cs typeface="Times New Roman"/>
              </a:rPr>
              <a:t>errors</a:t>
            </a:r>
            <a:r>
              <a:rPr sz="2400" spc="285" dirty="0">
                <a:latin typeface="Times New Roman"/>
                <a:cs typeface="Times New Roman"/>
              </a:rPr>
              <a:t> </a:t>
            </a:r>
            <a:r>
              <a:rPr sz="2400" dirty="0">
                <a:latin typeface="Times New Roman"/>
                <a:cs typeface="Times New Roman"/>
              </a:rPr>
              <a:t>and</a:t>
            </a:r>
            <a:r>
              <a:rPr sz="2400" spc="260" dirty="0">
                <a:latin typeface="Times New Roman"/>
                <a:cs typeface="Times New Roman"/>
              </a:rPr>
              <a:t> </a:t>
            </a:r>
            <a:r>
              <a:rPr sz="2400" dirty="0">
                <a:latin typeface="Times New Roman"/>
                <a:cs typeface="Times New Roman"/>
              </a:rPr>
              <a:t>presenting</a:t>
            </a:r>
            <a:r>
              <a:rPr sz="2400" spc="275" dirty="0">
                <a:latin typeface="Times New Roman"/>
                <a:cs typeface="Times New Roman"/>
              </a:rPr>
              <a:t> </a:t>
            </a:r>
            <a:r>
              <a:rPr sz="2400" dirty="0">
                <a:latin typeface="Times New Roman"/>
                <a:cs typeface="Times New Roman"/>
              </a:rPr>
              <a:t>the</a:t>
            </a:r>
            <a:r>
              <a:rPr sz="2400" spc="285" dirty="0">
                <a:latin typeface="Times New Roman"/>
                <a:cs typeface="Times New Roman"/>
              </a:rPr>
              <a:t> </a:t>
            </a:r>
            <a:r>
              <a:rPr sz="2400" dirty="0">
                <a:latin typeface="Times New Roman"/>
                <a:cs typeface="Times New Roman"/>
              </a:rPr>
              <a:t>system</a:t>
            </a:r>
            <a:r>
              <a:rPr sz="2400" spc="265" dirty="0">
                <a:latin typeface="Times New Roman"/>
                <a:cs typeface="Times New Roman"/>
              </a:rPr>
              <a:t> </a:t>
            </a:r>
            <a:r>
              <a:rPr sz="2400" dirty="0">
                <a:latin typeface="Times New Roman"/>
                <a:cs typeface="Times New Roman"/>
              </a:rPr>
              <a:t>specification</a:t>
            </a:r>
            <a:r>
              <a:rPr sz="2400" spc="265" dirty="0">
                <a:latin typeface="Times New Roman"/>
                <a:cs typeface="Times New Roman"/>
              </a:rPr>
              <a:t> </a:t>
            </a:r>
            <a:r>
              <a:rPr sz="2400" dirty="0">
                <a:latin typeface="Times New Roman"/>
                <a:cs typeface="Times New Roman"/>
              </a:rPr>
              <a:t>in</a:t>
            </a:r>
            <a:r>
              <a:rPr sz="2400" spc="285" dirty="0">
                <a:latin typeface="Times New Roman"/>
                <a:cs typeface="Times New Roman"/>
              </a:rPr>
              <a:t> </a:t>
            </a:r>
            <a:r>
              <a:rPr sz="2400" spc="-25" dirty="0">
                <a:latin typeface="Times New Roman"/>
                <a:cs typeface="Times New Roman"/>
              </a:rPr>
              <a:t>an </a:t>
            </a:r>
            <a:r>
              <a:rPr sz="2400" dirty="0">
                <a:latin typeface="Times New Roman"/>
                <a:cs typeface="Times New Roman"/>
              </a:rPr>
              <a:t>unambiguous</a:t>
            </a:r>
            <a:r>
              <a:rPr sz="2400" spc="-10" dirty="0">
                <a:latin typeface="Times New Roman"/>
                <a:cs typeface="Times New Roman"/>
              </a:rPr>
              <a:t> </a:t>
            </a:r>
            <a:r>
              <a:rPr sz="2400" spc="-20" dirty="0">
                <a:latin typeface="Times New Roman"/>
                <a:cs typeface="Times New Roman"/>
              </a:rPr>
              <a:t>way.</a:t>
            </a:r>
            <a:endParaRPr sz="2400" dirty="0">
              <a:latin typeface="Times New Roman"/>
              <a:cs typeface="Times New Roman"/>
            </a:endParaRPr>
          </a:p>
          <a:p>
            <a:pPr marL="756285" lvl="1" indent="-286385" algn="just">
              <a:lnSpc>
                <a:spcPct val="100000"/>
              </a:lnSpc>
              <a:spcBef>
                <a:spcPts val="455"/>
              </a:spcBef>
              <a:buChar char="–"/>
              <a:tabLst>
                <a:tab pos="756285" algn="l"/>
              </a:tabLst>
            </a:pPr>
            <a:r>
              <a:rPr sz="1800" dirty="0">
                <a:latin typeface="Times New Roman"/>
                <a:cs typeface="Times New Roman"/>
              </a:rPr>
              <a:t>Organizations</a:t>
            </a:r>
            <a:r>
              <a:rPr sz="1800" spc="-5" dirty="0">
                <a:latin typeface="Times New Roman"/>
                <a:cs typeface="Times New Roman"/>
              </a:rPr>
              <a:t> </a:t>
            </a:r>
            <a:r>
              <a:rPr sz="1800" dirty="0">
                <a:latin typeface="Times New Roman"/>
                <a:cs typeface="Times New Roman"/>
              </a:rPr>
              <a:t>that</a:t>
            </a:r>
            <a:r>
              <a:rPr sz="1800" spc="-5" dirty="0">
                <a:latin typeface="Times New Roman"/>
                <a:cs typeface="Times New Roman"/>
              </a:rPr>
              <a:t> </a:t>
            </a:r>
            <a:r>
              <a:rPr sz="1800" dirty="0">
                <a:latin typeface="Times New Roman"/>
                <a:cs typeface="Times New Roman"/>
              </a:rPr>
              <a:t>have</a:t>
            </a:r>
            <a:r>
              <a:rPr sz="1800" spc="-10" dirty="0">
                <a:latin typeface="Times New Roman"/>
                <a:cs typeface="Times New Roman"/>
              </a:rPr>
              <a:t> </a:t>
            </a:r>
            <a:r>
              <a:rPr sz="1800" dirty="0">
                <a:latin typeface="Times New Roman"/>
                <a:cs typeface="Times New Roman"/>
              </a:rPr>
              <a:t>made the</a:t>
            </a:r>
            <a:r>
              <a:rPr sz="1800" spc="-10" dirty="0">
                <a:latin typeface="Times New Roman"/>
                <a:cs typeface="Times New Roman"/>
              </a:rPr>
              <a:t> </a:t>
            </a:r>
            <a:r>
              <a:rPr sz="1800" dirty="0">
                <a:latin typeface="Times New Roman"/>
                <a:cs typeface="Times New Roman"/>
              </a:rPr>
              <a:t>investment in</a:t>
            </a:r>
            <a:r>
              <a:rPr sz="1800" spc="-5" dirty="0">
                <a:latin typeface="Times New Roman"/>
                <a:cs typeface="Times New Roman"/>
              </a:rPr>
              <a:t> </a:t>
            </a:r>
            <a:r>
              <a:rPr sz="1800" dirty="0">
                <a:latin typeface="Times New Roman"/>
                <a:cs typeface="Times New Roman"/>
              </a:rPr>
              <a:t>formal methods</a:t>
            </a:r>
            <a:r>
              <a:rPr sz="1800" spc="-10" dirty="0">
                <a:latin typeface="Times New Roman"/>
                <a:cs typeface="Times New Roman"/>
              </a:rPr>
              <a:t> </a:t>
            </a:r>
            <a:r>
              <a:rPr sz="1800" dirty="0">
                <a:latin typeface="Times New Roman"/>
                <a:cs typeface="Times New Roman"/>
              </a:rPr>
              <a:t>have reported</a:t>
            </a:r>
            <a:r>
              <a:rPr sz="1800" spc="-15" dirty="0">
                <a:latin typeface="Times New Roman"/>
                <a:cs typeface="Times New Roman"/>
              </a:rPr>
              <a:t> </a:t>
            </a:r>
            <a:r>
              <a:rPr sz="1800" spc="-10" dirty="0">
                <a:latin typeface="Times New Roman"/>
                <a:cs typeface="Times New Roman"/>
              </a:rPr>
              <a:t>fewer</a:t>
            </a:r>
            <a:endParaRPr sz="1800" dirty="0">
              <a:latin typeface="Times New Roman"/>
              <a:cs typeface="Times New Roman"/>
            </a:endParaRPr>
          </a:p>
          <a:p>
            <a:pPr marL="756285" algn="just">
              <a:lnSpc>
                <a:spcPct val="100000"/>
              </a:lnSpc>
            </a:pPr>
            <a:r>
              <a:rPr sz="1800" dirty="0">
                <a:latin typeface="Times New Roman"/>
                <a:cs typeface="Times New Roman"/>
              </a:rPr>
              <a:t>errors</a:t>
            </a:r>
            <a:r>
              <a:rPr sz="1800" spc="-15" dirty="0">
                <a:latin typeface="Times New Roman"/>
                <a:cs typeface="Times New Roman"/>
              </a:rPr>
              <a:t> </a:t>
            </a:r>
            <a:r>
              <a:rPr sz="1800" dirty="0">
                <a:latin typeface="Times New Roman"/>
                <a:cs typeface="Times New Roman"/>
              </a:rPr>
              <a:t>in</a:t>
            </a:r>
            <a:r>
              <a:rPr sz="1800" spc="5"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delivered</a:t>
            </a:r>
            <a:r>
              <a:rPr sz="1800" spc="-15" dirty="0">
                <a:latin typeface="Times New Roman"/>
                <a:cs typeface="Times New Roman"/>
              </a:rPr>
              <a:t> </a:t>
            </a:r>
            <a:r>
              <a:rPr sz="1800" dirty="0">
                <a:latin typeface="Times New Roman"/>
                <a:cs typeface="Times New Roman"/>
              </a:rPr>
              <a:t>software</a:t>
            </a:r>
            <a:r>
              <a:rPr sz="1800" spc="10" dirty="0">
                <a:latin typeface="Times New Roman"/>
                <a:cs typeface="Times New Roman"/>
              </a:rPr>
              <a:t> </a:t>
            </a:r>
            <a:r>
              <a:rPr sz="1800" dirty="0">
                <a:latin typeface="Times New Roman"/>
                <a:cs typeface="Times New Roman"/>
              </a:rPr>
              <a:t>without</a:t>
            </a:r>
            <a:r>
              <a:rPr sz="1800" spc="-20" dirty="0">
                <a:latin typeface="Times New Roman"/>
                <a:cs typeface="Times New Roman"/>
              </a:rPr>
              <a:t> </a:t>
            </a:r>
            <a:r>
              <a:rPr sz="1800" dirty="0">
                <a:latin typeface="Times New Roman"/>
                <a:cs typeface="Times New Roman"/>
              </a:rPr>
              <a:t>increasing</a:t>
            </a:r>
            <a:r>
              <a:rPr sz="1800" spc="-15" dirty="0">
                <a:latin typeface="Times New Roman"/>
                <a:cs typeface="Times New Roman"/>
              </a:rPr>
              <a:t> </a:t>
            </a:r>
            <a:r>
              <a:rPr sz="1800" dirty="0">
                <a:latin typeface="Times New Roman"/>
                <a:cs typeface="Times New Roman"/>
              </a:rPr>
              <a:t>the</a:t>
            </a:r>
            <a:r>
              <a:rPr sz="1800" spc="-15" dirty="0">
                <a:latin typeface="Times New Roman"/>
                <a:cs typeface="Times New Roman"/>
              </a:rPr>
              <a:t> </a:t>
            </a:r>
            <a:r>
              <a:rPr sz="1800" dirty="0">
                <a:latin typeface="Times New Roman"/>
                <a:cs typeface="Times New Roman"/>
              </a:rPr>
              <a:t>development</a:t>
            </a:r>
            <a:r>
              <a:rPr sz="1800" spc="5" dirty="0">
                <a:latin typeface="Times New Roman"/>
                <a:cs typeface="Times New Roman"/>
              </a:rPr>
              <a:t> </a:t>
            </a:r>
            <a:r>
              <a:rPr sz="1800" spc="-10" dirty="0">
                <a:latin typeface="Times New Roman"/>
                <a:cs typeface="Times New Roman"/>
              </a:rPr>
              <a:t>costs.</a:t>
            </a:r>
            <a:endParaRPr sz="1800" dirty="0">
              <a:latin typeface="Times New Roman"/>
              <a:cs typeface="Times New Roman"/>
            </a:endParaRPr>
          </a:p>
          <a:p>
            <a:pPr marL="756285" marR="6350" lvl="1" indent="-287020" algn="just">
              <a:lnSpc>
                <a:spcPct val="100000"/>
              </a:lnSpc>
              <a:spcBef>
                <a:spcPts val="434"/>
              </a:spcBef>
              <a:buChar char="–"/>
              <a:tabLst>
                <a:tab pos="756285" algn="l"/>
              </a:tabLst>
            </a:pPr>
            <a:r>
              <a:rPr sz="1800" dirty="0">
                <a:latin typeface="Times New Roman"/>
                <a:cs typeface="Times New Roman"/>
              </a:rPr>
              <a:t>Formal</a:t>
            </a:r>
            <a:r>
              <a:rPr sz="1800" spc="240" dirty="0">
                <a:latin typeface="Times New Roman"/>
                <a:cs typeface="Times New Roman"/>
              </a:rPr>
              <a:t> </a:t>
            </a:r>
            <a:r>
              <a:rPr sz="1800" dirty="0">
                <a:latin typeface="Times New Roman"/>
                <a:cs typeface="Times New Roman"/>
              </a:rPr>
              <a:t>methods</a:t>
            </a:r>
            <a:r>
              <a:rPr sz="1800" spc="245" dirty="0">
                <a:latin typeface="Times New Roman"/>
                <a:cs typeface="Times New Roman"/>
              </a:rPr>
              <a:t> </a:t>
            </a:r>
            <a:r>
              <a:rPr sz="1800" dirty="0">
                <a:latin typeface="Times New Roman"/>
                <a:cs typeface="Times New Roman"/>
              </a:rPr>
              <a:t>are</a:t>
            </a:r>
            <a:r>
              <a:rPr sz="1800" spc="240" dirty="0">
                <a:latin typeface="Times New Roman"/>
                <a:cs typeface="Times New Roman"/>
              </a:rPr>
              <a:t> </a:t>
            </a:r>
            <a:r>
              <a:rPr sz="1800" dirty="0">
                <a:latin typeface="Times New Roman"/>
                <a:cs typeface="Times New Roman"/>
              </a:rPr>
              <a:t>suitable</a:t>
            </a:r>
            <a:r>
              <a:rPr sz="1800" spc="240" dirty="0">
                <a:latin typeface="Times New Roman"/>
                <a:cs typeface="Times New Roman"/>
              </a:rPr>
              <a:t> </a:t>
            </a:r>
            <a:r>
              <a:rPr sz="1800" dirty="0">
                <a:latin typeface="Times New Roman"/>
                <a:cs typeface="Times New Roman"/>
              </a:rPr>
              <a:t>to</a:t>
            </a:r>
            <a:r>
              <a:rPr sz="1800" spc="220" dirty="0">
                <a:latin typeface="Times New Roman"/>
                <a:cs typeface="Times New Roman"/>
              </a:rPr>
              <a:t> </a:t>
            </a:r>
            <a:r>
              <a:rPr sz="1800" dirty="0">
                <a:latin typeface="Times New Roman"/>
                <a:cs typeface="Times New Roman"/>
              </a:rPr>
              <a:t>develop</a:t>
            </a:r>
            <a:r>
              <a:rPr sz="1800" spc="240" dirty="0">
                <a:latin typeface="Times New Roman"/>
                <a:cs typeface="Times New Roman"/>
              </a:rPr>
              <a:t> </a:t>
            </a:r>
            <a:r>
              <a:rPr sz="1800" dirty="0">
                <a:latin typeface="Times New Roman"/>
                <a:cs typeface="Times New Roman"/>
              </a:rPr>
              <a:t>critical</a:t>
            </a:r>
            <a:r>
              <a:rPr sz="1800" spc="229" dirty="0">
                <a:latin typeface="Times New Roman"/>
                <a:cs typeface="Times New Roman"/>
              </a:rPr>
              <a:t> </a:t>
            </a:r>
            <a:r>
              <a:rPr sz="1800" dirty="0">
                <a:latin typeface="Times New Roman"/>
                <a:cs typeface="Times New Roman"/>
              </a:rPr>
              <a:t>systems</a:t>
            </a:r>
            <a:r>
              <a:rPr sz="1800" spc="240" dirty="0">
                <a:latin typeface="Times New Roman"/>
                <a:cs typeface="Times New Roman"/>
              </a:rPr>
              <a:t> </a:t>
            </a:r>
            <a:r>
              <a:rPr sz="1800" dirty="0">
                <a:latin typeface="Times New Roman"/>
                <a:cs typeface="Times New Roman"/>
              </a:rPr>
              <a:t>such</a:t>
            </a:r>
            <a:r>
              <a:rPr sz="1800" spc="229" dirty="0">
                <a:latin typeface="Times New Roman"/>
                <a:cs typeface="Times New Roman"/>
              </a:rPr>
              <a:t> </a:t>
            </a:r>
            <a:r>
              <a:rPr sz="1800" dirty="0">
                <a:latin typeface="Times New Roman"/>
                <a:cs typeface="Times New Roman"/>
              </a:rPr>
              <a:t>as</a:t>
            </a:r>
            <a:r>
              <a:rPr sz="1800" spc="225" dirty="0">
                <a:latin typeface="Times New Roman"/>
                <a:cs typeface="Times New Roman"/>
              </a:rPr>
              <a:t> </a:t>
            </a:r>
            <a:r>
              <a:rPr sz="1800" dirty="0">
                <a:latin typeface="Times New Roman"/>
                <a:cs typeface="Times New Roman"/>
              </a:rPr>
              <a:t>safety,</a:t>
            </a:r>
            <a:r>
              <a:rPr sz="1800" spc="235" dirty="0">
                <a:latin typeface="Times New Roman"/>
                <a:cs typeface="Times New Roman"/>
              </a:rPr>
              <a:t> </a:t>
            </a:r>
            <a:r>
              <a:rPr sz="1800" spc="-10" dirty="0">
                <a:latin typeface="Times New Roman"/>
                <a:cs typeface="Times New Roman"/>
              </a:rPr>
              <a:t>reliability </a:t>
            </a:r>
            <a:r>
              <a:rPr sz="1800" dirty="0">
                <a:latin typeface="Times New Roman"/>
                <a:cs typeface="Times New Roman"/>
              </a:rPr>
              <a:t>and</a:t>
            </a:r>
            <a:r>
              <a:rPr sz="1800" spc="145" dirty="0">
                <a:latin typeface="Times New Roman"/>
                <a:cs typeface="Times New Roman"/>
              </a:rPr>
              <a:t> </a:t>
            </a:r>
            <a:r>
              <a:rPr sz="1800" dirty="0">
                <a:latin typeface="Times New Roman"/>
                <a:cs typeface="Times New Roman"/>
              </a:rPr>
              <a:t>security</a:t>
            </a:r>
            <a:r>
              <a:rPr sz="1800" spc="140" dirty="0">
                <a:latin typeface="Times New Roman"/>
                <a:cs typeface="Times New Roman"/>
              </a:rPr>
              <a:t> </a:t>
            </a:r>
            <a:r>
              <a:rPr sz="1800" dirty="0">
                <a:latin typeface="Times New Roman"/>
                <a:cs typeface="Times New Roman"/>
              </a:rPr>
              <a:t>are</a:t>
            </a:r>
            <a:r>
              <a:rPr sz="1800" spc="135" dirty="0">
                <a:latin typeface="Times New Roman"/>
                <a:cs typeface="Times New Roman"/>
              </a:rPr>
              <a:t> </a:t>
            </a:r>
            <a:r>
              <a:rPr sz="1800" dirty="0">
                <a:latin typeface="Times New Roman"/>
                <a:cs typeface="Times New Roman"/>
              </a:rPr>
              <a:t>very</a:t>
            </a:r>
            <a:r>
              <a:rPr sz="1800" spc="140" dirty="0">
                <a:latin typeface="Times New Roman"/>
                <a:cs typeface="Times New Roman"/>
              </a:rPr>
              <a:t> </a:t>
            </a:r>
            <a:r>
              <a:rPr sz="1800" dirty="0">
                <a:latin typeface="Times New Roman"/>
                <a:cs typeface="Times New Roman"/>
              </a:rPr>
              <a:t>important.</a:t>
            </a:r>
            <a:r>
              <a:rPr sz="1800" spc="140" dirty="0">
                <a:latin typeface="Times New Roman"/>
                <a:cs typeface="Times New Roman"/>
              </a:rPr>
              <a:t> </a:t>
            </a:r>
            <a:r>
              <a:rPr sz="1800" dirty="0">
                <a:latin typeface="Times New Roman"/>
                <a:cs typeface="Times New Roman"/>
              </a:rPr>
              <a:t>Critical</a:t>
            </a:r>
            <a:r>
              <a:rPr sz="1800" spc="140" dirty="0">
                <a:latin typeface="Times New Roman"/>
                <a:cs typeface="Times New Roman"/>
              </a:rPr>
              <a:t> </a:t>
            </a:r>
            <a:r>
              <a:rPr sz="1800" dirty="0">
                <a:latin typeface="Times New Roman"/>
                <a:cs typeface="Times New Roman"/>
              </a:rPr>
              <a:t>systems</a:t>
            </a:r>
            <a:r>
              <a:rPr sz="1800" spc="135" dirty="0">
                <a:latin typeface="Times New Roman"/>
                <a:cs typeface="Times New Roman"/>
              </a:rPr>
              <a:t> </a:t>
            </a:r>
            <a:r>
              <a:rPr sz="1800" dirty="0">
                <a:latin typeface="Times New Roman"/>
                <a:cs typeface="Times New Roman"/>
              </a:rPr>
              <a:t>where</a:t>
            </a:r>
            <a:r>
              <a:rPr sz="1800" spc="150" dirty="0">
                <a:latin typeface="Times New Roman"/>
                <a:cs typeface="Times New Roman"/>
              </a:rPr>
              <a:t> </a:t>
            </a:r>
            <a:r>
              <a:rPr sz="1800" dirty="0">
                <a:latin typeface="Times New Roman"/>
                <a:cs typeface="Times New Roman"/>
              </a:rPr>
              <a:t>formal</a:t>
            </a:r>
            <a:r>
              <a:rPr sz="1800" spc="130" dirty="0">
                <a:latin typeface="Times New Roman"/>
                <a:cs typeface="Times New Roman"/>
              </a:rPr>
              <a:t> </a:t>
            </a:r>
            <a:r>
              <a:rPr sz="1800" dirty="0">
                <a:latin typeface="Times New Roman"/>
                <a:cs typeface="Times New Roman"/>
              </a:rPr>
              <a:t>methods</a:t>
            </a:r>
            <a:r>
              <a:rPr sz="1800" spc="135" dirty="0">
                <a:latin typeface="Times New Roman"/>
                <a:cs typeface="Times New Roman"/>
              </a:rPr>
              <a:t> </a:t>
            </a:r>
            <a:r>
              <a:rPr sz="1800" dirty="0">
                <a:latin typeface="Times New Roman"/>
                <a:cs typeface="Times New Roman"/>
              </a:rPr>
              <a:t>have</a:t>
            </a:r>
            <a:r>
              <a:rPr sz="1800" spc="140" dirty="0">
                <a:latin typeface="Times New Roman"/>
                <a:cs typeface="Times New Roman"/>
              </a:rPr>
              <a:t> </a:t>
            </a:r>
            <a:r>
              <a:rPr sz="1800" spc="-20" dirty="0">
                <a:latin typeface="Times New Roman"/>
                <a:cs typeface="Times New Roman"/>
              </a:rPr>
              <a:t>been </a:t>
            </a:r>
            <a:r>
              <a:rPr sz="1800" dirty="0">
                <a:latin typeface="Times New Roman"/>
                <a:cs typeface="Times New Roman"/>
              </a:rPr>
              <a:t>applied</a:t>
            </a:r>
            <a:r>
              <a:rPr sz="1800" spc="-80" dirty="0">
                <a:latin typeface="Times New Roman"/>
                <a:cs typeface="Times New Roman"/>
              </a:rPr>
              <a:t> </a:t>
            </a:r>
            <a:r>
              <a:rPr sz="1800" dirty="0">
                <a:latin typeface="Times New Roman"/>
                <a:cs typeface="Times New Roman"/>
              </a:rPr>
              <a:t>successfully</a:t>
            </a:r>
            <a:r>
              <a:rPr sz="1800" spc="-65" dirty="0">
                <a:latin typeface="Times New Roman"/>
                <a:cs typeface="Times New Roman"/>
              </a:rPr>
              <a:t> </a:t>
            </a:r>
            <a:r>
              <a:rPr sz="1800" spc="-10" dirty="0">
                <a:latin typeface="Times New Roman"/>
                <a:cs typeface="Times New Roman"/>
              </a:rPr>
              <a:t>include:</a:t>
            </a:r>
            <a:endParaRPr lang="en-US" spc="-10" dirty="0">
              <a:latin typeface="Times New Roman"/>
              <a:cs typeface="Times New Roman"/>
            </a:endParaRPr>
          </a:p>
          <a:p>
            <a:pPr marL="1371600" marR="6350" lvl="3" indent="-287020" algn="just">
              <a:spcBef>
                <a:spcPts val="434"/>
              </a:spcBef>
              <a:buFont typeface="Arial" panose="020B0604020202020204" pitchFamily="34" charset="0"/>
              <a:buChar char="•"/>
              <a:tabLst>
                <a:tab pos="756285" algn="l"/>
              </a:tabLst>
            </a:pPr>
            <a:r>
              <a:rPr lang="en-US" sz="1400" dirty="0">
                <a:latin typeface="Times New Roman"/>
                <a:cs typeface="Times New Roman"/>
              </a:rPr>
              <a:t>An</a:t>
            </a:r>
            <a:r>
              <a:rPr lang="en-US" sz="1400" spc="-5" dirty="0">
                <a:latin typeface="Times New Roman"/>
                <a:cs typeface="Times New Roman"/>
              </a:rPr>
              <a:t> </a:t>
            </a:r>
            <a:r>
              <a:rPr lang="en-US" sz="1400" dirty="0">
                <a:latin typeface="Times New Roman"/>
                <a:cs typeface="Times New Roman"/>
              </a:rPr>
              <a:t>air</a:t>
            </a:r>
            <a:r>
              <a:rPr lang="en-US" sz="1400" spc="-15" dirty="0">
                <a:latin typeface="Times New Roman"/>
                <a:cs typeface="Times New Roman"/>
              </a:rPr>
              <a:t> </a:t>
            </a:r>
            <a:r>
              <a:rPr lang="en-US" sz="1400" dirty="0">
                <a:latin typeface="Times New Roman"/>
                <a:cs typeface="Times New Roman"/>
              </a:rPr>
              <a:t>traffic</a:t>
            </a:r>
            <a:r>
              <a:rPr lang="en-US" sz="1400" spc="-35" dirty="0">
                <a:latin typeface="Times New Roman"/>
                <a:cs typeface="Times New Roman"/>
              </a:rPr>
              <a:t> </a:t>
            </a:r>
            <a:r>
              <a:rPr lang="en-US" sz="1400" dirty="0">
                <a:latin typeface="Times New Roman"/>
                <a:cs typeface="Times New Roman"/>
              </a:rPr>
              <a:t>control</a:t>
            </a:r>
            <a:r>
              <a:rPr lang="en-US" sz="1400" spc="-35" dirty="0">
                <a:latin typeface="Times New Roman"/>
                <a:cs typeface="Times New Roman"/>
              </a:rPr>
              <a:t> </a:t>
            </a:r>
            <a:r>
              <a:rPr lang="en-US" sz="1400" spc="-10" dirty="0">
                <a:latin typeface="Times New Roman"/>
                <a:cs typeface="Times New Roman"/>
              </a:rPr>
              <a:t>system</a:t>
            </a:r>
          </a:p>
          <a:p>
            <a:pPr marL="1371600" marR="6350" lvl="3" indent="-287020" algn="just">
              <a:spcBef>
                <a:spcPts val="434"/>
              </a:spcBef>
              <a:buFont typeface="Arial" panose="020B0604020202020204" pitchFamily="34" charset="0"/>
              <a:buChar char="•"/>
              <a:tabLst>
                <a:tab pos="756285" algn="l"/>
              </a:tabLst>
            </a:pPr>
            <a:r>
              <a:rPr lang="en-US" sz="1400" dirty="0">
                <a:latin typeface="Times New Roman"/>
                <a:cs typeface="Times New Roman"/>
              </a:rPr>
              <a:t>Railway</a:t>
            </a:r>
            <a:r>
              <a:rPr lang="en-US" sz="1400" spc="-30" dirty="0">
                <a:latin typeface="Times New Roman"/>
                <a:cs typeface="Times New Roman"/>
              </a:rPr>
              <a:t> </a:t>
            </a:r>
            <a:r>
              <a:rPr lang="en-US" sz="1400" dirty="0">
                <a:latin typeface="Times New Roman"/>
                <a:cs typeface="Times New Roman"/>
              </a:rPr>
              <a:t>signaling</a:t>
            </a:r>
            <a:r>
              <a:rPr lang="en-US" sz="1400" spc="-55" dirty="0">
                <a:latin typeface="Times New Roman"/>
                <a:cs typeface="Times New Roman"/>
              </a:rPr>
              <a:t> </a:t>
            </a:r>
            <a:r>
              <a:rPr lang="en-US" sz="1400" spc="-10" dirty="0">
                <a:latin typeface="Times New Roman"/>
                <a:cs typeface="Times New Roman"/>
              </a:rPr>
              <a:t>systems</a:t>
            </a:r>
          </a:p>
          <a:p>
            <a:pPr marL="1371600" marR="6350" lvl="3" indent="-287020" algn="just">
              <a:spcBef>
                <a:spcPts val="434"/>
              </a:spcBef>
              <a:buFont typeface="Arial" panose="020B0604020202020204" pitchFamily="34" charset="0"/>
              <a:buChar char="•"/>
              <a:tabLst>
                <a:tab pos="756285" algn="l"/>
              </a:tabLst>
            </a:pPr>
            <a:r>
              <a:rPr lang="en-US" sz="1400" dirty="0">
                <a:latin typeface="Times New Roman"/>
                <a:cs typeface="Times New Roman"/>
              </a:rPr>
              <a:t>Spacecraft</a:t>
            </a:r>
            <a:r>
              <a:rPr lang="en-US" sz="1400" spc="-15" dirty="0">
                <a:latin typeface="Times New Roman"/>
                <a:cs typeface="Times New Roman"/>
              </a:rPr>
              <a:t> </a:t>
            </a:r>
            <a:r>
              <a:rPr lang="en-US" sz="1400" spc="-10" dirty="0">
                <a:latin typeface="Times New Roman"/>
                <a:cs typeface="Times New Roman"/>
              </a:rPr>
              <a:t>systems</a:t>
            </a:r>
          </a:p>
          <a:p>
            <a:pPr marL="1371600" marR="6350" lvl="3" indent="-287020" algn="just">
              <a:spcBef>
                <a:spcPts val="434"/>
              </a:spcBef>
              <a:buFont typeface="Arial" panose="020B0604020202020204" pitchFamily="34" charset="0"/>
              <a:buChar char="•"/>
              <a:tabLst>
                <a:tab pos="756285" algn="l"/>
              </a:tabLst>
            </a:pPr>
            <a:r>
              <a:rPr lang="en-US" sz="1400" dirty="0">
                <a:latin typeface="Times New Roman"/>
                <a:cs typeface="Times New Roman"/>
              </a:rPr>
              <a:t>Medical</a:t>
            </a:r>
            <a:r>
              <a:rPr lang="en-US" sz="1400" spc="-35" dirty="0">
                <a:latin typeface="Times New Roman"/>
                <a:cs typeface="Times New Roman"/>
              </a:rPr>
              <a:t> </a:t>
            </a:r>
            <a:r>
              <a:rPr lang="en-US" sz="1400" dirty="0">
                <a:latin typeface="Times New Roman"/>
                <a:cs typeface="Times New Roman"/>
              </a:rPr>
              <a:t>control</a:t>
            </a:r>
            <a:r>
              <a:rPr lang="en-US" sz="1400" spc="-40" dirty="0">
                <a:latin typeface="Times New Roman"/>
                <a:cs typeface="Times New Roman"/>
              </a:rPr>
              <a:t> </a:t>
            </a:r>
            <a:r>
              <a:rPr lang="en-US" sz="1400" spc="-10" dirty="0">
                <a:latin typeface="Times New Roman"/>
                <a:cs typeface="Times New Roman"/>
              </a:rPr>
              <a:t>systems</a:t>
            </a:r>
            <a:endParaRPr lang="en-US" sz="1400" dirty="0">
              <a:latin typeface="Times New Roman"/>
              <a:cs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prstGeom prst="rect">
            <a:avLst/>
          </a:prstGeom>
        </p:spPr>
        <p:txBody>
          <a:bodyPr vert="horz" wrap="square" lIns="0" tIns="243078" rIns="0" bIns="0" rtlCol="0">
            <a:spAutoFit/>
          </a:bodyPr>
          <a:lstStyle/>
          <a:p>
            <a:pPr marL="3406775" marR="5080" indent="-2506345">
              <a:lnSpc>
                <a:spcPct val="100000"/>
              </a:lnSpc>
              <a:spcBef>
                <a:spcPts val="100"/>
              </a:spcBef>
            </a:pPr>
            <a:r>
              <a:rPr dirty="0">
                <a:solidFill>
                  <a:srgbClr val="000000"/>
                </a:solidFill>
                <a:latin typeface="Times New Roman"/>
                <a:cs typeface="Times New Roman"/>
              </a:rPr>
              <a:t>Formal</a:t>
            </a:r>
            <a:r>
              <a:rPr spc="-45" dirty="0">
                <a:solidFill>
                  <a:srgbClr val="000000"/>
                </a:solidFill>
                <a:latin typeface="Times New Roman"/>
                <a:cs typeface="Times New Roman"/>
              </a:rPr>
              <a:t> </a:t>
            </a:r>
            <a:r>
              <a:rPr dirty="0">
                <a:solidFill>
                  <a:srgbClr val="000000"/>
                </a:solidFill>
                <a:latin typeface="Times New Roman"/>
                <a:cs typeface="Times New Roman"/>
              </a:rPr>
              <a:t>Specification</a:t>
            </a:r>
            <a:r>
              <a:rPr spc="-45" dirty="0">
                <a:solidFill>
                  <a:srgbClr val="000000"/>
                </a:solidFill>
                <a:latin typeface="Times New Roman"/>
                <a:cs typeface="Times New Roman"/>
              </a:rPr>
              <a:t> </a:t>
            </a:r>
            <a:r>
              <a:rPr dirty="0">
                <a:solidFill>
                  <a:srgbClr val="000000"/>
                </a:solidFill>
                <a:latin typeface="Times New Roman"/>
                <a:cs typeface="Times New Roman"/>
              </a:rPr>
              <a:t>in</a:t>
            </a:r>
            <a:r>
              <a:rPr spc="-20" dirty="0">
                <a:solidFill>
                  <a:srgbClr val="000000"/>
                </a:solidFill>
                <a:latin typeface="Times New Roman"/>
                <a:cs typeface="Times New Roman"/>
              </a:rPr>
              <a:t> </a:t>
            </a:r>
            <a:r>
              <a:rPr dirty="0">
                <a:solidFill>
                  <a:srgbClr val="000000"/>
                </a:solidFill>
                <a:latin typeface="Times New Roman"/>
                <a:cs typeface="Times New Roman"/>
              </a:rPr>
              <a:t>the</a:t>
            </a:r>
            <a:r>
              <a:rPr spc="-5" dirty="0">
                <a:solidFill>
                  <a:srgbClr val="000000"/>
                </a:solidFill>
                <a:latin typeface="Times New Roman"/>
                <a:cs typeface="Times New Roman"/>
              </a:rPr>
              <a:t> </a:t>
            </a:r>
            <a:r>
              <a:rPr spc="-10" dirty="0">
                <a:solidFill>
                  <a:srgbClr val="000000"/>
                </a:solidFill>
                <a:latin typeface="Times New Roman"/>
                <a:cs typeface="Times New Roman"/>
              </a:rPr>
              <a:t>software process</a:t>
            </a:r>
          </a:p>
        </p:txBody>
      </p:sp>
      <p:sp>
        <p:nvSpPr>
          <p:cNvPr id="89" name="object 89"/>
          <p:cNvSpPr txBox="1"/>
          <p:nvPr/>
        </p:nvSpPr>
        <p:spPr>
          <a:xfrm>
            <a:off x="392442" y="5411746"/>
            <a:ext cx="8682990" cy="1376659"/>
          </a:xfrm>
          <a:prstGeom prst="rect">
            <a:avLst/>
          </a:prstGeom>
        </p:spPr>
        <p:txBody>
          <a:bodyPr vert="horz" wrap="square" lIns="0" tIns="12065" rIns="0" bIns="0" rtlCol="0">
            <a:spAutoFit/>
          </a:bodyPr>
          <a:lstStyle/>
          <a:p>
            <a:pPr>
              <a:lnSpc>
                <a:spcPct val="100000"/>
              </a:lnSpc>
              <a:spcBef>
                <a:spcPts val="185"/>
              </a:spcBef>
            </a:pPr>
            <a:endParaRPr sz="1450" dirty="0">
              <a:latin typeface="Arial MT"/>
              <a:cs typeface="Arial MT"/>
            </a:endParaRPr>
          </a:p>
          <a:p>
            <a:pPr marL="297815" marR="5080" indent="-285750" algn="just">
              <a:lnSpc>
                <a:spcPts val="1730"/>
              </a:lnSpc>
              <a:buFont typeface="Wingdings"/>
              <a:buChar char=""/>
              <a:tabLst>
                <a:tab pos="299085" algn="l"/>
              </a:tabLst>
            </a:pPr>
            <a:r>
              <a:rPr sz="1600" dirty="0">
                <a:latin typeface="Times New Roman"/>
                <a:cs typeface="Times New Roman"/>
              </a:rPr>
              <a:t>Above</a:t>
            </a:r>
            <a:r>
              <a:rPr sz="1600" spc="175" dirty="0">
                <a:latin typeface="Times New Roman"/>
                <a:cs typeface="Times New Roman"/>
              </a:rPr>
              <a:t> </a:t>
            </a:r>
            <a:r>
              <a:rPr sz="1600" dirty="0">
                <a:latin typeface="Times New Roman"/>
                <a:cs typeface="Times New Roman"/>
              </a:rPr>
              <a:t>Figure</a:t>
            </a:r>
            <a:r>
              <a:rPr sz="1600" spc="175" dirty="0">
                <a:latin typeface="Times New Roman"/>
                <a:cs typeface="Times New Roman"/>
              </a:rPr>
              <a:t> </a:t>
            </a:r>
            <a:r>
              <a:rPr sz="1600" dirty="0">
                <a:latin typeface="Times New Roman"/>
                <a:cs typeface="Times New Roman"/>
              </a:rPr>
              <a:t>shows</a:t>
            </a:r>
            <a:r>
              <a:rPr sz="1600" spc="180" dirty="0">
                <a:latin typeface="Times New Roman"/>
                <a:cs typeface="Times New Roman"/>
              </a:rPr>
              <a:t> </a:t>
            </a:r>
            <a:r>
              <a:rPr sz="1600" dirty="0">
                <a:latin typeface="Times New Roman"/>
                <a:cs typeface="Times New Roman"/>
              </a:rPr>
              <a:t>specification</a:t>
            </a:r>
            <a:r>
              <a:rPr sz="1600" spc="185" dirty="0">
                <a:latin typeface="Times New Roman"/>
                <a:cs typeface="Times New Roman"/>
              </a:rPr>
              <a:t> </a:t>
            </a:r>
            <a:r>
              <a:rPr sz="1600" dirty="0">
                <a:latin typeface="Times New Roman"/>
                <a:cs typeface="Times New Roman"/>
              </a:rPr>
              <a:t>and</a:t>
            </a:r>
            <a:r>
              <a:rPr sz="1600" spc="185" dirty="0">
                <a:latin typeface="Times New Roman"/>
                <a:cs typeface="Times New Roman"/>
              </a:rPr>
              <a:t> </a:t>
            </a:r>
            <a:r>
              <a:rPr sz="1600" dirty="0">
                <a:latin typeface="Times New Roman"/>
                <a:cs typeface="Times New Roman"/>
              </a:rPr>
              <a:t>design</a:t>
            </a:r>
            <a:r>
              <a:rPr sz="1600" spc="185" dirty="0">
                <a:latin typeface="Times New Roman"/>
                <a:cs typeface="Times New Roman"/>
              </a:rPr>
              <a:t> </a:t>
            </a:r>
            <a:r>
              <a:rPr sz="1600" dirty="0">
                <a:latin typeface="Times New Roman"/>
                <a:cs typeface="Times New Roman"/>
              </a:rPr>
              <a:t>phase</a:t>
            </a:r>
            <a:r>
              <a:rPr sz="1600" spc="180" dirty="0">
                <a:latin typeface="Times New Roman"/>
                <a:cs typeface="Times New Roman"/>
              </a:rPr>
              <a:t> </a:t>
            </a:r>
            <a:r>
              <a:rPr sz="1600" dirty="0">
                <a:latin typeface="Times New Roman"/>
                <a:cs typeface="Times New Roman"/>
              </a:rPr>
              <a:t>of</a:t>
            </a:r>
            <a:r>
              <a:rPr sz="1600" spc="185" dirty="0">
                <a:latin typeface="Times New Roman"/>
                <a:cs typeface="Times New Roman"/>
              </a:rPr>
              <a:t> </a:t>
            </a:r>
            <a:r>
              <a:rPr sz="1600" dirty="0">
                <a:latin typeface="Times New Roman"/>
                <a:cs typeface="Times New Roman"/>
              </a:rPr>
              <a:t>software</a:t>
            </a:r>
            <a:r>
              <a:rPr sz="1600" spc="180" dirty="0">
                <a:latin typeface="Times New Roman"/>
                <a:cs typeface="Times New Roman"/>
              </a:rPr>
              <a:t> </a:t>
            </a:r>
            <a:r>
              <a:rPr sz="1600" dirty="0">
                <a:latin typeface="Times New Roman"/>
                <a:cs typeface="Times New Roman"/>
              </a:rPr>
              <a:t>development</a:t>
            </a:r>
            <a:r>
              <a:rPr sz="1600" spc="200" dirty="0">
                <a:latin typeface="Times New Roman"/>
                <a:cs typeface="Times New Roman"/>
              </a:rPr>
              <a:t> </a:t>
            </a:r>
            <a:r>
              <a:rPr sz="1600" dirty="0">
                <a:latin typeface="Times New Roman"/>
                <a:cs typeface="Times New Roman"/>
              </a:rPr>
              <a:t>process</a:t>
            </a:r>
            <a:r>
              <a:rPr sz="1600" spc="185" dirty="0">
                <a:latin typeface="Times New Roman"/>
                <a:cs typeface="Times New Roman"/>
              </a:rPr>
              <a:t> </a:t>
            </a:r>
            <a:r>
              <a:rPr sz="1600" dirty="0">
                <a:latin typeface="Times New Roman"/>
                <a:cs typeface="Times New Roman"/>
              </a:rPr>
              <a:t>when</a:t>
            </a:r>
            <a:r>
              <a:rPr sz="1600" spc="180" dirty="0">
                <a:latin typeface="Times New Roman"/>
                <a:cs typeface="Times New Roman"/>
              </a:rPr>
              <a:t> </a:t>
            </a:r>
            <a:r>
              <a:rPr sz="1600" spc="-10" dirty="0">
                <a:latin typeface="Times New Roman"/>
                <a:cs typeface="Times New Roman"/>
              </a:rPr>
              <a:t>formal 	</a:t>
            </a:r>
            <a:r>
              <a:rPr sz="1600" dirty="0">
                <a:latin typeface="Times New Roman"/>
                <a:cs typeface="Times New Roman"/>
              </a:rPr>
              <a:t>specification</a:t>
            </a:r>
            <a:r>
              <a:rPr sz="1600" spc="-25"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in</a:t>
            </a:r>
            <a:r>
              <a:rPr sz="1600" spc="-25" dirty="0">
                <a:latin typeface="Times New Roman"/>
                <a:cs typeface="Times New Roman"/>
              </a:rPr>
              <a:t> </a:t>
            </a:r>
            <a:r>
              <a:rPr sz="1600" dirty="0">
                <a:latin typeface="Times New Roman"/>
                <a:cs typeface="Times New Roman"/>
              </a:rPr>
              <a:t>use.</a:t>
            </a:r>
            <a:r>
              <a:rPr sz="1600" spc="-35" dirty="0">
                <a:latin typeface="Times New Roman"/>
                <a:cs typeface="Times New Roman"/>
              </a:rPr>
              <a:t> </a:t>
            </a:r>
            <a:r>
              <a:rPr sz="1600" dirty="0">
                <a:latin typeface="Times New Roman"/>
                <a:cs typeface="Times New Roman"/>
              </a:rPr>
              <a:t>If</a:t>
            </a:r>
            <a:r>
              <a:rPr sz="1600" spc="-30" dirty="0">
                <a:latin typeface="Times New Roman"/>
                <a:cs typeface="Times New Roman"/>
              </a:rPr>
              <a:t> </a:t>
            </a:r>
            <a:r>
              <a:rPr sz="1600" dirty="0">
                <a:latin typeface="Times New Roman"/>
                <a:cs typeface="Times New Roman"/>
              </a:rPr>
              <a:t>formal</a:t>
            </a:r>
            <a:r>
              <a:rPr sz="1600" spc="-35" dirty="0">
                <a:latin typeface="Times New Roman"/>
                <a:cs typeface="Times New Roman"/>
              </a:rPr>
              <a:t> </a:t>
            </a:r>
            <a:r>
              <a:rPr sz="1600" dirty="0">
                <a:latin typeface="Times New Roman"/>
                <a:cs typeface="Times New Roman"/>
              </a:rPr>
              <a:t>specification</a:t>
            </a:r>
            <a:r>
              <a:rPr sz="1600" spc="-15" dirty="0">
                <a:latin typeface="Times New Roman"/>
                <a:cs typeface="Times New Roman"/>
              </a:rPr>
              <a:t> </a:t>
            </a:r>
            <a:r>
              <a:rPr sz="1600" dirty="0">
                <a:latin typeface="Times New Roman"/>
                <a:cs typeface="Times New Roman"/>
              </a:rPr>
              <a:t>of</a:t>
            </a:r>
            <a:r>
              <a:rPr sz="1600" spc="-35"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software</a:t>
            </a:r>
            <a:r>
              <a:rPr sz="1600" spc="-20" dirty="0">
                <a:latin typeface="Times New Roman"/>
                <a:cs typeface="Times New Roman"/>
              </a:rPr>
              <a:t> </a:t>
            </a:r>
            <a:r>
              <a:rPr sz="1600" dirty="0">
                <a:latin typeface="Times New Roman"/>
                <a:cs typeface="Times New Roman"/>
              </a:rPr>
              <a:t>is</a:t>
            </a:r>
            <a:r>
              <a:rPr sz="1600" spc="-25" dirty="0">
                <a:latin typeface="Times New Roman"/>
                <a:cs typeface="Times New Roman"/>
              </a:rPr>
              <a:t> </a:t>
            </a:r>
            <a:r>
              <a:rPr sz="1600" dirty="0">
                <a:latin typeface="Times New Roman"/>
                <a:cs typeface="Times New Roman"/>
              </a:rPr>
              <a:t>developed,</a:t>
            </a:r>
            <a:r>
              <a:rPr sz="1600" spc="-25" dirty="0">
                <a:latin typeface="Times New Roman"/>
                <a:cs typeface="Times New Roman"/>
              </a:rPr>
              <a:t> </a:t>
            </a:r>
            <a:r>
              <a:rPr sz="1600" dirty="0">
                <a:latin typeface="Times New Roman"/>
                <a:cs typeface="Times New Roman"/>
              </a:rPr>
              <a:t>this</a:t>
            </a:r>
            <a:r>
              <a:rPr sz="1600" spc="-35" dirty="0">
                <a:latin typeface="Times New Roman"/>
                <a:cs typeface="Times New Roman"/>
              </a:rPr>
              <a:t> </a:t>
            </a:r>
            <a:r>
              <a:rPr sz="1600" dirty="0">
                <a:latin typeface="Times New Roman"/>
                <a:cs typeface="Times New Roman"/>
              </a:rPr>
              <a:t>usually</a:t>
            </a:r>
            <a:r>
              <a:rPr sz="1600" spc="-25" dirty="0">
                <a:latin typeface="Times New Roman"/>
                <a:cs typeface="Times New Roman"/>
              </a:rPr>
              <a:t> </a:t>
            </a:r>
            <a:r>
              <a:rPr sz="1600" dirty="0">
                <a:latin typeface="Times New Roman"/>
                <a:cs typeface="Times New Roman"/>
              </a:rPr>
              <a:t>comes</a:t>
            </a:r>
            <a:r>
              <a:rPr sz="1600" spc="-25" dirty="0">
                <a:latin typeface="Times New Roman"/>
                <a:cs typeface="Times New Roman"/>
              </a:rPr>
              <a:t> </a:t>
            </a:r>
            <a:r>
              <a:rPr sz="1600" dirty="0">
                <a:latin typeface="Times New Roman"/>
                <a:cs typeface="Times New Roman"/>
              </a:rPr>
              <a:t>after</a:t>
            </a:r>
            <a:r>
              <a:rPr sz="1600" spc="-30" dirty="0">
                <a:latin typeface="Times New Roman"/>
                <a:cs typeface="Times New Roman"/>
              </a:rPr>
              <a:t> </a:t>
            </a:r>
            <a:r>
              <a:rPr sz="1600" spc="-25" dirty="0">
                <a:latin typeface="Times New Roman"/>
                <a:cs typeface="Times New Roman"/>
              </a:rPr>
              <a:t>the 	</a:t>
            </a:r>
            <a:r>
              <a:rPr sz="1600" dirty="0">
                <a:latin typeface="Times New Roman"/>
                <a:cs typeface="Times New Roman"/>
              </a:rPr>
              <a:t>system</a:t>
            </a:r>
            <a:r>
              <a:rPr sz="1600" spc="-25" dirty="0">
                <a:latin typeface="Times New Roman"/>
                <a:cs typeface="Times New Roman"/>
              </a:rPr>
              <a:t> </a:t>
            </a:r>
            <a:r>
              <a:rPr sz="1600" dirty="0">
                <a:latin typeface="Times New Roman"/>
                <a:cs typeface="Times New Roman"/>
              </a:rPr>
              <a:t>requirements</a:t>
            </a:r>
            <a:r>
              <a:rPr sz="1600" spc="30" dirty="0">
                <a:latin typeface="Times New Roman"/>
                <a:cs typeface="Times New Roman"/>
              </a:rPr>
              <a:t> </a:t>
            </a:r>
            <a:r>
              <a:rPr sz="1600" dirty="0">
                <a:latin typeface="Times New Roman"/>
                <a:cs typeface="Times New Roman"/>
              </a:rPr>
              <a:t>but</a:t>
            </a:r>
            <a:r>
              <a:rPr sz="1600" spc="-45" dirty="0">
                <a:latin typeface="Times New Roman"/>
                <a:cs typeface="Times New Roman"/>
              </a:rPr>
              <a:t> </a:t>
            </a:r>
            <a:r>
              <a:rPr sz="1600" dirty="0">
                <a:latin typeface="Times New Roman"/>
                <a:cs typeface="Times New Roman"/>
              </a:rPr>
              <a:t>before</a:t>
            </a:r>
            <a:r>
              <a:rPr sz="1600" spc="-40"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detailed</a:t>
            </a:r>
            <a:r>
              <a:rPr sz="1600" spc="-20" dirty="0">
                <a:latin typeface="Times New Roman"/>
                <a:cs typeface="Times New Roman"/>
              </a:rPr>
              <a:t> </a:t>
            </a:r>
            <a:r>
              <a:rPr sz="1600" dirty="0">
                <a:latin typeface="Times New Roman"/>
                <a:cs typeface="Times New Roman"/>
              </a:rPr>
              <a:t>system</a:t>
            </a:r>
            <a:r>
              <a:rPr sz="1600" spc="-25" dirty="0">
                <a:latin typeface="Times New Roman"/>
                <a:cs typeface="Times New Roman"/>
              </a:rPr>
              <a:t> </a:t>
            </a:r>
            <a:r>
              <a:rPr sz="1600" spc="-10" dirty="0">
                <a:latin typeface="Times New Roman"/>
                <a:cs typeface="Times New Roman"/>
              </a:rPr>
              <a:t>design.</a:t>
            </a:r>
            <a:endParaRPr sz="1600" dirty="0">
              <a:latin typeface="Times New Roman"/>
              <a:cs typeface="Times New Roman"/>
            </a:endParaRPr>
          </a:p>
          <a:p>
            <a:pPr marL="297815" marR="5080" indent="-285750" algn="just">
              <a:lnSpc>
                <a:spcPts val="1730"/>
              </a:lnSpc>
              <a:spcBef>
                <a:spcPts val="380"/>
              </a:spcBef>
              <a:buFont typeface="Wingdings"/>
              <a:buChar char=""/>
              <a:tabLst>
                <a:tab pos="299085" algn="l"/>
              </a:tabLst>
            </a:pPr>
            <a:r>
              <a:rPr sz="1600" dirty="0">
                <a:latin typeface="Times New Roman"/>
                <a:cs typeface="Times New Roman"/>
              </a:rPr>
              <a:t>There</a:t>
            </a:r>
            <a:r>
              <a:rPr sz="1600" spc="434" dirty="0">
                <a:latin typeface="Times New Roman"/>
                <a:cs typeface="Times New Roman"/>
              </a:rPr>
              <a:t> </a:t>
            </a:r>
            <a:r>
              <a:rPr sz="1600" dirty="0">
                <a:latin typeface="Times New Roman"/>
                <a:cs typeface="Times New Roman"/>
              </a:rPr>
              <a:t>is</a:t>
            </a:r>
            <a:r>
              <a:rPr sz="1600" spc="445" dirty="0">
                <a:latin typeface="Times New Roman"/>
                <a:cs typeface="Times New Roman"/>
              </a:rPr>
              <a:t> </a:t>
            </a:r>
            <a:r>
              <a:rPr sz="1600" dirty="0">
                <a:latin typeface="Times New Roman"/>
                <a:cs typeface="Times New Roman"/>
              </a:rPr>
              <a:t>a</a:t>
            </a:r>
            <a:r>
              <a:rPr sz="1600" spc="425" dirty="0">
                <a:latin typeface="Times New Roman"/>
                <a:cs typeface="Times New Roman"/>
              </a:rPr>
              <a:t> </a:t>
            </a:r>
            <a:r>
              <a:rPr sz="1600" dirty="0">
                <a:latin typeface="Times New Roman"/>
                <a:cs typeface="Times New Roman"/>
              </a:rPr>
              <a:t>tight</a:t>
            </a:r>
            <a:r>
              <a:rPr sz="1600" spc="450" dirty="0">
                <a:latin typeface="Times New Roman"/>
                <a:cs typeface="Times New Roman"/>
              </a:rPr>
              <a:t> </a:t>
            </a:r>
            <a:r>
              <a:rPr sz="1600" dirty="0">
                <a:latin typeface="Times New Roman"/>
                <a:cs typeface="Times New Roman"/>
              </a:rPr>
              <a:t>feedback</a:t>
            </a:r>
            <a:r>
              <a:rPr sz="1600" spc="434" dirty="0">
                <a:latin typeface="Times New Roman"/>
                <a:cs typeface="Times New Roman"/>
              </a:rPr>
              <a:t> </a:t>
            </a:r>
            <a:r>
              <a:rPr sz="1600" dirty="0">
                <a:latin typeface="Times New Roman"/>
                <a:cs typeface="Times New Roman"/>
              </a:rPr>
              <a:t>loop</a:t>
            </a:r>
            <a:r>
              <a:rPr sz="1600" spc="440" dirty="0">
                <a:latin typeface="Times New Roman"/>
                <a:cs typeface="Times New Roman"/>
              </a:rPr>
              <a:t> </a:t>
            </a:r>
            <a:r>
              <a:rPr sz="1600" dirty="0">
                <a:latin typeface="Times New Roman"/>
                <a:cs typeface="Times New Roman"/>
              </a:rPr>
              <a:t>between</a:t>
            </a:r>
            <a:r>
              <a:rPr sz="1600" spc="440" dirty="0">
                <a:latin typeface="Times New Roman"/>
                <a:cs typeface="Times New Roman"/>
              </a:rPr>
              <a:t> </a:t>
            </a:r>
            <a:r>
              <a:rPr sz="1600" dirty="0">
                <a:latin typeface="Times New Roman"/>
                <a:cs typeface="Times New Roman"/>
              </a:rPr>
              <a:t>the</a:t>
            </a:r>
            <a:r>
              <a:rPr sz="1600" spc="440" dirty="0">
                <a:latin typeface="Times New Roman"/>
                <a:cs typeface="Times New Roman"/>
              </a:rPr>
              <a:t> </a:t>
            </a:r>
            <a:r>
              <a:rPr sz="1600" dirty="0">
                <a:latin typeface="Times New Roman"/>
                <a:cs typeface="Times New Roman"/>
              </a:rPr>
              <a:t>detailed</a:t>
            </a:r>
            <a:r>
              <a:rPr sz="1600" spc="445" dirty="0">
                <a:latin typeface="Times New Roman"/>
                <a:cs typeface="Times New Roman"/>
              </a:rPr>
              <a:t> </a:t>
            </a:r>
            <a:r>
              <a:rPr sz="1600" dirty="0">
                <a:latin typeface="Times New Roman"/>
                <a:cs typeface="Times New Roman"/>
              </a:rPr>
              <a:t>requirements</a:t>
            </a:r>
            <a:r>
              <a:rPr sz="1600" spc="440" dirty="0">
                <a:latin typeface="Times New Roman"/>
                <a:cs typeface="Times New Roman"/>
              </a:rPr>
              <a:t> </a:t>
            </a:r>
            <a:r>
              <a:rPr sz="1600" dirty="0">
                <a:latin typeface="Times New Roman"/>
                <a:cs typeface="Times New Roman"/>
              </a:rPr>
              <a:t>specification</a:t>
            </a:r>
            <a:r>
              <a:rPr sz="1600" spc="450" dirty="0">
                <a:latin typeface="Times New Roman"/>
                <a:cs typeface="Times New Roman"/>
              </a:rPr>
              <a:t> </a:t>
            </a:r>
            <a:r>
              <a:rPr sz="1600" dirty="0">
                <a:latin typeface="Times New Roman"/>
                <a:cs typeface="Times New Roman"/>
              </a:rPr>
              <a:t>and</a:t>
            </a:r>
            <a:r>
              <a:rPr sz="1600" spc="434" dirty="0">
                <a:latin typeface="Times New Roman"/>
                <a:cs typeface="Times New Roman"/>
              </a:rPr>
              <a:t> </a:t>
            </a:r>
            <a:r>
              <a:rPr sz="1600" dirty="0">
                <a:latin typeface="Times New Roman"/>
                <a:cs typeface="Times New Roman"/>
              </a:rPr>
              <a:t>the</a:t>
            </a:r>
            <a:r>
              <a:rPr sz="1600" spc="430" dirty="0">
                <a:latin typeface="Times New Roman"/>
                <a:cs typeface="Times New Roman"/>
              </a:rPr>
              <a:t> </a:t>
            </a:r>
            <a:r>
              <a:rPr sz="1600" spc="-10" dirty="0">
                <a:latin typeface="Times New Roman"/>
                <a:cs typeface="Times New Roman"/>
              </a:rPr>
              <a:t>formal 	specification.</a:t>
            </a:r>
            <a:endParaRPr sz="1600" dirty="0">
              <a:latin typeface="Times New Roman"/>
              <a:cs typeface="Times New Roman"/>
            </a:endParaRPr>
          </a:p>
        </p:txBody>
      </p:sp>
      <p:pic>
        <p:nvPicPr>
          <p:cNvPr id="96" name="Picture 95">
            <a:extLst>
              <a:ext uri="{FF2B5EF4-FFF2-40B4-BE49-F238E27FC236}">
                <a16:creationId xmlns:a16="http://schemas.microsoft.com/office/drawing/2014/main" id="{71F715F2-1664-0FB1-10D7-53638B81F6FD}"/>
              </a:ext>
            </a:extLst>
          </p:cNvPr>
          <p:cNvPicPr>
            <a:picLocks noChangeAspect="1"/>
          </p:cNvPicPr>
          <p:nvPr/>
        </p:nvPicPr>
        <p:blipFill>
          <a:blip r:embed="rId2"/>
          <a:stretch>
            <a:fillRect/>
          </a:stretch>
        </p:blipFill>
        <p:spPr>
          <a:xfrm>
            <a:off x="1742679" y="1828800"/>
            <a:ext cx="5658640" cy="375337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9031" rIns="0" bIns="0" rtlCol="0">
            <a:spAutoFit/>
          </a:bodyPr>
          <a:lstStyle/>
          <a:p>
            <a:pPr marL="441959">
              <a:lnSpc>
                <a:spcPct val="100000"/>
              </a:lnSpc>
              <a:spcBef>
                <a:spcPts val="105"/>
              </a:spcBef>
            </a:pPr>
            <a:r>
              <a:rPr sz="4400" b="0" dirty="0">
                <a:solidFill>
                  <a:srgbClr val="000000"/>
                </a:solidFill>
                <a:latin typeface="Times New Roman"/>
                <a:cs typeface="Times New Roman"/>
              </a:rPr>
              <a:t>(3)</a:t>
            </a:r>
            <a:r>
              <a:rPr sz="4400" b="0" spc="-10" dirty="0">
                <a:solidFill>
                  <a:srgbClr val="000000"/>
                </a:solidFill>
                <a:latin typeface="Times New Roman"/>
                <a:cs typeface="Times New Roman"/>
              </a:rPr>
              <a:t> </a:t>
            </a:r>
            <a:r>
              <a:rPr sz="4400" b="0" dirty="0">
                <a:solidFill>
                  <a:srgbClr val="000000"/>
                </a:solidFill>
                <a:latin typeface="Times New Roman"/>
                <a:cs typeface="Times New Roman"/>
              </a:rPr>
              <a:t>Rapid</a:t>
            </a:r>
            <a:r>
              <a:rPr sz="4400" b="0" spc="-30" dirty="0">
                <a:solidFill>
                  <a:srgbClr val="000000"/>
                </a:solidFill>
                <a:latin typeface="Times New Roman"/>
                <a:cs typeface="Times New Roman"/>
              </a:rPr>
              <a:t> </a:t>
            </a:r>
            <a:r>
              <a:rPr sz="4400" b="0" dirty="0">
                <a:solidFill>
                  <a:srgbClr val="000000"/>
                </a:solidFill>
                <a:latin typeface="Times New Roman"/>
                <a:cs typeface="Times New Roman"/>
              </a:rPr>
              <a:t>software</a:t>
            </a:r>
            <a:r>
              <a:rPr sz="4400" b="0" spc="-20" dirty="0">
                <a:solidFill>
                  <a:srgbClr val="000000"/>
                </a:solidFill>
                <a:latin typeface="Times New Roman"/>
                <a:cs typeface="Times New Roman"/>
              </a:rPr>
              <a:t> </a:t>
            </a:r>
            <a:r>
              <a:rPr sz="4400" b="0" spc="-10" dirty="0">
                <a:solidFill>
                  <a:srgbClr val="000000"/>
                </a:solidFill>
                <a:latin typeface="Times New Roman"/>
                <a:cs typeface="Times New Roman"/>
              </a:rPr>
              <a:t>development</a:t>
            </a:r>
            <a:endParaRPr sz="4400">
              <a:latin typeface="Times New Roman"/>
              <a:cs typeface="Times New Roman"/>
            </a:endParaRPr>
          </a:p>
        </p:txBody>
      </p:sp>
      <p:sp>
        <p:nvSpPr>
          <p:cNvPr id="3" name="object 3"/>
          <p:cNvSpPr txBox="1">
            <a:spLocks noGrp="1"/>
          </p:cNvSpPr>
          <p:nvPr>
            <p:ph type="body" idx="1"/>
          </p:nvPr>
        </p:nvSpPr>
        <p:spPr>
          <a:xfrm>
            <a:off x="0" y="1792935"/>
            <a:ext cx="9067800" cy="5127045"/>
          </a:xfrm>
          <a:prstGeom prst="rect">
            <a:avLst/>
          </a:prstGeom>
        </p:spPr>
        <p:txBody>
          <a:bodyPr vert="horz" wrap="square" lIns="0" tIns="12700" rIns="0" bIns="0" rtlCol="0">
            <a:spAutoFit/>
          </a:bodyPr>
          <a:lstStyle/>
          <a:p>
            <a:pPr marL="355600" marR="5080" indent="-342900" algn="just">
              <a:lnSpc>
                <a:spcPct val="100000"/>
              </a:lnSpc>
              <a:spcBef>
                <a:spcPts val="100"/>
              </a:spcBef>
              <a:buChar char="•"/>
              <a:tabLst>
                <a:tab pos="355600" algn="l"/>
              </a:tabLst>
            </a:pPr>
            <a:r>
              <a:rPr dirty="0"/>
              <a:t>Since</a:t>
            </a:r>
            <a:r>
              <a:rPr spc="50" dirty="0"/>
              <a:t> </a:t>
            </a:r>
            <a:r>
              <a:rPr dirty="0"/>
              <a:t>we</a:t>
            </a:r>
            <a:r>
              <a:rPr spc="45" dirty="0"/>
              <a:t> </a:t>
            </a:r>
            <a:r>
              <a:rPr dirty="0"/>
              <a:t>are</a:t>
            </a:r>
            <a:r>
              <a:rPr spc="40" dirty="0"/>
              <a:t> </a:t>
            </a:r>
            <a:r>
              <a:rPr dirty="0"/>
              <a:t>in</a:t>
            </a:r>
            <a:r>
              <a:rPr spc="40" dirty="0"/>
              <a:t> </a:t>
            </a:r>
            <a:r>
              <a:rPr dirty="0"/>
              <a:t>globalization</a:t>
            </a:r>
            <a:r>
              <a:rPr spc="45" dirty="0"/>
              <a:t> </a:t>
            </a:r>
            <a:r>
              <a:rPr dirty="0"/>
              <a:t>age</a:t>
            </a:r>
            <a:r>
              <a:rPr spc="45" dirty="0"/>
              <a:t> </a:t>
            </a:r>
            <a:r>
              <a:rPr dirty="0"/>
              <a:t>in</a:t>
            </a:r>
            <a:r>
              <a:rPr spc="45" dirty="0"/>
              <a:t> </a:t>
            </a:r>
            <a:r>
              <a:rPr dirty="0"/>
              <a:t>the</a:t>
            </a:r>
            <a:r>
              <a:rPr spc="50" dirty="0"/>
              <a:t> </a:t>
            </a:r>
            <a:r>
              <a:rPr dirty="0"/>
              <a:t>form</a:t>
            </a:r>
            <a:r>
              <a:rPr spc="20" dirty="0"/>
              <a:t> </a:t>
            </a:r>
            <a:r>
              <a:rPr dirty="0"/>
              <a:t>of</a:t>
            </a:r>
            <a:r>
              <a:rPr spc="45" dirty="0"/>
              <a:t> </a:t>
            </a:r>
            <a:r>
              <a:rPr dirty="0"/>
              <a:t>an</a:t>
            </a:r>
            <a:r>
              <a:rPr spc="45" dirty="0"/>
              <a:t> </a:t>
            </a:r>
            <a:r>
              <a:rPr spc="-10" dirty="0"/>
              <a:t>ever-increasing </a:t>
            </a:r>
            <a:r>
              <a:rPr dirty="0"/>
              <a:t>movement</a:t>
            </a:r>
            <a:r>
              <a:rPr spc="50" dirty="0"/>
              <a:t>  </a:t>
            </a:r>
            <a:r>
              <a:rPr dirty="0"/>
              <a:t>of</a:t>
            </a:r>
            <a:r>
              <a:rPr spc="55" dirty="0"/>
              <a:t>  </a:t>
            </a:r>
            <a:r>
              <a:rPr dirty="0"/>
              <a:t>people,</a:t>
            </a:r>
            <a:r>
              <a:rPr spc="60" dirty="0"/>
              <a:t>  </a:t>
            </a:r>
            <a:r>
              <a:rPr dirty="0"/>
              <a:t>goods,</a:t>
            </a:r>
            <a:r>
              <a:rPr spc="65" dirty="0"/>
              <a:t>  </a:t>
            </a:r>
            <a:r>
              <a:rPr dirty="0"/>
              <a:t>money,</a:t>
            </a:r>
            <a:r>
              <a:rPr lang="en-US" spc="60" dirty="0"/>
              <a:t> </a:t>
            </a:r>
            <a:r>
              <a:rPr dirty="0"/>
              <a:t>services</a:t>
            </a:r>
            <a:r>
              <a:rPr lang="en-US" spc="60" dirty="0"/>
              <a:t> </a:t>
            </a:r>
            <a:r>
              <a:rPr dirty="0"/>
              <a:t>and</a:t>
            </a:r>
            <a:r>
              <a:rPr lang="en-US" spc="60" dirty="0"/>
              <a:t> </a:t>
            </a:r>
            <a:r>
              <a:rPr spc="-10" dirty="0"/>
              <a:t>information </a:t>
            </a:r>
            <a:r>
              <a:rPr dirty="0"/>
              <a:t>across</a:t>
            </a:r>
            <a:r>
              <a:rPr spc="105" dirty="0"/>
              <a:t>  </a:t>
            </a:r>
            <a:r>
              <a:rPr dirty="0"/>
              <a:t>international</a:t>
            </a:r>
            <a:r>
              <a:rPr spc="114" dirty="0"/>
              <a:t>  </a:t>
            </a:r>
            <a:r>
              <a:rPr dirty="0"/>
              <a:t>borders,</a:t>
            </a:r>
            <a:r>
              <a:rPr spc="114" dirty="0"/>
              <a:t>  </a:t>
            </a:r>
            <a:r>
              <a:rPr dirty="0"/>
              <a:t>most</a:t>
            </a:r>
            <a:r>
              <a:rPr spc="110" dirty="0"/>
              <a:t>  </a:t>
            </a:r>
            <a:r>
              <a:rPr dirty="0"/>
              <a:t>businesses</a:t>
            </a:r>
            <a:r>
              <a:rPr spc="105" dirty="0"/>
              <a:t>  </a:t>
            </a:r>
            <a:r>
              <a:rPr dirty="0"/>
              <a:t>have</a:t>
            </a:r>
            <a:r>
              <a:rPr spc="110" dirty="0"/>
              <a:t>  </a:t>
            </a:r>
            <a:r>
              <a:rPr dirty="0"/>
              <a:t>to</a:t>
            </a:r>
            <a:r>
              <a:rPr spc="110" dirty="0"/>
              <a:t>  </a:t>
            </a:r>
            <a:r>
              <a:rPr spc="-10" dirty="0"/>
              <a:t>quickly </a:t>
            </a:r>
            <a:r>
              <a:rPr dirty="0"/>
              <a:t>respond</a:t>
            </a:r>
            <a:r>
              <a:rPr spc="360" dirty="0"/>
              <a:t> </a:t>
            </a:r>
            <a:r>
              <a:rPr dirty="0"/>
              <a:t>to</a:t>
            </a:r>
            <a:r>
              <a:rPr lang="en-US" spc="350" dirty="0"/>
              <a:t> </a:t>
            </a:r>
            <a:r>
              <a:rPr dirty="0"/>
              <a:t>emerging</a:t>
            </a:r>
            <a:r>
              <a:rPr spc="355" dirty="0"/>
              <a:t> </a:t>
            </a:r>
            <a:r>
              <a:rPr dirty="0"/>
              <a:t>markets,</a:t>
            </a:r>
            <a:r>
              <a:rPr spc="365" dirty="0"/>
              <a:t> </a:t>
            </a:r>
            <a:r>
              <a:rPr dirty="0"/>
              <a:t>new</a:t>
            </a:r>
            <a:r>
              <a:rPr spc="355" dirty="0"/>
              <a:t>  </a:t>
            </a:r>
            <a:r>
              <a:rPr dirty="0"/>
              <a:t>opportunities,</a:t>
            </a:r>
            <a:r>
              <a:rPr spc="360" dirty="0"/>
              <a:t> </a:t>
            </a:r>
            <a:r>
              <a:rPr spc="-10" dirty="0"/>
              <a:t>changing </a:t>
            </a:r>
            <a:r>
              <a:rPr dirty="0"/>
              <a:t>economic</a:t>
            </a:r>
            <a:r>
              <a:rPr spc="-20" dirty="0"/>
              <a:t> </a:t>
            </a:r>
            <a:r>
              <a:rPr dirty="0"/>
              <a:t>conditions</a:t>
            </a:r>
            <a:r>
              <a:rPr spc="-45" dirty="0"/>
              <a:t> </a:t>
            </a:r>
            <a:r>
              <a:rPr dirty="0"/>
              <a:t>and</a:t>
            </a:r>
            <a:r>
              <a:rPr spc="-15" dirty="0"/>
              <a:t> </a:t>
            </a:r>
            <a:r>
              <a:rPr dirty="0"/>
              <a:t>the</a:t>
            </a:r>
            <a:r>
              <a:rPr spc="-20" dirty="0"/>
              <a:t> </a:t>
            </a:r>
            <a:r>
              <a:rPr dirty="0"/>
              <a:t>competing</a:t>
            </a:r>
            <a:r>
              <a:rPr spc="-30" dirty="0"/>
              <a:t> </a:t>
            </a:r>
            <a:r>
              <a:rPr dirty="0"/>
              <a:t>services</a:t>
            </a:r>
            <a:r>
              <a:rPr spc="-30" dirty="0"/>
              <a:t> </a:t>
            </a:r>
            <a:r>
              <a:rPr dirty="0"/>
              <a:t>and</a:t>
            </a:r>
            <a:r>
              <a:rPr spc="-10" dirty="0"/>
              <a:t> products.</a:t>
            </a:r>
            <a:endParaRPr lang="en-US" spc="-10" dirty="0"/>
          </a:p>
          <a:p>
            <a:pPr marL="756285" marR="5080" lvl="1" indent="-287020" algn="just">
              <a:lnSpc>
                <a:spcPct val="100000"/>
              </a:lnSpc>
              <a:spcBef>
                <a:spcPts val="500"/>
              </a:spcBef>
              <a:buChar char="–"/>
              <a:tabLst>
                <a:tab pos="756285" algn="l"/>
              </a:tabLst>
            </a:pPr>
            <a:r>
              <a:rPr lang="en-US" sz="2000" dirty="0">
                <a:latin typeface="Times New Roman"/>
                <a:cs typeface="Times New Roman"/>
              </a:rPr>
              <a:t>Software</a:t>
            </a:r>
            <a:r>
              <a:rPr lang="en-US" sz="2000" spc="-10" dirty="0">
                <a:latin typeface="Times New Roman"/>
                <a:cs typeface="Times New Roman"/>
              </a:rPr>
              <a:t> </a:t>
            </a:r>
            <a:r>
              <a:rPr lang="en-US" sz="2000" dirty="0">
                <a:latin typeface="Times New Roman"/>
                <a:cs typeface="Times New Roman"/>
              </a:rPr>
              <a:t>is</a:t>
            </a:r>
            <a:r>
              <a:rPr lang="en-US" sz="2000" spc="-25" dirty="0">
                <a:latin typeface="Times New Roman"/>
                <a:cs typeface="Times New Roman"/>
              </a:rPr>
              <a:t> </a:t>
            </a:r>
            <a:r>
              <a:rPr lang="en-US" sz="2000" dirty="0">
                <a:latin typeface="Times New Roman"/>
                <a:cs typeface="Times New Roman"/>
              </a:rPr>
              <a:t>not</a:t>
            </a:r>
            <a:r>
              <a:rPr lang="en-US" sz="2000" spc="-30" dirty="0">
                <a:latin typeface="Times New Roman"/>
                <a:cs typeface="Times New Roman"/>
              </a:rPr>
              <a:t> </a:t>
            </a:r>
            <a:r>
              <a:rPr lang="en-US" sz="2000" dirty="0">
                <a:latin typeface="Times New Roman"/>
                <a:cs typeface="Times New Roman"/>
              </a:rPr>
              <a:t>an</a:t>
            </a:r>
            <a:r>
              <a:rPr lang="en-US" sz="2000" spc="-5" dirty="0">
                <a:latin typeface="Times New Roman"/>
                <a:cs typeface="Times New Roman"/>
              </a:rPr>
              <a:t> </a:t>
            </a:r>
            <a:r>
              <a:rPr lang="en-US" sz="2000" dirty="0">
                <a:latin typeface="Times New Roman"/>
                <a:cs typeface="Times New Roman"/>
              </a:rPr>
              <a:t>exception</a:t>
            </a:r>
            <a:r>
              <a:rPr lang="en-US" sz="2000" spc="-10" dirty="0">
                <a:latin typeface="Times New Roman"/>
                <a:cs typeface="Times New Roman"/>
              </a:rPr>
              <a:t> </a:t>
            </a:r>
            <a:r>
              <a:rPr lang="en-US" sz="2000" dirty="0">
                <a:latin typeface="Times New Roman"/>
                <a:cs typeface="Times New Roman"/>
              </a:rPr>
              <a:t>because</a:t>
            </a:r>
            <a:r>
              <a:rPr lang="en-US" sz="2000" spc="-20" dirty="0">
                <a:latin typeface="Times New Roman"/>
                <a:cs typeface="Times New Roman"/>
              </a:rPr>
              <a:t> </a:t>
            </a:r>
            <a:r>
              <a:rPr lang="en-US" sz="2000" dirty="0">
                <a:latin typeface="Times New Roman"/>
                <a:cs typeface="Times New Roman"/>
              </a:rPr>
              <a:t>it</a:t>
            </a:r>
            <a:r>
              <a:rPr lang="en-US" sz="2000" spc="-15" dirty="0">
                <a:latin typeface="Times New Roman"/>
                <a:cs typeface="Times New Roman"/>
              </a:rPr>
              <a:t> </a:t>
            </a:r>
            <a:r>
              <a:rPr lang="en-US" sz="2000" dirty="0">
                <a:latin typeface="Times New Roman"/>
                <a:cs typeface="Times New Roman"/>
              </a:rPr>
              <a:t>is</a:t>
            </a:r>
            <a:r>
              <a:rPr lang="en-US" sz="2000" spc="-15" dirty="0">
                <a:latin typeface="Times New Roman"/>
                <a:cs typeface="Times New Roman"/>
              </a:rPr>
              <a:t> </a:t>
            </a:r>
            <a:r>
              <a:rPr lang="en-US" sz="2000" dirty="0">
                <a:latin typeface="Times New Roman"/>
                <a:cs typeface="Times New Roman"/>
              </a:rPr>
              <a:t>part</a:t>
            </a:r>
            <a:r>
              <a:rPr lang="en-US" sz="2000" spc="-15" dirty="0">
                <a:latin typeface="Times New Roman"/>
                <a:cs typeface="Times New Roman"/>
              </a:rPr>
              <a:t> </a:t>
            </a:r>
            <a:r>
              <a:rPr lang="en-US" sz="2000" dirty="0">
                <a:latin typeface="Times New Roman"/>
                <a:cs typeface="Times New Roman"/>
              </a:rPr>
              <a:t>of</a:t>
            </a:r>
            <a:r>
              <a:rPr lang="en-US" sz="2000" spc="-10" dirty="0">
                <a:latin typeface="Times New Roman"/>
                <a:cs typeface="Times New Roman"/>
              </a:rPr>
              <a:t> </a:t>
            </a:r>
            <a:r>
              <a:rPr lang="en-US" sz="2000" dirty="0">
                <a:latin typeface="Times New Roman"/>
                <a:cs typeface="Times New Roman"/>
              </a:rPr>
              <a:t>almost</a:t>
            </a:r>
            <a:r>
              <a:rPr lang="en-US" sz="2000" spc="-10" dirty="0">
                <a:latin typeface="Times New Roman"/>
                <a:cs typeface="Times New Roman"/>
              </a:rPr>
              <a:t> </a:t>
            </a:r>
            <a:r>
              <a:rPr lang="en-US" sz="2000" dirty="0">
                <a:latin typeface="Times New Roman"/>
                <a:cs typeface="Times New Roman"/>
              </a:rPr>
              <a:t>all</a:t>
            </a:r>
            <a:r>
              <a:rPr lang="en-US" sz="2000" spc="-30" dirty="0">
                <a:latin typeface="Times New Roman"/>
                <a:cs typeface="Times New Roman"/>
              </a:rPr>
              <a:t> </a:t>
            </a:r>
            <a:r>
              <a:rPr lang="en-US" sz="2000" dirty="0">
                <a:latin typeface="Times New Roman"/>
                <a:cs typeface="Times New Roman"/>
              </a:rPr>
              <a:t>business</a:t>
            </a:r>
            <a:r>
              <a:rPr lang="en-US" sz="2000" spc="-20" dirty="0">
                <a:latin typeface="Times New Roman"/>
                <a:cs typeface="Times New Roman"/>
              </a:rPr>
              <a:t> </a:t>
            </a:r>
            <a:r>
              <a:rPr lang="en-US" sz="2000" spc="-10" dirty="0">
                <a:latin typeface="Times New Roman"/>
                <a:cs typeface="Times New Roman"/>
              </a:rPr>
              <a:t>services </a:t>
            </a:r>
            <a:r>
              <a:rPr lang="en-US" sz="2000" dirty="0">
                <a:latin typeface="Times New Roman"/>
                <a:cs typeface="Times New Roman"/>
              </a:rPr>
              <a:t>so</a:t>
            </a:r>
            <a:r>
              <a:rPr lang="en-US" sz="2000" spc="-10" dirty="0">
                <a:latin typeface="Times New Roman"/>
                <a:cs typeface="Times New Roman"/>
              </a:rPr>
              <a:t> </a:t>
            </a:r>
            <a:r>
              <a:rPr lang="en-US" sz="2000" dirty="0">
                <a:latin typeface="Times New Roman"/>
                <a:cs typeface="Times New Roman"/>
              </a:rPr>
              <a:t>it</a:t>
            </a:r>
            <a:r>
              <a:rPr lang="en-US" sz="2000" spc="-20" dirty="0">
                <a:latin typeface="Times New Roman"/>
                <a:cs typeface="Times New Roman"/>
              </a:rPr>
              <a:t> </a:t>
            </a:r>
            <a:r>
              <a:rPr lang="en-US" sz="2000" dirty="0">
                <a:latin typeface="Times New Roman"/>
                <a:cs typeface="Times New Roman"/>
              </a:rPr>
              <a:t>is</a:t>
            </a:r>
            <a:r>
              <a:rPr lang="en-US" sz="2000" spc="-25" dirty="0">
                <a:latin typeface="Times New Roman"/>
                <a:cs typeface="Times New Roman"/>
              </a:rPr>
              <a:t> </a:t>
            </a:r>
            <a:r>
              <a:rPr lang="en-US" sz="2000" dirty="0">
                <a:latin typeface="Times New Roman"/>
                <a:cs typeface="Times New Roman"/>
              </a:rPr>
              <a:t>very</a:t>
            </a:r>
            <a:r>
              <a:rPr lang="en-US" sz="2000" spc="-15" dirty="0">
                <a:latin typeface="Times New Roman"/>
                <a:cs typeface="Times New Roman"/>
              </a:rPr>
              <a:t> </a:t>
            </a:r>
            <a:r>
              <a:rPr lang="en-US" sz="2000" dirty="0">
                <a:latin typeface="Times New Roman"/>
                <a:cs typeface="Times New Roman"/>
              </a:rPr>
              <a:t>important</a:t>
            </a:r>
            <a:r>
              <a:rPr lang="en-US" sz="2000" spc="-10" dirty="0">
                <a:latin typeface="Times New Roman"/>
                <a:cs typeface="Times New Roman"/>
              </a:rPr>
              <a:t> </a:t>
            </a:r>
            <a:r>
              <a:rPr lang="en-US" sz="2000" dirty="0">
                <a:latin typeface="Times New Roman"/>
                <a:cs typeface="Times New Roman"/>
              </a:rPr>
              <a:t>to</a:t>
            </a:r>
            <a:r>
              <a:rPr lang="en-US" sz="2000" spc="-20" dirty="0">
                <a:latin typeface="Times New Roman"/>
                <a:cs typeface="Times New Roman"/>
              </a:rPr>
              <a:t> </a:t>
            </a:r>
            <a:r>
              <a:rPr lang="en-US" sz="2000" dirty="0">
                <a:latin typeface="Times New Roman"/>
                <a:cs typeface="Times New Roman"/>
              </a:rPr>
              <a:t>new</a:t>
            </a:r>
            <a:r>
              <a:rPr lang="en-US" sz="2000" spc="-10" dirty="0">
                <a:latin typeface="Times New Roman"/>
                <a:cs typeface="Times New Roman"/>
              </a:rPr>
              <a:t> </a:t>
            </a:r>
            <a:r>
              <a:rPr lang="en-US" sz="2000" dirty="0">
                <a:latin typeface="Times New Roman"/>
                <a:cs typeface="Times New Roman"/>
              </a:rPr>
              <a:t>software</a:t>
            </a:r>
            <a:r>
              <a:rPr lang="en-US" sz="2000" spc="-10" dirty="0">
                <a:latin typeface="Times New Roman"/>
                <a:cs typeface="Times New Roman"/>
              </a:rPr>
              <a:t> </a:t>
            </a:r>
            <a:r>
              <a:rPr lang="en-US" sz="2000" dirty="0">
                <a:latin typeface="Times New Roman"/>
                <a:cs typeface="Times New Roman"/>
              </a:rPr>
              <a:t>to</a:t>
            </a:r>
            <a:r>
              <a:rPr lang="en-US" sz="2000" spc="-20" dirty="0">
                <a:latin typeface="Times New Roman"/>
                <a:cs typeface="Times New Roman"/>
              </a:rPr>
              <a:t> </a:t>
            </a:r>
            <a:r>
              <a:rPr lang="en-US" sz="2000" dirty="0">
                <a:latin typeface="Times New Roman"/>
                <a:cs typeface="Times New Roman"/>
              </a:rPr>
              <a:t>be</a:t>
            </a:r>
            <a:r>
              <a:rPr lang="en-US" sz="2000" spc="-25" dirty="0">
                <a:latin typeface="Times New Roman"/>
                <a:cs typeface="Times New Roman"/>
              </a:rPr>
              <a:t> </a:t>
            </a:r>
            <a:r>
              <a:rPr lang="en-US" sz="2000" dirty="0">
                <a:latin typeface="Times New Roman"/>
                <a:cs typeface="Times New Roman"/>
              </a:rPr>
              <a:t>developed</a:t>
            </a:r>
            <a:r>
              <a:rPr lang="en-US" sz="2000" spc="-5" dirty="0">
                <a:latin typeface="Times New Roman"/>
                <a:cs typeface="Times New Roman"/>
              </a:rPr>
              <a:t> </a:t>
            </a:r>
            <a:r>
              <a:rPr lang="en-US" sz="2000" dirty="0">
                <a:latin typeface="Times New Roman"/>
                <a:cs typeface="Times New Roman"/>
              </a:rPr>
              <a:t>quickly</a:t>
            </a:r>
            <a:r>
              <a:rPr lang="en-US" sz="2000" spc="-15" dirty="0">
                <a:latin typeface="Times New Roman"/>
                <a:cs typeface="Times New Roman"/>
              </a:rPr>
              <a:t> </a:t>
            </a:r>
            <a:r>
              <a:rPr lang="en-US" sz="2000" dirty="0">
                <a:latin typeface="Times New Roman"/>
                <a:cs typeface="Times New Roman"/>
              </a:rPr>
              <a:t>to</a:t>
            </a:r>
            <a:r>
              <a:rPr lang="en-US" sz="2000" spc="-15" dirty="0">
                <a:latin typeface="Times New Roman"/>
                <a:cs typeface="Times New Roman"/>
              </a:rPr>
              <a:t> </a:t>
            </a:r>
            <a:r>
              <a:rPr lang="en-US" sz="2000" dirty="0">
                <a:latin typeface="Times New Roman"/>
                <a:cs typeface="Times New Roman"/>
              </a:rPr>
              <a:t>adopt</a:t>
            </a:r>
            <a:r>
              <a:rPr lang="en-US" sz="2000" spc="-20" dirty="0">
                <a:latin typeface="Times New Roman"/>
                <a:cs typeface="Times New Roman"/>
              </a:rPr>
              <a:t> </a:t>
            </a:r>
            <a:r>
              <a:rPr lang="en-US" sz="2000" spc="-25" dirty="0">
                <a:latin typeface="Times New Roman"/>
                <a:cs typeface="Times New Roman"/>
              </a:rPr>
              <a:t>new </a:t>
            </a:r>
            <a:r>
              <a:rPr lang="en-US" sz="2000" dirty="0">
                <a:latin typeface="Times New Roman"/>
                <a:cs typeface="Times New Roman"/>
              </a:rPr>
              <a:t>business</a:t>
            </a:r>
            <a:r>
              <a:rPr lang="en-US" sz="2000" spc="-35" dirty="0">
                <a:latin typeface="Times New Roman"/>
                <a:cs typeface="Times New Roman"/>
              </a:rPr>
              <a:t> </a:t>
            </a:r>
            <a:r>
              <a:rPr lang="en-US" sz="2000" spc="-10" dirty="0">
                <a:latin typeface="Times New Roman"/>
                <a:cs typeface="Times New Roman"/>
              </a:rPr>
              <a:t>environment.</a:t>
            </a:r>
            <a:endParaRPr lang="en-US" sz="2000" dirty="0">
              <a:latin typeface="Times New Roman"/>
              <a:cs typeface="Times New Roman"/>
            </a:endParaRPr>
          </a:p>
          <a:p>
            <a:pPr marL="756285" lvl="1" indent="-286385" algn="just">
              <a:lnSpc>
                <a:spcPct val="100000"/>
              </a:lnSpc>
              <a:spcBef>
                <a:spcPts val="480"/>
              </a:spcBef>
              <a:buChar char="–"/>
              <a:tabLst>
                <a:tab pos="756285" algn="l"/>
              </a:tabLst>
            </a:pPr>
            <a:r>
              <a:rPr lang="en-US" sz="2000" dirty="0">
                <a:latin typeface="Times New Roman"/>
                <a:cs typeface="Times New Roman"/>
              </a:rPr>
              <a:t>Therefore</a:t>
            </a:r>
            <a:r>
              <a:rPr lang="en-US" sz="2000" spc="60" dirty="0">
                <a:latin typeface="Times New Roman"/>
                <a:cs typeface="Times New Roman"/>
              </a:rPr>
              <a:t>  </a:t>
            </a:r>
            <a:r>
              <a:rPr lang="en-US" sz="2000" dirty="0">
                <a:latin typeface="Times New Roman"/>
                <a:cs typeface="Times New Roman"/>
              </a:rPr>
              <a:t>rapid</a:t>
            </a:r>
            <a:r>
              <a:rPr lang="en-US" sz="2000" spc="65" dirty="0">
                <a:latin typeface="Times New Roman"/>
                <a:cs typeface="Times New Roman"/>
              </a:rPr>
              <a:t>  </a:t>
            </a:r>
            <a:r>
              <a:rPr lang="en-US" sz="2000" dirty="0">
                <a:latin typeface="Times New Roman"/>
                <a:cs typeface="Times New Roman"/>
              </a:rPr>
              <a:t>development</a:t>
            </a:r>
            <a:r>
              <a:rPr lang="en-US" sz="2000" spc="70" dirty="0">
                <a:latin typeface="Times New Roman"/>
                <a:cs typeface="Times New Roman"/>
              </a:rPr>
              <a:t>  </a:t>
            </a:r>
            <a:r>
              <a:rPr lang="en-US" sz="2000" dirty="0">
                <a:latin typeface="Times New Roman"/>
                <a:cs typeface="Times New Roman"/>
              </a:rPr>
              <a:t>is</a:t>
            </a:r>
            <a:r>
              <a:rPr lang="en-US" sz="2000" spc="55" dirty="0">
                <a:latin typeface="Times New Roman"/>
                <a:cs typeface="Times New Roman"/>
              </a:rPr>
              <a:t>  </a:t>
            </a:r>
            <a:r>
              <a:rPr lang="en-US" sz="2000" dirty="0">
                <a:latin typeface="Times New Roman"/>
                <a:cs typeface="Times New Roman"/>
              </a:rPr>
              <a:t>now</a:t>
            </a:r>
            <a:r>
              <a:rPr lang="en-US" sz="2000" spc="70" dirty="0">
                <a:latin typeface="Times New Roman"/>
                <a:cs typeface="Times New Roman"/>
              </a:rPr>
              <a:t>  </a:t>
            </a:r>
            <a:r>
              <a:rPr lang="en-US" sz="2000" dirty="0">
                <a:latin typeface="Times New Roman"/>
                <a:cs typeface="Times New Roman"/>
              </a:rPr>
              <a:t>the</a:t>
            </a:r>
            <a:r>
              <a:rPr lang="en-US" sz="2000" spc="60" dirty="0">
                <a:latin typeface="Times New Roman"/>
                <a:cs typeface="Times New Roman"/>
              </a:rPr>
              <a:t>  </a:t>
            </a:r>
            <a:r>
              <a:rPr lang="en-US" sz="2000" dirty="0">
                <a:latin typeface="Times New Roman"/>
                <a:cs typeface="Times New Roman"/>
              </a:rPr>
              <a:t>most</a:t>
            </a:r>
            <a:r>
              <a:rPr lang="en-US" sz="2000" spc="65" dirty="0">
                <a:latin typeface="Times New Roman"/>
                <a:cs typeface="Times New Roman"/>
              </a:rPr>
              <a:t>  </a:t>
            </a:r>
            <a:r>
              <a:rPr lang="en-US" sz="2000" dirty="0">
                <a:latin typeface="Times New Roman"/>
                <a:cs typeface="Times New Roman"/>
              </a:rPr>
              <a:t>critical</a:t>
            </a:r>
            <a:r>
              <a:rPr lang="en-US" sz="2000" spc="50" dirty="0">
                <a:latin typeface="Times New Roman"/>
                <a:cs typeface="Times New Roman"/>
              </a:rPr>
              <a:t>  </a:t>
            </a:r>
            <a:r>
              <a:rPr lang="en-US" sz="2000" dirty="0">
                <a:latin typeface="Times New Roman"/>
                <a:cs typeface="Times New Roman"/>
              </a:rPr>
              <a:t>requirement</a:t>
            </a:r>
            <a:r>
              <a:rPr lang="en-US" sz="2000" spc="65" dirty="0">
                <a:latin typeface="Times New Roman"/>
                <a:cs typeface="Times New Roman"/>
              </a:rPr>
              <a:t>  </a:t>
            </a:r>
            <a:r>
              <a:rPr lang="en-US" sz="2000" spc="-25" dirty="0">
                <a:latin typeface="Times New Roman"/>
                <a:cs typeface="Times New Roman"/>
              </a:rPr>
              <a:t>for </a:t>
            </a:r>
            <a:r>
              <a:rPr lang="en-US" sz="2000" dirty="0"/>
              <a:t>software</a:t>
            </a:r>
            <a:r>
              <a:rPr lang="en-US" sz="2000" spc="-25" dirty="0"/>
              <a:t> </a:t>
            </a:r>
            <a:r>
              <a:rPr lang="en-US" sz="2000" spc="-10" dirty="0"/>
              <a:t>system.</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183AA-D9D4-9E24-6D44-868E99AF2E58}"/>
            </a:ext>
          </a:extLst>
        </p:cNvPr>
        <p:cNvGrpSpPr/>
        <p:nvPr/>
      </p:nvGrpSpPr>
      <p:grpSpPr>
        <a:xfrm>
          <a:off x="0" y="0"/>
          <a:ext cx="0" cy="0"/>
          <a:chOff x="0" y="0"/>
          <a:chExt cx="0" cy="0"/>
        </a:xfrm>
      </p:grpSpPr>
      <p:pic>
        <p:nvPicPr>
          <p:cNvPr id="5" name="object 5">
            <a:extLst>
              <a:ext uri="{FF2B5EF4-FFF2-40B4-BE49-F238E27FC236}">
                <a16:creationId xmlns:a16="http://schemas.microsoft.com/office/drawing/2014/main" id="{D044990C-6AFD-EB24-A732-0CFE7582DF95}"/>
              </a:ext>
            </a:extLst>
          </p:cNvPr>
          <p:cNvPicPr/>
          <p:nvPr/>
        </p:nvPicPr>
        <p:blipFill>
          <a:blip r:embed="rId2" cstate="print"/>
          <a:stretch>
            <a:fillRect/>
          </a:stretch>
        </p:blipFill>
        <p:spPr>
          <a:xfrm>
            <a:off x="332493" y="1386323"/>
            <a:ext cx="4612597" cy="5240486"/>
          </a:xfrm>
          <a:prstGeom prst="rect">
            <a:avLst/>
          </a:prstGeom>
        </p:spPr>
      </p:pic>
      <p:sp>
        <p:nvSpPr>
          <p:cNvPr id="10" name="object 10">
            <a:extLst>
              <a:ext uri="{FF2B5EF4-FFF2-40B4-BE49-F238E27FC236}">
                <a16:creationId xmlns:a16="http://schemas.microsoft.com/office/drawing/2014/main" id="{17DE0B3D-839A-2C47-B82D-C2A98CA77620}"/>
              </a:ext>
            </a:extLst>
          </p:cNvPr>
          <p:cNvSpPr txBox="1">
            <a:spLocks noGrp="1"/>
          </p:cNvSpPr>
          <p:nvPr>
            <p:ph type="title"/>
          </p:nvPr>
        </p:nvSpPr>
        <p:spPr>
          <a:xfrm>
            <a:off x="723595" y="0"/>
            <a:ext cx="8191805" cy="1022331"/>
          </a:xfrm>
          <a:prstGeom prst="rect">
            <a:avLst/>
          </a:prstGeom>
        </p:spPr>
        <p:txBody>
          <a:bodyPr vert="horz" wrap="square" lIns="0" tIns="341884" rIns="0" bIns="0" rtlCol="0">
            <a:spAutoFit/>
          </a:bodyPr>
          <a:lstStyle/>
          <a:p>
            <a:pPr marL="676275">
              <a:lnSpc>
                <a:spcPct val="100000"/>
              </a:lnSpc>
              <a:spcBef>
                <a:spcPts val="100"/>
              </a:spcBef>
            </a:pPr>
            <a:r>
              <a:rPr dirty="0">
                <a:solidFill>
                  <a:schemeClr val="tx1"/>
                </a:solidFill>
              </a:rPr>
              <a:t>An</a:t>
            </a:r>
            <a:r>
              <a:rPr spc="-45" dirty="0">
                <a:solidFill>
                  <a:schemeClr val="tx1"/>
                </a:solidFill>
              </a:rPr>
              <a:t> </a:t>
            </a:r>
            <a:r>
              <a:rPr dirty="0">
                <a:solidFill>
                  <a:schemeClr val="tx1"/>
                </a:solidFill>
              </a:rPr>
              <a:t>iterative</a:t>
            </a:r>
            <a:r>
              <a:rPr spc="-45" dirty="0">
                <a:solidFill>
                  <a:schemeClr val="tx1"/>
                </a:solidFill>
              </a:rPr>
              <a:t> </a:t>
            </a:r>
            <a:r>
              <a:rPr dirty="0">
                <a:solidFill>
                  <a:schemeClr val="tx1"/>
                </a:solidFill>
              </a:rPr>
              <a:t>development</a:t>
            </a:r>
            <a:r>
              <a:rPr spc="-45" dirty="0">
                <a:solidFill>
                  <a:schemeClr val="tx1"/>
                </a:solidFill>
              </a:rPr>
              <a:t> </a:t>
            </a:r>
            <a:r>
              <a:rPr spc="-10" dirty="0">
                <a:solidFill>
                  <a:schemeClr val="tx1"/>
                </a:solidFill>
              </a:rPr>
              <a:t>process</a:t>
            </a:r>
          </a:p>
        </p:txBody>
      </p:sp>
      <p:sp>
        <p:nvSpPr>
          <p:cNvPr id="58" name="object 58">
            <a:extLst>
              <a:ext uri="{FF2B5EF4-FFF2-40B4-BE49-F238E27FC236}">
                <a16:creationId xmlns:a16="http://schemas.microsoft.com/office/drawing/2014/main" id="{989E51B9-82AD-3D3D-4A18-D39A2680FA05}"/>
              </a:ext>
            </a:extLst>
          </p:cNvPr>
          <p:cNvSpPr txBox="1"/>
          <p:nvPr/>
        </p:nvSpPr>
        <p:spPr>
          <a:xfrm>
            <a:off x="5181600" y="1524000"/>
            <a:ext cx="3733800" cy="2988639"/>
          </a:xfrm>
          <a:prstGeom prst="rect">
            <a:avLst/>
          </a:prstGeom>
        </p:spPr>
        <p:txBody>
          <a:bodyPr vert="horz" wrap="square" lIns="0" tIns="13335" rIns="0" bIns="0" rtlCol="0">
            <a:spAutoFit/>
          </a:bodyPr>
          <a:lstStyle/>
          <a:p>
            <a:pPr marL="342900" marR="5715" indent="-342900" algn="just">
              <a:lnSpc>
                <a:spcPts val="2280"/>
              </a:lnSpc>
              <a:spcBef>
                <a:spcPts val="105"/>
              </a:spcBef>
              <a:buFont typeface="Wingdings" panose="05000000000000000000" pitchFamily="2" charset="2"/>
              <a:buChar char="§"/>
            </a:pPr>
            <a:r>
              <a:rPr lang="en-US" sz="2000" spc="-10" dirty="0">
                <a:latin typeface="Times New Roman"/>
                <a:cs typeface="Times New Roman"/>
              </a:rPr>
              <a:t>Figure shows a general process model  for increment software development.</a:t>
            </a:r>
          </a:p>
          <a:p>
            <a:pPr marL="342900" marR="5715" indent="-342900" algn="just">
              <a:lnSpc>
                <a:spcPts val="2280"/>
              </a:lnSpc>
              <a:spcBef>
                <a:spcPts val="105"/>
              </a:spcBef>
              <a:buFont typeface="Wingdings" panose="05000000000000000000" pitchFamily="2" charset="2"/>
              <a:buChar char="§"/>
            </a:pPr>
            <a:r>
              <a:rPr lang="en-US" sz="2000" spc="-10" dirty="0">
                <a:latin typeface="Times New Roman"/>
                <a:cs typeface="Times New Roman"/>
              </a:rPr>
              <a:t>The early stage of process focuses on architectural design and then it produces software in increments rather than a single package.  </a:t>
            </a:r>
          </a:p>
          <a:p>
            <a:pPr marL="342900" marR="5715" lvl="8" indent="-342900" algn="just">
              <a:lnSpc>
                <a:spcPts val="2280"/>
              </a:lnSpc>
              <a:spcBef>
                <a:spcPts val="105"/>
              </a:spcBef>
              <a:buFont typeface="Wingdings" panose="05000000000000000000" pitchFamily="2" charset="2"/>
              <a:buChar char="ü"/>
            </a:pPr>
            <a:r>
              <a:rPr lang="en-US" sz="2000" spc="-10" dirty="0">
                <a:latin typeface="Times New Roman"/>
                <a:cs typeface="Times New Roman"/>
              </a:rPr>
              <a:t>Each process iteration produces  a new software increment.</a:t>
            </a:r>
            <a:endParaRPr sz="2000" dirty="0">
              <a:latin typeface="Times New Roman"/>
              <a:cs typeface="Times New Roman"/>
            </a:endParaRPr>
          </a:p>
        </p:txBody>
      </p:sp>
    </p:spTree>
    <p:extLst>
      <p:ext uri="{BB962C8B-B14F-4D97-AF65-F5344CB8AC3E}">
        <p14:creationId xmlns:p14="http://schemas.microsoft.com/office/powerpoint/2010/main" val="10249391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E2AAEB-2809-F377-D168-F469D8175175}"/>
              </a:ext>
            </a:extLst>
          </p:cNvPr>
          <p:cNvSpPr>
            <a:spLocks noGrp="1"/>
          </p:cNvSpPr>
          <p:nvPr>
            <p:ph type="ctrTitle"/>
          </p:nvPr>
        </p:nvSpPr>
        <p:spPr>
          <a:xfrm>
            <a:off x="3543300" y="3733800"/>
            <a:ext cx="2057400" cy="923330"/>
          </a:xfrm>
        </p:spPr>
        <p:txBody>
          <a:bodyPr/>
          <a:lstStyle/>
          <a:p>
            <a:r>
              <a:rPr lang="en-US" sz="6000" b="1" dirty="0"/>
              <a:t>End</a:t>
            </a:r>
          </a:p>
        </p:txBody>
      </p:sp>
      <p:sp>
        <p:nvSpPr>
          <p:cNvPr id="5" name="Slide Number Placeholder 4">
            <a:extLst>
              <a:ext uri="{FF2B5EF4-FFF2-40B4-BE49-F238E27FC236}">
                <a16:creationId xmlns:a16="http://schemas.microsoft.com/office/drawing/2014/main" id="{54102F94-DDF4-F769-2E8E-6DA6E9B0C0FF}"/>
              </a:ext>
            </a:extLst>
          </p:cNvPr>
          <p:cNvSpPr>
            <a:spLocks noGrp="1"/>
          </p:cNvSpPr>
          <p:nvPr>
            <p:ph type="sldNum" sz="quarter" idx="7"/>
          </p:nvPr>
        </p:nvSpPr>
        <p:spPr/>
        <p:txBody>
          <a:bodyPr/>
          <a:lstStyle/>
          <a:p>
            <a:fld id="{B6F15528-21DE-4FAA-801E-634DDDAF4B2B}" type="slidenum">
              <a:rPr lang="en-US" smtClean="0"/>
              <a:t>38</a:t>
            </a:fld>
            <a:endParaRPr lang="en-US"/>
          </a:p>
        </p:txBody>
      </p:sp>
    </p:spTree>
    <p:extLst>
      <p:ext uri="{BB962C8B-B14F-4D97-AF65-F5344CB8AC3E}">
        <p14:creationId xmlns:p14="http://schemas.microsoft.com/office/powerpoint/2010/main" val="1088501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401</TotalTime>
  <Words>3172</Words>
  <Application>Microsoft Office PowerPoint</Application>
  <PresentationFormat>On-screen Show (4:3)</PresentationFormat>
  <Paragraphs>208</Paragraphs>
  <Slides>38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 MT</vt:lpstr>
      <vt:lpstr>Aptos</vt:lpstr>
      <vt:lpstr>Arial</vt:lpstr>
      <vt:lpstr>Symbol</vt:lpstr>
      <vt:lpstr>Times New Roman</vt:lpstr>
      <vt:lpstr>Trebuchet MS</vt:lpstr>
      <vt:lpstr>Wingdings</vt:lpstr>
      <vt:lpstr>Office Theme</vt:lpstr>
      <vt:lpstr>System Models</vt:lpstr>
      <vt:lpstr>Short recap on previous lesson</vt:lpstr>
      <vt:lpstr>Spiral Model</vt:lpstr>
      <vt:lpstr>How spiral model combine iterative and linear (waterfall) approaches</vt:lpstr>
      <vt:lpstr>How spiral model combine iterative and linear (waterfall) approaches cont.</vt:lpstr>
      <vt:lpstr>How spiral model combine iterative and linear (waterfall) approaches cont.</vt:lpstr>
      <vt:lpstr>Spiral Model</vt:lpstr>
      <vt:lpstr>PowerPoint Presentation</vt:lpstr>
      <vt:lpstr>Spiral Model (Cont…)</vt:lpstr>
      <vt:lpstr>Spiral Model (Cont…)</vt:lpstr>
      <vt:lpstr>Examples of the system with spiral model</vt:lpstr>
      <vt:lpstr>Example: new patient management system in healthcare </vt:lpstr>
      <vt:lpstr>Example: new patient management system in healthcare </vt:lpstr>
      <vt:lpstr>PowerPoint Presentation</vt:lpstr>
      <vt:lpstr>(1) System Modelling</vt:lpstr>
      <vt:lpstr>(1) System Modelling (Cont…)</vt:lpstr>
      <vt:lpstr>Types of System models</vt:lpstr>
      <vt:lpstr>A. Context models</vt:lpstr>
      <vt:lpstr>Context models cont.</vt:lpstr>
      <vt:lpstr>Context models cont.</vt:lpstr>
      <vt:lpstr>Context models cont.</vt:lpstr>
      <vt:lpstr>Context models cont.</vt:lpstr>
      <vt:lpstr>The context of an Internet prepaid card system</vt:lpstr>
      <vt:lpstr>B. Behavioural Model</vt:lpstr>
      <vt:lpstr>PowerPoint Presentation</vt:lpstr>
      <vt:lpstr>Example of Behavioural Model</vt:lpstr>
      <vt:lpstr>Example of Data-flow diagram of order processing</vt:lpstr>
      <vt:lpstr>PowerPoint Presentation</vt:lpstr>
      <vt:lpstr>Comparison between System Context Diagram and Data Flow Diagram</vt:lpstr>
      <vt:lpstr>State machine model of a very simple microwave oven</vt:lpstr>
      <vt:lpstr>PowerPoint Presentation</vt:lpstr>
      <vt:lpstr>C. Data Models</vt:lpstr>
      <vt:lpstr>Simple ER diagram of order placing</vt:lpstr>
      <vt:lpstr>(2) Formal specification</vt:lpstr>
      <vt:lpstr>Formal Specification in the software process</vt:lpstr>
      <vt:lpstr>(3) Rapid software development</vt:lpstr>
      <vt:lpstr>An iterative development process</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lifecycle and Waterfall model</dc:title>
  <dc:creator>Probook</dc:creator>
  <cp:lastModifiedBy>Gaspard Gashema</cp:lastModifiedBy>
  <cp:revision>39</cp:revision>
  <dcterms:created xsi:type="dcterms:W3CDTF">2025-11-01T13:38:50Z</dcterms:created>
  <dcterms:modified xsi:type="dcterms:W3CDTF">2025-11-16T06:30:49Z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2021-07-22T00:00:00Z</vt:filetime>
  </property>
  <property fmtid="{D5CDD505-2E9C-101B-9397-08002B2CF9AE}" pid="3" name="Creator">
    <vt:lpwstr>Microsoft® PowerPoint® 2010</vt:lpwstr>
  </property>
  <property fmtid="{D5CDD505-2E9C-101B-9397-08002B2CF9AE}" pid="4" name="LastSaved">
    <vt:filetime>2025-11-01T00:00:00Z</vt:filetime>
  </property>
  <property fmtid="{D5CDD505-2E9C-101B-9397-08002B2CF9AE}" pid="5" name="Producer">
    <vt:lpwstr>Microsoft® PowerPoint® 2010</vt:lpwstr>
  </property>
</Properties>
</file>