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explicitly to the Week 2 presentations — name the groups and what they taught. This rewards presenters and builds continuity.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of the day. If students master initialize→update→report, everything else follows. Live-code it slowly, tracing total by hand on the board for the first 3 iterations.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story: a real ministry dataset with one 'N/A' crashed a whole report pipeline. try/except is professional discipline, not an optional trick.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3" name="Shape 1"/>
          <p:cNvSpPr/>
          <p:nvPr/>
        </p:nvSpPr>
        <p:spPr>
          <a:xfrm>
            <a:off x="10515600" y="4480560"/>
            <a:ext cx="3291840" cy="329184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5" name="Text 3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AUCA  ·  INTRODUCTION TO BIG DATA ANALYTICS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FA08E"/>
          </a:solidFill>
        </p:spPr>
      </p:sp>
      <p:sp>
        <p:nvSpPr>
          <p:cNvPr id="7" name="Text 5"/>
          <p:cNvSpPr/>
          <p:nvPr/>
        </p:nvSpPr>
        <p:spPr>
          <a:xfrm>
            <a:off x="822960" y="16916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 &amp; Functions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Computer to Decide, Repeat, and Recover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</a:t>
            </a:r>
            <a:r>
              <a:rPr lang="en-US" sz="145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loops — the heart of analytics          </a:t>
            </a:r>
            <a:r>
              <a:rPr lang="en-US" sz="14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</a:t>
            </a:r>
            <a:r>
              <a:rPr lang="en-US" sz="145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files &amp; error handling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Prince Ishimwe   ·   Prince.ishimwe@auca.ac.rw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 — and Today's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E7F5F2"/>
          </a:solidFill>
        </p:spPr>
      </p:sp>
      <p:sp>
        <p:nvSpPr>
          <p:cNvPr id="5" name="Shape 3"/>
          <p:cNvSpPr/>
          <p:nvPr/>
        </p:nvSpPr>
        <p:spPr>
          <a:xfrm>
            <a:off x="832104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FA08E"/>
          </a:solidFill>
        </p:spPr>
      </p:sp>
      <p:sp>
        <p:nvSpPr>
          <p:cNvPr id="6" name="Text 4"/>
          <p:cNvSpPr/>
          <p:nvPr/>
        </p:nvSpPr>
        <p:spPr>
          <a:xfrm>
            <a:off x="832104" y="17830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104" y="228600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stored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" y="3017520"/>
            <a:ext cx="30632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lists, dictionaries — you modeled 20 students and computed an average.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EDF0F8"/>
          </a:solidFill>
        </p:spPr>
      </p:sp>
      <p:sp>
        <p:nvSpPr>
          <p:cNvPr id="10" name="Shape 8"/>
          <p:cNvSpPr/>
          <p:nvPr/>
        </p:nvSpPr>
        <p:spPr>
          <a:xfrm>
            <a:off x="4626864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F2A56"/>
          </a:solidFill>
        </p:spPr>
      </p:sp>
      <p:sp>
        <p:nvSpPr>
          <p:cNvPr id="11" name="Text 9"/>
          <p:cNvSpPr/>
          <p:nvPr/>
        </p:nvSpPr>
        <p:spPr>
          <a:xfrm>
            <a:off x="4626864" y="17830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26864" y="228600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heard where data comes from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3017520"/>
            <a:ext cx="30632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A–D covered data science, big data, the ecosystem, and data collection.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CF0E3"/>
          </a:solidFill>
        </p:spPr>
      </p:sp>
      <p:sp>
        <p:nvSpPr>
          <p:cNvPr id="15" name="Shape 13"/>
          <p:cNvSpPr/>
          <p:nvPr/>
        </p:nvSpPr>
        <p:spPr>
          <a:xfrm>
            <a:off x="8421624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67E22"/>
          </a:solidFill>
        </p:spPr>
      </p:sp>
      <p:sp>
        <p:nvSpPr>
          <p:cNvPr id="16" name="Text 14"/>
          <p:cNvSpPr/>
          <p:nvPr/>
        </p:nvSpPr>
        <p:spPr>
          <a:xfrm>
            <a:off x="8421624" y="17830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21624" y="228600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teach the computer to work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21624" y="3017520"/>
            <a:ext cx="30632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(if/else), repeat (loops), package logic (functions), read files, survive messy 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663440"/>
            <a:ext cx="11018520" cy="1371600"/>
          </a:xfrm>
          <a:prstGeom prst="roundRect">
            <a:avLst>
              <a:gd name="adj" fmla="val 6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28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 matters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8680" y="5175504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Group D showed you how data is collected — and Group B warned you about Veracity. Today you get the tools to handle both: loops to process every record, and error handling to survive the bad ones. Our dataset grows from 20 to 40 students — and this time, it contains mistakes.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  ·  8:30 AM – 11:00 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E7F5F2"/>
          </a:solidFill>
        </p:spPr>
      </p:sp>
      <p:sp>
        <p:nvSpPr>
          <p:cNvPr id="5" name="Shape 3"/>
          <p:cNvSpPr/>
          <p:nvPr/>
        </p:nvSpPr>
        <p:spPr>
          <a:xfrm>
            <a:off x="841248" y="1728216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FA08E"/>
          </a:solidFill>
        </p:spPr>
      </p:sp>
      <p:sp>
        <p:nvSpPr>
          <p:cNvPr id="6" name="Text 4"/>
          <p:cNvSpPr/>
          <p:nvPr/>
        </p:nvSpPr>
        <p:spPr>
          <a:xfrm>
            <a:off x="841248" y="1728216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9:35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545336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Decisions &amp; Loops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743200" y="1929384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 ·  comparison &amp; logical operators  ·  for loops  ·  the accumulator pattern  ·  while loops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624328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F1EDF8"/>
          </a:solidFill>
        </p:spPr>
      </p:sp>
      <p:sp>
        <p:nvSpPr>
          <p:cNvPr id="10" name="Shape 8"/>
          <p:cNvSpPr/>
          <p:nvPr/>
        </p:nvSpPr>
        <p:spPr>
          <a:xfrm>
            <a:off x="841248" y="2935224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7B5EA7"/>
          </a:solidFill>
        </p:spPr>
      </p:sp>
      <p:sp>
        <p:nvSpPr>
          <p:cNvPr id="11" name="Text 9"/>
          <p:cNvSpPr/>
          <p:nvPr/>
        </p:nvSpPr>
        <p:spPr>
          <a:xfrm>
            <a:off x="841248" y="2935224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9:35 – 9:45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752344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Break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743200" y="313639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then download week3_students.csv from the class group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831336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FCF0E3"/>
          </a:solidFill>
        </p:spPr>
      </p:sp>
      <p:sp>
        <p:nvSpPr>
          <p:cNvPr id="15" name="Shape 13"/>
          <p:cNvSpPr/>
          <p:nvPr/>
        </p:nvSpPr>
        <p:spPr>
          <a:xfrm>
            <a:off x="841248" y="414223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E67E22"/>
          </a:solidFill>
        </p:spPr>
      </p:sp>
      <p:sp>
        <p:nvSpPr>
          <p:cNvPr id="16" name="Text 14"/>
          <p:cNvSpPr/>
          <p:nvPr/>
        </p:nvSpPr>
        <p:spPr>
          <a:xfrm>
            <a:off x="841248" y="4142232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9:45 – 10:50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959352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Functions, Files &amp; Errors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743200" y="434340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&amp; return  ·  scope  ·  try/except  ·  reading files  ·  parsing our 40-student CSV  ·  guided practice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5038344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EDF0F8"/>
          </a:solidFill>
        </p:spPr>
      </p:sp>
      <p:sp>
        <p:nvSpPr>
          <p:cNvPr id="20" name="Shape 18"/>
          <p:cNvSpPr/>
          <p:nvPr/>
        </p:nvSpPr>
        <p:spPr>
          <a:xfrm>
            <a:off x="841248" y="534924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F2A56"/>
          </a:solidFill>
        </p:spPr>
      </p:sp>
      <p:sp>
        <p:nvSpPr>
          <p:cNvPr id="21" name="Text 19"/>
          <p:cNvSpPr/>
          <p:nvPr/>
        </p:nvSpPr>
        <p:spPr>
          <a:xfrm>
            <a:off x="841248" y="5349240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10:50 – 11:00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5166360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743200" y="5550408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deliverable briefing  ·  Week 4 presentations preview (Groups A–D)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4206240" cy="420624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645920" y="-2011680"/>
            <a:ext cx="4937760" cy="493776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4" name="Text 2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&amp; Loops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analytics job is: look at each record, decide something, count or sum something. Today you learn exactly that.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DECISIONS &amp; LOOPS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Decisions — if / else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440680" cy="3108960"/>
          </a:xfrm>
          <a:prstGeom prst="roundRect">
            <a:avLst>
              <a:gd name="adj" fmla="val 2647"/>
            </a:avLst>
          </a:prstGeom>
          <a:solidFill>
            <a:srgbClr val="17204A"/>
          </a:solidFill>
        </p:spPr>
      </p:sp>
      <p:sp>
        <p:nvSpPr>
          <p:cNvPr id="5" name="Text 3"/>
          <p:cNvSpPr/>
          <p:nvPr/>
        </p:nvSpPr>
        <p:spPr>
          <a:xfrm>
            <a:off x="795528" y="1591056"/>
            <a:ext cx="5038344" cy="2852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score = 76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if score &gt;= 50: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print("PASS")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print("FAIL")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Output: PASS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⚠ The 4-space indentation is the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  grammar — Python NEEDS it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8745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204A"/>
          </a:solidFill>
        </p:spPr>
      </p:sp>
      <p:sp>
        <p:nvSpPr>
          <p:cNvPr id="8" name="Text 6"/>
          <p:cNvSpPr/>
          <p:nvPr/>
        </p:nvSpPr>
        <p:spPr>
          <a:xfrm>
            <a:off x="6400800" y="187452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==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01000" y="187452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 (two! one = assigns)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44144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204A"/>
          </a:solidFill>
        </p:spPr>
      </p:sp>
      <p:sp>
        <p:nvSpPr>
          <p:cNvPr id="11" name="Text 9"/>
          <p:cNvSpPr/>
          <p:nvPr/>
        </p:nvSpPr>
        <p:spPr>
          <a:xfrm>
            <a:off x="6400800" y="2441448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!=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0" y="244144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3008376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204A"/>
          </a:solidFill>
        </p:spPr>
      </p:sp>
      <p:sp>
        <p:nvSpPr>
          <p:cNvPr id="14" name="Text 12"/>
          <p:cNvSpPr/>
          <p:nvPr/>
        </p:nvSpPr>
        <p:spPr>
          <a:xfrm>
            <a:off x="6400800" y="3008376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&gt;   &lt;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300837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/ less than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3575304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204A"/>
          </a:solidFill>
        </p:spPr>
      </p:sp>
      <p:sp>
        <p:nvSpPr>
          <p:cNvPr id="17" name="Text 15"/>
          <p:cNvSpPr/>
          <p:nvPr/>
        </p:nvSpPr>
        <p:spPr>
          <a:xfrm>
            <a:off x="6400800" y="3575304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&gt;=  &lt;=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1000" y="3575304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/ less or equal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4343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AECEA"/>
          </a:solidFill>
        </p:spPr>
      </p:sp>
      <p:sp>
        <p:nvSpPr>
          <p:cNvPr id="20" name="Text 18"/>
          <p:cNvSpPr/>
          <p:nvPr/>
        </p:nvSpPr>
        <p:spPr>
          <a:xfrm>
            <a:off x="6629400" y="448056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bug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480060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5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if score = 50:   ✗  (assignment)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5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if score == 50:  ✓  (comparison)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84632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CF0E3"/>
          </a:solidFill>
        </p:spPr>
      </p:sp>
      <p:sp>
        <p:nvSpPr>
          <p:cNvPr id="23" name="Text 21"/>
          <p:cNvSpPr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it now: change score to 43 and re-run. Then try exactly 50 — which branch runs, and why?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DECISIONS &amp; LOOPS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Outcomes — the elif Ladder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grading isn't pass/fail. Python checks each condition top to bottom and runs the FIRST one that is true.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038344" cy="3721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score = 76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if score &gt;= 85: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grade = "A"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elif score &gt;= 70: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grade = "B"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elif score &gt;= 60: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grade = "C"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elif score &gt;= 50: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grade = "D"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grade = "F"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print(f"Score {score} -&gt; Grade {grade}")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Score 76 -&gt; Grade 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reads 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1663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76 &gt;= 85? No → moves on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76 &gt;= 70? YES → grade = "B", skips the rest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matters! Put the highest threshold first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catches everything that fell through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452628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E7F5F2"/>
          </a:solidFill>
        </p:spPr>
      </p:sp>
      <p:sp>
        <p:nvSpPr>
          <p:cNvPr id="10" name="Text 8"/>
          <p:cNvSpPr/>
          <p:nvPr/>
        </p:nvSpPr>
        <p:spPr>
          <a:xfrm>
            <a:off x="6629400" y="4526280"/>
            <a:ext cx="47548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ladder is Exercise 1 of today's lab — and inside a function, it becomes a reusable grading machine.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DECISIONS &amp; LOOPS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Conditions — and, or,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17204A"/>
          </a:solidFill>
        </p:spPr>
      </p:sp>
      <p:sp>
        <p:nvSpPr>
          <p:cNvPr id="5" name="Text 3"/>
          <p:cNvSpPr/>
          <p:nvPr/>
        </p:nvSpPr>
        <p:spPr>
          <a:xfrm>
            <a:off x="795528" y="1591056"/>
            <a:ext cx="5038344" cy="2944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score = 76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attendance = 68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AUCA rule: pass needs BOTH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if score &gt;= 50 and attendance &gt;= 75: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print("Course validated")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elif score &gt;= 50 and attendance &lt; 75: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print("Blocked: low attendance")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print("Failed")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Blocked: low attendance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combiners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874520"/>
            <a:ext cx="1234440" cy="566928"/>
          </a:xfrm>
          <a:prstGeom prst="roundRect">
            <a:avLst>
              <a:gd name="adj" fmla="val 14516"/>
            </a:avLst>
          </a:prstGeom>
          <a:solidFill>
            <a:srgbClr val="1FA08E"/>
          </a:solidFill>
        </p:spPr>
      </p:sp>
      <p:sp>
        <p:nvSpPr>
          <p:cNvPr id="8" name="Text 6"/>
          <p:cNvSpPr/>
          <p:nvPr/>
        </p:nvSpPr>
        <p:spPr>
          <a:xfrm>
            <a:off x="6400800" y="187452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18120" y="1874520"/>
            <a:ext cx="3749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if BOTH sides are true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1234440" cy="566928"/>
          </a:xfrm>
          <a:prstGeom prst="roundRect">
            <a:avLst>
              <a:gd name="adj" fmla="val 14516"/>
            </a:avLst>
          </a:prstGeom>
          <a:solidFill>
            <a:srgbClr val="1F2A56"/>
          </a:solidFill>
        </p:spPr>
      </p:sp>
      <p:sp>
        <p:nvSpPr>
          <p:cNvPr id="11" name="Text 9"/>
          <p:cNvSpPr/>
          <p:nvPr/>
        </p:nvSpPr>
        <p:spPr>
          <a:xfrm>
            <a:off x="6400800" y="265176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18120" y="2651760"/>
            <a:ext cx="3749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AT LEAST ONE side is true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3429000"/>
            <a:ext cx="1234440" cy="566928"/>
          </a:xfrm>
          <a:prstGeom prst="roundRect">
            <a:avLst>
              <a:gd name="adj" fmla="val 14516"/>
            </a:avLst>
          </a:prstGeom>
          <a:solidFill>
            <a:srgbClr val="E67E22"/>
          </a:solidFill>
        </p:spPr>
      </p:sp>
      <p:sp>
        <p:nvSpPr>
          <p:cNvPr id="14" name="Text 12"/>
          <p:cNvSpPr/>
          <p:nvPr/>
        </p:nvSpPr>
        <p:spPr>
          <a:xfrm>
            <a:off x="6400800" y="342900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not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3429000"/>
            <a:ext cx="3749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True ↔ False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4343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EDF0F8"/>
          </a:solidFill>
        </p:spPr>
      </p:sp>
      <p:sp>
        <p:nvSpPr>
          <p:cNvPr id="17" name="Text 15"/>
          <p:cNvSpPr/>
          <p:nvPr/>
        </p:nvSpPr>
        <p:spPr>
          <a:xfrm>
            <a:off x="6629400" y="448056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translation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4791456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in every tool — SQL WHERE, Pandas queries, Excel — are just these conditions. Master them here, reuse them all semester.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93776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CF0E3"/>
          </a:solidFill>
        </p:spPr>
      </p:sp>
      <p:sp>
        <p:nvSpPr>
          <p:cNvPr id="20" name="Text 18"/>
          <p:cNvSpPr/>
          <p:nvPr/>
        </p:nvSpPr>
        <p:spPr>
          <a:xfrm>
            <a:off x="822960" y="493776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it now: write a condition for “top student”: score ≥ 85 and attendance ≥ 90.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DECISIONS &amp; LOOPS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Repeating Work — for Loops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Week 1 you typed one print() per student. With 40 students — or 4 million — that's impossible. The loop does it for you.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038344" cy="3721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scores = [72, 85, 91, 64, 78]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'score' takes each value in turn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for score in scores: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print(f"Score: {score}")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Score: 72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Score: 85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... (5 lines total)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Combine with if — a filter!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for score in scores: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if score &gt;= 80: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print(f"{score} is a top score")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the loop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16636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score in scores: — score is a fresh variable, named by YOU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indented block runs once per item, top to bottom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+ if = filtering — the #1 pattern in all of data analysis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loops over strings, dictionaries, and (Week 3!) lines of a file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475488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FCF0E3"/>
          </a:solidFill>
        </p:spPr>
      </p:sp>
      <p:sp>
        <p:nvSpPr>
          <p:cNvPr id="10" name="Text 8"/>
          <p:cNvSpPr/>
          <p:nvPr/>
        </p:nvSpPr>
        <p:spPr>
          <a:xfrm>
            <a:off x="6629400" y="475488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it now: loop over your Week-1 temperature list and print only days above 25°C.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DECISIONS &amp; LOOPS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Accumulator — the Heart of Analytics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counter at zero, update it inside the loop, read it at the end. Every statistic you'll ever compute works like this.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038344" cy="3721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scores = [72, 85, 91, 64, 78, 47, 88]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total = 0      # accumulators start empty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passed = 0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failed = 0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for s in scores: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total = total + s    # grow the sum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if s &gt;= 50: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passed = passed + 1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else: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failed = failed + 1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print(f"Average: {total/len(scores):.1f}")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print(f"Passed: {passed}, Failed: {failed}")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Average: 75.0  /  Passed: 6, Failed: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sacred steps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19456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26771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Initialize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2578608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0 — BEFORE the loop, or it resets every round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15468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22783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Update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3538728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total + s — inside the loop, once per record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41148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1879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Report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4498848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print(total) — AFTER the loop, when all records are counted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5166360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sum(), len(), max() from Week 1? They are accumulator loops someone already wrote for you. Today you look inside the box.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DECISIONS &amp; LOOPS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Looping Over Real Records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 is a list of dictionaries (Week 1). Loop over it and each round hands you one complete student.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852160" cy="3749040"/>
          </a:xfrm>
          <a:prstGeom prst="roundRect">
            <a:avLst>
              <a:gd name="adj" fmla="val 2195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449824" cy="3493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students = [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{"name": "Aline",  "score": 85, "district": "Gasabo"},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{"name": "Eric",   "score": 78, "district": "Musanze"},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{"name": "Diane",  "score": 91, "district": "Muhanga"},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One student per round — a dict!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for s in students: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if s["score"] &gt;= 85: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print(f'{s["name"]} ({s["district"]}): {s["score"]}')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Aline (Gasabo): 85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Diane (Muhanga): 91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1228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Week 1 “magic lines”?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12280" y="2194560"/>
            <a:ext cx="4800600" cy="1463040"/>
          </a:xfrm>
          <a:prstGeom prst="roundRect">
            <a:avLst>
              <a:gd name="adj" fmla="val 5625"/>
            </a:avLst>
          </a:prstGeom>
          <a:solidFill>
            <a:srgbClr val="17204A"/>
          </a:solidFill>
        </p:spPr>
      </p:sp>
      <p:sp>
        <p:nvSpPr>
          <p:cNvPr id="9" name="Text 7"/>
          <p:cNvSpPr/>
          <p:nvPr/>
        </p:nvSpPr>
        <p:spPr>
          <a:xfrm>
            <a:off x="7013448" y="2322576"/>
            <a:ext cx="4398264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Magic revealed — it was a loop!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names = []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for s in students: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names.append(s["name"])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3886200"/>
            <a:ext cx="4800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s["score"] — index into the current record's dict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inside a loop builds a new list — extracting a “column”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+ if + append = SELECT ... WHERE, by hand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DECISIONS &amp; LOOPS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— Repeat Until Something Happens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= “do this for every item”. while = “keep going as long as a condition holds” — for when you don't know how many rounds.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3566160"/>
          </a:xfrm>
          <a:prstGeom prst="roundRect">
            <a:avLst>
              <a:gd name="adj" fmla="val 2308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038344" cy="3310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Savings goal: how many months?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balance = 0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months = 0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while balance &lt; 100000: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balance = balance + 15000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months = months + 1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print(f"Reached in {months} months")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Reached in 7 months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survival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1663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inside the loop MUST move toward ending the condition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infinite loop — the kernel freezes (Stop button / interrupt!)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when you have a collection; while when you have a condition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420624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AECEA"/>
          </a:solidFill>
        </p:spPr>
      </p:sp>
      <p:sp>
        <p:nvSpPr>
          <p:cNvPr id="10" name="Text 8"/>
          <p:cNvSpPr/>
          <p:nvPr/>
        </p:nvSpPr>
        <p:spPr>
          <a:xfrm>
            <a:off x="6629400" y="434340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bug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29400" y="466344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5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while balance &lt; 100000: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A5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print("saving...")   # balance never grows → runs forever!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509760" y="-2194560"/>
            <a:ext cx="5303520" cy="530352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4" name="Text 2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Functions, Files &amp; Errors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your logic. Open real files. Survive messy data. This is where you stop writing scripts and start writing tools.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FUNCTIONS, FILES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— Your Own Reusable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17204A"/>
          </a:solidFill>
        </p:spPr>
      </p:sp>
      <p:sp>
        <p:nvSpPr>
          <p:cNvPr id="5" name="Text 3"/>
          <p:cNvSpPr/>
          <p:nvPr/>
        </p:nvSpPr>
        <p:spPr>
          <a:xfrm>
            <a:off x="795528" y="1591056"/>
            <a:ext cx="5038344" cy="3675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def get_grade(score):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"""Convert a score to a letter grade."""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if score &gt;= 85: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return "A"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elif score &gt;= 70: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return "B"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elif score &gt;= 60: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return "C"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elif score &gt;= 50: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return "D"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return "F"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Define once — use forever: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print(get_grade(76))   # B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print(get_grade(91))   # A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print(get_grade(43))   # 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874520"/>
            <a:ext cx="5212080" cy="731520"/>
          </a:xfrm>
          <a:prstGeom prst="roundRect">
            <a:avLst>
              <a:gd name="adj" fmla="val 1125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3852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A08E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def name(inputs):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function and its parameters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743200"/>
            <a:ext cx="5212080" cy="731520"/>
          </a:xfrm>
          <a:prstGeom prst="roundRect">
            <a:avLst>
              <a:gd name="adj" fmla="val 1125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80720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5EA7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"""docstring"""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310896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saying what it does — graded in your labs!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611880"/>
            <a:ext cx="5212080" cy="731520"/>
          </a:xfrm>
          <a:prstGeom prst="roundRect">
            <a:avLst>
              <a:gd name="adj" fmla="val 1125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6758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return value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397764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answer back — and exits immediately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457200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E7F5F2"/>
          </a:solidFill>
        </p:spPr>
      </p:sp>
      <p:sp>
        <p:nvSpPr>
          <p:cNvPr id="17" name="Text 15"/>
          <p:cNvSpPr/>
          <p:nvPr/>
        </p:nvSpPr>
        <p:spPr>
          <a:xfrm>
            <a:off x="6629400" y="4572000"/>
            <a:ext cx="47548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grading ladder now works for 40 students, 4 million students — or inside next week's Pandas pipeline.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FUNCTIONS, FILES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vs print — and Variable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17204A"/>
          </a:solidFill>
        </p:spPr>
      </p:sp>
      <p:sp>
        <p:nvSpPr>
          <p:cNvPr id="5" name="Text 3"/>
          <p:cNvSpPr/>
          <p:nvPr/>
        </p:nvSpPr>
        <p:spPr>
          <a:xfrm>
            <a:off x="795528" y="1591056"/>
            <a:ext cx="5038344" cy="2121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def average(numbers):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"""Mean of a list of numbers."""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return sum(numbers) / len(numbers)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avg = average([72, 85, 91])   # capture it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print(f"Class average: {avg:.1f}")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print(average([10, 20]) * 2)  # reuse it: 30.0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4069080"/>
            <a:ext cx="5440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gives the value BACK — you can store it, reuse it, pass it on. print only shows it on screen and it's gone.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212080" cy="2377440"/>
          </a:xfrm>
          <a:prstGeom prst="roundRect">
            <a:avLst>
              <a:gd name="adj" fmla="val 3462"/>
            </a:avLst>
          </a:prstGeom>
          <a:solidFill>
            <a:srgbClr val="17204A"/>
          </a:solidFill>
        </p:spPr>
      </p:sp>
      <p:sp>
        <p:nvSpPr>
          <p:cNvPr id="8" name="Text 6"/>
          <p:cNvSpPr/>
          <p:nvPr/>
        </p:nvSpPr>
        <p:spPr>
          <a:xfrm>
            <a:off x="6601968" y="1591056"/>
            <a:ext cx="4809744" cy="2121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def average(numbers):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result = sum(numbers) / len(numbers)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return result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average([10, 20])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print(result)   # ✗ NameError!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'result' lives ONLY inside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the function — that's SCOPE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0" y="406908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variables born inside a function die when it ends. Whatever you need outside must come out through return.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5074920"/>
            <a:ext cx="11018520" cy="914400"/>
          </a:xfrm>
          <a:prstGeom prst="roundRect">
            <a:avLst>
              <a:gd name="adj" fmla="val 9000"/>
            </a:avLst>
          </a:prstGeom>
          <a:solidFill>
            <a:srgbClr val="FCF0E3"/>
          </a:solidFill>
        </p:spPr>
      </p:sp>
      <p:sp>
        <p:nvSpPr>
          <p:cNvPr id="11" name="Text 9"/>
          <p:cNvSpPr/>
          <p:nvPr/>
        </p:nvSpPr>
        <p:spPr>
          <a:xfrm>
            <a:off x="822960" y="5074920"/>
            <a:ext cx="10561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it now: write pass_rate(scores) that returns the percentage of scores ≥ 50 — using an accumulator inside the function.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FUNCTIONS, FILES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Data Fights Back — try / except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warned you in Week 2: Veracity. Real data contains "N/A", empty cells, typos. One bad value must not crash 4 million good 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038344" cy="3493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raw_scores = ["85", "78", "N/A", "91", ""]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clean = []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bad = 0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for value in raw_scores: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try: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clean.append(int(value))  # may fail!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except ValueError: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bad = bad + 1             # survive it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print(clean)          # [85, 78, 91]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print(f"Skipped {bad} bad values")  #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1663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— attempt the risky line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ValueError: — if it explodes, run this instead of crashing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continues to the next value — good data is never lost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COUNT what you skip and report it — silent data loss is the analyst's deadly sin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461772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FCF0E3"/>
          </a:solidFill>
        </p:spPr>
      </p:sp>
      <p:sp>
        <p:nvSpPr>
          <p:cNvPr id="10" name="Text 8"/>
          <p:cNvSpPr/>
          <p:nvPr/>
        </p:nvSpPr>
        <p:spPr>
          <a:xfrm>
            <a:off x="6629400" y="461772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dataset has exactly 3 broken scores hidden in 40 rows. Your lab mission: find and survive them.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FUNCTIONS, FILES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Files — Data From the Outside World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now, data lived inside your code. Real data lives in FILES. Today you open your first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3291840"/>
          </a:xfrm>
          <a:prstGeom prst="roundRect">
            <a:avLst>
              <a:gd name="adj" fmla="val 2500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038344" cy="3035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'with' opens AND closes safely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with open("week3_students.csv") as f: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lines = f.readlines()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print(len(lines))     # 41 — why not 40?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print(lines[0])       # the header row!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student_id,name,age,gender,...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print(lines[1])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AUCA001,Aline Uwase,19,F,...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16636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open(...) connects to a file on disk; with ... as f: guarantees it closes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readlines() → a list of strings, one per line — and you know lists!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0 is the HEADER (column names), not a student — skip it: lines[1:]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ends with an invisible \n — .strip() removes 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5257800"/>
            <a:ext cx="11018520" cy="777240"/>
          </a:xfrm>
          <a:prstGeom prst="roundRect">
            <a:avLst>
              <a:gd name="adj" fmla="val 10588"/>
            </a:avLst>
          </a:prstGeom>
          <a:solidFill>
            <a:srgbClr val="EDF0F8"/>
          </a:solidFill>
        </p:spPr>
      </p:sp>
      <p:sp>
        <p:nvSpPr>
          <p:cNvPr id="10" name="Text 8"/>
          <p:cNvSpPr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users: upload the CSV first (folder icon → upload). Anaconda users: put it in the same folder as your notebook.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FUNCTIONS, FILES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the CSV — Everything Comes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6035040" cy="4343400"/>
          </a:xfrm>
          <a:prstGeom prst="roundRect">
            <a:avLst>
              <a:gd name="adj" fmla="val 1895"/>
            </a:avLst>
          </a:prstGeom>
          <a:solidFill>
            <a:srgbClr val="17204A"/>
          </a:solidFill>
        </p:spPr>
      </p:sp>
      <p:sp>
        <p:nvSpPr>
          <p:cNvPr id="5" name="Text 3"/>
          <p:cNvSpPr/>
          <p:nvPr/>
        </p:nvSpPr>
        <p:spPr>
          <a:xfrm>
            <a:off x="795528" y="1591056"/>
            <a:ext cx="5632704" cy="4087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total = 0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count = 0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bad = 0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with open("week3_students.csv") as f: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lines = f.readlines()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for line in lines[1:]:        # skip header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parts = line.strip().split(",")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# parts[7] is the score column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try: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total = total + int(parts[7])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count = count + 1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except ValueError: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bad = bad + 1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print(f"Valid: {count}, Bad: {bad}")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print(f"Average: {total/count:.1f}")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Valid: 37, Bad: 3  /  Average: 75.3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995160" y="1463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skills in one cell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95160" y="1975104"/>
            <a:ext cx="182880" cy="182880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8" name="Text 6"/>
          <p:cNvSpPr/>
          <p:nvPr/>
        </p:nvSpPr>
        <p:spPr>
          <a:xfrm>
            <a:off x="7296912" y="192024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— </a:t>
            </a: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readlines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2633472"/>
            <a:ext cx="182880" cy="182880"/>
          </a:xfrm>
          <a:prstGeom prst="ellipse">
            <a:avLst/>
          </a:prstGeom>
          <a:solidFill>
            <a:srgbClr val="1F2A56"/>
          </a:solidFill>
        </p:spPr>
      </p:sp>
      <p:sp>
        <p:nvSpPr>
          <p:cNvPr id="10" name="Text 8"/>
          <p:cNvSpPr/>
          <p:nvPr/>
        </p:nvSpPr>
        <p:spPr>
          <a:xfrm>
            <a:off x="7296912" y="2578608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— </a:t>
            </a: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lines[1:] skips the header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95160" y="3291840"/>
            <a:ext cx="182880" cy="18288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2" name="Text 10"/>
          <p:cNvSpPr/>
          <p:nvPr/>
        </p:nvSpPr>
        <p:spPr>
          <a:xfrm>
            <a:off x="7296912" y="3236976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— </a:t>
            </a: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student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3950208"/>
            <a:ext cx="182880" cy="182880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14" name="Text 12"/>
          <p:cNvSpPr/>
          <p:nvPr/>
        </p:nvSpPr>
        <p:spPr>
          <a:xfrm>
            <a:off x="7296912" y="3895344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— </a:t>
            </a: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.strip() and .split(",")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4608576"/>
            <a:ext cx="182880" cy="18288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6" name="Text 14"/>
          <p:cNvSpPr/>
          <p:nvPr/>
        </p:nvSpPr>
        <p:spPr>
          <a:xfrm>
            <a:off x="7296912" y="4553712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— </a:t>
            </a: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broken scores survived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160" y="5266944"/>
            <a:ext cx="182880" cy="182880"/>
          </a:xfrm>
          <a:prstGeom prst="ellipse">
            <a:avLst/>
          </a:prstGeom>
          <a:solidFill>
            <a:srgbClr val="0F6E8C"/>
          </a:solidFill>
        </p:spPr>
      </p:sp>
      <p:sp>
        <p:nvSpPr>
          <p:cNvPr id="18" name="Text 16"/>
          <p:cNvSpPr/>
          <p:nvPr/>
        </p:nvSpPr>
        <p:spPr>
          <a:xfrm>
            <a:off x="7296912" y="521208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 — </a:t>
            </a: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count, bad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548640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~15-line script is a real data pipeline. In Week 7, Pandas does it in 2 lines — but now you'll know what those 2 lines are doing.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FUNCTIONS, FILES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Practice — Your Week 3 Mission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· ~35 minutes · dataset: week3_students.csv (40 students — 3 records are broken!)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2212848"/>
            <a:ext cx="457200" cy="457200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7" name="Text 5"/>
          <p:cNvSpPr/>
          <p:nvPr/>
        </p:nvSpPr>
        <p:spPr>
          <a:xfrm>
            <a:off x="795528" y="2212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5681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grading machine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30428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get_grade(score) with the A–F ladder, and validate(score, attendance) using and.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2212848"/>
            <a:ext cx="457200" cy="457200"/>
          </a:xfrm>
          <a:prstGeom prst="ellipse">
            <a:avLst/>
          </a:prstGeom>
          <a:solidFill>
            <a:srgbClr val="1F2A56"/>
          </a:solidFill>
        </p:spPr>
      </p:sp>
      <p:sp>
        <p:nvSpPr>
          <p:cNvPr id="12" name="Text 10"/>
          <p:cNvSpPr/>
          <p:nvPr/>
        </p:nvSpPr>
        <p:spPr>
          <a:xfrm>
            <a:off x="6464808" y="2212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5681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30428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week3_students.csv, count the lines, print the header and the first student.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" y="3630168"/>
            <a:ext cx="457200" cy="4572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7" name="Text 15"/>
          <p:cNvSpPr/>
          <p:nvPr/>
        </p:nvSpPr>
        <p:spPr>
          <a:xfrm>
            <a:off x="795528" y="3630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7413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resilient pipeline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all 40 rows with try/except: compute valid count, bad count, average, pass/fail counts.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2461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3630168"/>
            <a:ext cx="457200" cy="45720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2" name="Text 20"/>
          <p:cNvSpPr/>
          <p:nvPr/>
        </p:nvSpPr>
        <p:spPr>
          <a:xfrm>
            <a:off x="6464808" y="3630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337413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district report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372160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dictionary accumulator to compute the average score per district. (8 districts — which one leads?)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4937760"/>
            <a:ext cx="11018520" cy="1097280"/>
          </a:xfrm>
          <a:prstGeom prst="roundRect">
            <a:avLst>
              <a:gd name="adj" fmla="val 7500"/>
            </a:avLst>
          </a:prstGeom>
          <a:solidFill>
            <a:srgbClr val="EDF0F8"/>
          </a:solidFill>
        </p:spPr>
      </p:sp>
      <p:sp>
        <p:nvSpPr>
          <p:cNvPr id="26" name="Text 24"/>
          <p:cNvSpPr/>
          <p:nvPr/>
        </p:nvSpPr>
        <p:spPr>
          <a:xfrm>
            <a:off x="868680" y="493776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instructions, marks, and hints are in the Week 3 Lab PDF. Everything you need was on today's slides — scroll back, don't search the internet.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 3 Deliverable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7F5F2"/>
          </a:solidFill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end of this week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8463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Week3_YourName with all lab exercises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pipeline must report: valid count, bad count, average, pass/fail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running code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report: which 3 records were broken, and how you survived them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DF0F8"/>
          </a:solidFill>
        </p:spPr>
      </p:sp>
      <p:sp>
        <p:nvSpPr>
          <p:cNvPr id="8" name="Text 6"/>
          <p:cNvSpPr/>
          <p:nvPr/>
        </p:nvSpPr>
        <p:spPr>
          <a:xfrm>
            <a:off x="6537960" y="16459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— Week 4: Group Presentations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Technologies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37960" y="267004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Preprocessing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23697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0390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4343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today's broken scores are your best opening example!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5029200"/>
            <a:ext cx="11018520" cy="1005840"/>
          </a:xfrm>
          <a:prstGeom prst="roundRect">
            <a:avLst>
              <a:gd name="adj" fmla="val 8182"/>
            </a:avLst>
          </a:prstGeom>
          <a:solidFill>
            <a:srgbClr val="FCF0E3"/>
          </a:solidFill>
        </p:spPr>
      </p:sp>
      <p:sp>
        <p:nvSpPr>
          <p:cNvPr id="15" name="Text 13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tip: rewrite today's CSV pipeline from a blank cell tomorrow, without looking. If you can do that, you own Week 3.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Control Flow &amp; Functions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486400" cy="548640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3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built a pipeline that survives bad data.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difference between a student and an analyst.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Ishimwe  ·  Prince.ishimwe@auca.ac.rw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12968</Words>
  <Application>WPS Presentation</Application>
  <PresentationFormat>On-screen Show (16:9)</PresentationFormat>
  <Paragraphs>602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苹方-简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Ishimwe Prince</cp:lastModifiedBy>
  <cp:revision>2</cp:revision>
  <dcterms:created xsi:type="dcterms:W3CDTF">2026-08-20T08:24:02Z</dcterms:created>
  <dcterms:modified xsi:type="dcterms:W3CDTF">2026-08-20T08:24:02Z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6434012B4D1A4364A2B9866AD39DD9CB_43</vt:lpwstr>
  </property>
  <property fmtid="{D5CDD505-2E9C-101B-9397-08002B2CF9AE}" pid="3" name="KSOProductBuildVer">
    <vt:lpwstr>1033-12.1.26050.26050</vt:lpwstr>
  </property>
</Properties>
</file>