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starts with basic data ideas, then moves to Big Data, the Big Data ecosystem, and finally how data is collected.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is: understand data → understand Big Data → understand the tools around Big Data → understand how data enters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idea: data is the raw material used to get information and make decisions. A single number can be data; many related values together can form a dataset.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Data = facts → Information = meaningful facts → Knowledge = understanding → Decision = action. This is a simple way to remember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Quantitative answers 'how much/how many?' Qualitative answers 'what type/which category?' Primary data is collected directly; secondary data comes from existing 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table, a row often represents one record and a column represents one variable. Example: each row = one patient; columns = age, sex, diagnosis, etc.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Science combines several skills. A data scientist needs to understand the problem, work with data, use suitable methods, and explain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always a straight line. If the data is poor or the result is not good, you may go back and collect or clean data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is not only about size. The speed, variety, quality, and value of the data also matter.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Easy memory: Volume = amount, Velocity = speed, Variety = types, Veracity = trust, Value = usefulness. Some courses also mention extra Vs such as Variability.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to your earlier case study. Big Data can help, but technology alone is not enough. Health workers still need to interpret results and make safe decisions.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reason is scale and complexity. If the data becomes too large or too fast for normal tools, distributed systems can help.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important for exams: Big Data has benefits, but it also has risks. More data can still produce bad results if the data is wrong or used badly.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ecosystem like a team. Each tool has a role, and the tools work together.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Ingestion means bringing data into a system. Processing means doing work on the data, such as filtering, joining, or calculating results.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Hadoop and HDFS. Hadoop is the broader framework; HDFS is its distributed storage system. For a simple exam answer, HDFS = distributed storage for very large files.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 is mainly a processing engine. It is not the same thing as a database or a storage system.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Kafka like a delivery system for streams of data. It does not mean the data is automatically analyzed; it mainly helps move and organize the stream.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 is not 'better than SQL' in every case. It is useful for certain data structures and scaling needs. Cloud services provide many tools without requiring an organization to own all hardware.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is the act of gathering data. Acquisition can also include getting existing data from another system or source.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method based on the question. Sensors are useful for automatic measurements; surveys are useful for opinions and self-reported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does not mean 'better' automatically. Secondary data can be very useful, but you must check whether it is suitable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 Application Programming Interface. You can think of an API as a controlled way for one software system to request or send data to another.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does not always mean literally zero delay. It means the system is designed to handle data quickly enough for the need.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collection prevents problems later. If the data is collected badly, cleaning may not be able to fix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data = raw facts; information = organized meaningful data. 2) quantitative = numerical; qualitative = categories/descriptions. 3) using data, computing, statistics, and subject knowledge to solve problems. 4) Volume, Velocity, Variety, Veracity, Value. 5) technologies, systems, and people working together around Big Data. 6) distributed storage. 7) large-scale data processing. 8) moving/streaming data between systems. 9) data collected directly for the current purpose. 10) batch handles groups at intervals; real-time/streaming handles data as it arrives or very quickly.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memory line: Understand the data → collect it well → store it → process it → analyze it → use it responsibly.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2744"/>
        </a:solidFill>
        <a:effectLst/>
      </p:bgPr>
    </p:bg>
    <p:spTree>
      <p:nvGrpSpPr>
        <p:cNvPr id="1" name=""/>
        <p:cNvGrpSpPr/>
        <p:nvPr/>
      </p:nvGrpSpPr>
      <p:grpSpPr/>
      <p:sp>
        <p:nvSpPr>
          <p:cNvPr id="2" name="TextBox 1"/>
          <p:cNvSpPr txBox="1"/>
          <p:nvPr/>
        </p:nvSpPr>
        <p:spPr>
          <a:xfrm>
            <a:off x="731520" y="1097280"/>
            <a:ext cx="7498079" cy="2194560"/>
          </a:xfrm>
          <a:prstGeom prst="rect">
            <a:avLst/>
          </a:prstGeom>
          <a:noFill/>
        </p:spPr>
        <p:txBody>
          <a:bodyPr wrap="none">
            <a:spAutoFit/>
          </a:bodyPr>
          <a:lstStyle/>
          <a:p>
            <a:r>
              <a:rPr sz="2300" b="1">
                <a:solidFill>
                  <a:srgbClr val="AFD2FA"/>
                </a:solidFill>
              </a:rPr>
              <a:t>WEEK 2</a:t>
            </a:r>
          </a:p>
          <a:p>
            <a:r>
              <a:rPr sz="3900" b="1">
                <a:solidFill>
                  <a:srgbClr val="FFFFFF"/>
                </a:solidFill>
              </a:rPr>
              <a:t>Data, Data Science,
Big Data &amp; Data Collection</a:t>
            </a:r>
          </a:p>
        </p:txBody>
      </p:sp>
      <p:sp>
        <p:nvSpPr>
          <p:cNvPr id="3" name="TextBox 2"/>
          <p:cNvSpPr txBox="1"/>
          <p:nvPr/>
        </p:nvSpPr>
        <p:spPr>
          <a:xfrm>
            <a:off x="749808" y="3474720"/>
            <a:ext cx="7315200" cy="731520"/>
          </a:xfrm>
          <a:prstGeom prst="rect">
            <a:avLst/>
          </a:prstGeom>
          <a:noFill/>
        </p:spPr>
        <p:txBody>
          <a:bodyPr wrap="none">
            <a:spAutoFit/>
          </a:bodyPr>
          <a:lstStyle/>
          <a:p>
            <a:r>
              <a:rPr sz="2100">
                <a:solidFill>
                  <a:srgbClr val="D7E1F0"/>
                </a:solidFill>
              </a:rPr>
              <a:t>Simple study guide • examples • key terms • quiz-ready points</a:t>
            </a:r>
          </a:p>
        </p:txBody>
      </p:sp>
      <p:sp>
        <p:nvSpPr>
          <p:cNvPr id="4" name="Rounded Rectangle 3"/>
          <p:cNvSpPr/>
          <p:nvPr/>
        </p:nvSpPr>
        <p:spPr>
          <a:xfrm>
            <a:off x="8412480" y="914400"/>
            <a:ext cx="1645920" cy="1097280"/>
          </a:xfrm>
          <a:prstGeom prst="roundRect">
            <a:avLst/>
          </a:prstGeom>
          <a:solidFill>
            <a:srgbClr val="36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0" y="1920240"/>
            <a:ext cx="1645920" cy="1097280"/>
          </a:xfrm>
          <a:prstGeom prst="roundRect">
            <a:avLst/>
          </a:prstGeom>
          <a:solidFill>
            <a:srgbClr val="278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0" y="3383280"/>
            <a:ext cx="1645920" cy="1097280"/>
          </a:xfrm>
          <a:prstGeom prst="roundRect">
            <a:avLst/>
          </a:prstGeom>
          <a:solidFill>
            <a:srgbClr val="DC8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966960" y="4572000"/>
            <a:ext cx="1645920" cy="1097280"/>
          </a:xfrm>
          <a:prstGeom prst="roundRect">
            <a:avLst/>
          </a:prstGeom>
          <a:solidFill>
            <a:srgbClr val="449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6473952"/>
            <a:ext cx="548640" cy="182880"/>
          </a:xfrm>
          <a:prstGeom prst="rect">
            <a:avLst/>
          </a:prstGeom>
          <a:noFill/>
        </p:spPr>
        <p:txBody>
          <a:bodyPr wrap="none">
            <a:spAutoFit/>
          </a:bodyPr>
          <a:lstStyle/>
          <a:p>
            <a:pPr algn="r"/>
            <a:r>
              <a:rPr sz="1000">
                <a:solidFill>
                  <a:srgbClr val="5F6978"/>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What you should know</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A. Data &amp; Data Science</a:t>
            </a:r>
          </a:p>
        </p:txBody>
      </p:sp>
      <p:sp>
        <p:nvSpPr>
          <p:cNvPr id="7" name="TextBox 6"/>
          <p:cNvSpPr txBox="1"/>
          <p:nvPr/>
        </p:nvSpPr>
        <p:spPr>
          <a:xfrm>
            <a:off x="713232" y="1709928"/>
            <a:ext cx="5074920" cy="1554480"/>
          </a:xfrm>
          <a:prstGeom prst="rect">
            <a:avLst/>
          </a:prstGeom>
          <a:noFill/>
        </p:spPr>
        <p:txBody>
          <a:bodyPr wrap="none">
            <a:spAutoFit/>
          </a:bodyPr>
          <a:lstStyle/>
          <a:p>
            <a:pPr>
              <a:defRPr sz="2000">
                <a:solidFill>
                  <a:srgbClr val="232830"/>
                </a:solidFill>
              </a:defRPr>
            </a:pPr>
            <a:r>
              <a:t>What data is, types of data, and what data science does.</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B. Big Data Fundamentals</a:t>
            </a:r>
          </a:p>
        </p:txBody>
      </p:sp>
      <p:sp>
        <p:nvSpPr>
          <p:cNvPr id="10" name="TextBox 9"/>
          <p:cNvSpPr txBox="1"/>
          <p:nvPr/>
        </p:nvSpPr>
        <p:spPr>
          <a:xfrm>
            <a:off x="6382511" y="1709928"/>
            <a:ext cx="5074920" cy="1554480"/>
          </a:xfrm>
          <a:prstGeom prst="rect">
            <a:avLst/>
          </a:prstGeom>
          <a:noFill/>
        </p:spPr>
        <p:txBody>
          <a:bodyPr wrap="none">
            <a:spAutoFit/>
          </a:bodyPr>
          <a:lstStyle/>
          <a:p>
            <a:pPr>
              <a:defRPr sz="2000">
                <a:solidFill>
                  <a:srgbClr val="232830"/>
                </a:solidFill>
              </a:defRPr>
            </a:pPr>
            <a:r>
              <a:t>What Big Data means, the 5 Vs, and why it matters.</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C. Big Data Ecosystem</a:t>
            </a:r>
          </a:p>
        </p:txBody>
      </p:sp>
      <p:sp>
        <p:nvSpPr>
          <p:cNvPr id="13" name="TextBox 12"/>
          <p:cNvSpPr txBox="1"/>
          <p:nvPr/>
        </p:nvSpPr>
        <p:spPr>
          <a:xfrm>
            <a:off x="713232" y="4224528"/>
            <a:ext cx="5074920" cy="1554480"/>
          </a:xfrm>
          <a:prstGeom prst="rect">
            <a:avLst/>
          </a:prstGeom>
          <a:noFill/>
        </p:spPr>
        <p:txBody>
          <a:bodyPr wrap="none">
            <a:spAutoFit/>
          </a:bodyPr>
          <a:lstStyle/>
          <a:p>
            <a:pPr>
              <a:defRPr sz="2000">
                <a:solidFill>
                  <a:srgbClr val="232830"/>
                </a:solidFill>
              </a:defRPr>
            </a:pPr>
            <a:r>
              <a:t>Main technologies and roles that work together.</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D. Data Collection &amp; Acquisition</a:t>
            </a:r>
          </a:p>
        </p:txBody>
      </p:sp>
      <p:sp>
        <p:nvSpPr>
          <p:cNvPr id="16" name="TextBox 15"/>
          <p:cNvSpPr txBox="1"/>
          <p:nvPr/>
        </p:nvSpPr>
        <p:spPr>
          <a:xfrm>
            <a:off x="6382511" y="4224528"/>
            <a:ext cx="5074920" cy="1554480"/>
          </a:xfrm>
          <a:prstGeom prst="rect">
            <a:avLst/>
          </a:prstGeom>
          <a:noFill/>
        </p:spPr>
        <p:txBody>
          <a:bodyPr wrap="none">
            <a:spAutoFit/>
          </a:bodyPr>
          <a:lstStyle/>
          <a:p>
            <a:pPr>
              <a:defRPr sz="2000">
                <a:solidFill>
                  <a:srgbClr val="232830"/>
                </a:solidFill>
              </a:defRPr>
            </a:pPr>
            <a:r>
              <a:t>Where data comes from and how it is collected.</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82744"/>
        </a:solidFill>
        <a:effectLst/>
      </p:bgPr>
    </p:bg>
    <p:spTree>
      <p:nvGrpSpPr>
        <p:cNvPr id="1" name=""/>
        <p:cNvGrpSpPr/>
        <p:nvPr/>
      </p:nvGrpSpPr>
      <p:grpSpPr/>
      <p:sp>
        <p:nvSpPr>
          <p:cNvPr id="2" name="Rectangle 1"/>
          <p:cNvSpPr/>
          <p:nvPr/>
        </p:nvSpPr>
        <p:spPr>
          <a:xfrm>
            <a:off x="594360" y="1188720"/>
            <a:ext cx="146304" cy="3383280"/>
          </a:xfrm>
          <a:prstGeom prst="rect">
            <a:avLst/>
          </a:prstGeom>
          <a:solidFill>
            <a:srgbClr val="278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234440"/>
            <a:ext cx="10241280" cy="1371600"/>
          </a:xfrm>
          <a:prstGeom prst="rect">
            <a:avLst/>
          </a:prstGeom>
          <a:noFill/>
        </p:spPr>
        <p:txBody>
          <a:bodyPr wrap="none">
            <a:spAutoFit/>
          </a:bodyPr>
          <a:lstStyle/>
          <a:p>
            <a:r>
              <a:rPr sz="4000" b="1">
                <a:solidFill>
                  <a:srgbClr val="FFFFFF"/>
                </a:solidFill>
              </a:rPr>
              <a:t>Group A — Introduction to Data &amp; Data Science</a:t>
            </a:r>
          </a:p>
        </p:txBody>
      </p:sp>
      <p:sp>
        <p:nvSpPr>
          <p:cNvPr id="4" name="TextBox 3"/>
          <p:cNvSpPr txBox="1"/>
          <p:nvPr/>
        </p:nvSpPr>
        <p:spPr>
          <a:xfrm>
            <a:off x="987552" y="2971800"/>
            <a:ext cx="9875520" cy="914400"/>
          </a:xfrm>
          <a:prstGeom prst="rect">
            <a:avLst/>
          </a:prstGeom>
          <a:noFill/>
        </p:spPr>
        <p:txBody>
          <a:bodyPr wrap="none">
            <a:spAutoFit/>
          </a:bodyPr>
          <a:lstStyle/>
          <a:p>
            <a:r>
              <a:rPr sz="2300">
                <a:solidFill>
                  <a:srgbClr val="D7E1F0"/>
                </a:solidFill>
              </a:rPr>
              <a:t>Start with the basic ideas</a:t>
            </a:r>
          </a:p>
        </p:txBody>
      </p:sp>
      <p:sp>
        <p:nvSpPr>
          <p:cNvPr id="5" name="TextBox 4"/>
          <p:cNvSpPr txBox="1"/>
          <p:nvPr/>
        </p:nvSpPr>
        <p:spPr>
          <a:xfrm>
            <a:off x="10972800" y="6473952"/>
            <a:ext cx="548640" cy="182880"/>
          </a:xfrm>
          <a:prstGeom prst="rect">
            <a:avLst/>
          </a:prstGeom>
          <a:noFill/>
        </p:spPr>
        <p:txBody>
          <a:bodyPr wrap="none">
            <a:spAutoFit/>
          </a:bodyPr>
          <a:lstStyle/>
          <a:p>
            <a:pPr algn="r"/>
            <a:r>
              <a:rPr sz="1000">
                <a:solidFill>
                  <a:srgbClr val="5F6978"/>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 What is data?</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Data is information collected about people, things, events, or activities.</a:t>
            </a:r>
          </a:p>
          <a:p>
            <a:pPr>
              <a:spcAft>
                <a:spcPts val="900"/>
              </a:spcAft>
              <a:defRPr sz="2100">
                <a:solidFill>
                  <a:srgbClr val="232830"/>
                </a:solidFill>
              </a:defRPr>
            </a:pPr>
            <a:r>
              <a:t>• Data can be numbers, words, images, sounds, videos, or other forms.</a:t>
            </a:r>
          </a:p>
          <a:p>
            <a:pPr>
              <a:spcAft>
                <a:spcPts val="900"/>
              </a:spcAft>
              <a:defRPr sz="2100">
                <a:solidFill>
                  <a:srgbClr val="232830"/>
                </a:solidFill>
              </a:defRPr>
            </a:pPr>
            <a:r>
              <a:t>• Example: a hospital records a patient's age, temperature, blood pressure, and diagnosis.</a:t>
            </a:r>
          </a:p>
          <a:p>
            <a:pPr>
              <a:spcAft>
                <a:spcPts val="900"/>
              </a:spcAft>
              <a:defRPr sz="2100">
                <a:solidFill>
                  <a:srgbClr val="232830"/>
                </a:solidFill>
              </a:defRPr>
            </a:pPr>
            <a:r>
              <a:t>• Data becomes useful when we organize and analyze it.</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2. Data, information, and knowledge</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Data</a:t>
            </a:r>
          </a:p>
        </p:txBody>
      </p:sp>
      <p:sp>
        <p:nvSpPr>
          <p:cNvPr id="7" name="TextBox 6"/>
          <p:cNvSpPr txBox="1"/>
          <p:nvPr/>
        </p:nvSpPr>
        <p:spPr>
          <a:xfrm>
            <a:off x="713232" y="1709928"/>
            <a:ext cx="5074920" cy="1554480"/>
          </a:xfrm>
          <a:prstGeom prst="rect">
            <a:avLst/>
          </a:prstGeom>
          <a:noFill/>
        </p:spPr>
        <p:txBody>
          <a:bodyPr wrap="none">
            <a:spAutoFit/>
          </a:bodyPr>
          <a:lstStyle/>
          <a:p>
            <a:pPr>
              <a:defRPr sz="1700">
                <a:solidFill>
                  <a:srgbClr val="232830"/>
                </a:solidFill>
              </a:defRPr>
            </a:pPr>
            <a:r>
              <a:t>Raw facts. Example: 38.5°C, 120, 80.</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Information</a:t>
            </a:r>
          </a:p>
        </p:txBody>
      </p:sp>
      <p:sp>
        <p:nvSpPr>
          <p:cNvPr id="10" name="TextBox 9"/>
          <p:cNvSpPr txBox="1"/>
          <p:nvPr/>
        </p:nvSpPr>
        <p:spPr>
          <a:xfrm>
            <a:off x="6382511" y="1709928"/>
            <a:ext cx="5074920" cy="1554480"/>
          </a:xfrm>
          <a:prstGeom prst="rect">
            <a:avLst/>
          </a:prstGeom>
          <a:noFill/>
        </p:spPr>
        <p:txBody>
          <a:bodyPr wrap="none">
            <a:spAutoFit/>
          </a:bodyPr>
          <a:lstStyle/>
          <a:p>
            <a:pPr>
              <a:defRPr sz="1700">
                <a:solidFill>
                  <a:srgbClr val="232830"/>
                </a:solidFill>
              </a:defRPr>
            </a:pPr>
            <a:r>
              <a:t>Data that has been organized and given meaning. Example: the patient's temperature is high.</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Knowledge</a:t>
            </a:r>
          </a:p>
        </p:txBody>
      </p:sp>
      <p:sp>
        <p:nvSpPr>
          <p:cNvPr id="13" name="TextBox 12"/>
          <p:cNvSpPr txBox="1"/>
          <p:nvPr/>
        </p:nvSpPr>
        <p:spPr>
          <a:xfrm>
            <a:off x="713232" y="4224528"/>
            <a:ext cx="5074920" cy="1554480"/>
          </a:xfrm>
          <a:prstGeom prst="rect">
            <a:avLst/>
          </a:prstGeom>
          <a:noFill/>
        </p:spPr>
        <p:txBody>
          <a:bodyPr wrap="none">
            <a:spAutoFit/>
          </a:bodyPr>
          <a:lstStyle/>
          <a:p>
            <a:pPr>
              <a:defRPr sz="1700">
                <a:solidFill>
                  <a:srgbClr val="232830"/>
                </a:solidFill>
              </a:defRPr>
            </a:pPr>
            <a:r>
              <a:t>Understanding gained from information and experience. Example: a high temperature may need medical attention.</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Decision</a:t>
            </a:r>
          </a:p>
        </p:txBody>
      </p:sp>
      <p:sp>
        <p:nvSpPr>
          <p:cNvPr id="16" name="TextBox 15"/>
          <p:cNvSpPr txBox="1"/>
          <p:nvPr/>
        </p:nvSpPr>
        <p:spPr>
          <a:xfrm>
            <a:off x="6382511" y="4224528"/>
            <a:ext cx="5074920" cy="1554480"/>
          </a:xfrm>
          <a:prstGeom prst="rect">
            <a:avLst/>
          </a:prstGeom>
          <a:noFill/>
        </p:spPr>
        <p:txBody>
          <a:bodyPr wrap="none">
            <a:spAutoFit/>
          </a:bodyPr>
          <a:lstStyle/>
          <a:p>
            <a:pPr>
              <a:defRPr sz="1700">
                <a:solidFill>
                  <a:srgbClr val="232830"/>
                </a:solidFill>
              </a:defRPr>
            </a:pPr>
            <a:r>
              <a:t>An action based on what we know. Example: a doctor decides what to check next.</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3. Main types of data</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Quantitative</a:t>
            </a:r>
          </a:p>
        </p:txBody>
      </p:sp>
      <p:sp>
        <p:nvSpPr>
          <p:cNvPr id="7" name="TextBox 6"/>
          <p:cNvSpPr txBox="1"/>
          <p:nvPr/>
        </p:nvSpPr>
        <p:spPr>
          <a:xfrm>
            <a:off x="713232" y="1709928"/>
            <a:ext cx="5074920" cy="1554480"/>
          </a:xfrm>
          <a:prstGeom prst="rect">
            <a:avLst/>
          </a:prstGeom>
          <a:noFill/>
        </p:spPr>
        <p:txBody>
          <a:bodyPr wrap="none">
            <a:spAutoFit/>
          </a:bodyPr>
          <a:lstStyle/>
          <a:p>
            <a:pPr>
              <a:defRPr sz="1700">
                <a:solidFill>
                  <a:srgbClr val="232830"/>
                </a:solidFill>
              </a:defRPr>
            </a:pPr>
            <a:r>
              <a:t>Numbers that can be measured or counted. Example: age, weight, blood pressure.</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Qualitative</a:t>
            </a:r>
          </a:p>
        </p:txBody>
      </p:sp>
      <p:sp>
        <p:nvSpPr>
          <p:cNvPr id="10" name="TextBox 9"/>
          <p:cNvSpPr txBox="1"/>
          <p:nvPr/>
        </p:nvSpPr>
        <p:spPr>
          <a:xfrm>
            <a:off x="6382511" y="1709928"/>
            <a:ext cx="5074920" cy="1554480"/>
          </a:xfrm>
          <a:prstGeom prst="rect">
            <a:avLst/>
          </a:prstGeom>
          <a:noFill/>
        </p:spPr>
        <p:txBody>
          <a:bodyPr wrap="none">
            <a:spAutoFit/>
          </a:bodyPr>
          <a:lstStyle/>
          <a:p>
            <a:pPr>
              <a:defRPr sz="1700">
                <a:solidFill>
                  <a:srgbClr val="232830"/>
                </a:solidFill>
              </a:defRPr>
            </a:pPr>
            <a:r>
              <a:t>Describes qualities or categories. Example: blood group, symptoms, department.</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Primary data</a:t>
            </a:r>
          </a:p>
        </p:txBody>
      </p:sp>
      <p:sp>
        <p:nvSpPr>
          <p:cNvPr id="13" name="TextBox 12"/>
          <p:cNvSpPr txBox="1"/>
          <p:nvPr/>
        </p:nvSpPr>
        <p:spPr>
          <a:xfrm>
            <a:off x="713232" y="4224528"/>
            <a:ext cx="5074920" cy="1554480"/>
          </a:xfrm>
          <a:prstGeom prst="rect">
            <a:avLst/>
          </a:prstGeom>
          <a:noFill/>
        </p:spPr>
        <p:txBody>
          <a:bodyPr wrap="none">
            <a:spAutoFit/>
          </a:bodyPr>
          <a:lstStyle/>
          <a:p>
            <a:pPr>
              <a:defRPr sz="1700">
                <a:solidFill>
                  <a:srgbClr val="232830"/>
                </a:solidFill>
              </a:defRPr>
            </a:pPr>
            <a:r>
              <a:t>Collected directly for a specific purpose.</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Secondary data</a:t>
            </a:r>
          </a:p>
        </p:txBody>
      </p:sp>
      <p:sp>
        <p:nvSpPr>
          <p:cNvPr id="16" name="TextBox 15"/>
          <p:cNvSpPr txBox="1"/>
          <p:nvPr/>
        </p:nvSpPr>
        <p:spPr>
          <a:xfrm>
            <a:off x="6382511" y="4224528"/>
            <a:ext cx="5074920" cy="1554480"/>
          </a:xfrm>
          <a:prstGeom prst="rect">
            <a:avLst/>
          </a:prstGeom>
          <a:noFill/>
        </p:spPr>
        <p:txBody>
          <a:bodyPr wrap="none">
            <a:spAutoFit/>
          </a:bodyPr>
          <a:lstStyle/>
          <a:p>
            <a:pPr>
              <a:defRPr sz="1700">
                <a:solidFill>
                  <a:srgbClr val="232830"/>
                </a:solidFill>
              </a:defRPr>
            </a:pPr>
            <a:r>
              <a:t>Already collected by someone else or for another purpose.</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4. What is a dataset?</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A dataset is a collection of related data.</a:t>
            </a:r>
          </a:p>
          <a:p>
            <a:pPr>
              <a:spcAft>
                <a:spcPts val="900"/>
              </a:spcAft>
              <a:defRPr sz="2100">
                <a:solidFill>
                  <a:srgbClr val="232830"/>
                </a:solidFill>
              </a:defRPr>
            </a:pPr>
            <a:r>
              <a:t>• A dataset can be a table, file, database, collection of images, or other data collection.</a:t>
            </a:r>
          </a:p>
          <a:p>
            <a:pPr>
              <a:spcAft>
                <a:spcPts val="900"/>
              </a:spcAft>
              <a:defRPr sz="2100">
                <a:solidFill>
                  <a:srgbClr val="232830"/>
                </a:solidFill>
              </a:defRPr>
            </a:pPr>
            <a:r>
              <a:t>• Example: a table containing 10,000 patient records is a dataset.</a:t>
            </a:r>
          </a:p>
          <a:p>
            <a:pPr>
              <a:spcAft>
                <a:spcPts val="900"/>
              </a:spcAft>
              <a:defRPr sz="2100">
                <a:solidFill>
                  <a:srgbClr val="232830"/>
                </a:solidFill>
              </a:defRPr>
            </a:pPr>
            <a:r>
              <a:t>• A dataset usually has variables or fields that describe each record.</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5. What is Data Science?</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Data Science is the use of data, statistics, computing, and subject knowledge to solve problems and find useful answers.</a:t>
            </a:r>
          </a:p>
          <a:p>
            <a:pPr>
              <a:spcAft>
                <a:spcPts val="900"/>
              </a:spcAft>
              <a:defRPr sz="2100">
                <a:solidFill>
                  <a:srgbClr val="232830"/>
                </a:solidFill>
              </a:defRPr>
            </a:pPr>
            <a:r>
              <a:t>• It can involve collecting, cleaning, analyzing, modeling, and communicating data.</a:t>
            </a:r>
          </a:p>
          <a:p>
            <a:pPr>
              <a:spcAft>
                <a:spcPts val="900"/>
              </a:spcAft>
              <a:defRPr sz="2100">
                <a:solidFill>
                  <a:srgbClr val="232830"/>
                </a:solidFill>
              </a:defRPr>
            </a:pPr>
            <a:r>
              <a:t>• Example: using patient data to predict which patients may need extra care.</a:t>
            </a:r>
          </a:p>
          <a:p>
            <a:pPr>
              <a:spcAft>
                <a:spcPts val="900"/>
              </a:spcAft>
              <a:defRPr sz="2100">
                <a:solidFill>
                  <a:srgbClr val="232830"/>
                </a:solidFill>
              </a:defRPr>
            </a:pPr>
            <a:r>
              <a:t>• Data Science is not only programming; it also needs problem understanding and good decisions.</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6. Data Science workflow</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1. Define the problem.</a:t>
            </a:r>
          </a:p>
          <a:p>
            <a:pPr>
              <a:spcAft>
                <a:spcPts val="900"/>
              </a:spcAft>
              <a:defRPr sz="2100">
                <a:solidFill>
                  <a:srgbClr val="232830"/>
                </a:solidFill>
              </a:defRPr>
            </a:pPr>
            <a:r>
              <a:t>• 2. Collect data.</a:t>
            </a:r>
          </a:p>
          <a:p>
            <a:pPr>
              <a:spcAft>
                <a:spcPts val="900"/>
              </a:spcAft>
              <a:defRPr sz="2100">
                <a:solidFill>
                  <a:srgbClr val="232830"/>
                </a:solidFill>
              </a:defRPr>
            </a:pPr>
            <a:r>
              <a:t>• 3. Clean and prepare data.</a:t>
            </a:r>
          </a:p>
          <a:p>
            <a:pPr>
              <a:spcAft>
                <a:spcPts val="900"/>
              </a:spcAft>
              <a:defRPr sz="2100">
                <a:solidFill>
                  <a:srgbClr val="232830"/>
                </a:solidFill>
              </a:defRPr>
            </a:pPr>
            <a:r>
              <a:t>• 4. Explore and analyze data.</a:t>
            </a:r>
          </a:p>
          <a:p>
            <a:pPr>
              <a:spcAft>
                <a:spcPts val="900"/>
              </a:spcAft>
              <a:defRPr sz="2100">
                <a:solidFill>
                  <a:srgbClr val="232830"/>
                </a:solidFill>
              </a:defRPr>
            </a:pPr>
            <a:r>
              <a:t>• 5. Build a model when needed.</a:t>
            </a:r>
          </a:p>
          <a:p>
            <a:pPr>
              <a:spcAft>
                <a:spcPts val="900"/>
              </a:spcAft>
              <a:defRPr sz="2100">
                <a:solidFill>
                  <a:srgbClr val="232830"/>
                </a:solidFill>
              </a:defRPr>
            </a:pPr>
            <a:r>
              <a:t>• 6. Evaluate the result.</a:t>
            </a:r>
          </a:p>
          <a:p>
            <a:pPr>
              <a:spcAft>
                <a:spcPts val="900"/>
              </a:spcAft>
              <a:defRPr sz="2100">
                <a:solidFill>
                  <a:srgbClr val="232830"/>
                </a:solidFill>
              </a:defRPr>
            </a:pPr>
            <a:r>
              <a:t>• 7. Communicate the findings and support a decision.</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82744"/>
        </a:solidFill>
        <a:effectLst/>
      </p:bgPr>
    </p:bg>
    <p:spTree>
      <p:nvGrpSpPr>
        <p:cNvPr id="1" name=""/>
        <p:cNvGrpSpPr/>
        <p:nvPr/>
      </p:nvGrpSpPr>
      <p:grpSpPr/>
      <p:sp>
        <p:nvSpPr>
          <p:cNvPr id="2" name="Rectangle 1"/>
          <p:cNvSpPr/>
          <p:nvPr/>
        </p:nvSpPr>
        <p:spPr>
          <a:xfrm>
            <a:off x="594360" y="1188720"/>
            <a:ext cx="146304" cy="3383280"/>
          </a:xfrm>
          <a:prstGeom prst="rect">
            <a:avLst/>
          </a:prstGeom>
          <a:solidFill>
            <a:srgbClr val="278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234440"/>
            <a:ext cx="10241280" cy="1371600"/>
          </a:xfrm>
          <a:prstGeom prst="rect">
            <a:avLst/>
          </a:prstGeom>
          <a:noFill/>
        </p:spPr>
        <p:txBody>
          <a:bodyPr wrap="none">
            <a:spAutoFit/>
          </a:bodyPr>
          <a:lstStyle/>
          <a:p>
            <a:r>
              <a:rPr sz="4000" b="1">
                <a:solidFill>
                  <a:srgbClr val="FFFFFF"/>
                </a:solidFill>
              </a:rPr>
              <a:t>Group B — Big Data Fundamentals</a:t>
            </a:r>
          </a:p>
        </p:txBody>
      </p:sp>
      <p:sp>
        <p:nvSpPr>
          <p:cNvPr id="4" name="TextBox 3"/>
          <p:cNvSpPr txBox="1"/>
          <p:nvPr/>
        </p:nvSpPr>
        <p:spPr>
          <a:xfrm>
            <a:off x="987552" y="2971800"/>
            <a:ext cx="9875520" cy="914400"/>
          </a:xfrm>
          <a:prstGeom prst="rect">
            <a:avLst/>
          </a:prstGeom>
          <a:noFill/>
        </p:spPr>
        <p:txBody>
          <a:bodyPr wrap="none">
            <a:spAutoFit/>
          </a:bodyPr>
          <a:lstStyle/>
          <a:p>
            <a:r>
              <a:rPr sz="2300">
                <a:solidFill>
                  <a:srgbClr val="D7E1F0"/>
                </a:solidFill>
              </a:rPr>
              <a:t>Understand what makes data 'Big Data'</a:t>
            </a:r>
          </a:p>
        </p:txBody>
      </p:sp>
      <p:sp>
        <p:nvSpPr>
          <p:cNvPr id="5" name="TextBox 4"/>
          <p:cNvSpPr txBox="1"/>
          <p:nvPr/>
        </p:nvSpPr>
        <p:spPr>
          <a:xfrm>
            <a:off x="10972800" y="6473952"/>
            <a:ext cx="548640" cy="182880"/>
          </a:xfrm>
          <a:prstGeom prst="rect">
            <a:avLst/>
          </a:prstGeom>
          <a:noFill/>
        </p:spPr>
        <p:txBody>
          <a:bodyPr wrap="none">
            <a:spAutoFit/>
          </a:bodyPr>
          <a:lstStyle/>
          <a:p>
            <a:pPr algn="r"/>
            <a:r>
              <a:rPr sz="1000">
                <a:solidFill>
                  <a:srgbClr val="5F6978"/>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7. What is Big Data?</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Big Data means very large, fast, or complex amounts of data that may need special tools to store and process.</a:t>
            </a:r>
          </a:p>
          <a:p>
            <a:pPr>
              <a:spcAft>
                <a:spcPts val="900"/>
              </a:spcAft>
              <a:defRPr sz="2100">
                <a:solidFill>
                  <a:srgbClr val="232830"/>
                </a:solidFill>
              </a:defRPr>
            </a:pPr>
            <a:r>
              <a:t>• It can come from many sources at the same time.</a:t>
            </a:r>
          </a:p>
          <a:p>
            <a:pPr>
              <a:spcAft>
                <a:spcPts val="900"/>
              </a:spcAft>
              <a:defRPr sz="2100">
                <a:solidFill>
                  <a:srgbClr val="232830"/>
                </a:solidFill>
              </a:defRPr>
            </a:pPr>
            <a:r>
              <a:t>• Examples: hospital records, social media, sensors, online transactions, and machine data.</a:t>
            </a:r>
          </a:p>
          <a:p>
            <a:pPr>
              <a:spcAft>
                <a:spcPts val="900"/>
              </a:spcAft>
              <a:defRPr sz="2100">
                <a:solidFill>
                  <a:srgbClr val="232830"/>
                </a:solidFill>
              </a:defRPr>
            </a:pPr>
            <a:r>
              <a:t>• The goal is to turn large amounts of data into useful information.</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8. The 5 Vs of Big Data</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Volume</a:t>
            </a:r>
          </a:p>
        </p:txBody>
      </p:sp>
      <p:sp>
        <p:nvSpPr>
          <p:cNvPr id="7" name="TextBox 6"/>
          <p:cNvSpPr txBox="1"/>
          <p:nvPr/>
        </p:nvSpPr>
        <p:spPr>
          <a:xfrm>
            <a:off x="713232" y="1709928"/>
            <a:ext cx="5074920" cy="1554480"/>
          </a:xfrm>
          <a:prstGeom prst="rect">
            <a:avLst/>
          </a:prstGeom>
          <a:noFill/>
        </p:spPr>
        <p:txBody>
          <a:bodyPr wrap="none">
            <a:spAutoFit/>
          </a:bodyPr>
          <a:lstStyle/>
          <a:p>
            <a:pPr>
              <a:defRPr sz="1600">
                <a:solidFill>
                  <a:srgbClr val="232830"/>
                </a:solidFill>
              </a:defRPr>
            </a:pPr>
            <a:r>
              <a:t>How much data there is.</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Velocity</a:t>
            </a:r>
          </a:p>
        </p:txBody>
      </p:sp>
      <p:sp>
        <p:nvSpPr>
          <p:cNvPr id="10" name="TextBox 9"/>
          <p:cNvSpPr txBox="1"/>
          <p:nvPr/>
        </p:nvSpPr>
        <p:spPr>
          <a:xfrm>
            <a:off x="6382511" y="1709928"/>
            <a:ext cx="5074920" cy="1554480"/>
          </a:xfrm>
          <a:prstGeom prst="rect">
            <a:avLst/>
          </a:prstGeom>
          <a:noFill/>
        </p:spPr>
        <p:txBody>
          <a:bodyPr wrap="none">
            <a:spAutoFit/>
          </a:bodyPr>
          <a:lstStyle/>
          <a:p>
            <a:pPr>
              <a:defRPr sz="1600">
                <a:solidFill>
                  <a:srgbClr val="232830"/>
                </a:solidFill>
              </a:defRPr>
            </a:pPr>
            <a:r>
              <a:t>How fast data is created, moved, or processed.</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Variety</a:t>
            </a:r>
          </a:p>
        </p:txBody>
      </p:sp>
      <p:sp>
        <p:nvSpPr>
          <p:cNvPr id="13" name="TextBox 12"/>
          <p:cNvSpPr txBox="1"/>
          <p:nvPr/>
        </p:nvSpPr>
        <p:spPr>
          <a:xfrm>
            <a:off x="713232" y="4224528"/>
            <a:ext cx="5074920" cy="1554480"/>
          </a:xfrm>
          <a:prstGeom prst="rect">
            <a:avLst/>
          </a:prstGeom>
          <a:noFill/>
        </p:spPr>
        <p:txBody>
          <a:bodyPr wrap="none">
            <a:spAutoFit/>
          </a:bodyPr>
          <a:lstStyle/>
          <a:p>
            <a:pPr>
              <a:defRPr sz="1600">
                <a:solidFill>
                  <a:srgbClr val="232830"/>
                </a:solidFill>
              </a:defRPr>
            </a:pPr>
            <a:r>
              <a:t>Different types and sources of data.</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Veracity</a:t>
            </a:r>
          </a:p>
        </p:txBody>
      </p:sp>
      <p:sp>
        <p:nvSpPr>
          <p:cNvPr id="16" name="TextBox 15"/>
          <p:cNvSpPr txBox="1"/>
          <p:nvPr/>
        </p:nvSpPr>
        <p:spPr>
          <a:xfrm>
            <a:off x="6382511" y="4224528"/>
            <a:ext cx="5074920" cy="1554480"/>
          </a:xfrm>
          <a:prstGeom prst="rect">
            <a:avLst/>
          </a:prstGeom>
          <a:noFill/>
        </p:spPr>
        <p:txBody>
          <a:bodyPr wrap="none">
            <a:spAutoFit/>
          </a:bodyPr>
          <a:lstStyle/>
          <a:p>
            <a:pPr>
              <a:defRPr sz="1600">
                <a:solidFill>
                  <a:srgbClr val="232830"/>
                </a:solidFill>
              </a:defRPr>
            </a:pPr>
            <a:r>
              <a:t>How trustworthy or accurate the data is.</a:t>
            </a:r>
          </a:p>
        </p:txBody>
      </p:sp>
      <p:sp>
        <p:nvSpPr>
          <p:cNvPr id="17" name="Rounded Rectangle 16"/>
          <p:cNvSpPr/>
          <p:nvPr/>
        </p:nvSpPr>
        <p:spPr>
          <a:xfrm>
            <a:off x="548640" y="6172200"/>
            <a:ext cx="5394959" cy="2240280"/>
          </a:xfrm>
          <a:prstGeom prst="roundRect">
            <a:avLst/>
          </a:prstGeom>
          <a:solidFill>
            <a:srgbClr val="F1F6FC"/>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6281928"/>
            <a:ext cx="5074920" cy="365760"/>
          </a:xfrm>
          <a:prstGeom prst="rect">
            <a:avLst/>
          </a:prstGeom>
          <a:noFill/>
        </p:spPr>
        <p:txBody>
          <a:bodyPr wrap="none">
            <a:spAutoFit/>
          </a:bodyPr>
          <a:lstStyle/>
          <a:p>
            <a:r>
              <a:rPr sz="2000" b="1">
                <a:solidFill>
                  <a:srgbClr val="BE4646"/>
                </a:solidFill>
              </a:rPr>
              <a:t>Value</a:t>
            </a:r>
          </a:p>
        </p:txBody>
      </p:sp>
      <p:sp>
        <p:nvSpPr>
          <p:cNvPr id="19" name="TextBox 18"/>
          <p:cNvSpPr txBox="1"/>
          <p:nvPr/>
        </p:nvSpPr>
        <p:spPr>
          <a:xfrm>
            <a:off x="713232" y="6739128"/>
            <a:ext cx="5074920" cy="1554480"/>
          </a:xfrm>
          <a:prstGeom prst="rect">
            <a:avLst/>
          </a:prstGeom>
          <a:noFill/>
        </p:spPr>
        <p:txBody>
          <a:bodyPr wrap="none">
            <a:spAutoFit/>
          </a:bodyPr>
          <a:lstStyle/>
          <a:p>
            <a:pPr>
              <a:defRPr sz="1600">
                <a:solidFill>
                  <a:srgbClr val="232830"/>
                </a:solidFill>
              </a:defRPr>
            </a:pPr>
            <a:r>
              <a:t>How useful the data is for a purpose.</a:t>
            </a:r>
          </a:p>
        </p:txBody>
      </p:sp>
      <p:sp>
        <p:nvSpPr>
          <p:cNvPr id="20" name="TextBox 19"/>
          <p:cNvSpPr txBox="1"/>
          <p:nvPr/>
        </p:nvSpPr>
        <p:spPr>
          <a:xfrm>
            <a:off x="10972800" y="6473952"/>
            <a:ext cx="548640" cy="182880"/>
          </a:xfrm>
          <a:prstGeom prst="rect">
            <a:avLst/>
          </a:prstGeom>
          <a:noFill/>
        </p:spPr>
        <p:txBody>
          <a:bodyPr wrap="none">
            <a:spAutoFit/>
          </a:bodyPr>
          <a:lstStyle/>
          <a:p>
            <a:pPr algn="r"/>
            <a:r>
              <a:rPr sz="1000">
                <a:solidFill>
                  <a:srgbClr val="5F6978"/>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9. Big Data example in healthcare</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A large hospital may collect millions of records over time.</a:t>
            </a:r>
          </a:p>
          <a:p>
            <a:pPr>
              <a:spcAft>
                <a:spcPts val="900"/>
              </a:spcAft>
              <a:defRPr sz="2100">
                <a:solidFill>
                  <a:srgbClr val="232830"/>
                </a:solidFill>
              </a:defRPr>
            </a:pPr>
            <a:r>
              <a:t>• Sources can include Electronic Health Records (EHRs), laboratory systems, medical images, pharmacy systems, wearable devices, and public health data.</a:t>
            </a:r>
          </a:p>
          <a:p>
            <a:pPr>
              <a:spcAft>
                <a:spcPts val="900"/>
              </a:spcAft>
              <a:defRPr sz="2100">
                <a:solidFill>
                  <a:srgbClr val="232830"/>
                </a:solidFill>
              </a:defRPr>
            </a:pPr>
            <a:r>
              <a:t>• The data can help find risks, plan resources, and understand disease patterns.</a:t>
            </a:r>
          </a:p>
          <a:p>
            <a:pPr>
              <a:spcAft>
                <a:spcPts val="900"/>
              </a:spcAft>
              <a:defRPr sz="2100">
                <a:solidFill>
                  <a:srgbClr val="232830"/>
                </a:solidFill>
              </a:defRPr>
            </a:pPr>
            <a:r>
              <a:t>• But privacy, security, data quality, and good interpretation are necessary.</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10. Why do we need Big Data tools?</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One computer or one simple file may not handle very large datasets well.</a:t>
            </a:r>
          </a:p>
          <a:p>
            <a:pPr>
              <a:spcAft>
                <a:spcPts val="900"/>
              </a:spcAft>
              <a:defRPr sz="2100">
                <a:solidFill>
                  <a:srgbClr val="232830"/>
                </a:solidFill>
              </a:defRPr>
            </a:pPr>
            <a:r>
              <a:t>• Data may arrive from many systems at different speeds and formats.</a:t>
            </a:r>
          </a:p>
          <a:p>
            <a:pPr>
              <a:spcAft>
                <a:spcPts val="900"/>
              </a:spcAft>
              <a:defRPr sz="2100">
                <a:solidFill>
                  <a:srgbClr val="232830"/>
                </a:solidFill>
              </a:defRPr>
            </a:pPr>
            <a:r>
              <a:t>• Organizations may need to store, process, search, and analyze data across many computers.</a:t>
            </a:r>
          </a:p>
          <a:p>
            <a:pPr>
              <a:spcAft>
                <a:spcPts val="900"/>
              </a:spcAft>
              <a:defRPr sz="2100">
                <a:solidFill>
                  <a:srgbClr val="232830"/>
                </a:solidFill>
              </a:defRPr>
            </a:pPr>
            <a:r>
              <a:t>• Big Data tools help make these tasks possible.</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11. Big Data benefits and risks</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44915A"/>
                </a:solidFill>
              </a:rPr>
              <a:t>Benefits</a:t>
            </a:r>
          </a:p>
        </p:txBody>
      </p:sp>
      <p:sp>
        <p:nvSpPr>
          <p:cNvPr id="7" name="TextBox 6"/>
          <p:cNvSpPr txBox="1"/>
          <p:nvPr/>
        </p:nvSpPr>
        <p:spPr>
          <a:xfrm>
            <a:off x="713232" y="1709928"/>
            <a:ext cx="5074920" cy="1554480"/>
          </a:xfrm>
          <a:prstGeom prst="rect">
            <a:avLst/>
          </a:prstGeom>
          <a:noFill/>
        </p:spPr>
        <p:txBody>
          <a:bodyPr wrap="none">
            <a:spAutoFit/>
          </a:bodyPr>
          <a:lstStyle/>
          <a:p>
            <a:pPr>
              <a:defRPr sz="1700">
                <a:solidFill>
                  <a:srgbClr val="232830"/>
                </a:solidFill>
              </a:defRPr>
            </a:pPr>
            <a:r>
              <a:t>Better decisions, early risk detection, improved services, research, planning, and prediction.</a:t>
            </a:r>
          </a:p>
        </p:txBody>
      </p:sp>
      <p:sp>
        <p:nvSpPr>
          <p:cNvPr id="8" name="Rounded Rectangle 7"/>
          <p:cNvSpPr/>
          <p:nvPr/>
        </p:nvSpPr>
        <p:spPr>
          <a:xfrm>
            <a:off x="6217919" y="1143000"/>
            <a:ext cx="5394959" cy="2240280"/>
          </a:xfrm>
          <a:prstGeom prst="roundRect">
            <a:avLst/>
          </a:prstGeom>
          <a:solidFill>
            <a:srgbClr val="F1F6FC"/>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BE4646"/>
                </a:solidFill>
              </a:rPr>
              <a:t>Risks</a:t>
            </a:r>
          </a:p>
        </p:txBody>
      </p:sp>
      <p:sp>
        <p:nvSpPr>
          <p:cNvPr id="10" name="TextBox 9"/>
          <p:cNvSpPr txBox="1"/>
          <p:nvPr/>
        </p:nvSpPr>
        <p:spPr>
          <a:xfrm>
            <a:off x="6382511" y="1709928"/>
            <a:ext cx="5074920" cy="1554480"/>
          </a:xfrm>
          <a:prstGeom prst="rect">
            <a:avLst/>
          </a:prstGeom>
          <a:noFill/>
        </p:spPr>
        <p:txBody>
          <a:bodyPr wrap="none">
            <a:spAutoFit/>
          </a:bodyPr>
          <a:lstStyle/>
          <a:p>
            <a:pPr>
              <a:defRPr sz="1700">
                <a:solidFill>
                  <a:srgbClr val="232830"/>
                </a:solidFill>
              </a:defRPr>
            </a:pPr>
            <a:r>
              <a:t>Privacy problems, security attacks, bad data, bias, high cost, and wrong interpretation.</a:t>
            </a:r>
          </a:p>
        </p:txBody>
      </p:sp>
      <p:sp>
        <p:nvSpPr>
          <p:cNvPr id="11" name="Rounded Rectangle 10"/>
          <p:cNvSpPr/>
          <p:nvPr/>
        </p:nvSpPr>
        <p:spPr>
          <a:xfrm>
            <a:off x="548640" y="36576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3668B4"/>
                </a:solidFill>
              </a:rPr>
              <a:t>Key lesson</a:t>
            </a:r>
          </a:p>
        </p:txBody>
      </p:sp>
      <p:sp>
        <p:nvSpPr>
          <p:cNvPr id="13" name="TextBox 12"/>
          <p:cNvSpPr txBox="1"/>
          <p:nvPr/>
        </p:nvSpPr>
        <p:spPr>
          <a:xfrm>
            <a:off x="713232" y="4224528"/>
            <a:ext cx="5074920" cy="1554480"/>
          </a:xfrm>
          <a:prstGeom prst="rect">
            <a:avLst/>
          </a:prstGeom>
          <a:noFill/>
        </p:spPr>
        <p:txBody>
          <a:bodyPr wrap="none">
            <a:spAutoFit/>
          </a:bodyPr>
          <a:lstStyle/>
          <a:p>
            <a:pPr>
              <a:defRPr sz="1700">
                <a:solidFill>
                  <a:srgbClr val="232830"/>
                </a:solidFill>
              </a:defRPr>
            </a:pPr>
            <a:r>
              <a:t>More data does not automatically mean better decisions.</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Need</a:t>
            </a:r>
          </a:p>
        </p:txBody>
      </p:sp>
      <p:sp>
        <p:nvSpPr>
          <p:cNvPr id="16" name="TextBox 15"/>
          <p:cNvSpPr txBox="1"/>
          <p:nvPr/>
        </p:nvSpPr>
        <p:spPr>
          <a:xfrm>
            <a:off x="6382511" y="4224528"/>
            <a:ext cx="5074920" cy="1554480"/>
          </a:xfrm>
          <a:prstGeom prst="rect">
            <a:avLst/>
          </a:prstGeom>
          <a:noFill/>
        </p:spPr>
        <p:txBody>
          <a:bodyPr wrap="none">
            <a:spAutoFit/>
          </a:bodyPr>
          <a:lstStyle/>
          <a:p>
            <a:pPr>
              <a:defRPr sz="1700">
                <a:solidFill>
                  <a:srgbClr val="232830"/>
                </a:solidFill>
              </a:defRPr>
            </a:pPr>
            <a:r>
              <a:t>Good data + suitable technology + skilled people + responsible use.</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82744"/>
        </a:solidFill>
        <a:effectLst/>
      </p:bgPr>
    </p:bg>
    <p:spTree>
      <p:nvGrpSpPr>
        <p:cNvPr id="1" name=""/>
        <p:cNvGrpSpPr/>
        <p:nvPr/>
      </p:nvGrpSpPr>
      <p:grpSpPr/>
      <p:sp>
        <p:nvSpPr>
          <p:cNvPr id="2" name="Rectangle 1"/>
          <p:cNvSpPr/>
          <p:nvPr/>
        </p:nvSpPr>
        <p:spPr>
          <a:xfrm>
            <a:off x="594360" y="1188720"/>
            <a:ext cx="146304" cy="3383280"/>
          </a:xfrm>
          <a:prstGeom prst="rect">
            <a:avLst/>
          </a:prstGeom>
          <a:solidFill>
            <a:srgbClr val="278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234440"/>
            <a:ext cx="10241280" cy="1371600"/>
          </a:xfrm>
          <a:prstGeom prst="rect">
            <a:avLst/>
          </a:prstGeom>
          <a:noFill/>
        </p:spPr>
        <p:txBody>
          <a:bodyPr wrap="none">
            <a:spAutoFit/>
          </a:bodyPr>
          <a:lstStyle/>
          <a:p>
            <a:r>
              <a:rPr sz="4000" b="1">
                <a:solidFill>
                  <a:srgbClr val="FFFFFF"/>
                </a:solidFill>
              </a:rPr>
              <a:t>Group C — Big Data Ecosystem</a:t>
            </a:r>
          </a:p>
        </p:txBody>
      </p:sp>
      <p:sp>
        <p:nvSpPr>
          <p:cNvPr id="4" name="TextBox 3"/>
          <p:cNvSpPr txBox="1"/>
          <p:nvPr/>
        </p:nvSpPr>
        <p:spPr>
          <a:xfrm>
            <a:off x="987552" y="2971800"/>
            <a:ext cx="9875520" cy="914400"/>
          </a:xfrm>
          <a:prstGeom prst="rect">
            <a:avLst/>
          </a:prstGeom>
          <a:noFill/>
        </p:spPr>
        <p:txBody>
          <a:bodyPr wrap="none">
            <a:spAutoFit/>
          </a:bodyPr>
          <a:lstStyle/>
          <a:p>
            <a:r>
              <a:rPr sz="2300">
                <a:solidFill>
                  <a:srgbClr val="D7E1F0"/>
                </a:solidFill>
              </a:rPr>
              <a:t>The technologies and people that work together</a:t>
            </a:r>
          </a:p>
        </p:txBody>
      </p:sp>
      <p:sp>
        <p:nvSpPr>
          <p:cNvPr id="5" name="TextBox 4"/>
          <p:cNvSpPr txBox="1"/>
          <p:nvPr/>
        </p:nvSpPr>
        <p:spPr>
          <a:xfrm>
            <a:off x="10972800" y="6473952"/>
            <a:ext cx="548640" cy="182880"/>
          </a:xfrm>
          <a:prstGeom prst="rect">
            <a:avLst/>
          </a:prstGeom>
          <a:noFill/>
        </p:spPr>
        <p:txBody>
          <a:bodyPr wrap="none">
            <a:spAutoFit/>
          </a:bodyPr>
          <a:lstStyle/>
          <a:p>
            <a:pPr algn="r"/>
            <a:r>
              <a:rPr sz="1000">
                <a:solidFill>
                  <a:srgbClr val="5F6978"/>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12. What is a Big Data ecosystem?</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A Big Data ecosystem is a group of technologies, systems, and people that work together to handle Big Data.</a:t>
            </a:r>
          </a:p>
          <a:p>
            <a:pPr>
              <a:spcAft>
                <a:spcPts val="900"/>
              </a:spcAft>
              <a:defRPr sz="2100">
                <a:solidFill>
                  <a:srgbClr val="232830"/>
                </a:solidFill>
              </a:defRPr>
            </a:pPr>
            <a:r>
              <a:t>• Different tools may collect, store, process, analyze, and visualize data.</a:t>
            </a:r>
          </a:p>
          <a:p>
            <a:pPr>
              <a:spcAft>
                <a:spcPts val="900"/>
              </a:spcAft>
              <a:defRPr sz="2100">
                <a:solidFill>
                  <a:srgbClr val="232830"/>
                </a:solidFill>
              </a:defRPr>
            </a:pPr>
            <a:r>
              <a:t>• No single tool normally does everything.</a:t>
            </a:r>
          </a:p>
          <a:p>
            <a:pPr>
              <a:spcAft>
                <a:spcPts val="900"/>
              </a:spcAft>
              <a:defRPr sz="2100">
                <a:solidFill>
                  <a:srgbClr val="232830"/>
                </a:solidFill>
              </a:defRPr>
            </a:pPr>
            <a:r>
              <a:t>• Example: sensors collect data → Kafka moves it → storage keeps it → Spark processes it → a dashboard shows the results.</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13. Main parts of the Big Data ecosystem</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Data sources</a:t>
            </a:r>
          </a:p>
        </p:txBody>
      </p:sp>
      <p:sp>
        <p:nvSpPr>
          <p:cNvPr id="7" name="TextBox 6"/>
          <p:cNvSpPr txBox="1"/>
          <p:nvPr/>
        </p:nvSpPr>
        <p:spPr>
          <a:xfrm>
            <a:off x="713232" y="1709928"/>
            <a:ext cx="5074920" cy="1554480"/>
          </a:xfrm>
          <a:prstGeom prst="rect">
            <a:avLst/>
          </a:prstGeom>
          <a:noFill/>
        </p:spPr>
        <p:txBody>
          <a:bodyPr wrap="none">
            <a:spAutoFit/>
          </a:bodyPr>
          <a:lstStyle/>
          <a:p>
            <a:pPr>
              <a:defRPr sz="1600">
                <a:solidFill>
                  <a:srgbClr val="232830"/>
                </a:solidFill>
              </a:defRPr>
            </a:pPr>
            <a:r>
              <a:t>Databases, sensors, websites, apps, machines, files, and people.</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Data ingestion</a:t>
            </a:r>
          </a:p>
        </p:txBody>
      </p:sp>
      <p:sp>
        <p:nvSpPr>
          <p:cNvPr id="10" name="TextBox 9"/>
          <p:cNvSpPr txBox="1"/>
          <p:nvPr/>
        </p:nvSpPr>
        <p:spPr>
          <a:xfrm>
            <a:off x="6382511" y="1709928"/>
            <a:ext cx="5074920" cy="1554480"/>
          </a:xfrm>
          <a:prstGeom prst="rect">
            <a:avLst/>
          </a:prstGeom>
          <a:noFill/>
        </p:spPr>
        <p:txBody>
          <a:bodyPr wrap="none">
            <a:spAutoFit/>
          </a:bodyPr>
          <a:lstStyle/>
          <a:p>
            <a:pPr>
              <a:defRPr sz="1600">
                <a:solidFill>
                  <a:srgbClr val="232830"/>
                </a:solidFill>
              </a:defRPr>
            </a:pPr>
            <a:r>
              <a:t>Moves data into the system. Example: Apache Kafka.</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Storage</a:t>
            </a:r>
          </a:p>
        </p:txBody>
      </p:sp>
      <p:sp>
        <p:nvSpPr>
          <p:cNvPr id="13" name="TextBox 12"/>
          <p:cNvSpPr txBox="1"/>
          <p:nvPr/>
        </p:nvSpPr>
        <p:spPr>
          <a:xfrm>
            <a:off x="713232" y="4224528"/>
            <a:ext cx="5074920" cy="1554480"/>
          </a:xfrm>
          <a:prstGeom prst="rect">
            <a:avLst/>
          </a:prstGeom>
          <a:noFill/>
        </p:spPr>
        <p:txBody>
          <a:bodyPr wrap="none">
            <a:spAutoFit/>
          </a:bodyPr>
          <a:lstStyle/>
          <a:p>
            <a:pPr>
              <a:defRPr sz="1600">
                <a:solidFill>
                  <a:srgbClr val="232830"/>
                </a:solidFill>
              </a:defRPr>
            </a:pPr>
            <a:r>
              <a:t>Keeps large amounts of data. Example: HDFS or cloud storage.</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Processing</a:t>
            </a:r>
          </a:p>
        </p:txBody>
      </p:sp>
      <p:sp>
        <p:nvSpPr>
          <p:cNvPr id="16" name="TextBox 15"/>
          <p:cNvSpPr txBox="1"/>
          <p:nvPr/>
        </p:nvSpPr>
        <p:spPr>
          <a:xfrm>
            <a:off x="6382511" y="4224528"/>
            <a:ext cx="5074920" cy="1554480"/>
          </a:xfrm>
          <a:prstGeom prst="rect">
            <a:avLst/>
          </a:prstGeom>
          <a:noFill/>
        </p:spPr>
        <p:txBody>
          <a:bodyPr wrap="none">
            <a:spAutoFit/>
          </a:bodyPr>
          <a:lstStyle/>
          <a:p>
            <a:pPr>
              <a:defRPr sz="1600">
                <a:solidFill>
                  <a:srgbClr val="232830"/>
                </a:solidFill>
              </a:defRPr>
            </a:pPr>
            <a:r>
              <a:t>Processes data. Example: Apache Spark.</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14. Hadoop and HDFS</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Hadoop is a framework used for storing and processing large datasets across computers.</a:t>
            </a:r>
          </a:p>
          <a:p>
            <a:pPr>
              <a:spcAft>
                <a:spcPts val="900"/>
              </a:spcAft>
              <a:defRPr sz="2100">
                <a:solidFill>
                  <a:srgbClr val="232830"/>
                </a:solidFill>
              </a:defRPr>
            </a:pPr>
            <a:r>
              <a:t>• HDFS means Hadoop Distributed File System.</a:t>
            </a:r>
          </a:p>
          <a:p>
            <a:pPr>
              <a:spcAft>
                <a:spcPts val="900"/>
              </a:spcAft>
              <a:defRPr sz="2100">
                <a:solidFill>
                  <a:srgbClr val="232830"/>
                </a:solidFill>
              </a:defRPr>
            </a:pPr>
            <a:r>
              <a:t>• HDFS stores large files across multiple machines.</a:t>
            </a:r>
          </a:p>
          <a:p>
            <a:pPr>
              <a:spcAft>
                <a:spcPts val="900"/>
              </a:spcAft>
              <a:defRPr sz="2100">
                <a:solidFill>
                  <a:srgbClr val="232830"/>
                </a:solidFill>
              </a:defRPr>
            </a:pPr>
            <a:r>
              <a:t>• This reduces dependence on one machine and supports very large datasets.</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15. Apache Spark</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Apache Spark is a system for processing large amounts of data.</a:t>
            </a:r>
          </a:p>
          <a:p>
            <a:pPr>
              <a:spcAft>
                <a:spcPts val="900"/>
              </a:spcAft>
              <a:defRPr sz="2100">
                <a:solidFill>
                  <a:srgbClr val="232830"/>
                </a:solidFill>
              </a:defRPr>
            </a:pPr>
            <a:r>
              <a:t>• It can process data in batches and can also support streaming workloads.</a:t>
            </a:r>
          </a:p>
          <a:p>
            <a:pPr>
              <a:spcAft>
                <a:spcPts val="900"/>
              </a:spcAft>
              <a:defRPr sz="2100">
                <a:solidFill>
                  <a:srgbClr val="232830"/>
                </a:solidFill>
              </a:defRPr>
            </a:pPr>
            <a:r>
              <a:t>• It is used for data analysis, machine learning, and other data tasks.</a:t>
            </a:r>
          </a:p>
          <a:p>
            <a:pPr>
              <a:spcAft>
                <a:spcPts val="900"/>
              </a:spcAft>
              <a:defRPr sz="2100">
                <a:solidFill>
                  <a:srgbClr val="232830"/>
                </a:solidFill>
              </a:defRPr>
            </a:pPr>
            <a:r>
              <a:t>• Simple idea: Spark helps computers process large datasets efficiently.</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16. Apache Kafka</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Apache Kafka is a system for moving streams of data between applications and systems.</a:t>
            </a:r>
          </a:p>
          <a:p>
            <a:pPr>
              <a:spcAft>
                <a:spcPts val="900"/>
              </a:spcAft>
              <a:defRPr sz="2100">
                <a:solidFill>
                  <a:srgbClr val="232830"/>
                </a:solidFill>
              </a:defRPr>
            </a:pPr>
            <a:r>
              <a:t>• It is useful when data is arriving continuously or in real time.</a:t>
            </a:r>
          </a:p>
          <a:p>
            <a:pPr>
              <a:spcAft>
                <a:spcPts val="900"/>
              </a:spcAft>
              <a:defRPr sz="2100">
                <a:solidFill>
                  <a:srgbClr val="232830"/>
                </a:solidFill>
              </a:defRPr>
            </a:pPr>
            <a:r>
              <a:t>• Example: a hospital system sends new monitoring readings into a data platform.</a:t>
            </a:r>
          </a:p>
          <a:p>
            <a:pPr>
              <a:spcAft>
                <a:spcPts val="900"/>
              </a:spcAft>
              <a:defRPr sz="2100">
                <a:solidFill>
                  <a:srgbClr val="232830"/>
                </a:solidFill>
              </a:defRPr>
            </a:pPr>
            <a:r>
              <a:t>• Simple idea: Kafka helps data move from producers to systems that need it.</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17. Other important ecosystem parts</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NoSQL databases</a:t>
            </a:r>
          </a:p>
        </p:txBody>
      </p:sp>
      <p:sp>
        <p:nvSpPr>
          <p:cNvPr id="7" name="TextBox 6"/>
          <p:cNvSpPr txBox="1"/>
          <p:nvPr/>
        </p:nvSpPr>
        <p:spPr>
          <a:xfrm>
            <a:off x="713232" y="1709928"/>
            <a:ext cx="5074920" cy="1554480"/>
          </a:xfrm>
          <a:prstGeom prst="rect">
            <a:avLst/>
          </a:prstGeom>
          <a:noFill/>
        </p:spPr>
        <p:txBody>
          <a:bodyPr wrap="none">
            <a:spAutoFit/>
          </a:bodyPr>
          <a:lstStyle/>
          <a:p>
            <a:pPr>
              <a:defRPr sz="1600">
                <a:solidFill>
                  <a:srgbClr val="232830"/>
                </a:solidFill>
              </a:defRPr>
            </a:pPr>
            <a:r>
              <a:t>Databases designed for some large-scale or flexible data needs. Examples: MongoDB, Cassandra.</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Cloud platforms</a:t>
            </a:r>
          </a:p>
        </p:txBody>
      </p:sp>
      <p:sp>
        <p:nvSpPr>
          <p:cNvPr id="10" name="TextBox 9"/>
          <p:cNvSpPr txBox="1"/>
          <p:nvPr/>
        </p:nvSpPr>
        <p:spPr>
          <a:xfrm>
            <a:off x="6382511" y="1709928"/>
            <a:ext cx="5074920" cy="1554480"/>
          </a:xfrm>
          <a:prstGeom prst="rect">
            <a:avLst/>
          </a:prstGeom>
          <a:noFill/>
        </p:spPr>
        <p:txBody>
          <a:bodyPr wrap="none">
            <a:spAutoFit/>
          </a:bodyPr>
          <a:lstStyle/>
          <a:p>
            <a:pPr>
              <a:defRPr sz="1600">
                <a:solidFill>
                  <a:srgbClr val="232830"/>
                </a:solidFill>
              </a:defRPr>
            </a:pPr>
            <a:r>
              <a:t>Provide storage, computing, databases, and other services over a network.</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Machine Learning</a:t>
            </a:r>
          </a:p>
        </p:txBody>
      </p:sp>
      <p:sp>
        <p:nvSpPr>
          <p:cNvPr id="13" name="TextBox 12"/>
          <p:cNvSpPr txBox="1"/>
          <p:nvPr/>
        </p:nvSpPr>
        <p:spPr>
          <a:xfrm>
            <a:off x="713232" y="4224528"/>
            <a:ext cx="5074920" cy="1554480"/>
          </a:xfrm>
          <a:prstGeom prst="rect">
            <a:avLst/>
          </a:prstGeom>
          <a:noFill/>
        </p:spPr>
        <p:txBody>
          <a:bodyPr wrap="none">
            <a:spAutoFit/>
          </a:bodyPr>
          <a:lstStyle/>
          <a:p>
            <a:pPr>
              <a:defRPr sz="1600">
                <a:solidFill>
                  <a:srgbClr val="232830"/>
                </a:solidFill>
              </a:defRPr>
            </a:pPr>
            <a:r>
              <a:t>Uses data to build systems that can make predictions or find patterns.</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Visualization</a:t>
            </a:r>
          </a:p>
        </p:txBody>
      </p:sp>
      <p:sp>
        <p:nvSpPr>
          <p:cNvPr id="16" name="TextBox 15"/>
          <p:cNvSpPr txBox="1"/>
          <p:nvPr/>
        </p:nvSpPr>
        <p:spPr>
          <a:xfrm>
            <a:off x="6382511" y="4224528"/>
            <a:ext cx="5074920" cy="1554480"/>
          </a:xfrm>
          <a:prstGeom prst="rect">
            <a:avLst/>
          </a:prstGeom>
          <a:noFill/>
        </p:spPr>
        <p:txBody>
          <a:bodyPr wrap="none">
            <a:spAutoFit/>
          </a:bodyPr>
          <a:lstStyle/>
          <a:p>
            <a:pPr>
              <a:defRPr sz="1600">
                <a:solidFill>
                  <a:srgbClr val="232830"/>
                </a:solidFill>
              </a:defRPr>
            </a:pPr>
            <a:r>
              <a:t>Dashboards and charts help people understand results.</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82744"/>
        </a:solidFill>
        <a:effectLst/>
      </p:bgPr>
    </p:bg>
    <p:spTree>
      <p:nvGrpSpPr>
        <p:cNvPr id="1" name=""/>
        <p:cNvGrpSpPr/>
        <p:nvPr/>
      </p:nvGrpSpPr>
      <p:grpSpPr/>
      <p:sp>
        <p:nvSpPr>
          <p:cNvPr id="2" name="Rectangle 1"/>
          <p:cNvSpPr/>
          <p:nvPr/>
        </p:nvSpPr>
        <p:spPr>
          <a:xfrm>
            <a:off x="594360" y="1188720"/>
            <a:ext cx="146304" cy="3383280"/>
          </a:xfrm>
          <a:prstGeom prst="rect">
            <a:avLst/>
          </a:prstGeom>
          <a:solidFill>
            <a:srgbClr val="278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234440"/>
            <a:ext cx="10241280" cy="1371600"/>
          </a:xfrm>
          <a:prstGeom prst="rect">
            <a:avLst/>
          </a:prstGeom>
          <a:noFill/>
        </p:spPr>
        <p:txBody>
          <a:bodyPr wrap="none">
            <a:spAutoFit/>
          </a:bodyPr>
          <a:lstStyle/>
          <a:p>
            <a:r>
              <a:rPr sz="4000" b="1">
                <a:solidFill>
                  <a:srgbClr val="FFFFFF"/>
                </a:solidFill>
              </a:rPr>
              <a:t>Group D — Data Collection &amp; Acquisition</a:t>
            </a:r>
          </a:p>
        </p:txBody>
      </p:sp>
      <p:sp>
        <p:nvSpPr>
          <p:cNvPr id="4" name="TextBox 3"/>
          <p:cNvSpPr txBox="1"/>
          <p:nvPr/>
        </p:nvSpPr>
        <p:spPr>
          <a:xfrm>
            <a:off x="987552" y="2971800"/>
            <a:ext cx="9875520" cy="914400"/>
          </a:xfrm>
          <a:prstGeom prst="rect">
            <a:avLst/>
          </a:prstGeom>
          <a:noFill/>
        </p:spPr>
        <p:txBody>
          <a:bodyPr wrap="none">
            <a:spAutoFit/>
          </a:bodyPr>
          <a:lstStyle/>
          <a:p>
            <a:r>
              <a:rPr sz="2300">
                <a:solidFill>
                  <a:srgbClr val="D7E1F0"/>
                </a:solidFill>
              </a:rPr>
              <a:t>How data enters the system</a:t>
            </a:r>
          </a:p>
        </p:txBody>
      </p:sp>
      <p:sp>
        <p:nvSpPr>
          <p:cNvPr id="5" name="TextBox 4"/>
          <p:cNvSpPr txBox="1"/>
          <p:nvPr/>
        </p:nvSpPr>
        <p:spPr>
          <a:xfrm>
            <a:off x="10972800" y="6473952"/>
            <a:ext cx="548640" cy="182880"/>
          </a:xfrm>
          <a:prstGeom prst="rect">
            <a:avLst/>
          </a:prstGeom>
          <a:noFill/>
        </p:spPr>
        <p:txBody>
          <a:bodyPr wrap="none">
            <a:spAutoFit/>
          </a:bodyPr>
          <a:lstStyle/>
          <a:p>
            <a:pPr algn="r"/>
            <a:r>
              <a:rPr sz="1000">
                <a:solidFill>
                  <a:srgbClr val="5F6978"/>
                </a:solidFil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18. What is data collection?</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Data collection means gathering data for a purpose.</a:t>
            </a:r>
          </a:p>
          <a:p>
            <a:pPr>
              <a:spcAft>
                <a:spcPts val="900"/>
              </a:spcAft>
              <a:defRPr sz="2100">
                <a:solidFill>
                  <a:srgbClr val="232830"/>
                </a:solidFill>
              </a:defRPr>
            </a:pPr>
            <a:r>
              <a:t>• Data can come from people, machines, systems, documents, sensors, websites, and many other sources.</a:t>
            </a:r>
          </a:p>
          <a:p>
            <a:pPr>
              <a:spcAft>
                <a:spcPts val="900"/>
              </a:spcAft>
              <a:defRPr sz="2100">
                <a:solidFill>
                  <a:srgbClr val="232830"/>
                </a:solidFill>
              </a:defRPr>
            </a:pPr>
            <a:r>
              <a:t>• Good collection starts with a clear question or purpose.</a:t>
            </a:r>
          </a:p>
          <a:p>
            <a:pPr>
              <a:spcAft>
                <a:spcPts val="900"/>
              </a:spcAft>
              <a:defRPr sz="2100">
                <a:solidFill>
                  <a:srgbClr val="232830"/>
                </a:solidFill>
              </a:defRPr>
            </a:pPr>
            <a:r>
              <a:t>• Example: a hospital collects patient visit data to understand service demand.</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19. Common data collection methods</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Surveys / questionnaires</a:t>
            </a:r>
          </a:p>
        </p:txBody>
      </p:sp>
      <p:sp>
        <p:nvSpPr>
          <p:cNvPr id="7" name="TextBox 6"/>
          <p:cNvSpPr txBox="1"/>
          <p:nvPr/>
        </p:nvSpPr>
        <p:spPr>
          <a:xfrm>
            <a:off x="713232" y="1709928"/>
            <a:ext cx="5074920" cy="1554480"/>
          </a:xfrm>
          <a:prstGeom prst="rect">
            <a:avLst/>
          </a:prstGeom>
          <a:noFill/>
        </p:spPr>
        <p:txBody>
          <a:bodyPr wrap="none">
            <a:spAutoFit/>
          </a:bodyPr>
          <a:lstStyle/>
          <a:p>
            <a:pPr>
              <a:defRPr sz="1600">
                <a:solidFill>
                  <a:srgbClr val="232830"/>
                </a:solidFill>
              </a:defRPr>
            </a:pPr>
            <a:r>
              <a:t>Ask people questions and record their answers.</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Interviews</a:t>
            </a:r>
          </a:p>
        </p:txBody>
      </p:sp>
      <p:sp>
        <p:nvSpPr>
          <p:cNvPr id="10" name="TextBox 9"/>
          <p:cNvSpPr txBox="1"/>
          <p:nvPr/>
        </p:nvSpPr>
        <p:spPr>
          <a:xfrm>
            <a:off x="6382511" y="1709928"/>
            <a:ext cx="5074920" cy="1554480"/>
          </a:xfrm>
          <a:prstGeom prst="rect">
            <a:avLst/>
          </a:prstGeom>
          <a:noFill/>
        </p:spPr>
        <p:txBody>
          <a:bodyPr wrap="none">
            <a:spAutoFit/>
          </a:bodyPr>
          <a:lstStyle/>
          <a:p>
            <a:pPr>
              <a:defRPr sz="1600">
                <a:solidFill>
                  <a:srgbClr val="232830"/>
                </a:solidFill>
              </a:defRPr>
            </a:pPr>
            <a:r>
              <a:t>Collect detailed answers through direct conversation.</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Observation</a:t>
            </a:r>
          </a:p>
        </p:txBody>
      </p:sp>
      <p:sp>
        <p:nvSpPr>
          <p:cNvPr id="13" name="TextBox 12"/>
          <p:cNvSpPr txBox="1"/>
          <p:nvPr/>
        </p:nvSpPr>
        <p:spPr>
          <a:xfrm>
            <a:off x="713232" y="4224528"/>
            <a:ext cx="5074920" cy="1554480"/>
          </a:xfrm>
          <a:prstGeom prst="rect">
            <a:avLst/>
          </a:prstGeom>
          <a:noFill/>
        </p:spPr>
        <p:txBody>
          <a:bodyPr wrap="none">
            <a:spAutoFit/>
          </a:bodyPr>
          <a:lstStyle/>
          <a:p>
            <a:pPr>
              <a:defRPr sz="1600">
                <a:solidFill>
                  <a:srgbClr val="232830"/>
                </a:solidFill>
              </a:defRPr>
            </a:pPr>
            <a:r>
              <a:t>Record what happens without relying only on what people report.</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Sensors / devices</a:t>
            </a:r>
          </a:p>
        </p:txBody>
      </p:sp>
      <p:sp>
        <p:nvSpPr>
          <p:cNvPr id="16" name="TextBox 15"/>
          <p:cNvSpPr txBox="1"/>
          <p:nvPr/>
        </p:nvSpPr>
        <p:spPr>
          <a:xfrm>
            <a:off x="6382511" y="4224528"/>
            <a:ext cx="5074920" cy="1554480"/>
          </a:xfrm>
          <a:prstGeom prst="rect">
            <a:avLst/>
          </a:prstGeom>
          <a:noFill/>
        </p:spPr>
        <p:txBody>
          <a:bodyPr wrap="none">
            <a:spAutoFit/>
          </a:bodyPr>
          <a:lstStyle/>
          <a:p>
            <a:pPr>
              <a:defRPr sz="1600">
                <a:solidFill>
                  <a:srgbClr val="232830"/>
                </a:solidFill>
              </a:defRPr>
            </a:pPr>
            <a:r>
              <a:t>Automatically collect readings such as temperature or heart rate.</a:t>
            </a:r>
          </a:p>
        </p:txBody>
      </p:sp>
      <p:sp>
        <p:nvSpPr>
          <p:cNvPr id="17" name="Rounded Rectangle 16"/>
          <p:cNvSpPr/>
          <p:nvPr/>
        </p:nvSpPr>
        <p:spPr>
          <a:xfrm>
            <a:off x="548640" y="6172200"/>
            <a:ext cx="5394959" cy="2240280"/>
          </a:xfrm>
          <a:prstGeom prst="roundRect">
            <a:avLst/>
          </a:prstGeom>
          <a:solidFill>
            <a:srgbClr val="F1F6FC"/>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6281928"/>
            <a:ext cx="5074920" cy="365760"/>
          </a:xfrm>
          <a:prstGeom prst="rect">
            <a:avLst/>
          </a:prstGeom>
          <a:noFill/>
        </p:spPr>
        <p:txBody>
          <a:bodyPr wrap="none">
            <a:spAutoFit/>
          </a:bodyPr>
          <a:lstStyle/>
          <a:p>
            <a:r>
              <a:rPr sz="2000" b="1">
                <a:solidFill>
                  <a:srgbClr val="BE4646"/>
                </a:solidFill>
              </a:rPr>
              <a:t>System records</a:t>
            </a:r>
          </a:p>
        </p:txBody>
      </p:sp>
      <p:sp>
        <p:nvSpPr>
          <p:cNvPr id="19" name="TextBox 18"/>
          <p:cNvSpPr txBox="1"/>
          <p:nvPr/>
        </p:nvSpPr>
        <p:spPr>
          <a:xfrm>
            <a:off x="713232" y="6739128"/>
            <a:ext cx="5074920" cy="1554480"/>
          </a:xfrm>
          <a:prstGeom prst="rect">
            <a:avLst/>
          </a:prstGeom>
          <a:noFill/>
        </p:spPr>
        <p:txBody>
          <a:bodyPr wrap="none">
            <a:spAutoFit/>
          </a:bodyPr>
          <a:lstStyle/>
          <a:p>
            <a:pPr>
              <a:defRPr sz="1600">
                <a:solidFill>
                  <a:srgbClr val="232830"/>
                </a:solidFill>
              </a:defRPr>
            </a:pPr>
            <a:r>
              <a:t>Collect data already stored in applications or databases.</a:t>
            </a:r>
          </a:p>
        </p:txBody>
      </p:sp>
      <p:sp>
        <p:nvSpPr>
          <p:cNvPr id="20" name="TextBox 19"/>
          <p:cNvSpPr txBox="1"/>
          <p:nvPr/>
        </p:nvSpPr>
        <p:spPr>
          <a:xfrm>
            <a:off x="10972800" y="6473952"/>
            <a:ext cx="548640" cy="182880"/>
          </a:xfrm>
          <a:prstGeom prst="rect">
            <a:avLst/>
          </a:prstGeom>
          <a:noFill/>
        </p:spPr>
        <p:txBody>
          <a:bodyPr wrap="none">
            <a:spAutoFit/>
          </a:bodyPr>
          <a:lstStyle/>
          <a:p>
            <a:pPr algn="r"/>
            <a:r>
              <a:rPr sz="1000">
                <a:solidFill>
                  <a:srgbClr val="5F6978"/>
                </a:solidFil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20. Primary vs secondary data</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Primary data</a:t>
            </a:r>
          </a:p>
        </p:txBody>
      </p:sp>
      <p:sp>
        <p:nvSpPr>
          <p:cNvPr id="7" name="TextBox 6"/>
          <p:cNvSpPr txBox="1"/>
          <p:nvPr/>
        </p:nvSpPr>
        <p:spPr>
          <a:xfrm>
            <a:off x="713232" y="1709928"/>
            <a:ext cx="5074920" cy="1554480"/>
          </a:xfrm>
          <a:prstGeom prst="rect">
            <a:avLst/>
          </a:prstGeom>
          <a:noFill/>
        </p:spPr>
        <p:txBody>
          <a:bodyPr wrap="none">
            <a:spAutoFit/>
          </a:bodyPr>
          <a:lstStyle/>
          <a:p>
            <a:pPr>
              <a:defRPr sz="1700">
                <a:solidFill>
                  <a:srgbClr val="232830"/>
                </a:solidFill>
              </a:defRPr>
            </a:pPr>
            <a:r>
              <a:t>You collect it directly for your current study. Example: surveying 500 patients about waiting time.</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Secondary data</a:t>
            </a:r>
          </a:p>
        </p:txBody>
      </p:sp>
      <p:sp>
        <p:nvSpPr>
          <p:cNvPr id="10" name="TextBox 9"/>
          <p:cNvSpPr txBox="1"/>
          <p:nvPr/>
        </p:nvSpPr>
        <p:spPr>
          <a:xfrm>
            <a:off x="6382511" y="1709928"/>
            <a:ext cx="5074920" cy="1554480"/>
          </a:xfrm>
          <a:prstGeom prst="rect">
            <a:avLst/>
          </a:prstGeom>
          <a:noFill/>
        </p:spPr>
        <p:txBody>
          <a:bodyPr wrap="none">
            <a:spAutoFit/>
          </a:bodyPr>
          <a:lstStyle/>
          <a:p>
            <a:pPr>
              <a:defRPr sz="1700">
                <a:solidFill>
                  <a:srgbClr val="232830"/>
                </a:solidFill>
              </a:defRPr>
            </a:pPr>
            <a:r>
              <a:t>You use data that already exists. Example: using hospital records from the previous year.</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Advantage of primary</a:t>
            </a:r>
          </a:p>
        </p:txBody>
      </p:sp>
      <p:sp>
        <p:nvSpPr>
          <p:cNvPr id="13" name="TextBox 12"/>
          <p:cNvSpPr txBox="1"/>
          <p:nvPr/>
        </p:nvSpPr>
        <p:spPr>
          <a:xfrm>
            <a:off x="713232" y="4224528"/>
            <a:ext cx="5074920" cy="1554480"/>
          </a:xfrm>
          <a:prstGeom prst="rect">
            <a:avLst/>
          </a:prstGeom>
          <a:noFill/>
        </p:spPr>
        <p:txBody>
          <a:bodyPr wrap="none">
            <a:spAutoFit/>
          </a:bodyPr>
          <a:lstStyle/>
          <a:p>
            <a:pPr>
              <a:defRPr sz="1700">
                <a:solidFill>
                  <a:srgbClr val="232830"/>
                </a:solidFill>
              </a:defRPr>
            </a:pPr>
            <a:r>
              <a:t>You can design collection around your exact question.</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Advantage of secondary</a:t>
            </a:r>
          </a:p>
        </p:txBody>
      </p:sp>
      <p:sp>
        <p:nvSpPr>
          <p:cNvPr id="16" name="TextBox 15"/>
          <p:cNvSpPr txBox="1"/>
          <p:nvPr/>
        </p:nvSpPr>
        <p:spPr>
          <a:xfrm>
            <a:off x="6382511" y="4224528"/>
            <a:ext cx="5074920" cy="1554480"/>
          </a:xfrm>
          <a:prstGeom prst="rect">
            <a:avLst/>
          </a:prstGeom>
          <a:noFill/>
        </p:spPr>
        <p:txBody>
          <a:bodyPr wrap="none">
            <a:spAutoFit/>
          </a:bodyPr>
          <a:lstStyle/>
          <a:p>
            <a:pPr>
              <a:defRPr sz="1700">
                <a:solidFill>
                  <a:srgbClr val="232830"/>
                </a:solidFill>
              </a:defRPr>
            </a:pPr>
            <a:r>
              <a:t>It can save time and cost because the data already exists.</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21. Data acquisition from systems</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Data can be taken from databases, files, Application Programming Interfaces (APIs), sensors, logs, or other systems.</a:t>
            </a:r>
          </a:p>
          <a:p>
            <a:pPr>
              <a:spcAft>
                <a:spcPts val="900"/>
              </a:spcAft>
              <a:defRPr sz="2100">
                <a:solidFill>
                  <a:srgbClr val="232830"/>
                </a:solidFill>
              </a:defRPr>
            </a:pPr>
            <a:r>
              <a:t>• An API is a way for software systems to communicate and exchange data.</a:t>
            </a:r>
          </a:p>
          <a:p>
            <a:pPr>
              <a:spcAft>
                <a:spcPts val="900"/>
              </a:spcAft>
              <a:defRPr sz="2100">
                <a:solidFill>
                  <a:srgbClr val="232830"/>
                </a:solidFill>
              </a:defRPr>
            </a:pPr>
            <a:r>
              <a:t>• Example: a hospital system may send patient information to another authorized system through an API.</a:t>
            </a:r>
          </a:p>
          <a:p>
            <a:pPr>
              <a:spcAft>
                <a:spcPts val="900"/>
              </a:spcAft>
              <a:defRPr sz="2100">
                <a:solidFill>
                  <a:srgbClr val="232830"/>
                </a:solidFill>
              </a:defRPr>
            </a:pPr>
            <a:r>
              <a:t>• Access must follow security, privacy, and permission rules.</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22. Batch vs real-time data collection</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Rounded Rectangle 4"/>
          <p:cNvSpPr/>
          <p:nvPr/>
        </p:nvSpPr>
        <p:spPr>
          <a:xfrm>
            <a:off x="548640" y="1143000"/>
            <a:ext cx="5394959" cy="2240280"/>
          </a:xfrm>
          <a:prstGeom prst="roundRect">
            <a:avLst/>
          </a:prstGeom>
          <a:solidFill>
            <a:srgbClr val="F1F6FC"/>
          </a:solidFill>
          <a:ln>
            <a:solidFill>
              <a:srgbClr val="36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52728"/>
            <a:ext cx="5074920" cy="365760"/>
          </a:xfrm>
          <a:prstGeom prst="rect">
            <a:avLst/>
          </a:prstGeom>
          <a:noFill/>
        </p:spPr>
        <p:txBody>
          <a:bodyPr wrap="none">
            <a:spAutoFit/>
          </a:bodyPr>
          <a:lstStyle/>
          <a:p>
            <a:r>
              <a:rPr sz="2000" b="1">
                <a:solidFill>
                  <a:srgbClr val="3668B4"/>
                </a:solidFill>
              </a:rPr>
              <a:t>Batch</a:t>
            </a:r>
          </a:p>
        </p:txBody>
      </p:sp>
      <p:sp>
        <p:nvSpPr>
          <p:cNvPr id="7" name="TextBox 6"/>
          <p:cNvSpPr txBox="1"/>
          <p:nvPr/>
        </p:nvSpPr>
        <p:spPr>
          <a:xfrm>
            <a:off x="713232" y="1709928"/>
            <a:ext cx="5074920" cy="1554480"/>
          </a:xfrm>
          <a:prstGeom prst="rect">
            <a:avLst/>
          </a:prstGeom>
          <a:noFill/>
        </p:spPr>
        <p:txBody>
          <a:bodyPr wrap="none">
            <a:spAutoFit/>
          </a:bodyPr>
          <a:lstStyle/>
          <a:p>
            <a:pPr>
              <a:defRPr sz="1700">
                <a:solidFill>
                  <a:srgbClr val="232830"/>
                </a:solidFill>
              </a:defRPr>
            </a:pPr>
            <a:r>
              <a:t>Data is collected and processed in groups at intervals. Example: daily hospital reports.</a:t>
            </a:r>
          </a:p>
        </p:txBody>
      </p:sp>
      <p:sp>
        <p:nvSpPr>
          <p:cNvPr id="8" name="Rounded Rectangle 7"/>
          <p:cNvSpPr/>
          <p:nvPr/>
        </p:nvSpPr>
        <p:spPr>
          <a:xfrm>
            <a:off x="6217919" y="1143000"/>
            <a:ext cx="5394959" cy="2240280"/>
          </a:xfrm>
          <a:prstGeom prst="roundRect">
            <a:avLst/>
          </a:prstGeom>
          <a:solidFill>
            <a:srgbClr val="F1F6FC"/>
          </a:solidFill>
          <a:ln>
            <a:solidFill>
              <a:srgbClr val="27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1" y="1252728"/>
            <a:ext cx="5074920" cy="365760"/>
          </a:xfrm>
          <a:prstGeom prst="rect">
            <a:avLst/>
          </a:prstGeom>
          <a:noFill/>
        </p:spPr>
        <p:txBody>
          <a:bodyPr wrap="none">
            <a:spAutoFit/>
          </a:bodyPr>
          <a:lstStyle/>
          <a:p>
            <a:r>
              <a:rPr sz="2000" b="1">
                <a:solidFill>
                  <a:srgbClr val="278989"/>
                </a:solidFill>
              </a:rPr>
              <a:t>Real-time / streaming</a:t>
            </a:r>
          </a:p>
        </p:txBody>
      </p:sp>
      <p:sp>
        <p:nvSpPr>
          <p:cNvPr id="10" name="TextBox 9"/>
          <p:cNvSpPr txBox="1"/>
          <p:nvPr/>
        </p:nvSpPr>
        <p:spPr>
          <a:xfrm>
            <a:off x="6382511" y="1709928"/>
            <a:ext cx="5074920" cy="1554480"/>
          </a:xfrm>
          <a:prstGeom prst="rect">
            <a:avLst/>
          </a:prstGeom>
          <a:noFill/>
        </p:spPr>
        <p:txBody>
          <a:bodyPr wrap="none">
            <a:spAutoFit/>
          </a:bodyPr>
          <a:lstStyle/>
          <a:p>
            <a:pPr>
              <a:defRPr sz="1700">
                <a:solidFill>
                  <a:srgbClr val="232830"/>
                </a:solidFill>
              </a:defRPr>
            </a:pPr>
            <a:r>
              <a:t>Data is handled as it arrives or very soon after. Example: heart-monitor readings.</a:t>
            </a:r>
          </a:p>
        </p:txBody>
      </p:sp>
      <p:sp>
        <p:nvSpPr>
          <p:cNvPr id="11" name="Rounded Rectangle 10"/>
          <p:cNvSpPr/>
          <p:nvPr/>
        </p:nvSpPr>
        <p:spPr>
          <a:xfrm>
            <a:off x="548640" y="3657600"/>
            <a:ext cx="5394959" cy="2240280"/>
          </a:xfrm>
          <a:prstGeom prst="roundRect">
            <a:avLst/>
          </a:prstGeom>
          <a:solidFill>
            <a:srgbClr val="F1F6FC"/>
          </a:solidFill>
          <a:ln>
            <a:solidFill>
              <a:srgbClr val="44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767328"/>
            <a:ext cx="5074920" cy="365760"/>
          </a:xfrm>
          <a:prstGeom prst="rect">
            <a:avLst/>
          </a:prstGeom>
          <a:noFill/>
        </p:spPr>
        <p:txBody>
          <a:bodyPr wrap="none">
            <a:spAutoFit/>
          </a:bodyPr>
          <a:lstStyle/>
          <a:p>
            <a:r>
              <a:rPr sz="2000" b="1">
                <a:solidFill>
                  <a:srgbClr val="44915A"/>
                </a:solidFill>
              </a:rPr>
              <a:t>Batch is useful when</a:t>
            </a:r>
          </a:p>
        </p:txBody>
      </p:sp>
      <p:sp>
        <p:nvSpPr>
          <p:cNvPr id="13" name="TextBox 12"/>
          <p:cNvSpPr txBox="1"/>
          <p:nvPr/>
        </p:nvSpPr>
        <p:spPr>
          <a:xfrm>
            <a:off x="713232" y="4224528"/>
            <a:ext cx="5074920" cy="1554480"/>
          </a:xfrm>
          <a:prstGeom prst="rect">
            <a:avLst/>
          </a:prstGeom>
          <a:noFill/>
        </p:spPr>
        <p:txBody>
          <a:bodyPr wrap="none">
            <a:spAutoFit/>
          </a:bodyPr>
          <a:lstStyle/>
          <a:p>
            <a:pPr>
              <a:defRPr sz="1700">
                <a:solidFill>
                  <a:srgbClr val="232830"/>
                </a:solidFill>
              </a:defRPr>
            </a:pPr>
            <a:r>
              <a:t>Immediate results are not necessary and group processing is simpler.</a:t>
            </a:r>
          </a:p>
        </p:txBody>
      </p:sp>
      <p:sp>
        <p:nvSpPr>
          <p:cNvPr id="14" name="Rounded Rectangle 13"/>
          <p:cNvSpPr/>
          <p:nvPr/>
        </p:nvSpPr>
        <p:spPr>
          <a:xfrm>
            <a:off x="6217919" y="3657600"/>
            <a:ext cx="5394959" cy="2240280"/>
          </a:xfrm>
          <a:prstGeom prst="roundRect">
            <a:avLst/>
          </a:prstGeom>
          <a:solidFill>
            <a:srgbClr val="F1F6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1" y="3767328"/>
            <a:ext cx="5074920" cy="365760"/>
          </a:xfrm>
          <a:prstGeom prst="rect">
            <a:avLst/>
          </a:prstGeom>
          <a:noFill/>
        </p:spPr>
        <p:txBody>
          <a:bodyPr wrap="none">
            <a:spAutoFit/>
          </a:bodyPr>
          <a:lstStyle/>
          <a:p>
            <a:r>
              <a:rPr sz="2000" b="1">
                <a:solidFill>
                  <a:srgbClr val="DC822D"/>
                </a:solidFill>
              </a:rPr>
              <a:t>Real-time is useful when</a:t>
            </a:r>
          </a:p>
        </p:txBody>
      </p:sp>
      <p:sp>
        <p:nvSpPr>
          <p:cNvPr id="16" name="TextBox 15"/>
          <p:cNvSpPr txBox="1"/>
          <p:nvPr/>
        </p:nvSpPr>
        <p:spPr>
          <a:xfrm>
            <a:off x="6382511" y="4224528"/>
            <a:ext cx="5074920" cy="1554480"/>
          </a:xfrm>
          <a:prstGeom prst="rect">
            <a:avLst/>
          </a:prstGeom>
          <a:noFill/>
        </p:spPr>
        <p:txBody>
          <a:bodyPr wrap="none">
            <a:spAutoFit/>
          </a:bodyPr>
          <a:lstStyle/>
          <a:p>
            <a:pPr>
              <a:defRPr sz="1700">
                <a:solidFill>
                  <a:srgbClr val="232830"/>
                </a:solidFill>
              </a:defRPr>
            </a:pPr>
            <a:r>
              <a:t>Fast action is important, such as monitoring or fraud detection.</a:t>
            </a:r>
          </a:p>
        </p:txBody>
      </p:sp>
      <p:sp>
        <p:nvSpPr>
          <p:cNvPr id="17" name="TextBox 16"/>
          <p:cNvSpPr txBox="1"/>
          <p:nvPr/>
        </p:nvSpPr>
        <p:spPr>
          <a:xfrm>
            <a:off x="10972800" y="6473952"/>
            <a:ext cx="548640" cy="182880"/>
          </a:xfrm>
          <a:prstGeom prst="rect">
            <a:avLst/>
          </a:prstGeom>
          <a:noFill/>
        </p:spPr>
        <p:txBody>
          <a:bodyPr wrap="none">
            <a:spAutoFit/>
          </a:bodyPr>
          <a:lstStyle/>
          <a:p>
            <a:pPr algn="r"/>
            <a:r>
              <a:rPr sz="1000">
                <a:solidFill>
                  <a:srgbClr val="5F6978"/>
                </a:solidFil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23. Good data collection principles</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Collect only data that is needed for the purpose.</a:t>
            </a:r>
          </a:p>
          <a:p>
            <a:pPr>
              <a:spcAft>
                <a:spcPts val="900"/>
              </a:spcAft>
              <a:defRPr sz="2100">
                <a:solidFill>
                  <a:srgbClr val="232830"/>
                </a:solidFill>
              </a:defRPr>
            </a:pPr>
            <a:r>
              <a:t>• Use clear and consistent definitions.</a:t>
            </a:r>
          </a:p>
          <a:p>
            <a:pPr>
              <a:spcAft>
                <a:spcPts val="900"/>
              </a:spcAft>
              <a:defRPr sz="2100">
                <a:solidFill>
                  <a:srgbClr val="232830"/>
                </a:solidFill>
              </a:defRPr>
            </a:pPr>
            <a:r>
              <a:t>• Check data quality during collection, not only after.</a:t>
            </a:r>
          </a:p>
          <a:p>
            <a:pPr>
              <a:spcAft>
                <a:spcPts val="900"/>
              </a:spcAft>
              <a:defRPr sz="2100">
                <a:solidFill>
                  <a:srgbClr val="232830"/>
                </a:solidFill>
              </a:defRPr>
            </a:pPr>
            <a:r>
              <a:t>• Protect personal and sensitive information.</a:t>
            </a:r>
          </a:p>
          <a:p>
            <a:pPr>
              <a:spcAft>
                <a:spcPts val="900"/>
              </a:spcAft>
              <a:defRPr sz="2100">
                <a:solidFill>
                  <a:srgbClr val="232830"/>
                </a:solidFill>
              </a:defRPr>
            </a:pPr>
            <a:r>
              <a:t>• Record where the data came from and when it was collected.</a:t>
            </a:r>
          </a:p>
          <a:p>
            <a:pPr>
              <a:spcAft>
                <a:spcPts val="900"/>
              </a:spcAft>
              <a:defRPr sz="2100">
                <a:solidFill>
                  <a:srgbClr val="232830"/>
                </a:solidFill>
              </a:defRPr>
            </a:pPr>
            <a:r>
              <a:t>• Get proper permission or consent when required.</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24. Quick quiz — test yourself</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1. What is the difference between data and information?</a:t>
            </a:r>
          </a:p>
          <a:p>
            <a:pPr>
              <a:spcAft>
                <a:spcPts val="900"/>
              </a:spcAft>
              <a:defRPr sz="2100">
                <a:solidFill>
                  <a:srgbClr val="232830"/>
                </a:solidFill>
              </a:defRPr>
            </a:pPr>
            <a:r>
              <a:t>• 2. What are quantitative and qualitative data?</a:t>
            </a:r>
          </a:p>
          <a:p>
            <a:pPr>
              <a:spcAft>
                <a:spcPts val="900"/>
              </a:spcAft>
              <a:defRPr sz="2100">
                <a:solidFill>
                  <a:srgbClr val="232830"/>
                </a:solidFill>
              </a:defRPr>
            </a:pPr>
            <a:r>
              <a:t>• 3. What is Data Science?</a:t>
            </a:r>
          </a:p>
          <a:p>
            <a:pPr>
              <a:spcAft>
                <a:spcPts val="900"/>
              </a:spcAft>
              <a:defRPr sz="2100">
                <a:solidFill>
                  <a:srgbClr val="232830"/>
                </a:solidFill>
              </a:defRPr>
            </a:pPr>
            <a:r>
              <a:t>• 4. What are the 5 Vs of Big Data?</a:t>
            </a:r>
          </a:p>
          <a:p>
            <a:pPr>
              <a:spcAft>
                <a:spcPts val="900"/>
              </a:spcAft>
              <a:defRPr sz="2100">
                <a:solidFill>
                  <a:srgbClr val="232830"/>
                </a:solidFill>
              </a:defRPr>
            </a:pPr>
            <a:r>
              <a:t>• 5. What is a Big Data ecosystem?</a:t>
            </a:r>
          </a:p>
          <a:p>
            <a:pPr>
              <a:spcAft>
                <a:spcPts val="900"/>
              </a:spcAft>
              <a:defRPr sz="2100">
                <a:solidFill>
                  <a:srgbClr val="232830"/>
                </a:solidFill>
              </a:defRPr>
            </a:pPr>
            <a:r>
              <a:t>• 6. What is the role of HDFS?</a:t>
            </a:r>
          </a:p>
          <a:p>
            <a:pPr>
              <a:spcAft>
                <a:spcPts val="900"/>
              </a:spcAft>
              <a:defRPr sz="2100">
                <a:solidFill>
                  <a:srgbClr val="232830"/>
                </a:solidFill>
              </a:defRPr>
            </a:pPr>
            <a:r>
              <a:t>• 7. What is Spark mainly used for?</a:t>
            </a:r>
          </a:p>
          <a:p>
            <a:pPr>
              <a:spcAft>
                <a:spcPts val="900"/>
              </a:spcAft>
              <a:defRPr sz="2100">
                <a:solidFill>
                  <a:srgbClr val="232830"/>
                </a:solidFill>
              </a:defRPr>
            </a:pPr>
            <a:r>
              <a:t>• 8. What is Kafka mainly used for?</a:t>
            </a:r>
          </a:p>
          <a:p>
            <a:pPr>
              <a:spcAft>
                <a:spcPts val="900"/>
              </a:spcAft>
              <a:defRPr sz="2100">
                <a:solidFill>
                  <a:srgbClr val="232830"/>
                </a:solidFill>
              </a:defRPr>
            </a:pPr>
            <a:r>
              <a:t>• 9. What is primary data?</a:t>
            </a:r>
          </a:p>
          <a:p>
            <a:pPr>
              <a:spcAft>
                <a:spcPts val="900"/>
              </a:spcAft>
              <a:defRPr sz="2100">
                <a:solidFill>
                  <a:srgbClr val="232830"/>
                </a:solidFill>
              </a:defRPr>
            </a:pPr>
            <a:r>
              <a:t>• 10. What is the difference between batch and real-time data?</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784080" cy="411480"/>
          </a:xfrm>
          <a:prstGeom prst="rect">
            <a:avLst/>
          </a:prstGeom>
          <a:noFill/>
        </p:spPr>
        <p:txBody>
          <a:bodyPr wrap="none">
            <a:spAutoFit/>
          </a:bodyPr>
          <a:lstStyle/>
          <a:p>
            <a:r>
              <a:rPr sz="2700" b="1">
                <a:solidFill>
                  <a:srgbClr val="FFFFFF"/>
                </a:solidFill>
              </a:rPr>
              <a:t>25. Key points to remember</a:t>
            </a:r>
          </a:p>
        </p:txBody>
      </p:sp>
      <p:sp>
        <p:nvSpPr>
          <p:cNvPr id="4" name="TextBox 3"/>
          <p:cNvSpPr txBox="1"/>
          <p:nvPr/>
        </p:nvSpPr>
        <p:spPr>
          <a:xfrm>
            <a:off x="10149840" y="118872"/>
            <a:ext cx="1554480" cy="274320"/>
          </a:xfrm>
          <a:prstGeom prst="rect">
            <a:avLst/>
          </a:prstGeom>
          <a:noFill/>
        </p:spPr>
        <p:txBody>
          <a:bodyPr wrap="none">
            <a:spAutoFit/>
          </a:bodyPr>
          <a:lstStyle/>
          <a:p>
            <a:pPr algn="r"/>
            <a:r>
              <a:rPr sz="1200" b="1">
                <a:solidFill>
                  <a:srgbClr val="BEDCFF"/>
                </a:solidFill>
              </a:rPr>
              <a:t>WEEK 2</a:t>
            </a:r>
          </a:p>
        </p:txBody>
      </p:sp>
      <p:sp>
        <p:nvSpPr>
          <p:cNvPr id="5" name="TextBox 4"/>
          <p:cNvSpPr txBox="1"/>
          <p:nvPr/>
        </p:nvSpPr>
        <p:spPr>
          <a:xfrm>
            <a:off x="685800" y="1143000"/>
            <a:ext cx="10789920" cy="5029200"/>
          </a:xfrm>
          <a:prstGeom prst="rect">
            <a:avLst/>
          </a:prstGeom>
          <a:noFill/>
        </p:spPr>
        <p:txBody>
          <a:bodyPr wrap="square">
            <a:spAutoFit/>
          </a:bodyPr>
          <a:lstStyle/>
          <a:p>
            <a:pPr>
              <a:spcAft>
                <a:spcPts val="900"/>
              </a:spcAft>
              <a:defRPr sz="2100">
                <a:solidFill>
                  <a:srgbClr val="232830"/>
                </a:solidFill>
              </a:defRPr>
            </a:pPr>
            <a:r>
              <a:t>• Data is the raw material for analysis and decisions.</a:t>
            </a:r>
          </a:p>
          <a:p>
            <a:pPr>
              <a:spcAft>
                <a:spcPts val="900"/>
              </a:spcAft>
              <a:defRPr sz="2100">
                <a:solidFill>
                  <a:srgbClr val="232830"/>
                </a:solidFill>
              </a:defRPr>
            </a:pPr>
            <a:r>
              <a:t>• Data Science uses data, statistics, computing, and subject knowledge to solve problems.</a:t>
            </a:r>
          </a:p>
          <a:p>
            <a:pPr>
              <a:spcAft>
                <a:spcPts val="900"/>
              </a:spcAft>
              <a:defRPr sz="2100">
                <a:solidFill>
                  <a:srgbClr val="232830"/>
                </a:solidFill>
              </a:defRPr>
            </a:pPr>
            <a:r>
              <a:t>• Big Data is about scale, speed, variety, trust, and value.</a:t>
            </a:r>
          </a:p>
          <a:p>
            <a:pPr>
              <a:spcAft>
                <a:spcPts val="900"/>
              </a:spcAft>
              <a:defRPr sz="2100">
                <a:solidFill>
                  <a:srgbClr val="232830"/>
                </a:solidFill>
              </a:defRPr>
            </a:pPr>
            <a:r>
              <a:t>• A Big Data ecosystem is a team of tools with different jobs.</a:t>
            </a:r>
          </a:p>
          <a:p>
            <a:pPr>
              <a:spcAft>
                <a:spcPts val="900"/>
              </a:spcAft>
              <a:defRPr sz="2100">
                <a:solidFill>
                  <a:srgbClr val="232830"/>
                </a:solidFill>
              </a:defRPr>
            </a:pPr>
            <a:r>
              <a:t>• Data collection must be planned, useful, accurate, and responsible.</a:t>
            </a:r>
          </a:p>
          <a:p>
            <a:pPr>
              <a:spcAft>
                <a:spcPts val="900"/>
              </a:spcAft>
              <a:defRPr sz="2100">
                <a:solidFill>
                  <a:srgbClr val="232830"/>
                </a:solidFill>
              </a:defRPr>
            </a:pPr>
            <a:r>
              <a:t>• Always ask: Where did the data come from, can I trust it, and how will it be used?</a:t>
            </a:r>
          </a:p>
        </p:txBody>
      </p:sp>
      <p:sp>
        <p:nvSpPr>
          <p:cNvPr id="6" name="TextBox 5"/>
          <p:cNvSpPr txBox="1"/>
          <p:nvPr/>
        </p:nvSpPr>
        <p:spPr>
          <a:xfrm>
            <a:off x="10972800" y="6473952"/>
            <a:ext cx="548640" cy="182880"/>
          </a:xfrm>
          <a:prstGeom prst="rect">
            <a:avLst/>
          </a:prstGeom>
          <a:noFill/>
        </p:spPr>
        <p:txBody>
          <a:bodyPr wrap="none">
            <a:spAutoFit/>
          </a:bodyPr>
          <a:lstStyle/>
          <a:p>
            <a:pPr algn="r"/>
            <a:r>
              <a:rPr sz="1000">
                <a:solidFill>
                  <a:srgbClr val="5F6978"/>
                </a:solidFill>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