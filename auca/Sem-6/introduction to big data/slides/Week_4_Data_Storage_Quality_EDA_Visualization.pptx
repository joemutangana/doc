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9" d="100"/>
          <a:sy n="39" d="100"/>
        </p:scale>
        <p:origin x="60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184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week follows a simple data workflow: store data, clean and prepare it, explore it, then visualize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main flow is: Store → Prepare → Explore → Visualize.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Storage keeps data. It is different from analysis, which uses data to answer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database is useful when many users and systems need to work with the same data. Cloud storage means remote servers provide the storage.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Structured data fits rows and columns. Unstructured data is still useful, but often needs special tools to analyze.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table is like a spreadsheet. A primary key helps the system tell records apart. A query is a question or command sent to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HDFS is mainly for distributed storage. Spark is mainly for processing. Big Data systems often use many computers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Data quality asks: Can I trust this data? Having lots of data is not enough if the data is poor.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one system says age 25 and another says 52 = inconsistency. Age = 'blue' = invalid. Timeliness matters when decisions need current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Raw data is data as collected before it is cleaned and prepared. Preprocessing is the preparation stage before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Cleaning does not mean changing data randomly. Check why a value is missing or wrong and use a sensible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Standardize means making values follow one common format, such as one date format or one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mistake such as 250 instead of 25 can strongly affect averages and other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is like asking the data, 'What is going on here?' It helps you understand the dataset before making strong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outlier is not automatically an error. It may be a real unusual case. Check it before removing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2, 3, 3, 4, 8. Mean = 4, median = 3, mode = 3, minimum = 2, maximum = 8, range =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 shows a pattern. It does not automatically prove why Monday is busy; that needs more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same idea as the earlier HIV example: two things appearing together does not prove that one caused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Visualization is not decoration. The purpose is to make information easier to understand and support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 memory: Bar = compare. Line = time. Histogram = distribution. Scatter = relationship. Pie = simple parts of a whole.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chart can be correct but confusing. Clear titles, labels, and units help the reader understand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chart does not solve the problem by itself. It helps managers see where the problem may be and decide what to investigate.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Remember: Store → Prepare → Explore → Visualize. In real projects, you may move back and forth between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Answers: 1) database organizes/manages data for access and queries; file is a stored file. 2) structured has a clear table format; unstructured does not. 3) accuracy, completeness, consistency, timeliness, validity, uniqueness. 4) to prepare reliable data. 5) unusually different value. 6) mean is average; median is middle value. 7) line chart. 8) another factor may affect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Final memory line: Store it well → clean it → explore it → show it clearly → make careful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749807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AFD2FA"/>
                </a:solidFill>
              </a:rPr>
              <a:t>WEEK 4</a:t>
            </a:r>
          </a:p>
          <a:p>
            <a:r>
              <a:rPr sz="3900" b="1">
                <a:solidFill>
                  <a:srgbClr val="FFFFFF"/>
                </a:solidFill>
              </a:rPr>
              <a:t>Data Storage, Quality,
Exploration &amp;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D7E1F0"/>
                </a:solidFill>
              </a:rPr>
              <a:t>Simple study guide • examples • key terms • quiz-ready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914400"/>
            <a:ext cx="1645920" cy="1097280"/>
          </a:xfrm>
          <a:prstGeom prst="roundRect">
            <a:avLst/>
          </a:prstGeom>
          <a:solidFill>
            <a:srgbClr val="36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01200" y="1920240"/>
            <a:ext cx="1645920" cy="1097280"/>
          </a:xfrm>
          <a:prstGeom prst="roundRect">
            <a:avLst/>
          </a:prstGeom>
          <a:solidFill>
            <a:srgbClr val="27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0" y="3383280"/>
            <a:ext cx="1645920" cy="1097280"/>
          </a:xfrm>
          <a:prstGeom prst="roundRect">
            <a:avLst/>
          </a:prstGeom>
          <a:solidFill>
            <a:srgbClr val="DC8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966960" y="4572000"/>
            <a:ext cx="1645920" cy="1097280"/>
          </a:xfrm>
          <a:prstGeom prst="roundRect">
            <a:avLst/>
          </a:prstGeom>
          <a:solidFill>
            <a:srgbClr val="449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What you should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A.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t>How data is saved and common storage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B. Quality &amp; Preprocessing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t>How to find bad data and prepare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C. Exploratory 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t>How to find patterns and ask questions.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D.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t>How to show data clearly with charts.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1188720"/>
            <a:ext cx="146304" cy="3383280"/>
          </a:xfrm>
          <a:prstGeom prst="rect">
            <a:avLst/>
          </a:prstGeom>
          <a:solidFill>
            <a:srgbClr val="27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Group A — Data Storage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71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D7E1F0"/>
                </a:solidFill>
              </a:rPr>
              <a:t>How data is stored and managed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1. What is data storage?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Data storage means keeping data so it can be used later.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Data can be stored on a computer, server, database, cloud system, or storage device.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The goal is to keep data safe, available, and easy to use.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Example: a hospital stores patient records so doctors can view them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2. Common types of data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File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445590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Data is kept as files and folders. Example: </a:t>
            </a:r>
            <a:r>
              <a:rPr dirty="0" smtClean="0"/>
              <a:t>PDF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reports</a:t>
            </a:r>
            <a:r>
              <a:rPr dirty="0"/>
              <a:t>, Excel files,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39415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Data is organized so systems can search</a:t>
            </a:r>
            <a:r>
              <a:rPr dirty="0" smtClean="0"/>
              <a:t>,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add</a:t>
            </a:r>
            <a:r>
              <a:rPr dirty="0"/>
              <a:t>, change, and manage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Data warehouse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39449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A system mainly used to store </a:t>
            </a:r>
            <a:r>
              <a:rPr dirty="0" smtClean="0"/>
              <a:t>organized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data </a:t>
            </a:r>
            <a:r>
              <a:rPr dirty="0"/>
              <a:t>for reporting and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Cloud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399814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Data is stored on remote servers </a:t>
            </a:r>
            <a:r>
              <a:rPr dirty="0" smtClean="0"/>
              <a:t>and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accessed </a:t>
            </a:r>
            <a:r>
              <a:rPr dirty="0"/>
              <a:t>through a network or internet.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3. Structured, semi-structured and unstructured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Structured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390978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rPr dirty="0"/>
              <a:t>Clear table-like format. </a:t>
            </a:r>
            <a:endParaRPr lang="en-US" dirty="0" smtClean="0"/>
          </a:p>
          <a:p>
            <a:pPr>
              <a:defRPr sz="2000">
                <a:solidFill>
                  <a:srgbClr val="232830"/>
                </a:solidFill>
              </a:defRPr>
            </a:pPr>
            <a:r>
              <a:rPr dirty="0" smtClean="0"/>
              <a:t>Example</a:t>
            </a:r>
            <a:r>
              <a:rPr dirty="0"/>
              <a:t>: </a:t>
            </a:r>
            <a:r>
              <a:rPr dirty="0" err="1"/>
              <a:t>patient_id</a:t>
            </a:r>
            <a:r>
              <a:rPr dirty="0"/>
              <a:t>, age, diagnosis.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Semi-structured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439504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rPr dirty="0"/>
              <a:t>Some organization but not a fixed table. </a:t>
            </a:r>
            <a:endParaRPr lang="en-US" dirty="0" smtClean="0"/>
          </a:p>
          <a:p>
            <a:pPr>
              <a:defRPr sz="2000">
                <a:solidFill>
                  <a:srgbClr val="232830"/>
                </a:solidFill>
              </a:defRPr>
            </a:pPr>
            <a:r>
              <a:rPr dirty="0" smtClean="0"/>
              <a:t>Example</a:t>
            </a:r>
            <a:r>
              <a:rPr dirty="0"/>
              <a:t>: JSON or XML.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Unstructured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434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830"/>
                </a:solidFill>
              </a:defRPr>
            </a:pPr>
            <a:r>
              <a:rPr dirty="0"/>
              <a:t>No fixed table format. </a:t>
            </a:r>
            <a:endParaRPr lang="en-US" dirty="0" smtClean="0"/>
          </a:p>
          <a:p>
            <a:pPr>
              <a:defRPr sz="2000">
                <a:solidFill>
                  <a:srgbClr val="232830"/>
                </a:solidFill>
              </a:defRPr>
            </a:pPr>
            <a:r>
              <a:rPr dirty="0" smtClean="0"/>
              <a:t>Example</a:t>
            </a:r>
            <a:r>
              <a:rPr dirty="0"/>
              <a:t>: X-ray images, videos, free-text notes.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4. Database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Table: stores data in rows and columns.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Row: one record, such as one patient's record.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Column: one field, such as age or blood pressure.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Primary key: a value that uniquely identifies a record, such as patient_id.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Query: a request used to find or work with data in a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5. Storage technologies in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HDFS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4331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Hadoop Distributed File System. Stores very 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large </a:t>
            </a:r>
            <a:r>
              <a:rPr dirty="0"/>
              <a:t>files across several computers.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Apache Spark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Processes large amounts of data for fast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Cloud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Stores large amounts of data on remote servers.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Distributed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396518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Data is spread across several computers 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instead </a:t>
            </a:r>
            <a:r>
              <a:rPr dirty="0"/>
              <a:t>of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1188720"/>
            <a:ext cx="146304" cy="3383280"/>
          </a:xfrm>
          <a:prstGeom prst="rect">
            <a:avLst/>
          </a:prstGeom>
          <a:solidFill>
            <a:srgbClr val="27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Group B — Data Quality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71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D7E1F0"/>
                </a:solidFill>
              </a:rPr>
              <a:t>Make data trustworthy before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6. What is data quality?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Data quality means how correct, complete, consistent, and useful the data is.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Good data helps people make better decisions.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Bad data can lead to wrong results and wrong decisions.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Example: a patient's real age is 25, but the database says 52.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7. Main dimensions of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Is the value correct?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Is important information missing?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Does the same information agree across systems?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Timeliness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Is the data current when needed?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722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281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4646"/>
                </a:solidFill>
              </a:rPr>
              <a:t>Validity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7391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Does the value follow the required rule or format?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19" y="61722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1" y="6281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Uniqueness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1" y="67391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Are duplicate records removed?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8. What is data preprocessing?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Preprocessing means preparing raw data before analysis.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It can include cleaning, changing formats, combining data, and selecting useful fields.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Raw data may contain missing values, errors, duplicates, or different formats.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Goal: make data easier and safer to analyze.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9.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Missing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477470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A value is not recorded. Example: a patient's age 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is </a:t>
            </a:r>
            <a:r>
              <a:rPr dirty="0"/>
              <a:t>blank.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4646"/>
                </a:solidFill>
              </a:rPr>
              <a:t>Wrong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A value is clearly incorrect. Example: age = 250.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The same patient or record appears more than once.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Inconsistent format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Example: 01/05/2026 and 2026-05-01 for 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10. Common preprocessing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1. Remove or fix duplicate records.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2. Handle missing values.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3. Correct obvious errors.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4. Standardize formats, units, and names.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5. Combine data from different sources when needed.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6. Check the final data before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11. Example: cleaning hospital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Raw data: Age = 25, 25, 250, blank.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Check the records and find that 250 is an entry mistake.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Two records are duplicates and one age is missing.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After cleaning, the dataset is more reliable for analysis.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Important: do not guess a value without a good reason.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1188720"/>
            <a:ext cx="146304" cy="3383280"/>
          </a:xfrm>
          <a:prstGeom prst="rect">
            <a:avLst/>
          </a:prstGeom>
          <a:solidFill>
            <a:srgbClr val="27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Group C —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71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D7E1F0"/>
                </a:solidFill>
              </a:rPr>
              <a:t>Look at data before making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12. What is Exploratory Data Analysis (EDA)?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EDA means looking at data to understand what is inside it.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It helps find patterns, unusual values, relationships, and possible problems.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EDA often uses simple numbers, tables, and charts.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EDA happens before deeper analysis or modeling.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13. What can EDA help you find?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Example: patient visits are higher on Mondays.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4646"/>
                </a:solidFill>
              </a:rPr>
              <a:t>Outliers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A value very different from most others.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Relationships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Example: age and blood pressure may change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A value changes over time, such as cases rising or falling.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14. Basic statistics used in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Average: add all values and divide by the number of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Middle value after sorting the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Value that appears most often.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Minimum &amp; Maximum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Smallest and largest values.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722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281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4646"/>
                </a:solidFill>
              </a:rPr>
              <a:t>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7391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830"/>
                </a:solidFill>
              </a:defRPr>
            </a:pPr>
            <a:r>
              <a:t>Maximum minus minimum.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15. Example of EDA in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Question: Which day has the most patient visits?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Check the number of visits for each day.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Use a table or chart to compare the days.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Find the busiest day.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Then ask why it is busy and how the hospital can prepare.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16. Correlation: be careful!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Correlation means two variables change together in some way.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Example: ice cream sales and swimming activity may both rise in hot weather.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That does NOT mean ice cream causes people to swim.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Another factor, such as hot weather, may affect both.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Do not say 'one causes the other' without enough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1188720"/>
            <a:ext cx="146304" cy="3383280"/>
          </a:xfrm>
          <a:prstGeom prst="rect">
            <a:avLst/>
          </a:prstGeom>
          <a:solidFill>
            <a:srgbClr val="27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Group D — Data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71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>
                <a:solidFill>
                  <a:srgbClr val="D7E1F0"/>
                </a:solidFill>
              </a:rPr>
              <a:t>Turn data into clear pictures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17. What is data visualization?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Data visualization means showing data using charts, graphs, maps, or other visual forms.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It helps people see patterns and compare values quickly.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A good chart makes the main message easy to understand.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Example: a line chart can show how COVID-19 cases changed over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18. Common chart types and when to use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443704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rPr dirty="0"/>
              <a:t>Compare categories. Example: patients in different </a:t>
            </a:r>
            <a:endParaRPr lang="en-US" dirty="0" smtClean="0"/>
          </a:p>
          <a:p>
            <a:pPr>
              <a:defRPr sz="1600">
                <a:solidFill>
                  <a:srgbClr val="232830"/>
                </a:solidFill>
              </a:defRPr>
            </a:pPr>
            <a:r>
              <a:rPr dirty="0" smtClean="0"/>
              <a:t>departments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Show change over time. Example: monthly patient visits.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Pie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Show parts of a whole when there are a few clear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Histogram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45308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rPr dirty="0"/>
              <a:t>Show how numeric values are distributed. Example: </a:t>
            </a:r>
            <a:endParaRPr lang="en-US" dirty="0" smtClean="0"/>
          </a:p>
          <a:p>
            <a:pPr>
              <a:defRPr sz="1600">
                <a:solidFill>
                  <a:srgbClr val="232830"/>
                </a:solidFill>
              </a:defRPr>
            </a:pPr>
            <a:r>
              <a:rPr dirty="0" smtClean="0"/>
              <a:t>patient </a:t>
            </a:r>
            <a:r>
              <a:rPr dirty="0"/>
              <a:t>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1722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2819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E4646"/>
                </a:solidFill>
              </a:rPr>
              <a:t>Scatter plot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7391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32830"/>
                </a:solidFill>
              </a:defRPr>
            </a:pPr>
            <a:r>
              <a:t>Show the relationship between two numeric variables.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19. How to make a good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Give the chart a clear title.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Label the axes and units.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Use simple scales.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Do not add unnecessary information.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Make sure the chart matches the data.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Do not use a chart that can mislead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20. Example: hospital waiting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Suppose a hospital records average waiting time for each department.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Use a bar chart to compare departments.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If the emergency department has the longest waiting time, managers can investigate why.</a:t>
            </a:r>
          </a:p>
          <a:p>
            <a:pPr>
              <a:spcAft>
                <a:spcPts val="900"/>
              </a:spcAft>
              <a:defRPr sz="2100">
                <a:solidFill>
                  <a:srgbClr val="232830"/>
                </a:solidFill>
              </a:defRPr>
            </a:pPr>
            <a:r>
              <a:t>• Possible actions: add staff, change patient flow, or open another service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21. How the four groups work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36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68B4"/>
                </a:solidFill>
              </a:rPr>
              <a:t>1. 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Keep data safely and in a useful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19" y="11430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27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1" y="12527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78989"/>
                </a:solidFill>
              </a:rPr>
              <a:t>2. Prepare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1" y="1709928"/>
            <a:ext cx="49480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Clean errors, handle missing data, and standardize 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formats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449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4915A"/>
                </a:solidFill>
              </a:rPr>
              <a:t>3. 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50696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rPr dirty="0"/>
              <a:t>Use statistics and simple charts to find patterns and </a:t>
            </a:r>
            <a:endParaRPr lang="en-US" dirty="0" smtClean="0"/>
          </a:p>
          <a:p>
            <a:pPr>
              <a:defRPr sz="1800">
                <a:solidFill>
                  <a:srgbClr val="232830"/>
                </a:solidFill>
              </a:defRPr>
            </a:pPr>
            <a:r>
              <a:rPr dirty="0" smtClean="0"/>
              <a:t>problems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19" y="3657600"/>
            <a:ext cx="5394959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C8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1" y="3767328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DC822D"/>
                </a:solidFill>
              </a:rPr>
              <a:t>4. Visualize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1" y="4224528"/>
            <a:ext cx="50749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830"/>
                </a:solidFill>
              </a:defRPr>
            </a:pPr>
            <a:r>
              <a:t>Present important findings clearly.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22. Quick quiz — test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1. What is the difference between a database and a file?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2. What is the difference between structured and unstructured data?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3. Name three dimensions of data quality.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4. Why is data preprocessing needed?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5. What is an outlier?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6. What is the difference between mean and median?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7. Which chart is good for change over time?</a:t>
            </a:r>
          </a:p>
          <a:p>
            <a:pPr>
              <a:spcAft>
                <a:spcPts val="900"/>
              </a:spcAft>
              <a:defRPr sz="1800">
                <a:solidFill>
                  <a:srgbClr val="232830"/>
                </a:solidFill>
              </a:defRPr>
            </a:pPr>
            <a:r>
              <a:t>• 8. Why does correlation not always mean causation?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8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23. Key points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0" y="118872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BEDCFF"/>
                </a:solidFill>
              </a:rPr>
              <a:t>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32830"/>
                </a:solidFill>
              </a:defRPr>
            </a:pPr>
            <a:r>
              <a:t>• Storage keeps data safe and available.</a:t>
            </a:r>
          </a:p>
          <a:p>
            <a:pPr>
              <a:spcAft>
                <a:spcPts val="900"/>
              </a:spcAft>
              <a:defRPr sz="2200">
                <a:solidFill>
                  <a:srgbClr val="232830"/>
                </a:solidFill>
              </a:defRPr>
            </a:pPr>
            <a:r>
              <a:t>• Good data quality means the data can be trusted.</a:t>
            </a:r>
          </a:p>
          <a:p>
            <a:pPr>
              <a:spcAft>
                <a:spcPts val="900"/>
              </a:spcAft>
              <a:defRPr sz="2200">
                <a:solidFill>
                  <a:srgbClr val="232830"/>
                </a:solidFill>
              </a:defRPr>
            </a:pPr>
            <a:r>
              <a:t>• Preprocessing prepares raw data for analysis.</a:t>
            </a:r>
          </a:p>
          <a:p>
            <a:pPr>
              <a:spcAft>
                <a:spcPts val="900"/>
              </a:spcAft>
              <a:defRPr sz="2200">
                <a:solidFill>
                  <a:srgbClr val="232830"/>
                </a:solidFill>
              </a:defRPr>
            </a:pPr>
            <a:r>
              <a:t>• EDA helps find patterns, outliers, relationships, and trends.</a:t>
            </a:r>
          </a:p>
          <a:p>
            <a:pPr>
              <a:spcAft>
                <a:spcPts val="900"/>
              </a:spcAft>
              <a:defRPr sz="2200">
                <a:solidFill>
                  <a:srgbClr val="232830"/>
                </a:solidFill>
              </a:defRPr>
            </a:pPr>
            <a:r>
              <a:t>• Visualization makes findings easier to understand.</a:t>
            </a:r>
          </a:p>
          <a:p>
            <a:pPr>
              <a:spcAft>
                <a:spcPts val="900"/>
              </a:spcAft>
              <a:defRPr sz="2200">
                <a:solidFill>
                  <a:srgbClr val="232830"/>
                </a:solidFill>
              </a:defRPr>
            </a:pPr>
            <a:r>
              <a:t>• Good data work needs both technology and human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F6978"/>
                </a:solidFill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2263</Words>
  <Application>Microsoft Office PowerPoint</Application>
  <PresentationFormat>Widescreen</PresentationFormat>
  <Paragraphs>283</Paragraphs>
  <Slides>29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2026-10-05T21:15:42Z</dcterms:modified>
  <cp:category/>
</cp:coreProperties>
</file>