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10515600" y="4480560"/>
            <a:ext cx="3291840" cy="329184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5" name="Text 3"/>
          <p:cNvSpPr/>
          <p:nvPr/>
        </p:nvSpPr>
        <p:spPr>
          <a:xfrm>
            <a:off x="822960" y="10515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AUCA  ·  Semester Teaching 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Analytics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15-Week Semester Teaching Plan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224528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One Session per Week   ·   8:30 AM – 11:00 AM   ·   Alternating Lab &amp; Presentation Weeks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68172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Mid-Term Exam (Week 8), Project Presentations (Week 14) &amp; Final Exam (Week 15)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Prince Ishimwe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101600" dist="25400" dir="5400000" algn="bl" rotWithShape="0">
              <a:srgbClr val="33415E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0392" y="1572768"/>
            <a:ext cx="201168" cy="201168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5" name="Text 3"/>
          <p:cNvSpPr/>
          <p:nvPr/>
        </p:nvSpPr>
        <p:spPr>
          <a:xfrm>
            <a:off x="850392" y="182880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Weeks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0392" y="23957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274320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semester format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Weeks 1–7 &amp; 9–13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101600" dist="25400" dir="5400000" algn="bl" rotWithShape="0">
              <a:srgbClr val="33415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1572768"/>
            <a:ext cx="201168" cy="201168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0" name="Text 8"/>
          <p:cNvSpPr/>
          <p:nvPr/>
        </p:nvSpPr>
        <p:spPr>
          <a:xfrm>
            <a:off x="4645152" y="182880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 / Week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45152" y="23957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274320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weeks: Practical Python Lab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weeks: Group Presentations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blurRad="101600" dist="25400" dir="5400000" algn="bl" rotWithShape="0">
              <a:srgbClr val="33415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39912" y="1572768"/>
            <a:ext cx="201168" cy="201168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5" name="Text 13"/>
          <p:cNvSpPr/>
          <p:nvPr/>
        </p:nvSpPr>
        <p:spPr>
          <a:xfrm>
            <a:off x="8439912" y="182880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Groups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39912" y="23957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9912" y="274320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A, B, C, 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presentation topics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CF0E3"/>
          </a:solidFill>
        </p:spPr>
      </p:sp>
      <p:sp>
        <p:nvSpPr>
          <p:cNvPr id="20" name="Shape 18"/>
          <p:cNvSpPr/>
          <p:nvPr/>
        </p:nvSpPr>
        <p:spPr>
          <a:xfrm>
            <a:off x="850392" y="45720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21" name="Text 19"/>
          <p:cNvSpPr/>
          <p:nvPr/>
        </p:nvSpPr>
        <p:spPr>
          <a:xfrm>
            <a:off x="850392" y="4572000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5029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Examination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50392" y="541324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1–7  ·  30% of grade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3434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7F5F2"/>
          </a:solidFill>
        </p:spPr>
      </p:sp>
      <p:sp>
        <p:nvSpPr>
          <p:cNvPr id="25" name="Shape 23"/>
          <p:cNvSpPr/>
          <p:nvPr/>
        </p:nvSpPr>
        <p:spPr>
          <a:xfrm>
            <a:off x="4645152" y="45720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26" name="Text 24"/>
          <p:cNvSpPr/>
          <p:nvPr/>
        </p:nvSpPr>
        <p:spPr>
          <a:xfrm>
            <a:off x="4645152" y="4572000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45152" y="5029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45152" y="541324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 present final projects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43434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AECEA"/>
          </a:solidFill>
        </p:spPr>
      </p:sp>
      <p:sp>
        <p:nvSpPr>
          <p:cNvPr id="30" name="Shape 28"/>
          <p:cNvSpPr/>
          <p:nvPr/>
        </p:nvSpPr>
        <p:spPr>
          <a:xfrm>
            <a:off x="8439912" y="45720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31" name="Text 29"/>
          <p:cNvSpPr/>
          <p:nvPr/>
        </p:nvSpPr>
        <p:spPr>
          <a:xfrm>
            <a:off x="8439912" y="4572000"/>
            <a:ext cx="960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39912" y="5029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439912" y="541324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 ·  40% of grade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alternates hands-on Python lab weeks with group presentation weeks — one session per week.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Learning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66960" y="45720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Weeks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755648" cy="475488"/>
          </a:xfrm>
          <a:prstGeom prst="roundRect">
            <a:avLst>
              <a:gd name="adj" fmla="val 17308"/>
            </a:avLst>
          </a:prstGeom>
          <a:solidFill>
            <a:srgbClr val="1FA08E"/>
          </a:solidFill>
        </p:spPr>
      </p:sp>
      <p:sp>
        <p:nvSpPr>
          <p:cNvPr id="5" name="Text 3"/>
          <p:cNvSpPr/>
          <p:nvPr/>
        </p:nvSpPr>
        <p:spPr>
          <a:xfrm>
            <a:off x="502920" y="1188720"/>
            <a:ext cx="175564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1755648" cy="3063240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956816"/>
            <a:ext cx="14996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" y="2788920"/>
            <a:ext cx="1517904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Dictionaries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86584" y="1188720"/>
            <a:ext cx="1755648" cy="475488"/>
          </a:xfrm>
          <a:prstGeom prst="roundRect">
            <a:avLst>
              <a:gd name="adj" fmla="val 17308"/>
            </a:avLst>
          </a:prstGeom>
          <a:solidFill>
            <a:srgbClr val="1F2A56"/>
          </a:solidFill>
        </p:spPr>
      </p:sp>
      <p:sp>
        <p:nvSpPr>
          <p:cNvPr id="10" name="Text 8"/>
          <p:cNvSpPr/>
          <p:nvPr/>
        </p:nvSpPr>
        <p:spPr>
          <a:xfrm>
            <a:off x="2386584" y="1188720"/>
            <a:ext cx="175564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86584" y="1810512"/>
            <a:ext cx="1755648" cy="3063240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956816"/>
            <a:ext cx="14996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&amp; Functions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14600" y="2788920"/>
            <a:ext cx="1517904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Loops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&amp; Errors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0248" y="1188720"/>
            <a:ext cx="1755648" cy="475488"/>
          </a:xfrm>
          <a:prstGeom prst="roundRect">
            <a:avLst>
              <a:gd name="adj" fmla="val 17308"/>
            </a:avLst>
          </a:prstGeom>
          <a:solidFill>
            <a:srgbClr val="7B5EA7"/>
          </a:solidFill>
        </p:spPr>
      </p:sp>
      <p:sp>
        <p:nvSpPr>
          <p:cNvPr id="15" name="Text 13"/>
          <p:cNvSpPr/>
          <p:nvPr/>
        </p:nvSpPr>
        <p:spPr>
          <a:xfrm>
            <a:off x="4270248" y="1188720"/>
            <a:ext cx="175564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0248" y="1810512"/>
            <a:ext cx="1755648" cy="3063240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1956816"/>
            <a:ext cx="14996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+ NumPy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398264" y="2788920"/>
            <a:ext cx="1517904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&amp; Comprehensions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3912" y="1188720"/>
            <a:ext cx="1755648" cy="475488"/>
          </a:xfrm>
          <a:prstGeom prst="roundRect">
            <a:avLst>
              <a:gd name="adj" fmla="val 17308"/>
            </a:avLst>
          </a:prstGeom>
          <a:solidFill>
            <a:srgbClr val="E67E22"/>
          </a:solidFill>
        </p:spPr>
      </p:sp>
      <p:sp>
        <p:nvSpPr>
          <p:cNvPr id="20" name="Text 18"/>
          <p:cNvSpPr/>
          <p:nvPr/>
        </p:nvSpPr>
        <p:spPr>
          <a:xfrm>
            <a:off x="6153912" y="1188720"/>
            <a:ext cx="175564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53912" y="1810512"/>
            <a:ext cx="1755648" cy="3063240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956816"/>
            <a:ext cx="14996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EDA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81928" y="2788920"/>
            <a:ext cx="1517904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GroupBy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37576" y="1188720"/>
            <a:ext cx="1755648" cy="475488"/>
          </a:xfrm>
          <a:prstGeom prst="roundRect">
            <a:avLst>
              <a:gd name="adj" fmla="val 17308"/>
            </a:avLst>
          </a:prstGeom>
          <a:solidFill>
            <a:srgbClr val="C0392B"/>
          </a:solidFill>
        </p:spPr>
      </p:sp>
      <p:sp>
        <p:nvSpPr>
          <p:cNvPr id="25" name="Text 23"/>
          <p:cNvSpPr/>
          <p:nvPr/>
        </p:nvSpPr>
        <p:spPr>
          <a:xfrm>
            <a:off x="8037576" y="1188720"/>
            <a:ext cx="175564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37576" y="1810512"/>
            <a:ext cx="1755648" cy="3063240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65592" y="1956816"/>
            <a:ext cx="14996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Dashboards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65592" y="2788920"/>
            <a:ext cx="1517904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Basics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Dashboards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921240" y="1188720"/>
            <a:ext cx="1755648" cy="475488"/>
          </a:xfrm>
          <a:prstGeom prst="roundRect">
            <a:avLst>
              <a:gd name="adj" fmla="val 17308"/>
            </a:avLst>
          </a:prstGeom>
          <a:solidFill>
            <a:srgbClr val="0F6E8C"/>
          </a:solidFill>
        </p:spPr>
      </p:sp>
      <p:sp>
        <p:nvSpPr>
          <p:cNvPr id="30" name="Text 28"/>
          <p:cNvSpPr/>
          <p:nvPr/>
        </p:nvSpPr>
        <p:spPr>
          <a:xfrm>
            <a:off x="9921240" y="1188720"/>
            <a:ext cx="175564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921240" y="1810512"/>
            <a:ext cx="1755648" cy="3063240"/>
          </a:xfrm>
          <a:prstGeom prst="roundRect">
            <a:avLst>
              <a:gd name="adj" fmla="val 4688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49256" y="1956816"/>
            <a:ext cx="14996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Tools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049256" y="2788920"/>
            <a:ext cx="1517904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Basics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with Python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Project Prep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51389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Weeks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212080" y="513892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weeks: 2 · 4 · 6 · 9 · 11        Project consultation: Week 13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532120"/>
            <a:ext cx="3639312" cy="685800"/>
          </a:xfrm>
          <a:prstGeom prst="roundRect">
            <a:avLst>
              <a:gd name="adj" fmla="val 12000"/>
            </a:avLst>
          </a:prstGeom>
          <a:solidFill>
            <a:srgbClr val="FCF0E3"/>
          </a:solidFill>
        </p:spPr>
      </p:sp>
      <p:sp>
        <p:nvSpPr>
          <p:cNvPr id="37" name="Shape 35"/>
          <p:cNvSpPr/>
          <p:nvPr/>
        </p:nvSpPr>
        <p:spPr>
          <a:xfrm>
            <a:off x="722376" y="5769864"/>
            <a:ext cx="201168" cy="201168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38" name="Text 36"/>
          <p:cNvSpPr/>
          <p:nvPr/>
        </p:nvSpPr>
        <p:spPr>
          <a:xfrm>
            <a:off x="1051560" y="5532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Mid-Term Examination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325112" y="5532120"/>
            <a:ext cx="3639312" cy="685800"/>
          </a:xfrm>
          <a:prstGeom prst="roundRect">
            <a:avLst>
              <a:gd name="adj" fmla="val 12000"/>
            </a:avLst>
          </a:prstGeom>
          <a:solidFill>
            <a:srgbClr val="E7F5F2"/>
          </a:solidFill>
        </p:spPr>
      </p:sp>
      <p:sp>
        <p:nvSpPr>
          <p:cNvPr id="40" name="Shape 38"/>
          <p:cNvSpPr/>
          <p:nvPr/>
        </p:nvSpPr>
        <p:spPr>
          <a:xfrm>
            <a:off x="4544568" y="5769864"/>
            <a:ext cx="201168" cy="201168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41" name="Text 39"/>
          <p:cNvSpPr/>
          <p:nvPr/>
        </p:nvSpPr>
        <p:spPr>
          <a:xfrm>
            <a:off x="4873752" y="5532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 ·  Project Presentations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147304" y="5532120"/>
            <a:ext cx="3639312" cy="685800"/>
          </a:xfrm>
          <a:prstGeom prst="roundRect">
            <a:avLst>
              <a:gd name="adj" fmla="val 12000"/>
            </a:avLst>
          </a:prstGeom>
          <a:solidFill>
            <a:srgbClr val="FAECEA"/>
          </a:solidFill>
        </p:spPr>
      </p:sp>
      <p:sp>
        <p:nvSpPr>
          <p:cNvPr id="43" name="Shape 41"/>
          <p:cNvSpPr/>
          <p:nvPr/>
        </p:nvSpPr>
        <p:spPr>
          <a:xfrm>
            <a:off x="8366760" y="5769864"/>
            <a:ext cx="201168" cy="201168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44" name="Text 42"/>
          <p:cNvSpPr/>
          <p:nvPr/>
        </p:nvSpPr>
        <p:spPr>
          <a:xfrm>
            <a:off x="8695944" y="55321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Final Examination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Plan  ·  Weeks 1–4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11580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A08E"/>
          </a:solidFill>
        </p:spPr>
      </p:sp>
      <p:sp>
        <p:nvSpPr>
          <p:cNvPr id="4" name="Text 2"/>
          <p:cNvSpPr/>
          <p:nvPr/>
        </p:nvSpPr>
        <p:spPr>
          <a:xfrm>
            <a:off x="594360" y="1211580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27632" y="987552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7F5F2"/>
          </a:solidFill>
        </p:spPr>
      </p:sp>
      <p:sp>
        <p:nvSpPr>
          <p:cNvPr id="6" name="Text 4"/>
          <p:cNvSpPr/>
          <p:nvPr/>
        </p:nvSpPr>
        <p:spPr>
          <a:xfrm>
            <a:off x="1847088" y="10972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SESSION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47088" y="1353312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47088" y="1709928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  ·  Lists &amp; Dictionaries  ·  Jupyter Notebooks Setup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55748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2A56"/>
          </a:solidFill>
        </p:spPr>
      </p:sp>
      <p:sp>
        <p:nvSpPr>
          <p:cNvPr id="10" name="Text 8"/>
          <p:cNvSpPr/>
          <p:nvPr/>
        </p:nvSpPr>
        <p:spPr>
          <a:xfrm>
            <a:off x="594360" y="2555748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2331720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DF0F8"/>
          </a:solidFill>
        </p:spPr>
      </p:sp>
      <p:sp>
        <p:nvSpPr>
          <p:cNvPr id="12" name="Text 10"/>
          <p:cNvSpPr/>
          <p:nvPr/>
        </p:nvSpPr>
        <p:spPr>
          <a:xfrm>
            <a:off x="1847088" y="24323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47088" y="2697480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&amp; Data Science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Fundamentals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20840" y="2697480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Acquisition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899916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A08E"/>
          </a:solidFill>
        </p:spPr>
      </p:sp>
      <p:sp>
        <p:nvSpPr>
          <p:cNvPr id="16" name="Text 14"/>
          <p:cNvSpPr/>
          <p:nvPr/>
        </p:nvSpPr>
        <p:spPr>
          <a:xfrm>
            <a:off x="594360" y="3899916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27632" y="3675888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7F5F2"/>
          </a:solidFill>
        </p:spPr>
      </p:sp>
      <p:sp>
        <p:nvSpPr>
          <p:cNvPr id="18" name="Text 16"/>
          <p:cNvSpPr/>
          <p:nvPr/>
        </p:nvSpPr>
        <p:spPr>
          <a:xfrm>
            <a:off x="1847088" y="378561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SESSION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47088" y="4041648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&amp; Functions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847088" y="4398264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 ·  For &amp; While Loops  ·  Functions &amp; Scope  ·  File I/O &amp; Error Handling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5244084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2A56"/>
          </a:solidFill>
        </p:spPr>
      </p:sp>
      <p:sp>
        <p:nvSpPr>
          <p:cNvPr id="22" name="Text 20"/>
          <p:cNvSpPr/>
          <p:nvPr/>
        </p:nvSpPr>
        <p:spPr>
          <a:xfrm>
            <a:off x="594360" y="5244084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27632" y="5020056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DF0F8"/>
          </a:solidFill>
        </p:spPr>
      </p:sp>
      <p:sp>
        <p:nvSpPr>
          <p:cNvPr id="24" name="Text 22"/>
          <p:cNvSpPr/>
          <p:nvPr/>
        </p:nvSpPr>
        <p:spPr>
          <a:xfrm>
            <a:off x="1847088" y="512064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47088" y="5385816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Technologies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Preprocessing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20840" y="5385816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Big Data Analytics  ·  15-Week Teaching Plan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Plan  ·  Weeks 5–8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11580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A08E"/>
          </a:solidFill>
        </p:spPr>
      </p:sp>
      <p:sp>
        <p:nvSpPr>
          <p:cNvPr id="4" name="Text 2"/>
          <p:cNvSpPr/>
          <p:nvPr/>
        </p:nvSpPr>
        <p:spPr>
          <a:xfrm>
            <a:off x="594360" y="1211580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27632" y="987552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7F5F2"/>
          </a:solidFill>
        </p:spPr>
      </p:sp>
      <p:sp>
        <p:nvSpPr>
          <p:cNvPr id="6" name="Text 4"/>
          <p:cNvSpPr/>
          <p:nvPr/>
        </p:nvSpPr>
        <p:spPr>
          <a:xfrm>
            <a:off x="1847088" y="10972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SESSION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47088" y="1353312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+ NumPy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47088" y="1709928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 ·  List Comprehensions  ·  NumPy Arrays  ·  Vectorized Operations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55748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2A56"/>
          </a:solidFill>
        </p:spPr>
      </p:sp>
      <p:sp>
        <p:nvSpPr>
          <p:cNvPr id="10" name="Text 8"/>
          <p:cNvSpPr/>
          <p:nvPr/>
        </p:nvSpPr>
        <p:spPr>
          <a:xfrm>
            <a:off x="594360" y="2555748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2331720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DF0F8"/>
          </a:solidFill>
        </p:spPr>
      </p:sp>
      <p:sp>
        <p:nvSpPr>
          <p:cNvPr id="12" name="Text 10"/>
          <p:cNvSpPr/>
          <p:nvPr/>
        </p:nvSpPr>
        <p:spPr>
          <a:xfrm>
            <a:off x="1847088" y="243230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47088" y="2697480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20840" y="2697480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Big Data in Healthcare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Big Data in Banking &amp; Finance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899916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A08E"/>
          </a:solidFill>
        </p:spPr>
      </p:sp>
      <p:sp>
        <p:nvSpPr>
          <p:cNvPr id="16" name="Text 14"/>
          <p:cNvSpPr/>
          <p:nvPr/>
        </p:nvSpPr>
        <p:spPr>
          <a:xfrm>
            <a:off x="594360" y="3899916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27632" y="3675888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7F5F2"/>
          </a:solidFill>
        </p:spPr>
      </p:sp>
      <p:sp>
        <p:nvSpPr>
          <p:cNvPr id="18" name="Text 16"/>
          <p:cNvSpPr/>
          <p:nvPr/>
        </p:nvSpPr>
        <p:spPr>
          <a:xfrm>
            <a:off x="1847088" y="378561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SESSION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47088" y="4041648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EDA + Mid-Term Review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847088" y="4398264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GroupBy  ·  Data Cleaning  ·  Matplotlib &amp; Seaborn  ·  Revision of Weeks 1–7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5244084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E67E22"/>
          </a:solidFill>
        </p:spPr>
      </p:sp>
      <p:sp>
        <p:nvSpPr>
          <p:cNvPr id="22" name="Text 20"/>
          <p:cNvSpPr/>
          <p:nvPr/>
        </p:nvSpPr>
        <p:spPr>
          <a:xfrm>
            <a:off x="594360" y="5244084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27632" y="5020056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FCF0E3"/>
          </a:solidFill>
        </p:spPr>
      </p:sp>
      <p:sp>
        <p:nvSpPr>
          <p:cNvPr id="24" name="Text 22"/>
          <p:cNvSpPr/>
          <p:nvPr/>
        </p:nvSpPr>
        <p:spPr>
          <a:xfrm>
            <a:off x="1920240" y="5166360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EXAMINATION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920240" y="562356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1–7 (Python Foundations → Pandas &amp; EDA)  ·  30% of final grade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Big Data Analytics  ·  15-Week Teaching Plan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Plan  ·  Weeks 9–12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11580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2A56"/>
          </a:solidFill>
        </p:spPr>
      </p:sp>
      <p:sp>
        <p:nvSpPr>
          <p:cNvPr id="4" name="Text 2"/>
          <p:cNvSpPr/>
          <p:nvPr/>
        </p:nvSpPr>
        <p:spPr>
          <a:xfrm>
            <a:off x="594360" y="1211580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27632" y="987552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DF0F8"/>
          </a:solidFill>
        </p:spPr>
      </p:sp>
      <p:sp>
        <p:nvSpPr>
          <p:cNvPr id="6" name="Text 4"/>
          <p:cNvSpPr/>
          <p:nvPr/>
        </p:nvSpPr>
        <p:spPr>
          <a:xfrm>
            <a:off x="1847088" y="1088136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47088" y="1353312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Platforms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20840" y="1353312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Big Data in Agriculture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Big Data in Education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555748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A08E"/>
          </a:solidFill>
        </p:spPr>
      </p:sp>
      <p:sp>
        <p:nvSpPr>
          <p:cNvPr id="10" name="Text 8"/>
          <p:cNvSpPr/>
          <p:nvPr/>
        </p:nvSpPr>
        <p:spPr>
          <a:xfrm>
            <a:off x="594360" y="2555748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2331720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7F5F2"/>
          </a:solidFill>
        </p:spPr>
      </p:sp>
      <p:sp>
        <p:nvSpPr>
          <p:cNvPr id="12" name="Text 10"/>
          <p:cNvSpPr/>
          <p:nvPr/>
        </p:nvSpPr>
        <p:spPr>
          <a:xfrm>
            <a:off x="1847088" y="24414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SESSION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47088" y="2697480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Dashboards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47088" y="3054096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(Regression, Classification)  ·  Feature Engineering  ·  Plotly Dashboards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899916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2A56"/>
          </a:solidFill>
        </p:spPr>
      </p:sp>
      <p:sp>
        <p:nvSpPr>
          <p:cNvPr id="16" name="Text 14"/>
          <p:cNvSpPr/>
          <p:nvPr/>
        </p:nvSpPr>
        <p:spPr>
          <a:xfrm>
            <a:off x="594360" y="3899916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27632" y="3675888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DF0F8"/>
          </a:solidFill>
        </p:spPr>
      </p:sp>
      <p:sp>
        <p:nvSpPr>
          <p:cNvPr id="18" name="Text 16"/>
          <p:cNvSpPr/>
          <p:nvPr/>
        </p:nvSpPr>
        <p:spPr>
          <a:xfrm>
            <a:off x="1847088" y="377647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47088" y="4041648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Privacy &amp; Security in Big Data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Artificial Intelligence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20840" y="4041648"/>
            <a:ext cx="4663440" cy="786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Smart Cities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Rwanda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5244084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A08E"/>
          </a:solidFill>
        </p:spPr>
      </p:sp>
      <p:sp>
        <p:nvSpPr>
          <p:cNvPr id="22" name="Text 20"/>
          <p:cNvSpPr/>
          <p:nvPr/>
        </p:nvSpPr>
        <p:spPr>
          <a:xfrm>
            <a:off x="594360" y="5244084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27632" y="5020056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7F5F2"/>
          </a:solidFill>
        </p:spPr>
      </p:sp>
      <p:sp>
        <p:nvSpPr>
          <p:cNvPr id="24" name="Text 22"/>
          <p:cNvSpPr/>
          <p:nvPr/>
        </p:nvSpPr>
        <p:spPr>
          <a:xfrm>
            <a:off x="1847088" y="512978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SESSION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47088" y="5385816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Tools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847088" y="5742432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Basics  ·  SQL with Python  ·  APIs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Big Data Analytics  ·  15-Week Teaching Plan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Plan  ·  Weeks 13–15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11580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94360" y="1211580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27632" y="987552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F1EDF8"/>
          </a:solidFill>
        </p:spPr>
      </p:sp>
      <p:sp>
        <p:nvSpPr>
          <p:cNvPr id="6" name="Text 4"/>
          <p:cNvSpPr/>
          <p:nvPr/>
        </p:nvSpPr>
        <p:spPr>
          <a:xfrm>
            <a:off x="1847088" y="10972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WEEK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47088" y="1353312"/>
            <a:ext cx="9509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Consultation &amp; Course Review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47088" y="1709928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consultations (all groups)  ·  Project progress check  ·  Preparation for Week 14 presentations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55748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1FA08E"/>
          </a:solidFill>
        </p:spPr>
      </p:sp>
      <p:sp>
        <p:nvSpPr>
          <p:cNvPr id="10" name="Text 8"/>
          <p:cNvSpPr/>
          <p:nvPr/>
        </p:nvSpPr>
        <p:spPr>
          <a:xfrm>
            <a:off x="594360" y="2555748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2331720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E7F5F2"/>
          </a:solidFill>
        </p:spPr>
      </p:sp>
      <p:sp>
        <p:nvSpPr>
          <p:cNvPr id="12" name="Text 10"/>
          <p:cNvSpPr/>
          <p:nvPr/>
        </p:nvSpPr>
        <p:spPr>
          <a:xfrm>
            <a:off x="1920240" y="2478024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20240" y="293522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 (A, B, C, D) present final projects  ·  Project Report + Presentation Slides due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899916"/>
            <a:ext cx="868680" cy="768096"/>
          </a:xfrm>
          <a:prstGeom prst="roundRect">
            <a:avLst>
              <a:gd name="adj" fmla="val 10714"/>
            </a:avLst>
          </a:prstGeom>
          <a:solidFill>
            <a:srgbClr val="C0392B"/>
          </a:solidFill>
        </p:spPr>
      </p:sp>
      <p:sp>
        <p:nvSpPr>
          <p:cNvPr id="15" name="Text 13"/>
          <p:cNvSpPr/>
          <p:nvPr/>
        </p:nvSpPr>
        <p:spPr>
          <a:xfrm>
            <a:off x="594360" y="3899916"/>
            <a:ext cx="8686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27632" y="3675888"/>
            <a:ext cx="9966960" cy="1216152"/>
          </a:xfrm>
          <a:prstGeom prst="roundRect">
            <a:avLst>
              <a:gd name="adj" fmla="val 6767"/>
            </a:avLst>
          </a:prstGeom>
          <a:solidFill>
            <a:srgbClr val="FAECEA"/>
          </a:solidFill>
        </p:spPr>
      </p:sp>
      <p:sp>
        <p:nvSpPr>
          <p:cNvPr id="17" name="Text 15"/>
          <p:cNvSpPr/>
          <p:nvPr/>
        </p:nvSpPr>
        <p:spPr>
          <a:xfrm>
            <a:off x="1920240" y="3822192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20240" y="427939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— covers the full course  ·  40% of final grade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Big Data Analytics  ·  15-Week Teaching Plan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Presentation Allocation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70048" cy="502920"/>
          </a:xfrm>
          <a:prstGeom prst="roundRect">
            <a:avLst>
              <a:gd name="adj" fmla="val 16364"/>
            </a:avLst>
          </a:prstGeom>
          <a:solidFill>
            <a:srgbClr val="1FA08E"/>
          </a:solidFill>
        </p:spPr>
      </p:sp>
      <p:sp>
        <p:nvSpPr>
          <p:cNvPr id="4" name="Text 2"/>
          <p:cNvSpPr/>
          <p:nvPr/>
        </p:nvSpPr>
        <p:spPr>
          <a:xfrm>
            <a:off x="548640" y="1051560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6479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Data &amp; Data Science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514600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Technologies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264408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Machine Learning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68496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01421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Platforms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764024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Privacy &amp; Security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46811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551383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92424" y="1051560"/>
            <a:ext cx="2670048" cy="502920"/>
          </a:xfrm>
          <a:prstGeom prst="roundRect">
            <a:avLst>
              <a:gd name="adj" fmla="val 16364"/>
            </a:avLst>
          </a:prstGeom>
          <a:solidFill>
            <a:srgbClr val="1F2A56"/>
          </a:solidFill>
        </p:spPr>
      </p:sp>
      <p:sp>
        <p:nvSpPr>
          <p:cNvPr id="18" name="Text 16"/>
          <p:cNvSpPr/>
          <p:nvPr/>
        </p:nvSpPr>
        <p:spPr>
          <a:xfrm>
            <a:off x="3392424" y="1051560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92424" y="171907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176479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Fundamentals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92424" y="246888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1296" y="2514600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Preprocessing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92424" y="3218688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1296" y="3264408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92424" y="3968496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401421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92424" y="4718304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4764024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92424" y="546811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551383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36208" y="1051560"/>
            <a:ext cx="2670048" cy="502920"/>
          </a:xfrm>
          <a:prstGeom prst="roundRect">
            <a:avLst>
              <a:gd name="adj" fmla="val 16364"/>
            </a:avLst>
          </a:prstGeom>
          <a:solidFill>
            <a:srgbClr val="E67E22"/>
          </a:solidFill>
        </p:spPr>
      </p:sp>
      <p:sp>
        <p:nvSpPr>
          <p:cNvPr id="32" name="Text 30"/>
          <p:cNvSpPr/>
          <p:nvPr/>
        </p:nvSpPr>
        <p:spPr>
          <a:xfrm>
            <a:off x="6236208" y="1051560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36208" y="171907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76479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Ecosystem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36208" y="246888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514600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36208" y="3218688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264408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Healthcare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6208" y="3968496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01421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Agriculture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36208" y="4718304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4764024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Smart Cities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36208" y="546811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551383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79992" y="1051560"/>
            <a:ext cx="2670048" cy="502920"/>
          </a:xfrm>
          <a:prstGeom prst="roundRect">
            <a:avLst>
              <a:gd name="adj" fmla="val 16364"/>
            </a:avLst>
          </a:prstGeom>
          <a:solidFill>
            <a:srgbClr val="C0392B"/>
          </a:solidFill>
        </p:spPr>
      </p:sp>
      <p:sp>
        <p:nvSpPr>
          <p:cNvPr id="46" name="Text 44"/>
          <p:cNvSpPr/>
          <p:nvPr/>
        </p:nvSpPr>
        <p:spPr>
          <a:xfrm>
            <a:off x="9079992" y="1051560"/>
            <a:ext cx="2670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9992" y="171907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98864" y="176479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Acquisition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79992" y="246888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98864" y="2514600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079992" y="3218688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98864" y="3264408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Banking &amp; Finance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79992" y="3968496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98864" y="4014216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Education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079992" y="4718304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98864" y="4764024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 Rwanda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079992" y="5468112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F7F8FC"/>
          </a:solidFill>
          <a:ln w="9525">
            <a:solidFill>
              <a:srgbClr val="D8DE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98864" y="5513832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   </a:t>
            </a: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94360" y="6419088"/>
            <a:ext cx="10972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groups present in each presentation week (Weeks 2, 4, 6, 9, 11)  ·  Week 13 is reserved for project consultation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E7F5F2"/>
          </a:solidFill>
        </p:spPr>
      </p:sp>
      <p:sp>
        <p:nvSpPr>
          <p:cNvPr id="4" name="Shape 2"/>
          <p:cNvSpPr/>
          <p:nvPr/>
        </p:nvSpPr>
        <p:spPr>
          <a:xfrm>
            <a:off x="896112" y="1892808"/>
            <a:ext cx="237744" cy="237744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5" name="Text 3"/>
          <p:cNvSpPr/>
          <p:nvPr/>
        </p:nvSpPr>
        <p:spPr>
          <a:xfrm>
            <a:off x="1371600" y="1618488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Assessment (CA)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labs, presentations, reports &amp; project work  ·  Weeks 1–14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635240" y="1874520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1E5EE"/>
          </a:solidFill>
        </p:spPr>
      </p:sp>
      <p:sp>
        <p:nvSpPr>
          <p:cNvPr id="8" name="Shape 6"/>
          <p:cNvSpPr/>
          <p:nvPr/>
        </p:nvSpPr>
        <p:spPr>
          <a:xfrm>
            <a:off x="7635240" y="1874520"/>
            <a:ext cx="1920240" cy="274320"/>
          </a:xfrm>
          <a:prstGeom prst="roundRect">
            <a:avLst>
              <a:gd name="adj" fmla="val 40000"/>
            </a:avLst>
          </a:prstGeom>
          <a:solidFill>
            <a:srgbClr val="1FA08E"/>
          </a:solidFill>
        </p:spPr>
      </p:sp>
      <p:sp>
        <p:nvSpPr>
          <p:cNvPr id="9" name="Text 7"/>
          <p:cNvSpPr/>
          <p:nvPr/>
        </p:nvSpPr>
        <p:spPr>
          <a:xfrm>
            <a:off x="10378440" y="173736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FA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CF0E3"/>
          </a:solidFill>
        </p:spPr>
      </p:sp>
      <p:sp>
        <p:nvSpPr>
          <p:cNvPr id="11" name="Shape 9"/>
          <p:cNvSpPr/>
          <p:nvPr/>
        </p:nvSpPr>
        <p:spPr>
          <a:xfrm>
            <a:off x="896112" y="3310128"/>
            <a:ext cx="237744" cy="237744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2" name="Text 10"/>
          <p:cNvSpPr/>
          <p:nvPr/>
        </p:nvSpPr>
        <p:spPr>
          <a:xfrm>
            <a:off x="1371600" y="3035808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Examination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474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Covers Weeks 1–7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35240" y="3291840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1E5EE"/>
          </a:solidFill>
        </p:spPr>
      </p:sp>
      <p:sp>
        <p:nvSpPr>
          <p:cNvPr id="15" name="Shape 13"/>
          <p:cNvSpPr/>
          <p:nvPr/>
        </p:nvSpPr>
        <p:spPr>
          <a:xfrm>
            <a:off x="7635240" y="3291840"/>
            <a:ext cx="1920240" cy="274320"/>
          </a:xfrm>
          <a:prstGeom prst="roundRect">
            <a:avLst>
              <a:gd name="adj" fmla="val 40000"/>
            </a:avLst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10378440" y="315468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94360" y="425196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AECEA"/>
          </a:solidFill>
        </p:spPr>
      </p:sp>
      <p:sp>
        <p:nvSpPr>
          <p:cNvPr id="18" name="Shape 16"/>
          <p:cNvSpPr/>
          <p:nvPr/>
        </p:nvSpPr>
        <p:spPr>
          <a:xfrm>
            <a:off x="896112" y="4727448"/>
            <a:ext cx="237744" cy="237744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9" name="Text 17"/>
          <p:cNvSpPr/>
          <p:nvPr/>
        </p:nvSpPr>
        <p:spPr>
          <a:xfrm>
            <a:off x="1371600" y="4453128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Examination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892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Comprehensive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4709160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1E5EE"/>
          </a:solidFill>
        </p:spPr>
      </p:sp>
      <p:sp>
        <p:nvSpPr>
          <p:cNvPr id="22" name="Shape 20"/>
          <p:cNvSpPr/>
          <p:nvPr/>
        </p:nvSpPr>
        <p:spPr>
          <a:xfrm>
            <a:off x="7635240" y="4709160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C0392B"/>
          </a:solidFill>
        </p:spPr>
      </p:sp>
      <p:sp>
        <p:nvSpPr>
          <p:cNvPr id="23" name="Text 21"/>
          <p:cNvSpPr/>
          <p:nvPr/>
        </p:nvSpPr>
        <p:spPr>
          <a:xfrm>
            <a:off x="10378440" y="457200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601200" y="5897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100%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E7F5F2"/>
          </a:solidFill>
        </p:spPr>
      </p:sp>
      <p:sp>
        <p:nvSpPr>
          <p:cNvPr id="4" name="Shape 2"/>
          <p:cNvSpPr/>
          <p:nvPr/>
        </p:nvSpPr>
        <p:spPr>
          <a:xfrm>
            <a:off x="868680" y="1591056"/>
            <a:ext cx="201168" cy="201168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5" name="Text 3"/>
          <p:cNvSpPr/>
          <p:nvPr/>
        </p:nvSpPr>
        <p:spPr>
          <a:xfrm>
            <a:off x="1298448" y="137160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 Weeks (1, 3, 5, 7, 10, 12)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98448" y="1709928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Exercise + Screenshots + Short Report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49424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EDF0F8"/>
          </a:solidFill>
        </p:spPr>
      </p:sp>
      <p:sp>
        <p:nvSpPr>
          <p:cNvPr id="8" name="Shape 6"/>
          <p:cNvSpPr/>
          <p:nvPr/>
        </p:nvSpPr>
        <p:spPr>
          <a:xfrm>
            <a:off x="868680" y="2560320"/>
            <a:ext cx="201168" cy="201168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9" name="Text 7"/>
          <p:cNvSpPr/>
          <p:nvPr/>
        </p:nvSpPr>
        <p:spPr>
          <a:xfrm>
            <a:off x="1298448" y="2340864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Weeks (2, 4, 6, 9, 11)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98448" y="267919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+ 2–3 Page Summary + 5 Discussion Questions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1EDF8"/>
          </a:solidFill>
        </p:spPr>
      </p:sp>
      <p:sp>
        <p:nvSpPr>
          <p:cNvPr id="12" name="Shape 10"/>
          <p:cNvSpPr/>
          <p:nvPr/>
        </p:nvSpPr>
        <p:spPr>
          <a:xfrm>
            <a:off x="868680" y="3529584"/>
            <a:ext cx="201168" cy="201168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13" name="Text 11"/>
          <p:cNvSpPr/>
          <p:nvPr/>
        </p:nvSpPr>
        <p:spPr>
          <a:xfrm>
            <a:off x="1298448" y="3310128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Weeks (6 &amp; 9)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98448" y="3648456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 Report (case-study topics)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187952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CF0E3"/>
          </a:solidFill>
        </p:spPr>
      </p:sp>
      <p:sp>
        <p:nvSpPr>
          <p:cNvPr id="16" name="Shape 14"/>
          <p:cNvSpPr/>
          <p:nvPr/>
        </p:nvSpPr>
        <p:spPr>
          <a:xfrm>
            <a:off x="868680" y="4498848"/>
            <a:ext cx="201168" cy="201168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7" name="Text 15"/>
          <p:cNvSpPr/>
          <p:nvPr/>
        </p:nvSpPr>
        <p:spPr>
          <a:xfrm>
            <a:off x="1298448" y="427939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Weeks (13 &amp; 14)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98448" y="461772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13: Consultation &amp; progress check  ·  Week 14: Project Report + Presentation Slides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157216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AECEA"/>
          </a:solidFill>
        </p:spPr>
      </p:sp>
      <p:sp>
        <p:nvSpPr>
          <p:cNvPr id="20" name="Shape 18"/>
          <p:cNvSpPr/>
          <p:nvPr/>
        </p:nvSpPr>
        <p:spPr>
          <a:xfrm>
            <a:off x="868680" y="5468112"/>
            <a:ext cx="201168" cy="201168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1" name="Text 19"/>
          <p:cNvSpPr/>
          <p:nvPr/>
        </p:nvSpPr>
        <p:spPr>
          <a:xfrm>
            <a:off x="1298448" y="5248656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Weeks (8 &amp; 15)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98448" y="5586984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Exam (Week 8)  ·  Final Exam (Week 15) — no other submissions due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submissions are due by the end of the respective week.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486400" cy="548640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Started!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Introduction to Big Data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Ishimwe  ·  Prince.ishimwe@auca.ac.rw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5669</Words>
  <Application>WPS Docs</Application>
  <PresentationFormat>On-screen Show (16:9)</PresentationFormat>
  <Paragraphs>390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Ishimwe Prince</cp:lastModifiedBy>
  <cp:revision>2</cp:revision>
  <dcterms:created xsi:type="dcterms:W3CDTF">2026-08-19T09:15:42Z</dcterms:created>
  <dcterms:modified xsi:type="dcterms:W3CDTF">2026-08-19T09:15:42Z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579877039F2ABB563E74856A9DE81C5C_43</vt:lpwstr>
  </property>
  <property fmtid="{D5CDD505-2E9C-101B-9397-08002B2CF9AE}" pid="3" name="KSOProductBuildVer">
    <vt:lpwstr>1033-12.1.26050.26050</vt:lpwstr>
  </property>
</Properties>
</file>