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803" autoAdjust="0"/>
  </p:normalViewPr>
  <p:slideViewPr>
    <p:cSldViewPr snapToGrid="0" snapToObjects="1">
      <p:cViewPr varScale="1">
        <p:scale>
          <a:sx n="50" d="100"/>
          <a:sy n="50" d="100"/>
        </p:scale>
        <p:origin x="126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62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week connects machine learning and predictive analytics to two real-world Big Data case studies. Focus on definitions, differences, examples, and why each method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Exam tip: many questions give a short scenario and ask you to name the concept. Do not only memorize definitions; connect each term to what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ML does not mean the computer “thinks like a human.” It means the system learns useful patterns from examples or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Think: AI = big umbrella; ML = one major way to build AI; Deep Learning = one type of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Label = the target answer the model is learning to predict. Classification gives categories; regression gives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 clue: “no labels” or “discover natural groups” usually points to unsupervised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memory: Class = category; Regression = number; Clustering =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For diabetes prediction, age and blood sugar can be features; diabetes yes/no can be the label; the trained ML system is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split data? To check whether the model can generalize beyond the examples it memorized.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Generalization means the model works well on new, unseen data, not just the training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 trap: high accuracy can be misleading when one class is much more common than another. Precision and recall answer different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Healthcare example: a false negative disease screen means the model says “no disease” when the patient actually has the disease. That can be serious.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Important: a model can be technically accurate overall and still perform badly for a particular group. Always ask “accurate for whom?”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Leakage is not the same as ordinary bad data. It is specifically information that gives the model unfair knowledge about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Compare: descriptive = what happened; diagnostic = why it happened; predictive = what may happen; prescriptive = what should we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 clue: “what happened?” = descriptive; “why?” = diagnostic; “what will/ might happen?” = predictive; “what should we do?” = prescriptive.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workflow can repeat. If data quality or model performance is poor, go back and improve earlier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the question asks for a yes/no, type/category, or class outcome, think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Regression = numerical prediction. Forecasting = future/time-based prediction. They can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 trap: probability is not the same as certainty. A 0.80 risk estimate does not mean the event must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 clue: unusual, abnormal, rare, suspicious pattern → anomaly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very common exam trap. Prediction can work even when the model does not prove why something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model that worked well last year may become weaker when behavior, policy, technology, or population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Predictive analytics supports decisions; it should not automatically replace professional judgment in high-stakes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EHR = Electronic Health Record. Raw healthcare data can be messy, incomplete, duplicated, or stored in different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Machine Learning supports doctors and healthcare workers; it does not replace medical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Important: the model does not say the patient definitely will return. It identifies a higher estimated risk based on patterns in past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False positive: model flags risk when the condition/risk is not actually present. False negative: model misses a real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Big Data can help hospitals use money, staff, beds, medicines, and equipment more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Public health uses population-level data. Privacy and responsible data use still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Privacy asks “who can see/use the data?” Ethics asks “are we using it in the right and responsible way?”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terms can appear inside a scenario rather than as direct definitions. Learn what each term means and what it is used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 habit: identify the goal first, then the data type, then the learning task, then the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Banking data can arrive very quickly and in very large volumes, making Big Data tools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 exam distinction: fraud detection may be supervised classification, anomaly detection, or a combination depending on the data and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Credit risk prediction is not the same as guaranteeing a borrower will default. It is an estimate based 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Churn is common in customer analytics. Do not confuse it with fraud or credit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Know the difference between “suspicious pattern” and “confirmed crime.” Data analytics helps detect and investigate; it does not automatically prove wrongdoing.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Forecasting is especially useful when the question involves future demand, future transaction volume, or time-based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Explainability means being able to give understandable reasons for a model's output, especially when decisions affect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 comparison questions often ask what is common between industries. The technology may be similar, but the data, goal, and risks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same business problem can sometimes be solved by different methods depending on the available data and exact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master exam vocabulary list. If a question uses one of these terms, identify what the term means and connect it to the correct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paired differences are common exam traps. If the question says “not the same as” or asks you to compare two concepts, use these distinctions.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Supervised learning.</a:t>
            </a:r>
          </a:p>
          <a:p>
            <a:r>
              <a:t>2. Classification.</a:t>
            </a:r>
          </a:p>
          <a:p>
            <a:r>
              <a:t>3. Regression (if predicting a numerical cost).</a:t>
            </a:r>
          </a:p>
          <a:p>
            <a:r>
              <a:t>4. Clustering / unsupervised learning.</a:t>
            </a:r>
          </a:p>
          <a:p>
            <a:r>
              <a:t>5. Overfitting.</a:t>
            </a:r>
          </a:p>
          <a:p>
            <a:r>
              <a:t>6. Of the real positive cases, how many the model found.</a:t>
            </a:r>
          </a:p>
          <a:p>
            <a:r>
              <a:t>7. Using information during training that should not have been available, often including future/target-related information.</a:t>
            </a:r>
          </a:p>
          <a:p>
            <a:r>
              <a:t>8. Predictive analytics.</a:t>
            </a:r>
          </a:p>
          <a:p>
            <a:r>
              <a:t>9. No. Correlation does not prove causation.</a:t>
            </a:r>
          </a:p>
          <a:p>
            <a:r>
              <a:t>10. No. It is an estimated risk/probability.</a:t>
            </a:r>
          </a:p>
          <a:p>
            <a:r>
              <a:t>11. Electronic Health Record.</a:t>
            </a:r>
          </a:p>
          <a:p>
            <a:r>
              <a:t>12. Anomaly detection / suspicious-pattern detection.</a:t>
            </a:r>
          </a:p>
          <a:p>
            <a:r>
              <a:t>13. False positive.</a:t>
            </a:r>
          </a:p>
          <a:p>
            <a:r>
              <a:t>14. Both industries handle sensitive personal information; unauthorized or improper use can harm people.</a:t>
            </a:r>
          </a:p>
          <a:p>
            <a:r>
              <a:t>15. Real-world data and relationships can change; performance can drop, including because of concept drift.</a:t>
            </a:r>
          </a:p>
          <a:p>
            <a:r>
              <a:t>Study tip: try answering before opening the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 memory sheet. Read this immediately before a quiz. If you understand every line and can give your own example, you are in strong shape for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CA537"/>
                </a:solidFill>
              </a:rP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Machine Learning,
Predictive Analytics &amp;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605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D7E1EB"/>
                </a:solidFill>
              </a:rPr>
              <a:t>Healthcare • Banking &amp; Finance • Tricky exam keywords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What you should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START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6811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7512" y="1307592"/>
            <a:ext cx="5138928" cy="530352"/>
          </a:xfrm>
          <a:prstGeom prst="roundRect">
            <a:avLst/>
          </a:prstGeom>
          <a:solidFill>
            <a:srgbClr val="2D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8988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Core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11680"/>
            <a:ext cx="4846320" cy="3749039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Define Machine Learning (ML) and its main types.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Explain training data, testing data, features, labels, model, and prediction.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Explain predictive analytics and how it differs from descriptive and diagnostic analytics.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Recognize classification, regression, clustering, anomaly detection, and forecasting.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143000"/>
            <a:ext cx="546811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64224" y="1307592"/>
            <a:ext cx="5138928" cy="530352"/>
          </a:xfrm>
          <a:prstGeom prst="roundRect">
            <a:avLst/>
          </a:prstGeom>
          <a:solidFill>
            <a:srgbClr val="1E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38988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Exam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846320" cy="3749039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Explain a healthcare or banking example from data → model → prediction → decision.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Spot common traps: correlation ≠ causation; prediction ≠ certainty.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Know the difference between supervised and unsupervised learning.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Know key risks: bias, overfitting, data leakage, privacy, security, and poor data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594360" y="1143000"/>
            <a:ext cx="1463040" cy="1463040"/>
          </a:xfrm>
          <a:prstGeom prst="ellipse">
            <a:avLst/>
          </a:prstGeom>
          <a:solidFill>
            <a:srgbClr val="DC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4233C"/>
                </a:solidFill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143000"/>
            <a:ext cx="8869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Group A: Introduction to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292" y="361188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dirty="0">
                <a:solidFill>
                  <a:srgbClr val="DCE6F0"/>
                </a:solidFill>
              </a:rPr>
              <a:t>Learn how computers learn patterns from data and use them to make predictions or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What is Machine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Machine Learning (ML) is a way for computers to learn patterns from data instead of being given every rule manually.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Input: data. Learning: find patterns. Output: prediction, classification, or decision support.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Example: use past patient data to predict whether a new patient has high risk of diabetes.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ML is a part of Artificial Intelligence (AI), but AI is broader than 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Artificial Intelligence vs Machine Learning vs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Artificial Intelligence (AI): broad field of making machines perform tasks that normally need human intelligence.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Machine Learning (ML): AI approach where systems learn patterns from data.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Deep Learning (DL): a type of ML using multi-layer neural networks; useful for images, speech, and complex patterns.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 trap: AI, ML, and Deep Learning are related, but they are not exactly the same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Uses labeled data: the correct answer is already known during training.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Classification: predict a category/class. Example: fraud vs not fraud.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Regression: predict a numerical value. Example: predict a patient's hospital stay in days.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Common question clue: “historical data contains the target/answer” → supervised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Unsupervised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Uses data without known target labels.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Goal: discover hidden patterns, groups, or unusual observations.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Clustering: group similar customers/patients.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Example: group bank customers by spending behavior without pre-defined customer types.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Classification vs Regression vs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Classification → predicts a category. Example: loan approved / rejected.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Regression → predicts a number. Example: expected loan amount or hospital cost.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Clustering → creates groups from unlabeled data. Example: customer segments.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Do not confuse classification with clustering: classification has known classes during training; clustering discovers groups.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Important ML Terms: Feature, Label,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Feature: an input variable used by the model. Example: age, income, blood pressure.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Label/target: the answer to predict in supervised learning. Example: disease yes/no.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Model: the learned mathematical/computational pattern used to make predictions.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Prediction: the model's output for new/unseen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Training, Validation, and Test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Training set: data used to learn model patterns.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Validation set: data used to tune choices such as model settings; not always separated in small projects.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Test set: held-out data used to estimate performance on unseen data.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 trap: a model should not be judged only on the same data it learned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Overfitting vs Underfitting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Overfitting: model learns training data too closely, including noise; training performance is high but new-data performance is poor.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Underfitting: model is too simple and misses important patterns; both training and new-data performance may be poor.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Goal: good generalization — perform well on new data.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 clue: “excellent training accuracy but poor test accuracy” → overfitting.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Model Evaluation: Common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Accuracy: proportion of all predictions that are correct.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Precision: among predicted positives, how many are actually positive.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Recall: among actual positives, how many the model finds.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F1-score: combines precision and recall into one score.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Mean Absolute Error (MAE): average absolute prediction error for regression.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Used mainly for classification.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True Positive (TP): predicted positive and actually positive.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True Negative (TN): predicted negative and actually negative.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False Positive (FP): predicted positive but actually negative.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False Negative (FN): predicted negative but actually positive.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Bias, Fairness, and Data Quality in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Bias can enter through data, labels, sampling, features, or the way a model is used.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Poor or incomplete data can produce poor predictions.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Fairness asks whether a system treats relevant groups appropriately and avoids unjustified disadvantage.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Privacy matters because ML often uses personal or sensitive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Data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Data leakage happens when information that should not be available at prediction time leaks into model training.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Example: using a future medical test result to predict a diagnosis that was made before that test.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Leakage can make test performance look unrealistically good.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 clue: “future information accidentally included” → data leakage.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" y="1143000"/>
            <a:ext cx="1463040" cy="1463040"/>
          </a:xfrm>
          <a:prstGeom prst="ellipse">
            <a:avLst/>
          </a:prstGeom>
          <a:solidFill>
            <a:srgbClr val="DC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4233C"/>
                </a:solidFill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143000"/>
            <a:ext cx="8869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Group B: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0592" y="2395728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DCE6F0"/>
                </a:solidFill>
              </a:rPr>
              <a:t>Use past and current data to estimate what is likely to happen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What is Predictive Analytics?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Predictive Analytics uses data, statistics, and often Machine Learning to estimate future or unknown outcomes.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It answers questions such as: “What is likely to happen?”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Examples: predict patient readmission, loan default, fraud risk, customer churn, or future demand.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Prediction is not certainty. A model gives an estimate based on patterns in available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Descriptive, Diagnostic, Predictive, Prescriptive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Descriptive analytics → summarizes what happened. Example: 2,000 patients visited last month.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Diagnostic analytics → investigates why it happened. Example: waiting time increased because one department was understaffed.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Predictive analytics → estimates what may happen. Example: which patients may return within 30 days.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Prescriptive analytics → recommends actions. Example: increase staffing during predicted busy hours.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Predictive Analytics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1. Define the problem and target outcome.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2. Collect relevant historical/current data.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3. Clean and prepare the data.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4. Explore patterns and select useful features.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5. Train and evaluate a model.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6. Use the model on new data.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7. Monitor results and update the model when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Classification in Predictive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Classification predicts a category.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Healthcare example: high-risk vs low-risk patient.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Banking example: fraud vs legitimate transaction.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Customer example: likely to leave vs likely to stay.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Output is a class/category, not a continuous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Regression and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Regression predicts a numerical value using relationships in data.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Example: predict hospital cost, loan amount, or length of stay.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Forecasting predicts future values over time using past time-based data.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Example: forecast next month's ATM withdrawals or hospital admissions.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Do not automatically call every future prediction “regression”; forecasting emphasizes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Risk Score and Probability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A predictive model may output a probability or risk score rather than a final yes/no truth.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Example: a patient has an estimated 0.80 probability of readmission.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A high score can trigger review or preventive action.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Risk score ≠ diagnosis, guilt, or certainty.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Anomaly = observation that is unusually different from expected behavior.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Banking example: an unusual transaction pattern may indicate possible fraud.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Healthcare example: an unusual vital-sign pattern may need attention.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Anomaly does not automatically mean fraud or disease; it means “unusual” and needs investigation.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Correlation vs Causation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Correlation means two variables change together or are statistically related.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Causation means one factor actually contributes to causing a change in another.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Predictive models can use correlation to predict without proving cause.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Example: high sugar and HIV appearing together in a dataset does not prove high sugar causes HIV.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Model Monitoring and Concept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After deployment, real-world data can change.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Concept drift: the relationship between inputs and the target changes over time.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Example: fraud patterns change when criminals change their behavior.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Models should be monitored and updated when performance drops.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Benefits and Risks of Predictive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Benefits: early warning, better planning, faster decisions, resource allocation, personalized support.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Risks: wrong predictions, bias, privacy problems, security risks, overreliance on automation.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Human review is important in high-impact decisions.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32A34"/>
                </a:solidFill>
              </a:rPr>
              <a:t>• Good prediction depends on good data, suitable models, and correct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" y="1143000"/>
            <a:ext cx="1463040" cy="1463040"/>
          </a:xfrm>
          <a:prstGeom prst="ellipse">
            <a:avLst/>
          </a:prstGeom>
          <a:solidFill>
            <a:srgbClr val="DC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4233C"/>
                </a:solidFill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143000"/>
            <a:ext cx="8869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Group C: Case Study – Big Data in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0592" y="2395728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DCE6F0"/>
                </a:solidFill>
              </a:rPr>
              <a:t>Connect Big Data, Machine Learning, and predictive analytics to real hospital and public-health problems.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Healthcare Big Data: Where Does It Come From?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Electronic Health Records (EHRs): patient history, diagnoses, medicines, notes, and visits.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Medical images: X-ray, Computed Tomography (CT), Magnetic Resonance Imaging (MRI).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Laboratory data: blood tests, glucose, cholesterol, and other results.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Medical devices and wearables: heart rate, oxygen level, blood pressure, temperature.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Public health and hospital operations: admissions, waiting times, vaccination, bed use, and staffing.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Healthcare Predictive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Predict patients at high risk of readmission.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Predict risk of diseases or complications using relevant patient information.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Predict hospital demand and busy periods.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Detect unusual patterns in patient monitoring data.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Support early intervention — for example, review a high-risk patient sooner.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Healthcare Example: Readmission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Goal: estimate which discharged patients may return to hospital soon.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Possible features: age, previous admissions, diagnosis history, medicines, lab results, length of stay.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Training data: previous patient records where readmission outcome is known.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Model output: a risk score or class such as higher/lower risk.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Action: staff can review high-risk patients and consider follow-up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Healthcare Example: Disease Risk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Goal: identify patients who may be at higher risk of diabetes or heart disease.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Possible data: age, blood pressure, weight, blood sugar, cholesterol, family history, and other relevant factors.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Classification may predict a risk category; regression may predict a numerical value.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Doctors review the result together with the patient's real clinical situation.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False positives and false negatives both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Healthcare Example: Hospital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Predict patient demand to plan beds, staff, rooms, medicines, and equipment.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Analyze waiting times to find busy departments and times.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Use data to improve resource allocation and reduce delays.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Forecasting can help estimate future admissions or medicine demand.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Better planning can improve service without simply adding resources everywhere.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Healthcare Public Health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During an outbreak, data may include infections, tests, vaccinations, hospital admissions, locations, and deaths.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Analytics can show where cases are increasing and which groups may need attention.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Health authorities can plan testing, vaccination, workers, education, and supplies.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Data must be interpreted carefully; association alone does not prove a cause.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Healthcare Challenges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Privacy: protect sensitive patient information and control who can access it.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Security: protect data from unauthorized access, loss, or attacks.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Data quality: wrong patient IDs, missing values, duplicate records, or incorrect results can harm decisions.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Interoperability: different healthcare systems may not exchange data smoothly.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Ethics: use patient information fairly, responsibly, and for appropriate purposes.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Healthcare Exam Keywords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Electronic Health Record (EHR) → digital patient record.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Diagnosis → identifying a disease or health problem.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Tomography → producing images in sections/slices; CT is a form of computed tomography.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Magnetic Resonance Imaging (MRI) → detailed internal images using magnetic fields and radio waves.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Early intervention → acting sooner because risk has been identified.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Clinical decision support → information/tools that help healthcare professionals make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Healthcare Mini Scenario: Think Like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A hospital has years of patient records and wants to identify patients likely to miss follow-up appointments.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Question 1: Is this descriptive or predictive? → Predictive.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Question 2: If the target is “misses appointment: yes/no,” what task? → Classification.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Question 3: If the data contains no target labels and the goal is to discover patient groups? → Clustering/unsupervised learning.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Question 4: What risk if the model learns from biased historical attendance data? → Bias/fairness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" y="1143000"/>
            <a:ext cx="1463040" cy="1463040"/>
          </a:xfrm>
          <a:prstGeom prst="ellipse">
            <a:avLst/>
          </a:prstGeom>
          <a:solidFill>
            <a:srgbClr val="DC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4233C"/>
                </a:solidFill>
              </a:rPr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143000"/>
            <a:ext cx="8869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Group D: Case Study – Big Data in Banking &amp;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0592" y="2395728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DCE6F0"/>
                </a:solidFill>
              </a:rPr>
              <a:t>See how data, Machine Learning, and predictive analytics support fraud detection, credit decisions, risk, and customer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Banking &amp; Finance Big Data: Main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Transactions: card payments, transfers, deposits, withdrawals, and ATM activity.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Customer information: account type, income information, products used, and relevant history.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Digital activity: mobile banking, web activity, login patterns, and device information.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Market and external data: prices, interest rates, economic indicators, and other relevant sources.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Operational and security logs: system events and access activity.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Fraud Detection with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Goal: identify transactions that look suspicious.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Features may include amount, time, location, merchant, device, frequency, and transaction pattern.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Classification can use known historical fraud labels.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Anomaly detection can flag unusual behavior even when labels are limited.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Flagging a transaction means “investigate,” not “the customer is guilty.”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Credit Risk and Loan Default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Goal: estimate the likelihood that a borrower may fail to repay a loan.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Relevant data may include repayment history, income information, existing obligations, and other permitted factors.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Output may be a probability/risk score or a category.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Regression can also estimate numerical outcomes such as expected loss.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Fairness matters because automated decisions can affect people's access to financial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Customer Churn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Churn = a customer stops using or leaves a service.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Predictive analytics can identify customers who may be likely to leave.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Features may include transaction frequency, product use, complaints, and recent activity.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Bank can offer appropriate support or services to reduce avoidable churn.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Exam clue: “which customers are likely to leave?” → churn prediction/classification.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Money Laundering and Suspicious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Money laundering attempts to hide the illegal origin of money.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Analytics can look for unusual transaction networks, rapid movement of funds, or patterns that need investigation.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Rules and ML can work together.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An alert is a signal for review, not proof of illegal activity.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False positives can create extra investigation work; false negatives can miss suspicious activity.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Banking Forecasting and 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Forecast cash demand at branches and ATMs.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Predict transaction volumes to plan systems and staffing.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Estimate credit risk and possible losses.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Monitor market or portfolio patterns using historical data.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Use scenarios and forecasts to support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Banking Challenges: Privacy, Security,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Privacy: financial information is sensitive and should be handled appropriately.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Security: protect accounts and data from unauthorized access and attacks.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Bias: historical decisions can contain unfair patterns that a model may learn.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Explainability: people may need to understand why a high-impact automated decision was made.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Model risk: a model can be wrong, outdated, or poorly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Healthcare vs Banking: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Healthcare: patient records, lab results, medical images, devices; common goals include disease risk, readmission, hospital demand.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Banking: transactions, customer/account data, digital activity; common goals include fraud, credit risk, churn, and forecasting.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Both need data quality, privacy, security, fairness, monitoring, and human oversight.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Both can use supervised learning, unsupervised learning, predictive analytics, anomaly detection, and Big Data technologies.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Banking Mini Scenario: Think Like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GROUP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5074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A bank wants to flag transactions that may be fraudulent.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Known historical fraud labels available? → supervised classification can be used.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No reliable labels and goal is unusual behavior? → anomaly detection/unsupervised methods may help.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Target is a future numerical transaction amount? → regression/forecasting depending on the time-based setup.</a:t>
            </a:r>
          </a:p>
          <a:p>
            <a:pPr>
              <a:spcAft>
                <a:spcPts val="800"/>
              </a:spcAft>
            </a:pPr>
            <a:r>
              <a:rPr sz="1850" b="0">
                <a:solidFill>
                  <a:srgbClr val="232A34"/>
                </a:solidFill>
              </a:rPr>
              <a:t>• Model flags a customer incorrectly? → false positive; customer actually fraudulent but model misses it? → false negative.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Master List: Tricky Keywords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EXAM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546811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7512" y="1124712"/>
            <a:ext cx="5138928" cy="530352"/>
          </a:xfrm>
          <a:prstGeom prst="roundRect">
            <a:avLst/>
          </a:prstGeom>
          <a:solidFill>
            <a:srgbClr val="2D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0700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28800"/>
            <a:ext cx="4846320" cy="3749039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AI, ML, Deep Learning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Supervised / Unsupervised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Feature / Label / Target / Model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Training / Validation / Test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Classification / Regression / Clustering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Overfitting / Underfitting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Generalization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Accuracy / Precision / Recall / F1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Confusion matrix: TP, TN, FP, FN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Data leakage / Bias / Fairness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960120"/>
            <a:ext cx="546811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64224" y="1124712"/>
            <a:ext cx="5138928" cy="530352"/>
          </a:xfrm>
          <a:prstGeom prst="roundRect">
            <a:avLst/>
          </a:prstGeom>
          <a:solidFill>
            <a:srgbClr val="1E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20700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Predictive &amp; Case Studies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846320" cy="3749039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Descriptive / Diagnostic / Predictive / Prescriptive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Risk score / Probability / Forecasting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Anomaly detection / Concept drift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EHR / Diagnosis / CT / MRI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Readmission / Early intervention / Clinical decision support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Fraud / Credit risk / Default / Churn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Suspicious activity / Money laundering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Privacy / Security / Explainability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False positive / False negative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Correlation ≠ causation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Must-Know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EXAM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546811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7512" y="1124712"/>
            <a:ext cx="5138928" cy="530352"/>
          </a:xfrm>
          <a:prstGeom prst="roundRect">
            <a:avLst/>
          </a:prstGeom>
          <a:solidFill>
            <a:srgbClr val="2D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0700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Do not mix these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28800"/>
            <a:ext cx="4846320" cy="3749039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AI ≠ ML: AI is broader; ML is one approach inside AI.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Supervised ≠ Unsupervised: supervised uses labels; unsupervised does not.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Classification ≠ Regression: category vs number.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Clustering ≠ Classification: discover groups vs predict known classes.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Overfitting ≠ Underfitting: too complex/memorized vs too simple.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Precision ≠ Recall: predicted positives correct vs actual positives found.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960120"/>
            <a:ext cx="546811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64224" y="1124712"/>
            <a:ext cx="5138928" cy="530352"/>
          </a:xfrm>
          <a:prstGeom prst="roundRect">
            <a:avLst/>
          </a:prstGeom>
          <a:solidFill>
            <a:srgbClr val="1E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20700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Also remember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846320" cy="3749039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Prediction ≠ certainty.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Correlation ≠ causation.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Anomaly ≠ confirmed fraud/disease.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Risk score ≠ diagnosis/guilt.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Privacy ≠ ethics: access/control vs right/fair/responsible use.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A34"/>
                </a:solidFill>
              </a:rPr>
              <a:t>• Big Data ≠ only “large data”; also volume, velocity, variety, veracity,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Exam Quiz: 15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6459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CA537"/>
                </a:solidFill>
              </a:rPr>
              <a:t>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881360" cy="53949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1. Which learning type uses labeled training data?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2. Predicting “fraud / not fraud” is what task?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3. Predicting a patient's hospital cost is what task?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4. Discovering natural customer groups without labels is what task?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5. A model has high training accuracy but poor test accuracy. What problem?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6. What does recall measure in simple terms?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7. What is data leakage?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8. Which analytics asks “what is likely to happen?”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9. Does correlation prove causation?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10. A patient model predicts high readmission risk. Is that a certainty?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11. What does EHR stand for?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12. A bank flags an unusual transaction with no confirmed fraud. What concept?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13. A predicted fraud alert is wrong because the transaction was legitimate. What is this?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14. Why is privacy important in healthcare and banking?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A34"/>
                </a:solidFill>
              </a:rPr>
              <a:t>• 15. Why must deployed models be monitored?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DCA537"/>
                </a:solidFill>
              </a:rPr>
              <a:t>FINAL 60-SECOND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ML = learn patterns from data.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Supervised = labels. Unsupervised = no labels.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Classification = category. Regression = number. Clustering = groups.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Predictive analytics = what may happen.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Overfitting = memorizes training data; poor new-data performance.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Precision = predicted positives that are correct. Recall = actual positives found.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False positive = alarm but actually negative. False negative = missed positive.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Healthcare → EHR, diagnosis, readmission, disease risk, hospital demand.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Banking → fraud, credit risk/default, churn, suspicious activity, forecasting.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Correlation ≠ causation. Prediction ≠ certainty.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Privacy + security + fairness + explainability + monitoring matter.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Good data + correct method + human judgment = better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</a:rPr>
              <a:t>Week 6 • Exam-ready notes  | 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5364</Words>
  <Application>Microsoft Office PowerPoint</Application>
  <PresentationFormat>Widescreen</PresentationFormat>
  <Paragraphs>473</Paragraphs>
  <Slides>50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2026-10-05T13:12:21Z</dcterms:modified>
  <cp:category/>
</cp:coreProperties>
</file>