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reveal moment — connect back to Week 1 Part 5 and Week 3 slide 10. Students love realizing they've been using this since day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 — the wow moment of the day. Exact speedup varies by machine; anything from 30x to 200x is normal.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wow moment. Emphasize: no loop, no if, no accumulator — the mask replaces all three. This is the mental model for Pandas df[df.col &gt;= x].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754880" cy="475488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10515600" y="4480560"/>
            <a:ext cx="3291840" cy="32918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5" name="Text 3"/>
          <p:cNvSpPr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AUCA  ·  INTRODUCTION TO BIG DATA ANALYTICS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822960" y="16916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Python + NumPy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Less. Compute Thousands of Times Faster.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</a:t>
            </a:r>
            <a:r>
              <a:rPr lang="en-US" sz="145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Pythonic shortcuts — comprehensions &amp; lambda          </a:t>
            </a:r>
            <a:r>
              <a:rPr lang="en-US" sz="14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</a:t>
            </a:r>
            <a:r>
              <a:rPr lang="en-US" sz="145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— arrays, vectorization &amp; masking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Prince Ishimwe   · 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 — and Today's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E7F5F2"/>
          </a:solidFill>
        </p:spPr>
      </p:sp>
      <p:sp>
        <p:nvSpPr>
          <p:cNvPr id="5" name="Shape 3"/>
          <p:cNvSpPr/>
          <p:nvPr/>
        </p:nvSpPr>
        <p:spPr>
          <a:xfrm>
            <a:off x="83210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832104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32104" y="22860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pipelines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" y="301752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Loops, functions, try/except — you processed 40 students and survived 3 broken records.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EDF0F8"/>
          </a:solidFill>
        </p:spPr>
      </p:sp>
      <p:sp>
        <p:nvSpPr>
          <p:cNvPr id="10" name="Shape 8"/>
          <p:cNvSpPr/>
          <p:nvPr/>
        </p:nvSpPr>
        <p:spPr>
          <a:xfrm>
            <a:off x="462686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F2A56"/>
          </a:solidFill>
        </p:spPr>
      </p:sp>
      <p:sp>
        <p:nvSpPr>
          <p:cNvPr id="11" name="Text 9"/>
          <p:cNvSpPr/>
          <p:nvPr/>
        </p:nvSpPr>
        <p:spPr>
          <a:xfrm>
            <a:off x="4626864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26864" y="22860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saw the discipline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301752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data quality, EDA, and visualization — where your code skills will be applied.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CF0E3"/>
          </a:solidFill>
        </p:spPr>
      </p:sp>
      <p:sp>
        <p:nvSpPr>
          <p:cNvPr id="15" name="Shape 13"/>
          <p:cNvSpPr/>
          <p:nvPr/>
        </p:nvSpPr>
        <p:spPr>
          <a:xfrm>
            <a:off x="8421624" y="17830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8421624" y="1783080"/>
            <a:ext cx="1188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21624" y="2286000"/>
            <a:ext cx="3063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upgrade your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21624" y="3017520"/>
            <a:ext cx="306324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shrink 4 lines to 1. NumPy makes math on a million numbers instant.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466344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28032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 matters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68680" y="5175504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3 loop handles 40 rows fine. But Big Data means millions of rows — and a Python loop over a million numbers is painfully slow. NumPy is the engine underneath Pandas (Week 7), Scikit-learn (Week 10), and PySpark's math (Week 12). Learn it once, use it everywhere. New dataset today: 60 days of Kigali weather.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  ·  8:30 AM – 11:00 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7F5F2"/>
          </a:solidFill>
        </p:spPr>
      </p:sp>
      <p:sp>
        <p:nvSpPr>
          <p:cNvPr id="5" name="Shape 3"/>
          <p:cNvSpPr/>
          <p:nvPr/>
        </p:nvSpPr>
        <p:spPr>
          <a:xfrm>
            <a:off x="841248" y="1728216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FA08E"/>
          </a:solidFill>
        </p:spPr>
      </p:sp>
      <p:sp>
        <p:nvSpPr>
          <p:cNvPr id="6" name="Text 4"/>
          <p:cNvSpPr/>
          <p:nvPr/>
        </p:nvSpPr>
        <p:spPr>
          <a:xfrm>
            <a:off x="841248" y="1728216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 – 9:25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545336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Pythonic Shortcuts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2743200" y="1929384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 (the Week-1 “magic lines” finally explained!)  ·  filtering comprehensions  ·  lambda functions  ·  sorted(key=...)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624328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1EDF8"/>
          </a:solidFill>
        </p:spPr>
      </p:sp>
      <p:sp>
        <p:nvSpPr>
          <p:cNvPr id="10" name="Shape 8"/>
          <p:cNvSpPr/>
          <p:nvPr/>
        </p:nvSpPr>
        <p:spPr>
          <a:xfrm>
            <a:off x="841248" y="2935224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7B5EA7"/>
          </a:solidFill>
        </p:spPr>
      </p:sp>
      <p:sp>
        <p:nvSpPr>
          <p:cNvPr id="11" name="Text 9"/>
          <p:cNvSpPr/>
          <p:nvPr/>
        </p:nvSpPr>
        <p:spPr>
          <a:xfrm>
            <a:off x="841248" y="2935224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9:25 – 9:35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2752344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Break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743200" y="3136392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week5_kigali_weather.csv  ·  run:  import numpy as np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831336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CF0E3"/>
          </a:solidFill>
        </p:spPr>
      </p:sp>
      <p:sp>
        <p:nvSpPr>
          <p:cNvPr id="15" name="Shape 13"/>
          <p:cNvSpPr/>
          <p:nvPr/>
        </p:nvSpPr>
        <p:spPr>
          <a:xfrm>
            <a:off x="841248" y="4142232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E67E22"/>
          </a:solidFill>
        </p:spPr>
      </p:sp>
      <p:sp>
        <p:nvSpPr>
          <p:cNvPr id="16" name="Text 14"/>
          <p:cNvSpPr/>
          <p:nvPr/>
        </p:nvSpPr>
        <p:spPr>
          <a:xfrm>
            <a:off x="841248" y="4142232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9:35 – 10:50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959352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743200" y="43434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test  ·  arrays &amp; stats  ·  vectorized math  ·  boolean masking — filtering without loops  ·  guided practice on real weather data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5038344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DF0F8"/>
          </a:solidFill>
        </p:spPr>
      </p:sp>
      <p:sp>
        <p:nvSpPr>
          <p:cNvPr id="20" name="Shape 18"/>
          <p:cNvSpPr/>
          <p:nvPr/>
        </p:nvSpPr>
        <p:spPr>
          <a:xfrm>
            <a:off x="841248" y="534924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F2A56"/>
          </a:solidFill>
        </p:spPr>
      </p:sp>
      <p:sp>
        <p:nvSpPr>
          <p:cNvPr id="21" name="Text 19"/>
          <p:cNvSpPr/>
          <p:nvPr/>
        </p:nvSpPr>
        <p:spPr>
          <a:xfrm>
            <a:off x="841248" y="5349240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10:50 – 11:00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5166360"/>
            <a:ext cx="8595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2743200" y="555040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deliverable briefing  ·  Week 6 presentations preview (ML, Predictive Analytics, Healthcare &amp; Banking case studies)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023360"/>
            <a:ext cx="4206240" cy="420624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-2011680"/>
            <a:ext cx="4937760" cy="493776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Pythonic Shortcuts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Python isn't about writing more code — it's about writing less of it, more clearly.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PYTHONIC SHORTCUTS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 — the Magic Explained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Week 1 you've been running “magic lines” we promised to explain. Today the debt is paid.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3 way (4 lines)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94560"/>
            <a:ext cx="5440680" cy="1600200"/>
          </a:xfrm>
          <a:prstGeom prst="roundRect">
            <a:avLst>
              <a:gd name="adj" fmla="val 5143"/>
            </a:avLst>
          </a:prstGeom>
          <a:solidFill>
            <a:srgbClr val="17204A"/>
          </a:solidFill>
        </p:spPr>
      </p:sp>
      <p:sp>
        <p:nvSpPr>
          <p:cNvPr id="7" name="Text 5"/>
          <p:cNvSpPr/>
          <p:nvPr/>
        </p:nvSpPr>
        <p:spPr>
          <a:xfrm>
            <a:off x="795528" y="2322576"/>
            <a:ext cx="5038344" cy="1344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temps_f = []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t in temps_c: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temps_f.append(t * 9/5 + 32)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5 way (1 line)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2194560"/>
            <a:ext cx="5212080" cy="1600200"/>
          </a:xfrm>
          <a:prstGeom prst="roundRect">
            <a:avLst>
              <a:gd name="adj" fmla="val 5143"/>
            </a:avLst>
          </a:prstGeom>
          <a:solidFill>
            <a:srgbClr val="17204A"/>
          </a:solidFill>
        </p:spPr>
      </p:sp>
      <p:sp>
        <p:nvSpPr>
          <p:cNvPr id="10" name="Text 8"/>
          <p:cNvSpPr/>
          <p:nvPr/>
        </p:nvSpPr>
        <p:spPr>
          <a:xfrm>
            <a:off x="6601968" y="2322576"/>
            <a:ext cx="4809744" cy="1344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temps_f = [t * 9/5 + 32 for t in temps_c]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same loop, compressed: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[EXPRESSION for ITEM in LIST]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 (right to left!)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4805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13" name="Text 11"/>
          <p:cNvSpPr/>
          <p:nvPr/>
        </p:nvSpPr>
        <p:spPr>
          <a:xfrm>
            <a:off x="685800" y="44805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for t in temps_c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448056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the list, item by item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5047488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16" name="Text 14"/>
          <p:cNvSpPr/>
          <p:nvPr/>
        </p:nvSpPr>
        <p:spPr>
          <a:xfrm>
            <a:off x="685800" y="504748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 * 9/5 + 32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5047488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each item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17204A"/>
          </a:solidFill>
        </p:spPr>
      </p:sp>
      <p:sp>
        <p:nvSpPr>
          <p:cNvPr id="19" name="Text 17"/>
          <p:cNvSpPr/>
          <p:nvPr/>
        </p:nvSpPr>
        <p:spPr>
          <a:xfrm>
            <a:off x="685800" y="5614416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 ... ]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5614416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result into a new list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20840" y="4069080"/>
            <a:ext cx="4892040" cy="2011680"/>
          </a:xfrm>
          <a:prstGeom prst="roundRect">
            <a:avLst>
              <a:gd name="adj" fmla="val 4091"/>
            </a:avLst>
          </a:prstGeom>
          <a:solidFill>
            <a:srgbClr val="E7F5F2"/>
          </a:solidFill>
        </p:spPr>
      </p:sp>
      <p:sp>
        <p:nvSpPr>
          <p:cNvPr id="22" name="Text 20"/>
          <p:cNvSpPr/>
          <p:nvPr/>
        </p:nvSpPr>
        <p:spPr>
          <a:xfrm>
            <a:off x="6949440" y="422452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vu?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4572000"/>
            <a:ext cx="44805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= [s["name"] for s in students]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1 “magic line” was a comprehension all along. You now officially know everything it does.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PYTHONIC SHORTCUTS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 That Filter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44982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= [24.4, 25.9, 28.6, 19.3, 26.0, 22.1]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Add: if CONDITION at the end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hot = [t for t in temps if t &gt;= 26]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print(hot)          # [28.6, 26.0]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Transform AND filter together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hot_f = [t * 9/5 + 32 for t in temps if t &gt;= 26]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print(hot_f)        # [83.48, 78.8]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Works on our student dicts too: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top = [s["name"] for s in students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if s["score"] &gt;= 85]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12280" y="1874520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17204A"/>
          </a:solidFill>
        </p:spPr>
      </p:sp>
      <p:sp>
        <p:nvSpPr>
          <p:cNvPr id="8" name="Text 6"/>
          <p:cNvSpPr/>
          <p:nvPr/>
        </p:nvSpPr>
        <p:spPr>
          <a:xfrm>
            <a:off x="7013448" y="2002536"/>
            <a:ext cx="4398264" cy="5212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[EXPRESSION for ITEM in LIST if CONDITION]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283464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power as loop + if + append from Week 3 — one line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extraction, conversion, and filtering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logic needs 2+ conditions or steps, a normal loop is clearer — comprehensions are for SIMPLE transforms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12280" y="4983480"/>
            <a:ext cx="4800600" cy="1051560"/>
          </a:xfrm>
          <a:prstGeom prst="roundRect">
            <a:avLst>
              <a:gd name="adj" fmla="val 7826"/>
            </a:avLst>
          </a:prstGeom>
          <a:solidFill>
            <a:srgbClr val="FCF0E3"/>
          </a:solidFill>
        </p:spPr>
      </p:sp>
      <p:sp>
        <p:nvSpPr>
          <p:cNvPr id="11" name="Text 9"/>
          <p:cNvSpPr/>
          <p:nvPr/>
        </p:nvSpPr>
        <p:spPr>
          <a:xfrm>
            <a:off x="7040880" y="4983480"/>
            <a:ext cx="4343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from temps, build cool = all temperatures below 24, rounded with round(t).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PYTHONIC SHORTCUTS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 — Tiny Anonymous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lambda is a one-line function without a name — perfect when a tool asks “how should I sort/compare these?”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44982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def version vs lambda version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def double(x):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return x * 2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double = lambda x: x * 2     # the same!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Real use: sorting records by a key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students = [("Aline", 85), ("Eric", 78),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("Diane", 91)]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by_score = sorted(students,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      key=lambda s: s[1],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              reverse=True)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print(by_score[0])   # ('Diane', 91)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1228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you'll actually use 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12280" y="2194560"/>
            <a:ext cx="48006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sorted(data, key=lambda ...) — rank students, districts, days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max(data, key=lambda ...) — “which record has the highest score?” in one line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(Week 7): df.apply(lambda ...) — transform whole columns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12280" y="4572000"/>
            <a:ext cx="4800600" cy="1234440"/>
          </a:xfrm>
          <a:prstGeom prst="roundRect">
            <a:avLst>
              <a:gd name="adj" fmla="val 6667"/>
            </a:avLst>
          </a:prstGeom>
          <a:solidFill>
            <a:srgbClr val="EDF0F8"/>
          </a:solidFill>
        </p:spPr>
      </p:sp>
      <p:sp>
        <p:nvSpPr>
          <p:cNvPr id="10" name="Text 8"/>
          <p:cNvSpPr/>
          <p:nvPr/>
        </p:nvSpPr>
        <p:spPr>
          <a:xfrm>
            <a:off x="7040880" y="4572000"/>
            <a:ext cx="43434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fits in one line and used once → lambda. Reused or complex → def with a name and docstring.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4754880" cy="475488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509760" y="-2194560"/>
            <a:ext cx="5303520" cy="530352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4" name="Text 2"/>
          <p:cNvSpPr/>
          <p:nvPr/>
        </p:nvSpPr>
        <p:spPr>
          <a:xfrm>
            <a:off x="822960" y="21488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 — Math at Big Data Speed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241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import stands between you and the engine that powers Pandas, Scikit-learn, and most of scientific computing.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Speed Test — Why Bother?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task: multiply one million numbers by 2. Run this yourself — it's in your lab notebook.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852160" cy="3749040"/>
          </a:xfrm>
          <a:prstGeom prst="roundRect">
            <a:avLst>
              <a:gd name="adj" fmla="val 2195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449824" cy="34930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import numpy as np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import time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numbers = list(range(1_000_000))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arr = np.array(numbers)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Pure Python loop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t0 = time.time()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doubled = [n * 2 for n in numbers]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print(f"Python: {time.time()-t0:.3f} s")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NumPy vectorized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t0 = time.time()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doubled = arr * 2      # that's it.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print(f"NumPy:  {time.time()-t0:.3f} s")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12280" y="1783080"/>
            <a:ext cx="4800600" cy="1143000"/>
          </a:xfrm>
          <a:prstGeom prst="roundRect">
            <a:avLst>
              <a:gd name="adj" fmla="val 72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89280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0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40880" y="23774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 simple math — often far more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3108960"/>
            <a:ext cx="4800600" cy="1143000"/>
          </a:xfrm>
          <a:prstGeom prst="roundRect">
            <a:avLst>
              <a:gd name="adj" fmla="val 72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321868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* 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0" y="370332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 written — the loop runs in optimized C underneath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4434840"/>
            <a:ext cx="4800600" cy="1143000"/>
          </a:xfrm>
          <a:prstGeom prst="roundRect">
            <a:avLst>
              <a:gd name="adj" fmla="val 720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0" y="454456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idea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040880" y="50292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vectorization: apply the operation to ALL elements at once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“Vectorized” = you describe WHAT to compute; NumPy decides HOW, in fast compiled code. This mindset carries into Pandas, Spark, and SQL.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 — Lists Built for Math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44982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import numpy as np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= np.array([24.4, 25.9, 28.6, 19.3])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print(temps.size)    # 4   (like len)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print(temps.dtype)   # float64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Instant statistics — no loops: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print(temps.mean())  # 24.55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print(temps.max())   # 28.6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print(temps.min())   # 19.3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print(temps.std())   # 3.33  (spread)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print(temps.sum())   # 98.2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print(np.median(temps))  # 25.15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vs 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12280" y="1874520"/>
            <a:ext cx="48006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dtype for all elements (all float64 here) — that's WHY it's fast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 work exactly like lists: temps[0], temps[-1], temps[1:3]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 3 accumulators (total, count, max-tracking) are now single method calls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.std() is new: how spread out the values are — EDA gold (Week 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4572000"/>
            <a:ext cx="4800600" cy="1188720"/>
          </a:xfrm>
          <a:prstGeom prst="roundRect">
            <a:avLst>
              <a:gd name="adj" fmla="val 6923"/>
            </a:avLst>
          </a:prstGeom>
          <a:solidFill>
            <a:srgbClr val="FCF0E3"/>
          </a:solidFill>
        </p:spPr>
      </p:sp>
      <p:sp>
        <p:nvSpPr>
          <p:cNvPr id="9" name="Text 7"/>
          <p:cNvSpPr/>
          <p:nvPr/>
        </p:nvSpPr>
        <p:spPr>
          <a:xfrm>
            <a:off x="7040880" y="4572000"/>
            <a:ext cx="4343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make an array of your last 5 quiz scores and print mean, max, and std.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Vectorized Math — Whole Columns at Once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44982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temps_c = np.array([24.4, 25.9, 28.6, 19.3])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rain_mm = np.array([0.0, 12.5, 3.2, 26.2])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Array + number: applies to EVERY element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temps_f = temps_c * 9/5 + 32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print(temps_f)   # [75.92 78.62 83.48 66.74]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Array + array: element by element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rain_cm = rain_mm / 10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Deviation from the mean — one line: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anomaly = temps_c - temps_c.mean()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print(anomaly.round(2))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[-0.15  1.35  4.05 -5.25]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12280" y="1874520"/>
            <a:ext cx="4800600" cy="2468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temps_c * 9/5 + 32 replaced your Week 5 comprehension — and your Week 3 loop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same-size arrays combine element-wise: a + b, a - b, a * b</a:t>
            </a:r>
            <a:endParaRPr lang="en-US" sz="12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= value − mean is how analysts spot unusual days — you'll do it on 60 days of real weather today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12280" y="4572000"/>
            <a:ext cx="4800600" cy="1188720"/>
          </a:xfrm>
          <a:prstGeom prst="roundRect">
            <a:avLst>
              <a:gd name="adj" fmla="val 6923"/>
            </a:avLst>
          </a:prstGeom>
          <a:solidFill>
            <a:srgbClr val="EDF0F8"/>
          </a:solidFill>
        </p:spPr>
      </p:sp>
      <p:sp>
        <p:nvSpPr>
          <p:cNvPr id="9" name="Text 7"/>
          <p:cNvSpPr/>
          <p:nvPr/>
        </p:nvSpPr>
        <p:spPr>
          <a:xfrm>
            <a:off x="7040880" y="4572000"/>
            <a:ext cx="4343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eras, one task:  Week 3 loop → Week 5 comprehension → NumPy one-liner. Each step: less code, more speed.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Masking — Filtering Without Loops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NumPy skill. Pandas filtering (Week 7) is exactly this.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44982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= np.array([24.4, 25.9, 28.6, 19.3, 26.0])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Compare the WHOLE array at once: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mask = temps &gt;= 26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print(mask)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[False False  True False  True]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Use the mask to SELECT: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print(temps[mask])       # [28.6 26. 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Count &amp; measure in one line: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print(mask.sum())        # 2 hot days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print(temps[mask].mean()) # 27.3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1228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like English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2194560"/>
            <a:ext cx="480060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25856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&gt;= 26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95160" y="256032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True/False array (the mask)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12280" y="3063240"/>
            <a:ext cx="480060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312724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temps[mask]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95160" y="342900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where the mask is True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3931920"/>
            <a:ext cx="4800600" cy="731520"/>
          </a:xfrm>
          <a:prstGeom prst="roundRect">
            <a:avLst>
              <a:gd name="adj" fmla="val 11250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399592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56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mask.sum()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995160" y="4297680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Trues (True = 1, False = 0)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4892040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FCF0E3"/>
          </a:solidFill>
        </p:spPr>
      </p:sp>
      <p:sp>
        <p:nvSpPr>
          <p:cNvPr id="18" name="Text 16"/>
          <p:cNvSpPr/>
          <p:nvPr/>
        </p:nvSpPr>
        <p:spPr>
          <a:xfrm>
            <a:off x="7040880" y="4892040"/>
            <a:ext cx="4343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Try it now: how many temps are below 25, and what is their average?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Masks — &amp; and |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852160" cy="3931920"/>
          </a:xfrm>
          <a:prstGeom prst="roundRect">
            <a:avLst>
              <a:gd name="adj" fmla="val 2093"/>
            </a:avLst>
          </a:prstGeom>
          <a:solidFill>
            <a:srgbClr val="17204A"/>
          </a:solidFill>
        </p:spPr>
      </p:sp>
      <p:sp>
        <p:nvSpPr>
          <p:cNvPr id="5" name="Text 3"/>
          <p:cNvSpPr/>
          <p:nvPr/>
        </p:nvSpPr>
        <p:spPr>
          <a:xfrm>
            <a:off x="795528" y="1591056"/>
            <a:ext cx="5449824" cy="3675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= np.array([24.4, 25.9, 28.6, 19.3, 26.0])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rain  = np.array([ 0.0, 12.5,  3.2, 26.2,  0.0])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AND is &amp;, OR is | — with parentheses!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hot_and_rainy = (temps &gt;= 26) &amp; (rain &gt; 0)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print(hot_and_rainy.sum())   # 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Masks work ACROSS arrays: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"avg temperature on rainy days"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print(temps[rain &gt; 0].mean())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24.47  — mask from one array,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0B27A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         data from another!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12280" y="146304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rules to remember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12280" y="1874520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FAECEA"/>
          </a:solidFill>
        </p:spPr>
      </p:sp>
      <p:sp>
        <p:nvSpPr>
          <p:cNvPr id="8" name="Text 6"/>
          <p:cNvSpPr/>
          <p:nvPr/>
        </p:nvSpPr>
        <p:spPr>
          <a:xfrm>
            <a:off x="6995160" y="196596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&amp; and |, not 'and'/'or'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95160" y="228600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words don't work on arrays — this error will bite you once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12280" y="2926080"/>
            <a:ext cx="4800600" cy="914400"/>
          </a:xfrm>
          <a:prstGeom prst="roundRect">
            <a:avLst>
              <a:gd name="adj" fmla="val 9000"/>
            </a:avLst>
          </a:prstGeom>
          <a:solidFill>
            <a:srgbClr val="FAECEA"/>
          </a:solidFill>
        </p:spPr>
      </p:sp>
      <p:sp>
        <p:nvSpPr>
          <p:cNvPr id="11" name="Text 9"/>
          <p:cNvSpPr/>
          <p:nvPr/>
        </p:nvSpPr>
        <p:spPr>
          <a:xfrm>
            <a:off x="6995160" y="301752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 around each condition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95160" y="33375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&gt;= 26) &amp; (b &gt; 0) — without them the order of operations breaks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4114800"/>
            <a:ext cx="4800600" cy="1645920"/>
          </a:xfrm>
          <a:prstGeom prst="roundRect">
            <a:avLst>
              <a:gd name="adj" fmla="val 5000"/>
            </a:avLst>
          </a:prstGeom>
          <a:solidFill>
            <a:srgbClr val="E7F5F2"/>
          </a:solidFill>
        </p:spPr>
      </p:sp>
      <p:sp>
        <p:nvSpPr>
          <p:cNvPr id="14" name="Text 12"/>
          <p:cNvSpPr/>
          <p:nvPr/>
        </p:nvSpPr>
        <p:spPr>
          <a:xfrm>
            <a:off x="7040880" y="4261104"/>
            <a:ext cx="4389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Pandas preview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0" y="4572000"/>
            <a:ext cx="438912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avg(temp) WHERE rain &gt; 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temps[rain &gt; 0].mean()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syntax. You're learning the concept once.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Dataset — 60 Days of Kigali Weather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week5_kigali_weather.csv  ·  September – October 2026  ·  columns: day, date, temp_c, rainfall_mm, humidity_pct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5852160" cy="3246120"/>
          </a:xfrm>
          <a:prstGeom prst="roundRect">
            <a:avLst>
              <a:gd name="adj" fmla="val 2535"/>
            </a:avLst>
          </a:prstGeom>
          <a:solidFill>
            <a:srgbClr val="17204A"/>
          </a:solidFill>
        </p:spPr>
      </p:sp>
      <p:sp>
        <p:nvSpPr>
          <p:cNvPr id="6" name="Text 4"/>
          <p:cNvSpPr/>
          <p:nvPr/>
        </p:nvSpPr>
        <p:spPr>
          <a:xfrm>
            <a:off x="795528" y="1911096"/>
            <a:ext cx="5449824" cy="29900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7FD1C4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# Load with Week 3 skills + comprehensions: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with open("week5_kigali_weather.csv") as f: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    lines = f.readlines()[1:]   # skip header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rows  = [ln.strip().split(",") for ln in lines]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= np.array([float(r[2]) for r in rows])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rain  = np.array([float(r[3]) for r in rows])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AF0FB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print(temps.size)   # 60 days ready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12280" y="178308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you'll answer in the lab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12280" y="2194560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26771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hot was the hottest day — and when?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262432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temps.max(), np.argmax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12280" y="3090672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31638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rainy days? Total rainfall?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3520440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(rain &gt; 0).sum(), rain.sum()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3986784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95160" y="4059936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hotter on dry days than rainy days?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95160" y="441655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temps[rain == 0].mean()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4882896"/>
            <a:ext cx="4800600" cy="777240"/>
          </a:xfrm>
          <a:prstGeom prst="roundRect">
            <a:avLst>
              <a:gd name="adj" fmla="val 10588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495604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were unusually hot? (anomaly)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5312664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A08E"/>
                </a:solidFill>
                <a:latin typeface="Courier New" panose="02070609020205090404" pitchFamily="34" charset="0"/>
                <a:ea typeface="Courier New" panose="02070609020205090404" pitchFamily="34" charset="-122"/>
                <a:cs typeface="Courier New" panose="02070609020205090404" pitchFamily="34" charset="-120"/>
              </a:rPr>
              <a:t>temps - temps.mean()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5257800"/>
            <a:ext cx="5852160" cy="777240"/>
          </a:xfrm>
          <a:prstGeom prst="roundRect">
            <a:avLst>
              <a:gd name="adj" fmla="val 10588"/>
            </a:avLst>
          </a:prstGeom>
          <a:solidFill>
            <a:srgbClr val="EDF0F8"/>
          </a:solidFill>
        </p:spPr>
      </p:sp>
      <p:sp>
        <p:nvSpPr>
          <p:cNvPr id="21" name="Text 19"/>
          <p:cNvSpPr/>
          <p:nvPr/>
        </p:nvSpPr>
        <p:spPr>
          <a:xfrm>
            <a:off x="822960" y="5257800"/>
            <a:ext cx="54864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Week 3 file reading + Week 5 comprehensions + np.array — your skills stack like LEGO.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NUMPY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Practice — Your Week 5 Mission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· ~35 minutes · dataset: week5_kigali_weather.csv (60 days)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212848"/>
            <a:ext cx="457200" cy="457200"/>
          </a:xfrm>
          <a:prstGeom prst="ellipse">
            <a:avLst/>
          </a:prstGeom>
          <a:solidFill>
            <a:srgbClr val="1FA08E"/>
          </a:solidFill>
        </p:spPr>
      </p:sp>
      <p:sp>
        <p:nvSpPr>
          <p:cNvPr id="7" name="Text 5"/>
          <p:cNvSpPr/>
          <p:nvPr/>
        </p:nvSpPr>
        <p:spPr>
          <a:xfrm>
            <a:off x="79552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95681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describe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30428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CSV into NumPy arrays with comprehensions. Mean, max, min, std of temperature — 60 days in 4 lines.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212848"/>
            <a:ext cx="457200" cy="457200"/>
          </a:xfrm>
          <a:prstGeom prst="ellipse">
            <a:avLst/>
          </a:prstGeom>
          <a:solidFill>
            <a:srgbClr val="1F2A56"/>
          </a:solidFill>
        </p:spPr>
      </p:sp>
      <p:sp>
        <p:nvSpPr>
          <p:cNvPr id="12" name="Text 10"/>
          <p:cNvSpPr/>
          <p:nvPr/>
        </p:nvSpPr>
        <p:spPr>
          <a:xfrm>
            <a:off x="6464808" y="22128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195681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86600" y="230428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60 temperatures to Fahrenheit in one line. Compute each day's anomaly (temp − mean).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" y="3630168"/>
            <a:ext cx="457200" cy="457200"/>
          </a:xfrm>
          <a:prstGeom prst="ellipse">
            <a:avLst/>
          </a:prstGeom>
          <a:solidFill>
            <a:srgbClr val="E67E22"/>
          </a:solidFill>
        </p:spPr>
      </p:sp>
      <p:sp>
        <p:nvSpPr>
          <p:cNvPr id="17" name="Text 15"/>
          <p:cNvSpPr/>
          <p:nvPr/>
        </p:nvSpPr>
        <p:spPr>
          <a:xfrm>
            <a:off x="795528" y="3630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3741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like an analyst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days (≥ 26°C), rainy days, hot AND rainy days — count them, average them, compare dry vs rainy temperatures.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2461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 w="12700">
            <a:solidFill>
              <a:srgbClr val="D8DE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4808" y="3630168"/>
            <a:ext cx="457200" cy="457200"/>
          </a:xfrm>
          <a:prstGeom prst="ellipse">
            <a:avLst/>
          </a:prstGeom>
          <a:solidFill>
            <a:srgbClr val="C0392B"/>
          </a:solidFill>
        </p:spPr>
      </p:sp>
      <p:sp>
        <p:nvSpPr>
          <p:cNvPr id="22" name="Text 20"/>
          <p:cNvSpPr/>
          <p:nvPr/>
        </p:nvSpPr>
        <p:spPr>
          <a:xfrm>
            <a:off x="6464808" y="36301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3374136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Stretch: rank &amp; 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86600" y="3721608"/>
            <a:ext cx="43891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sorted + lambda to rank the 5 wettest days with their dates. Compare first-half vs second-half temperatures.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4937760"/>
            <a:ext cx="11018520" cy="1097280"/>
          </a:xfrm>
          <a:prstGeom prst="roundRect">
            <a:avLst>
              <a:gd name="adj" fmla="val 7500"/>
            </a:avLst>
          </a:prstGeom>
          <a:solidFill>
            <a:srgbClr val="EDF0F8"/>
          </a:solidFill>
        </p:spPr>
      </p:sp>
      <p:sp>
        <p:nvSpPr>
          <p:cNvPr id="26" name="Text 24"/>
          <p:cNvSpPr/>
          <p:nvPr/>
        </p:nvSpPr>
        <p:spPr>
          <a:xfrm>
            <a:off x="868680" y="493776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 and marks are in the Week 5 Lab PDF. Rule for today: if you write a for loop in Part 3 or 4 of the lab, stop — there's a mask for that.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A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 5 Deliverable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7F5F2"/>
          </a:solidFill>
        </p:spPr>
      </p:sp>
      <p:sp>
        <p:nvSpPr>
          <p:cNvPr id="5" name="Text 3"/>
          <p:cNvSpPr/>
          <p:nvPr/>
        </p:nvSpPr>
        <p:spPr>
          <a:xfrm>
            <a:off x="868680" y="1645920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end of this week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846320" cy="2560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Week5_YourName with all lab exercises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weather report: hottest day, rainy-day stats, dry vs rainy comparison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running code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report: one insight about Kigali's weather your arrays revealed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3291840"/>
          </a:xfrm>
          <a:prstGeom prst="roundRect">
            <a:avLst>
              <a:gd name="adj" fmla="val 2500"/>
            </a:avLst>
          </a:prstGeom>
          <a:solidFill>
            <a:srgbClr val="EDF0F8"/>
          </a:solidFill>
        </p:spPr>
      </p:sp>
      <p:sp>
        <p:nvSpPr>
          <p:cNvPr id="8" name="Text 6"/>
          <p:cNvSpPr/>
          <p:nvPr/>
        </p:nvSpPr>
        <p:spPr>
          <a:xfrm>
            <a:off x="6537960" y="16459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 — Week 6: Group Presentations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031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37960" y="2670048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37960" y="3236976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Big Data in Healthcare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3803904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D:  </a:t>
            </a:r>
            <a:r>
              <a:rPr lang="en-US" sz="1250" dirty="0">
                <a:solidFill>
                  <a:srgbClr val="2E3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– Big Data in Banking &amp; Finance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34340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A &amp; B: today's anomaly idea (value − mean) is the seed of prediction!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5029200"/>
            <a:ext cx="11018520" cy="1005840"/>
          </a:xfrm>
          <a:prstGeom prst="roundRect">
            <a:avLst>
              <a:gd name="adj" fmla="val 8182"/>
            </a:avLst>
          </a:prstGeom>
          <a:solidFill>
            <a:srgbClr val="FCF0E3"/>
          </a:solidFill>
        </p:spPr>
      </p:sp>
      <p:sp>
        <p:nvSpPr>
          <p:cNvPr id="15" name="Text 13"/>
          <p:cNvSpPr/>
          <p:nvPr/>
        </p:nvSpPr>
        <p:spPr>
          <a:xfrm>
            <a:off x="868680" y="5029200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tip: take your Week 3 student pipeline and rewrite Part 5 with NumPy arrays and masks. Same answers, a fraction of the code — that's your proof of progress.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Advanced Python + NumPy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1247120" y="647395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486400" cy="5486400"/>
          </a:xfrm>
          <a:prstGeom prst="ellipse">
            <a:avLst/>
          </a:prstGeom>
          <a:solidFill>
            <a:srgbClr val="2A3768"/>
          </a:solidFill>
        </p:spPr>
      </p:sp>
      <p:sp>
        <p:nvSpPr>
          <p:cNvPr id="3" name="Shape 1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FA08E">
              <a:alpha val="45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your code stopped walking and started flying.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A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stop: Pandas — where arrays grow into full DataFrames.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Prince Ishimwe  ·  Prince.ishimwe@auca.ac.rw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10871</Words>
  <Application>WPS Presentation</Application>
  <PresentationFormat>On-screen Show (16:9)</PresentationFormat>
  <Paragraphs>488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Courier New</vt:lpstr>
      <vt:lpstr>Courier New</vt:lpstr>
      <vt:lpstr>Courier New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Ishimwe Prince</cp:lastModifiedBy>
  <cp:revision>2</cp:revision>
  <dcterms:created xsi:type="dcterms:W3CDTF">2026-08-20T08:36:04Z</dcterms:created>
  <dcterms:modified xsi:type="dcterms:W3CDTF">2026-08-20T08:36:04Z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AE7633F346B5F1C074BC866A11E6E935_43</vt:lpwstr>
  </property>
  <property fmtid="{D5CDD505-2E9C-101B-9397-08002B2CF9AE}" pid="3" name="KSOProductBuildVer">
    <vt:lpwstr>1033-12.1.26050.26050</vt:lpwstr>
  </property>
</Properties>
</file>