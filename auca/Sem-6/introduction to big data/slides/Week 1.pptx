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Explain the rhythm of the course: today we start with the big picture of Big Data Analytics before writing any code, because you should always understand WHY a tool exists before learning HOW to use it. Second half of the session is hands-on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Icebreaker slide. Ask 2–3 students to share their answer. Goal: everyone realizes they already do informal data analysis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here — the 5 V's is the single most-cited framework in the field and will appear in the mid-term. Ask: which V is hardest to solve? (Usually veracity.)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each level builds on the previous — you can't predict well if you can't even describe your data. Map each level to the course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local and concrete. Ask students for other Rwandan examples: ride-hailing apps, electricity smart meters, Zipline drone deliveries, telecom data for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and make sure EVERYONE passes Checkpoint 1 before moving on. Pair students up: Colab users help Anaconda users and vice 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during the exercise. The stretch goal is intentionally hard without loops — let strong students struggle productively; tell others it's a preview of Week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3" name="Shape 1"/>
          <p:cNvSpPr/>
          <p:nvPr/>
        </p:nvSpPr>
        <p:spPr>
          <a:xfrm>
            <a:off x="10515600" y="4480560"/>
            <a:ext cx="3291840" cy="329184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5" name="Text 3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AUCA  ·  INTRODUCTION TO BIG DATA ANALYTICS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822960" y="16916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Big Data Analytics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Big Picture to Your First Python Code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</a:t>
            </a:r>
            <a:r>
              <a:rPr lang="en-US" sz="145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Big Data Analytics? — the overview          </a:t>
            </a:r>
            <a:r>
              <a:rPr lang="en-US" sz="14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</a:t>
            </a:r>
            <a:r>
              <a:rPr lang="en-US" sz="145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 — hands-on lab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Prince Ishimwe   ·   Prince.ishimwe@auca.ac.rw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  ·  8:30 AM – 11:00 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E7F5F2"/>
          </a:solidFill>
        </p:spPr>
      </p:sp>
      <p:sp>
        <p:nvSpPr>
          <p:cNvPr id="5" name="Shape 3"/>
          <p:cNvSpPr/>
          <p:nvPr/>
        </p:nvSpPr>
        <p:spPr>
          <a:xfrm>
            <a:off x="841248" y="1728216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6" name="Text 4"/>
          <p:cNvSpPr/>
          <p:nvPr/>
        </p:nvSpPr>
        <p:spPr>
          <a:xfrm>
            <a:off x="841248" y="1728216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9:40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545336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743200" y="1929384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data? What makes it BIG?  ·  The 5 V's  ·  Types of analytics  ·  Real-world applications (incl. Rwanda)  ·  Why Python?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24328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1EDF8"/>
          </a:solidFill>
        </p:spPr>
      </p:sp>
      <p:sp>
        <p:nvSpPr>
          <p:cNvPr id="10" name="Shape 8"/>
          <p:cNvSpPr/>
          <p:nvPr/>
        </p:nvSpPr>
        <p:spPr>
          <a:xfrm>
            <a:off x="841248" y="2935224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7B5EA7"/>
          </a:solidFill>
        </p:spPr>
      </p:sp>
      <p:sp>
        <p:nvSpPr>
          <p:cNvPr id="11" name="Text 9"/>
          <p:cNvSpPr/>
          <p:nvPr/>
        </p:nvSpPr>
        <p:spPr>
          <a:xfrm>
            <a:off x="841248" y="2935224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9:40 – 9:50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752344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743200" y="313639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install check: make sure Anaconda / Google Colab works on your machine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831336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CF0E3"/>
          </a:solidFill>
        </p:spPr>
      </p:sp>
      <p:sp>
        <p:nvSpPr>
          <p:cNvPr id="15" name="Shape 13"/>
          <p:cNvSpPr/>
          <p:nvPr/>
        </p:nvSpPr>
        <p:spPr>
          <a:xfrm>
            <a:off x="841248" y="414223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841248" y="4142232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9:50 – 10:50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959352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 Lab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743200" y="43434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 ·  Variables &amp; data types  ·  Lists &amp; dictionaries  ·  Guided practice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5038344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EDF0F8"/>
          </a:solidFill>
        </p:spPr>
      </p:sp>
      <p:sp>
        <p:nvSpPr>
          <p:cNvPr id="20" name="Shape 18"/>
          <p:cNvSpPr/>
          <p:nvPr/>
        </p:nvSpPr>
        <p:spPr>
          <a:xfrm>
            <a:off x="841248" y="534924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F2A56"/>
          </a:solidFill>
        </p:spPr>
      </p:sp>
      <p:sp>
        <p:nvSpPr>
          <p:cNvPr id="21" name="Text 19"/>
          <p:cNvSpPr/>
          <p:nvPr/>
        </p:nvSpPr>
        <p:spPr>
          <a:xfrm>
            <a:off x="841248" y="5349240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10:50 – 11:00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5166360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743200" y="5550408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deliverable briefing  ·  What's coming in Week 2 (group presentations)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206240" cy="420624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645920" y="-2011680"/>
            <a:ext cx="4937760" cy="493776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Big Data Analytics?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write a single line of Python, let's understand the world we are stepping into.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raw facts and figures. On its own it says little — value appears when we process and interpret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2286000"/>
            <a:ext cx="457200" cy="457200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7" name="Text 5"/>
          <p:cNvSpPr/>
          <p:nvPr/>
        </p:nvSpPr>
        <p:spPr>
          <a:xfrm>
            <a:off x="813816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" y="2852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3816" y="324612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facts, unprocessed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"37.8", "2026-08-19", "KGL"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72968" y="28346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38728" y="20574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2286000"/>
            <a:ext cx="457200" cy="457200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13" name="Text 11"/>
          <p:cNvSpPr/>
          <p:nvPr/>
        </p:nvSpPr>
        <p:spPr>
          <a:xfrm>
            <a:off x="3758184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58184" y="2852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58184" y="324612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 context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"37.8°C recorded in Kigali on 19 Aug"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7336" y="28346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83096" y="20574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2286000"/>
            <a:ext cx="457200" cy="4572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9" name="Text 17"/>
          <p:cNvSpPr/>
          <p:nvPr/>
        </p:nvSpPr>
        <p:spPr>
          <a:xfrm>
            <a:off x="6702552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02552" y="2852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02552" y="324612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meaning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"Temperatures are rising this season"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61704" y="28346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427464" y="20574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46920" y="2286000"/>
            <a:ext cx="457200" cy="45720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5" name="Text 23"/>
          <p:cNvSpPr/>
          <p:nvPr/>
        </p:nvSpPr>
        <p:spPr>
          <a:xfrm>
            <a:off x="964692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6920" y="2852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46920" y="324612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"Adjust the planting calendar"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572000"/>
            <a:ext cx="11018520" cy="1463040"/>
          </a:xfrm>
          <a:prstGeom prst="roundRect">
            <a:avLst>
              <a:gd name="adj" fmla="val 5625"/>
            </a:avLst>
          </a:prstGeom>
          <a:solidFill>
            <a:srgbClr val="E7F5F2"/>
          </a:solidFill>
        </p:spPr>
      </p:sp>
      <p:sp>
        <p:nvSpPr>
          <p:cNvPr id="29" name="Text 27"/>
          <p:cNvSpPr/>
          <p:nvPr/>
        </p:nvSpPr>
        <p:spPr>
          <a:xfrm>
            <a:off x="868680" y="47548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2 minutes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decision you made this week. What data (even informal) did you base it on? Where did that data come from?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Data “Big”? — The 5 V's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is data too large, fast, or complex for traditional tools (like a single Excel sheet or one database server) to handle.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1773936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 — terabytes to petabytes. E.g. mobile money transactions across Rwanda every day.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6352" y="196596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2194560"/>
            <a:ext cx="502920" cy="502920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12" name="Text 10"/>
          <p:cNvSpPr/>
          <p:nvPr/>
        </p:nvSpPr>
        <p:spPr>
          <a:xfrm>
            <a:off x="2999232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99232" y="283464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999232" y="3246120"/>
            <a:ext cx="1773936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generation — streaming sensor readings, payments, and GPS pings arriving every second.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4064" y="196596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6944" y="2194560"/>
            <a:ext cx="502920" cy="502920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17" name="Text 15"/>
          <p:cNvSpPr/>
          <p:nvPr/>
        </p:nvSpPr>
        <p:spPr>
          <a:xfrm>
            <a:off x="5266944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66944" y="283464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266944" y="3246120"/>
            <a:ext cx="1773936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forms — tables, text, images, audio, video, logs; structured and unstructured.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196596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34656" y="2194560"/>
            <a:ext cx="502920" cy="50292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22" name="Text 20"/>
          <p:cNvSpPr/>
          <p:nvPr/>
        </p:nvSpPr>
        <p:spPr>
          <a:xfrm>
            <a:off x="7534656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34656" y="283464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534656" y="3246120"/>
            <a:ext cx="1773936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— missing values, errors, duplicates. Can we trust it? (You'll fight this in every lab!)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19488" y="196596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02368" y="2194560"/>
            <a:ext cx="502920" cy="50292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7" name="Text 25"/>
          <p:cNvSpPr/>
          <p:nvPr/>
        </p:nvSpPr>
        <p:spPr>
          <a:xfrm>
            <a:off x="9802368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02368" y="283464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802368" y="3246120"/>
            <a:ext cx="1773936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it all — insight that improves a decision, product, or service.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5623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it fits comfortably in one spreadsheet, it's data. If it needs special tools and thinking — it's Big Data.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Data vs Big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502920"/>
          </a:xfrm>
          <a:prstGeom prst="roundRect">
            <a:avLst>
              <a:gd name="adj" fmla="val 16364"/>
            </a:avLst>
          </a:prstGeom>
          <a:solidFill>
            <a:srgbClr val="1F2A56"/>
          </a:solidFill>
        </p:spPr>
      </p:sp>
      <p:sp>
        <p:nvSpPr>
          <p:cNvPr id="5" name="Text 3"/>
          <p:cNvSpPr/>
          <p:nvPr/>
        </p:nvSpPr>
        <p:spPr>
          <a:xfrm>
            <a:off x="594360" y="1463040"/>
            <a:ext cx="5349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DF0F8"/>
          </a:solidFill>
        </p:spPr>
      </p:sp>
      <p:sp>
        <p:nvSpPr>
          <p:cNvPr id="7" name="Text 5"/>
          <p:cNvSpPr/>
          <p:nvPr/>
        </p:nvSpPr>
        <p:spPr>
          <a:xfrm>
            <a:off x="868680" y="233172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Gigabytes, fits on one machine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structured tables (rows &amp; columns)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updates — daily or weekly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relational database (SQL)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in Excel or simple SQL queries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49240" cy="502920"/>
          </a:xfrm>
          <a:prstGeom prst="roundRect">
            <a:avLst>
              <a:gd name="adj" fmla="val 16364"/>
            </a:avLst>
          </a:prstGeom>
          <a:solidFill>
            <a:srgbClr val="1FA08E"/>
          </a:solidFill>
        </p:spPr>
      </p:sp>
      <p:sp>
        <p:nvSpPr>
          <p:cNvPr id="9" name="Text 7"/>
          <p:cNvSpPr/>
          <p:nvPr/>
        </p:nvSpPr>
        <p:spPr>
          <a:xfrm>
            <a:off x="6263640" y="1463040"/>
            <a:ext cx="5349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7F5F2"/>
          </a:solidFill>
        </p:spPr>
      </p:sp>
      <p:sp>
        <p:nvSpPr>
          <p:cNvPr id="11" name="Text 9"/>
          <p:cNvSpPr/>
          <p:nvPr/>
        </p:nvSpPr>
        <p:spPr>
          <a:xfrm>
            <a:off x="6537960" y="233172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Terabytes to petabytes, spread across clusters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text, images, logs, streams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 near real-time arrival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(Hadoop, Spark, NoSQL)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with code — Python, ML, dashboards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still matter! Big Data techniques complement — they don't replace — solid fundamentals with small data.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Analytics — Four Levels of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= systematically using data to answer questions. The questions climb a ladder of difficulty and value: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1018520" cy="914400"/>
          </a:xfrm>
          <a:prstGeom prst="roundRect">
            <a:avLst>
              <a:gd name="adj" fmla="val 9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12264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822960" y="211226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17520" y="1984248"/>
            <a:ext cx="2926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1984248"/>
            <a:ext cx="5394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summaries: “Sales dropped 12% in July.”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11018520" cy="914400"/>
          </a:xfrm>
          <a:prstGeom prst="roundRect">
            <a:avLst>
              <a:gd name="adj" fmla="val 9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63824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1F2A56"/>
          </a:solidFill>
        </p:spPr>
      </p:sp>
      <p:sp>
        <p:nvSpPr>
          <p:cNvPr id="12" name="Text 10"/>
          <p:cNvSpPr/>
          <p:nvPr/>
        </p:nvSpPr>
        <p:spPr>
          <a:xfrm>
            <a:off x="822960" y="316382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17520" y="3035808"/>
            <a:ext cx="2926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3035808"/>
            <a:ext cx="5394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&amp; correlation: “The drop came from Region X after a price change.”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977640"/>
            <a:ext cx="11018520" cy="914400"/>
          </a:xfrm>
          <a:prstGeom prst="roundRect">
            <a:avLst>
              <a:gd name="adj" fmla="val 9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15384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E67E22"/>
          </a:solidFill>
        </p:spPr>
      </p:sp>
      <p:sp>
        <p:nvSpPr>
          <p:cNvPr id="17" name="Text 15"/>
          <p:cNvSpPr/>
          <p:nvPr/>
        </p:nvSpPr>
        <p:spPr>
          <a:xfrm>
            <a:off x="822960" y="421538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017520" y="4087368"/>
            <a:ext cx="2926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4087368"/>
            <a:ext cx="5394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&amp; ML models: “At this trend, August sales will fall 8%.”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5029200"/>
            <a:ext cx="11018520" cy="914400"/>
          </a:xfrm>
          <a:prstGeom prst="roundRect">
            <a:avLst>
              <a:gd name="adj" fmla="val 9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66944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22" name="Text 20"/>
          <p:cNvSpPr/>
          <p:nvPr/>
        </p:nvSpPr>
        <p:spPr>
          <a:xfrm>
            <a:off x="822960" y="526694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017520" y="5138928"/>
            <a:ext cx="2926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35040" y="5138928"/>
            <a:ext cx="5394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optimization: “Restore price in X; shift stock to Y.”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6172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walks the whole ladder: descriptive stats (Weeks 7–9) → predictive ML (Week 10) → your final project.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Data Analytics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in this field — including your final project — follows the same journey: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21408" cy="502920"/>
          </a:xfrm>
          <a:prstGeom prst="roundRect">
            <a:avLst>
              <a:gd name="adj" fmla="val 16364"/>
            </a:avLst>
          </a:prstGeom>
          <a:solidFill>
            <a:srgbClr val="1FA08E"/>
          </a:solidFill>
        </p:spPr>
      </p:sp>
      <p:sp>
        <p:nvSpPr>
          <p:cNvPr id="6" name="Text 4"/>
          <p:cNvSpPr/>
          <p:nvPr/>
        </p:nvSpPr>
        <p:spPr>
          <a:xfrm>
            <a:off x="548640" y="2011680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7889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forms, APIs, logs, surveys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" y="3767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Week 12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15184" y="20299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16352" y="2011680"/>
            <a:ext cx="2121408" cy="502920"/>
          </a:xfrm>
          <a:prstGeom prst="roundRect">
            <a:avLst>
              <a:gd name="adj" fmla="val 16364"/>
            </a:avLst>
          </a:prstGeom>
          <a:solidFill>
            <a:srgbClr val="1F2A56"/>
          </a:solidFill>
        </p:spPr>
      </p:sp>
      <p:sp>
        <p:nvSpPr>
          <p:cNvPr id="12" name="Text 10"/>
          <p:cNvSpPr/>
          <p:nvPr/>
        </p:nvSpPr>
        <p:spPr>
          <a:xfrm>
            <a:off x="2816352" y="2011680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16352" y="265176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27889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data lakes, cloud 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62656" y="3767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Week 12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82896" y="20299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84064" y="2011680"/>
            <a:ext cx="2121408" cy="502920"/>
          </a:xfrm>
          <a:prstGeom prst="roundRect">
            <a:avLst>
              <a:gd name="adj" fmla="val 16364"/>
            </a:avLst>
          </a:prstGeom>
          <a:solidFill>
            <a:srgbClr val="7B5EA7"/>
          </a:solidFill>
        </p:spPr>
      </p:sp>
      <p:sp>
        <p:nvSpPr>
          <p:cNvPr id="18" name="Text 16"/>
          <p:cNvSpPr/>
          <p:nvPr/>
        </p:nvSpPr>
        <p:spPr>
          <a:xfrm>
            <a:off x="5084064" y="2011680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84064" y="265176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27889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errors, fill gaps, remove duplicates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0368" y="3767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Wk 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50608" y="20299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51776" y="2011680"/>
            <a:ext cx="2121408" cy="502920"/>
          </a:xfrm>
          <a:prstGeom prst="roundRect">
            <a:avLst>
              <a:gd name="adj" fmla="val 16364"/>
            </a:avLst>
          </a:prstGeom>
          <a:solidFill>
            <a:srgbClr val="E67E22"/>
          </a:solidFill>
        </p:spPr>
      </p:sp>
      <p:sp>
        <p:nvSpPr>
          <p:cNvPr id="24" name="Text 22"/>
          <p:cNvSpPr/>
          <p:nvPr/>
        </p:nvSpPr>
        <p:spPr>
          <a:xfrm>
            <a:off x="7351776" y="2011680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51776" y="265176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7889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patterns, ML 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767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Wk 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18320" y="20299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19488" y="2011680"/>
            <a:ext cx="2121408" cy="502920"/>
          </a:xfrm>
          <a:prstGeom prst="roundRect">
            <a:avLst>
              <a:gd name="adj" fmla="val 16364"/>
            </a:avLst>
          </a:prstGeom>
          <a:solidFill>
            <a:srgbClr val="C0392B"/>
          </a:solidFill>
        </p:spPr>
      </p:sp>
      <p:sp>
        <p:nvSpPr>
          <p:cNvPr id="30" name="Text 28"/>
          <p:cNvSpPr/>
          <p:nvPr/>
        </p:nvSpPr>
        <p:spPr>
          <a:xfrm>
            <a:off x="9619488" y="2011680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19488" y="265176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65792" y="27889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dashboards, reports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65792" y="3767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Plotly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4663440"/>
            <a:ext cx="11018520" cy="1325880"/>
          </a:xfrm>
          <a:prstGeom prst="roundRect">
            <a:avLst>
              <a:gd name="adj" fmla="val 6207"/>
            </a:avLst>
          </a:prstGeom>
          <a:solidFill>
            <a:srgbClr val="EDF0F8"/>
          </a:solidFill>
        </p:spPr>
      </p:sp>
      <p:sp>
        <p:nvSpPr>
          <p:cNvPr id="35" name="Text 33"/>
          <p:cNvSpPr/>
          <p:nvPr/>
        </p:nvSpPr>
        <p:spPr>
          <a:xfrm>
            <a:off x="868680" y="486460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can drive the whole pipeline: Python.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68680" y="526694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we spend our lab weeks building Python skills — every stage above has a Python tool you will learn in this course.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Big Data Analytics Changes Lives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1664208"/>
            <a:ext cx="219456" cy="219456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6" name="Text 4"/>
          <p:cNvSpPr/>
          <p:nvPr/>
        </p:nvSpPr>
        <p:spPr>
          <a:xfrm>
            <a:off x="1161288" y="15910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13816" y="2029968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disease outbreaks, optimizing hospital resources, personalized treatment.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3816" y="30906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Week 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664208"/>
            <a:ext cx="219456" cy="219456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11" name="Text 9"/>
          <p:cNvSpPr/>
          <p:nvPr/>
        </p:nvSpPr>
        <p:spPr>
          <a:xfrm>
            <a:off x="4956048" y="15910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08576" y="2029968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in real time, credit scoring, mobile money analytics.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08576" y="30906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Week 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4630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1664208"/>
            <a:ext cx="219456" cy="219456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8750808" y="15910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03336" y="2029968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+ weather data for yield prediction, smart irrigation, input subsidies.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03336" y="30906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Week 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3950208"/>
            <a:ext cx="219456" cy="219456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21" name="Text 19"/>
          <p:cNvSpPr/>
          <p:nvPr/>
        </p:nvSpPr>
        <p:spPr>
          <a:xfrm>
            <a:off x="1161288" y="38770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13816" y="4315968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systems for dropout risk, adaptive learning platforms.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3816" y="53766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Week 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7490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3950208"/>
            <a:ext cx="219456" cy="21945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6" name="Text 24"/>
          <p:cNvSpPr/>
          <p:nvPr/>
        </p:nvSpPr>
        <p:spPr>
          <a:xfrm>
            <a:off x="4956048" y="38770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608576" y="4315968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optimization, utilities monitoring, public safety analytics.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08576" y="53766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Week 11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83880" y="37490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03336" y="3950208"/>
            <a:ext cx="219456" cy="219456"/>
          </a:xfrm>
          <a:prstGeom prst="ellipse">
            <a:avLst/>
          </a:prstGeom>
          <a:solidFill>
            <a:srgbClr val="0F6E8C"/>
          </a:solidFill>
        </p:spPr>
      </p:sp>
      <p:sp>
        <p:nvSpPr>
          <p:cNvPr id="31" name="Text 29"/>
          <p:cNvSpPr/>
          <p:nvPr/>
        </p:nvSpPr>
        <p:spPr>
          <a:xfrm>
            <a:off x="8750808" y="38770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Services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403336" y="4315968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 delivery, evidence-based policy, census &amp; statistics modernization.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03336" y="53766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Week 11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" y="6172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group presentations and case studies will explore each of these sectors in depth.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Around Us — Rwanda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is not a distant Silicon Valley story. It is being generated and used here, every day: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2139696"/>
            <a:ext cx="219456" cy="219456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1179576" y="20665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32104" y="248716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MoMo transactions generate real-time financial data — used for fraud detection and to extend credit to people with no bank history.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1384" y="2139696"/>
            <a:ext cx="219456" cy="219456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11" name="Text 9"/>
          <p:cNvSpPr/>
          <p:nvPr/>
        </p:nvSpPr>
        <p:spPr>
          <a:xfrm>
            <a:off x="6848856" y="20665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Irembo &amp; e-Government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01384" y="248716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public services produce usage data that helps government see demand, bottlenecks, and service quality across districts.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4105656"/>
            <a:ext cx="219456" cy="219456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5" name="Text 13"/>
          <p:cNvSpPr/>
          <p:nvPr/>
        </p:nvSpPr>
        <p:spPr>
          <a:xfrm>
            <a:off x="1179576" y="40325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2104" y="445312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like the Smart Nkunganire System digitize the farm-input supply chain for hundreds of thousands of farmers.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8862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1384" y="4105656"/>
            <a:ext cx="219456" cy="21945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9" name="Text 17"/>
          <p:cNvSpPr/>
          <p:nvPr/>
        </p:nvSpPr>
        <p:spPr>
          <a:xfrm>
            <a:off x="6848856" y="40325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01384" y="445312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and electronic medical records create datasets that can improve triage, supply chains, and epidemiology.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 will dig deeper into “Big Data in Rwanda” in Week 11 — start collecting examples now!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 for Big Data Analytics?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Python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— code looks close to plain English, ideal for beginners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 — no license needed, huge global community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language, whole pipeline — from cleaning to ML to dashboards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the most-used language in data science jobs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 toolbox this semester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87452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94767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22402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numeric arrays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63640" y="249631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15400" y="187452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194767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52560" y="22402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data cleaning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52560" y="249631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898648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97180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3640" y="3264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graphs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3520440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2898648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97180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52560" y="3264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52560" y="3520440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3922776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99592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428853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4544568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15400" y="3922776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99592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SQL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052560" y="428853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big-data scale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560" y="4544568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5257800"/>
            <a:ext cx="11018520" cy="777240"/>
          </a:xfrm>
          <a:prstGeom prst="roundRect">
            <a:avLst>
              <a:gd name="adj" fmla="val 10588"/>
            </a:avLst>
          </a:prstGeom>
          <a:solidFill>
            <a:srgbClr val="E7F5F2"/>
          </a:solidFill>
        </p:spPr>
      </p:sp>
      <p:sp>
        <p:nvSpPr>
          <p:cNvPr id="32" name="Text 30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starts with the foundations we build today: variables, data types, lists, and dictionaries.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509760" y="-2194560"/>
            <a:ext cx="5303520" cy="530352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Foundations — Hands-On Lab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laptops. From here on, you type along with every example.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Workspace: Jupyter Notebooks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mixes code, results, and notes in one document — perfect for data analysis and for submitting your weekly labs.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6675120" cy="1207008"/>
          </a:xfrm>
          <a:prstGeom prst="roundRect">
            <a:avLst>
              <a:gd name="adj" fmla="val 6818"/>
            </a:avLst>
          </a:prstGeom>
          <a:solidFill>
            <a:srgbClr val="E7F5F2"/>
          </a:solidFill>
        </p:spPr>
      </p:sp>
      <p:sp>
        <p:nvSpPr>
          <p:cNvPr id="6" name="Text 4"/>
          <p:cNvSpPr/>
          <p:nvPr/>
        </p:nvSpPr>
        <p:spPr>
          <a:xfrm>
            <a:off x="841248" y="2002536"/>
            <a:ext cx="6217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Google Colab (easiest)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368296"/>
            <a:ext cx="6263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install. Go to colab.research.google.com, sign in with Google, click “New Notebook”. Works on any device with a browser.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6675120" cy="1207008"/>
          </a:xfrm>
          <a:prstGeom prst="roundRect">
            <a:avLst>
              <a:gd name="adj" fmla="val 6818"/>
            </a:avLst>
          </a:prstGeom>
          <a:solidFill>
            <a:srgbClr val="EDF0F8"/>
          </a:solidFill>
        </p:spPr>
      </p:sp>
      <p:sp>
        <p:nvSpPr>
          <p:cNvPr id="9" name="Text 7"/>
          <p:cNvSpPr/>
          <p:nvPr/>
        </p:nvSpPr>
        <p:spPr>
          <a:xfrm>
            <a:off x="841248" y="3374136"/>
            <a:ext cx="6217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Anaconda (offline)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3739896"/>
            <a:ext cx="6263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anaconda.com, install, then launch “Jupyter Notebook”. Best if your internet is unreliable — everything runs on your machine.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35240" y="18745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survival kit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35240" y="2240280"/>
            <a:ext cx="397764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is made of cells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Enter — run a cell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cells run Python; Markdown cells hold notes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often (Ctrl + 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800600"/>
            <a:ext cx="11018520" cy="1234440"/>
          </a:xfrm>
          <a:prstGeom prst="roundRect">
            <a:avLst>
              <a:gd name="adj" fmla="val 6667"/>
            </a:avLst>
          </a:prstGeom>
          <a:solidFill>
            <a:srgbClr val="FCF0E3"/>
          </a:solidFill>
        </p:spPr>
      </p:sp>
      <p:sp>
        <p:nvSpPr>
          <p:cNvPr id="14" name="Text 12"/>
          <p:cNvSpPr/>
          <p:nvPr/>
        </p:nvSpPr>
        <p:spPr>
          <a:xfrm>
            <a:off x="868680" y="4956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Checkpoint 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32180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notebook, rename it  Week1_YourName , and run:   print("Hello, Big Data!")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Python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 a calculator + printing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2761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Anything after # is a comment — Python ignores it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print("Hello, Big Data!")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Arithmetic works as you'd expect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print(3 + 4 * 2)      # 11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print(10 / 3)         # 3.3333...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print(10 // 3)        # 3  (whole-number division)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print(10 % 3)         # 1  (remainder)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print(2 ** 10)        # 1024 (power)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notice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16636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displays results — your window into what the code is doing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(“strings”) goes inside quotes; numbers don't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starts a comment — use them generously in your lab reports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runs top to bottom, one line at a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5074920"/>
            <a:ext cx="11018520" cy="1005840"/>
          </a:xfrm>
          <a:prstGeom prst="roundRect">
            <a:avLst>
              <a:gd name="adj" fmla="val 8182"/>
            </a:avLst>
          </a:prstGeom>
          <a:solidFill>
            <a:srgbClr val="FCF0E3"/>
          </a:solidFill>
        </p:spPr>
      </p:sp>
      <p:sp>
        <p:nvSpPr>
          <p:cNvPr id="10" name="Text 8"/>
          <p:cNvSpPr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 (3 min):  compute how many seconds are in one semester week (7 days) using one print() line.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— Naming Your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labeled box that stores a value so you can reuse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2944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Create variables with =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course = "Big Data Analytics"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students = 48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avg_score = 76.5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Use them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print(course)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print(students * 2)   # 96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Update them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students = students + 2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print(students)       # 50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 &amp; style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digits, underscore — but cannot start with a digit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Score and score are different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descriptive snake_case: avg_score, not x or AvgScore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spaces, no reserved words (print, if, for...)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45720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AECEA"/>
          </a:solidFill>
        </p:spPr>
      </p:sp>
      <p:sp>
        <p:nvSpPr>
          <p:cNvPr id="10" name="Text 8"/>
          <p:cNvSpPr/>
          <p:nvPr/>
        </p:nvSpPr>
        <p:spPr>
          <a:xfrm>
            <a:off x="6629400" y="470916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error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502920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NameError: name 'studnets' is not defined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 only knows names you have already created. Check spelling!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Basic Data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9105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A08E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students = 48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146304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59105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float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30168" y="199339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30168" y="23774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avg_score = 76.5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0216" y="146304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59105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7E22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83096" y="199339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quotes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3096" y="23774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name = "Aline"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53144" y="146304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6024" y="159105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5EA7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bool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36024" y="199339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36024" y="23774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passed = True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24612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17204A"/>
          </a:solidFill>
        </p:spPr>
      </p:sp>
      <p:sp>
        <p:nvSpPr>
          <p:cNvPr id="21" name="Text 19"/>
          <p:cNvSpPr/>
          <p:nvPr/>
        </p:nvSpPr>
        <p:spPr>
          <a:xfrm>
            <a:off x="795528" y="3374136"/>
            <a:ext cx="5038344" cy="2395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Check any value's type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print(type(48))        # &lt;class 'int'&gt;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print(type(76.5))      # &lt;class 'float'&gt;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print(type("Aline"))   # &lt;class 'str'&gt;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Convert between types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age = int("21")        # "21" -&gt; 21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print(age + 1)         # 22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32461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types matter in 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51663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arrive messy: numbers stored as text (“76.5”) can't be averaged until converted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"3" + "4" gives "34" (text!), while 3 + 4 gives 7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data cleaning (Week 7) is fixing types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Text — Strings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038344" cy="4041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name = "Big Data Analytics"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Length and case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print(len(name))        # 18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print(name.upper())     # BIG DATA ANALYTICS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print(name.lower())     # big data analytics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Indexing starts at 0!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print(name[0])          # 'B'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print(name[0:3])        # 'Big'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f-strings: insert values into text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students = 48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print(f"{name} has {students} students")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Big Data Analytics has 48 students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874520"/>
            <a:ext cx="51663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starts at 0 — position 0 is the first character (this trips everyone once!)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[start:end] includes start, excludes end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f"...{variable}..." is how you build readable output — use it in every lab report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452628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CF0E3"/>
          </a:solidFill>
        </p:spPr>
      </p:sp>
      <p:sp>
        <p:nvSpPr>
          <p:cNvPr id="9" name="Text 7"/>
          <p:cNvSpPr/>
          <p:nvPr/>
        </p:nvSpPr>
        <p:spPr>
          <a:xfrm>
            <a:off x="6629400" y="466344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 (3 min)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4983480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your own name and program in variables, then print: “I am ___, studying ___ at AUCA” using an f-string.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— Ordered Collections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holds many values in order — like one column of a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3721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scores = [72, 85, 91, 64, 78]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Access by position (0-based)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print(scores[0])       # 72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print(scores[-1])      # 78 (last item)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print(scores[1:3])     # [85, 91]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Modify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scores.append(88)      # add to the end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scores[3] = 66         # replace a value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Built-in analytics!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print(len(scores))              # 6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print(sum(scores) / len(scores)) # average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print(max(scores), min(scores)) # 91 64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lists matter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column (all students' scores) is naturally a list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sum(), len(), max(), min() — your first descriptive statistics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week's loops will process lists item by item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(Week 5) are turbo-charged lists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466344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CF0E3"/>
          </a:solidFill>
        </p:spPr>
      </p:sp>
      <p:sp>
        <p:nvSpPr>
          <p:cNvPr id="10" name="Text 8"/>
          <p:cNvSpPr/>
          <p:nvPr/>
        </p:nvSpPr>
        <p:spPr>
          <a:xfrm>
            <a:off x="6629400" y="466344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now: make a list of 5 daily temperatures for Kigali and print the average.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 — Labeled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key–value pairs — like one row of a dataset, with column names attached.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038344" cy="3721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 =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"name": "Aline",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"program": "Information Systems",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"score": 85,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"passed": True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Access by key, not position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print(student["name"])     # Aline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print(student["score"])    # 85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Add or update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student["score"] = 88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student["district"] = "Gasabo"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print(student.keys())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vs dictionaries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E7F5F2"/>
          </a:solidFill>
        </p:spPr>
      </p:sp>
      <p:sp>
        <p:nvSpPr>
          <p:cNvPr id="9" name="Text 7"/>
          <p:cNvSpPr/>
          <p:nvPr/>
        </p:nvSpPr>
        <p:spPr>
          <a:xfrm>
            <a:off x="6629400" y="228600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596896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values, accessed by position  ·  A column: all scores in the class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33756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EDF0F8"/>
          </a:solidFill>
        </p:spPr>
      </p:sp>
      <p:sp>
        <p:nvSpPr>
          <p:cNvPr id="12" name="Text 10"/>
          <p:cNvSpPr/>
          <p:nvPr/>
        </p:nvSpPr>
        <p:spPr>
          <a:xfrm>
            <a:off x="6629400" y="342900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3739896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Key–value pairs, accessed by name  ·  A row: one student's full record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47091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dataset = a list of dictionaries. That is exactly what a Pandas DataFrame (Week 7) is built from!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Guided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· 20 minutes · this becomes the core of your Week 1 lab submission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212848"/>
            <a:ext cx="457200" cy="457200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795528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5681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student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0428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dictionary with keys: name, age, program, score.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212848"/>
            <a:ext cx="457200" cy="457200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12" name="Text 10"/>
          <p:cNvSpPr/>
          <p:nvPr/>
        </p:nvSpPr>
        <p:spPr>
          <a:xfrm>
            <a:off x="6464808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5681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 list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30428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list containing 4 such dictionaries (invent the data).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" y="3630168"/>
            <a:ext cx="457200" cy="4572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7" name="Text 15"/>
          <p:cNvSpPr/>
          <p:nvPr/>
        </p:nvSpPr>
        <p:spPr>
          <a:xfrm>
            <a:off x="795528" y="3630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7413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four scores into a list; print count, average, max, and min with f-strings.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3630168"/>
            <a:ext cx="457200" cy="45720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2" name="Text 20"/>
          <p:cNvSpPr/>
          <p:nvPr/>
        </p:nvSpPr>
        <p:spPr>
          <a:xfrm>
            <a:off x="6464808" y="3630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37413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372160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name of the student who has the highest score. (Hint: compare, or wait for Week 3 loops!)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11018520" cy="1097280"/>
          </a:xfrm>
          <a:prstGeom prst="roundRect">
            <a:avLst>
              <a:gd name="adj" fmla="val 7500"/>
            </a:avLst>
          </a:prstGeom>
          <a:solidFill>
            <a:srgbClr val="EDF0F8"/>
          </a:solidFill>
        </p:spPr>
      </p:sp>
      <p:sp>
        <p:nvSpPr>
          <p:cNvPr id="26" name="Text 24"/>
          <p:cNvSpPr/>
          <p:nvPr/>
        </p:nvSpPr>
        <p:spPr>
          <a:xfrm>
            <a:off x="868680" y="493776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you just did: collected data (invented it), structured it (dicts in a list), and analyzed it (average, max). That's the pipeline from Part 1 — in miniature.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 1 Deliverable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7F5F2"/>
          </a:solidFill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end of this week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463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(Week1_YourName) with today's exercises completed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your running code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report (½–1 page): what you built and one thing that surprised you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before the end of the week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DF0F8"/>
          </a:solidFill>
        </p:spPr>
      </p:sp>
      <p:sp>
        <p:nvSpPr>
          <p:cNvPr id="8" name="Text 6"/>
          <p:cNvSpPr/>
          <p:nvPr/>
        </p:nvSpPr>
        <p:spPr>
          <a:xfrm>
            <a:off x="6537960" y="16459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— Week 2: Group Presentations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&amp; Data Science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267004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Fundamentals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3697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0390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Acquisition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4343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group: slides + 2–3 page summary + 5 discussion questions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5029200"/>
            <a:ext cx="11018520" cy="1005840"/>
          </a:xfrm>
          <a:prstGeom prst="roundRect">
            <a:avLst>
              <a:gd name="adj" fmla="val 8182"/>
            </a:avLst>
          </a:prstGeom>
          <a:solidFill>
            <a:srgbClr val="FCF0E3"/>
          </a:solidFill>
        </p:spPr>
      </p:sp>
      <p:sp>
        <p:nvSpPr>
          <p:cNvPr id="15" name="Text 13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tip: 20 minutes of Python per day beats 3 hours once a week. Re-type today's examples from memory tomorrow.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Big Data Analytics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486400" cy="548640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wrote your first Python code today.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weeks from now, you'll be presenting a full Big Data project.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Ishimwe  ·  Prince.ishimwe@auca.ac.rw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13897</Words>
  <Application>WPS Docs</Application>
  <PresentationFormat>On-screen Show (16:9)</PresentationFormat>
  <Paragraphs>709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Microsoft YaHei</vt:lpstr>
      <vt:lpstr>汉仪旗黑</vt:lpstr>
      <vt:lpstr>Arial Unicode MS</vt:lpstr>
      <vt:lpstr>Courier New</vt:lpstr>
      <vt:lpstr>Courier New</vt:lpstr>
      <vt:lpstr>Courier New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Ishimwe Prince</cp:lastModifiedBy>
  <cp:revision>2</cp:revision>
  <dcterms:created xsi:type="dcterms:W3CDTF">2026-08-19T09:30:51Z</dcterms:created>
  <dcterms:modified xsi:type="dcterms:W3CDTF">2026-08-19T09:30:51Z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05BC9FCB8E25CC46CB77856A1D16B6D2_43</vt:lpwstr>
  </property>
  <property fmtid="{D5CDD505-2E9C-101B-9397-08002B2CF9AE}" pid="3" name="KSOProductBuildVer">
    <vt:lpwstr>1033-12.1.26050.26050</vt:lpwstr>
  </property>
</Properties>
</file>