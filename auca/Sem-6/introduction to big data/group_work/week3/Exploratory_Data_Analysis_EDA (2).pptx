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2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8" d="100"/>
          <a:sy n="68" d="100"/>
        </p:scale>
        <p:origin x="72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rgbClr val="CADCFC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10-20</c:v>
                </c:pt>
                <c:pt idx="1">
                  <c:v>20-30</c:v>
                </c:pt>
                <c:pt idx="2">
                  <c:v>30-40</c:v>
                </c:pt>
                <c:pt idx="3">
                  <c:v>40-50</c:v>
                </c:pt>
                <c:pt idx="4">
                  <c:v>50-60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</c:v>
                </c:pt>
                <c:pt idx="1">
                  <c:v>22</c:v>
                </c:pt>
                <c:pt idx="2">
                  <c:v>35</c:v>
                </c:pt>
                <c:pt idx="3">
                  <c:v>18</c:v>
                </c:pt>
                <c:pt idx="4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BEF-4718-80AB-16FEF4EA518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7C8CC4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2E3A7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7C8CC4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51E4A">
            <a:alpha val="0"/>
          </a:srgbClr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51E4A">
        <a:alpha val="0"/>
      </a:srgbClr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ln>
              <a:noFill/>
            </a:ln>
            <a:effectLst/>
          </c:spPr>
          <c:marker>
            <c:symbol val="circle"/>
            <c:size val="7"/>
            <c:spPr>
              <a:solidFill>
                <a:srgbClr val="CADCFC"/>
              </a:solidFill>
              <a:ln w="9525" cap="flat">
                <a:solidFill>
                  <a:srgbClr val="CADCFC"/>
                </a:solidFill>
                <a:prstDash val="solid"/>
                <a:round/>
              </a:ln>
              <a:effectLst/>
            </c:spPr>
          </c:marker>
          <c:xVal>
            <c:numRef>
              <c:f>Sheet1!$A$2:$A$11</c:f>
              <c:numCache>
                <c:formatCode>General</c:formatCode>
                <c:ptCount val="10"/>
                <c:pt idx="0">
                  <c:v>2</c:v>
                </c:pt>
                <c:pt idx="1">
                  <c:v>4</c:v>
                </c:pt>
                <c:pt idx="2">
                  <c:v>5</c:v>
                </c:pt>
                <c:pt idx="3">
                  <c:v>7</c:v>
                </c:pt>
                <c:pt idx="4">
                  <c:v>8</c:v>
                </c:pt>
                <c:pt idx="5">
                  <c:v>10</c:v>
                </c:pt>
                <c:pt idx="6">
                  <c:v>11</c:v>
                </c:pt>
                <c:pt idx="7">
                  <c:v>13</c:v>
                </c:pt>
                <c:pt idx="8">
                  <c:v>14</c:v>
                </c:pt>
                <c:pt idx="9">
                  <c:v>16</c:v>
                </c:pt>
              </c:numCache>
            </c:numRef>
          </c:xVal>
          <c:yVal>
            <c:numRef>
              <c:f>Sheet1!$B$2:$B$11</c:f>
              <c:numCache>
                <c:formatCode>General</c:formatCode>
                <c:ptCount val="10"/>
                <c:pt idx="0">
                  <c:v>15</c:v>
                </c:pt>
                <c:pt idx="1">
                  <c:v>22</c:v>
                </c:pt>
                <c:pt idx="2">
                  <c:v>27</c:v>
                </c:pt>
                <c:pt idx="3">
                  <c:v>30</c:v>
                </c:pt>
                <c:pt idx="4">
                  <c:v>38</c:v>
                </c:pt>
                <c:pt idx="5">
                  <c:v>41</c:v>
                </c:pt>
                <c:pt idx="6">
                  <c:v>47</c:v>
                </c:pt>
                <c:pt idx="7">
                  <c:v>52</c:v>
                </c:pt>
                <c:pt idx="8">
                  <c:v>55</c:v>
                </c:pt>
                <c:pt idx="9">
                  <c:v>63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2475-4555-842D-9166238D8BF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Ad Spend ($K)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7C8CC4"/>
            </a:solidFill>
            <a:prstDash val="solid"/>
            <a:round/>
          </a:ln>
        </c:spPr>
        <c:crossAx val="2094734552"/>
        <c:crosses val="autoZero"/>
        <c:crossBetween val="midCat"/>
      </c:val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2E3A73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Revenue ($K)</a:t>
                </a:r>
              </a:p>
            </c:rich>
          </c:tx>
          <c:layout/>
          <c:overlay val="0"/>
        </c:title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7C8CC4"/>
            </a:solidFill>
            <a:prstDash val="solid"/>
            <a:round/>
          </a:ln>
        </c:sp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txPr>
    <a:bodyPr/>
    <a:lstStyle/>
    <a:p>
      <a:pPr>
        <a:defRPr sz="1800">
          <a:solidFill>
            <a:schemeClr val="bg1"/>
          </a:solidFill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413606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VY_MASTER">
    <p:bg>
      <p:bgPr>
        <a:solidFill>
          <a:srgbClr val="0A12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4552" y="63550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C8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8778240" y="-1828800"/>
            <a:ext cx="5943600" cy="5943600"/>
          </a:xfrm>
          <a:prstGeom prst="ellipse">
            <a:avLst/>
          </a:prstGeom>
          <a:ln w="19050">
            <a:solidFill>
              <a:srgbClr val="CADCFC">
                <a:alpha val="3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9692640" y="-914400"/>
            <a:ext cx="4114800" cy="4114800"/>
          </a:xfrm>
          <a:prstGeom prst="ellipse">
            <a:avLst/>
          </a:prstGeom>
          <a:ln w="19050">
            <a:solidFill>
              <a:srgbClr val="CADCFC">
                <a:alpha val="4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640080" y="1737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FUNDAMENTALS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194560"/>
            <a:ext cx="9601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EXPLORATORY DATA</a:t>
            </a:r>
            <a:endParaRPr lang="en-US" sz="5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</a:t>
            </a:r>
            <a:endParaRPr lang="en-US" sz="5400" dirty="0"/>
          </a:p>
        </p:txBody>
      </p:sp>
      <p:sp>
        <p:nvSpPr>
          <p:cNvPr id="7" name="Shape 5"/>
          <p:cNvSpPr/>
          <p:nvPr/>
        </p:nvSpPr>
        <p:spPr>
          <a:xfrm>
            <a:off x="640080" y="4434840"/>
            <a:ext cx="822960" cy="54864"/>
          </a:xfrm>
          <a:prstGeom prst="rect">
            <a:avLst/>
          </a:prstGeom>
          <a:solidFill>
            <a:srgbClr val="CADC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 txBox="1"/>
          <p:nvPr/>
        </p:nvSpPr>
        <p:spPr>
          <a:xfrm>
            <a:off x="640080" y="4617719"/>
            <a:ext cx="7772400" cy="14437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closely at data to find clues that help with real analysis — like a detective working on a case.</a:t>
            </a:r>
            <a:endParaRPr lang="en-US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4552" y="63550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C8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We’ll Cover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65960"/>
            <a:ext cx="777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965960"/>
            <a:ext cx="4572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EDA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2596896"/>
            <a:ext cx="5349240" cy="0"/>
          </a:xfrm>
          <a:prstGeom prst="line">
            <a:avLst/>
          </a:prstGeom>
          <a:noFill/>
          <a:ln w="9525">
            <a:solidFill>
              <a:srgbClr val="7C8CC4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 txBox="1"/>
          <p:nvPr/>
        </p:nvSpPr>
        <p:spPr>
          <a:xfrm>
            <a:off x="548640" y="2642616"/>
            <a:ext cx="777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2642616"/>
            <a:ext cx="4572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Importance of EDA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48640" y="3273552"/>
            <a:ext cx="5349240" cy="0"/>
          </a:xfrm>
          <a:prstGeom prst="line">
            <a:avLst/>
          </a:prstGeom>
          <a:noFill/>
          <a:ln w="9525">
            <a:solidFill>
              <a:srgbClr val="7C8CC4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548640" y="3319272"/>
            <a:ext cx="777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3319272"/>
            <a:ext cx="4572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in the Business Analytics Cycle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548640" y="3950208"/>
            <a:ext cx="5349240" cy="0"/>
          </a:xfrm>
          <a:prstGeom prst="line">
            <a:avLst/>
          </a:prstGeom>
          <a:noFill/>
          <a:ln w="9525">
            <a:solidFill>
              <a:srgbClr val="7C8CC4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 txBox="1"/>
          <p:nvPr/>
        </p:nvSpPr>
        <p:spPr>
          <a:xfrm>
            <a:off x="548640" y="3995928"/>
            <a:ext cx="777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3995928"/>
            <a:ext cx="4572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Steps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6217920" y="1965960"/>
            <a:ext cx="777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6995160" y="1965960"/>
            <a:ext cx="4572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EDA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6217920" y="2596896"/>
            <a:ext cx="5349240" cy="0"/>
          </a:xfrm>
          <a:prstGeom prst="line">
            <a:avLst/>
          </a:prstGeom>
          <a:noFill/>
          <a:ln w="9525">
            <a:solidFill>
              <a:srgbClr val="7C8CC4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6217920" y="2642616"/>
            <a:ext cx="777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6995160" y="2642616"/>
            <a:ext cx="4572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Types, In Detail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6217920" y="3273552"/>
            <a:ext cx="5349240" cy="0"/>
          </a:xfrm>
          <a:prstGeom prst="line">
            <a:avLst/>
          </a:prstGeom>
          <a:noFill/>
          <a:ln w="9525">
            <a:solidFill>
              <a:srgbClr val="7C8CC4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6217920" y="3319272"/>
            <a:ext cx="777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2400" dirty="0"/>
          </a:p>
        </p:txBody>
      </p:sp>
      <p:sp>
        <p:nvSpPr>
          <p:cNvPr id="23" name="Text 21"/>
          <p:cNvSpPr txBox="1"/>
          <p:nvPr/>
        </p:nvSpPr>
        <p:spPr>
          <a:xfrm>
            <a:off x="6995160" y="3319272"/>
            <a:ext cx="4572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Questions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4552" y="63550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C8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INTRODUCTION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to EDA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6949440" cy="4023360"/>
          </a:xfrm>
          <a:prstGeom prst="roundRect">
            <a:avLst>
              <a:gd name="adj" fmla="val 2727"/>
            </a:avLst>
          </a:prstGeom>
          <a:solidFill>
            <a:srgbClr val="151E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914400" y="2331720"/>
            <a:ext cx="63093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 means looking closely at data to find clues that help with the actual data analysis — much like a detective building a case.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8321040" y="2651760"/>
            <a:ext cx="2926080" cy="2926080"/>
          </a:xfrm>
          <a:prstGeom prst="ellipse">
            <a:avLst/>
          </a:prstGeom>
          <a:solidFill>
            <a:srgbClr val="1C27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9006840" y="3108960"/>
            <a:ext cx="1371600" cy="1371600"/>
          </a:xfrm>
          <a:prstGeom prst="ellipse">
            <a:avLst/>
          </a:prstGeom>
          <a:ln w="63500">
            <a:solidFill>
              <a:srgbClr val="CADCF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0195560" y="4297680"/>
            <a:ext cx="777240" cy="777240"/>
          </a:xfrm>
          <a:prstGeom prst="line">
            <a:avLst/>
          </a:prstGeom>
          <a:noFill/>
          <a:ln w="63500">
            <a:solidFill>
              <a:srgbClr val="CADCF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7955280" y="56692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closely. Question everything. Let the data speak first.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4552" y="63550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C8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WHY IT MATTERS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Importance of EDA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349240" cy="1737360"/>
          </a:xfrm>
          <a:prstGeom prst="roundRect">
            <a:avLst>
              <a:gd name="adj" fmla="val 5263"/>
            </a:avLst>
          </a:prstGeom>
          <a:solidFill>
            <a:srgbClr val="151E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822960" y="2286000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82296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A1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1691640" y="2167128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Shows what the data is really like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691640" y="2697480"/>
            <a:ext cx="3977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what is really in your data, not what you think is there.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172200" y="1965960"/>
            <a:ext cx="5349240" cy="1737360"/>
          </a:xfrm>
          <a:prstGeom prst="roundRect">
            <a:avLst>
              <a:gd name="adj" fmla="val 5263"/>
            </a:avLst>
          </a:prstGeom>
          <a:solidFill>
            <a:srgbClr val="151E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6446520" y="2286000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644652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A1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0" y="2167128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Discovers patterns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0" y="2697480"/>
            <a:ext cx="3977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trends and relationships hidden in the numbers.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48640" y="3977640"/>
            <a:ext cx="5349240" cy="1737360"/>
          </a:xfrm>
          <a:prstGeom prst="roundRect">
            <a:avLst>
              <a:gd name="adj" fmla="val 5263"/>
            </a:avLst>
          </a:prstGeom>
          <a:solidFill>
            <a:srgbClr val="151E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822960" y="4297680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822960" y="4297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A1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1691640" y="4178808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Finds unusual values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1691640" y="4709160"/>
            <a:ext cx="3977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unusual values and errors before they affect your results.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172200" y="3977640"/>
            <a:ext cx="5349240" cy="1737360"/>
          </a:xfrm>
          <a:prstGeom prst="roundRect">
            <a:avLst>
              <a:gd name="adj" fmla="val 5263"/>
            </a:avLst>
          </a:prstGeom>
          <a:solidFill>
            <a:srgbClr val="151E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6446520" y="4297680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6446520" y="4297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A1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0" y="4178808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Checks assumptions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7315200" y="4709160"/>
            <a:ext cx="3977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that the data fits the model and methods you plan to use.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58064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at data with an open mind gives useful information — what you find is only as good as your first look at the data.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4552" y="63550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C8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949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IN PRACTICE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 in the Business Analytics Cycle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5349240" cy="1170432"/>
          </a:xfrm>
          <a:prstGeom prst="roundRect">
            <a:avLst>
              <a:gd name="adj" fmla="val 6250"/>
            </a:avLst>
          </a:prstGeom>
          <a:solidFill>
            <a:srgbClr val="151E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749808" y="2350008"/>
            <a:ext cx="493776" cy="493776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 txBox="1"/>
          <p:nvPr/>
        </p:nvSpPr>
        <p:spPr>
          <a:xfrm>
            <a:off x="749808" y="235000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A1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2103120"/>
            <a:ext cx="42519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data makes sense for the business problem — if not, collect more data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48640" y="3346704"/>
            <a:ext cx="5349240" cy="1170432"/>
          </a:xfrm>
          <a:prstGeom prst="roundRect">
            <a:avLst>
              <a:gd name="adj" fmla="val 6250"/>
            </a:avLst>
          </a:prstGeom>
          <a:solidFill>
            <a:srgbClr val="1C27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749808" y="3685032"/>
            <a:ext cx="493776" cy="493776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749808" y="368503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A1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1417320" y="3438144"/>
            <a:ext cx="42519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and fix data quality problems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548640" y="4681728"/>
            <a:ext cx="5349240" cy="1170432"/>
          </a:xfrm>
          <a:prstGeom prst="roundRect">
            <a:avLst>
              <a:gd name="adj" fmla="val 6250"/>
            </a:avLst>
          </a:prstGeom>
          <a:solidFill>
            <a:srgbClr val="151E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749808" y="5020056"/>
            <a:ext cx="493776" cy="493776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 txBox="1"/>
          <p:nvPr/>
        </p:nvSpPr>
        <p:spPr>
          <a:xfrm>
            <a:off x="749808" y="502005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A1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4773168"/>
            <a:ext cx="42519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 clear summary of the data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6172200" y="2011680"/>
            <a:ext cx="5349240" cy="1170432"/>
          </a:xfrm>
          <a:prstGeom prst="roundRect">
            <a:avLst>
              <a:gd name="adj" fmla="val 6250"/>
            </a:avLst>
          </a:prstGeom>
          <a:solidFill>
            <a:srgbClr val="151E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6373368" y="2350008"/>
            <a:ext cx="493776" cy="493776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 txBox="1"/>
          <p:nvPr/>
        </p:nvSpPr>
        <p:spPr>
          <a:xfrm>
            <a:off x="6373368" y="235000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A1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7040880" y="2103120"/>
            <a:ext cx="42519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unusual values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6172200" y="3346704"/>
            <a:ext cx="5349240" cy="1170432"/>
          </a:xfrm>
          <a:prstGeom prst="roundRect">
            <a:avLst>
              <a:gd name="adj" fmla="val 6250"/>
            </a:avLst>
          </a:prstGeom>
          <a:solidFill>
            <a:srgbClr val="1C27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6373368" y="3685032"/>
            <a:ext cx="493776" cy="493776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2"/>
          <p:cNvSpPr txBox="1"/>
          <p:nvPr/>
        </p:nvSpPr>
        <p:spPr>
          <a:xfrm>
            <a:off x="6373368" y="368503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A1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400" dirty="0"/>
          </a:p>
        </p:txBody>
      </p:sp>
      <p:sp>
        <p:nvSpPr>
          <p:cNvPr id="25" name="Text 23"/>
          <p:cNvSpPr txBox="1"/>
          <p:nvPr/>
        </p:nvSpPr>
        <p:spPr>
          <a:xfrm>
            <a:off x="7040880" y="3438144"/>
            <a:ext cx="42519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data patterns and relationships between variables</a:t>
            </a:r>
            <a:endParaRPr lang="en-US" sz="2400" dirty="0"/>
          </a:p>
        </p:txBody>
      </p:sp>
      <p:sp>
        <p:nvSpPr>
          <p:cNvPr id="26" name="Shape 24"/>
          <p:cNvSpPr/>
          <p:nvPr/>
        </p:nvSpPr>
        <p:spPr>
          <a:xfrm>
            <a:off x="6172200" y="4681728"/>
            <a:ext cx="5349240" cy="1170432"/>
          </a:xfrm>
          <a:prstGeom prst="roundRect">
            <a:avLst>
              <a:gd name="adj" fmla="val 6250"/>
            </a:avLst>
          </a:prstGeom>
          <a:solidFill>
            <a:srgbClr val="151E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6373368" y="5020056"/>
            <a:ext cx="493776" cy="493776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 txBox="1"/>
          <p:nvPr/>
        </p:nvSpPr>
        <p:spPr>
          <a:xfrm>
            <a:off x="6373368" y="502005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A1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400" dirty="0"/>
          </a:p>
        </p:txBody>
      </p:sp>
      <p:sp>
        <p:nvSpPr>
          <p:cNvPr id="29" name="Text 27"/>
          <p:cNvSpPr txBox="1"/>
          <p:nvPr/>
        </p:nvSpPr>
        <p:spPr>
          <a:xfrm>
            <a:off x="7040880" y="4773168"/>
            <a:ext cx="42519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unwanted columns and create new variables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4552" y="63550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C8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PROCESS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 Steps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151E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777240" y="2240280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777240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1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9260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the question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36499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business problem that EDA needs to help with.</a:t>
            </a:r>
            <a:endParaRPr lang="en-US" dirty="0"/>
          </a:p>
        </p:txBody>
      </p:sp>
      <p:sp>
        <p:nvSpPr>
          <p:cNvPr id="10" name="Text 8"/>
          <p:cNvSpPr txBox="1"/>
          <p:nvPr/>
        </p:nvSpPr>
        <p:spPr>
          <a:xfrm>
            <a:off x="4123944" y="269748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334256" y="201168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151E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4562856" y="2240280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 txBox="1"/>
          <p:nvPr/>
        </p:nvSpPr>
        <p:spPr>
          <a:xfrm>
            <a:off x="4562856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1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562856" y="29260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 &amp; import data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4562856" y="336499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the needed data from its sources.</a:t>
            </a:r>
            <a:endParaRPr lang="en-US" dirty="0"/>
          </a:p>
        </p:txBody>
      </p:sp>
      <p:sp>
        <p:nvSpPr>
          <p:cNvPr id="16" name="Text 14"/>
          <p:cNvSpPr txBox="1"/>
          <p:nvPr/>
        </p:nvSpPr>
        <p:spPr>
          <a:xfrm>
            <a:off x="7909560" y="269748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8119872" y="201168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151E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8348472" y="2240280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8348472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1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8348472" y="29260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&amp; prepare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8348472" y="336499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with missing values, duplicates, and formatting problems.</a:t>
            </a: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548640" y="425196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151E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777240" y="4480560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2"/>
          <p:cNvSpPr txBox="1"/>
          <p:nvPr/>
        </p:nvSpPr>
        <p:spPr>
          <a:xfrm>
            <a:off x="777240" y="4480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1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777240" y="51663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the variables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777240" y="560527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univariate and multivariate analysis on each field.</a:t>
            </a:r>
            <a:endParaRPr lang="en-US" dirty="0"/>
          </a:p>
        </p:txBody>
      </p:sp>
      <p:sp>
        <p:nvSpPr>
          <p:cNvPr id="27" name="Text 25"/>
          <p:cNvSpPr txBox="1"/>
          <p:nvPr/>
        </p:nvSpPr>
        <p:spPr>
          <a:xfrm>
            <a:off x="4123944" y="493776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4334256" y="425196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151E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4562856" y="4480560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Text 28"/>
          <p:cNvSpPr txBox="1"/>
          <p:nvPr/>
        </p:nvSpPr>
        <p:spPr>
          <a:xfrm>
            <a:off x="4562856" y="4480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1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4562856" y="51663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patterns &amp; outliers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4562856" y="560527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 trends, relationships, and unusual values.</a:t>
            </a:r>
            <a:endParaRPr lang="en-US" dirty="0"/>
          </a:p>
        </p:txBody>
      </p:sp>
      <p:sp>
        <p:nvSpPr>
          <p:cNvPr id="33" name="Text 31"/>
          <p:cNvSpPr txBox="1"/>
          <p:nvPr/>
        </p:nvSpPr>
        <p:spPr>
          <a:xfrm>
            <a:off x="7909560" y="493776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8119872" y="425196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151E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" name="Shape 33"/>
          <p:cNvSpPr/>
          <p:nvPr/>
        </p:nvSpPr>
        <p:spPr>
          <a:xfrm>
            <a:off x="8348472" y="4480560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" name="Text 34"/>
          <p:cNvSpPr txBox="1"/>
          <p:nvPr/>
        </p:nvSpPr>
        <p:spPr>
          <a:xfrm>
            <a:off x="8348472" y="4480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1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000" dirty="0"/>
          </a:p>
        </p:txBody>
      </p:sp>
      <p:sp>
        <p:nvSpPr>
          <p:cNvPr id="37" name="Text 35"/>
          <p:cNvSpPr txBox="1"/>
          <p:nvPr/>
        </p:nvSpPr>
        <p:spPr>
          <a:xfrm>
            <a:off x="8348472" y="51663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Refine &amp; report</a:t>
            </a:r>
            <a:endParaRPr lang="en-US" sz="1700" dirty="0"/>
          </a:p>
        </p:txBody>
      </p:sp>
      <p:sp>
        <p:nvSpPr>
          <p:cNvPr id="38" name="Text 36"/>
          <p:cNvSpPr txBox="1"/>
          <p:nvPr/>
        </p:nvSpPr>
        <p:spPr>
          <a:xfrm>
            <a:off x="8348472" y="560527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new variables, remove unneeded ones, and share what you find.</a:t>
            </a:r>
            <a:endParaRPr lang="en-US" dirty="0"/>
          </a:p>
        </p:txBody>
      </p:sp>
      <p:sp>
        <p:nvSpPr>
          <p:cNvPr id="39" name="Text 37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C8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is repeated — teams may go back and forth between these steps as they understand the data better.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4552" y="63550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C8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TYPES OF EDA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 of EDA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4990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can be grouped in two ways: how many variables you study, and whether you study them with numbers or pictures.</a:t>
            </a:r>
            <a:endParaRPr lang="en-US" dirty="0"/>
          </a:p>
        </p:txBody>
      </p:sp>
      <p:sp>
        <p:nvSpPr>
          <p:cNvPr id="6" name="Text 4"/>
          <p:cNvSpPr txBox="1"/>
          <p:nvPr/>
        </p:nvSpPr>
        <p:spPr>
          <a:xfrm>
            <a:off x="1782137" y="200710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NON-GRAPHICAL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309360" y="21488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GRAPHICAL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 rot="16200000">
            <a:off x="502920" y="288036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UNIVARIATE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 rot="16200000">
            <a:off x="502920" y="44348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MULTIVARIATE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644034" y="2478307"/>
            <a:ext cx="4482446" cy="1691640"/>
          </a:xfrm>
          <a:prstGeom prst="roundRect">
            <a:avLst>
              <a:gd name="adj" fmla="val 6061"/>
            </a:avLst>
          </a:prstGeom>
          <a:solidFill>
            <a:srgbClr val="151E4A"/>
          </a:solidFill>
          <a:ln w="9525">
            <a:solidFill>
              <a:srgbClr val="CADCFC">
                <a:alpha val="4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2240280" y="2478024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Univariate</a:t>
            </a:r>
            <a:endParaRPr lang="en-US" sz="1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Non-Graphical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2240280" y="329184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tables &amp; basic stats (mean, mode, std dev) for one variable at a time.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6355080" y="2514600"/>
            <a:ext cx="4206240" cy="1508760"/>
          </a:xfrm>
          <a:prstGeom prst="roundRect">
            <a:avLst>
              <a:gd name="adj" fmla="val 6061"/>
            </a:avLst>
          </a:prstGeom>
          <a:solidFill>
            <a:srgbClr val="151E4A"/>
          </a:solidFill>
          <a:ln w="9525">
            <a:solidFill>
              <a:srgbClr val="CADCFC">
                <a:alpha val="4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 txBox="1"/>
          <p:nvPr/>
        </p:nvSpPr>
        <p:spPr>
          <a:xfrm>
            <a:off x="6583680" y="2624328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Univariate</a:t>
            </a:r>
            <a:endParaRPr lang="en-US" sz="1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Graphical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583680" y="329184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charts &amp; histograms that show how the values of one variable are spread.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1644034" y="4251960"/>
            <a:ext cx="4482446" cy="1720392"/>
          </a:xfrm>
          <a:prstGeom prst="roundRect">
            <a:avLst>
              <a:gd name="adj" fmla="val 6061"/>
            </a:avLst>
          </a:prstGeom>
          <a:solidFill>
            <a:srgbClr val="1C2757"/>
          </a:solidFill>
          <a:ln w="9525">
            <a:solidFill>
              <a:srgbClr val="CADCFC">
                <a:alpha val="4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2240280" y="4270248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Multivariate</a:t>
            </a:r>
            <a:endParaRPr lang="en-US" sz="1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Non-Graphical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2240280" y="493776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Cross-tab reports comparing two or more variables.</a:t>
            </a: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6355080" y="4270248"/>
            <a:ext cx="4206240" cy="1702104"/>
          </a:xfrm>
          <a:prstGeom prst="roundRect">
            <a:avLst>
              <a:gd name="adj" fmla="val 6061"/>
            </a:avLst>
          </a:prstGeom>
          <a:solidFill>
            <a:srgbClr val="1C2757"/>
          </a:solidFill>
          <a:ln w="9525">
            <a:solidFill>
              <a:srgbClr val="CADCFC">
                <a:alpha val="4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 txBox="1"/>
          <p:nvPr/>
        </p:nvSpPr>
        <p:spPr>
          <a:xfrm>
            <a:off x="6583680" y="4270248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Multivariate</a:t>
            </a:r>
            <a:endParaRPr lang="en-US" sz="1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Graphical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6583680" y="493776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plots that show relationships between two or more variables.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4552" y="63550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C8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TYPES OF EDA · UNIVARIATE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777240" cy="77724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A1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7772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Univariate Non-Graphical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31191"/>
            <a:ext cx="6309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 at one variable at a time — age, salary, region — using numbers instead of pictures.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48640" y="2715768"/>
            <a:ext cx="6309360" cy="1719072"/>
          </a:xfrm>
          <a:prstGeom prst="roundRect">
            <a:avLst>
              <a:gd name="adj" fmla="val 6452"/>
            </a:avLst>
          </a:prstGeom>
          <a:solidFill>
            <a:srgbClr val="151E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822960" y="2756916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305226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variables: a simple frequency table (counts for each category).</a:t>
            </a:r>
            <a:endParaRPr lang="en-US" dirty="0"/>
          </a:p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variables: basic statistics — mean, mode, and standard deviation.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548640" y="4617720"/>
            <a:ext cx="6309360" cy="1417320"/>
          </a:xfrm>
          <a:prstGeom prst="roundRect">
            <a:avLst>
              <a:gd name="adj" fmla="val 6452"/>
            </a:avLst>
          </a:prstGeom>
          <a:solidFill>
            <a:srgbClr val="1C27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822960" y="4782312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512064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customer age is 34, and the most frequent purchase category is Electronics — both found without a single chart.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7178040" y="822960"/>
            <a:ext cx="4480560" cy="5212080"/>
          </a:xfrm>
          <a:prstGeom prst="roundRect">
            <a:avLst>
              <a:gd name="adj" fmla="val 2609"/>
            </a:avLst>
          </a:prstGeom>
          <a:solidFill>
            <a:srgbClr val="151E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7342632" y="9144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12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TABLE</a:t>
            </a:r>
            <a:endParaRPr lang="en-US" sz="2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817036"/>
              </p:ext>
            </p:extLst>
          </p:nvPr>
        </p:nvGraphicFramePr>
        <p:xfrm>
          <a:off x="7386608" y="1554480"/>
          <a:ext cx="3931920" cy="1920240"/>
        </p:xfrm>
        <a:graphic>
          <a:graphicData uri="http://schemas.openxmlformats.org/drawingml/2006/table">
            <a:tbl>
              <a:tblPr/>
              <a:tblGrid>
                <a:gridCol w="1310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0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C27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C27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C27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Electronics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C27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412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C27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34%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C27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Apparel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C27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298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C27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C27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C27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265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C27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22%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C27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C27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225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C27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19%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C27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7" name="Text 14"/>
          <p:cNvSpPr txBox="1"/>
          <p:nvPr/>
        </p:nvSpPr>
        <p:spPr>
          <a:xfrm>
            <a:off x="7452360" y="37947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000" b="1" kern="0" spc="120" dirty="0" smtClean="0">
              <a:solidFill>
                <a:srgbClr val="CADCF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2000" b="1" kern="0" spc="120" dirty="0" smtClean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</a:t>
            </a:r>
            <a:r>
              <a:rPr lang="en-US" sz="2000" b="1" kern="0" spc="12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 — AGE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7452360" y="470916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34.2</a:t>
            </a:r>
            <a:endParaRPr lang="en-US" sz="2400" dirty="0"/>
          </a:p>
        </p:txBody>
      </p:sp>
      <p:sp>
        <p:nvSpPr>
          <p:cNvPr id="19" name="Text 16"/>
          <p:cNvSpPr txBox="1"/>
          <p:nvPr/>
        </p:nvSpPr>
        <p:spPr>
          <a:xfrm>
            <a:off x="7452360" y="525780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</a:t>
            </a:r>
            <a:endParaRPr lang="en-US" sz="1150" dirty="0"/>
          </a:p>
        </p:txBody>
      </p:sp>
      <p:sp>
        <p:nvSpPr>
          <p:cNvPr id="20" name="Text 17"/>
          <p:cNvSpPr txBox="1"/>
          <p:nvPr/>
        </p:nvSpPr>
        <p:spPr>
          <a:xfrm>
            <a:off x="8750808" y="470916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2400" dirty="0"/>
          </a:p>
        </p:txBody>
      </p:sp>
      <p:sp>
        <p:nvSpPr>
          <p:cNvPr id="21" name="Text 18"/>
          <p:cNvSpPr txBox="1"/>
          <p:nvPr/>
        </p:nvSpPr>
        <p:spPr>
          <a:xfrm>
            <a:off x="8750808" y="525780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</a:t>
            </a:r>
            <a:endParaRPr lang="en-US" sz="1150" dirty="0"/>
          </a:p>
        </p:txBody>
      </p:sp>
      <p:sp>
        <p:nvSpPr>
          <p:cNvPr id="22" name="Text 19"/>
          <p:cNvSpPr txBox="1"/>
          <p:nvPr/>
        </p:nvSpPr>
        <p:spPr>
          <a:xfrm>
            <a:off x="10049256" y="470916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8.6</a:t>
            </a:r>
            <a:endParaRPr lang="en-US" sz="2400" dirty="0"/>
          </a:p>
        </p:txBody>
      </p:sp>
      <p:sp>
        <p:nvSpPr>
          <p:cNvPr id="23" name="Text 20"/>
          <p:cNvSpPr txBox="1"/>
          <p:nvPr/>
        </p:nvSpPr>
        <p:spPr>
          <a:xfrm>
            <a:off x="10049256" y="525780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 Dev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4552" y="63550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C8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TYPES OF EDA · UNIVARIATE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777240" cy="77724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A1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7772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Univariate Graphical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641965" y="1741366"/>
            <a:ext cx="6309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how the values of one variable are spread so you can understand them quickly.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6309360" cy="1417320"/>
          </a:xfrm>
          <a:prstGeom prst="roundRect">
            <a:avLst>
              <a:gd name="adj" fmla="val 6452"/>
            </a:avLst>
          </a:prstGeom>
          <a:solidFill>
            <a:srgbClr val="151E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822960" y="3182112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52044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data: bar charts.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data: histograms.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4617720"/>
            <a:ext cx="6309360" cy="1417320"/>
          </a:xfrm>
          <a:prstGeom prst="roundRect">
            <a:avLst>
              <a:gd name="adj" fmla="val 6452"/>
            </a:avLst>
          </a:prstGeom>
          <a:solidFill>
            <a:srgbClr val="1C27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822960" y="4782312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512064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histogram of monthly sales revenue quickly shows whether most revenue is in one range or spread across many ranges.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178040" y="1828800"/>
            <a:ext cx="4480560" cy="4206240"/>
          </a:xfrm>
          <a:prstGeom prst="roundRect">
            <a:avLst>
              <a:gd name="adj" fmla="val 2609"/>
            </a:avLst>
          </a:prstGeom>
          <a:solidFill>
            <a:srgbClr val="151E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7452360" y="20574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 — MONTHLY REVENUE ($K)</a:t>
            </a:r>
            <a:endParaRPr lang="en-US" sz="1200" dirty="0"/>
          </a:p>
        </p:txBody>
      </p:sp>
      <p:graphicFrame>
        <p:nvGraphicFramePr>
          <p:cNvPr id="16" name="Chart 0"/>
          <p:cNvGraphicFramePr/>
          <p:nvPr/>
        </p:nvGraphicFramePr>
        <p:xfrm>
          <a:off x="7315200" y="2423160"/>
          <a:ext cx="420624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4552" y="63550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C8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9493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TYPES OF EDA · MULTIVARIATE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777240" cy="77724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A1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7772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Multivariate Non-Graphical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828800"/>
            <a:ext cx="6309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 at two or more variables together to see how they are related, without using a chart.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6309360" cy="1417320"/>
          </a:xfrm>
          <a:prstGeom prst="roundRect">
            <a:avLst>
              <a:gd name="adj" fmla="val 6452"/>
            </a:avLst>
          </a:prstGeom>
          <a:solidFill>
            <a:srgbClr val="151E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822960" y="3182112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52044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Cross-tab reports — tables that compare one variable with another.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548640" y="4617720"/>
            <a:ext cx="6309360" cy="1417320"/>
          </a:xfrm>
          <a:prstGeom prst="roundRect">
            <a:avLst>
              <a:gd name="adj" fmla="val 6452"/>
            </a:avLst>
          </a:prstGeom>
          <a:solidFill>
            <a:srgbClr val="1C27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822960" y="4782312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512064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cross-tab of sales volume by Region × Product Category shows where each product performs best.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7178040" y="1828800"/>
            <a:ext cx="4480560" cy="4206240"/>
          </a:xfrm>
          <a:prstGeom prst="roundRect">
            <a:avLst>
              <a:gd name="adj" fmla="val 2609"/>
            </a:avLst>
          </a:prstGeom>
          <a:solidFill>
            <a:srgbClr val="151E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7452360" y="20574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CROSS-TAB — SALES BY REGION × CATEGORY</a:t>
            </a:r>
            <a:endParaRPr lang="en-US" sz="1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7771783"/>
              </p:ext>
            </p:extLst>
          </p:nvPr>
        </p:nvGraphicFramePr>
        <p:xfrm>
          <a:off x="7452360" y="2606040"/>
          <a:ext cx="3931920" cy="1981200"/>
        </p:xfrm>
        <a:graphic>
          <a:graphicData uri="http://schemas.openxmlformats.org/drawingml/2006/table">
            <a:tbl>
              <a:tblPr/>
              <a:tblGrid>
                <a:gridCol w="1310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0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C27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Electronics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C27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Apparel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C27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North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C27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C27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C27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South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C27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C27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141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C27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C27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156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C27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C27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West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C27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112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C27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119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C27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7" name="Text 14"/>
          <p:cNvSpPr txBox="1"/>
          <p:nvPr/>
        </p:nvSpPr>
        <p:spPr>
          <a:xfrm>
            <a:off x="7452360" y="4572000"/>
            <a:ext cx="3977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down each column shows which region leads for each product — something a single-variable table cannot show.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4552" y="63550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C8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TYPES OF EDA · MULTIVARIATE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777240" cy="77724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A1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7772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Multivariate Graphical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828800"/>
            <a:ext cx="6309360" cy="9049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how two or more variables move together, making relationships easier to see.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6309360" cy="1417320"/>
          </a:xfrm>
          <a:prstGeom prst="roundRect">
            <a:avLst>
              <a:gd name="adj" fmla="val 6452"/>
            </a:avLst>
          </a:prstGeom>
          <a:solidFill>
            <a:srgbClr val="151E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822960" y="3182112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52044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plots — and tools like correlation heatmaps — show one variable against another.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4617720"/>
            <a:ext cx="6309360" cy="1417320"/>
          </a:xfrm>
          <a:prstGeom prst="roundRect">
            <a:avLst>
              <a:gd name="adj" fmla="val 6452"/>
            </a:avLst>
          </a:prstGeom>
          <a:solidFill>
            <a:srgbClr val="1C27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822960" y="4782312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512064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Plotting advertising spend against revenue shows whether higher spending usually goes with higher sales.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7178040" y="1828800"/>
            <a:ext cx="4480560" cy="4206240"/>
          </a:xfrm>
          <a:prstGeom prst="roundRect">
            <a:avLst>
              <a:gd name="adj" fmla="val 2609"/>
            </a:avLst>
          </a:prstGeom>
          <a:solidFill>
            <a:srgbClr val="151E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7452360" y="20574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— AD SPEND VS. REVENUE</a:t>
            </a:r>
            <a:endParaRPr lang="en-US" dirty="0"/>
          </a:p>
        </p:txBody>
      </p:sp>
      <p:graphicFrame>
        <p:nvGraphicFramePr>
          <p:cNvPr id="16" name="Chart 0"/>
          <p:cNvGraphicFramePr/>
          <p:nvPr>
            <p:extLst>
              <p:ext uri="{D42A27DB-BD31-4B8C-83A1-F6EECF244321}">
                <p14:modId xmlns:p14="http://schemas.microsoft.com/office/powerpoint/2010/main" val="2464707287"/>
              </p:ext>
            </p:extLst>
          </p:nvPr>
        </p:nvGraphicFramePr>
        <p:xfrm>
          <a:off x="7315200" y="2423160"/>
          <a:ext cx="420624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4552" y="63550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C8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8778240" y="3200400"/>
            <a:ext cx="5486400" cy="5486400"/>
          </a:xfrm>
          <a:prstGeom prst="ellipse">
            <a:avLst/>
          </a:prstGeom>
          <a:ln w="19050">
            <a:solidFill>
              <a:srgbClr val="CADCFC">
                <a:alpha val="3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— CHECK YOUR UNDERSTANDING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194560"/>
            <a:ext cx="8686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Let’s </a:t>
            </a:r>
            <a:r>
              <a:rPr lang="en-US" sz="4800" b="1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 it on Discussion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3434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quick questions. Call out A, B, C or D as we go through each one together.</a:t>
            </a:r>
            <a:endParaRPr lang="en-US" sz="2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4552" y="63550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C8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 OF 5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EDA primarily help you do before formal analysis?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3108960"/>
            <a:ext cx="5349240" cy="1371600"/>
          </a:xfrm>
          <a:prstGeom prst="roundRect">
            <a:avLst>
              <a:gd name="adj" fmla="val 6667"/>
            </a:avLst>
          </a:prstGeom>
          <a:solidFill>
            <a:srgbClr val="151E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804672" y="3502152"/>
            <a:ext cx="585216" cy="585216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804672" y="350215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1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3200400"/>
            <a:ext cx="4069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patterns and check assumptions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6172200" y="3108960"/>
            <a:ext cx="5349240" cy="1371600"/>
          </a:xfrm>
          <a:prstGeom prst="roundRect">
            <a:avLst>
              <a:gd name="adj" fmla="val 6667"/>
            </a:avLst>
          </a:prstGeom>
          <a:solidFill>
            <a:srgbClr val="151E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6428232" y="3502152"/>
            <a:ext cx="585216" cy="585216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6428232" y="350215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1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223760" y="3200400"/>
            <a:ext cx="4069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Immediately build a predictive model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548640" y="4754880"/>
            <a:ext cx="5349240" cy="1371600"/>
          </a:xfrm>
          <a:prstGeom prst="roundRect">
            <a:avLst>
              <a:gd name="adj" fmla="val 6667"/>
            </a:avLst>
          </a:prstGeom>
          <a:solidFill>
            <a:srgbClr val="151E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804672" y="5148072"/>
            <a:ext cx="585216" cy="585216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804672" y="514807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1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1600200" y="4846320"/>
            <a:ext cx="4069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all the raw data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6172200" y="4754880"/>
            <a:ext cx="5349240" cy="1371600"/>
          </a:xfrm>
          <a:prstGeom prst="roundRect">
            <a:avLst>
              <a:gd name="adj" fmla="val 6667"/>
            </a:avLst>
          </a:prstGeom>
          <a:solidFill>
            <a:srgbClr val="151E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6428232" y="5148072"/>
            <a:ext cx="585216" cy="585216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6428232" y="514807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1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7223760" y="4846320"/>
            <a:ext cx="4069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final report</a:t>
            </a:r>
            <a:endParaRPr lang="en-US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4552" y="63550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C8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 · ANSWER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EDA primarily help you do before formal analysis?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11064240" cy="1417320"/>
          </a:xfrm>
          <a:prstGeom prst="roundRect">
            <a:avLst>
              <a:gd name="adj" fmla="val 7742"/>
            </a:avLst>
          </a:prstGeom>
          <a:solidFill>
            <a:srgbClr val="151E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868680" y="2331720"/>
            <a:ext cx="868680" cy="86868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868680" y="23317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A1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1965960" y="2331720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 patterns and check assumptions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794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20624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comes first — it shows patterns and checks assumptions so later analysis has a stronger base.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4552" y="63550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C8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 OF 5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EDA type studies a single variable using stats like mean and standard deviation?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3108960"/>
            <a:ext cx="5349240" cy="1371600"/>
          </a:xfrm>
          <a:prstGeom prst="roundRect">
            <a:avLst>
              <a:gd name="adj" fmla="val 6667"/>
            </a:avLst>
          </a:prstGeom>
          <a:solidFill>
            <a:srgbClr val="151E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804672" y="3502152"/>
            <a:ext cx="585216" cy="585216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804672" y="350215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1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3200400"/>
            <a:ext cx="4069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Multivariate Graphical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6172200" y="3108960"/>
            <a:ext cx="5349240" cy="1371600"/>
          </a:xfrm>
          <a:prstGeom prst="roundRect">
            <a:avLst>
              <a:gd name="adj" fmla="val 6667"/>
            </a:avLst>
          </a:prstGeom>
          <a:solidFill>
            <a:srgbClr val="151E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6428232" y="3502152"/>
            <a:ext cx="585216" cy="585216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6428232" y="350215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1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223760" y="3200400"/>
            <a:ext cx="4069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Univariate Non-Graphical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548640" y="4754880"/>
            <a:ext cx="5349240" cy="1371600"/>
          </a:xfrm>
          <a:prstGeom prst="roundRect">
            <a:avLst>
              <a:gd name="adj" fmla="val 6667"/>
            </a:avLst>
          </a:prstGeom>
          <a:solidFill>
            <a:srgbClr val="151E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804672" y="5148072"/>
            <a:ext cx="585216" cy="585216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804672" y="514807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1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1600200" y="4846320"/>
            <a:ext cx="4069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Multivariate Non-Graphical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6172200" y="4754880"/>
            <a:ext cx="5349240" cy="1371600"/>
          </a:xfrm>
          <a:prstGeom prst="roundRect">
            <a:avLst>
              <a:gd name="adj" fmla="val 6667"/>
            </a:avLst>
          </a:prstGeom>
          <a:solidFill>
            <a:srgbClr val="151E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6428232" y="5148072"/>
            <a:ext cx="585216" cy="585216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6428232" y="514807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1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7223760" y="4846320"/>
            <a:ext cx="4069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Univariate Graphical</a:t>
            </a:r>
            <a:endParaRPr lang="en-US" sz="2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4552" y="63550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C8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 · ANSWER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60987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EDA type studies a single variable using stats like mean and standard deviation?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11064240" cy="1417320"/>
          </a:xfrm>
          <a:prstGeom prst="roundRect">
            <a:avLst>
              <a:gd name="adj" fmla="val 7742"/>
            </a:avLst>
          </a:prstGeom>
          <a:solidFill>
            <a:srgbClr val="151E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868680" y="2331720"/>
            <a:ext cx="868680" cy="86868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868680" y="23317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A1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1965960" y="2331720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Univariate Non-Graphical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794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215667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Univariate Non-Graphical uses basic statistics — no charts needed — for one variable at a time.</a:t>
            </a:r>
            <a:endParaRPr lang="en-US" sz="2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4552" y="63550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C8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 OF 5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cross-tabulation comparing two categorical variables belongs to which type?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3108960"/>
            <a:ext cx="5349240" cy="1371600"/>
          </a:xfrm>
          <a:prstGeom prst="roundRect">
            <a:avLst>
              <a:gd name="adj" fmla="val 6667"/>
            </a:avLst>
          </a:prstGeom>
          <a:solidFill>
            <a:srgbClr val="151E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804672" y="3502152"/>
            <a:ext cx="585216" cy="585216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804672" y="350215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1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3200400"/>
            <a:ext cx="4069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Univariate Graphical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6172200" y="3108960"/>
            <a:ext cx="5349240" cy="1371600"/>
          </a:xfrm>
          <a:prstGeom prst="roundRect">
            <a:avLst>
              <a:gd name="adj" fmla="val 6667"/>
            </a:avLst>
          </a:prstGeom>
          <a:solidFill>
            <a:srgbClr val="151E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6428232" y="3502152"/>
            <a:ext cx="585216" cy="585216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6428232" y="350215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1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223760" y="3200400"/>
            <a:ext cx="4069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Univariate Non-Graphical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548640" y="4754880"/>
            <a:ext cx="5349240" cy="1371600"/>
          </a:xfrm>
          <a:prstGeom prst="roundRect">
            <a:avLst>
              <a:gd name="adj" fmla="val 6667"/>
            </a:avLst>
          </a:prstGeom>
          <a:solidFill>
            <a:srgbClr val="151E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804672" y="5148072"/>
            <a:ext cx="585216" cy="585216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804672" y="514807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1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1600200" y="4846320"/>
            <a:ext cx="4069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Multivariate Non-Graphical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6172200" y="4754880"/>
            <a:ext cx="5349240" cy="1371600"/>
          </a:xfrm>
          <a:prstGeom prst="roundRect">
            <a:avLst>
              <a:gd name="adj" fmla="val 6667"/>
            </a:avLst>
          </a:prstGeom>
          <a:solidFill>
            <a:srgbClr val="151E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6428232" y="5148072"/>
            <a:ext cx="585216" cy="585216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6428232" y="514807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1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7223760" y="4846320"/>
            <a:ext cx="4069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Multivariate Graphical</a:t>
            </a:r>
            <a:endParaRPr lang="en-US" sz="2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4552" y="63550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C8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 · ANSWER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60987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cross-tabulation comparing two categorical variables belongs to which type?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11064240" cy="1417320"/>
          </a:xfrm>
          <a:prstGeom prst="roundRect">
            <a:avLst>
              <a:gd name="adj" fmla="val 7742"/>
            </a:avLst>
          </a:prstGeom>
          <a:solidFill>
            <a:srgbClr val="151E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868680" y="2331720"/>
            <a:ext cx="868680" cy="86868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868680" y="23317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A1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1965960" y="2331720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Multivariate Non-Graphical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794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215667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Cross-tabs compare two or more variables in table form — this is Multivariate Non-Graphical EDA.</a:t>
            </a:r>
            <a:endParaRPr lang="en-US" sz="2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4552" y="63550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C8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4 OF 5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chart is the classic choice for Multivariate Graphical EDA?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3108960"/>
            <a:ext cx="5349240" cy="1371600"/>
          </a:xfrm>
          <a:prstGeom prst="roundRect">
            <a:avLst>
              <a:gd name="adj" fmla="val 6667"/>
            </a:avLst>
          </a:prstGeom>
          <a:solidFill>
            <a:srgbClr val="151E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804672" y="3502152"/>
            <a:ext cx="585216" cy="585216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804672" y="350215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1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3200400"/>
            <a:ext cx="4069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6172200" y="3108960"/>
            <a:ext cx="5349240" cy="1371600"/>
          </a:xfrm>
          <a:prstGeom prst="roundRect">
            <a:avLst>
              <a:gd name="adj" fmla="val 6667"/>
            </a:avLst>
          </a:prstGeom>
          <a:solidFill>
            <a:srgbClr val="151E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6428232" y="3502152"/>
            <a:ext cx="585216" cy="585216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6428232" y="350215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1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223760" y="3200400"/>
            <a:ext cx="4069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548640" y="4754880"/>
            <a:ext cx="5349240" cy="1371600"/>
          </a:xfrm>
          <a:prstGeom prst="roundRect">
            <a:avLst>
              <a:gd name="adj" fmla="val 6667"/>
            </a:avLst>
          </a:prstGeom>
          <a:solidFill>
            <a:srgbClr val="151E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804672" y="5148072"/>
            <a:ext cx="585216" cy="585216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804672" y="514807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1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1600200" y="4846320"/>
            <a:ext cx="4069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table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6172200" y="4754880"/>
            <a:ext cx="5349240" cy="1371600"/>
          </a:xfrm>
          <a:prstGeom prst="roundRect">
            <a:avLst>
              <a:gd name="adj" fmla="val 6667"/>
            </a:avLst>
          </a:prstGeom>
          <a:solidFill>
            <a:srgbClr val="151E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6428232" y="5148072"/>
            <a:ext cx="585216" cy="585216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6428232" y="514807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1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7223760" y="4846320"/>
            <a:ext cx="4069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plot</a:t>
            </a:r>
            <a:endParaRPr lang="en-US" sz="2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4552" y="63550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C8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4 · ANSWER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chart is the classic choice for Multivariate Graphical EDA?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11064240" cy="1417320"/>
          </a:xfrm>
          <a:prstGeom prst="roundRect">
            <a:avLst>
              <a:gd name="adj" fmla="val 7742"/>
            </a:avLst>
          </a:prstGeom>
          <a:solidFill>
            <a:srgbClr val="151E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868680" y="2331720"/>
            <a:ext cx="868680" cy="86868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868680" y="23317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A1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1965960" y="2331720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Scatter plot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794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20624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plots show two variables together, making relationships and correlation easy to see.</a:t>
            </a:r>
            <a:endParaRPr lang="en-US" sz="2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4552" y="63550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C8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5 OF 5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data doesn’t make sense for the business problem, what should EDA lead you to do?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3108960"/>
            <a:ext cx="5349240" cy="1371600"/>
          </a:xfrm>
          <a:prstGeom prst="roundRect">
            <a:avLst>
              <a:gd name="adj" fmla="val 6667"/>
            </a:avLst>
          </a:prstGeom>
          <a:solidFill>
            <a:srgbClr val="151E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804672" y="3502152"/>
            <a:ext cx="585216" cy="585216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804672" y="350215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1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3200400"/>
            <a:ext cx="4069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 it and proceed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6172200" y="3108960"/>
            <a:ext cx="5349240" cy="1371600"/>
          </a:xfrm>
          <a:prstGeom prst="roundRect">
            <a:avLst>
              <a:gd name="adj" fmla="val 6667"/>
            </a:avLst>
          </a:prstGeom>
          <a:solidFill>
            <a:srgbClr val="151E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6428232" y="3502152"/>
            <a:ext cx="585216" cy="585216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6428232" y="350215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1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223760" y="3200400"/>
            <a:ext cx="4069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the dataset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548640" y="4754880"/>
            <a:ext cx="5349240" cy="1371600"/>
          </a:xfrm>
          <a:prstGeom prst="roundRect">
            <a:avLst>
              <a:gd name="adj" fmla="val 6667"/>
            </a:avLst>
          </a:prstGeom>
          <a:solidFill>
            <a:srgbClr val="151E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804672" y="5148072"/>
            <a:ext cx="585216" cy="585216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804672" y="514807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1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1600200" y="4846320"/>
            <a:ext cx="4069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more data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6172200" y="4754880"/>
            <a:ext cx="5349240" cy="1371600"/>
          </a:xfrm>
          <a:prstGeom prst="roundRect">
            <a:avLst>
              <a:gd name="adj" fmla="val 6667"/>
            </a:avLst>
          </a:prstGeom>
          <a:solidFill>
            <a:srgbClr val="151E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6428232" y="5148072"/>
            <a:ext cx="585216" cy="585216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6428232" y="514807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1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7223760" y="4846320"/>
            <a:ext cx="4069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model anyway</a:t>
            </a:r>
            <a:endParaRPr lang="en-US" sz="2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4552" y="63550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C8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5 · ANSWER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data doesn’t make sense for the business problem, what should EDA lead you to do?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11064240" cy="1417320"/>
          </a:xfrm>
          <a:prstGeom prst="roundRect">
            <a:avLst>
              <a:gd name="adj" fmla="val 7742"/>
            </a:avLst>
          </a:prstGeom>
          <a:solidFill>
            <a:srgbClr val="151E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868680" y="2331720"/>
            <a:ext cx="868680" cy="86868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868680" y="23317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A1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1965960" y="2331720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 more data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794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20624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main goal of EDA is checking that the data fits the business problem — and collecting more data when it does not.</a:t>
            </a:r>
            <a:endParaRPr lang="en-US" sz="2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4552" y="63550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C8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8778240" y="-1828800"/>
            <a:ext cx="5943600" cy="5943600"/>
          </a:xfrm>
          <a:prstGeom prst="ellipse">
            <a:avLst/>
          </a:prstGeom>
          <a:ln w="19050">
            <a:solidFill>
              <a:srgbClr val="CADCFC">
                <a:alpha val="3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640080" y="265176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5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794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closely. Question everything. Let the data speak first.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1292</Words>
  <Application>Microsoft Office PowerPoint</Application>
  <PresentationFormat>Widescreen</PresentationFormat>
  <Paragraphs>308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user</cp:lastModifiedBy>
  <cp:revision>10</cp:revision>
  <dcterms:created xsi:type="dcterms:W3CDTF">2026-09-20T10:32:26Z</dcterms:created>
  <dcterms:modified xsi:type="dcterms:W3CDTF">2026-09-22T04:30:34Z</dcterms:modified>
</cp:coreProperties>
</file>