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6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2000" b="0" i="0" u="none" strike="noStrike">
                <a:solidFill>
                  <a:srgbClr val="1B3A1E"/>
                </a:solidFill>
                <a:latin typeface="Calibri"/>
              </a:defRPr>
            </a:pPr>
            <a:r>
              <a:rPr sz="2000" b="0" i="0" u="none" strike="noStrike">
                <a:solidFill>
                  <a:srgbClr val="1B3A1E"/>
                </a:solidFill>
                <a:latin typeface="Calibri"/>
              </a:rPr>
              <a:t>Beans harvested (kg)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Beans (kg)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6B7-47C6-8BA5-753267435F9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6B7-47C6-8BA5-753267435F9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6B7-47C6-8BA5-753267435F95}"/>
              </c:ext>
            </c:extLst>
          </c:dPt>
          <c:dPt>
            <c:idx val="3"/>
            <c:invertIfNegative val="0"/>
            <c:bubble3D val="0"/>
            <c:spPr>
              <a:solidFill>
                <a:srgbClr val="F2A3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6B7-47C6-8BA5-753267435F9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66B7-47C6-8BA5-753267435F9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1E2B1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Farm A</c:v>
                </c:pt>
                <c:pt idx="1">
                  <c:v>Farm B</c:v>
                </c:pt>
                <c:pt idx="2">
                  <c:v>Farm C</c:v>
                </c:pt>
                <c:pt idx="3">
                  <c:v>Farm D</c:v>
                </c:pt>
                <c:pt idx="4">
                  <c:v>Farm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135</c:v>
                </c:pt>
                <c:pt idx="2">
                  <c:v>110</c:v>
                </c:pt>
                <c:pt idx="3">
                  <c:v>5000</c:v>
                </c:pt>
                <c:pt idx="4">
                  <c:v>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6B7-47C6-8BA5-753267435F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E2B1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00"/>
        </c:scaling>
        <c:delete val="0"/>
        <c:axPos val="l"/>
        <c:majorGridlines>
          <c:spPr>
            <a:ln w="6350" cap="flat">
              <a:solidFill>
                <a:srgbClr val="E1E7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3E5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Harvest (kg)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2C5F2D"/>
              </a:solidFill>
              <a:ln w="9525" cap="flat">
                <a:solidFill>
                  <a:srgbClr val="2C5F2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60</c:v>
                </c:pt>
                <c:pt idx="1">
                  <c:v>80</c:v>
                </c:pt>
                <c:pt idx="2">
                  <c:v>90</c:v>
                </c:pt>
                <c:pt idx="3">
                  <c:v>110</c:v>
                </c:pt>
                <c:pt idx="4">
                  <c:v>130</c:v>
                </c:pt>
                <c:pt idx="5">
                  <c:v>150</c:v>
                </c:pt>
                <c:pt idx="6">
                  <c:v>170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90</c:v>
                </c:pt>
                <c:pt idx="1">
                  <c:v>110</c:v>
                </c:pt>
                <c:pt idx="2">
                  <c:v>125</c:v>
                </c:pt>
                <c:pt idx="3">
                  <c:v>150</c:v>
                </c:pt>
                <c:pt idx="4">
                  <c:v>170</c:v>
                </c:pt>
                <c:pt idx="5">
                  <c:v>190</c:v>
                </c:pt>
                <c:pt idx="6">
                  <c:v>215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BBC-4232-910B-D2070BEE2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800" b="0" i="0" u="none" strike="noStrike">
                    <a:solidFill>
                      <a:srgbClr val="1E2B1F"/>
                    </a:solidFill>
                    <a:latin typeface="Arial"/>
                  </a:defRPr>
                </a:pPr>
                <a:r>
                  <a:rPr sz="1800" b="0" i="0" u="none" strike="noStrike">
                    <a:solidFill>
                      <a:srgbClr val="1E2B1F"/>
                    </a:solidFill>
                    <a:latin typeface="Arial"/>
                  </a:rPr>
                  <a:t>Rain (mm)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3E5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7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800" b="0" i="0" u="none" strike="noStrike">
                    <a:solidFill>
                      <a:srgbClr val="1E2B1F"/>
                    </a:solidFill>
                    <a:latin typeface="Arial"/>
                  </a:defRPr>
                </a:pPr>
                <a:r>
                  <a:rPr sz="1800" b="0" i="0" u="none" strike="noStrike">
                    <a:solidFill>
                      <a:srgbClr val="1E2B1F"/>
                    </a:solidFill>
                    <a:latin typeface="Arial"/>
                  </a:rPr>
                  <a:t>Harvest (kg)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3E5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1698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we learn what Exploratory Data Analysis (EDA) is, in simple words. The main idea: look at your data first, understand it, then decide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 word. Exploratory = like walking into a new town and looking around. Data = information. Analysis = looking carefully to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sentence slowly. Then use the soil example: a farmer does not plant before checking the soil. We do not decide before we look at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main reasons. Ask the class: which of these would matter most to a farmer?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simple questions. You do not need advanced math to start 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farms are close (110 to 135). One farm says 5000. The average, 1,098 kg, does not describe any real farm. This is why we look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Outlier means a value very far from the others. It is not always wrong. Ask why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Missing values happen when a farmer forgets to report or an instrument fails. EDA helps us notice them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simple order. In real life you go back and forth between the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not need fancy charts. These three answer most beginner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pattern found by EDA. It is a clue, not a final proof. Other things such as soil and seeds also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whole talk in these four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question, give the class a moment, count hands, then go to the next slide for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answer: A. Exploratory comes from explore: we look around the data to learn, before we decide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answer: B. 5000 is very far from the others. It may be a typing mistake or a special farm, so we ask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answer: C. EDA comes first. It is like checking the soil before you plant.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answer: D. An empty cell is a missing value. We can ask for the real value, fill it carefully, or remove the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answer: A. A scatter plot puts one thing on each side. If the dots rise together, the two things go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5440680" cy="855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first. Understand. Then decide.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0" y="822960"/>
            <a:ext cx="2743200" cy="2743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64592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3291840"/>
            <a:ext cx="1097280" cy="10972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11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words, one idea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3200400"/>
          </a:xfrm>
          <a:prstGeom prst="roundRect">
            <a:avLst>
              <a:gd name="adj" fmla="val 4286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80160" y="1417320"/>
            <a:ext cx="914400" cy="914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16550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9718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from explore: looking around something new to learn what is there.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3200400"/>
          </a:xfrm>
          <a:prstGeom prst="roundRect">
            <a:avLst>
              <a:gd name="adj" fmla="val 4286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114800" y="1417320"/>
            <a:ext cx="914400" cy="914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2544" y="165506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9718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Information: numbers, names, dates. Example: kg of beans per farm.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3200400"/>
          </a:xfrm>
          <a:prstGeom prst="roundRect">
            <a:avLst>
              <a:gd name="adj" fmla="val 4286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949440" y="1417320"/>
            <a:ext cx="914400" cy="914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7184" y="165506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9718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carefully at something to understand it.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So, what is EDA?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8229600" cy="2011680"/>
          </a:xfrm>
          <a:prstGeom prst="roundRect">
            <a:avLst>
              <a:gd name="adj" fmla="val 5455"/>
            </a:avLst>
          </a:prstGeom>
          <a:solidFill>
            <a:srgbClr val="1B3A1E"/>
          </a:solidFill>
          <a:ln w="12700">
            <a:solidFill>
              <a:srgbClr val="1B3A1E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carefully at your data to learn what is inside it, before you do anything big with it.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3611880"/>
            <a:ext cx="822960" cy="82296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70" y="382585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352044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checking the soil before you plant.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is short for Exploratory Data Analysis.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 we do EDA?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" y="18361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417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mistakes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745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errors, extra zeros, wrong units.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92040" y="164592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2235" y="183611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1417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unusual values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18745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farm far from all the others.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85800" y="338328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" y="357347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patterns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6118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rain often means more harvest.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92040" y="338328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2235" y="3573475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80644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next step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5806440" y="36118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what to do with confidence.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we ask our data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75488" cy="47548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34440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do I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475488" cy="47548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92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892808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smallest and biggest values?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551176"/>
            <a:ext cx="475488" cy="47548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55117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average?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209544"/>
            <a:ext cx="475488" cy="47548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209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09544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anything missing or strange?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7200" y="3867912"/>
            <a:ext cx="475488" cy="47548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67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6791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 things go together?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123444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1B3A1E"/>
          </a:solidFill>
          <a:ln w="12700">
            <a:solidFill>
              <a:srgbClr val="1B3A1E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0" y="1508760"/>
            <a:ext cx="1280160" cy="1280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920240"/>
            <a:ext cx="457200" cy="4572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92240" y="301752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questions, big understanding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bean harvests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143000"/>
          <a:ext cx="521208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88720"/>
            <a:ext cx="2834640" cy="1051560"/>
          </a:xfrm>
          <a:prstGeom prst="roundRect">
            <a:avLst>
              <a:gd name="adj" fmla="val 10435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035040" y="12618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E5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600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852160" y="2359152"/>
            <a:ext cx="2834640" cy="1051560"/>
          </a:xfrm>
          <a:prstGeom prst="roundRect">
            <a:avLst>
              <a:gd name="adj" fmla="val 10435"/>
            </a:avLst>
          </a:prstGeom>
          <a:solidFill>
            <a:srgbClr val="FDEBD0"/>
          </a:solidFill>
          <a:ln w="12700">
            <a:solidFill>
              <a:srgbClr val="FDEBD0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035040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E5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277063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A85D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5852160" y="3529584"/>
            <a:ext cx="2834640" cy="1051560"/>
          </a:xfrm>
          <a:prstGeom prst="roundRect">
            <a:avLst>
              <a:gd name="adj" fmla="val 10435"/>
            </a:avLst>
          </a:prstGeom>
          <a:solidFill>
            <a:srgbClr val="FDEBD0"/>
          </a:solidFill>
          <a:ln w="12700">
            <a:solidFill>
              <a:srgbClr val="FDEBD0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035040" y="36027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E5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035040" y="39410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A85D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1,098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Outlier: mistake or real?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2651760"/>
          </a:xfrm>
          <a:prstGeom prst="roundRect">
            <a:avLst>
              <a:gd name="adj" fmla="val 4138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371600"/>
            <a:ext cx="640080" cy="64008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15380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71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Maybe a mistake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9456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zeros: 5000, not 500</a:t>
            </a:r>
            <a:endParaRPr lang="en-US" sz="22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unit: grams, not kg</a:t>
            </a:r>
            <a:endParaRPr lang="en-US" sz="22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then continue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663440" y="1188720"/>
            <a:ext cx="4023360" cy="2651760"/>
          </a:xfrm>
          <a:prstGeom prst="roundRect">
            <a:avLst>
              <a:gd name="adj" fmla="val 4138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92040" y="1371600"/>
            <a:ext cx="640080" cy="6400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8461" y="153802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371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Maybe real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219456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large farm</a:t>
            </a:r>
            <a:endParaRPr lang="en-US" sz="22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soil or irrigation</a:t>
            </a:r>
            <a:endParaRPr lang="en-US" sz="22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and learn why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A8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delete a strange value without asking why.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Beans (kg)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(mm)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A85D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A85D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E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we do?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178308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the real value</a:t>
            </a:r>
            <a:endParaRPr lang="en-US" sz="22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it with the average</a:t>
            </a:r>
            <a:endParaRPr lang="en-US" sz="22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that row, if needed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3E5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cells can hide the truth. Always check for them.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steps of EDA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517904" cy="2743200"/>
          </a:xfrm>
          <a:prstGeom prst="roundRect">
            <a:avLst>
              <a:gd name="adj" fmla="val 722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50392" y="141732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587" y="16075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5603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0175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rows and columns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135124" y="1234440"/>
            <a:ext cx="1517904" cy="2743200"/>
          </a:xfrm>
          <a:prstGeom prst="roundRect">
            <a:avLst>
              <a:gd name="adj" fmla="val 722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28316" y="141732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511" y="160751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26564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180844" y="25603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2244852" y="30175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mistakes and gaps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3813048" y="1234440"/>
            <a:ext cx="1517904" cy="2743200"/>
          </a:xfrm>
          <a:prstGeom prst="roundRect">
            <a:avLst>
              <a:gd name="adj" fmla="val 722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206240" y="141732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6435" y="160751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04488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3858768" y="25603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3922776" y="30175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Smallest, biggest, average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5490972" y="1234440"/>
            <a:ext cx="1517904" cy="2743200"/>
          </a:xfrm>
          <a:prstGeom prst="roundRect">
            <a:avLst>
              <a:gd name="adj" fmla="val 722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884164" y="141732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359" y="1607515"/>
            <a:ext cx="351130" cy="35113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582412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5536692" y="25603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5600700" y="30175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line and dots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168896" y="1234440"/>
            <a:ext cx="1517904" cy="2743200"/>
          </a:xfrm>
          <a:prstGeom prst="roundRect">
            <a:avLst>
              <a:gd name="adj" fmla="val 7229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562088" y="141732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283" y="1607515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60336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7214616" y="25603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7278624" y="30175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patterns</a:t>
            </a:r>
            <a:endParaRPr lang="en-US" sz="18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repeat these steps as we learn more.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 charts that help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24128"/>
          </a:xfrm>
          <a:prstGeom prst="roundRect">
            <a:avLst>
              <a:gd name="adj" fmla="val 10714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344168"/>
            <a:ext cx="713232" cy="7132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40" y="1529608"/>
            <a:ext cx="342351" cy="3423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188720"/>
            <a:ext cx="2194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 chart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188720"/>
            <a:ext cx="4663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groups. Which farm harvested the most?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57200" y="2359152"/>
            <a:ext cx="8229600" cy="1024128"/>
          </a:xfrm>
          <a:prstGeom prst="roundRect">
            <a:avLst>
              <a:gd name="adj" fmla="val 10714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514600"/>
            <a:ext cx="713232" cy="7132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240" y="2700040"/>
            <a:ext cx="342351" cy="3423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45920" y="2359152"/>
            <a:ext cx="2194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chart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840480" y="2359152"/>
            <a:ext cx="4663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change over time. How did rain change each month?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457200" y="3529584"/>
            <a:ext cx="8229600" cy="1024128"/>
          </a:xfrm>
          <a:prstGeom prst="roundRect">
            <a:avLst>
              <a:gd name="adj" fmla="val 10714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85800" y="3685032"/>
            <a:ext cx="713232" cy="7132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240" y="3870472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3529584"/>
            <a:ext cx="2194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 plot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3840480" y="3529584"/>
            <a:ext cx="4663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if two things go together. Rain and harvest.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rain and harvest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143000"/>
          <a:ext cx="521208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88720"/>
            <a:ext cx="2834640" cy="1600200"/>
          </a:xfrm>
          <a:prstGeom prst="roundRect">
            <a:avLst>
              <a:gd name="adj" fmla="val 6857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Dots go up to the right, so more rain goes with more harvest.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852160" y="2971800"/>
            <a:ext cx="2834640" cy="1600200"/>
          </a:xfrm>
          <a:prstGeom prst="roundRect">
            <a:avLst>
              <a:gd name="adj" fmla="val 6857"/>
            </a:avLst>
          </a:prstGeom>
          <a:solidFill>
            <a:srgbClr val="FDEBD0"/>
          </a:solidFill>
          <a:ln w="12700">
            <a:solidFill>
              <a:srgbClr val="FDEBD0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035040" y="306324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8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Careful: going together does not always mean one causes the other.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</a:t>
            </a:r>
            <a:endParaRPr lang="en-US" sz="4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61872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1188720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means looking at your data first</a:t>
            </a:r>
            <a:endParaRPr lang="en-US" sz="2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75104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280" y="1901952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smallest, biggest and unusual values</a:t>
            </a:r>
            <a:endParaRPr lang="en-US" sz="24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88336"/>
            <a:ext cx="457200" cy="4572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280" y="2615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missing and wrong data</a:t>
            </a:r>
            <a:endParaRPr lang="en-US" sz="2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01568"/>
            <a:ext cx="457200" cy="4572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97280" y="3328416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simple charts to see patterns</a:t>
            </a:r>
            <a:endParaRPr lang="en-US" sz="2400" dirty="0"/>
          </a:p>
        </p:txBody>
      </p:sp>
      <p:sp>
        <p:nvSpPr>
          <p:cNvPr id="11" name="Text 5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first. Understand. Then decide.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2377440" cy="2377440"/>
          </a:xfrm>
          <a:prstGeom prst="ellipse">
            <a:avLst/>
          </a:prstGeom>
          <a:solidFill>
            <a:srgbClr val="1B3A1E"/>
          </a:solidFill>
          <a:ln w="12700">
            <a:solidFill>
              <a:srgbClr val="1B3A1E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9659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280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questions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377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questions. Raise your hand for A, B, C or D.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 of 5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“Exploratory” mean in EDA?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830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around the data to learn what is inside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5146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all the bad data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33756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246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final report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9776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Guessing future numbers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3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 · Answer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011680" cy="20116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234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around the data to learn what is inside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3774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comes from explore: we look around the data to learn, before we decide anything.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 of 5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Bean harvests (kg): 120, 135, 110, 5000, 125. Which number is the outlier?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830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5146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33756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246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9776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3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 · Answer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011680" cy="20116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234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3774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is very far from the others. It may be a typing mistake or a special farm, so we ask why.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 of 5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do we do EDA?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830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final report is finished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5146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 data is perfect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33756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246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decide what to do with the data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9776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Never, it wastes time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3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 · Answer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011680" cy="20116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234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we decide what to do with the data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3774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comes first. It is like checking the soil before you plant.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 of 5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farm did not report its rain. What do we call this?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830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5146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33756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246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value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9776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3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 · Answer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011680" cy="20116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234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3774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cell is a missing value. We can ask for the real value, fill it carefully, or remove the row.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of 5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chart shows if rain and harvest go together?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830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5146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33756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246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AF3DF"/>
          </a:solidFill>
          <a:ln w="12700">
            <a:solidFill>
              <a:srgbClr val="EAF3DF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9776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names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3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· Answer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011680" cy="20116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234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 plot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37744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1E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scatter plot puts one thing on each side. If the dots rise together, the two things go together.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3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640080"/>
            <a:ext cx="2011680" cy="20116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2344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1264</Words>
  <Application>Microsoft Office PowerPoint</Application>
  <PresentationFormat>On-screen Show (16:9)</PresentationFormat>
  <Paragraphs>224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Data Analysis</dc:title>
  <dc:subject>PptxGenJS Presentation</dc:subject>
  <dc:creator>PptxGenJS</dc:creator>
  <cp:lastModifiedBy>user</cp:lastModifiedBy>
  <cp:revision>3</cp:revision>
  <dcterms:created xsi:type="dcterms:W3CDTF">2026-09-19T21:30:07Z</dcterms:created>
  <dcterms:modified xsi:type="dcterms:W3CDTF">2026-09-21T19:09:18Z</dcterms:modified>
</cp:coreProperties>
</file>