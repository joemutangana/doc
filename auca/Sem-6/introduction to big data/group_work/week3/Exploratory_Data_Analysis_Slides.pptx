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2000" b="0" i="0" u="none" strike="noStrike">
                <a:solidFill>
                  <a:srgbClr val="1B3A1E"/>
                </a:solidFill>
                <a:latin typeface="Calibri"/>
              </a:defRPr>
            </a:pPr>
            <a:r>
              <a:rPr sz="2000" b="0" i="0" u="none" strike="noStrike">
                <a:solidFill>
                  <a:srgbClr val="1B3A1E"/>
                </a:solidFill>
                <a:latin typeface="Calibri"/>
              </a:rPr>
              <a:t>Beans harvested (kg)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Beans (kg)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6B7-47C6-8BA5-753267435F9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6B7-47C6-8BA5-753267435F9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6B7-47C6-8BA5-753267435F95}"/>
              </c:ext>
            </c:extLst>
          </c:dPt>
          <c:dPt>
            <c:idx val="3"/>
            <c:invertIfNegative val="0"/>
            <c:bubble3D val="0"/>
            <c:spPr>
              <a:solidFill>
                <a:srgbClr val="F2A3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6B7-47C6-8BA5-753267435F9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66B7-47C6-8BA5-753267435F9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1E2B1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Farm A</c:v>
                </c:pt>
                <c:pt idx="1">
                  <c:v>Farm B</c:v>
                </c:pt>
                <c:pt idx="2">
                  <c:v>Farm C</c:v>
                </c:pt>
                <c:pt idx="3">
                  <c:v>Farm D</c:v>
                </c:pt>
                <c:pt idx="4">
                  <c:v>Farm 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120</c:v>
                </c:pt>
                <c:pt idx="1">
                  <c:v>135</c:v>
                </c:pt>
                <c:pt idx="2">
                  <c:v>110</c:v>
                </c:pt>
                <c:pt idx="3">
                  <c:v>5000</c:v>
                </c:pt>
                <c:pt idx="4">
                  <c:v>125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66B7-47C6-8BA5-753267435F9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E2B1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00"/>
        </c:scaling>
        <c:delete val="0"/>
        <c:axPos val="l"/>
        <c:majorGridlines>
          <c:spPr>
            <a:ln w="6350" cap="flat">
              <a:solidFill>
                <a:srgbClr val="E1E7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3E52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Harvest (kg)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14"/>
            <c:spPr>
              <a:solidFill>
                <a:srgbClr val="2C5F2D"/>
              </a:solidFill>
              <a:ln w="9525" cap="flat">
                <a:solidFill>
                  <a:srgbClr val="2C5F2D"/>
                </a:solidFill>
                <a:prstDash val="solid"/>
                <a:round/>
              </a:ln>
              <a:effectLst/>
            </c:spPr>
          </c:marker>
          <c:xVal>
            <c:numRef>
              <c:f>Sheet1!$A$2:$A$8</c:f>
              <c:numCache>
                <c:formatCode>General</c:formatCode>
                <c:ptCount val="7"/>
                <c:pt idx="0">
                  <c:v>60</c:v>
                </c:pt>
                <c:pt idx="1">
                  <c:v>80</c:v>
                </c:pt>
                <c:pt idx="2">
                  <c:v>90</c:v>
                </c:pt>
                <c:pt idx="3">
                  <c:v>110</c:v>
                </c:pt>
                <c:pt idx="4">
                  <c:v>130</c:v>
                </c:pt>
                <c:pt idx="5">
                  <c:v>150</c:v>
                </c:pt>
                <c:pt idx="6">
                  <c:v>170</c:v>
                </c:pt>
              </c:numCache>
            </c:numRef>
          </c:xVal>
          <c:yVal>
            <c:numRef>
              <c:f>Sheet1!$B$2:$B$8</c:f>
              <c:numCache>
                <c:formatCode>General</c:formatCode>
                <c:ptCount val="7"/>
                <c:pt idx="0">
                  <c:v>90</c:v>
                </c:pt>
                <c:pt idx="1">
                  <c:v>110</c:v>
                </c:pt>
                <c:pt idx="2">
                  <c:v>125</c:v>
                </c:pt>
                <c:pt idx="3">
                  <c:v>150</c:v>
                </c:pt>
                <c:pt idx="4">
                  <c:v>170</c:v>
                </c:pt>
                <c:pt idx="5">
                  <c:v>190</c:v>
                </c:pt>
                <c:pt idx="6">
                  <c:v>215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BBC-4232-910B-D2070BEE2D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800" b="0" i="0" u="none" strike="noStrike">
                    <a:solidFill>
                      <a:srgbClr val="1E2B1F"/>
                    </a:solidFill>
                    <a:latin typeface="Arial"/>
                  </a:defRPr>
                </a:pPr>
                <a:r>
                  <a:rPr sz="1800" b="0" i="0" u="none" strike="noStrike">
                    <a:solidFill>
                      <a:srgbClr val="1E2B1F"/>
                    </a:solidFill>
                    <a:latin typeface="Arial"/>
                  </a:rPr>
                  <a:t>Rain (mm)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3E52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7DD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800" b="0" i="0" u="none" strike="noStrike">
                    <a:solidFill>
                      <a:srgbClr val="1E2B1F"/>
                    </a:solidFill>
                    <a:latin typeface="Arial"/>
                  </a:defRPr>
                </a:pPr>
                <a:r>
                  <a:rPr sz="1800" b="0" i="0" u="none" strike="noStrike">
                    <a:solidFill>
                      <a:srgbClr val="1E2B1F"/>
                    </a:solidFill>
                    <a:latin typeface="Arial"/>
                  </a:rPr>
                  <a:t>Harvest (kg)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3E524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16987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we learn what Exploratory Data Analysis (EDA) is, in simple words. The main idea: look at your data first, understand it, then decide what to 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word. Exploratory = like walking into a new town and looking around. Data = information. Analysis = looking carefully to understand.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sentence slowly. Then use the soil example: a farmer does not plant before checking the soil. We do not decide before we look at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main reasons. Ask the class: which of these would matter most to a farmer?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simple questions. You do not need advanced math to start 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farms are close (110 to 135). One farm says 5000. The average, 1,098 kg, does not describe any real farm. This is why we look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Outlier means a value very far from the others. It is not always wrong. Ask why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Missing values happen when a farmer forgets to report or an instrument fails. EDA helps us notice them early.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simple order. In real life you go back and forth between the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 not need fancy charts. These three answer most beginner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pattern found by EDA. It is a clue, not a final proof. Other things such as soil and seeds also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whole talk in these four 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each question, give the class a moment, count hands, then go to the next slide for the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A. Exploratory comes from explore: we look around the data to learn, before we decide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B. 5000 is very far from the others. It may be a typing mistake or a special farm, so we ask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C. EDA comes first. It is like checking the soil before you plant.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D. An empty cell is a missing value. We can ask for the real value, fill it carefully, or remove the 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 answer: A. A scatter plot puts one thing on each side. If the dots rise together, the two things go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6012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4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880360"/>
            <a:ext cx="5440680" cy="855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first. Understand. Then decide.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0" y="822960"/>
            <a:ext cx="2743200" cy="2743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645920"/>
            <a:ext cx="1097280" cy="1097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69280" y="3291840"/>
            <a:ext cx="1097280" cy="109728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361188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words, one idea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80160" y="1417320"/>
            <a:ext cx="914400" cy="9144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1655064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9718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from explore: looking around something new to learn what is there.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114800" y="1417320"/>
            <a:ext cx="914400" cy="9144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1655064"/>
            <a:ext cx="438912" cy="4389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9718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Information: numbers, names, dates. Example: kg of beans per farm.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560320" cy="3200400"/>
          </a:xfrm>
          <a:prstGeom prst="roundRect">
            <a:avLst>
              <a:gd name="adj" fmla="val 4286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949440" y="1417320"/>
            <a:ext cx="914400" cy="9144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7184" y="1655064"/>
            <a:ext cx="438912" cy="4389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468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9718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carefully at something to understand it.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So, what is EDA?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8229600" cy="2011680"/>
          </a:xfrm>
          <a:prstGeom prst="roundRect">
            <a:avLst>
              <a:gd name="adj" fmla="val 5455"/>
            </a:avLst>
          </a:prstGeom>
          <a:solidFill>
            <a:srgbClr val="1B3A1E"/>
          </a:solidFill>
          <a:ln w="12700">
            <a:solidFill>
              <a:srgbClr val="1B3A1E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carefully at your data to learn what is inside it, before you do anything big with it.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3611880"/>
            <a:ext cx="822960" cy="822960"/>
          </a:xfrm>
          <a:prstGeom prst="ellipse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70" y="38258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3520440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checking the soil before you plant.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is short for Exploratory Data Analysis.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we do EDA?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645920"/>
            <a:ext cx="731520" cy="7315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995" y="183611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mistakes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874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errors, extra zeros, wrong units.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663440" y="123444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92040" y="1645920"/>
            <a:ext cx="731520" cy="7315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235" y="1836115"/>
            <a:ext cx="351130" cy="3511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0644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unusual values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5806440" y="18745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farm far from all the others.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" y="3383280"/>
            <a:ext cx="731520" cy="7315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95" y="357347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00200" y="3154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patterns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1600200" y="3611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rain often means more harvest.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7059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92040" y="3383280"/>
            <a:ext cx="731520" cy="7315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82235" y="3573475"/>
            <a:ext cx="351130" cy="35113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06440" y="3154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Decide next step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5806440" y="36118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what to do with confidence.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we ask our data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34440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rows do I have?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892808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892808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smallest and biggest values?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551176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5511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2551176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average?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3209544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2095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209544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anything missing or strange?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57200" y="3867912"/>
            <a:ext cx="475488" cy="47548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867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867912"/>
            <a:ext cx="4846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some things go together?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309360" y="1234440"/>
            <a:ext cx="2377440" cy="3200400"/>
          </a:xfrm>
          <a:prstGeom prst="roundRect">
            <a:avLst>
              <a:gd name="adj" fmla="val 4615"/>
            </a:avLst>
          </a:prstGeom>
          <a:solidFill>
            <a:srgbClr val="1B3A1E"/>
          </a:solidFill>
          <a:ln w="12700">
            <a:solidFill>
              <a:srgbClr val="1B3A1E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0" y="1508760"/>
            <a:ext cx="1280160" cy="12801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1920240"/>
            <a:ext cx="457200" cy="45720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492240" y="301752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questions, big understanding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bean harvests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143000"/>
          <a:ext cx="52120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188720"/>
            <a:ext cx="2834640" cy="1051560"/>
          </a:xfrm>
          <a:prstGeom prst="roundRect">
            <a:avLst>
              <a:gd name="adj" fmla="val 10435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035040" y="126187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E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1600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5852160" y="2359152"/>
            <a:ext cx="2834640" cy="1051560"/>
          </a:xfrm>
          <a:prstGeom prst="roundRect">
            <a:avLst>
              <a:gd name="adj" fmla="val 10435"/>
            </a:avLst>
          </a:prstGeom>
          <a:solidFill>
            <a:srgbClr val="FDEBD0"/>
          </a:solidFill>
          <a:ln w="12700">
            <a:solidFill>
              <a:srgbClr val="FDEBD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035040" y="243230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E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27706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85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5852160" y="3529584"/>
            <a:ext cx="2834640" cy="1051560"/>
          </a:xfrm>
          <a:prstGeom prst="roundRect">
            <a:avLst>
              <a:gd name="adj" fmla="val 10435"/>
            </a:avLst>
          </a:prstGeom>
          <a:solidFill>
            <a:srgbClr val="FDEBD0"/>
          </a:solidFill>
          <a:ln w="12700">
            <a:solidFill>
              <a:srgbClr val="FDEBD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035040" y="3602736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E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3941064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A85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1,098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Outlier: mistake or real?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2651760"/>
          </a:xfrm>
          <a:prstGeom prst="roundRect">
            <a:avLst>
              <a:gd name="adj" fmla="val 4138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371600"/>
            <a:ext cx="640080" cy="640080"/>
          </a:xfrm>
          <a:prstGeom prst="ellipse">
            <a:avLst/>
          </a:prstGeom>
          <a:solidFill>
            <a:srgbClr val="F2A33A"/>
          </a:solidFill>
          <a:ln w="12700">
            <a:solidFill>
              <a:srgbClr val="F2A33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1" y="15380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371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Maybe a mistake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zeros: 5000, not 500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unit: grams, not kg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it, then continue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2651760"/>
          </a:xfrm>
          <a:prstGeom prst="roundRect">
            <a:avLst>
              <a:gd name="adj" fmla="val 4138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92040" y="1371600"/>
            <a:ext cx="640080" cy="6400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461" y="153802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3716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Maybe real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194560"/>
            <a:ext cx="3566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very large farm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soil or irrigation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and learn why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8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delete a strange value without asking why.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4663440" cy="9144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Farm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Beans (kg)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 (mm)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E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E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E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E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A85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E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E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E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A85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E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E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1E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0" y="12344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we do?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5486400" y="17830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real value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it with the average</a:t>
            </a:r>
            <a:endParaRPr lang="en-US" sz="22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that row, if needed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3E5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cells can hide the truth. Always check for them.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steps of EDA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1517904" cy="2743200"/>
          </a:xfrm>
          <a:prstGeom prst="roundRect">
            <a:avLst>
              <a:gd name="adj" fmla="val 7229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50392" y="1417320"/>
            <a:ext cx="731520" cy="7315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87" y="160751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24028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560320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301752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rows and columns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135124" y="1234440"/>
            <a:ext cx="1517904" cy="2743200"/>
          </a:xfrm>
          <a:prstGeom prst="roundRect">
            <a:avLst>
              <a:gd name="adj" fmla="val 7229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28316" y="1417320"/>
            <a:ext cx="731520" cy="7315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8511" y="160751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26564" y="224028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2180844" y="2560320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2244852" y="301752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mistakes and gaps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3813048" y="1234440"/>
            <a:ext cx="1517904" cy="2743200"/>
          </a:xfrm>
          <a:prstGeom prst="roundRect">
            <a:avLst>
              <a:gd name="adj" fmla="val 7229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206240" y="1417320"/>
            <a:ext cx="731520" cy="7315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6435" y="160751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904488" y="224028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3858768" y="2560320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Summarize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3922776" y="301752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Smallest, biggest, average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5490972" y="1234440"/>
            <a:ext cx="1517904" cy="2743200"/>
          </a:xfrm>
          <a:prstGeom prst="roundRect">
            <a:avLst>
              <a:gd name="adj" fmla="val 7229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884164" y="1417320"/>
            <a:ext cx="731520" cy="7315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4359" y="1607515"/>
            <a:ext cx="351130" cy="35113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582412" y="224028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5536692" y="2560320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Draw</a:t>
            </a:r>
            <a:endParaRPr lang="en-US" sz="2000" dirty="0"/>
          </a:p>
        </p:txBody>
      </p:sp>
      <p:sp>
        <p:nvSpPr>
          <p:cNvPr id="26" name="Text 20"/>
          <p:cNvSpPr txBox="1"/>
          <p:nvPr/>
        </p:nvSpPr>
        <p:spPr>
          <a:xfrm>
            <a:off x="5600700" y="301752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line and dots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7168896" y="1234440"/>
            <a:ext cx="1517904" cy="2743200"/>
          </a:xfrm>
          <a:prstGeom prst="roundRect">
            <a:avLst>
              <a:gd name="adj" fmla="val 7229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562088" y="1417320"/>
            <a:ext cx="731520" cy="73152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52283" y="1607515"/>
            <a:ext cx="351130" cy="35113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260336" y="224028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4"/>
          <p:cNvSpPr txBox="1"/>
          <p:nvPr/>
        </p:nvSpPr>
        <p:spPr>
          <a:xfrm>
            <a:off x="7214616" y="2560320"/>
            <a:ext cx="14264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2000" dirty="0"/>
          </a:p>
        </p:txBody>
      </p:sp>
      <p:sp>
        <p:nvSpPr>
          <p:cNvPr id="32" name="Text 25"/>
          <p:cNvSpPr txBox="1"/>
          <p:nvPr/>
        </p:nvSpPr>
        <p:spPr>
          <a:xfrm>
            <a:off x="7278624" y="3017520"/>
            <a:ext cx="12984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patterns</a:t>
            </a:r>
            <a:endParaRPr lang="en-US" sz="180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repeat these steps as we learn more.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 charts that help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024128"/>
          </a:xfrm>
          <a:prstGeom prst="roundRect">
            <a:avLst>
              <a:gd name="adj" fmla="val 10714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344168"/>
            <a:ext cx="713232" cy="7132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240" y="1529608"/>
            <a:ext cx="342351" cy="3423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188720"/>
            <a:ext cx="2194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 chart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3840480" y="1188720"/>
            <a:ext cx="4663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groups. Which farm harvested the most?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2359152"/>
            <a:ext cx="8229600" cy="1024128"/>
          </a:xfrm>
          <a:prstGeom prst="roundRect">
            <a:avLst>
              <a:gd name="adj" fmla="val 10714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85800" y="2514600"/>
            <a:ext cx="713232" cy="7132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240" y="2700040"/>
            <a:ext cx="342351" cy="3423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45920" y="2359152"/>
            <a:ext cx="2194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chart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840480" y="2359152"/>
            <a:ext cx="4663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change over time. How did rain change each month?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457200" y="3529584"/>
            <a:ext cx="8229600" cy="1024128"/>
          </a:xfrm>
          <a:prstGeom prst="roundRect">
            <a:avLst>
              <a:gd name="adj" fmla="val 10714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85800" y="3685032"/>
            <a:ext cx="713232" cy="713232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240" y="3870472"/>
            <a:ext cx="342351" cy="34235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645920" y="3529584"/>
            <a:ext cx="21945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 plot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3840480" y="3529584"/>
            <a:ext cx="46634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if two things go together. Rain and harvest.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rain and harvest</a:t>
            </a:r>
            <a:endParaRPr lang="en-US" sz="36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1143000"/>
          <a:ext cx="52120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852160" y="1188720"/>
            <a:ext cx="2834640" cy="1600200"/>
          </a:xfrm>
          <a:prstGeom prst="roundRect">
            <a:avLst>
              <a:gd name="adj" fmla="val 6857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035040" y="128016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Dots go up to the right, so more rain goes with more harvest.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852160" y="2971800"/>
            <a:ext cx="2834640" cy="1600200"/>
          </a:xfrm>
          <a:prstGeom prst="roundRect">
            <a:avLst>
              <a:gd name="adj" fmla="val 6857"/>
            </a:avLst>
          </a:prstGeom>
          <a:solidFill>
            <a:srgbClr val="FDEBD0"/>
          </a:solidFill>
          <a:ln w="12700">
            <a:solidFill>
              <a:srgbClr val="FDEBD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035040" y="3063240"/>
            <a:ext cx="2468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85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Careful: going together does not always mean one causes the other.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Remember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61872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1188720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means looking at your data first</a:t>
            </a:r>
            <a:endParaRPr lang="en-US" sz="2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75104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097280" y="1901952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smallest, biggest and unusual values</a:t>
            </a:r>
            <a:endParaRPr lang="en-US" sz="2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88336"/>
            <a:ext cx="457200" cy="4572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097280" y="2615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missing and wrong data</a:t>
            </a:r>
            <a:endParaRPr lang="en-US" sz="2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01568"/>
            <a:ext cx="457200" cy="4572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097280" y="3328416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simple charts to see patterns</a:t>
            </a:r>
            <a:endParaRPr lang="en-US" sz="2400" dirty="0"/>
          </a:p>
        </p:txBody>
      </p:sp>
      <p:sp>
        <p:nvSpPr>
          <p:cNvPr id="11" name="Text 5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first. Understand. Then decide.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C5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188720"/>
            <a:ext cx="2377440" cy="2377440"/>
          </a:xfrm>
          <a:prstGeom prst="ellipse">
            <a:avLst/>
          </a:prstGeom>
          <a:solidFill>
            <a:srgbClr val="1B3A1E"/>
          </a:solidFill>
          <a:ln w="12700">
            <a:solidFill>
              <a:srgbClr val="1B3A1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965960"/>
            <a:ext cx="822960" cy="822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0" y="12801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 time!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3657600" y="237744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questions. Raise your hand for A, B, C or D.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of 5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“Exploratory” mean in EDA?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87452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830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around the data to learn what is inside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60604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51460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all the bad data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333756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2461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final report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97764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future numbers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F3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· Answer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011680" cy="20116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2344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Looking around the data to learn what is inside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237744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comes from explore: we look around the data to learn, before we decide anything.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of 5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Bean harvests (kg): 120, 135, 110, 5000, 125. Which number is the outlier?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87452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830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60604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51460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333756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2461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97764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3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· Answer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011680" cy="20116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2344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237744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 is very far from the others. It may be a typing mistake or a special farm, so we ask why.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of 5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do we do EDA?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87452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830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final report is finished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60604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51460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the data is perfect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333756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2461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decide what to do with the data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97764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Never, it wastes time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F3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 · Answer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011680" cy="20116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2344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we decide what to do with the data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237744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comes first. It is like checking the soil before you plant.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of 5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farm did not report its rain. What do we call this?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87452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830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60604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51460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333756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2461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value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97764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AF3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 · Answer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011680" cy="20116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2344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237744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empty cell is a missing value. We can ask for the real value, fill it carefully, or remove the row.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of 5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858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chart shows if rain and harvest go together?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87452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8308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60604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51460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333756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2461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EAF3DF"/>
          </a:solidFill>
          <a:ln w="12700">
            <a:solidFill>
              <a:srgbClr val="EAF3DF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94360" y="406908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397764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names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AF3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 · Answer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011680" cy="20116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716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2344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Scatter plot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3017520" y="2377440"/>
            <a:ext cx="5669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1E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scatter plot puts one thing on each side. If the dots rise together, the two things go together.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3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0" y="640080"/>
            <a:ext cx="2011680" cy="20116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234440"/>
            <a:ext cx="822960" cy="8229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1265</Words>
  <Application>Microsoft Office PowerPoint</Application>
  <PresentationFormat>On-screen Show (16:9)</PresentationFormat>
  <Paragraphs>224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</dc:title>
  <dc:subject>PptxGenJS Presentation</dc:subject>
  <dc:creator>PptxGenJS</dc:creator>
  <cp:lastModifiedBy>user</cp:lastModifiedBy>
  <cp:revision>2</cp:revision>
  <dcterms:created xsi:type="dcterms:W3CDTF">2026-09-19T21:30:07Z</dcterms:created>
  <dcterms:modified xsi:type="dcterms:W3CDTF">2026-09-19T21:40:50Z</dcterms:modified>
</cp:coreProperties>
</file>