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10-20</c:v>
                </c:pt>
                <c:pt idx="1">
                  <c:v>20-30</c:v>
                </c:pt>
                <c:pt idx="2">
                  <c:v>30-40</c:v>
                </c:pt>
                <c:pt idx="3">
                  <c:v>40-50</c:v>
                </c:pt>
                <c:pt idx="4">
                  <c:v>50-60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22</c:v>
                </c:pt>
                <c:pt idx="2">
                  <c:v>35</c:v>
                </c:pt>
                <c:pt idx="3">
                  <c:v>18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EF-4718-80AB-16FEF4EA51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C8CC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E3A7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7C8CC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51E4A">
            <a:alpha val="0"/>
          </a:srgbClr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51E4A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CADCFC"/>
              </a:solidFill>
              <a:ln w="9525" cap="flat">
                <a:solidFill>
                  <a:srgbClr val="CADCFC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5</c:v>
                </c:pt>
                <c:pt idx="3">
                  <c:v>7</c:v>
                </c:pt>
                <c:pt idx="4">
                  <c:v>8</c:v>
                </c:pt>
                <c:pt idx="5">
                  <c:v>10</c:v>
                </c:pt>
                <c:pt idx="6">
                  <c:v>11</c:v>
                </c:pt>
                <c:pt idx="7">
                  <c:v>13</c:v>
                </c:pt>
                <c:pt idx="8">
                  <c:v>14</c:v>
                </c:pt>
                <c:pt idx="9">
                  <c:v>16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15</c:v>
                </c:pt>
                <c:pt idx="1">
                  <c:v>22</c:v>
                </c:pt>
                <c:pt idx="2">
                  <c:v>27</c:v>
                </c:pt>
                <c:pt idx="3">
                  <c:v>30</c:v>
                </c:pt>
                <c:pt idx="4">
                  <c:v>38</c:v>
                </c:pt>
                <c:pt idx="5">
                  <c:v>41</c:v>
                </c:pt>
                <c:pt idx="6">
                  <c:v>47</c:v>
                </c:pt>
                <c:pt idx="7">
                  <c:v>52</c:v>
                </c:pt>
                <c:pt idx="8">
                  <c:v>55</c:v>
                </c:pt>
                <c:pt idx="9">
                  <c:v>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475-4555-842D-9166238D8B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Ad Spend ($K)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7C8CC4"/>
            </a:solidFill>
            <a:prstDash val="solid"/>
            <a:round/>
          </a:ln>
        </c:sp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E3A7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Revenue ($K)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7C8CC4"/>
            </a:solidFill>
            <a:prstDash val="solid"/>
            <a:round/>
          </a:ln>
        </c:sp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800">
          <a:solidFill>
            <a:schemeClr val="bg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1360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Y_MASTER">
    <p:bg>
      <p:bgPr>
        <a:solidFill>
          <a:srgbClr val="0A1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ln w="190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914400"/>
            <a:ext cx="4114800" cy="4114800"/>
          </a:xfrm>
          <a:prstGeom prst="ellipse">
            <a:avLst/>
          </a:prstGeom>
          <a:ln w="1905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FUNDAMENTALS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9456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</a:t>
            </a:r>
            <a:endParaRPr lang="en-US" sz="5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640080" y="4434840"/>
            <a:ext cx="8229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4617719"/>
            <a:ext cx="7772400" cy="1443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Digging deep into piles of data to uncover the clues that guide real analysis — like a detective working a case.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We’ll Cover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777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65960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EDA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596896"/>
            <a:ext cx="5349240" cy="0"/>
          </a:xfrm>
          <a:prstGeom prst="line">
            <a:avLst/>
          </a:prstGeom>
          <a:noFill/>
          <a:ln w="9525">
            <a:solidFill>
              <a:srgbClr val="7C8CC4">
                <a:alpha val="6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42616"/>
            <a:ext cx="777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642616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of EDA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3273552"/>
            <a:ext cx="5349240" cy="0"/>
          </a:xfrm>
          <a:prstGeom prst="line">
            <a:avLst/>
          </a:prstGeom>
          <a:noFill/>
          <a:ln w="9525">
            <a:solidFill>
              <a:srgbClr val="7C8CC4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319272"/>
            <a:ext cx="777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319272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in the Business Analytics Cycle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3950208"/>
            <a:ext cx="5349240" cy="0"/>
          </a:xfrm>
          <a:prstGeom prst="line">
            <a:avLst/>
          </a:prstGeom>
          <a:noFill/>
          <a:ln w="9525">
            <a:solidFill>
              <a:srgbClr val="7C8CC4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95928"/>
            <a:ext cx="777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995928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Steps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965960"/>
            <a:ext cx="777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1965960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EDA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217920" y="2596896"/>
            <a:ext cx="5349240" cy="0"/>
          </a:xfrm>
          <a:prstGeom prst="line">
            <a:avLst/>
          </a:prstGeom>
          <a:noFill/>
          <a:ln w="9525">
            <a:solidFill>
              <a:srgbClr val="7C8CC4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2642616"/>
            <a:ext cx="777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2642616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Types, In Depth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217920" y="3273552"/>
            <a:ext cx="5349240" cy="0"/>
          </a:xfrm>
          <a:prstGeom prst="line">
            <a:avLst/>
          </a:prstGeom>
          <a:noFill/>
          <a:ln w="9525">
            <a:solidFill>
              <a:srgbClr val="7C8CC4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0" y="3319272"/>
            <a:ext cx="777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3319272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INTRODUCTION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EDA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949440" cy="4023360"/>
          </a:xfrm>
          <a:prstGeom prst="roundRect">
            <a:avLst>
              <a:gd name="adj" fmla="val 2727"/>
            </a:avLst>
          </a:prstGeom>
          <a:solidFill>
            <a:srgbClr val="151E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331720"/>
            <a:ext cx="6309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is digging deep into piles of data to find clues that will aid the actual data analysis — much like a detective building a case.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321040" y="2651760"/>
            <a:ext cx="2926080" cy="2926080"/>
          </a:xfrm>
          <a:prstGeom prst="ellipse">
            <a:avLst/>
          </a:prstGeom>
          <a:solidFill>
            <a:srgbClr val="1C2757"/>
          </a:solidFill>
          <a:ln/>
        </p:spPr>
      </p:sp>
      <p:sp>
        <p:nvSpPr>
          <p:cNvPr id="8" name="Shape 6"/>
          <p:cNvSpPr/>
          <p:nvPr/>
        </p:nvSpPr>
        <p:spPr>
          <a:xfrm>
            <a:off x="9006840" y="3108960"/>
            <a:ext cx="1371600" cy="1371600"/>
          </a:xfrm>
          <a:prstGeom prst="ellipse">
            <a:avLst/>
          </a:prstGeom>
          <a:ln w="635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95560" y="4297680"/>
            <a:ext cx="777240" cy="777240"/>
          </a:xfrm>
          <a:prstGeom prst="line">
            <a:avLst/>
          </a:prstGeom>
          <a:noFill/>
          <a:ln w="635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56692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closely. Question everything. Let the data speak first.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WHY IT MATTERS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 of EDA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151E4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16712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Reveals the true nature of data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69748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is really in your dataset, not what you assume is there.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151E4A"/>
          </a:solidFill>
          <a:ln/>
        </p:spPr>
      </p:sp>
      <p:sp>
        <p:nvSpPr>
          <p:cNvPr id="11" name="Shape 9"/>
          <p:cNvSpPr/>
          <p:nvPr/>
        </p:nvSpPr>
        <p:spPr>
          <a:xfrm>
            <a:off x="6446520" y="22860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16712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Discovers patterns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69748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trends and relationships hidden inside the numbers.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151E4A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2976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17880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Spots anomalies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70916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outliers and errors before they distort your conclusions.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172200" y="39776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151E4A"/>
          </a:solidFill>
          <a:ln/>
        </p:spPr>
      </p:sp>
      <p:sp>
        <p:nvSpPr>
          <p:cNvPr id="21" name="Shape 19"/>
          <p:cNvSpPr/>
          <p:nvPr/>
        </p:nvSpPr>
        <p:spPr>
          <a:xfrm>
            <a:off x="6446520" y="42976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4652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417880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assumptions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470916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that the data fits the model and methods you plan to use.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Open-minded exploration of data provides valuable information — the insights you find are only as good as the honesty of your first look.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94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IN PRACTICE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in the Business Analytics Cycle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151E4A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350008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350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103120"/>
            <a:ext cx="4251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data makes sense for the business problem — if not, collect more data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3346704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1C2757"/>
          </a:solidFill>
          <a:ln/>
        </p:spPr>
      </p:sp>
      <p:sp>
        <p:nvSpPr>
          <p:cNvPr id="11" name="Shape 9"/>
          <p:cNvSpPr/>
          <p:nvPr/>
        </p:nvSpPr>
        <p:spPr>
          <a:xfrm>
            <a:off x="749808" y="3685032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685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438144"/>
            <a:ext cx="4251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and resolve data quality issues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681728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151E4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020056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50200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773168"/>
            <a:ext cx="4251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clear summary of the data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172200" y="201168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151E4A"/>
          </a:solidFill>
          <a:ln/>
        </p:spPr>
      </p:sp>
      <p:sp>
        <p:nvSpPr>
          <p:cNvPr id="19" name="Shape 17"/>
          <p:cNvSpPr/>
          <p:nvPr/>
        </p:nvSpPr>
        <p:spPr>
          <a:xfrm>
            <a:off x="6373368" y="2350008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73368" y="2350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2103120"/>
            <a:ext cx="4251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outliers and anomalies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172200" y="3346704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1C2757"/>
          </a:solidFill>
          <a:ln/>
        </p:spPr>
      </p:sp>
      <p:sp>
        <p:nvSpPr>
          <p:cNvPr id="23" name="Shape 21"/>
          <p:cNvSpPr/>
          <p:nvPr/>
        </p:nvSpPr>
        <p:spPr>
          <a:xfrm>
            <a:off x="6373368" y="3685032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73368" y="3685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3438144"/>
            <a:ext cx="4251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data patterns and correlations between variables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6172200" y="4681728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151E4A"/>
          </a:solidFill>
          <a:ln/>
        </p:spPr>
      </p:sp>
      <p:sp>
        <p:nvSpPr>
          <p:cNvPr id="27" name="Shape 25"/>
          <p:cNvSpPr/>
          <p:nvPr/>
        </p:nvSpPr>
        <p:spPr>
          <a:xfrm>
            <a:off x="6373368" y="5020056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73368" y="50200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4773168"/>
            <a:ext cx="4251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unwanted columns and derive new variables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PROCESS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Steps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51E4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question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649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business problem EDA needs to inform.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4123944" y="26974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34256" y="20116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51E4A"/>
          </a:solidFill>
          <a:ln/>
        </p:spPr>
      </p:sp>
      <p:sp>
        <p:nvSpPr>
          <p:cNvPr id="12" name="Shape 10"/>
          <p:cNvSpPr/>
          <p:nvPr/>
        </p:nvSpPr>
        <p:spPr>
          <a:xfrm>
            <a:off x="4562856" y="22402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62856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&amp; import data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62856" y="33649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the relevant data from its sources.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7909560" y="26974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119872" y="20116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51E4A"/>
          </a:solidFill>
          <a:ln/>
        </p:spPr>
      </p:sp>
      <p:sp>
        <p:nvSpPr>
          <p:cNvPr id="18" name="Shape 16"/>
          <p:cNvSpPr/>
          <p:nvPr/>
        </p:nvSpPr>
        <p:spPr>
          <a:xfrm>
            <a:off x="8348472" y="22402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48472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348472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&amp; prepare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348472" y="33649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duplicates, and formatting issues.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48640" y="42519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51E4A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448056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166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the variables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6052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univariate and multivariate analysis to each field.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4123944" y="49377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334256" y="42519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51E4A"/>
          </a:solidFill>
          <a:ln/>
        </p:spPr>
      </p:sp>
      <p:sp>
        <p:nvSpPr>
          <p:cNvPr id="29" name="Shape 27"/>
          <p:cNvSpPr/>
          <p:nvPr/>
        </p:nvSpPr>
        <p:spPr>
          <a:xfrm>
            <a:off x="4562856" y="448056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62856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4562856" y="5166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patterns &amp; outliers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4562856" y="56052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trends, correlations, and anomalies.</a:t>
            </a:r>
            <a:endParaRPr lang="en-US" dirty="0"/>
          </a:p>
        </p:txBody>
      </p:sp>
      <p:sp>
        <p:nvSpPr>
          <p:cNvPr id="33" name="Text 31"/>
          <p:cNvSpPr txBox="1"/>
          <p:nvPr/>
        </p:nvSpPr>
        <p:spPr>
          <a:xfrm>
            <a:off x="7909560" y="49377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8119872" y="42519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51E4A"/>
          </a:solidFill>
          <a:ln/>
        </p:spPr>
      </p:sp>
      <p:sp>
        <p:nvSpPr>
          <p:cNvPr id="35" name="Shape 33"/>
          <p:cNvSpPr/>
          <p:nvPr/>
        </p:nvSpPr>
        <p:spPr>
          <a:xfrm>
            <a:off x="8348472" y="448056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348472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8348472" y="5166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&amp; report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8348472" y="56052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new variables, drop unneeded ones, share insights.</a:t>
            </a:r>
            <a:endParaRPr lang="en-US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is iterative — teams move back and forth between these steps as understanding grows.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TYPES OF EDA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EDA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499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splits along two dimensions: how many variables you study, and whether you study them with numbers or with pictures.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1782137" y="20071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NON-GRAPHICAL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148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 rot="16200000">
            <a:off x="502920" y="2880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 rot="16200000">
            <a:off x="502920" y="4434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44034" y="2478307"/>
            <a:ext cx="4482446" cy="1691640"/>
          </a:xfrm>
          <a:prstGeom prst="roundRect">
            <a:avLst>
              <a:gd name="adj" fmla="val 6061"/>
            </a:avLst>
          </a:prstGeom>
          <a:solidFill>
            <a:srgbClr val="151E4A"/>
          </a:solidFill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40280" y="247802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Univariate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Non-Graphical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32918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tables &amp; descriptive stats (mean, mode, std dev) for one variable at a time.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355080" y="2514600"/>
            <a:ext cx="4206240" cy="1508760"/>
          </a:xfrm>
          <a:prstGeom prst="roundRect">
            <a:avLst>
              <a:gd name="adj" fmla="val 6061"/>
            </a:avLst>
          </a:prstGeom>
          <a:solidFill>
            <a:srgbClr val="151E4A"/>
          </a:solidFill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262432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Univariate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Graphical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2918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 &amp; histograms that show the distribution of one variable.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1644034" y="4251960"/>
            <a:ext cx="4482446" cy="1720392"/>
          </a:xfrm>
          <a:prstGeom prst="roundRect">
            <a:avLst>
              <a:gd name="adj" fmla="val 6061"/>
            </a:avLst>
          </a:prstGeom>
          <a:solidFill>
            <a:srgbClr val="1C2757"/>
          </a:solidFill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240280" y="427024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Multivariate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Non-Graphical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240280" y="49377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Cross-tabulated reports comparing two or more variables.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355080" y="4270248"/>
            <a:ext cx="4206240" cy="1702104"/>
          </a:xfrm>
          <a:prstGeom prst="roundRect">
            <a:avLst>
              <a:gd name="adj" fmla="val 6061"/>
            </a:avLst>
          </a:prstGeom>
          <a:solidFill>
            <a:srgbClr val="1C2757"/>
          </a:solidFill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427024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Multivariate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Graphical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49377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 that reveal relationships between two or more variables.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TYPES OF EDA · UNIVARIATE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777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777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Univariate Non-Graphical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31191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 a single variable at a time — age, salary, region — using numbers rather than pictures.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6309360" cy="1719072"/>
          </a:xfrm>
          <a:prstGeom prst="roundRect">
            <a:avLst>
              <a:gd name="adj" fmla="val 6452"/>
            </a:avLst>
          </a:prstGeom>
          <a:solidFill>
            <a:srgbClr val="151E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75691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305226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variables: a simple frequency tabulation (counts per category).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variables: descriptive statistics — mean, mode, and standard deviation.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6309360" cy="1417320"/>
          </a:xfrm>
          <a:prstGeom prst="roundRect">
            <a:avLst>
              <a:gd name="adj" fmla="val 6452"/>
            </a:avLst>
          </a:prstGeom>
          <a:solidFill>
            <a:srgbClr val="1C275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78231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1206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age is 34, and the most frequent purchase category is Electronics — both found without a single chart.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178040" y="822960"/>
            <a:ext cx="4480560" cy="5212080"/>
          </a:xfrm>
          <a:prstGeom prst="roundRect">
            <a:avLst>
              <a:gd name="adj" fmla="val 2609"/>
            </a:avLst>
          </a:prstGeom>
          <a:solidFill>
            <a:srgbClr val="151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2632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TABLE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17036"/>
              </p:ext>
            </p:extLst>
          </p:nvPr>
        </p:nvGraphicFramePr>
        <p:xfrm>
          <a:off x="7386608" y="1554480"/>
          <a:ext cx="3931920" cy="1920240"/>
        </p:xfrm>
        <a:graphic>
          <a:graphicData uri="http://schemas.openxmlformats.org/drawingml/2006/table">
            <a:tbl>
              <a:tblPr/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Apparel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7452360" y="3794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b="1" kern="0" spc="120" dirty="0" smtClean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b="1" kern="0" spc="12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</a:t>
            </a:r>
            <a:r>
              <a:rPr lang="en-US" sz="2000" b="1" kern="0" spc="1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— AGE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7452360" y="47091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34.2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7452360" y="52578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750808" y="47091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8750808" y="52578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10049256" y="47091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10049256" y="52578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TYPES OF EDA · UNIVARIATE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777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777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Univariate Graphical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41965" y="1741366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the distribution of a single variable to reveal its shape at a glance.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6309360" cy="1417320"/>
          </a:xfrm>
          <a:prstGeom prst="roundRect">
            <a:avLst>
              <a:gd name="adj" fmla="val 6452"/>
            </a:avLst>
          </a:prstGeom>
          <a:solidFill>
            <a:srgbClr val="151E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18211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204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data: bar charts.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data: histograms.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6309360" cy="1417320"/>
          </a:xfrm>
          <a:prstGeom prst="roundRect">
            <a:avLst>
              <a:gd name="adj" fmla="val 6452"/>
            </a:avLst>
          </a:prstGeom>
          <a:solidFill>
            <a:srgbClr val="1C275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78231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1206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histogram of monthly sales revenue quickly shows whether revenue is concentrated in one range or spread widely.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178040" y="1828800"/>
            <a:ext cx="4480560" cy="4206240"/>
          </a:xfrm>
          <a:prstGeom prst="roundRect">
            <a:avLst>
              <a:gd name="adj" fmla="val 2609"/>
            </a:avLst>
          </a:prstGeom>
          <a:solidFill>
            <a:srgbClr val="151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5236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— MONTHLY REVENUE ($K)</a:t>
            </a:r>
            <a:endParaRPr lang="en-US" sz="12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7315200" y="2423160"/>
          <a:ext cx="420624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9493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TYPES OF EDA · MULTIVARIATE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777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777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Multivariate Non-Graphical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two or more variables together to see how they relate, without drawing a single chart.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6309360" cy="1417320"/>
          </a:xfrm>
          <a:prstGeom prst="roundRect">
            <a:avLst>
              <a:gd name="adj" fmla="val 6452"/>
            </a:avLst>
          </a:prstGeom>
          <a:solidFill>
            <a:srgbClr val="151E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18211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204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Cross-tabulated reports — tables that break one variable down by another.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6309360" cy="1417320"/>
          </a:xfrm>
          <a:prstGeom prst="roundRect">
            <a:avLst>
              <a:gd name="adj" fmla="val 6452"/>
            </a:avLst>
          </a:prstGeom>
          <a:solidFill>
            <a:srgbClr val="1C275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78231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1206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cross-tab of sales volume by Region × Product Category shows exactly where each product performs best.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178040" y="1828800"/>
            <a:ext cx="4480560" cy="4206240"/>
          </a:xfrm>
          <a:prstGeom prst="roundRect">
            <a:avLst>
              <a:gd name="adj" fmla="val 2609"/>
            </a:avLst>
          </a:prstGeom>
          <a:solidFill>
            <a:srgbClr val="151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5236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 — SALES BY REGION × CATEGORY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771783"/>
              </p:ext>
            </p:extLst>
          </p:nvPr>
        </p:nvGraphicFramePr>
        <p:xfrm>
          <a:off x="7452360" y="2606040"/>
          <a:ext cx="3931920" cy="1981200"/>
        </p:xfrm>
        <a:graphic>
          <a:graphicData uri="http://schemas.openxmlformats.org/drawingml/2006/table">
            <a:tbl>
              <a:tblPr/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Apparel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7452360" y="4572000"/>
            <a:ext cx="3977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down each column shows which region leads each product line — patterns a single-variable table could never reveal.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TYPES OF EDA · MULTIVARIATE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777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777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Multivariate Graphical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6309360" cy="904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how two or more variables move together, exposing relationships numbers alone can hide.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6309360" cy="1417320"/>
          </a:xfrm>
          <a:prstGeom prst="roundRect">
            <a:avLst>
              <a:gd name="adj" fmla="val 6452"/>
            </a:avLst>
          </a:prstGeom>
          <a:solidFill>
            <a:srgbClr val="151E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18211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204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 — and extensions like correlation heatmaps — plot one variable against another.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6309360" cy="1417320"/>
          </a:xfrm>
          <a:prstGeom prst="roundRect">
            <a:avLst>
              <a:gd name="adj" fmla="val 6452"/>
            </a:avLst>
          </a:prstGeom>
          <a:solidFill>
            <a:srgbClr val="1C275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78231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1206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advertising spend against revenue reveals whether higher spend consistently tracks with higher sales.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178040" y="1828800"/>
            <a:ext cx="4480560" cy="4206240"/>
          </a:xfrm>
          <a:prstGeom prst="roundRect">
            <a:avLst>
              <a:gd name="adj" fmla="val 2609"/>
            </a:avLst>
          </a:prstGeom>
          <a:solidFill>
            <a:srgbClr val="151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5236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— AD SPEND VS. REVENUE</a:t>
            </a:r>
            <a:endParaRPr lang="en-US" dirty="0"/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2464707287"/>
              </p:ext>
            </p:extLst>
          </p:nvPr>
        </p:nvGraphicFramePr>
        <p:xfrm>
          <a:off x="7315200" y="2423160"/>
          <a:ext cx="420624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778240" y="3200400"/>
            <a:ext cx="5486400" cy="5486400"/>
          </a:xfrm>
          <a:prstGeom prst="ellipse">
            <a:avLst/>
          </a:prstGeom>
          <a:ln w="190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CHECK YOUR UNDERSTANDING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9456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Put It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 Test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43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quick questions. Call out A, B, C or D as we go through each one together.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OF 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EDA primarily help you do before formal analysis?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350215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35021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320040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patterns and check assumptions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72200" y="31089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</p:sp>
      <p:sp>
        <p:nvSpPr>
          <p:cNvPr id="10" name="Shape 8"/>
          <p:cNvSpPr/>
          <p:nvPr/>
        </p:nvSpPr>
        <p:spPr>
          <a:xfrm>
            <a:off x="6428232" y="350215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28232" y="35021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20040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build a predictive model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514807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" y="5148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84632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all the raw data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172200" y="475488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28232" y="514807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28232" y="5148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484632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final report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· ANSWER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EDA primarily help you do before formal analysis?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151E4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331720"/>
            <a:ext cx="868680" cy="8686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233172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patterns and check assumptions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062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comes first — it reveals patterns and validates assumptions so later analysis rests on solid ground.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OF 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EDA type studies a single variable using stats like mean and standard deviation?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350215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35021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320040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Graphical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172200" y="31089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</p:sp>
      <p:sp>
        <p:nvSpPr>
          <p:cNvPr id="10" name="Shape 8"/>
          <p:cNvSpPr/>
          <p:nvPr/>
        </p:nvSpPr>
        <p:spPr>
          <a:xfrm>
            <a:off x="6428232" y="350215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28232" y="35021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20040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Non-Graphical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514807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" y="5148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84632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Non-Graphical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172200" y="475488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28232" y="514807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28232" y="5148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484632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Graphical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· ANSWER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987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EDA type studies a single variable using stats like mean and standard deviation?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151E4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331720"/>
            <a:ext cx="868680" cy="8686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233172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Univariate Non-Graphical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15667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Non-Graphical relies on descriptive statistics — no charts needed — for one variable at a time.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OF 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cross-tabulation comparing two categorical variables belongs to which type?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350215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35021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320040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Graphical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172200" y="31089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</p:sp>
      <p:sp>
        <p:nvSpPr>
          <p:cNvPr id="10" name="Shape 8"/>
          <p:cNvSpPr/>
          <p:nvPr/>
        </p:nvSpPr>
        <p:spPr>
          <a:xfrm>
            <a:off x="6428232" y="350215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28232" y="35021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20040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Non-Graphical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514807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" y="5148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84632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Non-Graphical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172200" y="475488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28232" y="514807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28232" y="5148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484632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Graphical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· ANSWER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987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cross-tabulation comparing two categorical variables belongs to which type?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151E4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331720"/>
            <a:ext cx="868680" cy="8686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233172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Multivariate Non-Graphical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15667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Cross-tabs compare two or more variables in table form — the definition of Multivariate Non-Graphical EDA.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OF 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chart is the classic choice for Multivariate Graphical EDA?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350215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35021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320040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172200" y="31089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</p:sp>
      <p:sp>
        <p:nvSpPr>
          <p:cNvPr id="10" name="Shape 8"/>
          <p:cNvSpPr/>
          <p:nvPr/>
        </p:nvSpPr>
        <p:spPr>
          <a:xfrm>
            <a:off x="6428232" y="350215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28232" y="35021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20040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514807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" y="5148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84632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table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172200" y="475488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28232" y="514807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28232" y="5148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484632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· ANSWER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chart is the classic choice for Multivariate Graphical EDA?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151E4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331720"/>
            <a:ext cx="868680" cy="8686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233172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 plot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062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 plot two variables against each other, making relationships and correlation visible at a glance.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OF 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data doesn’t make sense for the business problem, what should EDA lead you to do?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350215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35021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320040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it and proceed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172200" y="31089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</p:sp>
      <p:sp>
        <p:nvSpPr>
          <p:cNvPr id="10" name="Shape 8"/>
          <p:cNvSpPr/>
          <p:nvPr/>
        </p:nvSpPr>
        <p:spPr>
          <a:xfrm>
            <a:off x="6428232" y="350215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28232" y="35021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20040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dataset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514807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" y="5148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84632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more data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172200" y="475488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28232" y="514807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28232" y="5148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484632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model anyway</a:t>
            </a:r>
            <a:endParaRPr 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· ANSWER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data doesn’t make sense for the business problem, what should EDA lead you to do?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151E4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331720"/>
            <a:ext cx="868680" cy="8686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233172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more data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062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core objective of EDA in the business cycle is confirming data fit — and collecting more data when it doesn’t.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ln w="190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6517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94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closely. Question everything. Let the data speak first.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1280</Words>
  <Application>Microsoft Office PowerPoint</Application>
  <PresentationFormat>Widescreen</PresentationFormat>
  <Paragraphs>309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8</cp:revision>
  <dcterms:created xsi:type="dcterms:W3CDTF">2026-09-20T10:32:26Z</dcterms:created>
  <dcterms:modified xsi:type="dcterms:W3CDTF">2026-09-22T03:52:17Z</dcterms:modified>
</cp:coreProperties>
</file>