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733" autoAdjust="0"/>
  </p:normalViewPr>
  <p:slideViewPr>
    <p:cSldViewPr snapToGrid="0" snapToObjects="1">
      <p:cViewPr varScale="1">
        <p:scale>
          <a:sx n="48" d="100"/>
          <a:sy n="48" d="100"/>
        </p:scale>
        <p:origin x="13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1216-9F72-470E-B2BC-3C94FAF5D5D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FFB05-41D2-4E27-A596-6895B07B4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Machines </a:t>
            </a:r>
            <a:r>
              <a:rPr lang="en-US" baseline="0" dirty="0" smtClean="0"/>
              <a:t>or </a:t>
            </a:r>
            <a:r>
              <a:rPr lang="en-US" dirty="0" smtClean="0"/>
              <a:t>Medical machines give information such as heart rate, blood pressure, oxygen level, temperature, X-ray images, CT scans, MRI scans, and heart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4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smtClean="0"/>
              <a:t>EHR</a:t>
            </a:r>
            <a:r>
              <a:rPr lang="en-US" b="0" dirty="0" smtClean="0"/>
              <a:t> is a digital patient record that stores health information in a computer system.</a:t>
            </a:r>
          </a:p>
          <a:p>
            <a:endParaRPr lang="en-US" b="0" dirty="0" smtClean="0"/>
          </a:p>
          <a:p>
            <a:r>
              <a:rPr lang="en-US" b="1" u="sng" dirty="0" smtClean="0"/>
              <a:t>Diagnosis</a:t>
            </a:r>
            <a:r>
              <a:rPr lang="en-US" b="0" dirty="0" smtClean="0"/>
              <a:t> means finding out what disease or health problem a patient has.</a:t>
            </a:r>
            <a:br>
              <a:rPr lang="en-US" b="0" dirty="0" smtClean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1" u="sng" dirty="0" smtClean="0"/>
              <a:t>Medical Imaging</a:t>
            </a:r>
          </a:p>
          <a:p>
            <a:r>
              <a:rPr lang="en-US" b="1" dirty="0" smtClean="0"/>
              <a:t>Computed</a:t>
            </a:r>
            <a:r>
              <a:rPr lang="en-US" b="1" baseline="0" dirty="0" smtClean="0"/>
              <a:t> t</a:t>
            </a:r>
            <a:r>
              <a:rPr lang="en-US" b="1" dirty="0" smtClean="0"/>
              <a:t>omography:</a:t>
            </a:r>
            <a:r>
              <a:rPr lang="en-US" b="1" baseline="0" dirty="0" smtClean="0"/>
              <a:t> </a:t>
            </a:r>
            <a:r>
              <a:rPr lang="en-US" baseline="0" dirty="0" smtClean="0"/>
              <a:t>tool used to</a:t>
            </a:r>
            <a:r>
              <a:rPr lang="en-US" dirty="0" smtClean="0"/>
              <a:t> make images of the inside of the body in sections or slices.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Example: Diabetes risk</a:t>
            </a:r>
          </a:p>
          <a:p>
            <a:r>
              <a:rPr lang="en-US" dirty="0" smtClean="0"/>
              <a:t>Imagine a hospital has data from thousands of patients.</a:t>
            </a:r>
          </a:p>
          <a:p>
            <a:r>
              <a:rPr lang="en-US" dirty="0" smtClean="0"/>
              <a:t>The data shows things like: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Blood sugar levels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Weight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Family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Previous health problems</a:t>
            </a:r>
          </a:p>
          <a:p>
            <a:r>
              <a:rPr lang="en-US" dirty="0" smtClean="0"/>
              <a:t>When the hospital analyzes this data, it may find patterns showing that some patients have a </a:t>
            </a:r>
            <a:r>
              <a:rPr lang="en-US" b="1" dirty="0" smtClean="0"/>
              <a:t>high risk of developing</a:t>
            </a:r>
            <a:endParaRPr lang="en-US" dirty="0" smtClean="0"/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7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example, if many patients with high blood pressure later develop heart disease, the system may help doctor to identify similar patients as high-risk and make a better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9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Reduce waiting time</a:t>
            </a:r>
          </a:p>
          <a:p>
            <a:endParaRPr lang="en-US" b="1" dirty="0" smtClean="0"/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Imagine a hospital studies its data and discovers:</a:t>
            </a:r>
          </a:p>
          <a:p>
            <a:r>
              <a:rPr lang="en-US" dirty="0" smtClean="0"/>
              <a:t>“Every Monday morning, many patients come to the hospital.”</a:t>
            </a:r>
          </a:p>
          <a:p>
            <a:r>
              <a:rPr lang="en-US" dirty="0" smtClean="0"/>
              <a:t>The hospital can prepare by:</a:t>
            </a:r>
          </a:p>
          <a:p>
            <a:endParaRPr 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Putting more doctors on duty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Putting more nurses on duty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Opening more service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Preparing more rooms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Preparing enough medicine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u="sng" dirty="0" smtClean="0"/>
              <a:t>Use money and staff well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r>
              <a:rPr lang="en-US" b="1" dirty="0" smtClean="0"/>
              <a:t>For example:</a:t>
            </a:r>
          </a:p>
          <a:p>
            <a:r>
              <a:rPr lang="en-US" dirty="0" smtClean="0"/>
              <a:t>If data shows that the hospital needs more doctors, the hospital can plan its budget for: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smtClean="0"/>
              <a:t>Hiring new doctors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smtClean="0"/>
              <a:t>Hiring nurses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smtClean="0"/>
              <a:t>Buying equipment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smtClean="0"/>
              <a:t>Buying medicines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smtClean="0"/>
              <a:t>Expanding services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33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During </a:t>
            </a:r>
            <a:r>
              <a:rPr lang="en-US" b="1" dirty="0" smtClean="0"/>
              <a:t>COVID-19</a:t>
            </a:r>
            <a:r>
              <a:rPr lang="en-US" dirty="0" smtClean="0"/>
              <a:t>, health authorities collected information about: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Number of infections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Where cases were found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Vaccination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Hospital admissions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Deaths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People who had contact with infected people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Testing results</a:t>
            </a:r>
          </a:p>
          <a:p>
            <a:r>
              <a:rPr lang="en-US" dirty="0" smtClean="0"/>
              <a:t>This information helped health authorities understand </a:t>
            </a:r>
            <a:r>
              <a:rPr lang="en-US" b="1" dirty="0" smtClean="0"/>
              <a:t>where the disease was spreading</a:t>
            </a:r>
            <a:r>
              <a:rPr lang="en-US" dirty="0" smtClean="0"/>
              <a:t> and where help was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32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Big Data tools such as Hadoop, HDFS, Spark, and Kafka help hospitals store, process, and move large amounts of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0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Privacy: </a:t>
            </a:r>
            <a:r>
              <a:rPr lang="en-US" dirty="0" smtClean="0"/>
              <a:t>Patient information such as names, medical history, diseases, test results, medicines, and treatment records must be kept private.</a:t>
            </a:r>
          </a:p>
          <a:p>
            <a:endParaRPr lang="en-US" b="1" dirty="0" smtClean="0"/>
          </a:p>
          <a:p>
            <a:r>
              <a:rPr lang="en-US" b="1" dirty="0" smtClean="0"/>
              <a:t>Integration problem:</a:t>
            </a:r>
            <a:r>
              <a:rPr lang="en-US" dirty="0" smtClean="0"/>
              <a:t> Different healthcare systems may not work well together. For example, a hospital system may not connect properly with an insurance system, causing delays or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9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Privacy protects patient information from people who should not see it. Ethics means using the information in a right, fair, and responsible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6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Raw data is data collected from different sources before it is cleaned, organized, and analyzed.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74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Technology is not enough because healthcare also needs skilled health workers, good data, enough resources, and good decisions. Technology can support healthcare workers, but it cannot replace them.</a:t>
            </a:r>
          </a:p>
          <a:p>
            <a:endParaRPr lang="en-US" dirty="0" smtClean="0"/>
          </a:p>
          <a:p>
            <a:r>
              <a:rPr lang="en-US" dirty="0" smtClean="0"/>
              <a:t>Technology helps people provide better healthcare; it does not provide healthcare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58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1:</a:t>
            </a:r>
            <a:r>
              <a:rPr lang="en-US" dirty="0" smtClean="0"/>
              <a:t> Big Data can find patterns in patient information and test results. This can help doctors identify patients who may be at risk earlier</a:t>
            </a:r>
          </a:p>
          <a:p>
            <a:endParaRPr lang="en-US" dirty="0" smtClean="0"/>
          </a:p>
          <a:p>
            <a:r>
              <a:rPr lang="en-US" b="1" dirty="0" smtClean="0"/>
              <a:t>2: </a:t>
            </a:r>
            <a:r>
              <a:rPr lang="en-US" dirty="0" smtClean="0"/>
              <a:t>Wrong data can lead to wrong decisions, wrong treatment, delays, and possible harm to patients.</a:t>
            </a:r>
          </a:p>
          <a:p>
            <a:endParaRPr lang="en-US" dirty="0" smtClean="0"/>
          </a:p>
          <a:p>
            <a:r>
              <a:rPr lang="en-US" b="1" dirty="0" smtClean="0"/>
              <a:t>3:</a:t>
            </a:r>
            <a:r>
              <a:rPr lang="en-US" dirty="0" smtClean="0"/>
              <a:t> Hospitals can limit access to authorized people, use passwords and security systems, and keep patient information private.</a:t>
            </a:r>
          </a:p>
          <a:p>
            <a:endParaRPr lang="en-US" dirty="0" smtClean="0"/>
          </a:p>
          <a:p>
            <a:r>
              <a:rPr lang="en-US" b="1" dirty="0" smtClean="0"/>
              <a:t>4:</a:t>
            </a:r>
            <a:r>
              <a:rPr lang="en-US" dirty="0" smtClean="0"/>
              <a:t> No. A computer can help doctors, but doctors should also use their medical knowledge and check the patient before making a final decision.</a:t>
            </a:r>
          </a:p>
          <a:p>
            <a:endParaRPr lang="en-US" dirty="0" smtClean="0"/>
          </a:p>
          <a:p>
            <a:r>
              <a:rPr lang="en-US" b="1" dirty="0" smtClean="0"/>
              <a:t>5:</a:t>
            </a:r>
            <a:r>
              <a:rPr lang="en-US" b="1" baseline="0" dirty="0" smtClean="0"/>
              <a:t> </a:t>
            </a:r>
            <a:r>
              <a:rPr lang="en-US" dirty="0" smtClean="0"/>
              <a:t>Better decision-making would be very helpful. Good data can help hospitals know what they need, where they need it, and when they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FFB05-41D2-4E27-A596-6895B07B4A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88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868680"/>
            <a:ext cx="2423160" cy="384048"/>
          </a:xfrm>
          <a:prstGeom prst="roundRect">
            <a:avLst/>
          </a:prstGeom>
          <a:solidFill>
            <a:srgbClr val="1E4456"/>
          </a:solidFill>
          <a:ln>
            <a:solidFill>
              <a:srgbClr val="1E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1325880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68512" y="1892807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07424" y="2459736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46336" y="1325880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85248" y="1892807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0" y="2459736"/>
            <a:ext cx="201168" cy="201168"/>
          </a:xfrm>
          <a:prstGeom prst="ellipse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3749039"/>
            <a:ext cx="3200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0" y="3520439"/>
            <a:ext cx="3200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72600" y="3749039"/>
            <a:ext cx="3200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75520" y="3520439"/>
            <a:ext cx="3200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78440" y="3749039"/>
            <a:ext cx="3200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4709160"/>
            <a:ext cx="1645920" cy="64008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5029200"/>
            <a:ext cx="1005840" cy="64008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868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BIG DATA • HEALTHCARE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8288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450592"/>
            <a:ext cx="6858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"/>
              </a:defRPr>
            </a:pPr>
            <a:r>
              <a:t>Big Data</a:t>
            </a:r>
            <a:br/>
            <a:r>
              <a:t>in 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2976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3E5EB"/>
                </a:solidFill>
                <a:latin typeface="Aptos"/>
              </a:defRPr>
            </a:pPr>
            <a:r>
              <a:t>How large amounts of health data can help hospitals make better decisions and improve patient care.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5440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D2DA"/>
                </a:solidFill>
                <a:latin typeface="Aptos"/>
              </a:defRPr>
            </a:pPr>
            <a:r>
              <a:t>DATA  →  INFORMATION  → 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64008" cy="201168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600200"/>
            <a:ext cx="64008" cy="201168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83296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600200"/>
            <a:ext cx="64008" cy="201168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8368" y="4160520"/>
            <a:ext cx="10853928" cy="1651000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What Is Big Data in Healthcare?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rPr dirty="0"/>
              <a:t>Three simple ideas to 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1661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0243A"/>
                </a:solidFill>
                <a:latin typeface="Aptos"/>
              </a:defRPr>
            </a:pPr>
            <a:r>
              <a:rPr dirty="0"/>
              <a:t>Large amount of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2139696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Hospitals collect many records, test results, medical images, medicines, and device readings.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342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0243A"/>
                </a:solidFill>
                <a:latin typeface="Aptos"/>
              </a:defRPr>
            </a:pPr>
            <a:r>
              <a:rPr dirty="0"/>
              <a:t>Many types of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3420" y="224790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Health data can be words, numbers, pictures, or information from machines.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17967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0243A"/>
                </a:solidFill>
                <a:latin typeface="Aptos"/>
              </a:defRPr>
            </a:pPr>
            <a:r>
              <a:rPr dirty="0"/>
              <a:t>Useful information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233172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The goal is to study the data and find useful patterns for better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191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736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243A"/>
                </a:solidFill>
                <a:latin typeface="Aptos"/>
              </a:defRPr>
            </a:pPr>
            <a:r>
              <a:rPr dirty="0"/>
              <a:t>Big Data is not only about storing data. It is about using data to learn something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64008" cy="164592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61688" y="1572768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572768"/>
            <a:ext cx="64008" cy="164592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337560" cy="195275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9016" y="1726184"/>
            <a:ext cx="64008" cy="164592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3337560" cy="18359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0372" y="3725164"/>
            <a:ext cx="64008" cy="164592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70832" y="3630168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630168"/>
            <a:ext cx="64008" cy="164592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The 5 Vs of Healthcare Big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3225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A very large amount of health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3225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Data can be created and updated very quickly.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VARIETY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225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Data comes in many forms, such as text, numbers, images, and device readings.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VERACITY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07408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The data should be correct, complete, and trustworthy.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4860" y="37856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rPr dirty="0"/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42976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The data should help people make better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703320" cy="4431792"/>
          </a:xfrm>
          <a:prstGeom prst="roundRect">
            <a:avLst/>
          </a:prstGeom>
          <a:solidFill>
            <a:srgbClr val="10243A"/>
          </a:solidFill>
          <a:ln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1874519"/>
            <a:ext cx="1508760" cy="384048"/>
          </a:xfrm>
          <a:prstGeom prst="roundRect">
            <a:avLst/>
          </a:prstGeom>
          <a:solidFill>
            <a:srgbClr val="1F4456"/>
          </a:solidFill>
          <a:ln>
            <a:solidFill>
              <a:srgbClr val="1F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60" y="1572768"/>
            <a:ext cx="3154680" cy="219659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0732" y="1815084"/>
            <a:ext cx="64008" cy="182880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65008" y="1572768"/>
            <a:ext cx="3154680" cy="219659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5300" y="1796796"/>
            <a:ext cx="64008" cy="182880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9160" y="4087368"/>
            <a:ext cx="6510528" cy="191719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41164" y="4175760"/>
            <a:ext cx="64008" cy="182880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Case Study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A large hospital wants to use its data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187451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THE HOSPITAL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25146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Thousands of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388359"/>
            <a:ext cx="331520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AE8EE"/>
                </a:solidFill>
                <a:latin typeface="Aptos"/>
              </a:defRPr>
            </a:pPr>
            <a:r>
              <a:rPr dirty="0"/>
              <a:t>Many departments</a:t>
            </a:r>
            <a:br>
              <a:rPr dirty="0"/>
            </a:br>
            <a:r>
              <a:rPr dirty="0"/>
              <a:t>Many computer systems</a:t>
            </a:r>
            <a:br>
              <a:rPr dirty="0"/>
            </a:br>
            <a:r>
              <a:rPr dirty="0"/>
              <a:t>Many data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892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ED7E0"/>
                </a:solidFill>
                <a:latin typeface="Aptos"/>
              </a:defRPr>
            </a:pPr>
            <a:r>
              <a:t>Problem: there is a lot of information, but it is hard to study it by 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30428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rPr dirty="0"/>
              <a:t>Connect the data and look for patterns that can improve patient care and hospital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0428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Different systems may store data in different ways. Privacy and data quality are also concerns.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40873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44348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Give health workers useful information when they need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64008" cy="173736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61688" y="155448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554480"/>
            <a:ext cx="64008" cy="173736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5008" y="15544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1554480"/>
            <a:ext cx="64008" cy="173736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703320"/>
            <a:ext cx="64008" cy="173736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6168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1688" y="3703320"/>
            <a:ext cx="64008" cy="173736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6500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65008" y="3703320"/>
            <a:ext cx="64008" cy="173736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Where Does the Data Come From?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8288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Electronic Health Records (EHRs)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3774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Patient history, diagnoses, and treatment.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8288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Laboratory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3774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Blood tests and other test results.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18288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Medical Imaging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3774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X-ray, Computed Tomography (CT), and Magnetic Resonance Imaging (MRI) scans.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9776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Pharmacy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262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Medicines and prescriptions.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9776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Wearable Devices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5262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Heart rate, activity, and other body measurements.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9776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Public Health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2628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Vaccination, disease, and population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481328"/>
            <a:ext cx="548640" cy="54864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78608"/>
            <a:ext cx="548640" cy="54864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75887"/>
            <a:ext cx="548640" cy="54864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73168"/>
            <a:ext cx="548640" cy="54864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9320" y="1572768"/>
            <a:ext cx="5230368" cy="4434840"/>
          </a:xfrm>
          <a:prstGeom prst="roundRect">
            <a:avLst/>
          </a:prstGeom>
          <a:solidFill>
            <a:srgbClr val="10243A"/>
          </a:solidFill>
          <a:ln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1901952"/>
            <a:ext cx="1828800" cy="384048"/>
          </a:xfrm>
          <a:prstGeom prst="roundRect">
            <a:avLst/>
          </a:prstGeom>
          <a:solidFill>
            <a:srgbClr val="1F4456"/>
          </a:solidFill>
          <a:ln>
            <a:solidFill>
              <a:srgbClr val="1F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3611880"/>
            <a:ext cx="4434840" cy="54864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4800600"/>
            <a:ext cx="4434840" cy="54864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How Can Big Data Improve Patient Care?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14813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Find risks early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18470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Look for signs that a patient may have a health problem.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25786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Support personal care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29443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Use patient information to help choose suitable treatment.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7490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367588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Watch patients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40416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Find patients who may need closer attention.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47731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Check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51389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Compare treatments and see what works well.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670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0CCD5"/>
                </a:solidFill>
                <a:latin typeface="Aptos"/>
              </a:defRPr>
            </a:pPr>
            <a:r>
              <a:t>PATIENT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017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records + tests + 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867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0CCD5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206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patterns • trends • predictions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056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0CCD5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394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better-informed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4871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64008" cy="214884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47287" y="1828800"/>
            <a:ext cx="24871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7287" y="1828800"/>
            <a:ext cx="64008" cy="214884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36207" y="1828800"/>
            <a:ext cx="24871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6207" y="1828800"/>
            <a:ext cx="64008" cy="214884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25128" y="1828800"/>
            <a:ext cx="24871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25128" y="1828800"/>
            <a:ext cx="64008" cy="214884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572000"/>
            <a:ext cx="10881360" cy="1431036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Example: Predicting Patient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Data can support doctors — but it does not replace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1. 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57860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Study old patient records.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2. Find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57860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Find signs that are linked to health problems.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3. Flag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57860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Point out new patients who have similar signs.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4. Respond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59" y="2578608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Doctors decide if the patient needs closer care.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0243A"/>
                </a:solidFill>
                <a:latin typeface="Aptos"/>
              </a:defRPr>
            </a:pPr>
            <a:r>
              <a:t>Important: computer analysis can support a doctor, but the doctor still makes the final clinical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64008" cy="178308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44768" y="1572768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44768" y="1572768"/>
            <a:ext cx="64008" cy="178308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3721608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21608"/>
            <a:ext cx="64008" cy="178308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44768" y="3721608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3721608"/>
            <a:ext cx="64008" cy="178308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Big Data for Hospital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470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Plan for busy 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2257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Use old data to estimate how many patients may 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rPr dirty="0"/>
              <a:t>Reduce waiting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2257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Find busy areas and improve the flow of patients.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59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Manage medicines and equipment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7141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See what is being used and what may be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959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rPr dirty="0"/>
              <a:t>Use money and staff well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7141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Use data to support planning and budgeting.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64008" cy="1874519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9976" y="157276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1572768"/>
            <a:ext cx="64008" cy="1874519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01583" y="157276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572768"/>
            <a:ext cx="64008" cy="1874519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4069080"/>
            <a:ext cx="10881360" cy="1371600"/>
          </a:xfrm>
          <a:prstGeom prst="roundRect">
            <a:avLst/>
          </a:prstGeom>
          <a:solidFill>
            <a:srgbClr val="10243A"/>
          </a:solidFill>
          <a:ln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Big Data in Public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Using data to understand health problems in whole 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87451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Disease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39572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Track diseases and notice unusual increases.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187451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Outbreak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39572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Use data to help health workers respond quickly.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187451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43A"/>
                </a:solidFill>
                <a:latin typeface="Aptos"/>
              </a:defRPr>
            </a:pPr>
            <a:r>
              <a:t>Vaccination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239572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Use population information to plan where resources are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ECAD3"/>
                </a:solidFill>
                <a:latin typeface="Aptos"/>
              </a:defRPr>
            </a:pPr>
            <a:r>
              <a:t>INDIVIDUAL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2976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EC1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16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ECAD3"/>
                </a:solidFill>
                <a:latin typeface="Aptos"/>
              </a:defRPr>
            </a:pPr>
            <a:r>
              <a:t>POPULATION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2976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EC1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416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ECAD3"/>
                </a:solidFill>
                <a:latin typeface="Aptos"/>
              </a:defRPr>
            </a:pPr>
            <a:r>
              <a:t>PUBLIC HEALTH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63040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1600200"/>
            <a:ext cx="2468880" cy="384048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2322576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2459736"/>
            <a:ext cx="2468880" cy="384048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8" y="3182112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3319272"/>
            <a:ext cx="2468880" cy="384048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" y="4178808"/>
            <a:ext cx="2468880" cy="384048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808" y="4901183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7552" y="5038344"/>
            <a:ext cx="2468880" cy="384048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Technologies Behind the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1618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9191"/>
                </a:solidFill>
                <a:latin typeface="Aptos"/>
              </a:defRPr>
            </a:pPr>
            <a:r>
              <a:t>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1618488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Store health and hospital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24780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9191"/>
                </a:solidFill>
                <a:latin typeface="Aptos"/>
              </a:defRPr>
            </a:pPr>
            <a:r>
              <a:t>Cloud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478024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Store and process large amounts of data using online computer systems.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9191"/>
                </a:solidFill>
                <a:latin typeface="Aptos"/>
              </a:defRPr>
            </a:pPr>
            <a:r>
              <a:t>Big Data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3375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Help process very large datasets.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1970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9191"/>
                </a:solidFill>
                <a:latin typeface="Aptos"/>
              </a:defRPr>
            </a:pPr>
            <a:r>
              <a:t>Machine Learning (ML)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197096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Helps computers find patterns and make predictions from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0566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9191"/>
                </a:solidFill>
                <a:latin typeface="Aptos"/>
              </a:defRPr>
            </a:pPr>
            <a:r>
              <a:t>Data 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5056631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Shows information in charts, graphs, and dashboards.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64008" cy="173736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554480"/>
            <a:ext cx="64008" cy="173736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1554480"/>
            <a:ext cx="64008" cy="173736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703320"/>
            <a:ext cx="64008" cy="173736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6168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61688" y="3703320"/>
            <a:ext cx="64008" cy="173736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65008" y="37033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5008" y="3703320"/>
            <a:ext cx="64008" cy="173736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Challenges and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Healthcare data is useful, but it must be handled carefully.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30428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Patient information is private.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230428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Systems must be protected from unauthorised access.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0428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Wrong data can lead to wrong results.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5312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Different systems may not work well together.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BIAS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45312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Unfair or incomplete data can lead to unfair results.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COST &amp; SKILLS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5312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3643"/>
                </a:solidFill>
                <a:latin typeface="Aptos"/>
              </a:defRPr>
            </a:pPr>
            <a:r>
              <a:t>Good systems need money, equipment, and trained workers.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481328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194560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2907792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3621024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4334256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047488"/>
            <a:ext cx="384048" cy="384048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Privacy and Ethical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Trust is an important part of healthcare technology.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14904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147218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Use data for a good reason.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2037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18541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Only allow authorised people to access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91693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89864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Protect data when it is stored and sent.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6301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11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Remove identifying details when possible.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3434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3251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Explain how computer systems use patient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05663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03834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3643"/>
                </a:solidFill>
                <a:latin typeface="Aptos"/>
              </a:defRPr>
            </a:pPr>
            <a:r>
              <a:t>Keep human judgement important when decisions affect patient health.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5488" y="1874519"/>
            <a:ext cx="2011680" cy="2240280"/>
          </a:xfrm>
          <a:prstGeom prst="roundRect">
            <a:avLst/>
          </a:prstGeom>
          <a:solidFill>
            <a:srgbClr val="10243A"/>
          </a:solidFill>
          <a:ln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16352" y="1874519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7216" y="1874519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98079" y="1874519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38944" y="1874519"/>
            <a:ext cx="2011680" cy="2240280"/>
          </a:xfrm>
          <a:prstGeom prst="roundRect">
            <a:avLst/>
          </a:prstGeom>
          <a:solidFill>
            <a:srgbClr val="10243A"/>
          </a:solidFill>
          <a:ln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325880" y="4892040"/>
            <a:ext cx="9464040" cy="777240"/>
          </a:xfrm>
          <a:prstGeom prst="roundRect">
            <a:avLst/>
          </a:prstGeom>
          <a:solidFill>
            <a:srgbClr val="E2F7F4"/>
          </a:solidFill>
          <a:ln>
            <a:solidFill>
              <a:srgbClr val="E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From Raw Data to Useful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C1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633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1546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EE5"/>
                </a:solidFill>
                <a:latin typeface="Aptos"/>
              </a:defRPr>
            </a:pPr>
            <a:r>
              <a:t>Records • tests • images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1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2633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1546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3643"/>
                </a:solidFill>
                <a:latin typeface="Aptos"/>
              </a:defRPr>
            </a:pPr>
            <a:r>
              <a:t>Databases • online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1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0096" y="2633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0096" y="31546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3643"/>
                </a:solidFill>
                <a:latin typeface="Aptos"/>
              </a:defRPr>
            </a:pPr>
            <a:r>
              <a:t>Clean • organise • combine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59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91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59" y="2633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59" y="31546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3643"/>
                </a:solidFill>
                <a:latin typeface="Aptos"/>
              </a:defRPr>
            </a:pPr>
            <a:r>
              <a:t>Statistics • Machine 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1824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C1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1824" y="2633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21824" y="31546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EE5"/>
                </a:solidFill>
                <a:latin typeface="Aptos"/>
              </a:defRPr>
            </a:pPr>
            <a:r>
              <a:t>Better healthcare decisions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093208"/>
            <a:ext cx="909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0243A"/>
                </a:solidFill>
                <a:latin typeface="Aptos"/>
              </a:defRPr>
            </a:pPr>
            <a:r>
              <a:t>VALUE = good data + good analysis + responsible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074920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64008" cy="114300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44768" y="1536192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44768" y="1536192"/>
            <a:ext cx="64008" cy="114300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953512"/>
            <a:ext cx="5074920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953512"/>
            <a:ext cx="64008" cy="114300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44768" y="2953512"/>
            <a:ext cx="5074920" cy="129235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953512"/>
            <a:ext cx="64008" cy="1143000"/>
          </a:xfrm>
          <a:prstGeom prst="rect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4370832"/>
            <a:ext cx="5074920" cy="1369568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370832"/>
            <a:ext cx="64008" cy="1143000"/>
          </a:xfrm>
          <a:prstGeom prst="rect">
            <a:avLst/>
          </a:prstGeom>
          <a:solidFill>
            <a:srgbClr val="3EC1CD"/>
          </a:solidFill>
          <a:ln>
            <a:solidFill>
              <a:srgbClr val="3EC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44768" y="4370832"/>
            <a:ext cx="5074920" cy="1450848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44768" y="4370832"/>
            <a:ext cx="64008" cy="1143000"/>
          </a:xfrm>
          <a:prstGeom prst="rect">
            <a:avLst/>
          </a:prstGeom>
          <a:solidFill>
            <a:srgbClr val="EE994A"/>
          </a:solidFill>
          <a:ln>
            <a:solidFill>
              <a:srgbClr val="EE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Key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792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Better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194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More information can support health workers and managers.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792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Earlier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Health risks can be noticed sooner.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2095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Personalised 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611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rPr dirty="0"/>
              <a:t>Patient information can help support suitable treatment.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095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Better hospital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11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Data can help with staff, waiting time, and supplies.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2686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Better public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029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Data can show health patterns in communities.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2686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0243A"/>
                </a:solidFill>
                <a:latin typeface="Aptos"/>
              </a:defRPr>
            </a:pPr>
            <a:r>
              <a:t>Medical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29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73643"/>
                </a:solidFill>
                <a:latin typeface="Aptos"/>
              </a:defRPr>
            </a:pPr>
            <a:r>
              <a:t>Large datasets can help researchers learn more about diseases.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73024"/>
            <a:ext cx="1572768" cy="733552"/>
          </a:xfrm>
          <a:prstGeom prst="roundRect">
            <a:avLst/>
          </a:prstGeom>
          <a:solidFill>
            <a:srgbClr val="1E4456"/>
          </a:solidFill>
          <a:ln>
            <a:solidFill>
              <a:srgbClr val="1E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3273552"/>
            <a:ext cx="2468880" cy="1463040"/>
          </a:xfrm>
          <a:prstGeom prst="roundRect">
            <a:avLst/>
          </a:prstGeom>
          <a:solidFill>
            <a:srgbClr val="1C3548"/>
          </a:solidFill>
          <a:ln>
            <a:solidFill>
              <a:srgbClr val="31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38727" y="3273552"/>
            <a:ext cx="2468880" cy="1463040"/>
          </a:xfrm>
          <a:prstGeom prst="roundRect">
            <a:avLst/>
          </a:prstGeom>
          <a:solidFill>
            <a:srgbClr val="1C3548"/>
          </a:solidFill>
          <a:ln>
            <a:solidFill>
              <a:srgbClr val="31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7648" y="3273552"/>
            <a:ext cx="2468880" cy="1463040"/>
          </a:xfrm>
          <a:prstGeom prst="roundRect">
            <a:avLst/>
          </a:prstGeom>
          <a:solidFill>
            <a:srgbClr val="1C3548"/>
          </a:solidFill>
          <a:ln>
            <a:solidFill>
              <a:srgbClr val="31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16567" y="3273552"/>
            <a:ext cx="2468880" cy="1463040"/>
          </a:xfrm>
          <a:prstGeom prst="roundRect">
            <a:avLst/>
          </a:prstGeom>
          <a:solidFill>
            <a:srgbClr val="1C3548"/>
          </a:solidFill>
          <a:ln>
            <a:solidFill>
              <a:srgbClr val="31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66496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rPr dirty="0"/>
              <a:t>THE BIG PICTURE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554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Big Data can help improve healthcare.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26771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3E5EB"/>
                </a:solidFill>
                <a:latin typeface="Aptos"/>
              </a:defRPr>
            </a:pPr>
            <a:r>
              <a:t>But technology alone is not enough.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47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Accurate and useful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7" y="3547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7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Skilled and responsible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47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Private and secure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7" y="3547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C1CD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7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Information → better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21808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DE0E7"/>
                </a:solidFill>
                <a:latin typeface="Aptos"/>
              </a:defRPr>
            </a:pPr>
            <a:r>
              <a:t>Good healthcare data needs good technology, good people, privacy, and human judgement.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928" y="1243584"/>
            <a:ext cx="11018520" cy="22860"/>
          </a:xfrm>
          <a:prstGeom prst="rect">
            <a:avLst/>
          </a:prstGeom>
          <a:solidFill>
            <a:srgbClr val="E0EAE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591056"/>
            <a:ext cx="411480" cy="41148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368296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2496312"/>
            <a:ext cx="411480" cy="41148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273552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3401568"/>
            <a:ext cx="411480" cy="41148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4178808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41832" y="4306824"/>
            <a:ext cx="411480" cy="41148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5084064"/>
            <a:ext cx="1069848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832" y="5212080"/>
            <a:ext cx="411480" cy="411480"/>
          </a:xfrm>
          <a:prstGeom prst="ellipse">
            <a:avLst/>
          </a:prstGeom>
          <a:solidFill>
            <a:srgbClr val="109191"/>
          </a:solidFill>
          <a:ln>
            <a:solidFill>
              <a:srgbClr val="1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47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919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256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43A"/>
                </a:solidFill>
                <a:latin typeface="Aptos"/>
              </a:defRPr>
            </a:pPr>
            <a:r>
              <a:t>Discussion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87884"/>
                </a:solidFill>
                <a:latin typeface="Aptos"/>
              </a:defRPr>
            </a:pPr>
            <a:r>
              <a:t>Let’s discuss the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8788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1600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1563624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73643"/>
                </a:solidFill>
                <a:latin typeface="Aptos"/>
              </a:defRPr>
            </a:pPr>
            <a:r>
              <a:t>How can Big Data help doctors find diseases or health risks earlier?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25054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2468879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73643"/>
                </a:solidFill>
                <a:latin typeface="Aptos"/>
              </a:defRPr>
            </a:pPr>
            <a:r>
              <a:t>What can happen if healthcare data is wrong or incomplete?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3410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3374136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73643"/>
                </a:solidFill>
                <a:latin typeface="Aptos"/>
              </a:defRPr>
            </a:pPr>
            <a:r>
              <a:t>How can hospitals protect patient information while still using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315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4279392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73643"/>
                </a:solidFill>
                <a:latin typeface="Aptos"/>
              </a:defRPr>
            </a:pPr>
            <a:r>
              <a:t>Should doctors always trust a computer prediction? Why or why not?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52212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5184648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73643"/>
                </a:solidFill>
                <a:latin typeface="Aptos"/>
              </a:defRPr>
            </a:pPr>
            <a:r>
              <a:t>Which use of Big Data would be most helpful in a Rwandan hospital, and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1689</Words>
  <Application>Microsoft Office PowerPoint</Application>
  <PresentationFormat>Widescreen</PresentationFormat>
  <Paragraphs>300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Big Data in Healthcare</dc:title>
  <dc:subject>Designed Big Data healthcare case study presentation</dc:subject>
  <dc:creator>ChatGPT</dc:creator>
  <cp:keywords/>
  <dc:description>generated using python-pptx</dc:description>
  <cp:lastModifiedBy>user</cp:lastModifiedBy>
  <cp:revision>13</cp:revision>
  <dcterms:created xsi:type="dcterms:W3CDTF">2013-01-27T09:14:16Z</dcterms:created>
  <dcterms:modified xsi:type="dcterms:W3CDTF">2026-10-05T12:28:35Z</dcterms:modified>
  <cp:category/>
</cp:coreProperties>
</file>