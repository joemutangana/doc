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2" r:id="rId7"/>
    <p:sldId id="260" r:id="rId8"/>
    <p:sldId id="261" r:id="rId9"/>
    <p:sldId id="263" r:id="rId10"/>
    <p:sldId id="264" r:id="rId11"/>
    <p:sldId id="267" r:id="rId12"/>
    <p:sldId id="265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ine text_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 </a:t>
            </a:r>
            <a:endParaRPr lang="en-US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mtClean="0"/>
              <a:t>01</a:t>
            </a:r>
            <a:endParaRPr lang="en-US" smtClean="0"/>
          </a:p>
        </p:txBody>
      </p:sp>
      <p:sp>
        <p:nvSpPr>
          <p:cNvPr id="9" name="Text Placeholder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 </a:t>
            </a:r>
            <a:endParaRPr 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mtClean="0"/>
              <a:t>02</a:t>
            </a:r>
            <a:endParaRPr 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 </a:t>
            </a:r>
            <a:endParaRPr 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mtClean="0"/>
              <a:t>03</a:t>
            </a:r>
            <a:endParaRPr 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column text_2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Item Title</a:t>
            </a:r>
            <a:endParaRPr 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 </a:t>
            </a:r>
            <a:endParaRPr lang="en-US" smtClean="0"/>
          </a:p>
        </p:txBody>
      </p:sp>
      <p:sp>
        <p:nvSpPr>
          <p:cNvPr id="9" name="Text Placeholder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Item Title</a:t>
            </a:r>
            <a:endParaRPr 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 </a:t>
            </a:r>
            <a:endParaRPr 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add text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image" Target="../media/image1.png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p>
            <a:r>
              <a:rPr lang="en-US" altLang="en-US" sz="4000">
                <a:cs typeface="+mj-lt"/>
              </a:rPr>
              <a:t>SENG 8323 Software Modeling  Design</a:t>
            </a:r>
            <a:endParaRPr lang="en-US" altLang="en-US" sz="4000"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658190"/>
            <a:ext cx="9799200" cy="1472400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p>
            <a:r>
              <a:rPr lang="en-US" i="1"/>
              <a:t>Lecturer: Placide RWEGO MUCYO </a:t>
            </a:r>
            <a:endParaRPr lang="en-US" i="1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blipFill rotWithShape="1">
            <a:blip r:embed="rId2"/>
            <a:tile tx="0" ty="0" sx="100000" sy="100000" flip="none" algn="tl"/>
          </a:blipFill>
        </p:spPr>
        <p:txBody>
          <a:bodyPr/>
          <a:p>
            <a:r>
              <a:rPr lang="en-US" b="1"/>
              <a:t>Topic 2 </a:t>
            </a:r>
            <a:r>
              <a:rPr lang="en-US" altLang="en-US" b="1"/>
              <a:t>Object-Oriented Modeling</a:t>
            </a:r>
            <a:endParaRPr lang="en-US" altLang="en-US" b="1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p>
            <a:pPr algn="just"/>
            <a:r>
              <a:rPr lang="en-US" altLang="en-US" sz="2400" b="1"/>
              <a:t>Object-Oriented Modeling (OOM)</a:t>
            </a:r>
            <a:r>
              <a:rPr lang="en-US" altLang="en-US" sz="2400"/>
              <a:t> is a software modeling approach that represents a system as a collection of </a:t>
            </a:r>
            <a:r>
              <a:rPr lang="en-US" altLang="en-US" sz="2400" b="1"/>
              <a:t>objects</a:t>
            </a:r>
            <a:r>
              <a:rPr lang="en-US" altLang="en-US" sz="2400"/>
              <a:t> that contain</a:t>
            </a:r>
            <a:r>
              <a:rPr lang="en-US" altLang="en-US" sz="2400" b="1"/>
              <a:t> data</a:t>
            </a:r>
            <a:r>
              <a:rPr lang="en-US" altLang="en-US" sz="2400"/>
              <a:t> (attributes) and </a:t>
            </a:r>
            <a:r>
              <a:rPr lang="en-US" altLang="en-US" sz="2400" b="1"/>
              <a:t>behavior</a:t>
            </a:r>
            <a:r>
              <a:rPr lang="en-US" altLang="en-US" sz="2400"/>
              <a:t> (methods/operations). </a:t>
            </a:r>
            <a:endParaRPr lang="en-US" altLang="en-US" sz="2400"/>
          </a:p>
          <a:p>
            <a:pPr algn="just"/>
            <a:r>
              <a:rPr lang="en-US" altLang="en-US" sz="2400"/>
              <a:t>It focuses on identifying the objects in a problem domain, their responsibilities, and the relationships between them.</a:t>
            </a:r>
            <a:endParaRPr lang="en-US" altLang="en-US" sz="2400"/>
          </a:p>
          <a:p>
            <a:pPr algn="just"/>
            <a:r>
              <a:rPr lang="en-US" altLang="en-US" sz="2400"/>
              <a:t>OOM is widely used during software analysis and design and is commonly represented using UML (Unified Modeling Language) diagrams</a:t>
            </a:r>
            <a:endParaRPr lang="en-US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Object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/>
              <a:t>An object is a specific entity in a system that has:</a:t>
            </a:r>
            <a:endParaRPr lang="en-US" altLang="en-US" sz="2400"/>
          </a:p>
          <a:p>
            <a:r>
              <a:rPr lang="en-US" altLang="en-US" sz="2400"/>
              <a:t>Identity – distinguishes it from other objects. </a:t>
            </a:r>
            <a:endParaRPr lang="en-US" altLang="en-US" sz="2400"/>
          </a:p>
          <a:p>
            <a:r>
              <a:rPr lang="en-US" altLang="en-US" sz="2400"/>
              <a:t>State – represented by its attributes. </a:t>
            </a:r>
            <a:endParaRPr lang="en-US" altLang="en-US" sz="2400"/>
          </a:p>
          <a:p>
            <a:r>
              <a:rPr lang="en-US" altLang="en-US" sz="2400"/>
              <a:t>Behavior – represented by its methods. </a:t>
            </a:r>
            <a:endParaRPr lang="en-US" altLang="en-US" sz="2400"/>
          </a:p>
          <a:p>
            <a:r>
              <a:rPr lang="en-US" altLang="en-US" sz="2400"/>
              <a:t>Example: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In a university system, Student can be an object.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400"/>
              <a:t>Student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----------------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StudentID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Name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Program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----------------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RegisterCourse()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ViewResults()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Methods/Operations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Methods describe what an object can do.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For example, a Student </a:t>
            </a:r>
            <a:r>
              <a:rPr lang="en-US" altLang="en-US" sz="2400" b="1"/>
              <a:t>may</a:t>
            </a:r>
            <a:r>
              <a:rPr lang="en-US" altLang="en-US" sz="2400"/>
              <a:t>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</a:t>
            </a:r>
            <a:r>
              <a:rPr lang="en-US" altLang="en-US" sz="2400" b="1"/>
              <a:t>Register for a course 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 b="1"/>
              <a:t>Drop a course 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 b="1"/>
              <a:t>View results 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 b="1"/>
              <a:t>Update profile</a:t>
            </a:r>
            <a:r>
              <a:rPr lang="en-US" altLang="en-US" sz="2400"/>
              <a:t> 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Class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68275" y="1313180"/>
            <a:ext cx="11682730" cy="5544820"/>
          </a:xfrm>
        </p:spPr>
        <p:txBody>
          <a:bodyPr>
            <a:noAutofit/>
          </a:bodyPr>
          <a:p>
            <a:r>
              <a:rPr lang="en-US" altLang="en-US" sz="2200"/>
              <a:t>A class is a blueprint or template from which objects are created.</a:t>
            </a:r>
            <a:endParaRPr lang="en-US" altLang="en-US" sz="2200"/>
          </a:p>
          <a:p>
            <a:r>
              <a:rPr lang="en-US" altLang="en-US" sz="2200"/>
              <a:t>For example:</a:t>
            </a:r>
            <a:endParaRPr lang="en-US" altLang="en-US" sz="2200"/>
          </a:p>
          <a:p>
            <a:r>
              <a:rPr lang="en-US" altLang="en-US" sz="2200"/>
              <a:t>Class: Student</a:t>
            </a:r>
            <a:endParaRPr lang="en-US" altLang="en-US" sz="2200"/>
          </a:p>
          <a:p>
            <a:r>
              <a:rPr lang="en-US" altLang="en-US" sz="2200" b="1"/>
              <a:t>Attributes:</a:t>
            </a:r>
            <a:endParaRPr lang="en-US" altLang="en-US" sz="2200" b="1"/>
          </a:p>
          <a:p>
            <a:r>
              <a:rPr lang="en-US" altLang="en-US" sz="2200"/>
              <a:t>- studentID</a:t>
            </a:r>
            <a:endParaRPr lang="en-US" altLang="en-US" sz="2200"/>
          </a:p>
          <a:p>
            <a:r>
              <a:rPr lang="en-US" altLang="en-US" sz="2200"/>
              <a:t>- name</a:t>
            </a:r>
            <a:endParaRPr lang="en-US" altLang="en-US" sz="2200"/>
          </a:p>
          <a:p>
            <a:r>
              <a:rPr lang="en-US" altLang="en-US" sz="2200"/>
              <a:t>- program</a:t>
            </a:r>
            <a:endParaRPr lang="en-US" altLang="en-US" sz="2200"/>
          </a:p>
          <a:p>
            <a:r>
              <a:rPr lang="en-US" altLang="en-US" sz="2200" b="1"/>
              <a:t>Methods:</a:t>
            </a:r>
            <a:endParaRPr lang="en-US" altLang="en-US" sz="2200" b="1"/>
          </a:p>
          <a:p>
            <a:r>
              <a:rPr lang="en-US" altLang="en-US" sz="2200"/>
              <a:t>- registerCourse()</a:t>
            </a:r>
            <a:endParaRPr lang="en-US" altLang="en-US" sz="2200"/>
          </a:p>
          <a:p>
            <a:r>
              <a:rPr lang="en-US" altLang="en-US" sz="2200"/>
              <a:t>- viewResults()</a:t>
            </a:r>
            <a:endParaRPr lang="en-US" altLang="en-US" sz="2200"/>
          </a:p>
          <a:p>
            <a:endParaRPr lang="en-US" altLang="en-US" sz="22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Attributes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Attributes describe the properties or characteristics of an object.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For a Student class:</a:t>
            </a:r>
            <a:endParaRPr lang="en-US" altLang="en-US" sz="2400"/>
          </a:p>
          <a:p>
            <a:r>
              <a:rPr lang="en-US" altLang="en-US" sz="2400"/>
              <a:t></a:t>
            </a:r>
            <a:r>
              <a:rPr lang="en-US" altLang="en-US" sz="2400" b="1"/>
              <a:t>Student ID </a:t>
            </a:r>
            <a:endParaRPr lang="en-US" altLang="en-US" sz="2400" b="1"/>
          </a:p>
          <a:p>
            <a:r>
              <a:rPr lang="en-US" altLang="en-US" sz="2400" b="1"/>
              <a:t>Name </a:t>
            </a:r>
            <a:endParaRPr lang="en-US" altLang="en-US" sz="2400" b="1"/>
          </a:p>
          <a:p>
            <a:r>
              <a:rPr lang="en-US" altLang="en-US" sz="2400" b="1"/>
              <a:t>Date of birth </a:t>
            </a:r>
            <a:endParaRPr lang="en-US" altLang="en-US" sz="2400" b="1"/>
          </a:p>
          <a:p>
            <a:r>
              <a:rPr lang="en-US" altLang="en-US" sz="2400" b="1"/>
              <a:t>Email </a:t>
            </a:r>
            <a:endParaRPr lang="en-US" altLang="en-US" sz="2400" b="1"/>
          </a:p>
          <a:p>
            <a:r>
              <a:rPr lang="en-US" altLang="en-US" sz="2400" b="1"/>
              <a:t>   Programme</a:t>
            </a:r>
            <a:endParaRPr lang="en-US" altLang="en-US" sz="2400" b="1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/>
              <a:t>Principles of Object-Oriented Modeling</a:t>
            </a:r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38163" y="1269365"/>
            <a:ext cx="5334000" cy="406400"/>
          </a:xfrm>
        </p:spPr>
        <p:txBody>
          <a:bodyPr>
            <a:noAutofit/>
          </a:bodyPr>
          <a:p>
            <a:r>
              <a:rPr lang="en-US" altLang="en-US" b="1"/>
              <a:t>Encapsulation</a:t>
            </a:r>
            <a:endParaRPr lang="en-US" altLang="en-US" b="1"/>
          </a:p>
        </p:txBody>
      </p:sp>
      <p:sp>
        <p:nvSpPr>
          <p:cNvPr id="5" name="装饰  7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44843" y="2086610"/>
            <a:ext cx="5334000" cy="4165600"/>
          </a:xfrm>
        </p:spPr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348298" y="1268730"/>
            <a:ext cx="5523865" cy="4424680"/>
          </a:xfrm>
        </p:spPr>
        <p:txBody>
          <a:bodyPr>
            <a:noAutofit/>
          </a:bodyPr>
          <a:p>
            <a:endParaRPr lang="en-US" altLang="en-US" sz="2000"/>
          </a:p>
          <a:p>
            <a:r>
              <a:rPr lang="en-US" altLang="en-US" sz="2000"/>
              <a:t>Encapsulation combines data and the operations that manipulate that data into one unit, usually a class.</a:t>
            </a:r>
            <a:endParaRPr lang="en-US" altLang="en-US" sz="2000"/>
          </a:p>
          <a:p>
            <a:r>
              <a:rPr lang="en-US" altLang="en-US" sz="2000"/>
              <a:t>It also restricts direct access to some internal details.</a:t>
            </a:r>
            <a:endParaRPr lang="en-US" altLang="en-US" sz="2000"/>
          </a:p>
          <a:p>
            <a:r>
              <a:rPr lang="en-US" altLang="en-US" sz="2000"/>
              <a:t>Student</a:t>
            </a:r>
            <a:endParaRPr lang="en-US" altLang="en-US" sz="2000"/>
          </a:p>
          <a:p>
            <a:r>
              <a:rPr lang="en-US" altLang="en-US" sz="2000"/>
              <a:t>--------------------</a:t>
            </a:r>
            <a:endParaRPr lang="en-US" altLang="en-US" sz="2000"/>
          </a:p>
          <a:p>
            <a:r>
              <a:rPr lang="en-US" altLang="en-US" sz="2000"/>
              <a:t>- studentID</a:t>
            </a:r>
            <a:endParaRPr lang="en-US" altLang="en-US" sz="2000"/>
          </a:p>
          <a:p>
            <a:r>
              <a:rPr lang="en-US" altLang="en-US" sz="2000"/>
              <a:t>- name</a:t>
            </a:r>
            <a:endParaRPr lang="en-US" altLang="en-US" sz="2000"/>
          </a:p>
          <a:p>
            <a:r>
              <a:rPr lang="en-US" altLang="en-US" sz="2000"/>
              <a:t>--------------------</a:t>
            </a:r>
            <a:endParaRPr lang="en-US" altLang="en-US" sz="2000"/>
          </a:p>
          <a:p>
            <a:r>
              <a:rPr lang="en-US" altLang="en-US" sz="2000"/>
              <a:t>+ registerCourse()</a:t>
            </a:r>
            <a:endParaRPr lang="en-US" altLang="en-US" sz="2000"/>
          </a:p>
          <a:p>
            <a:r>
              <a:rPr lang="en-US" altLang="en-US" sz="2000"/>
              <a:t>+ viewResults()</a:t>
            </a:r>
            <a:endParaRPr lang="en-US" altLang="en-US" sz="2000"/>
          </a:p>
          <a:p>
            <a:r>
              <a:rPr lang="en-US" altLang="en-US" sz="2000"/>
              <a:t>- indicates private, while + indicates public.</a:t>
            </a:r>
            <a:endParaRPr lang="en-US" altLang="en-US" sz="2000"/>
          </a:p>
        </p:txBody>
      </p:sp>
      <p:sp>
        <p:nvSpPr>
          <p:cNvPr id="7" name="Text Placeholder 6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6283643" y="1527810"/>
            <a:ext cx="5334000" cy="406400"/>
          </a:xfrm>
        </p:spPr>
        <p:txBody>
          <a:bodyPr>
            <a:noAutofit/>
          </a:bodyPr>
          <a:p>
            <a:r>
              <a:rPr lang="en-US" altLang="en-US" b="1"/>
              <a:t>Abstraction</a:t>
            </a:r>
            <a:endParaRPr lang="en-US" altLang="en-US" b="1"/>
          </a:p>
        </p:txBody>
      </p:sp>
      <p:sp>
        <p:nvSpPr>
          <p:cNvPr id="8" name="装饰  0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>
          <a:xfrm>
            <a:off x="6283643" y="2086610"/>
            <a:ext cx="5334000" cy="4165600"/>
          </a:xfrm>
        </p:spPr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44628" y="2086610"/>
            <a:ext cx="5196205" cy="3606800"/>
          </a:xfrm>
        </p:spPr>
        <p:txBody>
          <a:bodyPr>
            <a:noAutofit/>
          </a:bodyPr>
          <a:p>
            <a:r>
              <a:rPr lang="en-US" altLang="en-US" sz="2200"/>
              <a:t>Abstraction focuses on the important characteristics of an object while hiding unnecessary implementation details.</a:t>
            </a:r>
            <a:endParaRPr lang="en-US" altLang="en-US" sz="2200"/>
          </a:p>
          <a:p>
            <a:r>
              <a:rPr lang="en-US" altLang="en-US" sz="2200"/>
              <a:t>For example, when using an ATM, a customer sees:</a:t>
            </a:r>
            <a:endParaRPr lang="en-US" altLang="en-US" sz="2200"/>
          </a:p>
          <a:p>
            <a:r>
              <a:rPr lang="en-US" altLang="en-US" sz="2200" b="1"/>
              <a:t>Withdraw Money → Enter PIN → Receive Cash</a:t>
            </a:r>
            <a:endParaRPr lang="en-US" altLang="en-US" sz="2200" b="1"/>
          </a:p>
          <a:p>
            <a:r>
              <a:rPr lang="en-US" altLang="en-US" sz="2200"/>
              <a:t>The customer does not need to know the internal banking software operations.</a:t>
            </a:r>
            <a:endParaRPr lang="en-US" altLang="en-US" sz="2200"/>
          </a:p>
          <a:p>
            <a:r>
              <a:rPr lang="en-US" altLang="en-US" sz="2200"/>
              <a:t>Inheritance</a:t>
            </a:r>
            <a:endParaRPr lang="en-US" altLang="en-US" sz="2200"/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Inheritance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5455" y="1313815"/>
            <a:ext cx="11254740" cy="493585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Inheritance allows one class to acquire attributes and behaviors from another class.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    Person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      |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----------------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|              |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Student        Lecturer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Student and Lecturer inherit common characteristics from Person.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ym typeface="+mn-ea"/>
              </a:rPr>
              <a:t>Composition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29540" y="1122680"/>
            <a:ext cx="11824335" cy="57359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/>
              <a:t>A stronger whole-part relationship where the part depends on the whole.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House ◆-------- Room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A room is considered part of a particular house.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Generalization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Represents inheritance.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Vehicle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    </a:t>
            </a:r>
            <a:r>
              <a:rPr lang="en-US" altLang="en-US" sz="2000" b="1"/>
              <a:t> ▲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 b="1"/>
              <a:t>           |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 b="1"/>
              <a:t>     -------------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 b="1"/>
              <a:t>      |           |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 b="1"/>
              <a:t>    Car         Bus</a:t>
            </a:r>
            <a:endParaRPr lang="en-US" altLang="en-US" sz="2000" b="1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Polymorphism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16840" y="1314450"/>
            <a:ext cx="11460480" cy="4935220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Polymorphism allows the same operation to behave differently for different objects.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For example: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  calculateSalary()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/>
              <a:t>  may work differently for: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</a:t>
            </a:r>
            <a:r>
              <a:rPr lang="en-US" altLang="en-US" sz="2400" b="1"/>
              <a:t>PermanentEmployee 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 b="1"/>
              <a:t>ContractEmployee 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 b="1"/>
              <a:t>   PartTimeEmployee</a:t>
            </a:r>
            <a:endParaRPr lang="en-US" altLang="en-US" sz="2400" b="1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 Relationships Between Objects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21285" y="1314450"/>
            <a:ext cx="11876405" cy="537337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200"/>
              <a:t>Object-oriented models describe how classes and objects interact.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400" b="1"/>
              <a:t>Association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200"/>
              <a:t>A general relationship between two classes.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Student -------- Course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A student enrolls in a course.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400" b="1"/>
              <a:t>Aggregation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200"/>
              <a:t>Represents a whole-part relationship where the parts can exist independently.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Department ◇-------- Lecturer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A lecturer can exist even if the department is removed.</a:t>
            </a:r>
            <a:endParaRPr lang="en-US" altLang="en-US" sz="22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Object-Oriented Modeling Process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93065" y="1459865"/>
            <a:ext cx="11342370" cy="51390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200"/>
              <a:t>A typical process involves: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1. Identify requirements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Understand what the system must accomplish.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2. Identify actors and use cases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Determine who interacts with the system and what they need to do.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3. Identify candidate classes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Find important nouns/entities in the problem domain.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4. Define attributes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Determine the data associated with each class.</a:t>
            </a:r>
            <a:endParaRPr lang="en-US" altLang="en-US" sz="220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ym typeface="+mn-ea"/>
              </a:rPr>
              <a:t>Object-Oriented Modeling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16255" y="1429385"/>
            <a:ext cx="10893425" cy="5258435"/>
          </a:xfrm>
        </p:spPr>
        <p:txBody>
          <a:bodyPr/>
          <a:p>
            <a:pPr marL="0" indent="0">
              <a:buNone/>
            </a:pPr>
            <a:r>
              <a:rPr lang="en-US" altLang="en-US" sz="2200" b="1"/>
              <a:t>5. Define methods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Determine the behavior/responsibilities of each class.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6. Identify relationships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Determine associations, inheritance, aggregation, and composition.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7. Create UML diagrams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Represent the system visually.</a:t>
            </a:r>
            <a:endParaRPr lang="en-US" altLang="en-US" sz="2200"/>
          </a:p>
          <a:p>
            <a:pPr marL="0" indent="0">
              <a:buNone/>
            </a:pPr>
            <a:r>
              <a:rPr lang="en-US" altLang="en-US" sz="2200" b="1"/>
              <a:t>8. Validate and refine the model</a:t>
            </a:r>
            <a:endParaRPr lang="en-US" altLang="en-US" sz="2200" b="1"/>
          </a:p>
          <a:p>
            <a:pPr marL="0" indent="0">
              <a:buNone/>
            </a:pPr>
            <a:r>
              <a:rPr lang="en-US" altLang="en-US" sz="2200"/>
              <a:t>Check whether the model correctly represents the requirements.</a:t>
            </a:r>
            <a:endParaRPr lang="en-US" altLang="en-US" sz="22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39eda4737f8c7cad1be20e876bad0c88c6adf60"/>
  <p:tag name="KSO_WM_NEWLAYOUT_ID" val="slide_a81418525f254632"/>
</p:tagLst>
</file>

<file path=ppt/tags/tag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2370aea2dd2d07adbb7d296af6f621994467f0"/>
  <p:tag name="KSO_WM_NEWLAYOUT_ID" val="slide_21d876bcd5574ab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29"/>
  <p:tag name="KSO_WM_TEMPLATE_MASTER_TYPE" val="0"/>
  <p:tag name="KSO_WM_TEMPLATE_COLOR_TYPE" val="1"/>
  <p:tag name="KSO_WM_SLIDE_TYPE" val="text"/>
  <p:tag name="KSO_WM_SLIDE_SUBTYPE" val="defaultBlank"/>
  <p:tag name="KSO_WM_SLIDE_ITEM_CNT" val="3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CONTENT_ORIENTATION" val=""/>
  <p:tag name="KSO_WM_SLIDE_HAS_MASK" val="0"/>
  <p:tag name="KSO_WM_TEMPLATE_SLIDE_ID" val="slide_a81418525f254632"/>
  <p:tag name="KSO_WM_AICARD_INVALID" val="Invalid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b92370aea2dd2d07adbb7d296af6f621994467f0"/>
  <p:tag name="KSO_WM_NEWLAYOUT_ID" val="slide_21d876bcd5574ab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TEMPLATE_SLIDE_ID" val="slide_21d876bcd5574aba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Presentation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SENG 8323 Software Modeling  Design</vt:lpstr>
      <vt:lpstr>Topic 2 Object-Oriented Modeling</vt:lpstr>
      <vt:lpstr>Object</vt:lpstr>
      <vt:lpstr>PowerPoint 演示文稿</vt:lpstr>
      <vt:lpstr>Methods/Operations</vt:lpstr>
      <vt:lpstr>Class</vt:lpstr>
      <vt:lpstr>Attributes</vt:lpstr>
      <vt:lpstr>Principles of Object-Oriented Modeling</vt:lpstr>
      <vt:lpstr>Inheritance</vt:lpstr>
      <vt:lpstr>Composition</vt:lpstr>
      <vt:lpstr>Polymorphism</vt:lpstr>
      <vt:lpstr> Relationships Between Objects</vt:lpstr>
      <vt:lpstr>Object-Oriented Modeling Process</vt:lpstr>
      <vt:lpstr>Object-Oriented Modeling Process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SENG 8323 Software Modeling  Design</dc:title>
  <dc:creator/>
  <cp:lastModifiedBy>Administrator</cp:lastModifiedBy>
  <cp:revision>6</cp:revision>
  <dcterms:created xsi:type="dcterms:W3CDTF">2026-09-01T10:16:00Z</dcterms:created>
  <dcterms:modified xsi:type="dcterms:W3CDTF">2026-09-08T09:20:37Z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5B97D98B3B29431892E6670CE938E3F7_12</vt:lpwstr>
  </property>
</Properties>
</file>