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5349240"/>
            <a:ext cx="594360" cy="594360"/>
          </a:xfrm>
          <a:prstGeom prst="round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29800" y="5349240"/>
            <a:ext cx="594360" cy="594360"/>
          </a:xfrm>
          <a:prstGeom prst="round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07040" y="5349240"/>
            <a:ext cx="594360" cy="594360"/>
          </a:xfrm>
          <a:prstGeom prst="roundRect">
            <a:avLst/>
          </a:prstGeom>
          <a:solidFill>
            <a:srgbClr val="E1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PL/SQL Control Flow</a:t>
            </a:r>
          </a:p>
          <a:p>
            <a:pPr>
              <a:spcBef>
                <a:spcPts val="1200"/>
              </a:spcBef>
              <a:defRPr sz="2400">
                <a:solidFill>
                  <a:srgbClr val="35ACB8"/>
                </a:solidFill>
              </a:defRPr>
            </a:pPr>
            <a:r>
              <a:t>Nested Loops • Cursors • FOR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6324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2DCE8"/>
                </a:solidFill>
              </a:defRPr>
            </a:pPr>
            <a:r>
              <a:t>A practical, table-focused guide</a:t>
            </a:r>
          </a:p>
          <a:p>
            <a:pPr>
              <a:defRPr sz="1300">
                <a:solidFill>
                  <a:srgbClr val="A5B4C6"/>
                </a:solidFill>
              </a:defRPr>
            </a:pPr>
            <a:r>
              <a:t>Simple ideas → simple examples → how the rows actually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D7E1"/>
                </a:solidFill>
              </a:defRPr>
            </a:pPr>
            <a:r>
              <a:t>PL/SQL • Loops &amp; Cursors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The three ideas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They solve different parts of the same PL/SQL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25196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1  FOR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175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Repeat a block a known number of times.</a:t>
            </a: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Think: “Do this for 1, 2, 3, …”</a:t>
            </a: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Useful for generating output, processing a range, or iterating through query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4251960"/>
          </a:xfrm>
          <a:prstGeom prst="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2  CURSOR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84248"/>
            <a:ext cx="30175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Work through rows returned by a query, one row at a time.</a:t>
            </a: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Think: “Give me each row so I can process it.”</a:t>
            </a: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Useful when each row needs PL/SQL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64008" cy="4251960"/>
          </a:xfrm>
          <a:prstGeom prst="rect">
            <a:avLst/>
          </a:prstGeom>
          <a:solidFill>
            <a:srgbClr val="E1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3  NESTED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84248"/>
            <a:ext cx="30175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Put one loop inside another loop.</a:t>
            </a: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Think: “For every item outside, repeat all items inside.”</a:t>
            </a: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A34"/>
                </a:solidFill>
              </a:defRPr>
            </a:pPr>
            <a:r>
              <a:t>Useful for combinations, comparisons, or grouped 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1. 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The loop variable is created automatically and changes each iteration.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20640" cy="3383280"/>
          </a:xfrm>
          <a:prstGeom prst="roundRect">
            <a:avLst/>
          </a:prstGeom>
          <a:solidFill>
            <a:srgbClr val="141F30"/>
          </a:solidFill>
          <a:ln>
            <a:solidFill>
              <a:srgbClr val="2D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35607"/>
            <a:ext cx="4754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ACB8"/>
                </a:solidFill>
              </a:defRPr>
            </a:pPr>
            <a:r>
              <a:t>Basic 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4736592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BEGIN</a:t>
            </a:r>
            <a:br/>
            <a:r>
              <a:t>  FOR i IN 1..5 LOOP</a:t>
            </a:r>
            <a:br/>
            <a:r>
              <a:t>    DBMS_OUTPUT.PUT_LINE(</a:t>
            </a:r>
            <a:br/>
            <a:r>
              <a:t>      'Number: ' || i</a:t>
            </a:r>
            <a:br/>
            <a:r>
              <a:t>    );</a:t>
            </a:r>
            <a:br/>
            <a:r>
              <a:t>  END LOOP;</a:t>
            </a:r>
            <a:br/>
            <a:r>
              <a:t>END;</a:t>
            </a:r>
            <a:br/>
            <a:r>
              <a:t>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325880"/>
            <a:ext cx="64008" cy="141732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9047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8424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4"/>
                </a:solidFill>
              </a:defRPr>
            </a:pPr>
            <a:r>
              <a:t>PL/SQL starts at 1 → runs the body → increases i → stops after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9260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2926080"/>
            <a:ext cx="64008" cy="1417320"/>
          </a:xfrm>
          <a:prstGeom prst="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09067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Important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8444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4"/>
                </a:solidFill>
              </a:defRPr>
            </a:pPr>
            <a:r>
              <a:t>You do NOT declare i separately. A FOR-loop counter is local to the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45262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526280"/>
            <a:ext cx="64008" cy="1417320"/>
          </a:xfrm>
          <a:prstGeom prst="rect">
            <a:avLst/>
          </a:prstGeom>
          <a:solidFill>
            <a:srgbClr val="E1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69087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18464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4"/>
                </a:solidFill>
              </a:defRPr>
            </a:pPr>
            <a:r>
              <a:t>Use 1..5 for upward counting. Use REVERSE 1..5 for 5 → 4 → 3 → 2 →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2.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A cursor lets PL/SQL process a query result row by row.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4663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Brian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Clara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David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2A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0" y="1371600"/>
            <a:ext cx="5669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371600"/>
            <a:ext cx="64008" cy="1325880"/>
          </a:xfrm>
          <a:prstGeom prst="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53619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029967"/>
            <a:ext cx="5257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4"/>
                </a:solidFill>
              </a:defRPr>
            </a:pPr>
            <a:r>
              <a:t>A SELECT can return many rows. PL/SQL often needs to perform an action for EACH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880360"/>
            <a:ext cx="5669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2880360"/>
            <a:ext cx="64008" cy="132588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04495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The cursor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538728"/>
            <a:ext cx="5257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4"/>
                </a:solidFill>
              </a:defRPr>
            </a:pPr>
            <a:r>
              <a:t>The cursor acts like a controlled path through the result: first row → next row → next row →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389120"/>
            <a:ext cx="5669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4389120"/>
            <a:ext cx="64008" cy="1325880"/>
          </a:xfrm>
          <a:prstGeom prst="rect">
            <a:avLst/>
          </a:prstGeom>
          <a:solidFill>
            <a:srgbClr val="E1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4553712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Mental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5047488"/>
            <a:ext cx="5257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4"/>
                </a:solidFill>
              </a:defRPr>
            </a:pPr>
            <a:r>
              <a:t>Query = the rows. Cursor = the mechanism for moving through those rows.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Explicit cursor: the classic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DECLARE → OPEN → FETCH → repeat → CLOSE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669280" cy="4343400"/>
          </a:xfrm>
          <a:prstGeom prst="roundRect">
            <a:avLst/>
          </a:prstGeom>
          <a:solidFill>
            <a:srgbClr val="141F30"/>
          </a:solidFill>
          <a:ln>
            <a:solidFill>
              <a:srgbClr val="2D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35607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ACB8"/>
                </a:solidFill>
              </a:defRPr>
            </a:pPr>
            <a:r>
              <a:t>Explicit cursor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5285232" cy="3794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Consolas"/>
              </a:defRPr>
            </a:pPr>
            <a:r>
              <a:t>DECLARE</a:t>
            </a:r>
            <a:br/>
            <a:r>
              <a:t>  CURSOR c_emp IS</a:t>
            </a:r>
            <a:br/>
            <a:r>
              <a:t>    SELECT employee_id, name</a:t>
            </a:r>
            <a:br/>
            <a:r>
              <a:t>    FROM employees;</a:t>
            </a:r>
            <a:br/>
            <a:br/>
            <a:r>
              <a:t>  v_id   employees.employee_id%TYPE;</a:t>
            </a:r>
            <a:br/>
            <a:r>
              <a:t>  v_name employees.name%TYPE;</a:t>
            </a:r>
            <a:br/>
            <a:r>
              <a:t>BEGIN</a:t>
            </a:r>
            <a:br/>
            <a:r>
              <a:t>  OPEN c_emp;</a:t>
            </a:r>
            <a:br/>
            <a:br/>
            <a:r>
              <a:t>  LOOP</a:t>
            </a:r>
            <a:br/>
            <a:r>
              <a:t>    FETCH c_emp INTO v_id, v_name;</a:t>
            </a:r>
            <a:br/>
            <a:r>
              <a:t>    EXIT WHEN c_emp%NOTFOUND;</a:t>
            </a:r>
            <a:br/>
            <a:br/>
            <a:r>
              <a:t>    DBMS_OUTPUT.PUT_LINE(</a:t>
            </a:r>
            <a:br/>
            <a:r>
              <a:t>      v_id || ' - ' || v_name</a:t>
            </a:r>
            <a:br/>
            <a:r>
              <a:t>    );</a:t>
            </a:r>
            <a:br/>
            <a:r>
              <a:t>  END LOOP;</a:t>
            </a:r>
            <a:br/>
            <a:br/>
            <a:r>
              <a:t>  CLOSE c_emp;</a:t>
            </a:r>
            <a:br/>
            <a:r>
              <a:t>END;</a:t>
            </a:r>
            <a:br/>
            <a:r>
              <a:t>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2588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325880"/>
            <a:ext cx="64008" cy="105156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490472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84248"/>
            <a:ext cx="448055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A34"/>
                </a:solidFill>
              </a:defRPr>
            </a:pPr>
            <a:r>
              <a:t>Start the cursor and prepare the result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56032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560320"/>
            <a:ext cx="64008" cy="1051560"/>
          </a:xfrm>
          <a:prstGeom prst="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724912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218687"/>
            <a:ext cx="448055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A34"/>
                </a:solidFill>
              </a:defRPr>
            </a:pPr>
            <a:r>
              <a:t>Move to the next row and place its values into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79476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794760"/>
            <a:ext cx="64008" cy="1051560"/>
          </a:xfrm>
          <a:prstGeom prst="rect">
            <a:avLst/>
          </a:prstGeom>
          <a:solidFill>
            <a:srgbClr val="E1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959352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%NOTFOUND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453128"/>
            <a:ext cx="448055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A34"/>
                </a:solidFill>
              </a:defRPr>
            </a:pPr>
            <a:r>
              <a:t>Becomes TRUE when there is no row left to fetch.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29200"/>
            <a:ext cx="4892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5029200"/>
            <a:ext cx="64008" cy="868680"/>
          </a:xfrm>
          <a:prstGeom prst="rect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193792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687568"/>
            <a:ext cx="4480559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A34"/>
                </a:solidFill>
              </a:defRPr>
            </a:pPr>
            <a:r>
              <a:t>Release the cursor after 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Cursor FOR LOOP: the shortcut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For query results, PL/SQL can manage the cursor steps for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715000" cy="3886200"/>
          </a:xfrm>
          <a:prstGeom prst="roundRect">
            <a:avLst/>
          </a:prstGeom>
          <a:solidFill>
            <a:srgbClr val="141F30"/>
          </a:solidFill>
          <a:ln>
            <a:solidFill>
              <a:srgbClr val="2D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81328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ACB8"/>
                </a:solidFill>
              </a:defRPr>
            </a:pPr>
            <a:r>
              <a:t>Cursor FOR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533095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BEGIN</a:t>
            </a:r>
            <a:br/>
            <a:r>
              <a:t>  FOR emp IN (</a:t>
            </a:r>
            <a:br/>
            <a:r>
              <a:t>    SELECT employee_id, name, salary</a:t>
            </a:r>
            <a:br/>
            <a:r>
              <a:t>    FROM employees</a:t>
            </a:r>
            <a:br/>
            <a:r>
              <a:t>  ) LOOP</a:t>
            </a:r>
            <a:br/>
            <a:br/>
            <a:r>
              <a:t>    DBMS_OUTPUT.PUT_LINE(</a:t>
            </a:r>
            <a:br/>
            <a:r>
              <a:t>      emp.name || ' earns ' ||</a:t>
            </a:r>
            <a:br/>
            <a:r>
              <a:t>      emp.salary</a:t>
            </a:r>
            <a:br/>
            <a:r>
              <a:t>    );</a:t>
            </a:r>
            <a:br/>
            <a:br/>
            <a:r>
              <a:t>  END LOOP;</a:t>
            </a:r>
            <a:br/>
            <a:r>
              <a:t>END;</a:t>
            </a:r>
            <a:br/>
            <a:r>
              <a:t>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37160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371600"/>
            <a:ext cx="64008" cy="1234440"/>
          </a:xfrm>
          <a:prstGeom prst="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3619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No OPEN / FETCH /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2996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PL/SQL handles those cursor operations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78892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2788920"/>
            <a:ext cx="64008" cy="123444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95351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emp is a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44728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emp contains the columns from the current row: emp.employee_id, emp.name, emp.salary.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20624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4206240"/>
            <a:ext cx="64008" cy="1234440"/>
          </a:xfrm>
          <a:prstGeom prst="rect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370831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Great for table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6460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When your goal is simply “process every row from this SELECT,” this form is clean and readable.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3. NESTED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One loop lives inside another. The inner loop completes for every outer iteration.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486400" cy="3886200"/>
          </a:xfrm>
          <a:prstGeom prst="roundRect">
            <a:avLst/>
          </a:prstGeom>
          <a:solidFill>
            <a:srgbClr val="141F30"/>
          </a:solidFill>
          <a:ln>
            <a:solidFill>
              <a:srgbClr val="2D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8132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ACB8"/>
                </a:solidFill>
              </a:defRPr>
            </a:pPr>
            <a:r>
              <a:t>Simple nested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510235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BEGIN</a:t>
            </a:r>
            <a:br/>
            <a:r>
              <a:t>  FOR dept IN 1..3 LOOP</a:t>
            </a:r>
            <a:br/>
            <a:br/>
            <a:r>
              <a:t>    FOR emp IN 1..2 LOOP</a:t>
            </a:r>
            <a:br/>
            <a:r>
              <a:t>      DBMS_OUTPUT.PUT_LINE(</a:t>
            </a:r>
            <a:br/>
            <a:r>
              <a:t>        'Dept ' || dept ||</a:t>
            </a:r>
            <a:br/>
            <a:r>
              <a:t>        ' - Employee ' || emp</a:t>
            </a:r>
            <a:br/>
            <a:r>
              <a:t>      );</a:t>
            </a:r>
            <a:br/>
            <a:r>
              <a:t>    END LOOP;</a:t>
            </a:r>
            <a:br/>
            <a:br/>
            <a:r>
              <a:t>  END LOOP;</a:t>
            </a:r>
            <a:br/>
            <a:r>
              <a:t>END;</a:t>
            </a:r>
            <a:br/>
            <a:r>
              <a:t>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64008" cy="1188720"/>
          </a:xfrm>
          <a:prstGeom prst="rect">
            <a:avLst/>
          </a:prstGeom>
          <a:solidFill>
            <a:srgbClr val="E1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3619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Execution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29967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Dept 1 → Emp 1, Emp 2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Dept 2 → Emp 1, Emp 2</a:t>
            </a:r>
          </a:p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Dept 3 → Emp 1, Emp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029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788920"/>
            <a:ext cx="64008" cy="118872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95351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Key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47287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If the outer loop runs 3 times and the inner loop runs 2 times, the inner body runs 3 × 2 = 6 times.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06240"/>
            <a:ext cx="5029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206240"/>
            <a:ext cx="64008" cy="1188720"/>
          </a:xfrm>
          <a:prstGeom prst="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370831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Mental 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64607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A34"/>
                </a:solidFill>
              </a:defRPr>
            </a:pPr>
            <a:r>
              <a:t>Outer = “which group?”  •  Inner = “which item in that group?”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Nested loops +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A common pattern: compare or process employees within departments.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4572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720090"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DEPT_ID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DEPT_NAME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A3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A34"/>
                          </a:solidFill>
                        </a:defRPr>
                      </a:pPr>
                      <a: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A34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A34"/>
                          </a:solidFill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A34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32A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434840"/>
          <a:ext cx="4572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0861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EMP_ID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DEPT_ID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Brian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Clara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2A34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532120" y="1325880"/>
            <a:ext cx="5897880" cy="4343400"/>
          </a:xfrm>
          <a:prstGeom prst="roundRect">
            <a:avLst/>
          </a:prstGeom>
          <a:solidFill>
            <a:srgbClr val="141F30"/>
          </a:solidFill>
          <a:ln>
            <a:solidFill>
              <a:srgbClr val="2D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33288" y="1435607"/>
            <a:ext cx="553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5ACB8"/>
                </a:solidFill>
              </a:defRPr>
            </a:pPr>
            <a:r>
              <a:t>Table-based nested cursor FOR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1764792"/>
            <a:ext cx="5513832" cy="3794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80">
                <a:solidFill>
                  <a:srgbClr val="FFFFFF"/>
                </a:solidFill>
                <a:latin typeface="Consolas"/>
              </a:defRPr>
            </a:pPr>
            <a:r>
              <a:t>BEGIN</a:t>
            </a:r>
            <a:br/>
            <a:r>
              <a:t>  FOR d IN (</a:t>
            </a:r>
            <a:br/>
            <a:r>
              <a:t>    SELECT dept_id, dept_name</a:t>
            </a:r>
            <a:br/>
            <a:r>
              <a:t>    FROM departments</a:t>
            </a:r>
            <a:br/>
            <a:r>
              <a:t>  ) LOOP</a:t>
            </a:r>
            <a:br/>
            <a:br/>
            <a:r>
              <a:t>    DBMS_OUTPUT.PUT_LINE(</a:t>
            </a:r>
            <a:br/>
            <a:r>
              <a:t>      'Department: ' || d.dept_name</a:t>
            </a:r>
            <a:br/>
            <a:r>
              <a:t>    );</a:t>
            </a:r>
            <a:br/>
            <a:br/>
            <a:r>
              <a:t>    FOR e IN (</a:t>
            </a:r>
            <a:br/>
            <a:r>
              <a:t>      SELECT name</a:t>
            </a:r>
            <a:br/>
            <a:r>
              <a:t>      FROM employees</a:t>
            </a:r>
            <a:br/>
            <a:r>
              <a:t>      WHERE dept_id = d.dept_id</a:t>
            </a:r>
            <a:br/>
            <a:r>
              <a:t>    ) LOOP</a:t>
            </a:r>
            <a:br/>
            <a:br/>
            <a:r>
              <a:t>      DBMS_OUTPUT.PUT_LINE(</a:t>
            </a:r>
            <a:br/>
            <a:r>
              <a:t>        '  Employee: ' || e.name</a:t>
            </a:r>
            <a:br/>
            <a:r>
              <a:t>      );</a:t>
            </a:r>
            <a:br/>
            <a:br/>
            <a:r>
              <a:t>    END LOOP;</a:t>
            </a:r>
            <a:br/>
            <a:r>
              <a:t>  END LOOP;</a:t>
            </a:r>
            <a:br/>
            <a:r>
              <a:t>END;</a:t>
            </a:r>
            <a:br/>
            <a: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When do I use which?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Choose based on what you need to repeat.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10835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Main purpose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Typical table example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PL/SQL manages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FOR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Repeat a block a number of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Generate 1–10 IDs / days / attempts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Counter automatically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Process query rows one by one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Read employees and apply logic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Rows through FETCH (explicit cursor)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Cursor FOR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Process query rows with less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Print/update every employee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OPEN/FETCH/CLOSE automatically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NESTED LOOP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Repeat one loop inside another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Departments → employees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A34"/>
                          </a:solidFill>
                        </a:defRPr>
                      </a:pPr>
                      <a:r>
                        <a:t>Both loop levels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These concepts often work together in real PL/SQL programs.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874519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0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331720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067B8"/>
                </a:solidFill>
              </a:defRPr>
            </a:pPr>
            <a:r>
              <a:t>TABLE</a:t>
            </a:r>
          </a:p>
          <a:p>
            <a:pPr algn="ctr">
              <a:defRPr sz="1100">
                <a:solidFill>
                  <a:srgbClr val="232A34"/>
                </a:solidFill>
              </a:defRPr>
            </a:pPr>
            <a:r>
              <a:t>employees</a:t>
            </a:r>
            <a:br/>
            <a:r>
              <a:t>+ departments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41448" y="2606040"/>
            <a:ext cx="502920" cy="502920"/>
          </a:xfrm>
          <a:prstGeom prst="rightArrow">
            <a:avLst/>
          </a:prstGeom>
          <a:solidFill>
            <a:srgbClr val="5C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2057400"/>
            <a:ext cx="1874519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5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2331720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5ACB8"/>
                </a:solidFill>
              </a:defRPr>
            </a:pPr>
            <a:r>
              <a:t>SELECT</a:t>
            </a:r>
          </a:p>
          <a:p>
            <a:pPr algn="ctr">
              <a:defRPr sz="1100">
                <a:solidFill>
                  <a:srgbClr val="232A34"/>
                </a:solidFill>
              </a:defRPr>
            </a:pPr>
            <a:r>
              <a:t>Get rows</a:t>
            </a:r>
            <a:br/>
            <a:r>
              <a:t>we need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27448" y="2606040"/>
            <a:ext cx="502920" cy="502920"/>
          </a:xfrm>
          <a:prstGeom prst="rightArrow">
            <a:avLst/>
          </a:prstGeom>
          <a:solidFill>
            <a:srgbClr val="5C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2057400"/>
            <a:ext cx="1874519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7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4648" y="2331720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79164"/>
                </a:solidFill>
              </a:defRPr>
            </a:pPr>
            <a:r>
              <a:t>FOR LOOP</a:t>
            </a:r>
          </a:p>
          <a:p>
            <a:pPr algn="ctr">
              <a:defRPr sz="1100">
                <a:solidFill>
                  <a:srgbClr val="232A34"/>
                </a:solidFill>
              </a:defRPr>
            </a:pPr>
            <a:r>
              <a:t>Visit each</a:t>
            </a:r>
            <a:br/>
            <a:r>
              <a:t>row/group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13448" y="2606040"/>
            <a:ext cx="502920" cy="502920"/>
          </a:xfrm>
          <a:prstGeom prst="rightArrow">
            <a:avLst/>
          </a:prstGeom>
          <a:solidFill>
            <a:srgbClr val="5C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2057400"/>
            <a:ext cx="1874519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8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0648" y="2331720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18931"/>
                </a:solidFill>
              </a:defRPr>
            </a:pPr>
            <a:r>
              <a:t>NESTED LOOP</a:t>
            </a:r>
          </a:p>
          <a:p>
            <a:pPr algn="ctr">
              <a:defRPr sz="1100">
                <a:solidFill>
                  <a:srgbClr val="232A34"/>
                </a:solidFill>
              </a:defRPr>
            </a:pPr>
            <a:r>
              <a:t>Process related</a:t>
            </a:r>
            <a:br/>
            <a:r>
              <a:t>rows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99448" y="2606040"/>
            <a:ext cx="502920" cy="502920"/>
          </a:xfrm>
          <a:prstGeom prst="rightArrow">
            <a:avLst/>
          </a:prstGeom>
          <a:solidFill>
            <a:srgbClr val="5C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46920" y="2057400"/>
            <a:ext cx="1874519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BE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2331720"/>
            <a:ext cx="16459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BE4A4A"/>
                </a:solidFill>
              </a:defRPr>
            </a:pPr>
            <a:r>
              <a:t>OUTPUT / UPDATE</a:t>
            </a:r>
          </a:p>
          <a:p>
            <a:pPr algn="ctr">
              <a:defRPr sz="1100">
                <a:solidFill>
                  <a:srgbClr val="232A34"/>
                </a:solidFill>
              </a:defRPr>
            </a:pPr>
            <a:r>
              <a:t>Do the</a:t>
            </a:r>
            <a:br/>
            <a:r>
              <a:t>actual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43400"/>
            <a:ext cx="10287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343400"/>
            <a:ext cx="64008" cy="109728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079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Example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001768"/>
            <a:ext cx="987552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“For each department, find its employees, then print or update each employee.”  →  outer cursor FOR LOOP + inner cursor FOR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t>Keep these four ideas in your head when writing PL/SQL.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61320" cy="822960"/>
          </a:xfrm>
          <a:prstGeom prst="roundRect">
            <a:avLst/>
          </a:prstGeom>
          <a:solidFill>
            <a:srgbClr val="1D2B3E"/>
          </a:solidFill>
          <a:ln>
            <a:solidFill>
              <a:srgbClr val="30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813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067B8"/>
                </a:solidFill>
              </a:defRPr>
            </a:pPr>
            <a:r>
              <a:t>FOR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490472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Repeats code automatically using a loop variable.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10561320" cy="822960"/>
          </a:xfrm>
          <a:prstGeom prst="roundRect">
            <a:avLst/>
          </a:prstGeom>
          <a:solidFill>
            <a:srgbClr val="1D2B3E"/>
          </a:solidFill>
          <a:ln>
            <a:solidFill>
              <a:srgbClr val="35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7860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ACB8"/>
                </a:solidFill>
              </a:defRPr>
            </a:pPr>
            <a:r>
              <a:t>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87752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Lets PL/SQL work through query-result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66160"/>
            <a:ext cx="10561320" cy="822960"/>
          </a:xfrm>
          <a:prstGeom prst="roundRect">
            <a:avLst/>
          </a:prstGeom>
          <a:solidFill>
            <a:srgbClr val="1D2B3E"/>
          </a:solidFill>
          <a:ln>
            <a:solidFill>
              <a:srgbClr val="37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75887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9164"/>
                </a:solidFill>
              </a:defRPr>
            </a:pPr>
            <a:r>
              <a:t>CURSOR FOR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685032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 cleaner way to process query rows; PL/SQL manages cursor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63440"/>
            <a:ext cx="10561320" cy="822960"/>
          </a:xfrm>
          <a:prstGeom prst="roundRect">
            <a:avLst/>
          </a:prstGeom>
          <a:solidFill>
            <a:srgbClr val="1D2B3E"/>
          </a:solidFill>
          <a:ln>
            <a:solidFill>
              <a:srgbClr val="E18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7316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18931"/>
                </a:solidFill>
              </a:defRPr>
            </a:pPr>
            <a:r>
              <a:t>NESTED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782312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An inner loop runs fully for every outer-loop iteration.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D7E1"/>
                </a:solidFill>
              </a:defRPr>
            </a:pPr>
            <a:r>
              <a:t>PL/SQL • Loops &amp; Cursors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0"/>
                </a:solidFill>
              </a:defRPr>
            </a:pPr>
            <a:r>
              <a:t>Quick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978"/>
                </a:solidFill>
              </a:defRPr>
            </a:pPr>
            <a:r>
              <a:t>A small exercise to make the concepts stick.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" cy="4206240"/>
          </a:xfrm>
          <a:prstGeom prst="rect">
            <a:avLst/>
          </a:prstGeom>
          <a:solidFill>
            <a:srgbClr val="3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Given these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48463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DEPARTMENTS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10 — IT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20 — HR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EMPLOYEES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101 — Alice — 10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102 — Brian — 10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103 — Clara — 20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Task: print each department, then its employees.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64008" cy="4206240"/>
          </a:xfrm>
          <a:prstGeom prst="rect">
            <a:avLst/>
          </a:prstGeom>
          <a:solidFill>
            <a:srgbClr val="35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Think before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29967"/>
            <a:ext cx="48006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1. Do I need to repeat over query rows? → cursor / cursor FOR LOOP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2. Do I need a loop inside another? → nested loop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3. Do I need a simple numeric repetition? → normal FOR LOOP</a:t>
            </a: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A34"/>
                </a:solidFill>
              </a:defRPr>
            </a:pPr>
            <a:r>
              <a:t>Try the solution yourself before looking back at the examples.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978"/>
                </a:solidFill>
              </a:defRPr>
            </a:pPr>
            <a:r>
              <a:t>PL/SQL • Loops &amp; Cursors   |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