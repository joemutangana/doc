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0584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85"/>
    <a:srgbClr val="4CA1D7"/>
    <a:srgbClr val="328AB4"/>
    <a:srgbClr val="FCDF2B"/>
    <a:srgbClr val="8CC247"/>
    <a:srgbClr val="7DC35D"/>
    <a:srgbClr val="F1F1F1"/>
    <a:srgbClr val="A6A8AB"/>
    <a:srgbClr val="6E6E70"/>
    <a:srgbClr val="2E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6443" autoAdjust="0"/>
  </p:normalViewPr>
  <p:slideViewPr>
    <p:cSldViewPr snapToGrid="0" snapToObjects="1">
      <p:cViewPr varScale="1">
        <p:scale>
          <a:sx n="122" d="100"/>
          <a:sy n="122" d="100"/>
        </p:scale>
        <p:origin x="912" y="102"/>
      </p:cViewPr>
      <p:guideLst>
        <p:guide orient="horz" pos="2016"/>
        <p:guide pos="3168"/>
      </p:guideLst>
    </p:cSldViewPr>
  </p:slideViewPr>
  <p:outlineViewPr>
    <p:cViewPr>
      <p:scale>
        <a:sx n="33" d="100"/>
        <a:sy n="33" d="100"/>
      </p:scale>
      <p:origin x="0" y="410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59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1B604-F7E4-6B48-9032-8E6C0D54D28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8508C-7630-9845-AA45-1A4AAE96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41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1B70B-6DD6-4342-92B2-02FCAA02E51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685800"/>
            <a:ext cx="53879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D1D04-D8E0-EC45-8070-0F95B7EF4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557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1D04-D8E0-EC45-8070-0F95B7EF42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52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838" y="1959751"/>
            <a:ext cx="7281168" cy="2499138"/>
          </a:xfrm>
        </p:spPr>
        <p:txBody>
          <a:bodyPr anchor="b"/>
          <a:lstStyle>
            <a:lvl1pPr>
              <a:defRPr sz="445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52838" y="4458888"/>
            <a:ext cx="7281168" cy="803992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4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1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08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5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3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0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17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8327505" y="1689253"/>
            <a:ext cx="924559" cy="2514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7176309" y="3029154"/>
            <a:ext cx="3602475" cy="2514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0846" y="276014"/>
            <a:ext cx="691514" cy="716508"/>
          </a:xfrm>
        </p:spPr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463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837" y="2429933"/>
            <a:ext cx="7281169" cy="318854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91702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2499135"/>
            <a:ext cx="3589596" cy="2131569"/>
          </a:xfrm>
        </p:spPr>
        <p:txBody>
          <a:bodyPr anchor="ctr"/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8836" y="2499134"/>
            <a:ext cx="3099975" cy="2131569"/>
          </a:xfrm>
        </p:spPr>
        <p:txBody>
          <a:bodyPr anchor="ctr"/>
          <a:lstStyle>
            <a:lvl1pPr marL="0" indent="0" algn="l">
              <a:buNone/>
              <a:defRPr sz="165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939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837" y="2429934"/>
            <a:ext cx="3980755" cy="318854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2188" y="2429933"/>
            <a:ext cx="3980756" cy="31885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846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3"/>
            <a:ext cx="3980755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/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2837" y="2967778"/>
            <a:ext cx="3980755" cy="2650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2188" y="2429933"/>
            <a:ext cx="3980756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/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2188" y="2967778"/>
            <a:ext cx="3980756" cy="2650703"/>
          </a:xfrm>
        </p:spPr>
        <p:txBody>
          <a:bodyPr>
            <a:normAutofit/>
          </a:bodyPr>
          <a:lstStyle>
            <a:lvl1pPr>
              <a:defRPr sz="1485"/>
            </a:lvl1pPr>
            <a:lvl2pPr>
              <a:defRPr sz="1320"/>
            </a:lvl2pPr>
            <a:lvl3pPr>
              <a:defRPr sz="1155"/>
            </a:lvl3pPr>
            <a:lvl4pPr>
              <a:defRPr sz="990"/>
            </a:lvl4pPr>
            <a:lvl5pPr>
              <a:defRPr sz="990"/>
            </a:lvl5pPr>
            <a:lvl6pPr>
              <a:defRPr sz="990"/>
            </a:lvl6pPr>
            <a:lvl7pPr>
              <a:defRPr sz="990"/>
            </a:lvl7pPr>
            <a:lvl8pPr>
              <a:defRPr sz="990"/>
            </a:lvl8pPr>
            <a:lvl9pPr>
              <a:defRPr sz="99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8232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28166" cy="65983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91067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46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8" y="1209040"/>
            <a:ext cx="2304355" cy="1493520"/>
          </a:xfrm>
        </p:spPr>
        <p:txBody>
          <a:bodyPr anchor="b"/>
          <a:lstStyle>
            <a:lvl1pPr algn="l">
              <a:defRPr sz="19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446" y="1351280"/>
            <a:ext cx="4281804" cy="4267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52837" y="2920662"/>
            <a:ext cx="2304355" cy="2702559"/>
          </a:xfrm>
        </p:spPr>
        <p:txBody>
          <a:bodyPr/>
          <a:lstStyle>
            <a:lvl1pPr marL="0" indent="0">
              <a:buNone/>
              <a:defRPr sz="1155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0138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8" y="1580445"/>
            <a:ext cx="3188736" cy="1619956"/>
          </a:xfrm>
        </p:spPr>
        <p:txBody>
          <a:bodyPr anchor="b">
            <a:normAutofit/>
          </a:bodyPr>
          <a:lstStyle>
            <a:lvl1pPr algn="l">
              <a:defRPr sz="297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01993" y="1066800"/>
            <a:ext cx="2662434" cy="42672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52837" y="3413760"/>
            <a:ext cx="3183850" cy="1280160"/>
          </a:xfrm>
        </p:spPr>
        <p:txBody>
          <a:bodyPr>
            <a:normAutofit/>
          </a:bodyPr>
          <a:lstStyle>
            <a:lvl1pPr marL="0" indent="0">
              <a:buNone/>
              <a:defRPr sz="1155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9249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4638599"/>
            <a:ext cx="7281169" cy="528955"/>
          </a:xfrm>
        </p:spPr>
        <p:txBody>
          <a:bodyPr anchor="b">
            <a:normAutofit/>
          </a:bodyPr>
          <a:lstStyle>
            <a:lvl1pPr algn="l">
              <a:defRPr sz="19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52837" y="640080"/>
            <a:ext cx="7281169" cy="3200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5167554"/>
            <a:ext cx="7281168" cy="460798"/>
          </a:xfrm>
        </p:spPr>
        <p:txBody>
          <a:bodyPr>
            <a:normAutofit/>
          </a:bodyPr>
          <a:lstStyle>
            <a:lvl1pPr marL="0" indent="0">
              <a:buNone/>
              <a:defRPr sz="99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3923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758" y="992522"/>
            <a:ext cx="7286248" cy="1281454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3307080"/>
            <a:ext cx="7281169" cy="2311400"/>
          </a:xfrm>
        </p:spPr>
        <p:txBody>
          <a:bodyPr anchor="ctr">
            <a:normAutofit/>
          </a:bodyPr>
          <a:lstStyle>
            <a:lvl1pPr marL="0" indent="0">
              <a:buNone/>
              <a:defRPr sz="148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2108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727292" y="566847"/>
            <a:ext cx="661577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9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8154679" y="2439535"/>
            <a:ext cx="538529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9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050" y="916658"/>
            <a:ext cx="6974472" cy="2516857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605405" y="3433515"/>
            <a:ext cx="6378256" cy="319362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5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4693920"/>
            <a:ext cx="7627040" cy="931333"/>
          </a:xfrm>
        </p:spPr>
        <p:txBody>
          <a:bodyPr anchor="ctr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5204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2212623"/>
            <a:ext cx="7281170" cy="1701013"/>
          </a:xfrm>
        </p:spPr>
        <p:txBody>
          <a:bodyPr anchor="b"/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4689969"/>
            <a:ext cx="7281169" cy="803040"/>
          </a:xfrm>
        </p:spPr>
        <p:txBody>
          <a:bodyPr anchor="t"/>
          <a:lstStyle>
            <a:lvl1pPr marL="0" indent="0" algn="l">
              <a:buNone/>
              <a:defRPr sz="165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7243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>
            <a:lvl1pPr>
              <a:defRPr sz="297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5"/>
            <a:ext cx="2592049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52837" y="2967780"/>
            <a:ext cx="2592050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22995" y="2429933"/>
            <a:ext cx="2596282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722995" y="2967780"/>
            <a:ext cx="2596282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07712" y="2429934"/>
            <a:ext cx="2595227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6507872" y="2967779"/>
            <a:ext cx="2595067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633276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412231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2465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>
            <a:lvl1pPr>
              <a:defRPr sz="297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4230654"/>
            <a:ext cx="2516611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01006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52837" y="4768499"/>
            <a:ext cx="2516611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69314" y="4230655"/>
            <a:ext cx="2516611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17482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770392" y="4768498"/>
            <a:ext cx="2516611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85790" y="4230655"/>
            <a:ext cx="2517153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734500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6585789" y="4768497"/>
            <a:ext cx="2517154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634811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433187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62916" y="5965716"/>
            <a:ext cx="3006533" cy="28448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2234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837" y="2429933"/>
            <a:ext cx="7281169" cy="3188547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23738" y="5965716"/>
            <a:ext cx="817244" cy="28447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660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2819" y="1193236"/>
            <a:ext cx="1163221" cy="4432017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837" y="1193236"/>
            <a:ext cx="5161221" cy="44320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88811" y="5965716"/>
            <a:ext cx="818511" cy="28447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51435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058400" cy="6400800"/>
          </a:xfrm>
        </p:spPr>
        <p:txBody>
          <a:bodyPr/>
          <a:lstStyle>
            <a:lvl1pPr marL="0" indent="0">
              <a:buNone/>
              <a:defRPr>
                <a:solidFill>
                  <a:srgbClr val="EC02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 Drag picture here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80" y="5055300"/>
            <a:ext cx="7040880" cy="435772"/>
          </a:xfrm>
        </p:spPr>
        <p:txBody>
          <a:bodyPr>
            <a:normAutofit/>
          </a:bodyPr>
          <a:lstStyle>
            <a:lvl1pPr algn="l">
              <a:defRPr sz="2000" b="1" spc="300" baseline="0">
                <a:solidFill>
                  <a:srgbClr val="2E003D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PRESENTATION TITLE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4380" y="5432512"/>
            <a:ext cx="7040880" cy="349936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6E6E70"/>
                </a:solidFill>
                <a:latin typeface="Proxima Nova Regular"/>
                <a:cs typeface="Proxima Nova Regul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Prepared for Donor/Company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54062" y="5730367"/>
            <a:ext cx="7041197" cy="401638"/>
          </a:xfrm>
        </p:spPr>
        <p:txBody>
          <a:bodyPr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600" i="1" dirty="0">
                <a:latin typeface="Times New Roman"/>
                <a:cs typeface="Times New Roman"/>
              </a:rPr>
              <a:t>Presenter Name  |  July 20, 2016</a:t>
            </a:r>
          </a:p>
        </p:txBody>
      </p:sp>
    </p:spTree>
    <p:extLst>
      <p:ext uri="{BB962C8B-B14F-4D97-AF65-F5344CB8AC3E}">
        <p14:creationId xmlns:p14="http://schemas.microsoft.com/office/powerpoint/2010/main" val="324780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518081"/>
            <a:ext cx="9052560" cy="704775"/>
          </a:xfrm>
        </p:spPr>
        <p:txBody>
          <a:bodyPr>
            <a:normAutofit/>
          </a:bodyPr>
          <a:lstStyle>
            <a:lvl1pPr>
              <a:defRPr sz="2000" b="1" spc="300"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234197"/>
            <a:ext cx="9052560" cy="454254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6E6E70"/>
                </a:solidFill>
                <a:latin typeface="Times New Roman"/>
                <a:cs typeface="Times New Roman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097565" y="1233760"/>
            <a:ext cx="7918148" cy="0"/>
          </a:xfrm>
          <a:prstGeom prst="line">
            <a:avLst/>
          </a:prstGeom>
          <a:ln w="3175" cmpd="sng">
            <a:solidFill>
              <a:srgbClr val="A6A8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1689100"/>
            <a:ext cx="9051925" cy="3800475"/>
          </a:xfrm>
        </p:spPr>
        <p:txBody>
          <a:bodyPr>
            <a:normAutofit/>
          </a:bodyPr>
          <a:lstStyle>
            <a:lvl1pPr>
              <a:defRPr sz="1800" b="0" i="0">
                <a:latin typeface="Proxima Nova Light"/>
                <a:cs typeface="Proxima Nova Light"/>
              </a:defRPr>
            </a:lvl1pPr>
            <a:lvl2pPr>
              <a:defRPr sz="1800" b="0" i="0">
                <a:latin typeface="Proxima Nova Light"/>
                <a:cs typeface="Proxima Nova Light"/>
              </a:defRPr>
            </a:lvl2pPr>
            <a:lvl3pPr>
              <a:defRPr sz="1800" b="0" i="0">
                <a:latin typeface="Proxima Nova Light"/>
                <a:cs typeface="Proxima Nova Light"/>
              </a:defRPr>
            </a:lvl3pPr>
            <a:lvl4pPr>
              <a:defRPr sz="1800" b="0" i="0">
                <a:latin typeface="Proxima Nova Light"/>
                <a:cs typeface="Proxima Nova Light"/>
              </a:defRPr>
            </a:lvl4pPr>
            <a:lvl5pPr>
              <a:defRPr sz="1800" b="0" i="0">
                <a:latin typeface="Proxima Nova Light"/>
                <a:cs typeface="Proxima Nova Light"/>
              </a:defRPr>
            </a:lvl5pPr>
          </a:lstStyle>
          <a:p>
            <a:pPr lvl="0"/>
            <a:r>
              <a:rPr lang="en-US" dirty="0"/>
              <a:t>Click to 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3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1"/>
            <a:ext cx="10058400" cy="6401843"/>
          </a:xfrm>
          <a:prstGeom prst="rect">
            <a:avLst/>
          </a:prstGeom>
          <a:solidFill>
            <a:srgbClr val="004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 baseline="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4981" y="5699521"/>
            <a:ext cx="1840499" cy="395010"/>
          </a:xfrm>
          <a:prstGeom prst="rect">
            <a:avLst/>
          </a:prstGeom>
        </p:spPr>
      </p:pic>
      <p:sp>
        <p:nvSpPr>
          <p:cNvPr id="13" name="Slide Number Placeholder 6"/>
          <p:cNvSpPr txBox="1">
            <a:spLocks/>
          </p:cNvSpPr>
          <p:nvPr userDrawn="1"/>
        </p:nvSpPr>
        <p:spPr>
          <a:xfrm>
            <a:off x="502921" y="5801718"/>
            <a:ext cx="1562946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800" spc="100">
                <a:solidFill>
                  <a:srgbClr val="A6A8AB"/>
                </a:solidFill>
                <a:latin typeface="Proxima Nova Black"/>
                <a:ea typeface="+mn-ea"/>
                <a:cs typeface="Proxima Nova Black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BF4A2E-9955-744F-93B8-AD6F4F72E579}" type="slidenum">
              <a:rPr lang="en-US" b="1" smtClean="0">
                <a:solidFill>
                  <a:schemeClr val="bg1"/>
                </a:solidFill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520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45"/>
            <a:ext cx="10077356" cy="639670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4736248"/>
            <a:ext cx="10077357" cy="166455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80" y="5055300"/>
            <a:ext cx="7040880" cy="435772"/>
          </a:xfrm>
        </p:spPr>
        <p:txBody>
          <a:bodyPr>
            <a:normAutofit/>
          </a:bodyPr>
          <a:lstStyle>
            <a:lvl1pPr algn="l">
              <a:defRPr sz="2000" b="1" i="0" spc="300">
                <a:solidFill>
                  <a:srgbClr val="004985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4380" y="5432512"/>
            <a:ext cx="7040880" cy="349936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6E6E70"/>
                </a:solidFill>
                <a:latin typeface="Proxima Nova Regular"/>
                <a:cs typeface="Proxima Nova Regul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Prepared for Company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54062" y="5730367"/>
            <a:ext cx="7041197" cy="401638"/>
          </a:xfrm>
        </p:spPr>
        <p:txBody>
          <a:bodyPr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0" i="1"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600" i="1" dirty="0">
                <a:latin typeface="Times New Roman"/>
                <a:cs typeface="Times New Roman"/>
              </a:rPr>
              <a:t>Presenter Name  |  July 20th, 2016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2921" y="5338600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518081"/>
            <a:ext cx="9052560" cy="704775"/>
          </a:xfrm>
        </p:spPr>
        <p:txBody>
          <a:bodyPr>
            <a:normAutofit/>
          </a:bodyPr>
          <a:lstStyle>
            <a:lvl1pPr>
              <a:defRPr sz="2000" b="1" spc="300" baseline="0"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715886"/>
            <a:ext cx="9052560" cy="3719015"/>
          </a:xfrm>
        </p:spPr>
        <p:txBody>
          <a:bodyPr>
            <a:normAutofit/>
          </a:bodyPr>
          <a:lstStyle>
            <a:lvl1pPr marL="0" indent="0" algn="ctr">
              <a:buNone/>
              <a:defRPr sz="2000" i="0">
                <a:solidFill>
                  <a:srgbClr val="EC027E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Drag object to placeholder or click icon to add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097565" y="1233760"/>
            <a:ext cx="7918148" cy="0"/>
          </a:xfrm>
          <a:prstGeom prst="line">
            <a:avLst/>
          </a:prstGeom>
          <a:ln w="3175" cmpd="sng">
            <a:solidFill>
              <a:srgbClr val="A6A8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502920" y="1234197"/>
            <a:ext cx="9052560" cy="454254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6E6E70"/>
                </a:solidFill>
                <a:latin typeface="Times New Roman"/>
                <a:cs typeface="Times New Roman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1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058400" cy="6414534"/>
          </a:xfrm>
          <a:prstGeom prst="rect">
            <a:avLst/>
          </a:prstGeom>
          <a:solidFill>
            <a:srgbClr val="328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2752"/>
            <a:ext cx="1864931" cy="400253"/>
          </a:xfrm>
          <a:prstGeom prst="rect">
            <a:avLst/>
          </a:prstGeom>
        </p:spPr>
      </p:pic>
      <p:sp>
        <p:nvSpPr>
          <p:cNvPr id="13" name="Slide Number Placeholder 6"/>
          <p:cNvSpPr txBox="1">
            <a:spLocks/>
          </p:cNvSpPr>
          <p:nvPr userDrawn="1"/>
        </p:nvSpPr>
        <p:spPr>
          <a:xfrm>
            <a:off x="502921" y="5801718"/>
            <a:ext cx="1562946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800" spc="100">
                <a:solidFill>
                  <a:srgbClr val="A6A8AB"/>
                </a:solidFill>
                <a:latin typeface="Proxima Nova Black"/>
                <a:ea typeface="+mn-ea"/>
                <a:cs typeface="Proxima Nova Black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BF4A2E-9955-744F-93B8-AD6F4F72E579}" type="slidenum">
              <a:rPr lang="en-US" b="1" smtClean="0">
                <a:solidFill>
                  <a:schemeClr val="bg1"/>
                </a:solidFill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245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0058400" cy="6400800"/>
          </a:xfrm>
          <a:prstGeom prst="rect">
            <a:avLst/>
          </a:prstGeom>
          <a:solidFill>
            <a:srgbClr val="8C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8"/>
            <a:ext cx="1864931" cy="400254"/>
          </a:xfrm>
          <a:prstGeom prst="rect">
            <a:avLst/>
          </a:prstGeom>
        </p:spPr>
      </p:pic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chemeClr val="bg1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854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3225800" y="0"/>
            <a:ext cx="6832600" cy="64150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5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8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0058400" cy="6414534"/>
          </a:xfrm>
          <a:prstGeom prst="rect">
            <a:avLst/>
          </a:prstGeom>
          <a:solidFill>
            <a:srgbClr val="004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7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5161" y="2802484"/>
            <a:ext cx="3708079" cy="79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8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52837" y="908757"/>
            <a:ext cx="7228166" cy="659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3"/>
            <a:ext cx="7228166" cy="3188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88811" y="5965716"/>
            <a:ext cx="817244" cy="284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2916" y="5965716"/>
            <a:ext cx="3184331" cy="284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540846" y="276014"/>
            <a:ext cx="691514" cy="7165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0" b="0" i="0">
                <a:solidFill>
                  <a:schemeClr val="bg1"/>
                </a:solidFill>
              </a:defRPr>
            </a:lvl1pPr>
          </a:lstStyle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08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19" r:id="rId21"/>
    <p:sldLayoutId id="2147483686" r:id="rId22"/>
    <p:sldLayoutId id="2147483717" r:id="rId23"/>
    <p:sldLayoutId id="2147483661" r:id="rId24"/>
    <p:sldLayoutId id="2147483721" r:id="rId25"/>
    <p:sldLayoutId id="2147483685" r:id="rId26"/>
    <p:sldLayoutId id="2147483682" r:id="rId27"/>
    <p:sldLayoutId id="2147483720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377190" rtl="0" eaLnBrk="1" latinLnBrk="0" hangingPunct="1">
        <a:spcBef>
          <a:spcPct val="0"/>
        </a:spcBef>
        <a:buNone/>
        <a:defRPr sz="297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2893" indent="-282893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12934" indent="-235744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4297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2016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9735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7454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5173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82892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20611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4736249"/>
            <a:ext cx="10058400" cy="1664552"/>
          </a:xfrm>
          <a:prstGeom prst="rect">
            <a:avLst/>
          </a:prstGeom>
          <a:solidFill>
            <a:srgbClr val="00498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D8E608C-A151-43E8-9346-B9D90583D1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190" r="15190"/>
          <a:stretch/>
        </p:blipFill>
        <p:spPr>
          <a:xfrm>
            <a:off x="0" y="1"/>
            <a:ext cx="10058400" cy="473624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664113" y="5730338"/>
            <a:ext cx="3394287" cy="1033615"/>
          </a:xfrm>
        </p:spPr>
        <p:txBody>
          <a:bodyPr>
            <a:no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1400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           12</a:t>
            </a:r>
            <a:r>
              <a:rPr lang="en-US" altLang="en-US" sz="1400" b="1" baseline="30000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th</a:t>
            </a:r>
            <a:r>
              <a:rPr lang="en-US" altLang="en-US" sz="1400" b="1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 September, 2025 </a:t>
            </a:r>
            <a:endParaRPr lang="en-US" altLang="en-US" sz="1400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9533" y="3767135"/>
            <a:ext cx="6398260" cy="719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9622" y="5317399"/>
            <a:ext cx="8415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INSY 8311 Database Development with PL/SQL</a:t>
            </a:r>
            <a:endParaRPr lang="en-US" sz="28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050" name="Picture 2" descr="AUCA - Adventist University of Central Afric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7" y="0"/>
            <a:ext cx="1020725" cy="102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19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Row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SELECT UPPER(first_name), LENGTH(last_name) FROM employees;</a:t>
            </a:r>
          </a:p>
          <a:p>
            <a:r>
              <a:t>-- Uppercase conversion and string length.</a:t>
            </a:r>
          </a:p>
          <a:p>
            <a:endParaRPr/>
          </a:p>
          <a:p>
            <a:r>
              <a:t>SELECT ROUND(salary, 0), TRUNC(salary, 0) FROM employees;</a:t>
            </a:r>
          </a:p>
          <a:p>
            <a:r>
              <a:t>-- Round vs. truncate numeric values.</a:t>
            </a:r>
          </a:p>
          <a:p>
            <a:endParaRPr/>
          </a:p>
          <a:p>
            <a:r>
              <a:t>SELECT hire_date, ADD_MONTHS(hire_date, 6) FROM employees;</a:t>
            </a:r>
          </a:p>
          <a:p>
            <a:r>
              <a:t>-- Date arithmetic example.</a:t>
            </a:r>
          </a:p>
          <a:p>
            <a:endParaRPr/>
          </a:p>
          <a:p>
            <a:r>
              <a:t>SELECT TO_CHAR(hire_date, 'YYYY-MM') FROM employees;</a:t>
            </a:r>
          </a:p>
          <a:p>
            <a:r>
              <a:t>-- Format hire 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NULLs &amp; NVL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NVL(</a:t>
            </a:r>
            <a:r>
              <a:rPr dirty="0" err="1"/>
              <a:t>commission_pct</a:t>
            </a:r>
            <a:r>
              <a:rPr dirty="0"/>
              <a:t>, 0) FROM employees;</a:t>
            </a:r>
          </a:p>
          <a:p>
            <a:r>
              <a:rPr dirty="0"/>
              <a:t>-- Replace NULL with 0.</a:t>
            </a:r>
          </a:p>
          <a:p>
            <a:endParaRPr dirty="0"/>
          </a:p>
          <a:p>
            <a:r>
              <a:rPr dirty="0"/>
              <a:t>SELECT NVL2(</a:t>
            </a:r>
            <a:r>
              <a:rPr dirty="0" err="1"/>
              <a:t>commission_pct</a:t>
            </a:r>
            <a:r>
              <a:rPr dirty="0"/>
              <a:t>, 'Yes', 'No') FROM employees;</a:t>
            </a:r>
          </a:p>
          <a:p>
            <a:r>
              <a:rPr dirty="0"/>
              <a:t>-- Conditional output based on NULL.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Logic with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salary,</a:t>
            </a:r>
          </a:p>
          <a:p>
            <a:r>
              <a:t>  CASE </a:t>
            </a:r>
          </a:p>
          <a:p>
            <a:r>
              <a:t>    WHEN salary &gt; 10000 THEN 'High'</a:t>
            </a:r>
          </a:p>
          <a:p>
            <a:r>
              <a:t>    WHEN salary BETWEEN 5000 AND 10000 THEN 'Medium'</a:t>
            </a:r>
          </a:p>
          <a:p>
            <a:r>
              <a:t>    ELSE 'Low'</a:t>
            </a:r>
          </a:p>
          <a:p>
            <a:r>
              <a:t>  END AS salary_level</a:t>
            </a:r>
          </a:p>
          <a:p>
            <a:r>
              <a:t>FROM employees;</a:t>
            </a:r>
          </a:p>
          <a:p>
            <a:r>
              <a:t>-- Categorize salary using CASE expression.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COUNT(*), AVG(salary), MAX(salary), MIN(salary), SUM(salary) FROM employees;</a:t>
            </a:r>
          </a:p>
          <a:p>
            <a:r>
              <a:t>-- Aggregate summary.</a:t>
            </a:r>
          </a:p>
          <a:p>
            <a:endParaRPr/>
          </a:p>
          <a:p>
            <a:r>
              <a:t>SELECT job_id, COUNT(*) FROM employees GROUP BY job_id;</a:t>
            </a:r>
          </a:p>
          <a:p>
            <a:r>
              <a:t>-- Group employees by job.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Grouping and HAVING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</a:t>
            </a:r>
            <a:r>
              <a:rPr dirty="0" err="1"/>
              <a:t>department_id</a:t>
            </a:r>
            <a:r>
              <a:rPr dirty="0"/>
              <a:t>, AVG(salary) FROM employees GROUP BY </a:t>
            </a:r>
            <a:r>
              <a:rPr dirty="0" err="1"/>
              <a:t>department_id</a:t>
            </a:r>
            <a:r>
              <a:rPr dirty="0"/>
              <a:t>;</a:t>
            </a:r>
          </a:p>
          <a:p>
            <a:r>
              <a:rPr dirty="0"/>
              <a:t>-- Average salary per department.</a:t>
            </a:r>
          </a:p>
          <a:p>
            <a:endParaRPr dirty="0"/>
          </a:p>
          <a:p>
            <a:r>
              <a:rPr dirty="0"/>
              <a:t>SELECT </a:t>
            </a:r>
            <a:r>
              <a:rPr dirty="0" err="1"/>
              <a:t>department_id</a:t>
            </a:r>
            <a:r>
              <a:rPr dirty="0"/>
              <a:t>, COUNT(*) FROM employees GROUP BY </a:t>
            </a:r>
            <a:r>
              <a:rPr dirty="0" err="1"/>
              <a:t>department_id</a:t>
            </a:r>
            <a:r>
              <a:rPr dirty="0"/>
              <a:t> HAVING COUNT(*) &gt; 5;</a:t>
            </a:r>
          </a:p>
          <a:p>
            <a:r>
              <a:rPr dirty="0"/>
              <a:t>-- Groups with more than 5 employees.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Show </a:t>
            </a:r>
            <a:r>
              <a:rPr dirty="0" err="1"/>
              <a:t>job_id</a:t>
            </a:r>
            <a:r>
              <a:rPr dirty="0"/>
              <a:t> and average salary for jobs where average salary is more than 7000.</a:t>
            </a:r>
          </a:p>
          <a:p>
            <a:endParaRPr dirty="0"/>
          </a:p>
          <a:p>
            <a:r>
              <a:rPr dirty="0"/>
              <a:t>2. List departments with more than 5 employees and average salary over 8000.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(10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Show jobs and how many employees have that job.</a:t>
            </a:r>
          </a:p>
          <a:p>
            <a:endParaRPr/>
          </a:p>
          <a:p>
            <a:r>
              <a:t>2. Write a query to show average salary by department, but only if average salary &gt; 6000.</a:t>
            </a:r>
          </a:p>
          <a:p>
            <a:endParaRPr/>
          </a:p>
          <a:p>
            <a:r>
              <a:t>3. Count number of employees without commission.</a:t>
            </a:r>
          </a:p>
          <a:p>
            <a:endParaRPr/>
          </a:p>
          <a:p>
            <a:r>
              <a:t>4. List employees with salary categorized as 'Low', 'Medium', or 'High'.</a:t>
            </a:r>
          </a:p>
          <a:p>
            <a:endParaRPr/>
          </a:p>
          <a:p>
            <a:r>
              <a:t>5. Show total salary and average commission for each department.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15965</TotalTime>
  <Words>347</Words>
  <Application>Microsoft Office PowerPoint</Application>
  <PresentationFormat>Custom</PresentationFormat>
  <Paragraphs>56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Calibri</vt:lpstr>
      <vt:lpstr>Century Gothic</vt:lpstr>
      <vt:lpstr>Lato Black</vt:lpstr>
      <vt:lpstr>Lato Light</vt:lpstr>
      <vt:lpstr>MS Mincho</vt:lpstr>
      <vt:lpstr>Proxima Nova Black</vt:lpstr>
      <vt:lpstr>Proxima Nova Bold</vt:lpstr>
      <vt:lpstr>Proxima Nova Light</vt:lpstr>
      <vt:lpstr>Proxima Nova Regular</vt:lpstr>
      <vt:lpstr>Times New Roman</vt:lpstr>
      <vt:lpstr>Wingdings 3</vt:lpstr>
      <vt:lpstr>Ion Boardroom</vt:lpstr>
      <vt:lpstr>           12th September, 2025 </vt:lpstr>
      <vt:lpstr>Single Row Functions</vt:lpstr>
      <vt:lpstr>Handling NULLs &amp; NVL</vt:lpstr>
      <vt:lpstr>Conditional Logic with CASE</vt:lpstr>
      <vt:lpstr>Aggregate Functions</vt:lpstr>
      <vt:lpstr>Grouping and HAVING</vt:lpstr>
      <vt:lpstr>Real World Queries</vt:lpstr>
      <vt:lpstr>Quiz (10 Marks)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cengwrphqr</dc:title>
  <dc:creator>Simon Williams</dc:creator>
  <cp:lastModifiedBy>Elie Kayitare</cp:lastModifiedBy>
  <cp:revision>467</cp:revision>
  <dcterms:created xsi:type="dcterms:W3CDTF">2014-05-10T12:49:26Z</dcterms:created>
  <dcterms:modified xsi:type="dcterms:W3CDTF">2025-09-18T16:22:35Z</dcterms:modified>
</cp:coreProperties>
</file>