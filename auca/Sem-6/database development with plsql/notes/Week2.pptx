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41"/>
  </p:notesMasterIdLst>
  <p:handoutMasterIdLst>
    <p:handoutMasterId r:id="rId42"/>
  </p:handoutMasterIdLst>
  <p:sldIdLst>
    <p:sldId id="384" r:id="rId2"/>
    <p:sldId id="490" r:id="rId3"/>
    <p:sldId id="492" r:id="rId4"/>
    <p:sldId id="493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6" r:id="rId17"/>
    <p:sldId id="507" r:id="rId18"/>
    <p:sldId id="508" r:id="rId19"/>
    <p:sldId id="509" r:id="rId20"/>
    <p:sldId id="510" r:id="rId21"/>
    <p:sldId id="511" r:id="rId22"/>
    <p:sldId id="513" r:id="rId23"/>
    <p:sldId id="514" r:id="rId24"/>
    <p:sldId id="515" r:id="rId25"/>
    <p:sldId id="516" r:id="rId26"/>
    <p:sldId id="517" r:id="rId27"/>
    <p:sldId id="518" r:id="rId28"/>
    <p:sldId id="519" r:id="rId29"/>
    <p:sldId id="521" r:id="rId30"/>
    <p:sldId id="522" r:id="rId31"/>
    <p:sldId id="523" r:id="rId32"/>
    <p:sldId id="524" r:id="rId33"/>
    <p:sldId id="525" r:id="rId34"/>
    <p:sldId id="526" r:id="rId35"/>
    <p:sldId id="527" r:id="rId36"/>
    <p:sldId id="529" r:id="rId37"/>
    <p:sldId id="530" r:id="rId38"/>
    <p:sldId id="531" r:id="rId39"/>
    <p:sldId id="416" r:id="rId40"/>
  </p:sldIdLst>
  <p:sldSz cx="100584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85"/>
    <a:srgbClr val="4CA1D7"/>
    <a:srgbClr val="328AB4"/>
    <a:srgbClr val="FCDF2B"/>
    <a:srgbClr val="8CC247"/>
    <a:srgbClr val="7DC35D"/>
    <a:srgbClr val="F1F1F1"/>
    <a:srgbClr val="A6A8AB"/>
    <a:srgbClr val="6E6E70"/>
    <a:srgbClr val="2E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0" autoAdjust="0"/>
    <p:restoredTop sz="86443" autoAdjust="0"/>
  </p:normalViewPr>
  <p:slideViewPr>
    <p:cSldViewPr snapToGrid="0" snapToObjects="1">
      <p:cViewPr varScale="1">
        <p:scale>
          <a:sx n="105" d="100"/>
          <a:sy n="105" d="100"/>
        </p:scale>
        <p:origin x="1218" y="108"/>
      </p:cViewPr>
      <p:guideLst>
        <p:guide orient="horz" pos="2016"/>
        <p:guide pos="3168"/>
      </p:guideLst>
    </p:cSldViewPr>
  </p:slideViewPr>
  <p:outlineViewPr>
    <p:cViewPr>
      <p:scale>
        <a:sx n="33" d="100"/>
        <a:sy n="33" d="100"/>
      </p:scale>
      <p:origin x="0" y="410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59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1B604-F7E4-6B48-9032-8E6C0D54D28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8508C-7630-9845-AA45-1A4AAE964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41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1B70B-6DD6-4342-92B2-02FCAA02E51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685800"/>
            <a:ext cx="53879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1D04-D8E0-EC45-8070-0F95B7EF4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557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1D04-D8E0-EC45-8070-0F95B7EF42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5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1D04-D8E0-EC45-8070-0F95B7EF42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14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5D1D04-D8E0-EC45-8070-0F95B7EF42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56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838" y="1959751"/>
            <a:ext cx="7281168" cy="2499138"/>
          </a:xfrm>
        </p:spPr>
        <p:txBody>
          <a:bodyPr anchor="b"/>
          <a:lstStyle>
            <a:lvl1pPr>
              <a:defRPr sz="445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52838" y="4458888"/>
            <a:ext cx="7281168" cy="803992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4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1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08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5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0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17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8327505" y="1689253"/>
            <a:ext cx="924559" cy="2514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7176309" y="3029154"/>
            <a:ext cx="3602475" cy="2514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0846" y="276014"/>
            <a:ext cx="691514" cy="716508"/>
          </a:xfrm>
        </p:spPr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463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837" y="2429933"/>
            <a:ext cx="7281169" cy="318854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170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499135"/>
            <a:ext cx="3589596" cy="2131569"/>
          </a:xfrm>
        </p:spPr>
        <p:txBody>
          <a:bodyPr anchor="ctr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8836" y="2499134"/>
            <a:ext cx="3099975" cy="2131569"/>
          </a:xfrm>
        </p:spPr>
        <p:txBody>
          <a:bodyPr anchor="ctr"/>
          <a:lstStyle>
            <a:lvl1pPr marL="0" indent="0" algn="l">
              <a:buNone/>
              <a:defRPr sz="165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39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837" y="2429934"/>
            <a:ext cx="3980755" cy="318854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2188" y="2429933"/>
            <a:ext cx="3980756" cy="31885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846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3980755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2837" y="2967778"/>
            <a:ext cx="3980755" cy="2650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2188" y="2429933"/>
            <a:ext cx="3980756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/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2188" y="2967778"/>
            <a:ext cx="3980756" cy="2650703"/>
          </a:xfrm>
        </p:spPr>
        <p:txBody>
          <a:bodyPr>
            <a:normAutofit/>
          </a:bodyPr>
          <a:lstStyle>
            <a:lvl1pPr>
              <a:defRPr sz="1485"/>
            </a:lvl1pPr>
            <a:lvl2pPr>
              <a:defRPr sz="1320"/>
            </a:lvl2pPr>
            <a:lvl3pPr>
              <a:defRPr sz="1155"/>
            </a:lvl3pPr>
            <a:lvl4pPr>
              <a:defRPr sz="990"/>
            </a:lvl4pPr>
            <a:lvl5pPr>
              <a:defRPr sz="990"/>
            </a:lvl5pPr>
            <a:lvl6pPr>
              <a:defRPr sz="990"/>
            </a:lvl6pPr>
            <a:lvl7pPr>
              <a:defRPr sz="990"/>
            </a:lvl7pPr>
            <a:lvl8pPr>
              <a:defRPr sz="990"/>
            </a:lvl8pPr>
            <a:lvl9pPr>
              <a:defRPr sz="99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8232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28166" cy="65983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91067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46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209040"/>
            <a:ext cx="2304355" cy="1493520"/>
          </a:xfrm>
        </p:spPr>
        <p:txBody>
          <a:bodyPr anchor="b"/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446" y="1351280"/>
            <a:ext cx="4281804" cy="4267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2920662"/>
            <a:ext cx="2304355" cy="2702559"/>
          </a:xfrm>
        </p:spPr>
        <p:txBody>
          <a:bodyPr/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0138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8" y="1580445"/>
            <a:ext cx="3188736" cy="1619956"/>
          </a:xfrm>
        </p:spPr>
        <p:txBody>
          <a:bodyPr anchor="b">
            <a:normAutofit/>
          </a:bodyPr>
          <a:lstStyle>
            <a:lvl1pPr algn="l">
              <a:defRPr sz="297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01993" y="1066800"/>
            <a:ext cx="2662434" cy="42672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952837" y="3413760"/>
            <a:ext cx="3183850" cy="1280160"/>
          </a:xfrm>
        </p:spPr>
        <p:txBody>
          <a:bodyPr>
            <a:normAutofit/>
          </a:bodyPr>
          <a:lstStyle>
            <a:lvl1pPr marL="0" indent="0">
              <a:buNone/>
              <a:defRPr sz="1155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9249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4638599"/>
            <a:ext cx="7281169" cy="528955"/>
          </a:xfrm>
        </p:spPr>
        <p:txBody>
          <a:bodyPr anchor="b">
            <a:normAutofit/>
          </a:bodyPr>
          <a:lstStyle>
            <a:lvl1pPr algn="l">
              <a:defRPr sz="19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52837" y="640080"/>
            <a:ext cx="7281169" cy="3200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5167554"/>
            <a:ext cx="7281168" cy="460798"/>
          </a:xfrm>
        </p:spPr>
        <p:txBody>
          <a:bodyPr>
            <a:normAutofit/>
          </a:bodyPr>
          <a:lstStyle>
            <a:lvl1pPr marL="0" indent="0">
              <a:buNone/>
              <a:defRPr sz="99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3923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758" y="992522"/>
            <a:ext cx="7286248" cy="1281454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3307080"/>
            <a:ext cx="7281169" cy="2311400"/>
          </a:xfrm>
        </p:spPr>
        <p:txBody>
          <a:bodyPr anchor="ctr">
            <a:normAutofit/>
          </a:bodyPr>
          <a:lstStyle>
            <a:lvl1pPr marL="0" indent="0">
              <a:buNone/>
              <a:defRPr sz="148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2108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727292" y="566847"/>
            <a:ext cx="661577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8154679" y="2439535"/>
            <a:ext cx="538529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9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050" y="916658"/>
            <a:ext cx="6974472" cy="2516857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605405" y="3433515"/>
            <a:ext cx="6378256" cy="319362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5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837" y="4693920"/>
            <a:ext cx="7627040" cy="931333"/>
          </a:xfrm>
        </p:spPr>
        <p:txBody>
          <a:bodyPr anchor="ctr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5204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2212623"/>
            <a:ext cx="7281170" cy="1701013"/>
          </a:xfrm>
        </p:spPr>
        <p:txBody>
          <a:bodyPr anchor="b"/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689969"/>
            <a:ext cx="7281169" cy="803040"/>
          </a:xfrm>
        </p:spPr>
        <p:txBody>
          <a:bodyPr anchor="t"/>
          <a:lstStyle>
            <a:lvl1pPr marL="0" indent="0" algn="l">
              <a:buNone/>
              <a:defRPr sz="165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7243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5"/>
            <a:ext cx="2592049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52837" y="2967780"/>
            <a:ext cx="2592050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22995" y="2429933"/>
            <a:ext cx="2596282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722995" y="2967780"/>
            <a:ext cx="2596282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07712" y="2429934"/>
            <a:ext cx="2595227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507872" y="2967779"/>
            <a:ext cx="2595067" cy="2657473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633276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41223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2465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>
            <a:lvl1pPr>
              <a:defRPr sz="297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4230654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01006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52837" y="4768499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69314" y="4230655"/>
            <a:ext cx="2516611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17482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70392" y="4768498"/>
            <a:ext cx="2516611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585790" y="4230655"/>
            <a:ext cx="2517153" cy="537845"/>
          </a:xfrm>
        </p:spPr>
        <p:txBody>
          <a:bodyPr anchor="b">
            <a:noAutofit/>
          </a:bodyPr>
          <a:lstStyle>
            <a:lvl1pPr marL="0" indent="0">
              <a:buNone/>
              <a:defRPr sz="19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734500" y="2429934"/>
            <a:ext cx="2220275" cy="148540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0"/>
            </a:lvl1pPr>
            <a:lvl2pPr marL="377190" indent="0">
              <a:buNone/>
              <a:defRPr sz="1320"/>
            </a:lvl2pPr>
            <a:lvl3pPr marL="754380" indent="0">
              <a:buNone/>
              <a:defRPr sz="1320"/>
            </a:lvl3pPr>
            <a:lvl4pPr marL="1131570" indent="0">
              <a:buNone/>
              <a:defRPr sz="1320"/>
            </a:lvl4pPr>
            <a:lvl5pPr marL="1508760" indent="0">
              <a:buNone/>
              <a:defRPr sz="1320"/>
            </a:lvl5pPr>
            <a:lvl6pPr marL="1885950" indent="0">
              <a:buNone/>
              <a:defRPr sz="1320"/>
            </a:lvl6pPr>
            <a:lvl7pPr marL="2263140" indent="0">
              <a:buNone/>
              <a:defRPr sz="1320"/>
            </a:lvl7pPr>
            <a:lvl8pPr marL="2640330" indent="0">
              <a:buNone/>
              <a:defRPr sz="1320"/>
            </a:lvl8pPr>
            <a:lvl9pPr marL="3017520" indent="0">
              <a:buNone/>
              <a:defRPr sz="13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585789" y="4768497"/>
            <a:ext cx="2517154" cy="856755"/>
          </a:xfrm>
        </p:spPr>
        <p:txBody>
          <a:bodyPr anchor="t">
            <a:normAutofit/>
          </a:bodyPr>
          <a:lstStyle>
            <a:lvl1pPr marL="0" indent="0">
              <a:buNone/>
              <a:defRPr sz="1155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634811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433187" y="2398324"/>
            <a:ext cx="0" cy="325966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62916" y="5965716"/>
            <a:ext cx="3006533" cy="28448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2234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837" y="908757"/>
            <a:ext cx="7281169" cy="6598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2429933"/>
            <a:ext cx="7281169" cy="3188547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23738" y="5965716"/>
            <a:ext cx="817244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6601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2819" y="1193236"/>
            <a:ext cx="1163221" cy="4432017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837" y="1193236"/>
            <a:ext cx="5161221" cy="44320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88811" y="5965716"/>
            <a:ext cx="818511" cy="28447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51435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058400" cy="6400800"/>
          </a:xfrm>
        </p:spPr>
        <p:txBody>
          <a:bodyPr/>
          <a:lstStyle>
            <a:lvl1pPr marL="0" indent="0">
              <a:buNone/>
              <a:defRPr>
                <a:solidFill>
                  <a:srgbClr val="EC027E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 Drag picture here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spc="300" baseline="0">
                <a:solidFill>
                  <a:srgbClr val="2E003D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PRESENTATION TITLE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Donor/Company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20, 2016</a:t>
            </a:r>
          </a:p>
        </p:txBody>
      </p:sp>
    </p:spTree>
    <p:extLst>
      <p:ext uri="{BB962C8B-B14F-4D97-AF65-F5344CB8AC3E}">
        <p14:creationId xmlns:p14="http://schemas.microsoft.com/office/powerpoint/2010/main" val="324780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1"/>
            <a:ext cx="10058400" cy="6401843"/>
          </a:xfrm>
          <a:prstGeom prst="rect">
            <a:avLst/>
          </a:prstGeom>
          <a:solidFill>
            <a:srgbClr val="004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 baseline="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4981" y="5699521"/>
            <a:ext cx="1840499" cy="395010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52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045"/>
            <a:ext cx="10077356" cy="639670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4736248"/>
            <a:ext cx="10077357" cy="166455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5055300"/>
            <a:ext cx="7040880" cy="435772"/>
          </a:xfrm>
        </p:spPr>
        <p:txBody>
          <a:bodyPr>
            <a:normAutofit/>
          </a:bodyPr>
          <a:lstStyle>
            <a:lvl1pPr algn="l">
              <a:defRPr sz="2000" b="1" i="0" spc="300">
                <a:solidFill>
                  <a:srgbClr val="004985"/>
                </a:solidFill>
                <a:latin typeface="Lato Black" charset="0"/>
                <a:ea typeface="Lato Black" charset="0"/>
                <a:cs typeface="Lato Black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54380" y="5432512"/>
            <a:ext cx="7040880" cy="349936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6E6E70"/>
                </a:solidFill>
                <a:latin typeface="Proxima Nova Regular"/>
                <a:cs typeface="Proxima Nova Regul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Prepared for Company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54062" y="5730367"/>
            <a:ext cx="7041197" cy="401638"/>
          </a:xfrm>
        </p:spPr>
        <p:txBody>
          <a:bodyPr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0" i="1"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600" i="1" dirty="0">
                <a:latin typeface="Times New Roman"/>
                <a:cs typeface="Times New Roman"/>
              </a:rPr>
              <a:t>Presenter Name  |  July 20th, 2016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2921" y="5338600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518081"/>
            <a:ext cx="9052560" cy="704775"/>
          </a:xfrm>
        </p:spPr>
        <p:txBody>
          <a:bodyPr>
            <a:normAutofit/>
          </a:bodyPr>
          <a:lstStyle>
            <a:lvl1pPr>
              <a:defRPr sz="2000" b="1" spc="300" baseline="0"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715886"/>
            <a:ext cx="9052560" cy="3719015"/>
          </a:xfrm>
        </p:spPr>
        <p:txBody>
          <a:bodyPr>
            <a:normAutofit/>
          </a:bodyPr>
          <a:lstStyle>
            <a:lvl1pPr marL="0" indent="0" algn="ctr">
              <a:buNone/>
              <a:defRPr sz="2000" i="0">
                <a:solidFill>
                  <a:srgbClr val="EC027E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Drag object to placeholder or click icon to add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097565" y="1233760"/>
            <a:ext cx="7918148" cy="0"/>
          </a:xfrm>
          <a:prstGeom prst="line">
            <a:avLst/>
          </a:prstGeom>
          <a:ln w="3175" cmpd="sng">
            <a:solidFill>
              <a:srgbClr val="A6A8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502920" y="1234197"/>
            <a:ext cx="9052560" cy="454254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rgbClr val="6E6E70"/>
                </a:solidFill>
                <a:latin typeface="Times New Roman"/>
                <a:cs typeface="Times New Roman"/>
              </a:defRPr>
            </a:lvl1pPr>
            <a:lvl2pPr marL="457200" indent="0">
              <a:buNone/>
              <a:defRPr sz="2000" i="1">
                <a:latin typeface="Times New Roman"/>
                <a:cs typeface="Times New Roman"/>
              </a:defRPr>
            </a:lvl2pPr>
            <a:lvl3pPr marL="914400" indent="0">
              <a:buNone/>
              <a:defRPr sz="2000" i="1">
                <a:latin typeface="Times New Roman"/>
                <a:cs typeface="Times New Roman"/>
              </a:defRPr>
            </a:lvl3pPr>
            <a:lvl4pPr marL="1371600" indent="0">
              <a:buNone/>
              <a:defRPr sz="2000" i="1">
                <a:latin typeface="Times New Roman"/>
                <a:cs typeface="Times New Roman"/>
              </a:defRPr>
            </a:lvl4pPr>
            <a:lvl5pPr marL="1828800" indent="0">
              <a:buNone/>
              <a:defRPr sz="2000" i="1">
                <a:latin typeface="Times New Roman"/>
                <a:cs typeface="Times New Roman"/>
              </a:defRPr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1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328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2752"/>
            <a:ext cx="1864931" cy="400253"/>
          </a:xfrm>
          <a:prstGeom prst="rect">
            <a:avLst/>
          </a:prstGeom>
        </p:spPr>
      </p:pic>
      <p:sp>
        <p:nvSpPr>
          <p:cNvPr id="13" name="Slide Number Placeholder 6"/>
          <p:cNvSpPr txBox="1">
            <a:spLocks/>
          </p:cNvSpPr>
          <p:nvPr userDrawn="1"/>
        </p:nvSpPr>
        <p:spPr>
          <a:xfrm>
            <a:off x="502921" y="5801718"/>
            <a:ext cx="1562946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0" i="0" kern="800" spc="100">
                <a:solidFill>
                  <a:srgbClr val="A6A8AB"/>
                </a:solidFill>
                <a:latin typeface="Proxima Nova Black"/>
                <a:ea typeface="+mn-ea"/>
                <a:cs typeface="Proxima Nova Black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BF4A2E-9955-744F-93B8-AD6F4F72E579}" type="slidenum">
              <a:rPr lang="en-US" b="1" smtClean="0">
                <a:solidFill>
                  <a:schemeClr val="bg1"/>
                </a:solidFill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245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0058400" cy="6400800"/>
          </a:xfrm>
          <a:prstGeom prst="rect">
            <a:avLst/>
          </a:prstGeom>
          <a:solidFill>
            <a:srgbClr val="8C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4544" y="2992441"/>
            <a:ext cx="8549640" cy="415918"/>
          </a:xfrm>
        </p:spPr>
        <p:txBody>
          <a:bodyPr anchor="t">
            <a:normAutofit/>
          </a:bodyPr>
          <a:lstStyle>
            <a:lvl1pPr algn="ctr">
              <a:defRPr sz="2400" b="1" cap="all" spc="300">
                <a:solidFill>
                  <a:schemeClr val="bg1"/>
                </a:solidFill>
                <a:latin typeface="Proxima Nova Bold"/>
                <a:cs typeface="Proxima Nova Bold"/>
              </a:defRPr>
            </a:lvl1pPr>
          </a:lstStyle>
          <a:p>
            <a:r>
              <a:rPr lang="en-US" dirty="0"/>
              <a:t>Click to edit DIVIDER SLIDE TITLE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8"/>
            <a:ext cx="1864931" cy="400254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chemeClr val="bg1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54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3225800" y="0"/>
            <a:ext cx="6832600" cy="64150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5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02921" y="5801718"/>
            <a:ext cx="1562946" cy="340783"/>
          </a:xfrm>
        </p:spPr>
        <p:txBody>
          <a:bodyPr/>
          <a:lstStyle>
            <a:lvl1pPr algn="l">
              <a:defRPr sz="1200" b="0" i="0" kern="800" spc="100">
                <a:solidFill>
                  <a:srgbClr val="A6A8AB"/>
                </a:solidFill>
                <a:latin typeface="Proxima Nova Black"/>
                <a:cs typeface="Proxima Nova Black"/>
              </a:defRPr>
            </a:lvl1pPr>
          </a:lstStyle>
          <a:p>
            <a:fld id="{1CBF4A2E-9955-744F-93B8-AD6F4F72E579}" type="slidenum">
              <a:rPr lang="en-US" b="1" smtClean="0">
                <a:latin typeface="Lato Black" charset="0"/>
                <a:ea typeface="Lato Black" charset="0"/>
                <a:cs typeface="Lato Black" charset="0"/>
              </a:rPr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0549" y="5700369"/>
            <a:ext cx="1864931" cy="40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78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0058400" cy="6414534"/>
          </a:xfrm>
          <a:prstGeom prst="rect">
            <a:avLst/>
          </a:prstGeom>
          <a:solidFill>
            <a:srgbClr val="0049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7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5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058400" cy="6389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5161" y="2802484"/>
            <a:ext cx="3708079" cy="79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8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0058400" cy="64008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52837" y="908757"/>
            <a:ext cx="7228166" cy="659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837" y="2429933"/>
            <a:ext cx="7228166" cy="3188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88811" y="5965716"/>
            <a:ext cx="817244" cy="284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916" y="5965716"/>
            <a:ext cx="3184331" cy="284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11195" y="0"/>
            <a:ext cx="565785" cy="106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540846" y="276014"/>
            <a:ext cx="691514" cy="7165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0" b="0" i="0">
                <a:solidFill>
                  <a:schemeClr val="bg1"/>
                </a:solidFill>
              </a:defRPr>
            </a:lvl1pPr>
          </a:lstStyle>
          <a:p>
            <a:fld id="{1CBF4A2E-9955-744F-93B8-AD6F4F72E5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8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4" r:id="rId19"/>
    <p:sldLayoutId id="2147483719" r:id="rId20"/>
    <p:sldLayoutId id="2147483686" r:id="rId21"/>
    <p:sldLayoutId id="2147483717" r:id="rId22"/>
    <p:sldLayoutId id="2147483661" r:id="rId23"/>
    <p:sldLayoutId id="2147483721" r:id="rId24"/>
    <p:sldLayoutId id="2147483685" r:id="rId25"/>
    <p:sldLayoutId id="2147483682" r:id="rId26"/>
    <p:sldLayoutId id="2147483720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377190" rtl="0" eaLnBrk="1" latinLnBrk="0" hangingPunct="1">
        <a:spcBef>
          <a:spcPct val="0"/>
        </a:spcBef>
        <a:buNone/>
        <a:defRPr sz="297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2893" indent="-282893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12934" indent="-235744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4297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5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2016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9735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07454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45173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82892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206115" indent="-188595" algn="l" defTabSz="377190" rtl="0" eaLnBrk="1" latinLnBrk="0" hangingPunct="1">
        <a:spcBef>
          <a:spcPts val="825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9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37719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4736249"/>
            <a:ext cx="10058400" cy="1664552"/>
          </a:xfrm>
          <a:prstGeom prst="rect">
            <a:avLst/>
          </a:prstGeom>
          <a:solidFill>
            <a:srgbClr val="00498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D8E608C-A151-43E8-9346-B9D90583D1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190" r="15190"/>
          <a:stretch/>
        </p:blipFill>
        <p:spPr>
          <a:xfrm>
            <a:off x="0" y="1"/>
            <a:ext cx="10058400" cy="473624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64113" y="5730338"/>
            <a:ext cx="3394287" cy="1033615"/>
          </a:xfrm>
        </p:spPr>
        <p:txBody>
          <a:bodyPr>
            <a:no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14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          12</a:t>
            </a:r>
            <a:r>
              <a:rPr lang="en-US" altLang="en-US" sz="1400" b="1" baseline="30000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th</a:t>
            </a:r>
            <a:r>
              <a:rPr lang="en-US" altLang="en-US" sz="1400" b="1" dirty="0" smtClean="0">
                <a:solidFill>
                  <a:srgbClr val="FFFF00"/>
                </a:solidFill>
                <a:latin typeface="Calibri" panose="020F0502020204030204" pitchFamily="34" charset="0"/>
                <a:ea typeface="MS Mincho" charset="-128"/>
                <a:cs typeface="Times New Roman" panose="02020603050405020304" pitchFamily="18" charset="0"/>
              </a:rPr>
              <a:t> September, 2025 </a:t>
            </a:r>
            <a:endParaRPr lang="en-US" altLang="en-US" sz="1400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9533" y="3767135"/>
            <a:ext cx="6398260" cy="719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9622" y="5317399"/>
            <a:ext cx="84158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INSY 8311 Database Development with PL/SQL</a:t>
            </a:r>
            <a:endParaRPr lang="en-US" sz="2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050" name="Picture 2" descr="AUCA - Adventist University of Central Afric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7" y="0"/>
            <a:ext cx="1020725" cy="10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19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176" y="871615"/>
            <a:ext cx="9491472" cy="2499138"/>
          </a:xfrm>
        </p:spPr>
        <p:txBody>
          <a:bodyPr/>
          <a:lstStyle/>
          <a:p>
            <a:r>
              <a:rPr lang="en-US" sz="3600" dirty="0" smtClean="0"/>
              <a:t>				</a:t>
            </a:r>
            <a:r>
              <a:rPr sz="3600" dirty="0" smtClean="0"/>
              <a:t>SQL Queries – Foundations</a:t>
            </a:r>
            <a:endParaRPr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HR Schema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Sample database provided by Oracle for training</a:t>
            </a:r>
          </a:p>
          <a:p>
            <a:r>
              <a:rPr dirty="0"/>
              <a:t>Contains employees, departments, jobs, locations, countries, regions</a:t>
            </a:r>
          </a:p>
          <a:p>
            <a:r>
              <a:rPr dirty="0"/>
              <a:t>Used widely in Oracle </a:t>
            </a:r>
            <a:r>
              <a:rPr dirty="0" err="1"/>
              <a:t>LiveSQL</a:t>
            </a:r>
            <a:r>
              <a:rPr dirty="0"/>
              <a:t>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HR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– employee details</a:t>
            </a:r>
          </a:p>
          <a:p>
            <a:r>
              <a:t>DEPARTMENTS – department info</a:t>
            </a:r>
          </a:p>
          <a:p>
            <a:r>
              <a:t>JOBS – job roles and salary ranges</a:t>
            </a:r>
          </a:p>
          <a:p>
            <a:r>
              <a:t>LOCATIONS, COUNTRIES, REGIONS – geographical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in HR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works in a Department</a:t>
            </a:r>
          </a:p>
          <a:p>
            <a:r>
              <a:t>Department located in a Location</a:t>
            </a:r>
          </a:p>
          <a:p>
            <a:r>
              <a:t>Location belongs to a Country</a:t>
            </a:r>
          </a:p>
          <a:p>
            <a:r>
              <a:t>Country belongs to a Region</a:t>
            </a:r>
          </a:p>
          <a:p>
            <a:r>
              <a:t>Employee has a Job and reports to a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retrieves data from a table</a:t>
            </a:r>
          </a:p>
          <a:p>
            <a:r>
              <a:rPr dirty="0"/>
              <a:t>Example: SELECT * FROM employees;</a:t>
            </a:r>
          </a:p>
          <a:p>
            <a:r>
              <a:rPr dirty="0"/>
              <a:t>Useful for exploring structure, not for production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Specific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Choose only required columns</a:t>
            </a:r>
          </a:p>
          <a:p>
            <a:r>
              <a:rPr dirty="0"/>
              <a:t>Example: SELECT </a:t>
            </a:r>
            <a:r>
              <a:rPr dirty="0" err="1"/>
              <a:t>first_name</a:t>
            </a:r>
            <a:r>
              <a:rPr dirty="0"/>
              <a:t>, </a:t>
            </a:r>
            <a:r>
              <a:rPr dirty="0" err="1"/>
              <a:t>last_name</a:t>
            </a:r>
            <a:r>
              <a:rPr dirty="0"/>
              <a:t>, salary FROM employees</a:t>
            </a:r>
            <a:r>
              <a:rPr dirty="0" smtClean="0"/>
              <a:t>;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Aliases and Calculated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Aliases rename columns for readability</a:t>
            </a:r>
          </a:p>
          <a:p>
            <a:r>
              <a:t>Use AS keyword or omit it</a:t>
            </a:r>
          </a:p>
          <a:p>
            <a:r>
              <a:t>Example: SELECT first_name AS 'First Name', salary*12 AS 'Annual Salary' FROM employees;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|| operator or CONCAT function</a:t>
            </a:r>
          </a:p>
          <a:p>
            <a:r>
              <a:t>Example: SELECT first_name || ' ' || last_name AS full_name FROM employees;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NULLs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IS NULL / IS NOT NULL to check</a:t>
            </a:r>
          </a:p>
          <a:p>
            <a:r>
              <a:rPr dirty="0"/>
              <a:t>Use NVL() to replace with default value</a:t>
            </a:r>
          </a:p>
          <a:p>
            <a:r>
              <a:rPr dirty="0"/>
              <a:t>Example: SELECT NVL(</a:t>
            </a:r>
            <a:r>
              <a:rPr dirty="0" err="1"/>
              <a:t>commission_pct</a:t>
            </a:r>
            <a:r>
              <a:rPr dirty="0"/>
              <a:t>, 0) FROM employees;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Clause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Filters rows returned by query</a:t>
            </a:r>
          </a:p>
          <a:p>
            <a:r>
              <a:t>Example: SELECT first_name, salary FROM employees WHERE salary &gt; 10000;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=, &lt;&gt;, !=, &gt;, &lt;, &gt;=, &lt;=</a:t>
            </a:r>
          </a:p>
          <a:p>
            <a:r>
              <a:rPr dirty="0"/>
              <a:t>Used for equality and inequality </a:t>
            </a:r>
            <a:r>
              <a:rPr dirty="0" smtClean="0"/>
              <a:t>checks</a:t>
            </a:r>
            <a:endParaRPr lang="en-US" dirty="0" smtClean="0"/>
          </a:p>
          <a:p>
            <a:r>
              <a:rPr lang="en-US" dirty="0" smtClean="0"/>
              <a:t>Both &lt;&gt; and != mean not equal.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String &amp;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LIKE </a:t>
            </a:r>
            <a:r>
              <a:rPr lang="en-US" dirty="0" smtClean="0"/>
              <a:t>'a%’</a:t>
            </a:r>
          </a:p>
          <a:p>
            <a:r>
              <a:rPr lang="en-US" dirty="0" smtClean="0"/>
              <a:t>Like ‘%a’</a:t>
            </a:r>
          </a:p>
          <a:p>
            <a:r>
              <a:rPr lang="en-US" dirty="0" smtClean="0"/>
              <a:t>Like ‘%a%’</a:t>
            </a:r>
          </a:p>
          <a:p>
            <a:r>
              <a:rPr lang="en-US" dirty="0" smtClean="0"/>
              <a:t>Like </a:t>
            </a:r>
            <a:r>
              <a:rPr lang="en-US" dirty="0" smtClean="0"/>
              <a:t>‘_%’</a:t>
            </a:r>
            <a:endParaRPr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BETWEEN &amp;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BETWEEN: WHERE salary BETWEEN 5000 AND 10000;</a:t>
            </a:r>
          </a:p>
          <a:p>
            <a:r>
              <a:rPr dirty="0"/>
              <a:t>IN: WHERE </a:t>
            </a:r>
            <a:r>
              <a:rPr dirty="0" err="1"/>
              <a:t>department_id</a:t>
            </a:r>
            <a:r>
              <a:rPr dirty="0"/>
              <a:t> IN (10, 20, 30);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AND, OR, NOT</a:t>
            </a:r>
          </a:p>
          <a:p>
            <a:r>
              <a:t>Example: WHERE salary &gt; 5000 AND department_id = 60;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DATE keyword for literals</a:t>
            </a:r>
          </a:p>
          <a:p>
            <a:r>
              <a:rPr dirty="0"/>
              <a:t>Example: WHERE </a:t>
            </a:r>
            <a:r>
              <a:rPr dirty="0" err="1"/>
              <a:t>hire_date</a:t>
            </a:r>
            <a:r>
              <a:rPr dirty="0"/>
              <a:t> &gt; DATE '2005-01-01';</a:t>
            </a:r>
          </a:p>
          <a:p>
            <a:r>
              <a:rPr dirty="0"/>
              <a:t>Use EXTRACT to pull year, month, </a:t>
            </a:r>
            <a:r>
              <a:rPr dirty="0" smtClean="0"/>
              <a:t>day</a:t>
            </a:r>
            <a:endParaRPr lang="en-US" dirty="0" smtClean="0"/>
          </a:p>
          <a:p>
            <a:r>
              <a:rPr lang="en-US" dirty="0" smtClean="0"/>
              <a:t>Example: EXTRACT(YEAR FROM </a:t>
            </a:r>
            <a:r>
              <a:rPr lang="en-US" dirty="0" err="1" smtClean="0"/>
              <a:t>hire_date</a:t>
            </a:r>
            <a:r>
              <a:rPr lang="en-US" dirty="0" smtClean="0"/>
              <a:t>) = 2007;</a:t>
            </a:r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BY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Sort results in ascending (ASC) or descending (DESC) order</a:t>
            </a:r>
          </a:p>
          <a:p>
            <a:r>
              <a:t>Example: ORDER BY salary DESC;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BY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sort using calculated values</a:t>
            </a:r>
          </a:p>
          <a:p>
            <a:r>
              <a:t>Example: ORDER BY salary*12 DESC;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NULLs in ORDER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NULLS FIRST or NULLS LAST</a:t>
            </a:r>
          </a:p>
          <a:p>
            <a:r>
              <a:t>Example: ORDER BY commission_pct NULLS LAST;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dirty="0" smtClean="0"/>
              <a:t>Real-World </a:t>
            </a:r>
            <a:r>
              <a:rPr lang="en-US" dirty="0" smtClean="0"/>
              <a:t>examples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5213" y="3472349"/>
            <a:ext cx="7281169" cy="318854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How should we apply the above queries in real life?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		</a:t>
            </a:r>
            <a:r>
              <a:rPr dirty="0" smtClean="0"/>
              <a:t>Quiz</a:t>
            </a:r>
            <a:r>
              <a:rPr lang="en-US" dirty="0" smtClean="0"/>
              <a:t>(10 marks)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dirty="0" smtClean="0"/>
              <a:t>Show </a:t>
            </a:r>
            <a:r>
              <a:rPr dirty="0"/>
              <a:t>employees hired after 2007, sorted by hire </a:t>
            </a:r>
            <a:r>
              <a:rPr dirty="0" smtClean="0"/>
              <a:t>date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Write a query to find employees whose first name starts with ‘A’ and who work in departments 10,20 or 30</a:t>
            </a:r>
          </a:p>
          <a:p>
            <a:pPr marL="0" indent="0">
              <a:buNone/>
            </a:pPr>
            <a:r>
              <a:rPr lang="en-US" dirty="0" smtClean="0"/>
              <a:t>3. Write a query to find all employees who have a salary between 4000 and 12000, and either work in department 50 or have ‘CLERK’  in their </a:t>
            </a:r>
            <a:r>
              <a:rPr lang="en-US" dirty="0" err="1" smtClean="0"/>
              <a:t>job_id</a:t>
            </a:r>
            <a:r>
              <a:rPr lang="en-US" dirty="0" smtClean="0"/>
              <a:t>, and were hired after January, 2005?</a:t>
            </a:r>
          </a:p>
          <a:p>
            <a:pPr marL="0" indent="0">
              <a:buNone/>
            </a:pPr>
            <a:r>
              <a:rPr lang="en-US" dirty="0" smtClean="0"/>
              <a:t>4. Write a query to show all employees sorted by </a:t>
            </a:r>
            <a:r>
              <a:rPr lang="en-US" dirty="0" err="1" smtClean="0"/>
              <a:t>hire_date</a:t>
            </a:r>
            <a:r>
              <a:rPr lang="en-US" dirty="0" smtClean="0"/>
              <a:t>(newest employees first), and for employees hired on the same date, sort by salary(highest first)?</a:t>
            </a:r>
          </a:p>
          <a:p>
            <a:pPr marL="0" indent="0">
              <a:buNone/>
            </a:pPr>
            <a:r>
              <a:rPr lang="en-US" dirty="0" smtClean="0"/>
              <a:t>5. Write a query to show all employees that have </a:t>
            </a:r>
            <a:r>
              <a:rPr lang="en-US" dirty="0" err="1" smtClean="0"/>
              <a:t>charater</a:t>
            </a:r>
            <a:r>
              <a:rPr lang="en-US" dirty="0" smtClean="0"/>
              <a:t> ‘A’  in their first name at the second position?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Row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SELECT UPPER(</a:t>
            </a:r>
            <a:r>
              <a:rPr dirty="0" err="1"/>
              <a:t>first_name</a:t>
            </a:r>
            <a:r>
              <a:rPr dirty="0"/>
              <a:t>), LENGTH(</a:t>
            </a:r>
            <a:r>
              <a:rPr dirty="0" err="1"/>
              <a:t>last_name</a:t>
            </a:r>
            <a:r>
              <a:rPr dirty="0"/>
              <a:t>) FROM employees;</a:t>
            </a:r>
          </a:p>
          <a:p>
            <a:r>
              <a:rPr dirty="0"/>
              <a:t>-- Uppercase conversion and string length.</a:t>
            </a:r>
          </a:p>
          <a:p>
            <a:endParaRPr dirty="0"/>
          </a:p>
          <a:p>
            <a:r>
              <a:rPr dirty="0"/>
              <a:t>SELECT ROUND(salary, 0), TRUNC(salary, 0) FROM employees;</a:t>
            </a:r>
          </a:p>
          <a:p>
            <a:r>
              <a:rPr dirty="0"/>
              <a:t>-- Round vs. truncate numeric values.</a:t>
            </a:r>
          </a:p>
          <a:p>
            <a:endParaRPr dirty="0"/>
          </a:p>
          <a:p>
            <a:r>
              <a:rPr dirty="0"/>
              <a:t>SELECT </a:t>
            </a:r>
            <a:r>
              <a:rPr dirty="0" err="1"/>
              <a:t>hire_date</a:t>
            </a:r>
            <a:r>
              <a:rPr dirty="0"/>
              <a:t>, ADD_MONTHS(</a:t>
            </a:r>
            <a:r>
              <a:rPr dirty="0" err="1"/>
              <a:t>hire_date</a:t>
            </a:r>
            <a:r>
              <a:rPr dirty="0"/>
              <a:t>, 6) FROM employees;</a:t>
            </a:r>
          </a:p>
          <a:p>
            <a:r>
              <a:rPr dirty="0"/>
              <a:t>-- Date arithmetic example.</a:t>
            </a:r>
          </a:p>
          <a:p>
            <a:endParaRPr dirty="0"/>
          </a:p>
          <a:p>
            <a:r>
              <a:rPr dirty="0"/>
              <a:t>SELECT TO_CHAR(</a:t>
            </a:r>
            <a:r>
              <a:rPr dirty="0" err="1"/>
              <a:t>hire_date</a:t>
            </a:r>
            <a:r>
              <a:rPr dirty="0"/>
              <a:t>, 'YYYY-MM') FROM employees;</a:t>
            </a:r>
          </a:p>
          <a:p>
            <a:r>
              <a:rPr dirty="0"/>
              <a:t>-- Format hire dates.</a:t>
            </a:r>
          </a:p>
        </p:txBody>
      </p:sp>
    </p:spTree>
    <p:extLst>
      <p:ext uri="{BB962C8B-B14F-4D97-AF65-F5344CB8AC3E}">
        <p14:creationId xmlns:p14="http://schemas.microsoft.com/office/powerpoint/2010/main" val="2379810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NULLs &amp; NVL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NVL(</a:t>
            </a:r>
            <a:r>
              <a:rPr dirty="0" err="1"/>
              <a:t>commission_pct</a:t>
            </a:r>
            <a:r>
              <a:rPr dirty="0"/>
              <a:t>, 0) FROM employees;</a:t>
            </a:r>
          </a:p>
          <a:p>
            <a:r>
              <a:rPr dirty="0"/>
              <a:t>-- Replace NULL with 0.</a:t>
            </a:r>
          </a:p>
          <a:p>
            <a:endParaRPr dirty="0"/>
          </a:p>
          <a:p>
            <a:r>
              <a:rPr dirty="0"/>
              <a:t>SELECT NVL2(</a:t>
            </a:r>
            <a:r>
              <a:rPr dirty="0" err="1"/>
              <a:t>commission_pct</a:t>
            </a:r>
            <a:r>
              <a:rPr dirty="0"/>
              <a:t>, 'Yes', 'No') FROM employees;</a:t>
            </a:r>
          </a:p>
          <a:p>
            <a:r>
              <a:rPr dirty="0"/>
              <a:t>-- Conditional output based on NULL.</a:t>
            </a:r>
          </a:p>
        </p:txBody>
      </p:sp>
    </p:spTree>
    <p:extLst>
      <p:ext uri="{BB962C8B-B14F-4D97-AF65-F5344CB8AC3E}">
        <p14:creationId xmlns:p14="http://schemas.microsoft.com/office/powerpoint/2010/main" val="3222800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Logic with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salary,</a:t>
            </a:r>
          </a:p>
          <a:p>
            <a:r>
              <a:t>  CASE </a:t>
            </a:r>
          </a:p>
          <a:p>
            <a:r>
              <a:t>    WHEN salary &gt; 10000 THEN 'High'</a:t>
            </a:r>
          </a:p>
          <a:p>
            <a:r>
              <a:t>    WHEN salary BETWEEN 5000 AND 10000 THEN 'Medium'</a:t>
            </a:r>
          </a:p>
          <a:p>
            <a:r>
              <a:t>    ELSE 'Low'</a:t>
            </a:r>
          </a:p>
          <a:p>
            <a:r>
              <a:t>  END AS salary_level</a:t>
            </a:r>
          </a:p>
          <a:p>
            <a:r>
              <a:t>FROM employees;</a:t>
            </a:r>
          </a:p>
          <a:p>
            <a:r>
              <a:t>-- Categorize salary using CASE expression.</a:t>
            </a:r>
          </a:p>
        </p:txBody>
      </p:sp>
    </p:spTree>
    <p:extLst>
      <p:ext uri="{BB962C8B-B14F-4D97-AF65-F5344CB8AC3E}">
        <p14:creationId xmlns:p14="http://schemas.microsoft.com/office/powerpoint/2010/main" val="2244201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COUNT(*), AVG(salary), MAX(salary), MIN(salary), SUM(salary) FROM employees;</a:t>
            </a:r>
          </a:p>
          <a:p>
            <a:r>
              <a:t>-- Aggregate summary.</a:t>
            </a:r>
          </a:p>
          <a:p>
            <a:endParaRPr/>
          </a:p>
          <a:p>
            <a:r>
              <a:t>SELECT job_id, COUNT(*) FROM employees GROUP BY job_id;</a:t>
            </a:r>
          </a:p>
          <a:p>
            <a:r>
              <a:t>-- Group employees by job.</a:t>
            </a:r>
          </a:p>
        </p:txBody>
      </p:sp>
    </p:spTree>
    <p:extLst>
      <p:ext uri="{BB962C8B-B14F-4D97-AF65-F5344CB8AC3E}">
        <p14:creationId xmlns:p14="http://schemas.microsoft.com/office/powerpoint/2010/main" val="3963590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Grouping and HAVING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</a:t>
            </a:r>
            <a:r>
              <a:rPr dirty="0" err="1"/>
              <a:t>department_id</a:t>
            </a:r>
            <a:r>
              <a:rPr dirty="0"/>
              <a:t>, AVG(salary) FROM employees GROUP BY </a:t>
            </a:r>
            <a:r>
              <a:rPr dirty="0" err="1"/>
              <a:t>department_id</a:t>
            </a:r>
            <a:r>
              <a:rPr dirty="0"/>
              <a:t>;</a:t>
            </a:r>
          </a:p>
          <a:p>
            <a:r>
              <a:rPr dirty="0"/>
              <a:t>-- Average salary per department.</a:t>
            </a:r>
          </a:p>
          <a:p>
            <a:endParaRPr dirty="0"/>
          </a:p>
          <a:p>
            <a:r>
              <a:rPr dirty="0"/>
              <a:t>SELECT </a:t>
            </a:r>
            <a:r>
              <a:rPr dirty="0" err="1"/>
              <a:t>department_id</a:t>
            </a:r>
            <a:r>
              <a:rPr dirty="0"/>
              <a:t>, COUNT(*) FROM employees GROUP BY </a:t>
            </a:r>
            <a:r>
              <a:rPr dirty="0" err="1"/>
              <a:t>department_id</a:t>
            </a:r>
            <a:r>
              <a:rPr dirty="0"/>
              <a:t> HAVING COUNT(*) &gt; 5;</a:t>
            </a:r>
          </a:p>
          <a:p>
            <a:r>
              <a:rPr dirty="0"/>
              <a:t>-- Groups with more than 5 employees.</a:t>
            </a:r>
          </a:p>
        </p:txBody>
      </p:sp>
    </p:spTree>
    <p:extLst>
      <p:ext uri="{BB962C8B-B14F-4D97-AF65-F5344CB8AC3E}">
        <p14:creationId xmlns:p14="http://schemas.microsoft.com/office/powerpoint/2010/main" val="2399474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Show </a:t>
            </a:r>
            <a:r>
              <a:rPr dirty="0" err="1"/>
              <a:t>job_id</a:t>
            </a:r>
            <a:r>
              <a:rPr dirty="0"/>
              <a:t> and average salary for jobs where average salary is more than 7000.</a:t>
            </a:r>
          </a:p>
          <a:p>
            <a:endParaRPr dirty="0"/>
          </a:p>
          <a:p>
            <a:r>
              <a:rPr dirty="0"/>
              <a:t>2. List departments with more than 5 employees and average salary over 8000.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7139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(10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Show jobs and how many employees have that job.</a:t>
            </a:r>
          </a:p>
          <a:p>
            <a:endParaRPr/>
          </a:p>
          <a:p>
            <a:r>
              <a:t>2. Write a query to show average salary by department, but only if average salary &gt; 6000.</a:t>
            </a:r>
          </a:p>
          <a:p>
            <a:endParaRPr/>
          </a:p>
          <a:p>
            <a:r>
              <a:t>3. Count number of employees without commission.</a:t>
            </a:r>
          </a:p>
          <a:p>
            <a:endParaRPr/>
          </a:p>
          <a:p>
            <a:r>
              <a:t>4. List employees with salary categorized as 'Low', 'Medium', or 'High'.</a:t>
            </a:r>
          </a:p>
          <a:p>
            <a:endParaRPr/>
          </a:p>
          <a:p>
            <a:r>
              <a:t>5. Show total salary and average commission for each department.</a:t>
            </a:r>
          </a:p>
        </p:txBody>
      </p:sp>
    </p:spTree>
    <p:extLst>
      <p:ext uri="{BB962C8B-B14F-4D97-AF65-F5344CB8AC3E}">
        <p14:creationId xmlns:p14="http://schemas.microsoft.com/office/powerpoint/2010/main" val="456073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Joins are used to retrieve data from multiple tables based on related columns.</a:t>
            </a:r>
          </a:p>
          <a:p>
            <a:endParaRPr/>
          </a:p>
          <a:p>
            <a:r>
              <a:t>Common relationships: EMPLOYEES → DEPARTMENTS via department_id</a:t>
            </a:r>
          </a:p>
          <a:p>
            <a:endParaRPr/>
          </a:p>
          <a:p>
            <a:r>
              <a:t>Types of joins: INNER, LEFT OUTER, RIGHT OUTER, FULL OUTER</a:t>
            </a:r>
          </a:p>
        </p:txBody>
      </p:sp>
    </p:spTree>
    <p:extLst>
      <p:ext uri="{BB962C8B-B14F-4D97-AF65-F5344CB8AC3E}">
        <p14:creationId xmlns:p14="http://schemas.microsoft.com/office/powerpoint/2010/main" val="4106393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</a:t>
            </a:r>
            <a:r>
              <a:rPr lang="en-US" dirty="0" smtClean="0"/>
              <a:t>only rows where there is a match in both tables.</a:t>
            </a:r>
          </a:p>
          <a:p>
            <a:r>
              <a:rPr lang="en-US" dirty="0" smtClean="0"/>
              <a:t>Rows without a match on either side are excluded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3078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 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Returns all rows from the left </a:t>
            </a:r>
            <a:r>
              <a:rPr lang="en-US" dirty="0" smtClean="0"/>
              <a:t>table</a:t>
            </a:r>
          </a:p>
          <a:p>
            <a:r>
              <a:rPr lang="en-US" dirty="0" smtClean="0"/>
              <a:t>If there is a match in the right table, include it.</a:t>
            </a:r>
          </a:p>
          <a:p>
            <a:r>
              <a:rPr lang="en-US" dirty="0" smtClean="0"/>
              <a:t>If no match, right-side columns = NULL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LEFT 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33864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 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all rows from the right </a:t>
            </a:r>
            <a:r>
              <a:rPr dirty="0" smtClean="0"/>
              <a:t>table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there is a match in the left table, include it.</a:t>
            </a:r>
          </a:p>
          <a:p>
            <a:r>
              <a:rPr lang="en-US" dirty="0" smtClean="0"/>
              <a:t>If no match, left-side columns=Null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RIGHT 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19630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all </a:t>
            </a:r>
            <a:r>
              <a:rPr dirty="0" smtClean="0"/>
              <a:t>rows</a:t>
            </a:r>
            <a:r>
              <a:rPr lang="en-US" dirty="0" smtClean="0"/>
              <a:t> from both tables.</a:t>
            </a:r>
          </a:p>
          <a:p>
            <a:r>
              <a:rPr lang="en-US" dirty="0" smtClean="0"/>
              <a:t>Matches where possible.</a:t>
            </a:r>
          </a:p>
          <a:p>
            <a:r>
              <a:rPr lang="en-US" dirty="0" smtClean="0"/>
              <a:t>If no match, fill missing side NULL.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FULL OUTER JOIN departments d ON </a:t>
            </a:r>
            <a:r>
              <a:rPr dirty="0" err="1"/>
              <a:t>e.department_id</a:t>
            </a:r>
            <a:r>
              <a:rPr dirty="0"/>
              <a:t> = </a:t>
            </a:r>
            <a:r>
              <a:rPr dirty="0" err="1"/>
              <a:t>d.department_id</a:t>
            </a:r>
            <a:r>
              <a:rPr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57678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table is joined with </a:t>
            </a:r>
            <a:r>
              <a:rPr dirty="0" smtClean="0"/>
              <a:t>itself.</a:t>
            </a:r>
            <a:endParaRPr lang="en-US" dirty="0" smtClean="0"/>
          </a:p>
          <a:p>
            <a:r>
              <a:rPr lang="en-US" dirty="0" smtClean="0"/>
              <a:t>Compare rows within the same table, like employee vs manager</a:t>
            </a:r>
            <a:endParaRPr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Example</a:t>
            </a:r>
            <a:r>
              <a:rPr dirty="0"/>
              <a:t>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 AS Employee, </a:t>
            </a:r>
            <a:r>
              <a:rPr dirty="0" err="1"/>
              <a:t>m.first_name</a:t>
            </a:r>
            <a:r>
              <a:rPr dirty="0"/>
              <a:t> AS Manager</a:t>
            </a:r>
          </a:p>
          <a:p>
            <a:r>
              <a:rPr dirty="0"/>
              <a:t>FROM employees e</a:t>
            </a:r>
          </a:p>
          <a:p>
            <a:r>
              <a:rPr dirty="0"/>
              <a:t>JOIN employees m ON </a:t>
            </a:r>
            <a:r>
              <a:rPr dirty="0" err="1"/>
              <a:t>e.manager_id</a:t>
            </a:r>
            <a:r>
              <a:rPr dirty="0"/>
              <a:t> = </a:t>
            </a:r>
            <a:r>
              <a:rPr dirty="0" err="1"/>
              <a:t>m.employee_id</a:t>
            </a:r>
            <a:r>
              <a:rPr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61792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Returns </a:t>
            </a:r>
            <a:r>
              <a:rPr lang="en-US" dirty="0"/>
              <a:t>the </a:t>
            </a:r>
            <a:r>
              <a:rPr lang="en-US" b="1" dirty="0"/>
              <a:t>Cartesian product</a:t>
            </a:r>
            <a:r>
              <a:rPr lang="en-US" dirty="0"/>
              <a:t> → every row from table A combined with every row from table B</a:t>
            </a:r>
            <a:r>
              <a:rPr lang="en-US" dirty="0" smtClean="0"/>
              <a:t>.</a:t>
            </a:r>
            <a:endParaRPr dirty="0"/>
          </a:p>
          <a:p>
            <a:r>
              <a:rPr dirty="0"/>
              <a:t>Rarely used unless intentional</a:t>
            </a:r>
            <a:r>
              <a:rPr dirty="0" smtClean="0"/>
              <a:t>.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e.first_name</a:t>
            </a:r>
            <a:r>
              <a:rPr dirty="0"/>
              <a:t>, </a:t>
            </a:r>
            <a:r>
              <a:rPr dirty="0" err="1"/>
              <a:t>d.department_name</a:t>
            </a:r>
            <a:endParaRPr dirty="0"/>
          </a:p>
          <a:p>
            <a:r>
              <a:rPr dirty="0"/>
              <a:t>FROM employees e</a:t>
            </a:r>
          </a:p>
          <a:p>
            <a:r>
              <a:rPr dirty="0"/>
              <a:t>CROSS JOIN departments d;</a:t>
            </a:r>
          </a:p>
        </p:txBody>
      </p:sp>
    </p:spTree>
    <p:extLst>
      <p:ext uri="{BB962C8B-B14F-4D97-AF65-F5344CB8AC3E}">
        <p14:creationId xmlns:p14="http://schemas.microsoft.com/office/powerpoint/2010/main" val="1266063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Subqueries are queries nested inside another SQL statement.</a:t>
            </a:r>
          </a:p>
          <a:p>
            <a:endParaRPr dirty="0"/>
          </a:p>
          <a:p>
            <a:r>
              <a:rPr dirty="0"/>
              <a:t>Used in SELECT, FROM, or WHERE clauses.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767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Single-Row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one value (scalar subquery).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last_name</a:t>
            </a:r>
            <a:r>
              <a:rPr dirty="0"/>
              <a:t>, salary</a:t>
            </a:r>
          </a:p>
          <a:p>
            <a:r>
              <a:rPr dirty="0"/>
              <a:t>FROM employees</a:t>
            </a:r>
          </a:p>
          <a:p>
            <a:r>
              <a:rPr dirty="0"/>
              <a:t>WHERE salary &gt; (SELECT AVG(salary) FROM employees);</a:t>
            </a:r>
          </a:p>
        </p:txBody>
      </p:sp>
    </p:spTree>
    <p:extLst>
      <p:ext uri="{BB962C8B-B14F-4D97-AF65-F5344CB8AC3E}">
        <p14:creationId xmlns:p14="http://schemas.microsoft.com/office/powerpoint/2010/main" val="2340594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Multiple-Row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Returns multiple values. Use IN, ANY, ALL.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SELECT </a:t>
            </a:r>
            <a:r>
              <a:rPr dirty="0" err="1"/>
              <a:t>first_name</a:t>
            </a:r>
            <a:endParaRPr dirty="0"/>
          </a:p>
          <a:p>
            <a:r>
              <a:rPr dirty="0"/>
              <a:t>FROM employees</a:t>
            </a:r>
          </a:p>
          <a:p>
            <a:r>
              <a:rPr dirty="0"/>
              <a:t>WHERE </a:t>
            </a:r>
            <a:r>
              <a:rPr dirty="0" err="1"/>
              <a:t>department_id</a:t>
            </a:r>
            <a:r>
              <a:rPr dirty="0"/>
              <a:t> IN (</a:t>
            </a:r>
          </a:p>
          <a:p>
            <a:r>
              <a:rPr dirty="0"/>
              <a:t>  SELECT </a:t>
            </a:r>
            <a:r>
              <a:rPr dirty="0" err="1"/>
              <a:t>department_id</a:t>
            </a:r>
            <a:r>
              <a:rPr dirty="0"/>
              <a:t> FROM departments</a:t>
            </a:r>
          </a:p>
          <a:p>
            <a:r>
              <a:rPr dirty="0"/>
              <a:t>  WHERE </a:t>
            </a:r>
            <a:r>
              <a:rPr dirty="0" err="1"/>
              <a:t>location_id</a:t>
            </a:r>
            <a:r>
              <a:rPr dirty="0"/>
              <a:t> = 1700</a:t>
            </a:r>
          </a:p>
          <a:p>
            <a:r>
              <a:rPr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84587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B239-4366-7A4E-9906-44366892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End!!!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5583498"/>
            <a:ext cx="2895600" cy="81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2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18250</TotalTime>
  <Words>1301</Words>
  <Application>Microsoft Office PowerPoint</Application>
  <PresentationFormat>Custom</PresentationFormat>
  <Paragraphs>206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Arial</vt:lpstr>
      <vt:lpstr>Calibri</vt:lpstr>
      <vt:lpstr>Century Gothic</vt:lpstr>
      <vt:lpstr>Lato Black</vt:lpstr>
      <vt:lpstr>Lato Light</vt:lpstr>
      <vt:lpstr>MS Mincho</vt:lpstr>
      <vt:lpstr>Proxima Nova Black</vt:lpstr>
      <vt:lpstr>Proxima Nova Bold</vt:lpstr>
      <vt:lpstr>Proxima Nova Regular</vt:lpstr>
      <vt:lpstr>Times New Roman</vt:lpstr>
      <vt:lpstr>Wingdings 3</vt:lpstr>
      <vt:lpstr>Ion Boardroom</vt:lpstr>
      <vt:lpstr>           12th September, 2025 </vt:lpstr>
      <vt:lpstr>    SQL Queries – Foundations</vt:lpstr>
      <vt:lpstr>HR Schema Overview</vt:lpstr>
      <vt:lpstr>Key HR Tables</vt:lpstr>
      <vt:lpstr>Relationships in HR Schema</vt:lpstr>
      <vt:lpstr>SELECT Basics</vt:lpstr>
      <vt:lpstr>SELECT Specific Columns</vt:lpstr>
      <vt:lpstr>Aliases and Calculated Columns</vt:lpstr>
      <vt:lpstr>String Concatenation</vt:lpstr>
      <vt:lpstr>Handling NULLs</vt:lpstr>
      <vt:lpstr>WHERE Clause Basics</vt:lpstr>
      <vt:lpstr>Comparison Operators</vt:lpstr>
      <vt:lpstr>String &amp; Pattern Matching</vt:lpstr>
      <vt:lpstr>BETWEEN &amp; IN</vt:lpstr>
      <vt:lpstr>Logical Operators</vt:lpstr>
      <vt:lpstr>Date Comparisons</vt:lpstr>
      <vt:lpstr>ORDER BY Basics</vt:lpstr>
      <vt:lpstr>ORDER BY Expressions</vt:lpstr>
      <vt:lpstr>Handling NULLs in ORDER BY</vt:lpstr>
      <vt:lpstr>   Real-World examples</vt:lpstr>
      <vt:lpstr>      Quiz(10 marks)</vt:lpstr>
      <vt:lpstr>Single Row Functions</vt:lpstr>
      <vt:lpstr>Handling NULLs &amp; NVL</vt:lpstr>
      <vt:lpstr>Conditional Logic with CASE</vt:lpstr>
      <vt:lpstr>Aggregate Functions</vt:lpstr>
      <vt:lpstr>Grouping and HAVING</vt:lpstr>
      <vt:lpstr>Real World Queries</vt:lpstr>
      <vt:lpstr>Quiz (10 Marks)</vt:lpstr>
      <vt:lpstr>Understanding Joins</vt:lpstr>
      <vt:lpstr>INNER JOIN</vt:lpstr>
      <vt:lpstr>LEFT OUTER JOIN</vt:lpstr>
      <vt:lpstr>RIGHT OUTER JOIN</vt:lpstr>
      <vt:lpstr>FULL OUTER JOIN</vt:lpstr>
      <vt:lpstr>SELF JOIN</vt:lpstr>
      <vt:lpstr>Cross Join</vt:lpstr>
      <vt:lpstr>Introduction to Subqueries</vt:lpstr>
      <vt:lpstr>Single-Row Subqueries</vt:lpstr>
      <vt:lpstr>Multiple-Row Subqueries</vt:lpstr>
      <vt:lpstr>End!!!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cengwrphqr</dc:title>
  <dc:creator>Simon Williams</dc:creator>
  <cp:lastModifiedBy>Elie Kayitare</cp:lastModifiedBy>
  <cp:revision>483</cp:revision>
  <dcterms:created xsi:type="dcterms:W3CDTF">2014-05-10T12:49:26Z</dcterms:created>
  <dcterms:modified xsi:type="dcterms:W3CDTF">2025-09-19T09:46:00Z</dcterms:modified>
</cp:coreProperties>
</file>